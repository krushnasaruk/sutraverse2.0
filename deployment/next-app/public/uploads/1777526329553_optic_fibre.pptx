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92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11/10/2022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11/10/2022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11/10/2022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11/10/2022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1981200"/>
            <a:ext cx="6629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solidFill>
                  <a:srgbClr val="0070C0"/>
                </a:solidFill>
                <a:latin typeface="Arial Black" pitchFamily="34" charset="0"/>
              </a:rPr>
              <a:t>OPTIC FIBRE</a:t>
            </a:r>
            <a:endParaRPr lang="en-IN" sz="6000" b="1" dirty="0">
              <a:solidFill>
                <a:srgbClr val="0070C0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 descr="Optical Fiber: Definition, Properties and Uses - Textile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27" name="Picture 3" descr="C:\Users\Admin\Desktop\images (1)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762000"/>
            <a:ext cx="6096000" cy="508000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C:\Users\Admin\Desktop\total_internal_reflection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2057400"/>
            <a:ext cx="7619999" cy="4253123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228600" y="533400"/>
            <a:ext cx="7696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70C0"/>
                </a:solidFill>
              </a:rPr>
              <a:t>  PROPAGATION MECHANISM IN OPTIC FIBRE</a:t>
            </a:r>
            <a:endParaRPr lang="en-IN" sz="28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304800"/>
            <a:ext cx="6477000" cy="2057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2362200"/>
            <a:ext cx="6629400" cy="2133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" y="4495800"/>
            <a:ext cx="6858000" cy="2174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09600"/>
            <a:ext cx="693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rgbClr val="0070C0"/>
                </a:solidFill>
              </a:rPr>
              <a:t>Types of Optical Fibres:</a:t>
            </a:r>
            <a:endParaRPr lang="en-IN" sz="3600" b="1" dirty="0">
              <a:solidFill>
                <a:srgbClr val="0070C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752600"/>
            <a:ext cx="7315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7030A0"/>
                </a:solidFill>
              </a:rPr>
              <a:t>Optical </a:t>
            </a:r>
            <a:r>
              <a:rPr lang="en-US" sz="2800" b="1" dirty="0" err="1" smtClean="0">
                <a:solidFill>
                  <a:srgbClr val="7030A0"/>
                </a:solidFill>
              </a:rPr>
              <a:t>fibres</a:t>
            </a:r>
            <a:r>
              <a:rPr lang="en-US" sz="2800" b="1" dirty="0" smtClean="0">
                <a:solidFill>
                  <a:srgbClr val="7030A0"/>
                </a:solidFill>
              </a:rPr>
              <a:t> are classified according to following criteria:</a:t>
            </a:r>
            <a:endParaRPr lang="en-IN" sz="2800" b="1" dirty="0">
              <a:solidFill>
                <a:srgbClr val="7030A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2819400"/>
            <a:ext cx="5943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1.Material used</a:t>
            </a:r>
          </a:p>
          <a:p>
            <a:endParaRPr lang="en-US" sz="2800" b="1" dirty="0" smtClean="0">
              <a:solidFill>
                <a:srgbClr val="FF0000"/>
              </a:solidFill>
            </a:endParaRPr>
          </a:p>
          <a:p>
            <a:r>
              <a:rPr lang="en-US" sz="2800" b="1" dirty="0" smtClean="0">
                <a:solidFill>
                  <a:srgbClr val="FF0000"/>
                </a:solidFill>
              </a:rPr>
              <a:t>2.Number of modes</a:t>
            </a:r>
          </a:p>
          <a:p>
            <a:endParaRPr lang="en-US" sz="2800" b="1" dirty="0" smtClean="0">
              <a:solidFill>
                <a:srgbClr val="FF0000"/>
              </a:solidFill>
            </a:endParaRPr>
          </a:p>
          <a:p>
            <a:r>
              <a:rPr lang="en-US" sz="2800" b="1" dirty="0" smtClean="0">
                <a:solidFill>
                  <a:srgbClr val="FF0000"/>
                </a:solidFill>
              </a:rPr>
              <a:t>3.Variation of R.I. along diameter</a:t>
            </a:r>
            <a:endParaRPr lang="en-IN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09800" y="228600"/>
            <a:ext cx="510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70C0"/>
                </a:solidFill>
              </a:rPr>
              <a:t>Glass and Plastic Fibres</a:t>
            </a:r>
            <a:endParaRPr lang="en-IN" sz="2400" b="1" dirty="0">
              <a:solidFill>
                <a:srgbClr val="0070C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3400"/>
            <a:ext cx="838200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Glass optic </a:t>
            </a:r>
            <a:r>
              <a:rPr lang="en-US" sz="2400" dirty="0" err="1" smtClean="0">
                <a:solidFill>
                  <a:srgbClr val="FF0000"/>
                </a:solidFill>
              </a:rPr>
              <a:t>fibres</a:t>
            </a:r>
            <a:r>
              <a:rPr lang="en-US" sz="2400" dirty="0" smtClean="0">
                <a:solidFill>
                  <a:srgbClr val="FF0000"/>
                </a:solidFill>
              </a:rPr>
              <a:t> consist of a glass core surrounded by    </a:t>
            </a:r>
          </a:p>
          <a:p>
            <a:r>
              <a:rPr lang="en-US" sz="2400" dirty="0" smtClean="0">
                <a:solidFill>
                  <a:srgbClr val="FF0000"/>
                </a:solidFill>
              </a:rPr>
              <a:t>   glass cladding of smaller R.I.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7030A0"/>
                </a:solidFill>
              </a:rPr>
              <a:t>Glass </a:t>
            </a:r>
            <a:r>
              <a:rPr lang="en-US" sz="2400" dirty="0" err="1" smtClean="0">
                <a:solidFill>
                  <a:srgbClr val="7030A0"/>
                </a:solidFill>
              </a:rPr>
              <a:t>fibres</a:t>
            </a:r>
            <a:r>
              <a:rPr lang="en-US" sz="2400" dirty="0" smtClean="0">
                <a:solidFill>
                  <a:srgbClr val="7030A0"/>
                </a:solidFill>
              </a:rPr>
              <a:t> have lower attenuation and larger  </a:t>
            </a:r>
          </a:p>
          <a:p>
            <a:r>
              <a:rPr lang="en-US" sz="2400" dirty="0" smtClean="0">
                <a:solidFill>
                  <a:srgbClr val="7030A0"/>
                </a:solidFill>
              </a:rPr>
              <a:t>   mechanical strength compared to plastic </a:t>
            </a:r>
            <a:r>
              <a:rPr lang="en-US" sz="2400" dirty="0" err="1" smtClean="0">
                <a:solidFill>
                  <a:srgbClr val="7030A0"/>
                </a:solidFill>
              </a:rPr>
              <a:t>fibre</a:t>
            </a:r>
            <a:r>
              <a:rPr lang="en-US" sz="2400" dirty="0" smtClean="0">
                <a:solidFill>
                  <a:srgbClr val="7030A0"/>
                </a:solidFill>
              </a:rPr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</a:rPr>
              <a:t>Material used for glass </a:t>
            </a:r>
            <a:r>
              <a:rPr lang="en-US" sz="2400" dirty="0" err="1" smtClean="0">
                <a:solidFill>
                  <a:srgbClr val="FF0000"/>
                </a:solidFill>
              </a:rPr>
              <a:t>fibre:Silica</a:t>
            </a:r>
            <a:r>
              <a:rPr lang="en-US" sz="2400" dirty="0" smtClean="0">
                <a:solidFill>
                  <a:srgbClr val="FF0000"/>
                </a:solidFill>
              </a:rPr>
              <a:t>(SiO2)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7030A0"/>
                </a:solidFill>
              </a:rPr>
              <a:t>Silica can be doped with </a:t>
            </a:r>
            <a:r>
              <a:rPr lang="en-US" sz="2400" dirty="0" err="1" smtClean="0">
                <a:solidFill>
                  <a:srgbClr val="7030A0"/>
                </a:solidFill>
              </a:rPr>
              <a:t>aluminium</a:t>
            </a:r>
            <a:r>
              <a:rPr lang="en-US" sz="2400" dirty="0" smtClean="0">
                <a:solidFill>
                  <a:srgbClr val="7030A0"/>
                </a:solidFill>
              </a:rPr>
              <a:t> oxide to increase R.I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</a:rPr>
              <a:t>Silica can be doped with Fluorine to decrease R.I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7030A0"/>
                </a:solidFill>
              </a:rPr>
              <a:t>Silica </a:t>
            </a:r>
            <a:r>
              <a:rPr lang="en-US" sz="2400" dirty="0" err="1" smtClean="0">
                <a:solidFill>
                  <a:srgbClr val="7030A0"/>
                </a:solidFill>
              </a:rPr>
              <a:t>fibre</a:t>
            </a:r>
            <a:r>
              <a:rPr lang="en-US" sz="2400" dirty="0" smtClean="0">
                <a:solidFill>
                  <a:srgbClr val="7030A0"/>
                </a:solidFill>
              </a:rPr>
              <a:t> can be drawn into thinner </a:t>
            </a:r>
            <a:r>
              <a:rPr lang="en-US" sz="2400" dirty="0" err="1" smtClean="0">
                <a:solidFill>
                  <a:srgbClr val="7030A0"/>
                </a:solidFill>
              </a:rPr>
              <a:t>fibres</a:t>
            </a:r>
            <a:r>
              <a:rPr lang="en-US" sz="2400" dirty="0" smtClean="0">
                <a:solidFill>
                  <a:srgbClr val="7030A0"/>
                </a:solidFill>
              </a:rPr>
              <a:t> compared to     </a:t>
            </a:r>
          </a:p>
          <a:p>
            <a:r>
              <a:rPr lang="en-US" sz="2400" dirty="0" smtClean="0">
                <a:solidFill>
                  <a:srgbClr val="7030A0"/>
                </a:solidFill>
              </a:rPr>
              <a:t>  plastic ,hence suitable for long distance communication.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</a:rPr>
              <a:t>Plastic </a:t>
            </a:r>
            <a:r>
              <a:rPr lang="en-US" sz="2400" dirty="0" err="1" smtClean="0">
                <a:solidFill>
                  <a:srgbClr val="FF0000"/>
                </a:solidFill>
              </a:rPr>
              <a:t>fibre</a:t>
            </a:r>
            <a:r>
              <a:rPr lang="en-US" sz="2400" dirty="0" smtClean="0">
                <a:solidFill>
                  <a:srgbClr val="FF0000"/>
                </a:solidFill>
              </a:rPr>
              <a:t> are made up of a core polystyrene and a  </a:t>
            </a:r>
          </a:p>
          <a:p>
            <a:r>
              <a:rPr lang="en-US" sz="2400" dirty="0" smtClean="0">
                <a:solidFill>
                  <a:srgbClr val="FF0000"/>
                </a:solidFill>
              </a:rPr>
              <a:t>  cladding of </a:t>
            </a:r>
            <a:r>
              <a:rPr lang="en-US" sz="2400" dirty="0" err="1" smtClean="0">
                <a:solidFill>
                  <a:srgbClr val="FF0000"/>
                </a:solidFill>
              </a:rPr>
              <a:t>polymethyl</a:t>
            </a:r>
            <a:r>
              <a:rPr lang="en-US" sz="2400" dirty="0" smtClean="0">
                <a:solidFill>
                  <a:srgbClr val="FF0000"/>
                </a:solidFill>
              </a:rPr>
              <a:t>  </a:t>
            </a:r>
            <a:r>
              <a:rPr lang="en-US" sz="2400" dirty="0" err="1" smtClean="0">
                <a:solidFill>
                  <a:srgbClr val="FF0000"/>
                </a:solidFill>
              </a:rPr>
              <a:t>methacyclate</a:t>
            </a:r>
            <a:r>
              <a:rPr lang="en-US" sz="2400" dirty="0" smtClean="0">
                <a:solidFill>
                  <a:srgbClr val="FF0000"/>
                </a:solidFill>
              </a:rPr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7030A0"/>
                </a:solidFill>
              </a:rPr>
              <a:t>Plastic </a:t>
            </a:r>
            <a:r>
              <a:rPr lang="en-US" sz="2400" dirty="0" err="1" smtClean="0">
                <a:solidFill>
                  <a:srgbClr val="7030A0"/>
                </a:solidFill>
              </a:rPr>
              <a:t>fibres</a:t>
            </a:r>
            <a:r>
              <a:rPr lang="en-US" sz="2400" dirty="0" smtClean="0">
                <a:solidFill>
                  <a:srgbClr val="7030A0"/>
                </a:solidFill>
              </a:rPr>
              <a:t> are more flexible compared to glass </a:t>
            </a:r>
            <a:r>
              <a:rPr lang="en-US" sz="2400" dirty="0" err="1" smtClean="0">
                <a:solidFill>
                  <a:srgbClr val="7030A0"/>
                </a:solidFill>
              </a:rPr>
              <a:t>fibres</a:t>
            </a:r>
            <a:r>
              <a:rPr lang="en-US" sz="2400" dirty="0" smtClean="0">
                <a:solidFill>
                  <a:srgbClr val="7030A0"/>
                </a:solidFill>
              </a:rPr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</a:rPr>
              <a:t>Plastic </a:t>
            </a:r>
            <a:r>
              <a:rPr lang="en-US" sz="2400" dirty="0" err="1" smtClean="0">
                <a:solidFill>
                  <a:srgbClr val="FF0000"/>
                </a:solidFill>
              </a:rPr>
              <a:t>fibres</a:t>
            </a:r>
            <a:r>
              <a:rPr lang="en-US" sz="2400" dirty="0" smtClean="0">
                <a:solidFill>
                  <a:srgbClr val="FF0000"/>
                </a:solidFill>
              </a:rPr>
              <a:t> have more attenuation and can’t be drawn     </a:t>
            </a:r>
          </a:p>
          <a:p>
            <a:r>
              <a:rPr lang="en-US" sz="2400" dirty="0" smtClean="0">
                <a:solidFill>
                  <a:srgbClr val="FF0000"/>
                </a:solidFill>
              </a:rPr>
              <a:t>  into very thin </a:t>
            </a:r>
            <a:r>
              <a:rPr lang="en-US" sz="2400" dirty="0" err="1" smtClean="0">
                <a:solidFill>
                  <a:srgbClr val="FF0000"/>
                </a:solidFill>
              </a:rPr>
              <a:t>fibres</a:t>
            </a:r>
            <a:r>
              <a:rPr lang="en-US" sz="2400" dirty="0" smtClean="0">
                <a:solidFill>
                  <a:srgbClr val="FF0000"/>
                </a:solidFill>
              </a:rPr>
              <a:t>. Hence suitable for short distance.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533400"/>
            <a:ext cx="7086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70C0"/>
                </a:solidFill>
              </a:rPr>
              <a:t>Single mode and multimode Fibres:</a:t>
            </a:r>
            <a:endParaRPr lang="en-IN" sz="2400" b="1" dirty="0">
              <a:solidFill>
                <a:srgbClr val="0070C0"/>
              </a:solidFill>
            </a:endParaRPr>
          </a:p>
        </p:txBody>
      </p:sp>
      <p:pic>
        <p:nvPicPr>
          <p:cNvPr id="4" name="Picture 3" descr="Difference between Singlemode and Multimode Fiber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447800"/>
            <a:ext cx="7010400" cy="304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457200" y="2667000"/>
            <a:ext cx="914400" cy="1295400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6553200" y="2438400"/>
            <a:ext cx="914400" cy="1752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6477000" y="3048000"/>
            <a:ext cx="762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324600" y="3429000"/>
            <a:ext cx="3048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4038600" y="304800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Axial Mode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6400800" y="2362200"/>
            <a:ext cx="175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Lower Order Mode</a:t>
            </a:r>
            <a:endParaRPr lang="en-IN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6400800" y="3276600"/>
            <a:ext cx="175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Higher Order Mode</a:t>
            </a:r>
            <a:endParaRPr lang="en-IN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457200"/>
            <a:ext cx="678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70C0"/>
                </a:solidFill>
              </a:rPr>
              <a:t>        Step Index </a:t>
            </a:r>
            <a:r>
              <a:rPr lang="en-US" sz="2400" b="1" dirty="0" err="1" smtClean="0">
                <a:solidFill>
                  <a:srgbClr val="0070C0"/>
                </a:solidFill>
              </a:rPr>
              <a:t>fibres</a:t>
            </a:r>
            <a:endParaRPr lang="en-IN" sz="2400" b="1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400" y="1066800"/>
            <a:ext cx="7848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FF0000"/>
                </a:solidFill>
              </a:rPr>
              <a:t>Core of homogeneous medium of R.I </a:t>
            </a:r>
            <a:r>
              <a:rPr lang="el-GR" sz="2400" b="1" dirty="0" smtClean="0">
                <a:solidFill>
                  <a:srgbClr val="FF0000"/>
                </a:solidFill>
              </a:rPr>
              <a:t>μ</a:t>
            </a:r>
            <a:r>
              <a:rPr lang="en-US" sz="2400" b="1" dirty="0" smtClean="0">
                <a:solidFill>
                  <a:srgbClr val="FF0000"/>
                </a:solidFill>
              </a:rPr>
              <a:t>1 and   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 cladding of another homogeneous medium of R.I </a:t>
            </a:r>
            <a:r>
              <a:rPr lang="el-GR" sz="2400" b="1" dirty="0" smtClean="0">
                <a:solidFill>
                  <a:srgbClr val="FF0000"/>
                </a:solidFill>
              </a:rPr>
              <a:t>μ</a:t>
            </a:r>
            <a:r>
              <a:rPr lang="en-US" sz="2400" b="1" dirty="0" smtClean="0">
                <a:solidFill>
                  <a:srgbClr val="FF0000"/>
                </a:solidFill>
              </a:rPr>
              <a:t>2</a:t>
            </a:r>
          </a:p>
          <a:p>
            <a:endParaRPr lang="en-US" sz="2400" b="1" dirty="0" smtClean="0">
              <a:solidFill>
                <a:srgbClr val="FF000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FF0000"/>
                </a:solidFill>
              </a:rPr>
              <a:t> </a:t>
            </a:r>
            <a:r>
              <a:rPr lang="el-GR" sz="2400" b="1" dirty="0" smtClean="0">
                <a:solidFill>
                  <a:srgbClr val="FF0000"/>
                </a:solidFill>
              </a:rPr>
              <a:t>μ</a:t>
            </a:r>
            <a:r>
              <a:rPr lang="en-US" sz="2400" b="1" dirty="0" smtClean="0">
                <a:solidFill>
                  <a:srgbClr val="FF0000"/>
                </a:solidFill>
              </a:rPr>
              <a:t>2 &lt; </a:t>
            </a:r>
            <a:r>
              <a:rPr lang="el-GR" sz="2400" b="1" dirty="0" smtClean="0">
                <a:solidFill>
                  <a:srgbClr val="FF0000"/>
                </a:solidFill>
              </a:rPr>
              <a:t>μ</a:t>
            </a:r>
            <a:r>
              <a:rPr lang="en-US" sz="2400" b="1" dirty="0" smtClean="0">
                <a:solidFill>
                  <a:srgbClr val="FF0000"/>
                </a:solidFill>
              </a:rPr>
              <a:t>1</a:t>
            </a:r>
          </a:p>
          <a:p>
            <a:endParaRPr lang="en-US" sz="2400" b="1" dirty="0" smtClean="0">
              <a:solidFill>
                <a:srgbClr val="FF000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FF0000"/>
                </a:solidFill>
              </a:rPr>
              <a:t> Due to change in R.I. at the core cladding interface, they are called step index </a:t>
            </a:r>
            <a:r>
              <a:rPr lang="en-US" sz="2400" b="1" dirty="0" err="1" smtClean="0">
                <a:solidFill>
                  <a:srgbClr val="FF0000"/>
                </a:solidFill>
              </a:rPr>
              <a:t>fibres</a:t>
            </a:r>
            <a:r>
              <a:rPr lang="en-US" sz="2400" b="1" dirty="0" smtClean="0">
                <a:solidFill>
                  <a:srgbClr val="FF0000"/>
                </a:solidFill>
              </a:rPr>
              <a:t>.</a:t>
            </a:r>
          </a:p>
          <a:p>
            <a:endParaRPr lang="en-I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685800"/>
            <a:ext cx="533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70C0"/>
                </a:solidFill>
              </a:rPr>
              <a:t>Multimode step index </a:t>
            </a:r>
            <a:r>
              <a:rPr lang="en-US" sz="2000" b="1" dirty="0" err="1" smtClean="0">
                <a:solidFill>
                  <a:srgbClr val="0070C0"/>
                </a:solidFill>
              </a:rPr>
              <a:t>fibre</a:t>
            </a:r>
            <a:endParaRPr lang="en-IN" sz="2000" b="1" dirty="0">
              <a:solidFill>
                <a:srgbClr val="0070C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3886200"/>
            <a:ext cx="7162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rgbClr val="FF0000"/>
                </a:solidFill>
              </a:rPr>
              <a:t>At core diameter ,of the order of 50</a:t>
            </a:r>
            <a:r>
              <a:rPr lang="el-GR" b="1" dirty="0" smtClean="0">
                <a:solidFill>
                  <a:srgbClr val="FF0000"/>
                </a:solidFill>
              </a:rPr>
              <a:t>μ</a:t>
            </a:r>
            <a:r>
              <a:rPr lang="en-US" b="1" dirty="0" smtClean="0">
                <a:solidFill>
                  <a:srgbClr val="FF0000"/>
                </a:solidFill>
              </a:rPr>
              <a:t>m to 200</a:t>
            </a:r>
            <a:r>
              <a:rPr lang="el-GR" b="1" dirty="0" smtClean="0">
                <a:solidFill>
                  <a:srgbClr val="FF0000"/>
                </a:solidFill>
              </a:rPr>
              <a:t> μ</a:t>
            </a:r>
            <a:r>
              <a:rPr lang="en-US" b="1" dirty="0" smtClean="0">
                <a:solidFill>
                  <a:srgbClr val="FF0000"/>
                </a:solidFill>
              </a:rPr>
              <a:t>m and cladding diameter 20</a:t>
            </a:r>
            <a:r>
              <a:rPr lang="el-GR" b="1" dirty="0" smtClean="0">
                <a:solidFill>
                  <a:srgbClr val="FF0000"/>
                </a:solidFill>
              </a:rPr>
              <a:t> μ</a:t>
            </a:r>
            <a:r>
              <a:rPr lang="en-US" b="1" dirty="0" smtClean="0">
                <a:solidFill>
                  <a:srgbClr val="FF0000"/>
                </a:solidFill>
              </a:rPr>
              <a:t>m to 25</a:t>
            </a:r>
            <a:r>
              <a:rPr lang="el-GR" b="1" dirty="0" smtClean="0">
                <a:solidFill>
                  <a:srgbClr val="FF0000"/>
                </a:solidFill>
              </a:rPr>
              <a:t> μ</a:t>
            </a:r>
            <a:r>
              <a:rPr lang="en-US" b="1" dirty="0" smtClean="0">
                <a:solidFill>
                  <a:srgbClr val="FF0000"/>
                </a:solidFill>
              </a:rPr>
              <a:t>m. ,it can transmit a large no. of modes as shown in fig. These </a:t>
            </a:r>
            <a:r>
              <a:rPr lang="en-US" b="1" dirty="0" err="1" smtClean="0">
                <a:solidFill>
                  <a:srgbClr val="FF0000"/>
                </a:solidFill>
              </a:rPr>
              <a:t>fibres</a:t>
            </a:r>
            <a:r>
              <a:rPr lang="en-US" b="1" dirty="0" smtClean="0">
                <a:solidFill>
                  <a:srgbClr val="FF0000"/>
                </a:solidFill>
              </a:rPr>
              <a:t> known as multimode step index.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rgbClr val="FF0000"/>
                </a:solidFill>
              </a:rPr>
              <a:t>These </a:t>
            </a:r>
            <a:r>
              <a:rPr lang="en-US" b="1" dirty="0" err="1" smtClean="0">
                <a:solidFill>
                  <a:srgbClr val="FF0000"/>
                </a:solidFill>
              </a:rPr>
              <a:t>fibres</a:t>
            </a:r>
            <a:r>
              <a:rPr lang="en-US" b="1" dirty="0" smtClean="0">
                <a:solidFill>
                  <a:srgbClr val="FF0000"/>
                </a:solidFill>
              </a:rPr>
              <a:t> are cheaper compared to other </a:t>
            </a:r>
            <a:r>
              <a:rPr lang="en-US" b="1" dirty="0" err="1" smtClean="0">
                <a:solidFill>
                  <a:srgbClr val="FF0000"/>
                </a:solidFill>
              </a:rPr>
              <a:t>fibres</a:t>
            </a:r>
            <a:r>
              <a:rPr lang="en-US" b="1" dirty="0" smtClean="0">
                <a:solidFill>
                  <a:srgbClr val="FF0000"/>
                </a:solidFill>
              </a:rPr>
              <a:t> but not suitable for long distance communication.</a:t>
            </a:r>
          </a:p>
          <a:p>
            <a:pPr>
              <a:buFont typeface="Arial" pitchFamily="34" charset="0"/>
              <a:buChar char="•"/>
            </a:pP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143000"/>
            <a:ext cx="6796062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295400"/>
            <a:ext cx="7932946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533400" y="3962400"/>
            <a:ext cx="7315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rgbClr val="FF0000"/>
                </a:solidFill>
              </a:rPr>
              <a:t>If the core diameter ,of the order of 2</a:t>
            </a:r>
            <a:r>
              <a:rPr lang="el-GR" b="1" dirty="0" smtClean="0">
                <a:solidFill>
                  <a:srgbClr val="FF0000"/>
                </a:solidFill>
              </a:rPr>
              <a:t>μ</a:t>
            </a:r>
            <a:r>
              <a:rPr lang="en-US" b="1" dirty="0" smtClean="0">
                <a:solidFill>
                  <a:srgbClr val="FF0000"/>
                </a:solidFill>
              </a:rPr>
              <a:t>m to 10</a:t>
            </a:r>
            <a:r>
              <a:rPr lang="el-GR" b="1" dirty="0" smtClean="0">
                <a:solidFill>
                  <a:srgbClr val="FF0000"/>
                </a:solidFill>
              </a:rPr>
              <a:t> μ</a:t>
            </a:r>
            <a:r>
              <a:rPr lang="en-US" b="1" dirty="0" smtClean="0">
                <a:solidFill>
                  <a:srgbClr val="FF0000"/>
                </a:solidFill>
              </a:rPr>
              <a:t>m. Are known single mode step index </a:t>
            </a:r>
            <a:r>
              <a:rPr lang="en-US" b="1" dirty="0" err="1" smtClean="0">
                <a:solidFill>
                  <a:srgbClr val="FF0000"/>
                </a:solidFill>
              </a:rPr>
              <a:t>fibre</a:t>
            </a:r>
            <a:r>
              <a:rPr lang="en-US" b="1" dirty="0" smtClean="0">
                <a:solidFill>
                  <a:srgbClr val="FF0000"/>
                </a:solidFill>
              </a:rPr>
              <a:t> .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rgbClr val="FF0000"/>
                </a:solidFill>
              </a:rPr>
              <a:t>Due to small diameter of core ,these </a:t>
            </a:r>
            <a:r>
              <a:rPr lang="en-US" b="1" dirty="0" err="1" smtClean="0">
                <a:solidFill>
                  <a:srgbClr val="FF0000"/>
                </a:solidFill>
              </a:rPr>
              <a:t>fibres</a:t>
            </a:r>
            <a:r>
              <a:rPr lang="en-US" b="1" dirty="0" smtClean="0">
                <a:solidFill>
                  <a:srgbClr val="FF0000"/>
                </a:solidFill>
              </a:rPr>
              <a:t> transmit only axial mode.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rgbClr val="FF0000"/>
                </a:solidFill>
              </a:rPr>
              <a:t> The thickness of the core is 25</a:t>
            </a:r>
            <a:r>
              <a:rPr lang="el-GR" b="1" dirty="0" smtClean="0">
                <a:solidFill>
                  <a:srgbClr val="FF0000"/>
                </a:solidFill>
              </a:rPr>
              <a:t> μ</a:t>
            </a:r>
            <a:r>
              <a:rPr lang="en-US" b="1" dirty="0" smtClean="0">
                <a:solidFill>
                  <a:srgbClr val="FF0000"/>
                </a:solidFill>
              </a:rPr>
              <a:t>m to 30</a:t>
            </a:r>
            <a:r>
              <a:rPr lang="el-GR" b="1" dirty="0" smtClean="0">
                <a:solidFill>
                  <a:srgbClr val="FF0000"/>
                </a:solidFill>
              </a:rPr>
              <a:t> μ</a:t>
            </a:r>
            <a:r>
              <a:rPr lang="en-US" b="1" dirty="0" smtClean="0">
                <a:solidFill>
                  <a:srgbClr val="FF0000"/>
                </a:solidFill>
              </a:rPr>
              <a:t>m. 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solidFill>
                  <a:srgbClr val="FF0000"/>
                </a:solidFill>
              </a:rPr>
              <a:t>These </a:t>
            </a:r>
            <a:r>
              <a:rPr lang="en-US" b="1" dirty="0" err="1" smtClean="0">
                <a:solidFill>
                  <a:srgbClr val="FF0000"/>
                </a:solidFill>
              </a:rPr>
              <a:t>fibres</a:t>
            </a:r>
            <a:r>
              <a:rPr lang="en-US" b="1" dirty="0" smtClean="0">
                <a:solidFill>
                  <a:srgbClr val="FF0000"/>
                </a:solidFill>
              </a:rPr>
              <a:t> are used for long distance communication.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685800"/>
            <a:ext cx="533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70C0"/>
                </a:solidFill>
              </a:rPr>
              <a:t>Single mode step index </a:t>
            </a:r>
            <a:r>
              <a:rPr lang="en-US" sz="2000" b="1" dirty="0" err="1" smtClean="0">
                <a:solidFill>
                  <a:srgbClr val="0070C0"/>
                </a:solidFill>
              </a:rPr>
              <a:t>fibre</a:t>
            </a:r>
            <a:endParaRPr lang="en-IN" sz="2000" b="1" dirty="0">
              <a:solidFill>
                <a:srgbClr val="0070C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95400" y="1676400"/>
            <a:ext cx="609600" cy="228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1600" dirty="0" smtClean="0">
                <a:solidFill>
                  <a:srgbClr val="FF0000"/>
                </a:solidFill>
              </a:rPr>
              <a:t>μ</a:t>
            </a:r>
            <a:r>
              <a:rPr lang="en-US" sz="1600" dirty="0" smtClean="0">
                <a:solidFill>
                  <a:srgbClr val="FF0000"/>
                </a:solidFill>
              </a:rPr>
              <a:t>2</a:t>
            </a:r>
            <a:endParaRPr lang="en-IN" sz="16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52600" y="2133600"/>
            <a:ext cx="457200" cy="228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1600" dirty="0" smtClean="0">
                <a:solidFill>
                  <a:srgbClr val="FF0000"/>
                </a:solidFill>
              </a:rPr>
              <a:t>μ</a:t>
            </a:r>
            <a:r>
              <a:rPr lang="en-US" sz="1600" dirty="0" smtClean="0">
                <a:solidFill>
                  <a:srgbClr val="FF0000"/>
                </a:solidFill>
              </a:rPr>
              <a:t>1</a:t>
            </a:r>
            <a:endParaRPr lang="en-IN" sz="160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95400" y="2971800"/>
            <a:ext cx="609600" cy="228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1600" dirty="0" smtClean="0">
                <a:solidFill>
                  <a:srgbClr val="FF0000"/>
                </a:solidFill>
              </a:rPr>
              <a:t>μ</a:t>
            </a:r>
            <a:r>
              <a:rPr lang="en-US" sz="1600" dirty="0" smtClean="0">
                <a:solidFill>
                  <a:srgbClr val="FF0000"/>
                </a:solidFill>
              </a:rPr>
              <a:t>2</a:t>
            </a:r>
            <a:endParaRPr lang="en-IN" sz="1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762000"/>
            <a:ext cx="75438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1371600" y="1066800"/>
            <a:ext cx="609600" cy="228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1600" dirty="0" smtClean="0">
                <a:solidFill>
                  <a:srgbClr val="FF0000"/>
                </a:solidFill>
              </a:rPr>
              <a:t>μ</a:t>
            </a:r>
            <a:r>
              <a:rPr lang="en-US" sz="1600" dirty="0" smtClean="0">
                <a:solidFill>
                  <a:srgbClr val="FF0000"/>
                </a:solidFill>
              </a:rPr>
              <a:t>2</a:t>
            </a:r>
            <a:endParaRPr lang="en-IN" sz="160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05000" y="1828800"/>
            <a:ext cx="457200" cy="228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1600" dirty="0" smtClean="0">
                <a:solidFill>
                  <a:srgbClr val="FF0000"/>
                </a:solidFill>
              </a:rPr>
              <a:t>μ</a:t>
            </a:r>
            <a:r>
              <a:rPr lang="en-US" sz="1600" dirty="0" smtClean="0">
                <a:solidFill>
                  <a:srgbClr val="FF0000"/>
                </a:solidFill>
              </a:rPr>
              <a:t>1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76400" y="381000"/>
            <a:ext cx="533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70C0"/>
                </a:solidFill>
              </a:rPr>
              <a:t>Graded index multimode </a:t>
            </a:r>
            <a:r>
              <a:rPr lang="en-US" sz="2400" b="1" dirty="0" err="1" smtClean="0">
                <a:solidFill>
                  <a:srgbClr val="0070C0"/>
                </a:solidFill>
              </a:rPr>
              <a:t>fibre</a:t>
            </a:r>
            <a:endParaRPr lang="en-IN" sz="2400" b="1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4800" y="3276601"/>
            <a:ext cx="74676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rgbClr val="FF0000"/>
                </a:solidFill>
              </a:rPr>
              <a:t>R.I. is maximum at the axis of the core, decreases gradually    </a:t>
            </a:r>
          </a:p>
          <a:p>
            <a:r>
              <a:rPr lang="en-US" sz="2000" dirty="0" smtClean="0">
                <a:solidFill>
                  <a:srgbClr val="FF0000"/>
                </a:solidFill>
              </a:rPr>
              <a:t>  </a:t>
            </a:r>
            <a:r>
              <a:rPr lang="en-US" sz="2000" dirty="0" err="1" smtClean="0">
                <a:solidFill>
                  <a:srgbClr val="FF0000"/>
                </a:solidFill>
              </a:rPr>
              <a:t>upto</a:t>
            </a:r>
            <a:r>
              <a:rPr lang="en-US" sz="2000" dirty="0" smtClean="0">
                <a:solidFill>
                  <a:srgbClr val="FF0000"/>
                </a:solidFill>
              </a:rPr>
              <a:t> cladding and remains constant throughout the cladding.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rgbClr val="FF0000"/>
                </a:solidFill>
              </a:rPr>
              <a:t> The ray traveling at an angle to the axis travel in curved path    </a:t>
            </a:r>
          </a:p>
          <a:p>
            <a:r>
              <a:rPr lang="en-US" sz="2000" dirty="0" smtClean="0">
                <a:solidFill>
                  <a:srgbClr val="FF0000"/>
                </a:solidFill>
              </a:rPr>
              <a:t>  due to gradually decreasing R.I.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rgbClr val="FF0000"/>
                </a:solidFill>
              </a:rPr>
              <a:t> These rays travel longer distance compared to the axial ray.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rgbClr val="FF0000"/>
                </a:solidFill>
              </a:rPr>
              <a:t> They travel in region of small </a:t>
            </a:r>
            <a:r>
              <a:rPr lang="en-US" sz="2000" dirty="0" err="1" smtClean="0">
                <a:solidFill>
                  <a:srgbClr val="FF0000"/>
                </a:solidFill>
              </a:rPr>
              <a:t>R.I.and</a:t>
            </a:r>
            <a:r>
              <a:rPr lang="en-US" sz="2000" dirty="0" smtClean="0">
                <a:solidFill>
                  <a:srgbClr val="FF0000"/>
                </a:solidFill>
              </a:rPr>
              <a:t> hence travel faster.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rgbClr val="FF0000"/>
                </a:solidFill>
              </a:rPr>
              <a:t>This reduces intermodal dispersion.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rgbClr val="FF0000"/>
                </a:solidFill>
              </a:rPr>
              <a:t>The core diameter is typically about 20</a:t>
            </a:r>
            <a:r>
              <a:rPr lang="el-GR" sz="2000" dirty="0" smtClean="0">
                <a:solidFill>
                  <a:srgbClr val="FF0000"/>
                </a:solidFill>
              </a:rPr>
              <a:t>μ</a:t>
            </a:r>
            <a:r>
              <a:rPr lang="en-US" sz="2000" dirty="0" smtClean="0">
                <a:solidFill>
                  <a:srgbClr val="FF0000"/>
                </a:solidFill>
              </a:rPr>
              <a:t>m to 100</a:t>
            </a:r>
            <a:r>
              <a:rPr lang="el-GR" sz="2000" dirty="0" smtClean="0">
                <a:solidFill>
                  <a:srgbClr val="FF0000"/>
                </a:solidFill>
              </a:rPr>
              <a:t> μ</a:t>
            </a:r>
            <a:r>
              <a:rPr lang="en-US" sz="2000" dirty="0" smtClean="0">
                <a:solidFill>
                  <a:srgbClr val="FF0000"/>
                </a:solidFill>
              </a:rPr>
              <a:t>m with    </a:t>
            </a:r>
          </a:p>
          <a:p>
            <a:r>
              <a:rPr lang="en-US" sz="2000" dirty="0" smtClean="0">
                <a:solidFill>
                  <a:srgbClr val="FF0000"/>
                </a:solidFill>
              </a:rPr>
              <a:t>  cladding thickness of about 25</a:t>
            </a:r>
            <a:r>
              <a:rPr lang="el-GR" sz="2000" dirty="0" smtClean="0">
                <a:solidFill>
                  <a:srgbClr val="FF0000"/>
                </a:solidFill>
              </a:rPr>
              <a:t> μ</a:t>
            </a:r>
            <a:r>
              <a:rPr lang="en-US" sz="2000" dirty="0" smtClean="0">
                <a:solidFill>
                  <a:srgbClr val="FF0000"/>
                </a:solidFill>
              </a:rPr>
              <a:t>m.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rgbClr val="FF0000"/>
                </a:solidFill>
              </a:rPr>
              <a:t>They are used for medium distance communication.</a:t>
            </a:r>
          </a:p>
          <a:p>
            <a:endParaRPr lang="en-IN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81000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3200" b="1" dirty="0" smtClean="0">
                <a:solidFill>
                  <a:srgbClr val="0070C0"/>
                </a:solidFill>
              </a:rPr>
              <a:t>Attenuation: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990600"/>
            <a:ext cx="7010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The power loss of optical signals when they travel through optical </a:t>
            </a:r>
            <a:r>
              <a:rPr lang="en-US" sz="2800" b="1" dirty="0" err="1" smtClean="0">
                <a:solidFill>
                  <a:srgbClr val="FF0000"/>
                </a:solidFill>
              </a:rPr>
              <a:t>fibre</a:t>
            </a:r>
            <a:r>
              <a:rPr lang="en-US" sz="2800" b="1" dirty="0" smtClean="0">
                <a:solidFill>
                  <a:srgbClr val="FF0000"/>
                </a:solidFill>
              </a:rPr>
              <a:t> is known as attenuation.</a:t>
            </a:r>
            <a:endParaRPr lang="en-IN" sz="28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90600" y="2438400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3200" b="1" dirty="0" smtClean="0">
                <a:solidFill>
                  <a:srgbClr val="0070C0"/>
                </a:solidFill>
              </a:rPr>
              <a:t>Attenuation Constant: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3048000"/>
            <a:ext cx="701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</a:rPr>
              <a:t>The power loss per unit length.</a:t>
            </a:r>
            <a:endParaRPr lang="en-IN" sz="28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4038600"/>
            <a:ext cx="6934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3200" b="1" dirty="0" smtClean="0">
                <a:solidFill>
                  <a:srgbClr val="0070C0"/>
                </a:solidFill>
              </a:rPr>
              <a:t>Attenuation in optic </a:t>
            </a:r>
            <a:r>
              <a:rPr lang="en-US" sz="3200" b="1" dirty="0" err="1" smtClean="0">
                <a:solidFill>
                  <a:srgbClr val="0070C0"/>
                </a:solidFill>
              </a:rPr>
              <a:t>fibre</a:t>
            </a:r>
            <a:r>
              <a:rPr lang="en-US" sz="3200" b="1" dirty="0" smtClean="0">
                <a:solidFill>
                  <a:srgbClr val="0070C0"/>
                </a:solidFill>
              </a:rPr>
              <a:t> is due    </a:t>
            </a:r>
          </a:p>
          <a:p>
            <a:r>
              <a:rPr lang="en-US" sz="3200" b="1" dirty="0" smtClean="0">
                <a:solidFill>
                  <a:srgbClr val="0070C0"/>
                </a:solidFill>
              </a:rPr>
              <a:t>  to absorption, scattering and </a:t>
            </a:r>
          </a:p>
          <a:p>
            <a:r>
              <a:rPr lang="en-US" sz="3200" b="1" dirty="0" smtClean="0">
                <a:solidFill>
                  <a:srgbClr val="0070C0"/>
                </a:solidFill>
              </a:rPr>
              <a:t>  radiation losses</a:t>
            </a:r>
            <a:endParaRPr lang="en-IN" sz="32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457200"/>
            <a:ext cx="241604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Absorption:</a:t>
            </a:r>
            <a:endParaRPr lang="en-IN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152400" y="1219200"/>
            <a:ext cx="7162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Light can be absorbed either by the pure </a:t>
            </a:r>
            <a:r>
              <a:rPr lang="en-US" sz="2000" b="1" dirty="0" err="1" smtClean="0">
                <a:solidFill>
                  <a:srgbClr val="FF0000"/>
                </a:solidFill>
              </a:rPr>
              <a:t>fibre</a:t>
            </a:r>
            <a:r>
              <a:rPr lang="en-US" sz="2000" b="1" dirty="0" smtClean="0">
                <a:solidFill>
                  <a:srgbClr val="FF0000"/>
                </a:solidFill>
              </a:rPr>
              <a:t> material which is known as intrinsic absorption or it can be absorbed by impurities present in the core of the </a:t>
            </a:r>
            <a:r>
              <a:rPr lang="en-US" sz="2000" b="1" dirty="0" err="1" smtClean="0">
                <a:solidFill>
                  <a:srgbClr val="FF0000"/>
                </a:solidFill>
              </a:rPr>
              <a:t>fibre</a:t>
            </a:r>
            <a:r>
              <a:rPr lang="en-US" sz="2000" b="1" dirty="0" smtClean="0">
                <a:solidFill>
                  <a:srgbClr val="FF0000"/>
                </a:solidFill>
              </a:rPr>
              <a:t>.</a:t>
            </a:r>
            <a:endParaRPr lang="en-IN" sz="2000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38200" y="2209800"/>
            <a:ext cx="22813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Scattering:</a:t>
            </a:r>
            <a:endParaRPr lang="en-IN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304800" y="2895600"/>
            <a:ext cx="6934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Light travelling through the core can </a:t>
            </a:r>
            <a:r>
              <a:rPr lang="en-US" sz="2000" b="1" dirty="0" smtClean="0">
                <a:solidFill>
                  <a:srgbClr val="FF0000"/>
                </a:solidFill>
              </a:rPr>
              <a:t>get </a:t>
            </a:r>
            <a:r>
              <a:rPr lang="en-US" sz="2000" b="1" dirty="0" smtClean="0">
                <a:solidFill>
                  <a:srgbClr val="FF0000"/>
                </a:solidFill>
              </a:rPr>
              <a:t>scattered by impurities or small region with sudden change in R.I.</a:t>
            </a:r>
            <a:endParaRPr lang="en-IN" sz="2000" b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2000" y="3657600"/>
            <a:ext cx="28216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Radiation loss</a:t>
            </a:r>
            <a:endParaRPr lang="en-IN" sz="3200" dirty="0"/>
          </a:p>
        </p:txBody>
      </p:sp>
      <p:pic>
        <p:nvPicPr>
          <p:cNvPr id="7" name="Picture 2" descr="C:\Users\Admin\Desktop\image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419600"/>
            <a:ext cx="2486025" cy="2143125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2743200" y="4114800"/>
            <a:ext cx="548640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b="1" dirty="0" smtClean="0">
                <a:solidFill>
                  <a:srgbClr val="FF0000"/>
                </a:solidFill>
              </a:rPr>
              <a:t>Losses due to change in angle of incidence on the core cladding interfacing due to bending of cable at core cladding interface.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>
                <a:solidFill>
                  <a:srgbClr val="FF0000"/>
                </a:solidFill>
              </a:rPr>
              <a:t> </a:t>
            </a:r>
            <a:r>
              <a:rPr lang="en-US" sz="2000" b="1" dirty="0" smtClean="0">
                <a:solidFill>
                  <a:srgbClr val="FF0000"/>
                </a:solidFill>
              </a:rPr>
              <a:t>Light is partly lost by refraction due to microscopic bends as angle of incidence becomes smaller than critical angle.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>
                <a:solidFill>
                  <a:srgbClr val="FF0000"/>
                </a:solidFill>
              </a:rPr>
              <a:t>These losses can minimized by bending the cable in large radius of curvature.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85800" y="152400"/>
            <a:ext cx="67665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Optic </a:t>
            </a:r>
            <a:r>
              <a:rPr lang="en-US" sz="3200" b="1" dirty="0" err="1" smtClean="0">
                <a:solidFill>
                  <a:srgbClr val="0070C0"/>
                </a:solidFill>
              </a:rPr>
              <a:t>fibre</a:t>
            </a:r>
            <a:r>
              <a:rPr lang="en-US" sz="3200" b="1" dirty="0" smtClean="0">
                <a:solidFill>
                  <a:srgbClr val="0070C0"/>
                </a:solidFill>
              </a:rPr>
              <a:t> communication system</a:t>
            </a:r>
            <a:endParaRPr lang="en-IN" sz="32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762000"/>
            <a:ext cx="74676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0" y="2764572"/>
            <a:ext cx="81534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b="1" dirty="0" smtClean="0">
                <a:solidFill>
                  <a:srgbClr val="FF0000"/>
                </a:solidFill>
              </a:rPr>
              <a:t>A non electric signal like sound in telecommunication is    </a:t>
            </a:r>
          </a:p>
          <a:p>
            <a:r>
              <a:rPr lang="en-US" sz="2000" b="1" dirty="0" smtClean="0">
                <a:solidFill>
                  <a:srgbClr val="FF0000"/>
                </a:solidFill>
              </a:rPr>
              <a:t> </a:t>
            </a:r>
            <a:r>
              <a:rPr lang="en-US" sz="2000" b="1" dirty="0" smtClean="0">
                <a:solidFill>
                  <a:srgbClr val="FF0000"/>
                </a:solidFill>
              </a:rPr>
              <a:t> converted into  electrical signal by a transducer.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>
                <a:solidFill>
                  <a:srgbClr val="FF0000"/>
                </a:solidFill>
              </a:rPr>
              <a:t> </a:t>
            </a:r>
            <a:r>
              <a:rPr lang="en-US" sz="2000" b="1" dirty="0" smtClean="0">
                <a:solidFill>
                  <a:srgbClr val="FF0000"/>
                </a:solidFill>
              </a:rPr>
              <a:t>The signal is amplified ,modulated then fed to a laser diode  </a:t>
            </a:r>
          </a:p>
          <a:p>
            <a:r>
              <a:rPr lang="en-US" sz="2000" b="1" dirty="0" smtClean="0">
                <a:solidFill>
                  <a:srgbClr val="FF0000"/>
                </a:solidFill>
              </a:rPr>
              <a:t> </a:t>
            </a:r>
            <a:r>
              <a:rPr lang="en-US" sz="2000" b="1" dirty="0" smtClean="0">
                <a:solidFill>
                  <a:srgbClr val="FF0000"/>
                </a:solidFill>
              </a:rPr>
              <a:t> or LED  which converts the signal into a light signal.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>
                <a:solidFill>
                  <a:srgbClr val="FF0000"/>
                </a:solidFill>
              </a:rPr>
              <a:t>Then the transmitter transmit a light signal through optic </a:t>
            </a:r>
            <a:r>
              <a:rPr lang="en-US" sz="2000" b="1" dirty="0" err="1" smtClean="0">
                <a:solidFill>
                  <a:srgbClr val="FF0000"/>
                </a:solidFill>
              </a:rPr>
              <a:t>fibre</a:t>
            </a:r>
            <a:r>
              <a:rPr lang="en-US" sz="2000" b="1" dirty="0" smtClean="0">
                <a:solidFill>
                  <a:srgbClr val="FF0000"/>
                </a:solidFill>
              </a:rPr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>
                <a:solidFill>
                  <a:srgbClr val="FF0000"/>
                </a:solidFill>
              </a:rPr>
              <a:t>In the </a:t>
            </a:r>
            <a:r>
              <a:rPr lang="en-US" sz="2000" b="1" dirty="0" err="1" smtClean="0">
                <a:solidFill>
                  <a:srgbClr val="FF0000"/>
                </a:solidFill>
              </a:rPr>
              <a:t>receiver,the</a:t>
            </a:r>
            <a:r>
              <a:rPr lang="en-US" sz="2000" b="1" dirty="0" smtClean="0">
                <a:solidFill>
                  <a:srgbClr val="FF0000"/>
                </a:solidFill>
              </a:rPr>
              <a:t> light signal is converted into electric signal   </a:t>
            </a:r>
          </a:p>
          <a:p>
            <a:r>
              <a:rPr lang="en-US" sz="2000" b="1" dirty="0" smtClean="0">
                <a:solidFill>
                  <a:srgbClr val="FF0000"/>
                </a:solidFill>
              </a:rPr>
              <a:t> </a:t>
            </a:r>
            <a:r>
              <a:rPr lang="en-US" sz="2000" b="1" dirty="0" smtClean="0">
                <a:solidFill>
                  <a:srgbClr val="FF0000"/>
                </a:solidFill>
              </a:rPr>
              <a:t> by an </a:t>
            </a:r>
            <a:r>
              <a:rPr lang="en-US" sz="2000" b="1" dirty="0" err="1" smtClean="0">
                <a:solidFill>
                  <a:srgbClr val="FF0000"/>
                </a:solidFill>
              </a:rPr>
              <a:t>amplfier</a:t>
            </a:r>
            <a:r>
              <a:rPr lang="en-US" sz="2000" b="1" dirty="0" smtClean="0">
                <a:solidFill>
                  <a:srgbClr val="FF0000"/>
                </a:solidFill>
              </a:rPr>
              <a:t> .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>
                <a:solidFill>
                  <a:srgbClr val="FF0000"/>
                </a:solidFill>
              </a:rPr>
              <a:t> </a:t>
            </a:r>
            <a:r>
              <a:rPr lang="en-US" sz="2000" b="1" dirty="0" smtClean="0">
                <a:solidFill>
                  <a:srgbClr val="FF0000"/>
                </a:solidFill>
              </a:rPr>
              <a:t>The amplified electric signal is demodulated and fed to </a:t>
            </a:r>
            <a:r>
              <a:rPr lang="en-US" sz="2000" b="1" dirty="0" err="1" smtClean="0">
                <a:solidFill>
                  <a:srgbClr val="FF0000"/>
                </a:solidFill>
              </a:rPr>
              <a:t>speakar</a:t>
            </a:r>
            <a:r>
              <a:rPr lang="en-US" sz="2000" b="1" dirty="0" smtClean="0">
                <a:solidFill>
                  <a:srgbClr val="FF0000"/>
                </a:solidFill>
              </a:rPr>
              <a:t> </a:t>
            </a:r>
          </a:p>
          <a:p>
            <a:r>
              <a:rPr lang="en-US" sz="2000" b="1" dirty="0" smtClean="0">
                <a:solidFill>
                  <a:srgbClr val="FF0000"/>
                </a:solidFill>
              </a:rPr>
              <a:t> </a:t>
            </a:r>
            <a:r>
              <a:rPr lang="en-US" sz="2000" b="1" dirty="0" smtClean="0">
                <a:solidFill>
                  <a:srgbClr val="FF0000"/>
                </a:solidFill>
              </a:rPr>
              <a:t>  which convert it into sound signal.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>
                <a:solidFill>
                  <a:srgbClr val="FF0000"/>
                </a:solidFill>
              </a:rPr>
              <a:t> </a:t>
            </a:r>
            <a:r>
              <a:rPr lang="en-US" sz="2000" b="1" dirty="0" smtClean="0">
                <a:solidFill>
                  <a:srgbClr val="FF0000"/>
                </a:solidFill>
              </a:rPr>
              <a:t>In data transfer </a:t>
            </a:r>
            <a:r>
              <a:rPr lang="en-US" sz="2000" b="1" dirty="0" err="1" smtClean="0">
                <a:solidFill>
                  <a:srgbClr val="FF0000"/>
                </a:solidFill>
              </a:rPr>
              <a:t>system,which</a:t>
            </a:r>
            <a:r>
              <a:rPr lang="en-US" sz="2000" b="1" dirty="0" smtClean="0">
                <a:solidFill>
                  <a:srgbClr val="FF0000"/>
                </a:solidFill>
              </a:rPr>
              <a:t> </a:t>
            </a:r>
            <a:r>
              <a:rPr lang="en-US" sz="2000" b="1" dirty="0" smtClean="0">
                <a:solidFill>
                  <a:srgbClr val="FF0000"/>
                </a:solidFill>
              </a:rPr>
              <a:t>transfer digital data from one computer to another ,there is no transducer in the transmitter.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>
                <a:solidFill>
                  <a:srgbClr val="FF0000"/>
                </a:solidFill>
              </a:rPr>
              <a:t>The input of </a:t>
            </a:r>
            <a:r>
              <a:rPr lang="en-US" sz="2000" b="1" dirty="0" err="1" smtClean="0">
                <a:solidFill>
                  <a:srgbClr val="FF0000"/>
                </a:solidFill>
              </a:rPr>
              <a:t>tran</a:t>
            </a:r>
            <a:r>
              <a:rPr lang="en-US" sz="2000" b="1" dirty="0" smtClean="0">
                <a:solidFill>
                  <a:srgbClr val="FF0000"/>
                </a:solidFill>
              </a:rPr>
              <a:t> </a:t>
            </a:r>
            <a:r>
              <a:rPr lang="en-US" sz="2000" b="1" dirty="0" err="1" smtClean="0">
                <a:solidFill>
                  <a:srgbClr val="FF0000"/>
                </a:solidFill>
              </a:rPr>
              <a:t>smitter</a:t>
            </a:r>
            <a:r>
              <a:rPr lang="en-US" sz="2000" b="1" dirty="0" smtClean="0">
                <a:solidFill>
                  <a:srgbClr val="FF0000"/>
                </a:solidFill>
              </a:rPr>
              <a:t> and output of receiver are both electric signal. </a:t>
            </a:r>
            <a:endParaRPr lang="en-IN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6357</TotalTime>
  <Words>768</Words>
  <Application>Microsoft Office PowerPoint</Application>
  <PresentationFormat>On-screen Show (4:3)</PresentationFormat>
  <Paragraphs>90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Opulent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Admin</cp:lastModifiedBy>
  <cp:revision>85</cp:revision>
  <dcterms:created xsi:type="dcterms:W3CDTF">2006-08-16T00:00:00Z</dcterms:created>
  <dcterms:modified xsi:type="dcterms:W3CDTF">2022-11-12T04:47:11Z</dcterms:modified>
</cp:coreProperties>
</file>