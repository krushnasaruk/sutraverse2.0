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s/slide67.xml" ContentType="application/vnd.openxmlformats-officedocument.presentationml.slide+xml"/>
  <Override PartName="/ppt/slides/slide76.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7" r:id="rId27"/>
    <p:sldId id="288" r:id="rId28"/>
    <p:sldId id="289" r:id="rId29"/>
    <p:sldId id="290" r:id="rId30"/>
    <p:sldId id="297" r:id="rId31"/>
    <p:sldId id="298" r:id="rId32"/>
    <p:sldId id="299" r:id="rId33"/>
    <p:sldId id="300" r:id="rId34"/>
    <p:sldId id="302" r:id="rId35"/>
    <p:sldId id="303" r:id="rId36"/>
    <p:sldId id="304" r:id="rId37"/>
    <p:sldId id="305" r:id="rId38"/>
    <p:sldId id="306" r:id="rId39"/>
    <p:sldId id="307" r:id="rId40"/>
    <p:sldId id="308" r:id="rId41"/>
    <p:sldId id="311" r:id="rId42"/>
    <p:sldId id="312" r:id="rId43"/>
    <p:sldId id="313" r:id="rId44"/>
    <p:sldId id="331" r:id="rId45"/>
    <p:sldId id="320" r:id="rId46"/>
    <p:sldId id="321" r:id="rId47"/>
    <p:sldId id="322" r:id="rId48"/>
    <p:sldId id="325" r:id="rId49"/>
    <p:sldId id="327" r:id="rId50"/>
    <p:sldId id="328" r:id="rId51"/>
    <p:sldId id="330" r:id="rId52"/>
    <p:sldId id="332" r:id="rId53"/>
    <p:sldId id="333" r:id="rId54"/>
    <p:sldId id="338" r:id="rId55"/>
    <p:sldId id="339" r:id="rId56"/>
    <p:sldId id="340" r:id="rId57"/>
    <p:sldId id="341" r:id="rId58"/>
    <p:sldId id="342" r:id="rId59"/>
    <p:sldId id="343" r:id="rId60"/>
    <p:sldId id="334" r:id="rId61"/>
    <p:sldId id="335" r:id="rId62"/>
    <p:sldId id="371" r:id="rId63"/>
    <p:sldId id="336" r:id="rId64"/>
    <p:sldId id="358" r:id="rId65"/>
    <p:sldId id="359" r:id="rId66"/>
    <p:sldId id="360" r:id="rId67"/>
    <p:sldId id="361" r:id="rId68"/>
    <p:sldId id="362" r:id="rId69"/>
    <p:sldId id="365" r:id="rId70"/>
    <p:sldId id="366" r:id="rId71"/>
    <p:sldId id="372" r:id="rId72"/>
    <p:sldId id="373" r:id="rId73"/>
    <p:sldId id="374" r:id="rId74"/>
    <p:sldId id="376" r:id="rId75"/>
    <p:sldId id="375" r:id="rId76"/>
    <p:sldId id="348" r:id="rId77"/>
    <p:sldId id="377" r:id="rId78"/>
    <p:sldId id="378" r:id="rId79"/>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88" autoAdjust="0"/>
    <p:restoredTop sz="94671" autoAdjust="0"/>
  </p:normalViewPr>
  <p:slideViewPr>
    <p:cSldViewPr>
      <p:cViewPr>
        <p:scale>
          <a:sx n="75" d="100"/>
          <a:sy n="75" d="100"/>
        </p:scale>
        <p:origin x="-1014" y="-690"/>
      </p:cViewPr>
      <p:guideLst>
        <p:guide orient="horz" pos="2880"/>
        <p:guide pos="216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07593" y="456641"/>
            <a:ext cx="7728813" cy="1117600"/>
          </a:xfrm>
          <a:prstGeom prst="rect">
            <a:avLst/>
          </a:prstGeom>
        </p:spPr>
        <p:txBody>
          <a:bodyPr wrap="square" lIns="0" tIns="0" rIns="0" bIns="0">
            <a:spAutoFit/>
          </a:bodyPr>
          <a:lstStyle>
            <a:lvl1pPr>
              <a:defRPr sz="3600" b="0" i="0">
                <a:solidFill>
                  <a:srgbClr val="C00000"/>
                </a:solidFill>
                <a:latin typeface="Calibri"/>
                <a:cs typeface="Calibri"/>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2/7/2025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0" i="0">
                <a:solidFill>
                  <a:srgbClr val="C000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2/7/2025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0" i="0">
                <a:solidFill>
                  <a:srgbClr val="C00000"/>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2/7/2025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474882" y="2361082"/>
            <a:ext cx="3978335" cy="767342"/>
          </a:xfrm>
          <a:prstGeom prst="rect">
            <a:avLst/>
          </a:prstGeom>
        </p:spPr>
      </p:pic>
      <p:sp>
        <p:nvSpPr>
          <p:cNvPr id="2" name="Holder 2"/>
          <p:cNvSpPr>
            <a:spLocks noGrp="1"/>
          </p:cNvSpPr>
          <p:nvPr>
            <p:ph type="title"/>
          </p:nvPr>
        </p:nvSpPr>
        <p:spPr/>
        <p:txBody>
          <a:bodyPr lIns="0" tIns="0" rIns="0" bIns="0"/>
          <a:lstStyle>
            <a:lvl1pPr>
              <a:defRPr sz="3000" b="0" i="0">
                <a:solidFill>
                  <a:srgbClr val="C0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2/7/2025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2/7/2025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07340" y="511505"/>
            <a:ext cx="6628765" cy="483234"/>
          </a:xfrm>
          <a:prstGeom prst="rect">
            <a:avLst/>
          </a:prstGeom>
        </p:spPr>
        <p:txBody>
          <a:bodyPr wrap="square" lIns="0" tIns="0" rIns="0" bIns="0">
            <a:spAutoFit/>
          </a:bodyPr>
          <a:lstStyle>
            <a:lvl1pPr>
              <a:defRPr sz="3000" b="0" i="0">
                <a:solidFill>
                  <a:srgbClr val="C00000"/>
                </a:solidFill>
                <a:latin typeface="Calibri"/>
                <a:cs typeface="Calibri"/>
              </a:defRPr>
            </a:lvl1pPr>
          </a:lstStyle>
          <a:p>
            <a:endParaRPr/>
          </a:p>
        </p:txBody>
      </p:sp>
      <p:sp>
        <p:nvSpPr>
          <p:cNvPr id="3" name="Holder 3"/>
          <p:cNvSpPr>
            <a:spLocks noGrp="1"/>
          </p:cNvSpPr>
          <p:nvPr>
            <p:ph type="body" idx="1"/>
          </p:nvPr>
        </p:nvSpPr>
        <p:spPr>
          <a:xfrm>
            <a:off x="160019" y="1978609"/>
            <a:ext cx="8823960" cy="447294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2/7/2025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 Id="rId5" Type="http://schemas.openxmlformats.org/officeDocument/2006/relationships/image" Target="../media/image15.jpeg"/><Relationship Id="rId4" Type="http://schemas.openxmlformats.org/officeDocument/2006/relationships/image" Target="../media/image14.jpeg"/></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 Id="rId5" Type="http://schemas.openxmlformats.org/officeDocument/2006/relationships/image" Target="../media/image28.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5.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 Id="rId5" Type="http://schemas.openxmlformats.org/officeDocument/2006/relationships/image" Target="../media/image42.png"/><Relationship Id="rId4" Type="http://schemas.openxmlformats.org/officeDocument/2006/relationships/image" Target="../media/image41.png"/></Relationships>
</file>

<file path=ppt/slides/_rels/slide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5.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5.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hyperlink" Target="https://www.slideshare.net/slideshow/conductometry-titration/75949892" TargetMode="Externa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5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5.xml"/><Relationship Id="rId4" Type="http://schemas.openxmlformats.org/officeDocument/2006/relationships/image" Target="../media/image75.png"/></Relationships>
</file>

<file path=ppt/slides/_rels/slide5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6.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hyperlink" Target="https://www.slideshare.net/slideshow/uv-visible-spectroscopyinstrumentation/126420202"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hyperlink" Target="https://www.slideshare.net/slideshow/application-of-uv-spectroscopy/12562656" TargetMode="Externa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12444" y="1496644"/>
            <a:ext cx="7926070" cy="574675"/>
          </a:xfrm>
          <a:prstGeom prst="rect">
            <a:avLst/>
          </a:prstGeom>
        </p:spPr>
        <p:txBody>
          <a:bodyPr vert="horz" wrap="square" lIns="0" tIns="12700" rIns="0" bIns="0" rtlCol="0">
            <a:spAutoFit/>
          </a:bodyPr>
          <a:lstStyle/>
          <a:p>
            <a:pPr marL="12700">
              <a:lnSpc>
                <a:spcPct val="100000"/>
              </a:lnSpc>
              <a:spcBef>
                <a:spcPts val="100"/>
              </a:spcBef>
            </a:pPr>
            <a:r>
              <a:rPr sz="3600" b="1" dirty="0">
                <a:solidFill>
                  <a:srgbClr val="C00000"/>
                </a:solidFill>
                <a:latin typeface="Calibri"/>
                <a:cs typeface="Calibri"/>
              </a:rPr>
              <a:t>Unit</a:t>
            </a:r>
            <a:r>
              <a:rPr sz="3600" b="1" spc="-20" dirty="0">
                <a:solidFill>
                  <a:srgbClr val="C00000"/>
                </a:solidFill>
                <a:latin typeface="Calibri"/>
                <a:cs typeface="Calibri"/>
              </a:rPr>
              <a:t> </a:t>
            </a:r>
            <a:r>
              <a:rPr sz="3600" b="1" spc="-5" dirty="0">
                <a:solidFill>
                  <a:srgbClr val="C00000"/>
                </a:solidFill>
                <a:latin typeface="Calibri"/>
                <a:cs typeface="Calibri"/>
              </a:rPr>
              <a:t>II</a:t>
            </a:r>
            <a:r>
              <a:rPr sz="3600" b="1" spc="-30" dirty="0">
                <a:solidFill>
                  <a:srgbClr val="C00000"/>
                </a:solidFill>
                <a:latin typeface="Calibri"/>
                <a:cs typeface="Calibri"/>
              </a:rPr>
              <a:t> </a:t>
            </a:r>
            <a:r>
              <a:rPr sz="3600" b="1" dirty="0">
                <a:solidFill>
                  <a:srgbClr val="C00000"/>
                </a:solidFill>
                <a:latin typeface="Calibri"/>
                <a:cs typeface="Calibri"/>
              </a:rPr>
              <a:t>:</a:t>
            </a:r>
            <a:r>
              <a:rPr sz="3600" b="1" spc="-40" dirty="0">
                <a:solidFill>
                  <a:srgbClr val="C00000"/>
                </a:solidFill>
                <a:latin typeface="Calibri"/>
                <a:cs typeface="Calibri"/>
              </a:rPr>
              <a:t> </a:t>
            </a:r>
            <a:r>
              <a:rPr sz="3600" b="1" spc="-5" dirty="0">
                <a:solidFill>
                  <a:srgbClr val="C00000"/>
                </a:solidFill>
                <a:latin typeface="Calibri"/>
                <a:cs typeface="Calibri"/>
              </a:rPr>
              <a:t>Instrumental Methods</a:t>
            </a:r>
            <a:r>
              <a:rPr sz="3600" b="1" spc="-45" dirty="0">
                <a:solidFill>
                  <a:srgbClr val="C00000"/>
                </a:solidFill>
                <a:latin typeface="Calibri"/>
                <a:cs typeface="Calibri"/>
              </a:rPr>
              <a:t> </a:t>
            </a:r>
            <a:r>
              <a:rPr sz="3600" b="1" dirty="0">
                <a:solidFill>
                  <a:srgbClr val="C00000"/>
                </a:solidFill>
                <a:latin typeface="Calibri"/>
                <a:cs typeface="Calibri"/>
              </a:rPr>
              <a:t>of</a:t>
            </a:r>
            <a:r>
              <a:rPr sz="3600" b="1" spc="-40" dirty="0">
                <a:solidFill>
                  <a:srgbClr val="C00000"/>
                </a:solidFill>
                <a:latin typeface="Calibri"/>
                <a:cs typeface="Calibri"/>
              </a:rPr>
              <a:t> </a:t>
            </a:r>
            <a:r>
              <a:rPr sz="3600" b="1" dirty="0">
                <a:solidFill>
                  <a:srgbClr val="C00000"/>
                </a:solidFill>
                <a:latin typeface="Calibri"/>
                <a:cs typeface="Calibri"/>
              </a:rPr>
              <a:t>Analysis</a:t>
            </a:r>
            <a:endParaRPr sz="3600">
              <a:latin typeface="Calibri"/>
              <a:cs typeface="Calibri"/>
            </a:endParaRPr>
          </a:p>
        </p:txBody>
      </p:sp>
      <p:sp>
        <p:nvSpPr>
          <p:cNvPr id="3" name="object 3"/>
          <p:cNvSpPr txBox="1"/>
          <p:nvPr/>
        </p:nvSpPr>
        <p:spPr>
          <a:xfrm>
            <a:off x="5192014" y="2444953"/>
            <a:ext cx="3038475" cy="512445"/>
          </a:xfrm>
          <a:prstGeom prst="rect">
            <a:avLst/>
          </a:prstGeom>
        </p:spPr>
        <p:txBody>
          <a:bodyPr vert="horz" wrap="square" lIns="0" tIns="12065" rIns="0" bIns="0" rtlCol="0">
            <a:spAutoFit/>
          </a:bodyPr>
          <a:lstStyle/>
          <a:p>
            <a:pPr marL="12700">
              <a:lnSpc>
                <a:spcPct val="100000"/>
              </a:lnSpc>
              <a:spcBef>
                <a:spcPts val="95"/>
              </a:spcBef>
            </a:pPr>
            <a:r>
              <a:rPr sz="3200" spc="-5" dirty="0">
                <a:solidFill>
                  <a:srgbClr val="C00000"/>
                </a:solidFill>
                <a:latin typeface="Calibri"/>
                <a:cs typeface="Calibri"/>
              </a:rPr>
              <a:t>Prof.</a:t>
            </a:r>
            <a:r>
              <a:rPr sz="3200" spc="-20" dirty="0">
                <a:solidFill>
                  <a:srgbClr val="C00000"/>
                </a:solidFill>
                <a:latin typeface="Calibri"/>
                <a:cs typeface="Calibri"/>
              </a:rPr>
              <a:t> </a:t>
            </a:r>
            <a:r>
              <a:rPr sz="3200" spc="-5" dirty="0">
                <a:solidFill>
                  <a:srgbClr val="C00000"/>
                </a:solidFill>
                <a:latin typeface="Calibri"/>
                <a:cs typeface="Calibri"/>
              </a:rPr>
              <a:t>Artee</a:t>
            </a:r>
            <a:r>
              <a:rPr sz="3200" spc="-40" dirty="0">
                <a:solidFill>
                  <a:srgbClr val="C00000"/>
                </a:solidFill>
                <a:latin typeface="Calibri"/>
                <a:cs typeface="Calibri"/>
              </a:rPr>
              <a:t> </a:t>
            </a:r>
            <a:r>
              <a:rPr sz="3200" spc="-10" dirty="0">
                <a:solidFill>
                  <a:srgbClr val="C00000"/>
                </a:solidFill>
                <a:latin typeface="Calibri"/>
                <a:cs typeface="Calibri"/>
              </a:rPr>
              <a:t>Shinde</a:t>
            </a:r>
            <a:endParaRPr sz="320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457200"/>
            <a:ext cx="3276600" cy="504625"/>
          </a:xfrm>
          <a:prstGeom prst="rect">
            <a:avLst/>
          </a:prstGeom>
        </p:spPr>
        <p:txBody>
          <a:bodyPr vert="horz" wrap="square" lIns="0" tIns="12065" rIns="0" bIns="0" rtlCol="0">
            <a:spAutoFit/>
          </a:bodyPr>
          <a:lstStyle/>
          <a:p>
            <a:pPr marL="12700">
              <a:lnSpc>
                <a:spcPct val="100000"/>
              </a:lnSpc>
              <a:spcBef>
                <a:spcPts val="95"/>
              </a:spcBef>
            </a:pPr>
            <a:r>
              <a:rPr sz="3200" spc="-5" smtClean="0"/>
              <a:t>Electrochemistry:</a:t>
            </a:r>
            <a:r>
              <a:rPr sz="3200" smtClean="0">
                <a:latin typeface="Microsoft Sans Serif"/>
                <a:cs typeface="Microsoft Sans Serif"/>
              </a:rPr>
              <a:t> </a:t>
            </a:r>
            <a:endParaRPr sz="3200">
              <a:latin typeface="Microsoft Sans Serif"/>
              <a:cs typeface="Microsoft Sans Serif"/>
            </a:endParaRPr>
          </a:p>
        </p:txBody>
      </p:sp>
      <p:sp>
        <p:nvSpPr>
          <p:cNvPr id="3" name="object 3"/>
          <p:cNvSpPr txBox="1">
            <a:spLocks noGrp="1"/>
          </p:cNvSpPr>
          <p:nvPr>
            <p:ph type="body" idx="1"/>
          </p:nvPr>
        </p:nvSpPr>
        <p:spPr>
          <a:xfrm>
            <a:off x="152400" y="1295401"/>
            <a:ext cx="8831579" cy="4715393"/>
          </a:xfrm>
          <a:prstGeom prst="rect">
            <a:avLst/>
          </a:prstGeom>
        </p:spPr>
        <p:txBody>
          <a:bodyPr vert="horz" wrap="square" lIns="0" tIns="13970" rIns="0" bIns="0" rtlCol="0">
            <a:spAutoFit/>
          </a:bodyPr>
          <a:lstStyle/>
          <a:p>
            <a:pPr marL="577850" marR="748030" indent="-342265" algn="just">
              <a:lnSpc>
                <a:spcPct val="99600"/>
              </a:lnSpc>
              <a:spcBef>
                <a:spcPts val="110"/>
              </a:spcBef>
              <a:buFont typeface="Microsoft Sans Serif"/>
              <a:buChar char="•"/>
              <a:tabLst>
                <a:tab pos="577215" algn="l"/>
                <a:tab pos="578485" algn="l"/>
              </a:tabLst>
            </a:pPr>
            <a:r>
              <a:rPr sz="2400" dirty="0">
                <a:latin typeface="Calibri"/>
                <a:cs typeface="Calibri"/>
              </a:rPr>
              <a:t>Is</a:t>
            </a:r>
            <a:r>
              <a:rPr sz="2400" spc="-10" dirty="0">
                <a:latin typeface="Calibri"/>
                <a:cs typeface="Calibri"/>
              </a:rPr>
              <a:t> </a:t>
            </a:r>
            <a:r>
              <a:rPr sz="2400" spc="-5" dirty="0">
                <a:latin typeface="Calibri"/>
                <a:cs typeface="Calibri"/>
              </a:rPr>
              <a:t>the </a:t>
            </a:r>
            <a:r>
              <a:rPr sz="2400" spc="-10" dirty="0">
                <a:latin typeface="Calibri"/>
                <a:cs typeface="Calibri"/>
              </a:rPr>
              <a:t>branch </a:t>
            </a:r>
            <a:r>
              <a:rPr sz="2400" spc="-5" dirty="0">
                <a:latin typeface="Calibri"/>
                <a:cs typeface="Calibri"/>
              </a:rPr>
              <a:t>of</a:t>
            </a:r>
            <a:r>
              <a:rPr sz="2400" spc="-10" dirty="0">
                <a:latin typeface="Calibri"/>
                <a:cs typeface="Calibri"/>
              </a:rPr>
              <a:t> </a:t>
            </a:r>
            <a:r>
              <a:rPr sz="2400" dirty="0">
                <a:latin typeface="Calibri"/>
                <a:cs typeface="Calibri"/>
              </a:rPr>
              <a:t>chemistry</a:t>
            </a:r>
            <a:r>
              <a:rPr sz="2400" spc="10" dirty="0">
                <a:latin typeface="Calibri"/>
                <a:cs typeface="Calibri"/>
              </a:rPr>
              <a:t> </a:t>
            </a:r>
            <a:r>
              <a:rPr sz="2400" spc="-5" dirty="0">
                <a:latin typeface="Calibri"/>
                <a:cs typeface="Calibri"/>
              </a:rPr>
              <a:t>that</a:t>
            </a:r>
            <a:r>
              <a:rPr sz="2400" spc="5" dirty="0">
                <a:latin typeface="Calibri"/>
                <a:cs typeface="Calibri"/>
              </a:rPr>
              <a:t> </a:t>
            </a:r>
            <a:r>
              <a:rPr sz="2400" spc="-10" dirty="0">
                <a:latin typeface="Calibri"/>
                <a:cs typeface="Calibri"/>
              </a:rPr>
              <a:t>deals</a:t>
            </a:r>
            <a:r>
              <a:rPr sz="2400" spc="15" dirty="0">
                <a:latin typeface="Calibri"/>
                <a:cs typeface="Calibri"/>
              </a:rPr>
              <a:t> </a:t>
            </a:r>
            <a:r>
              <a:rPr sz="2400" dirty="0">
                <a:latin typeface="Calibri"/>
                <a:cs typeface="Calibri"/>
              </a:rPr>
              <a:t>with</a:t>
            </a:r>
            <a:r>
              <a:rPr sz="2400" spc="-10" dirty="0">
                <a:latin typeface="Calibri"/>
                <a:cs typeface="Calibri"/>
              </a:rPr>
              <a:t> </a:t>
            </a:r>
            <a:r>
              <a:rPr sz="2400" spc="-5" dirty="0">
                <a:latin typeface="Calibri"/>
                <a:cs typeface="Calibri"/>
              </a:rPr>
              <a:t>the </a:t>
            </a:r>
            <a:r>
              <a:rPr sz="2400" spc="-710" dirty="0">
                <a:latin typeface="Calibri"/>
                <a:cs typeface="Calibri"/>
              </a:rPr>
              <a:t> </a:t>
            </a:r>
            <a:r>
              <a:rPr sz="2400" spc="-5" dirty="0">
                <a:latin typeface="Calibri"/>
                <a:cs typeface="Calibri"/>
              </a:rPr>
              <a:t>chemical changes </a:t>
            </a:r>
            <a:r>
              <a:rPr sz="2400" spc="-10" dirty="0">
                <a:latin typeface="Calibri"/>
                <a:cs typeface="Calibri"/>
              </a:rPr>
              <a:t>produced </a:t>
            </a:r>
            <a:r>
              <a:rPr sz="2400" spc="-5" dirty="0">
                <a:latin typeface="Calibri"/>
                <a:cs typeface="Calibri"/>
              </a:rPr>
              <a:t>by </a:t>
            </a:r>
            <a:r>
              <a:rPr sz="2400" dirty="0">
                <a:latin typeface="Calibri"/>
                <a:cs typeface="Calibri"/>
              </a:rPr>
              <a:t>electricity </a:t>
            </a:r>
            <a:r>
              <a:rPr sz="2400" spc="-5" dirty="0">
                <a:latin typeface="Calibri"/>
                <a:cs typeface="Calibri"/>
              </a:rPr>
              <a:t>and </a:t>
            </a:r>
            <a:r>
              <a:rPr sz="2400" spc="-710" dirty="0">
                <a:latin typeface="Calibri"/>
                <a:cs typeface="Calibri"/>
              </a:rPr>
              <a:t> </a:t>
            </a:r>
            <a:r>
              <a:rPr sz="2400" spc="-5" dirty="0">
                <a:latin typeface="Calibri"/>
                <a:cs typeface="Calibri"/>
              </a:rPr>
              <a:t>the</a:t>
            </a:r>
            <a:r>
              <a:rPr sz="2400" spc="-10" dirty="0">
                <a:latin typeface="Calibri"/>
                <a:cs typeface="Calibri"/>
              </a:rPr>
              <a:t> production</a:t>
            </a:r>
            <a:r>
              <a:rPr sz="2400" spc="-5" dirty="0">
                <a:latin typeface="Calibri"/>
                <a:cs typeface="Calibri"/>
              </a:rPr>
              <a:t> of</a:t>
            </a:r>
            <a:r>
              <a:rPr sz="2400" spc="15" dirty="0">
                <a:latin typeface="Calibri"/>
                <a:cs typeface="Calibri"/>
              </a:rPr>
              <a:t> </a:t>
            </a:r>
            <a:r>
              <a:rPr sz="2400" spc="-5" dirty="0">
                <a:latin typeface="Calibri"/>
                <a:cs typeface="Calibri"/>
              </a:rPr>
              <a:t>electricity</a:t>
            </a:r>
            <a:r>
              <a:rPr sz="2400" dirty="0">
                <a:latin typeface="Calibri"/>
                <a:cs typeface="Calibri"/>
              </a:rPr>
              <a:t> </a:t>
            </a:r>
            <a:r>
              <a:rPr sz="2400" spc="-10" dirty="0">
                <a:latin typeface="Calibri"/>
                <a:cs typeface="Calibri"/>
              </a:rPr>
              <a:t>by</a:t>
            </a:r>
            <a:r>
              <a:rPr sz="2400" spc="-25" dirty="0">
                <a:latin typeface="Calibri"/>
                <a:cs typeface="Calibri"/>
              </a:rPr>
              <a:t> </a:t>
            </a:r>
            <a:r>
              <a:rPr sz="2400" dirty="0">
                <a:latin typeface="Calibri"/>
                <a:cs typeface="Calibri"/>
              </a:rPr>
              <a:t>chemical </a:t>
            </a:r>
            <a:r>
              <a:rPr sz="2400" spc="5" dirty="0">
                <a:latin typeface="Calibri"/>
                <a:cs typeface="Calibri"/>
              </a:rPr>
              <a:t> </a:t>
            </a:r>
            <a:r>
              <a:rPr sz="2400" spc="-5" dirty="0">
                <a:latin typeface="Calibri"/>
                <a:cs typeface="Calibri"/>
              </a:rPr>
              <a:t>change</a:t>
            </a:r>
            <a:r>
              <a:rPr sz="2400" dirty="0">
                <a:latin typeface="Microsoft Sans Serif"/>
                <a:cs typeface="Microsoft Sans Serif"/>
              </a:rPr>
              <a:t> </a:t>
            </a:r>
            <a:endParaRPr sz="2400">
              <a:latin typeface="Microsoft Sans Serif"/>
              <a:cs typeface="Microsoft Sans Serif"/>
            </a:endParaRPr>
          </a:p>
          <a:p>
            <a:pPr marL="769620" marR="5080" indent="-320040" algn="just">
              <a:lnSpc>
                <a:spcPct val="100000"/>
              </a:lnSpc>
              <a:spcBef>
                <a:spcPts val="1315"/>
              </a:spcBef>
            </a:pPr>
            <a:r>
              <a:rPr sz="2400" b="1" i="1" spc="-5" dirty="0">
                <a:latin typeface="Calibri"/>
                <a:cs typeface="Calibri"/>
              </a:rPr>
              <a:t>Electrochemical</a:t>
            </a:r>
            <a:r>
              <a:rPr sz="2400" b="1" i="1" spc="-45" dirty="0">
                <a:latin typeface="Calibri"/>
                <a:cs typeface="Calibri"/>
              </a:rPr>
              <a:t> </a:t>
            </a:r>
            <a:r>
              <a:rPr sz="2800" spc="-5" dirty="0">
                <a:latin typeface="Calibri"/>
                <a:cs typeface="Calibri"/>
              </a:rPr>
              <a:t>processes</a:t>
            </a:r>
            <a:r>
              <a:rPr sz="2800" spc="-45" dirty="0">
                <a:latin typeface="Calibri"/>
                <a:cs typeface="Calibri"/>
              </a:rPr>
              <a:t> </a:t>
            </a:r>
            <a:r>
              <a:rPr sz="2800" dirty="0">
                <a:latin typeface="Calibri"/>
                <a:cs typeface="Calibri"/>
              </a:rPr>
              <a:t>are</a:t>
            </a:r>
            <a:r>
              <a:rPr sz="2800" spc="-80" dirty="0">
                <a:latin typeface="Calibri"/>
                <a:cs typeface="Calibri"/>
              </a:rPr>
              <a:t> </a:t>
            </a:r>
            <a:r>
              <a:rPr sz="2800" spc="-5" dirty="0">
                <a:latin typeface="Calibri"/>
                <a:cs typeface="Calibri"/>
              </a:rPr>
              <a:t>oxidation-reduction</a:t>
            </a:r>
            <a:r>
              <a:rPr sz="2800" spc="-35" dirty="0">
                <a:latin typeface="Calibri"/>
                <a:cs typeface="Calibri"/>
              </a:rPr>
              <a:t> </a:t>
            </a:r>
            <a:r>
              <a:rPr sz="2800" dirty="0">
                <a:latin typeface="Calibri"/>
                <a:cs typeface="Calibri"/>
              </a:rPr>
              <a:t>reactions </a:t>
            </a:r>
            <a:r>
              <a:rPr sz="2800" spc="-620" dirty="0">
                <a:latin typeface="Calibri"/>
                <a:cs typeface="Calibri"/>
              </a:rPr>
              <a:t> </a:t>
            </a:r>
            <a:r>
              <a:rPr sz="2800" dirty="0">
                <a:latin typeface="Calibri"/>
                <a:cs typeface="Calibri"/>
              </a:rPr>
              <a:t>in</a:t>
            </a:r>
            <a:r>
              <a:rPr sz="2800" spc="-55" dirty="0">
                <a:latin typeface="Calibri"/>
                <a:cs typeface="Calibri"/>
              </a:rPr>
              <a:t> </a:t>
            </a:r>
            <a:r>
              <a:rPr sz="2800" spc="-5" dirty="0">
                <a:latin typeface="Calibri"/>
                <a:cs typeface="Calibri"/>
              </a:rPr>
              <a:t>which:</a:t>
            </a:r>
            <a:endParaRPr sz="2800">
              <a:latin typeface="Calibri"/>
              <a:cs typeface="Calibri"/>
            </a:endParaRPr>
          </a:p>
          <a:p>
            <a:pPr marL="769620" marR="1002665" lvl="1" indent="-457200" algn="just">
              <a:lnSpc>
                <a:spcPct val="99700"/>
              </a:lnSpc>
              <a:spcBef>
                <a:spcPts val="1620"/>
              </a:spcBef>
              <a:buFontTx/>
              <a:buChar char="•"/>
              <a:tabLst>
                <a:tab pos="769620" algn="l"/>
                <a:tab pos="770255" algn="l"/>
              </a:tabLst>
            </a:pPr>
            <a:r>
              <a:rPr lang="en-US" sz="2800" spc="-5" dirty="0" smtClean="0">
                <a:latin typeface="Calibri"/>
                <a:cs typeface="Calibri"/>
              </a:rPr>
              <a:t>T</a:t>
            </a:r>
            <a:r>
              <a:rPr sz="2800" spc="-5" smtClean="0">
                <a:latin typeface="Calibri"/>
                <a:cs typeface="Calibri"/>
              </a:rPr>
              <a:t>he</a:t>
            </a:r>
            <a:r>
              <a:rPr sz="2800" spc="-65" smtClean="0">
                <a:latin typeface="Calibri"/>
                <a:cs typeface="Calibri"/>
              </a:rPr>
              <a:t> </a:t>
            </a:r>
            <a:r>
              <a:rPr sz="2800" dirty="0">
                <a:latin typeface="Calibri"/>
                <a:cs typeface="Calibri"/>
              </a:rPr>
              <a:t>energy</a:t>
            </a:r>
            <a:r>
              <a:rPr sz="2800" spc="-65" dirty="0">
                <a:latin typeface="Calibri"/>
                <a:cs typeface="Calibri"/>
              </a:rPr>
              <a:t> </a:t>
            </a:r>
            <a:r>
              <a:rPr sz="2800" dirty="0">
                <a:latin typeface="Calibri"/>
                <a:cs typeface="Calibri"/>
              </a:rPr>
              <a:t>released</a:t>
            </a:r>
            <a:r>
              <a:rPr sz="2800" spc="-70" dirty="0">
                <a:latin typeface="Calibri"/>
                <a:cs typeface="Calibri"/>
              </a:rPr>
              <a:t> </a:t>
            </a:r>
            <a:r>
              <a:rPr sz="2800" spc="10" dirty="0">
                <a:latin typeface="Calibri"/>
                <a:cs typeface="Calibri"/>
              </a:rPr>
              <a:t>by</a:t>
            </a:r>
            <a:r>
              <a:rPr sz="2800" spc="-55" dirty="0">
                <a:latin typeface="Calibri"/>
                <a:cs typeface="Calibri"/>
              </a:rPr>
              <a:t> </a:t>
            </a:r>
            <a:r>
              <a:rPr sz="2800" spc="5" dirty="0">
                <a:latin typeface="Calibri"/>
                <a:cs typeface="Calibri"/>
              </a:rPr>
              <a:t>a</a:t>
            </a:r>
            <a:r>
              <a:rPr sz="2800" spc="-60" dirty="0">
                <a:latin typeface="Calibri"/>
                <a:cs typeface="Calibri"/>
              </a:rPr>
              <a:t> </a:t>
            </a:r>
            <a:r>
              <a:rPr sz="2800" spc="-5" dirty="0">
                <a:latin typeface="Calibri"/>
                <a:cs typeface="Calibri"/>
              </a:rPr>
              <a:t>spontaneous</a:t>
            </a:r>
            <a:r>
              <a:rPr sz="2800" spc="5" dirty="0">
                <a:latin typeface="Calibri"/>
                <a:cs typeface="Calibri"/>
              </a:rPr>
              <a:t> </a:t>
            </a:r>
            <a:r>
              <a:rPr sz="2800" dirty="0">
                <a:latin typeface="Calibri"/>
                <a:cs typeface="Calibri"/>
              </a:rPr>
              <a:t>reaction</a:t>
            </a:r>
            <a:r>
              <a:rPr sz="2800" spc="-60" dirty="0">
                <a:latin typeface="Calibri"/>
                <a:cs typeface="Calibri"/>
              </a:rPr>
              <a:t> </a:t>
            </a:r>
            <a:r>
              <a:rPr sz="2800" dirty="0">
                <a:latin typeface="Calibri"/>
                <a:cs typeface="Calibri"/>
              </a:rPr>
              <a:t>is </a:t>
            </a:r>
            <a:r>
              <a:rPr sz="2800" spc="-615" dirty="0">
                <a:latin typeface="Calibri"/>
                <a:cs typeface="Calibri"/>
              </a:rPr>
              <a:t> </a:t>
            </a:r>
            <a:r>
              <a:rPr sz="2800" spc="-5" dirty="0">
                <a:latin typeface="Calibri"/>
                <a:cs typeface="Calibri"/>
              </a:rPr>
              <a:t>converted to electricity </a:t>
            </a:r>
            <a:r>
              <a:rPr sz="2800" dirty="0">
                <a:latin typeface="Calibri"/>
                <a:cs typeface="Calibri"/>
              </a:rPr>
              <a:t>or </a:t>
            </a:r>
            <a:r>
              <a:rPr sz="2800" spc="-5" dirty="0">
                <a:latin typeface="Calibri"/>
                <a:cs typeface="Calibri"/>
              </a:rPr>
              <a:t>electrical </a:t>
            </a:r>
            <a:r>
              <a:rPr sz="2800" dirty="0">
                <a:latin typeface="Calibri"/>
                <a:cs typeface="Calibri"/>
              </a:rPr>
              <a:t>energy is </a:t>
            </a:r>
            <a:r>
              <a:rPr sz="2800" spc="5" dirty="0">
                <a:latin typeface="Calibri"/>
                <a:cs typeface="Calibri"/>
              </a:rPr>
              <a:t> </a:t>
            </a:r>
            <a:r>
              <a:rPr sz="2800" spc="-5" dirty="0">
                <a:latin typeface="Calibri"/>
                <a:cs typeface="Calibri"/>
              </a:rPr>
              <a:t>used</a:t>
            </a:r>
            <a:r>
              <a:rPr sz="2800" spc="-45" dirty="0">
                <a:latin typeface="Calibri"/>
                <a:cs typeface="Calibri"/>
              </a:rPr>
              <a:t> </a:t>
            </a:r>
            <a:r>
              <a:rPr sz="2800" spc="-5" dirty="0">
                <a:latin typeface="Calibri"/>
                <a:cs typeface="Calibri"/>
              </a:rPr>
              <a:t>to</a:t>
            </a:r>
            <a:r>
              <a:rPr sz="2800" spc="-55" dirty="0">
                <a:latin typeface="Calibri"/>
                <a:cs typeface="Calibri"/>
              </a:rPr>
              <a:t> </a:t>
            </a:r>
            <a:r>
              <a:rPr sz="2800" spc="-5" dirty="0">
                <a:latin typeface="Calibri"/>
                <a:cs typeface="Calibri"/>
              </a:rPr>
              <a:t>cause</a:t>
            </a:r>
            <a:r>
              <a:rPr sz="2800" spc="-55" dirty="0">
                <a:latin typeface="Calibri"/>
                <a:cs typeface="Calibri"/>
              </a:rPr>
              <a:t> </a:t>
            </a:r>
            <a:r>
              <a:rPr sz="2800" spc="5" dirty="0">
                <a:latin typeface="Calibri"/>
                <a:cs typeface="Calibri"/>
              </a:rPr>
              <a:t>a</a:t>
            </a:r>
            <a:r>
              <a:rPr sz="2800" spc="-35" dirty="0">
                <a:latin typeface="Calibri"/>
                <a:cs typeface="Calibri"/>
              </a:rPr>
              <a:t> </a:t>
            </a:r>
            <a:r>
              <a:rPr sz="2800" spc="-5" dirty="0">
                <a:latin typeface="Calibri"/>
                <a:cs typeface="Calibri"/>
              </a:rPr>
              <a:t>non-</a:t>
            </a:r>
            <a:r>
              <a:rPr sz="2800" spc="20" dirty="0">
                <a:latin typeface="Calibri"/>
                <a:cs typeface="Calibri"/>
              </a:rPr>
              <a:t> </a:t>
            </a:r>
            <a:r>
              <a:rPr sz="2800" spc="-5" dirty="0">
                <a:latin typeface="Calibri"/>
                <a:cs typeface="Calibri"/>
              </a:rPr>
              <a:t>spontaneous</a:t>
            </a:r>
            <a:r>
              <a:rPr sz="2800" dirty="0">
                <a:latin typeface="Calibri"/>
                <a:cs typeface="Calibri"/>
              </a:rPr>
              <a:t> </a:t>
            </a:r>
            <a:r>
              <a:rPr sz="2800" spc="-5">
                <a:latin typeface="Calibri"/>
                <a:cs typeface="Calibri"/>
              </a:rPr>
              <a:t>reaction</a:t>
            </a:r>
            <a:r>
              <a:rPr sz="2800" spc="-65">
                <a:latin typeface="Calibri"/>
                <a:cs typeface="Calibri"/>
              </a:rPr>
              <a:t> </a:t>
            </a:r>
            <a:r>
              <a:rPr sz="2800" spc="-10" smtClean="0">
                <a:latin typeface="Calibri"/>
                <a:cs typeface="Calibri"/>
              </a:rPr>
              <a:t>to</a:t>
            </a:r>
            <a:r>
              <a:rPr lang="en-US" sz="2800" spc="-10" dirty="0" smtClean="0">
                <a:latin typeface="Calibri"/>
                <a:cs typeface="Calibri"/>
              </a:rPr>
              <a:t> </a:t>
            </a:r>
            <a:r>
              <a:rPr lang="en-US" sz="2800" spc="-5" dirty="0" smtClean="0">
                <a:cs typeface="Calibri"/>
              </a:rPr>
              <a:t>oc</a:t>
            </a:r>
            <a:r>
              <a:rPr lang="en-US" sz="2800" spc="-25" dirty="0" smtClean="0">
                <a:cs typeface="Calibri"/>
              </a:rPr>
              <a:t>c</a:t>
            </a:r>
            <a:r>
              <a:rPr lang="en-US" sz="2800" spc="-10" dirty="0" smtClean="0">
                <a:cs typeface="Calibri"/>
              </a:rPr>
              <a:t>u</a:t>
            </a:r>
            <a:r>
              <a:rPr lang="en-US" sz="2800" dirty="0" smtClean="0">
                <a:cs typeface="Calibri"/>
              </a:rPr>
              <a:t>r.</a:t>
            </a:r>
          </a:p>
          <a:p>
            <a:pPr marL="769620" marR="1002665" lvl="1" indent="-457200">
              <a:lnSpc>
                <a:spcPct val="99700"/>
              </a:lnSpc>
              <a:spcBef>
                <a:spcPts val="1620"/>
              </a:spcBef>
              <a:buChar char="•"/>
              <a:tabLst>
                <a:tab pos="769620" algn="l"/>
                <a:tab pos="770255" algn="l"/>
              </a:tabLst>
            </a:pPr>
            <a:endParaRPr sz="28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p:nvPr/>
        </p:nvSpPr>
        <p:spPr>
          <a:xfrm>
            <a:off x="200722" y="312235"/>
            <a:ext cx="8391463" cy="2443618"/>
          </a:xfrm>
          <a:prstGeom prst="rect">
            <a:avLst/>
          </a:prstGeom>
        </p:spPr>
        <p:txBody>
          <a:bodyPr vert="horz" wrap="square" lIns="0" tIns="12065" rIns="0" bIns="0" rtlCol="0">
            <a:spAutoFit/>
          </a:bodyPr>
          <a:lstStyle/>
          <a:p>
            <a:pPr marL="50800">
              <a:lnSpc>
                <a:spcPct val="100000"/>
              </a:lnSpc>
              <a:spcBef>
                <a:spcPts val="95"/>
              </a:spcBef>
            </a:pPr>
            <a:r>
              <a:rPr sz="4400" b="1" spc="-5" dirty="0">
                <a:latin typeface="Calibri"/>
                <a:cs typeface="Calibri"/>
              </a:rPr>
              <a:t>Oxidation-reduction</a:t>
            </a:r>
            <a:endParaRPr sz="4400">
              <a:latin typeface="Calibri"/>
              <a:cs typeface="Calibri"/>
            </a:endParaRPr>
          </a:p>
          <a:p>
            <a:pPr marL="721360" indent="-274955">
              <a:lnSpc>
                <a:spcPct val="100000"/>
              </a:lnSpc>
              <a:spcBef>
                <a:spcPts val="3569"/>
              </a:spcBef>
              <a:buClr>
                <a:srgbClr val="9BB957"/>
              </a:buClr>
              <a:buFont typeface="Segoe UI Symbol"/>
              <a:buChar char="⚫"/>
              <a:tabLst>
                <a:tab pos="721995" algn="l"/>
              </a:tabLst>
            </a:pPr>
            <a:r>
              <a:rPr sz="2800" dirty="0">
                <a:latin typeface="Calibri"/>
                <a:cs typeface="Calibri"/>
              </a:rPr>
              <a:t>Oxidation</a:t>
            </a:r>
            <a:r>
              <a:rPr sz="2800" spc="-45" dirty="0">
                <a:latin typeface="Calibri"/>
                <a:cs typeface="Calibri"/>
              </a:rPr>
              <a:t> </a:t>
            </a:r>
            <a:r>
              <a:rPr sz="2800" dirty="0">
                <a:latin typeface="Calibri"/>
                <a:cs typeface="Calibri"/>
              </a:rPr>
              <a:t>is</a:t>
            </a:r>
            <a:r>
              <a:rPr sz="2800" spc="5" dirty="0">
                <a:latin typeface="Calibri"/>
                <a:cs typeface="Calibri"/>
              </a:rPr>
              <a:t> </a:t>
            </a:r>
            <a:r>
              <a:rPr sz="2800" spc="-5" dirty="0">
                <a:latin typeface="Calibri"/>
                <a:cs typeface="Calibri"/>
              </a:rPr>
              <a:t>loss </a:t>
            </a:r>
            <a:r>
              <a:rPr sz="2800" spc="5" dirty="0">
                <a:latin typeface="Calibri"/>
                <a:cs typeface="Calibri"/>
              </a:rPr>
              <a:t>of</a:t>
            </a:r>
            <a:r>
              <a:rPr sz="2800" spc="-30" dirty="0">
                <a:latin typeface="Calibri"/>
                <a:cs typeface="Calibri"/>
              </a:rPr>
              <a:t> </a:t>
            </a:r>
            <a:r>
              <a:rPr sz="2800" spc="-5" dirty="0">
                <a:latin typeface="Calibri"/>
                <a:cs typeface="Calibri"/>
              </a:rPr>
              <a:t>e</a:t>
            </a:r>
            <a:r>
              <a:rPr sz="2700" spc="-7" baseline="29320" dirty="0">
                <a:latin typeface="Calibri"/>
                <a:cs typeface="Calibri"/>
              </a:rPr>
              <a:t>-</a:t>
            </a:r>
            <a:r>
              <a:rPr sz="2700" baseline="29320" dirty="0">
                <a:latin typeface="Calibri"/>
                <a:cs typeface="Calibri"/>
              </a:rPr>
              <a:t> </a:t>
            </a:r>
            <a:r>
              <a:rPr sz="2800" spc="-5" dirty="0">
                <a:latin typeface="Calibri"/>
                <a:cs typeface="Calibri"/>
              </a:rPr>
              <a:t>O.N.</a:t>
            </a:r>
            <a:r>
              <a:rPr sz="2800" spc="-45" dirty="0">
                <a:latin typeface="Calibri"/>
                <a:cs typeface="Calibri"/>
              </a:rPr>
              <a:t> </a:t>
            </a:r>
            <a:r>
              <a:rPr sz="2800" dirty="0">
                <a:latin typeface="Calibri"/>
                <a:cs typeface="Calibri"/>
              </a:rPr>
              <a:t>increases</a:t>
            </a:r>
            <a:r>
              <a:rPr sz="2800" spc="-55" dirty="0">
                <a:latin typeface="Calibri"/>
                <a:cs typeface="Calibri"/>
              </a:rPr>
              <a:t> </a:t>
            </a:r>
            <a:r>
              <a:rPr sz="2800" spc="-5" dirty="0">
                <a:latin typeface="Calibri"/>
                <a:cs typeface="Calibri"/>
              </a:rPr>
              <a:t>(more</a:t>
            </a:r>
            <a:r>
              <a:rPr sz="2800" spc="-85" dirty="0">
                <a:latin typeface="Calibri"/>
                <a:cs typeface="Calibri"/>
              </a:rPr>
              <a:t> </a:t>
            </a:r>
            <a:r>
              <a:rPr sz="2800">
                <a:latin typeface="Calibri"/>
                <a:cs typeface="Calibri"/>
              </a:rPr>
              <a:t>positive</a:t>
            </a:r>
            <a:r>
              <a:rPr sz="2800" smtClean="0">
                <a:latin typeface="Calibri"/>
                <a:cs typeface="Calibri"/>
              </a:rPr>
              <a:t>)</a:t>
            </a:r>
            <a:endParaRPr sz="2950">
              <a:latin typeface="Calibri"/>
              <a:cs typeface="Calibri"/>
            </a:endParaRPr>
          </a:p>
          <a:p>
            <a:pPr marL="721360" indent="-274955">
              <a:lnSpc>
                <a:spcPct val="100000"/>
              </a:lnSpc>
              <a:buClr>
                <a:srgbClr val="9BB957"/>
              </a:buClr>
              <a:buFont typeface="Segoe UI Symbol"/>
              <a:buChar char="⚫"/>
              <a:tabLst>
                <a:tab pos="721995" algn="l"/>
              </a:tabLst>
            </a:pPr>
            <a:r>
              <a:rPr sz="2800" spc="-5" dirty="0">
                <a:latin typeface="Calibri"/>
                <a:cs typeface="Calibri"/>
              </a:rPr>
              <a:t>Reduction</a:t>
            </a:r>
            <a:r>
              <a:rPr sz="2800" spc="-15" dirty="0">
                <a:latin typeface="Calibri"/>
                <a:cs typeface="Calibri"/>
              </a:rPr>
              <a:t> </a:t>
            </a:r>
            <a:r>
              <a:rPr sz="2800" dirty="0">
                <a:latin typeface="Calibri"/>
                <a:cs typeface="Calibri"/>
              </a:rPr>
              <a:t>is</a:t>
            </a:r>
            <a:r>
              <a:rPr sz="2800" spc="-15" dirty="0">
                <a:latin typeface="Calibri"/>
                <a:cs typeface="Calibri"/>
              </a:rPr>
              <a:t> </a:t>
            </a:r>
            <a:r>
              <a:rPr sz="2800" dirty="0">
                <a:latin typeface="Calibri"/>
                <a:cs typeface="Calibri"/>
              </a:rPr>
              <a:t>gain</a:t>
            </a:r>
            <a:r>
              <a:rPr sz="2800" spc="-65" dirty="0">
                <a:latin typeface="Calibri"/>
                <a:cs typeface="Calibri"/>
              </a:rPr>
              <a:t> </a:t>
            </a:r>
            <a:r>
              <a:rPr sz="2800" spc="5" dirty="0">
                <a:latin typeface="Calibri"/>
                <a:cs typeface="Calibri"/>
              </a:rPr>
              <a:t>of</a:t>
            </a:r>
            <a:r>
              <a:rPr sz="2800" spc="-20" dirty="0">
                <a:latin typeface="Calibri"/>
                <a:cs typeface="Calibri"/>
              </a:rPr>
              <a:t> </a:t>
            </a:r>
            <a:r>
              <a:rPr sz="2800" spc="-5" dirty="0">
                <a:latin typeface="Calibri"/>
                <a:cs typeface="Calibri"/>
              </a:rPr>
              <a:t>e</a:t>
            </a:r>
            <a:r>
              <a:rPr sz="2700" spc="-7" baseline="29320" dirty="0">
                <a:latin typeface="Calibri"/>
                <a:cs typeface="Calibri"/>
              </a:rPr>
              <a:t>-</a:t>
            </a:r>
            <a:r>
              <a:rPr sz="2700" spc="7" baseline="29320" dirty="0">
                <a:latin typeface="Calibri"/>
                <a:cs typeface="Calibri"/>
              </a:rPr>
              <a:t> </a:t>
            </a:r>
            <a:r>
              <a:rPr sz="2800" spc="-5" dirty="0">
                <a:latin typeface="Calibri"/>
                <a:cs typeface="Calibri"/>
              </a:rPr>
              <a:t>O.N.</a:t>
            </a:r>
            <a:r>
              <a:rPr sz="2800" spc="-90" dirty="0">
                <a:latin typeface="Calibri"/>
                <a:cs typeface="Calibri"/>
              </a:rPr>
              <a:t> </a:t>
            </a:r>
            <a:r>
              <a:rPr sz="2800" spc="-5" dirty="0">
                <a:latin typeface="Calibri"/>
                <a:cs typeface="Calibri"/>
              </a:rPr>
              <a:t>decreases</a:t>
            </a:r>
            <a:r>
              <a:rPr sz="2800" spc="-90" dirty="0">
                <a:latin typeface="Calibri"/>
                <a:cs typeface="Calibri"/>
              </a:rPr>
              <a:t> </a:t>
            </a:r>
            <a:r>
              <a:rPr sz="2800" spc="-5" dirty="0">
                <a:latin typeface="Calibri"/>
                <a:cs typeface="Calibri"/>
              </a:rPr>
              <a:t>(more</a:t>
            </a:r>
            <a:r>
              <a:rPr sz="2800" spc="-105" dirty="0">
                <a:latin typeface="Calibri"/>
                <a:cs typeface="Calibri"/>
              </a:rPr>
              <a:t> </a:t>
            </a:r>
            <a:r>
              <a:rPr sz="2800" spc="-5" dirty="0">
                <a:latin typeface="Calibri"/>
                <a:cs typeface="Calibri"/>
              </a:rPr>
              <a:t>negative)</a:t>
            </a:r>
            <a:endParaRPr sz="2800">
              <a:latin typeface="Calibri"/>
              <a:cs typeface="Calibri"/>
            </a:endParaRPr>
          </a:p>
        </p:txBody>
      </p:sp>
      <p:pic>
        <p:nvPicPr>
          <p:cNvPr id="13" name="object 4"/>
          <p:cNvPicPr/>
          <p:nvPr/>
        </p:nvPicPr>
        <p:blipFill>
          <a:blip r:embed="rId2" cstate="print"/>
          <a:stretch>
            <a:fillRect/>
          </a:stretch>
        </p:blipFill>
        <p:spPr>
          <a:xfrm>
            <a:off x="609600" y="2971800"/>
            <a:ext cx="7620889" cy="1295400"/>
          </a:xfrm>
          <a:prstGeom prst="rect">
            <a:avLst/>
          </a:prstGeom>
        </p:spPr>
      </p:pic>
      <p:sp>
        <p:nvSpPr>
          <p:cNvPr id="14" name="Rectangle 13"/>
          <p:cNvSpPr/>
          <p:nvPr/>
        </p:nvSpPr>
        <p:spPr>
          <a:xfrm>
            <a:off x="381000" y="4267200"/>
            <a:ext cx="8077200" cy="1672253"/>
          </a:xfrm>
          <a:prstGeom prst="rect">
            <a:avLst/>
          </a:prstGeom>
        </p:spPr>
        <p:txBody>
          <a:bodyPr wrap="square">
            <a:spAutoFit/>
          </a:bodyPr>
          <a:lstStyle/>
          <a:p>
            <a:pPr marL="1065530" indent="-342265">
              <a:lnSpc>
                <a:spcPct val="100000"/>
              </a:lnSpc>
              <a:spcBef>
                <a:spcPts val="770"/>
              </a:spcBef>
              <a:buFont typeface="Arial" pitchFamily="34" charset="0"/>
              <a:buChar char="•"/>
              <a:tabLst>
                <a:tab pos="1064895" algn="l"/>
                <a:tab pos="1066165" algn="l"/>
              </a:tabLst>
            </a:pPr>
            <a:r>
              <a:rPr lang="en-US" sz="2400" dirty="0">
                <a:cs typeface="Calibri"/>
              </a:rPr>
              <a:t>What</a:t>
            </a:r>
            <a:r>
              <a:rPr lang="en-US" sz="2400" spc="-70" dirty="0">
                <a:cs typeface="Calibri"/>
              </a:rPr>
              <a:t> </a:t>
            </a:r>
            <a:r>
              <a:rPr lang="en-US" sz="2400" dirty="0">
                <a:cs typeface="Calibri"/>
              </a:rPr>
              <a:t>is</a:t>
            </a:r>
            <a:r>
              <a:rPr lang="en-US" sz="2400" spc="-30" dirty="0">
                <a:cs typeface="Calibri"/>
              </a:rPr>
              <a:t> </a:t>
            </a:r>
            <a:r>
              <a:rPr lang="en-US" sz="2400" spc="-5" dirty="0">
                <a:cs typeface="Calibri"/>
              </a:rPr>
              <a:t>reduced</a:t>
            </a:r>
            <a:r>
              <a:rPr lang="en-US" sz="2400" spc="-30" dirty="0">
                <a:cs typeface="Calibri"/>
              </a:rPr>
              <a:t> </a:t>
            </a:r>
            <a:r>
              <a:rPr lang="en-US" sz="2400" dirty="0">
                <a:cs typeface="Calibri"/>
              </a:rPr>
              <a:t>is</a:t>
            </a:r>
            <a:r>
              <a:rPr lang="en-US" sz="2400" spc="-35" dirty="0">
                <a:cs typeface="Calibri"/>
              </a:rPr>
              <a:t> </a:t>
            </a:r>
            <a:r>
              <a:rPr lang="en-US" sz="2400" dirty="0">
                <a:cs typeface="Calibri"/>
              </a:rPr>
              <a:t>the</a:t>
            </a:r>
            <a:r>
              <a:rPr lang="en-US" sz="2400" spc="-80" dirty="0">
                <a:cs typeface="Calibri"/>
              </a:rPr>
              <a:t> </a:t>
            </a:r>
            <a:r>
              <a:rPr lang="en-US" sz="2400" dirty="0">
                <a:solidFill>
                  <a:srgbClr val="00177B"/>
                </a:solidFill>
                <a:cs typeface="Calibri"/>
              </a:rPr>
              <a:t>oxidizing</a:t>
            </a:r>
            <a:r>
              <a:rPr lang="en-US" sz="2400" spc="-35" dirty="0">
                <a:solidFill>
                  <a:srgbClr val="00177B"/>
                </a:solidFill>
                <a:cs typeface="Calibri"/>
              </a:rPr>
              <a:t> </a:t>
            </a:r>
            <a:r>
              <a:rPr lang="en-US" sz="2400" spc="-5" dirty="0" smtClean="0">
                <a:solidFill>
                  <a:srgbClr val="00177B"/>
                </a:solidFill>
                <a:cs typeface="Calibri"/>
              </a:rPr>
              <a:t>agent</a:t>
            </a:r>
            <a:r>
              <a:rPr lang="en-US" sz="2400" spc="-5" dirty="0" smtClean="0">
                <a:cs typeface="Calibri"/>
              </a:rPr>
              <a:t>.</a:t>
            </a:r>
            <a:r>
              <a:rPr lang="en-US" sz="2400" spc="-5" dirty="0">
                <a:cs typeface="Calibri"/>
              </a:rPr>
              <a:t> </a:t>
            </a:r>
            <a:r>
              <a:rPr lang="en-US" sz="2400" dirty="0" smtClean="0">
                <a:cs typeface="Calibri"/>
              </a:rPr>
              <a:t>H</a:t>
            </a:r>
            <a:r>
              <a:rPr lang="en-US" sz="2400" baseline="29320" dirty="0">
                <a:cs typeface="Calibri"/>
              </a:rPr>
              <a:t>+</a:t>
            </a:r>
            <a:r>
              <a:rPr lang="en-US" sz="2400" spc="232" baseline="29320" dirty="0">
                <a:cs typeface="Calibri"/>
              </a:rPr>
              <a:t> </a:t>
            </a:r>
            <a:r>
              <a:rPr lang="en-US" sz="2400" dirty="0">
                <a:cs typeface="Calibri"/>
              </a:rPr>
              <a:t>oxidizes</a:t>
            </a:r>
            <a:r>
              <a:rPr lang="en-US" sz="2400" spc="-30" dirty="0">
                <a:cs typeface="Calibri"/>
              </a:rPr>
              <a:t> </a:t>
            </a:r>
            <a:r>
              <a:rPr lang="en-US" sz="2400" spc="5" dirty="0">
                <a:cs typeface="Calibri"/>
              </a:rPr>
              <a:t>Zn</a:t>
            </a:r>
            <a:r>
              <a:rPr lang="en-US" sz="2400" spc="-50" dirty="0">
                <a:cs typeface="Calibri"/>
              </a:rPr>
              <a:t> </a:t>
            </a:r>
            <a:r>
              <a:rPr lang="en-US" sz="2400" spc="-5" dirty="0">
                <a:cs typeface="Calibri"/>
              </a:rPr>
              <a:t>by</a:t>
            </a:r>
            <a:r>
              <a:rPr lang="en-US" sz="2400" spc="-65" dirty="0">
                <a:cs typeface="Calibri"/>
              </a:rPr>
              <a:t> </a:t>
            </a:r>
            <a:r>
              <a:rPr lang="en-US" sz="2400" dirty="0">
                <a:cs typeface="Calibri"/>
              </a:rPr>
              <a:t>taking</a:t>
            </a:r>
            <a:r>
              <a:rPr lang="en-US" sz="2400" spc="-40" dirty="0">
                <a:cs typeface="Calibri"/>
              </a:rPr>
              <a:t> </a:t>
            </a:r>
            <a:r>
              <a:rPr lang="en-US" sz="2400" dirty="0">
                <a:cs typeface="Calibri"/>
              </a:rPr>
              <a:t>electrons</a:t>
            </a:r>
            <a:r>
              <a:rPr lang="en-US" sz="2400" spc="-35" dirty="0">
                <a:cs typeface="Calibri"/>
              </a:rPr>
              <a:t> </a:t>
            </a:r>
            <a:r>
              <a:rPr lang="en-US" sz="2400" dirty="0">
                <a:cs typeface="Calibri"/>
              </a:rPr>
              <a:t>from</a:t>
            </a:r>
            <a:r>
              <a:rPr lang="en-US" sz="2400" spc="-40" dirty="0">
                <a:cs typeface="Calibri"/>
              </a:rPr>
              <a:t> </a:t>
            </a:r>
            <a:r>
              <a:rPr lang="en-US" sz="2400" spc="-10" dirty="0" smtClean="0">
                <a:cs typeface="Calibri"/>
              </a:rPr>
              <a:t>it.</a:t>
            </a:r>
          </a:p>
          <a:p>
            <a:pPr marL="1065530" indent="-342265">
              <a:lnSpc>
                <a:spcPct val="100000"/>
              </a:lnSpc>
              <a:spcBef>
                <a:spcPts val="770"/>
              </a:spcBef>
              <a:buFont typeface="Arial" pitchFamily="34" charset="0"/>
              <a:buChar char="•"/>
              <a:tabLst>
                <a:tab pos="1064895" algn="l"/>
                <a:tab pos="1066165" algn="l"/>
              </a:tabLst>
            </a:pPr>
            <a:r>
              <a:rPr lang="en-US" sz="2400" dirty="0" smtClean="0">
                <a:cs typeface="Calibri"/>
              </a:rPr>
              <a:t>What</a:t>
            </a:r>
            <a:r>
              <a:rPr lang="en-US" sz="2400" spc="-95" dirty="0" smtClean="0">
                <a:cs typeface="Calibri"/>
              </a:rPr>
              <a:t> </a:t>
            </a:r>
            <a:r>
              <a:rPr lang="en-US" sz="2400" dirty="0">
                <a:cs typeface="Calibri"/>
              </a:rPr>
              <a:t>is</a:t>
            </a:r>
            <a:r>
              <a:rPr lang="en-US" sz="2400" spc="-60" dirty="0">
                <a:cs typeface="Calibri"/>
              </a:rPr>
              <a:t> </a:t>
            </a:r>
            <a:r>
              <a:rPr lang="en-US" sz="2400" dirty="0">
                <a:cs typeface="Calibri"/>
              </a:rPr>
              <a:t>oxidized</a:t>
            </a:r>
            <a:r>
              <a:rPr lang="en-US" sz="2400" spc="-70" dirty="0">
                <a:cs typeface="Calibri"/>
              </a:rPr>
              <a:t> </a:t>
            </a:r>
            <a:r>
              <a:rPr lang="en-US" sz="2400" dirty="0">
                <a:cs typeface="Calibri"/>
              </a:rPr>
              <a:t>is</a:t>
            </a:r>
            <a:r>
              <a:rPr lang="en-US" sz="2400" spc="-60" dirty="0">
                <a:cs typeface="Calibri"/>
              </a:rPr>
              <a:t> </a:t>
            </a:r>
            <a:r>
              <a:rPr lang="en-US" sz="2400" spc="-5" dirty="0">
                <a:cs typeface="Calibri"/>
              </a:rPr>
              <a:t>the</a:t>
            </a:r>
            <a:r>
              <a:rPr lang="en-US" sz="2400" spc="-90" dirty="0">
                <a:cs typeface="Calibri"/>
              </a:rPr>
              <a:t> </a:t>
            </a:r>
            <a:r>
              <a:rPr lang="en-US" sz="2400" spc="-5" dirty="0">
                <a:solidFill>
                  <a:srgbClr val="00177B"/>
                </a:solidFill>
                <a:cs typeface="Calibri"/>
              </a:rPr>
              <a:t>reducing</a:t>
            </a:r>
            <a:r>
              <a:rPr lang="en-US" sz="2400" spc="-40" dirty="0">
                <a:solidFill>
                  <a:srgbClr val="00177B"/>
                </a:solidFill>
                <a:cs typeface="Calibri"/>
              </a:rPr>
              <a:t> </a:t>
            </a:r>
            <a:r>
              <a:rPr lang="en-US" sz="2400" spc="-5" dirty="0" smtClean="0">
                <a:solidFill>
                  <a:srgbClr val="00177B"/>
                </a:solidFill>
                <a:cs typeface="Calibri"/>
              </a:rPr>
              <a:t>agent</a:t>
            </a:r>
            <a:r>
              <a:rPr lang="en-US" sz="2400" spc="-5" dirty="0" smtClean="0">
                <a:cs typeface="Calibri"/>
              </a:rPr>
              <a:t>. </a:t>
            </a:r>
            <a:r>
              <a:rPr lang="en-US" sz="2400" spc="5" dirty="0" smtClean="0">
                <a:cs typeface="Calibri"/>
              </a:rPr>
              <a:t>Zn</a:t>
            </a:r>
            <a:r>
              <a:rPr lang="en-US" sz="2400" spc="-55" dirty="0" smtClean="0">
                <a:cs typeface="Calibri"/>
              </a:rPr>
              <a:t> </a:t>
            </a:r>
            <a:r>
              <a:rPr lang="en-US" sz="2400" spc="-5" dirty="0">
                <a:cs typeface="Calibri"/>
              </a:rPr>
              <a:t>reduces</a:t>
            </a:r>
            <a:r>
              <a:rPr lang="en-US" sz="2400" spc="-15" dirty="0">
                <a:cs typeface="Calibri"/>
              </a:rPr>
              <a:t> </a:t>
            </a:r>
            <a:r>
              <a:rPr lang="en-US" sz="2400" dirty="0">
                <a:cs typeface="Calibri"/>
              </a:rPr>
              <a:t>H</a:t>
            </a:r>
            <a:r>
              <a:rPr lang="en-US" sz="2400" baseline="29320" dirty="0">
                <a:cs typeface="Calibri"/>
              </a:rPr>
              <a:t>+</a:t>
            </a:r>
            <a:r>
              <a:rPr lang="en-US" sz="2400" spc="262" baseline="29320" dirty="0">
                <a:cs typeface="Calibri"/>
              </a:rPr>
              <a:t> </a:t>
            </a:r>
            <a:r>
              <a:rPr lang="en-US" sz="2400" spc="-5" dirty="0">
                <a:cs typeface="Calibri"/>
              </a:rPr>
              <a:t>by</a:t>
            </a:r>
            <a:r>
              <a:rPr lang="en-US" sz="2400" spc="-15" dirty="0">
                <a:cs typeface="Calibri"/>
              </a:rPr>
              <a:t> </a:t>
            </a:r>
            <a:r>
              <a:rPr lang="en-US" sz="2400" dirty="0">
                <a:cs typeface="Calibri"/>
              </a:rPr>
              <a:t>giving</a:t>
            </a:r>
            <a:r>
              <a:rPr lang="en-US" sz="2400" spc="-40" dirty="0">
                <a:cs typeface="Calibri"/>
              </a:rPr>
              <a:t> </a:t>
            </a:r>
            <a:r>
              <a:rPr lang="en-US" sz="2400" dirty="0">
                <a:cs typeface="Calibri"/>
              </a:rPr>
              <a:t>it</a:t>
            </a:r>
            <a:r>
              <a:rPr lang="en-US" sz="2400" spc="-45" dirty="0">
                <a:cs typeface="Calibri"/>
              </a:rPr>
              <a:t> </a:t>
            </a:r>
            <a:r>
              <a:rPr lang="en-US" sz="2400" dirty="0">
                <a:cs typeface="Calibri"/>
              </a:rPr>
              <a:t>electrons.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19447" y="466166"/>
            <a:ext cx="857250" cy="680720"/>
          </a:xfrm>
          <a:prstGeom prst="rect">
            <a:avLst/>
          </a:prstGeom>
        </p:spPr>
        <p:txBody>
          <a:bodyPr vert="horz" wrap="square" lIns="0" tIns="12065" rIns="0" bIns="0" rtlCol="0">
            <a:spAutoFit/>
          </a:bodyPr>
          <a:lstStyle/>
          <a:p>
            <a:pPr marL="12700">
              <a:lnSpc>
                <a:spcPct val="100000"/>
              </a:lnSpc>
              <a:spcBef>
                <a:spcPts val="95"/>
              </a:spcBef>
            </a:pPr>
            <a:r>
              <a:rPr sz="4300" b="1" spc="-10" dirty="0">
                <a:latin typeface="Calibri"/>
                <a:cs typeface="Calibri"/>
              </a:rPr>
              <a:t>Cell</a:t>
            </a:r>
            <a:endParaRPr sz="4300">
              <a:latin typeface="Calibri"/>
              <a:cs typeface="Calibri"/>
            </a:endParaRPr>
          </a:p>
        </p:txBody>
      </p:sp>
      <p:sp>
        <p:nvSpPr>
          <p:cNvPr id="3" name="object 3"/>
          <p:cNvSpPr txBox="1"/>
          <p:nvPr/>
        </p:nvSpPr>
        <p:spPr>
          <a:xfrm>
            <a:off x="612444" y="1386916"/>
            <a:ext cx="8072755" cy="406400"/>
          </a:xfrm>
          <a:prstGeom prst="rect">
            <a:avLst/>
          </a:prstGeom>
        </p:spPr>
        <p:txBody>
          <a:bodyPr vert="horz" wrap="square" lIns="0" tIns="12065" rIns="0" bIns="0" rtlCol="0">
            <a:spAutoFit/>
          </a:bodyPr>
          <a:lstStyle/>
          <a:p>
            <a:pPr marL="12700">
              <a:lnSpc>
                <a:spcPct val="100000"/>
              </a:lnSpc>
              <a:spcBef>
                <a:spcPts val="95"/>
              </a:spcBef>
            </a:pPr>
            <a:r>
              <a:rPr sz="2500" spc="-5" dirty="0">
                <a:latin typeface="Calibri"/>
                <a:cs typeface="Calibri"/>
              </a:rPr>
              <a:t>An</a:t>
            </a:r>
            <a:r>
              <a:rPr sz="2500" spc="229" dirty="0">
                <a:latin typeface="Calibri"/>
                <a:cs typeface="Calibri"/>
              </a:rPr>
              <a:t> </a:t>
            </a:r>
            <a:r>
              <a:rPr sz="2500" b="1" spc="-5" dirty="0">
                <a:latin typeface="Calibri"/>
                <a:cs typeface="Calibri"/>
              </a:rPr>
              <a:t>electrochemical</a:t>
            </a:r>
            <a:r>
              <a:rPr sz="2500" b="1" spc="220" dirty="0">
                <a:latin typeface="Calibri"/>
                <a:cs typeface="Calibri"/>
              </a:rPr>
              <a:t> </a:t>
            </a:r>
            <a:r>
              <a:rPr sz="2500" b="1" spc="-10" dirty="0">
                <a:latin typeface="Calibri"/>
                <a:cs typeface="Calibri"/>
              </a:rPr>
              <a:t>cell</a:t>
            </a:r>
            <a:r>
              <a:rPr sz="2500" b="1" spc="229" dirty="0">
                <a:latin typeface="Calibri"/>
                <a:cs typeface="Calibri"/>
              </a:rPr>
              <a:t> </a:t>
            </a:r>
            <a:r>
              <a:rPr sz="2500" spc="-5" dirty="0">
                <a:latin typeface="Calibri"/>
                <a:cs typeface="Calibri"/>
              </a:rPr>
              <a:t>is</a:t>
            </a:r>
            <a:r>
              <a:rPr sz="2500" spc="240" dirty="0">
                <a:latin typeface="Calibri"/>
                <a:cs typeface="Calibri"/>
              </a:rPr>
              <a:t> </a:t>
            </a:r>
            <a:r>
              <a:rPr sz="2500" spc="-5" dirty="0">
                <a:latin typeface="Calibri"/>
                <a:cs typeface="Calibri"/>
              </a:rPr>
              <a:t>a</a:t>
            </a:r>
            <a:r>
              <a:rPr sz="2500" spc="210" dirty="0">
                <a:latin typeface="Calibri"/>
                <a:cs typeface="Calibri"/>
              </a:rPr>
              <a:t> </a:t>
            </a:r>
            <a:r>
              <a:rPr sz="2500" spc="-5" dirty="0">
                <a:latin typeface="Calibri"/>
                <a:cs typeface="Calibri"/>
              </a:rPr>
              <a:t>device</a:t>
            </a:r>
            <a:r>
              <a:rPr sz="2500" spc="215" dirty="0">
                <a:latin typeface="Calibri"/>
                <a:cs typeface="Calibri"/>
              </a:rPr>
              <a:t> </a:t>
            </a:r>
            <a:r>
              <a:rPr sz="2500" spc="-5" dirty="0">
                <a:latin typeface="Calibri"/>
                <a:cs typeface="Calibri"/>
              </a:rPr>
              <a:t>capable</a:t>
            </a:r>
            <a:r>
              <a:rPr sz="2500" spc="240" dirty="0">
                <a:latin typeface="Calibri"/>
                <a:cs typeface="Calibri"/>
              </a:rPr>
              <a:t> </a:t>
            </a:r>
            <a:r>
              <a:rPr sz="2500" spc="-5" dirty="0">
                <a:latin typeface="Calibri"/>
                <a:cs typeface="Calibri"/>
              </a:rPr>
              <a:t>of</a:t>
            </a:r>
            <a:r>
              <a:rPr sz="2500" spc="190" dirty="0">
                <a:latin typeface="Calibri"/>
                <a:cs typeface="Calibri"/>
              </a:rPr>
              <a:t> </a:t>
            </a:r>
            <a:r>
              <a:rPr sz="2500" dirty="0">
                <a:latin typeface="Calibri"/>
                <a:cs typeface="Calibri"/>
              </a:rPr>
              <a:t>either</a:t>
            </a:r>
            <a:r>
              <a:rPr sz="2500" spc="229" dirty="0">
                <a:latin typeface="Calibri"/>
                <a:cs typeface="Calibri"/>
              </a:rPr>
              <a:t> </a:t>
            </a:r>
            <a:r>
              <a:rPr sz="2500" spc="-5" dirty="0">
                <a:latin typeface="Calibri"/>
                <a:cs typeface="Calibri"/>
              </a:rPr>
              <a:t>deriving</a:t>
            </a:r>
            <a:endParaRPr sz="2500">
              <a:latin typeface="Calibri"/>
              <a:cs typeface="Calibri"/>
            </a:endParaRPr>
          </a:p>
        </p:txBody>
      </p:sp>
      <p:sp>
        <p:nvSpPr>
          <p:cNvPr id="4" name="object 4"/>
          <p:cNvSpPr txBox="1"/>
          <p:nvPr/>
        </p:nvSpPr>
        <p:spPr>
          <a:xfrm>
            <a:off x="2027047" y="1764868"/>
            <a:ext cx="4550410" cy="406400"/>
          </a:xfrm>
          <a:prstGeom prst="rect">
            <a:avLst/>
          </a:prstGeom>
        </p:spPr>
        <p:txBody>
          <a:bodyPr vert="horz" wrap="square" lIns="0" tIns="12065" rIns="0" bIns="0" rtlCol="0">
            <a:spAutoFit/>
          </a:bodyPr>
          <a:lstStyle/>
          <a:p>
            <a:pPr marL="12700">
              <a:lnSpc>
                <a:spcPct val="100000"/>
              </a:lnSpc>
              <a:spcBef>
                <a:spcPts val="95"/>
              </a:spcBef>
              <a:tabLst>
                <a:tab pos="1137920" algn="l"/>
                <a:tab pos="2003425" algn="l"/>
                <a:tab pos="3390900" algn="l"/>
              </a:tabLst>
            </a:pPr>
            <a:r>
              <a:rPr sz="2500" spc="-5" dirty="0">
                <a:latin typeface="Calibri"/>
                <a:cs typeface="Calibri"/>
              </a:rPr>
              <a:t>e</a:t>
            </a:r>
            <a:r>
              <a:rPr sz="2500" spc="-20" dirty="0">
                <a:latin typeface="Calibri"/>
                <a:cs typeface="Calibri"/>
              </a:rPr>
              <a:t>n</a:t>
            </a:r>
            <a:r>
              <a:rPr sz="2500" spc="-5" dirty="0">
                <a:latin typeface="Calibri"/>
                <a:cs typeface="Calibri"/>
              </a:rPr>
              <a:t>ergy</a:t>
            </a:r>
            <a:r>
              <a:rPr sz="2500" dirty="0">
                <a:latin typeface="Calibri"/>
                <a:cs typeface="Calibri"/>
              </a:rPr>
              <a:t>	</a:t>
            </a:r>
            <a:r>
              <a:rPr sz="2500" spc="-10" dirty="0">
                <a:latin typeface="Calibri"/>
                <a:cs typeface="Calibri"/>
              </a:rPr>
              <a:t>fr</a:t>
            </a:r>
            <a:r>
              <a:rPr sz="2500" spc="-30" dirty="0">
                <a:latin typeface="Calibri"/>
                <a:cs typeface="Calibri"/>
              </a:rPr>
              <a:t>o</a:t>
            </a:r>
            <a:r>
              <a:rPr sz="2500" spc="-5" dirty="0">
                <a:latin typeface="Calibri"/>
                <a:cs typeface="Calibri"/>
              </a:rPr>
              <a:t>m</a:t>
            </a:r>
            <a:r>
              <a:rPr sz="2500" dirty="0">
                <a:latin typeface="Calibri"/>
                <a:cs typeface="Calibri"/>
              </a:rPr>
              <a:t>	</a:t>
            </a:r>
            <a:r>
              <a:rPr sz="2500" u="heavy" spc="-5" dirty="0">
                <a:uFill>
                  <a:solidFill>
                    <a:srgbClr val="000000"/>
                  </a:solidFill>
                </a:uFill>
                <a:latin typeface="Calibri"/>
                <a:cs typeface="Calibri"/>
              </a:rPr>
              <a:t>c</a:t>
            </a:r>
            <a:r>
              <a:rPr sz="2500" u="heavy" dirty="0">
                <a:uFill>
                  <a:solidFill>
                    <a:srgbClr val="000000"/>
                  </a:solidFill>
                </a:uFill>
                <a:latin typeface="Calibri"/>
                <a:cs typeface="Calibri"/>
              </a:rPr>
              <a:t>h</a:t>
            </a:r>
            <a:r>
              <a:rPr sz="2500" u="heavy" spc="-5" dirty="0">
                <a:uFill>
                  <a:solidFill>
                    <a:srgbClr val="000000"/>
                  </a:solidFill>
                </a:uFill>
                <a:latin typeface="Calibri"/>
                <a:cs typeface="Calibri"/>
              </a:rPr>
              <a:t>emical</a:t>
            </a:r>
            <a:r>
              <a:rPr sz="2500" u="heavy" dirty="0">
                <a:uFill>
                  <a:solidFill>
                    <a:srgbClr val="000000"/>
                  </a:solidFill>
                </a:uFill>
                <a:latin typeface="Calibri"/>
                <a:cs typeface="Calibri"/>
              </a:rPr>
              <a:t>	</a:t>
            </a:r>
            <a:r>
              <a:rPr sz="2500" u="heavy" spc="-15" dirty="0">
                <a:uFill>
                  <a:solidFill>
                    <a:srgbClr val="000000"/>
                  </a:solidFill>
                </a:uFill>
                <a:latin typeface="Calibri"/>
                <a:cs typeface="Calibri"/>
              </a:rPr>
              <a:t>r</a:t>
            </a:r>
            <a:r>
              <a:rPr sz="2500" u="heavy" spc="-5" dirty="0">
                <a:uFill>
                  <a:solidFill>
                    <a:srgbClr val="000000"/>
                  </a:solidFill>
                </a:uFill>
                <a:latin typeface="Calibri"/>
                <a:cs typeface="Calibri"/>
              </a:rPr>
              <a:t>eac</a:t>
            </a:r>
            <a:r>
              <a:rPr sz="2500" u="heavy" spc="-20" dirty="0">
                <a:uFill>
                  <a:solidFill>
                    <a:srgbClr val="000000"/>
                  </a:solidFill>
                </a:uFill>
                <a:latin typeface="Calibri"/>
                <a:cs typeface="Calibri"/>
              </a:rPr>
              <a:t>t</a:t>
            </a:r>
            <a:r>
              <a:rPr sz="2500" u="heavy" spc="-5" dirty="0">
                <a:uFill>
                  <a:solidFill>
                    <a:srgbClr val="000000"/>
                  </a:solidFill>
                </a:uFill>
                <a:latin typeface="Calibri"/>
                <a:cs typeface="Calibri"/>
              </a:rPr>
              <a:t>io</a:t>
            </a:r>
            <a:r>
              <a:rPr sz="2500" u="heavy" dirty="0">
                <a:uFill>
                  <a:solidFill>
                    <a:srgbClr val="000000"/>
                  </a:solidFill>
                </a:uFill>
                <a:latin typeface="Calibri"/>
                <a:cs typeface="Calibri"/>
              </a:rPr>
              <a:t>n</a:t>
            </a:r>
            <a:r>
              <a:rPr sz="2500" spc="-5" dirty="0">
                <a:latin typeface="Calibri"/>
                <a:cs typeface="Calibri"/>
              </a:rPr>
              <a:t>,</a:t>
            </a:r>
            <a:endParaRPr sz="2500">
              <a:latin typeface="Calibri"/>
              <a:cs typeface="Calibri"/>
            </a:endParaRPr>
          </a:p>
        </p:txBody>
      </p:sp>
      <p:sp>
        <p:nvSpPr>
          <p:cNvPr id="5" name="object 5"/>
          <p:cNvSpPr txBox="1"/>
          <p:nvPr/>
        </p:nvSpPr>
        <p:spPr>
          <a:xfrm>
            <a:off x="1959991" y="2146249"/>
            <a:ext cx="4890135" cy="406400"/>
          </a:xfrm>
          <a:prstGeom prst="rect">
            <a:avLst/>
          </a:prstGeom>
        </p:spPr>
        <p:txBody>
          <a:bodyPr vert="horz" wrap="square" lIns="0" tIns="12065" rIns="0" bIns="0" rtlCol="0">
            <a:spAutoFit/>
          </a:bodyPr>
          <a:lstStyle/>
          <a:p>
            <a:pPr marL="12700">
              <a:lnSpc>
                <a:spcPct val="100000"/>
              </a:lnSpc>
              <a:spcBef>
                <a:spcPts val="95"/>
              </a:spcBef>
              <a:tabLst>
                <a:tab pos="1405890" algn="l"/>
                <a:tab pos="2640330" algn="l"/>
                <a:tab pos="3274695" algn="l"/>
              </a:tabLst>
            </a:pPr>
            <a:r>
              <a:rPr sz="2500" spc="-15" dirty="0">
                <a:latin typeface="Calibri"/>
                <a:cs typeface="Calibri"/>
              </a:rPr>
              <a:t>r</a:t>
            </a:r>
            <a:r>
              <a:rPr sz="2500" spc="-5" dirty="0">
                <a:latin typeface="Calibri"/>
                <a:cs typeface="Calibri"/>
              </a:rPr>
              <a:t>eac</a:t>
            </a:r>
            <a:r>
              <a:rPr sz="2500" dirty="0">
                <a:latin typeface="Calibri"/>
                <a:cs typeface="Calibri"/>
              </a:rPr>
              <a:t>t</a:t>
            </a:r>
            <a:r>
              <a:rPr sz="2500" spc="-5" dirty="0">
                <a:latin typeface="Calibri"/>
                <a:cs typeface="Calibri"/>
              </a:rPr>
              <a:t>io</a:t>
            </a:r>
            <a:r>
              <a:rPr sz="2500" spc="5" dirty="0">
                <a:latin typeface="Calibri"/>
                <a:cs typeface="Calibri"/>
              </a:rPr>
              <a:t>n</a:t>
            </a:r>
            <a:r>
              <a:rPr sz="2500" spc="-5" dirty="0">
                <a:latin typeface="Calibri"/>
                <a:cs typeface="Calibri"/>
              </a:rPr>
              <a:t>s</a:t>
            </a:r>
            <a:r>
              <a:rPr sz="2500" dirty="0">
                <a:latin typeface="Calibri"/>
                <a:cs typeface="Calibri"/>
              </a:rPr>
              <a:t>	</a:t>
            </a:r>
            <a:r>
              <a:rPr sz="2500" spc="-5" dirty="0">
                <a:latin typeface="Calibri"/>
                <a:cs typeface="Calibri"/>
              </a:rPr>
              <a:t>t</a:t>
            </a:r>
            <a:r>
              <a:rPr sz="2500" spc="-20" dirty="0">
                <a:latin typeface="Calibri"/>
                <a:cs typeface="Calibri"/>
              </a:rPr>
              <a:t>h</a:t>
            </a:r>
            <a:r>
              <a:rPr sz="2500" spc="-15" dirty="0">
                <a:latin typeface="Calibri"/>
                <a:cs typeface="Calibri"/>
              </a:rPr>
              <a:t>r</a:t>
            </a:r>
            <a:r>
              <a:rPr sz="2500" spc="-10" dirty="0">
                <a:latin typeface="Calibri"/>
                <a:cs typeface="Calibri"/>
              </a:rPr>
              <a:t>o</a:t>
            </a:r>
            <a:r>
              <a:rPr sz="2500" dirty="0">
                <a:latin typeface="Calibri"/>
                <a:cs typeface="Calibri"/>
              </a:rPr>
              <a:t>u</a:t>
            </a:r>
            <a:r>
              <a:rPr sz="2500" spc="-5" dirty="0">
                <a:latin typeface="Calibri"/>
                <a:cs typeface="Calibri"/>
              </a:rPr>
              <a:t>gh</a:t>
            </a:r>
            <a:r>
              <a:rPr sz="2500" dirty="0">
                <a:latin typeface="Calibri"/>
                <a:cs typeface="Calibri"/>
              </a:rPr>
              <a:t>	</a:t>
            </a:r>
            <a:r>
              <a:rPr sz="2500" spc="-5" dirty="0">
                <a:latin typeface="Calibri"/>
                <a:cs typeface="Calibri"/>
              </a:rPr>
              <a:t>t</a:t>
            </a:r>
            <a:r>
              <a:rPr sz="2500" spc="5" dirty="0">
                <a:latin typeface="Calibri"/>
                <a:cs typeface="Calibri"/>
              </a:rPr>
              <a:t>h</a:t>
            </a:r>
            <a:r>
              <a:rPr sz="2500" spc="-5" dirty="0">
                <a:latin typeface="Calibri"/>
                <a:cs typeface="Calibri"/>
              </a:rPr>
              <a:t>e</a:t>
            </a:r>
            <a:r>
              <a:rPr sz="2500" dirty="0">
                <a:latin typeface="Calibri"/>
                <a:cs typeface="Calibri"/>
              </a:rPr>
              <a:t>	</a:t>
            </a:r>
            <a:r>
              <a:rPr sz="2500" spc="-30" dirty="0">
                <a:latin typeface="Calibri"/>
                <a:cs typeface="Calibri"/>
              </a:rPr>
              <a:t>i</a:t>
            </a:r>
            <a:r>
              <a:rPr sz="2500" spc="-5" dirty="0">
                <a:latin typeface="Calibri"/>
                <a:cs typeface="Calibri"/>
              </a:rPr>
              <a:t>ntrod</a:t>
            </a:r>
            <a:r>
              <a:rPr sz="2500" spc="5" dirty="0">
                <a:latin typeface="Calibri"/>
                <a:cs typeface="Calibri"/>
              </a:rPr>
              <a:t>u</a:t>
            </a:r>
            <a:r>
              <a:rPr sz="2500" spc="-5" dirty="0">
                <a:latin typeface="Calibri"/>
                <a:cs typeface="Calibri"/>
              </a:rPr>
              <a:t>cti</a:t>
            </a:r>
            <a:r>
              <a:rPr sz="2500" spc="-25" dirty="0">
                <a:latin typeface="Calibri"/>
                <a:cs typeface="Calibri"/>
              </a:rPr>
              <a:t>o</a:t>
            </a:r>
            <a:r>
              <a:rPr sz="2500" spc="-5" dirty="0">
                <a:latin typeface="Calibri"/>
                <a:cs typeface="Calibri"/>
              </a:rPr>
              <a:t>n</a:t>
            </a:r>
            <a:endParaRPr sz="2500">
              <a:latin typeface="Calibri"/>
              <a:cs typeface="Calibri"/>
            </a:endParaRPr>
          </a:p>
        </p:txBody>
      </p:sp>
      <p:sp>
        <p:nvSpPr>
          <p:cNvPr id="6" name="object 6"/>
          <p:cNvSpPr txBox="1"/>
          <p:nvPr/>
        </p:nvSpPr>
        <p:spPr>
          <a:xfrm>
            <a:off x="6789801" y="1764868"/>
            <a:ext cx="1903095" cy="788035"/>
          </a:xfrm>
          <a:prstGeom prst="rect">
            <a:avLst/>
          </a:prstGeom>
        </p:spPr>
        <p:txBody>
          <a:bodyPr vert="horz" wrap="square" lIns="0" tIns="12065" rIns="0" bIns="0" rtlCol="0">
            <a:spAutoFit/>
          </a:bodyPr>
          <a:lstStyle/>
          <a:p>
            <a:pPr marL="250190" marR="5080" indent="-238125">
              <a:lnSpc>
                <a:spcPct val="100000"/>
              </a:lnSpc>
              <a:spcBef>
                <a:spcPts val="95"/>
              </a:spcBef>
              <a:tabLst>
                <a:tab pos="530225" algn="l"/>
                <a:tab pos="716280" algn="l"/>
              </a:tabLst>
            </a:pPr>
            <a:r>
              <a:rPr sz="2500" spc="-5" dirty="0">
                <a:latin typeface="Calibri"/>
                <a:cs typeface="Calibri"/>
              </a:rPr>
              <a:t>or	</a:t>
            </a:r>
            <a:r>
              <a:rPr sz="2500" spc="-10" dirty="0">
                <a:latin typeface="Calibri"/>
                <a:cs typeface="Calibri"/>
              </a:rPr>
              <a:t>f</a:t>
            </a:r>
            <a:r>
              <a:rPr sz="2500" dirty="0">
                <a:latin typeface="Calibri"/>
                <a:cs typeface="Calibri"/>
              </a:rPr>
              <a:t>a</a:t>
            </a:r>
            <a:r>
              <a:rPr sz="2500" spc="-5" dirty="0">
                <a:latin typeface="Calibri"/>
                <a:cs typeface="Calibri"/>
              </a:rPr>
              <a:t>cil</a:t>
            </a:r>
            <a:r>
              <a:rPr sz="2500" spc="-25" dirty="0">
                <a:latin typeface="Calibri"/>
                <a:cs typeface="Calibri"/>
              </a:rPr>
              <a:t>i</a:t>
            </a:r>
            <a:r>
              <a:rPr sz="2500" spc="-5" dirty="0">
                <a:latin typeface="Calibri"/>
                <a:cs typeface="Calibri"/>
              </a:rPr>
              <a:t>ta</a:t>
            </a:r>
            <a:r>
              <a:rPr sz="2500" dirty="0">
                <a:latin typeface="Calibri"/>
                <a:cs typeface="Calibri"/>
              </a:rPr>
              <a:t>t</a:t>
            </a:r>
            <a:r>
              <a:rPr sz="2500" spc="-5" dirty="0">
                <a:latin typeface="Calibri"/>
                <a:cs typeface="Calibri"/>
              </a:rPr>
              <a:t>i</a:t>
            </a:r>
            <a:r>
              <a:rPr sz="2500" dirty="0">
                <a:latin typeface="Calibri"/>
                <a:cs typeface="Calibri"/>
              </a:rPr>
              <a:t>n</a:t>
            </a:r>
            <a:r>
              <a:rPr sz="2500" spc="-5" dirty="0">
                <a:latin typeface="Calibri"/>
                <a:cs typeface="Calibri"/>
              </a:rPr>
              <a:t>g  of</a:t>
            </a:r>
            <a:r>
              <a:rPr sz="2500" dirty="0">
                <a:latin typeface="Calibri"/>
                <a:cs typeface="Calibri"/>
              </a:rPr>
              <a:t>		</a:t>
            </a:r>
            <a:r>
              <a:rPr sz="2500" spc="-5" dirty="0">
                <a:latin typeface="Calibri"/>
                <a:cs typeface="Calibri"/>
              </a:rPr>
              <a:t>el</a:t>
            </a:r>
            <a:r>
              <a:rPr sz="2500" dirty="0">
                <a:latin typeface="Calibri"/>
                <a:cs typeface="Calibri"/>
              </a:rPr>
              <a:t>e</a:t>
            </a:r>
            <a:r>
              <a:rPr sz="2500" spc="-5" dirty="0">
                <a:latin typeface="Calibri"/>
                <a:cs typeface="Calibri"/>
              </a:rPr>
              <a:t>ctrical</a:t>
            </a:r>
            <a:endParaRPr sz="2500">
              <a:latin typeface="Calibri"/>
              <a:cs typeface="Calibri"/>
            </a:endParaRPr>
          </a:p>
        </p:txBody>
      </p:sp>
      <p:sp>
        <p:nvSpPr>
          <p:cNvPr id="7" name="object 7"/>
          <p:cNvSpPr txBox="1"/>
          <p:nvPr/>
        </p:nvSpPr>
        <p:spPr>
          <a:xfrm>
            <a:off x="612444" y="1764868"/>
            <a:ext cx="1198880" cy="1165860"/>
          </a:xfrm>
          <a:prstGeom prst="rect">
            <a:avLst/>
          </a:prstGeom>
        </p:spPr>
        <p:txBody>
          <a:bodyPr vert="horz" wrap="square" lIns="0" tIns="13970" rIns="0" bIns="0" rtlCol="0">
            <a:spAutoFit/>
          </a:bodyPr>
          <a:lstStyle/>
          <a:p>
            <a:pPr marL="12700" marR="5080" algn="just">
              <a:lnSpc>
                <a:spcPct val="99600"/>
              </a:lnSpc>
              <a:spcBef>
                <a:spcPts val="110"/>
              </a:spcBef>
            </a:pPr>
            <a:r>
              <a:rPr sz="2500" u="heavy" spc="-5" dirty="0">
                <a:uFill>
                  <a:solidFill>
                    <a:srgbClr val="000000"/>
                  </a:solidFill>
                </a:uFill>
                <a:latin typeface="Calibri"/>
                <a:cs typeface="Calibri"/>
              </a:rPr>
              <a:t>el</a:t>
            </a:r>
            <a:r>
              <a:rPr sz="2500" u="heavy" dirty="0">
                <a:uFill>
                  <a:solidFill>
                    <a:srgbClr val="000000"/>
                  </a:solidFill>
                </a:uFill>
                <a:latin typeface="Calibri"/>
                <a:cs typeface="Calibri"/>
              </a:rPr>
              <a:t>e</a:t>
            </a:r>
            <a:r>
              <a:rPr sz="2500" u="heavy" spc="-5" dirty="0">
                <a:uFill>
                  <a:solidFill>
                    <a:srgbClr val="000000"/>
                  </a:solidFill>
                </a:uFill>
                <a:latin typeface="Calibri"/>
                <a:cs typeface="Calibri"/>
              </a:rPr>
              <a:t>ctrical </a:t>
            </a:r>
            <a:r>
              <a:rPr sz="2500" spc="-5" dirty="0">
                <a:latin typeface="Calibri"/>
                <a:cs typeface="Calibri"/>
              </a:rPr>
              <a:t> chemical </a:t>
            </a:r>
            <a:r>
              <a:rPr sz="2500" spc="-555" dirty="0">
                <a:latin typeface="Calibri"/>
                <a:cs typeface="Calibri"/>
              </a:rPr>
              <a:t> </a:t>
            </a:r>
            <a:r>
              <a:rPr sz="2500" spc="-5" dirty="0">
                <a:latin typeface="Calibri"/>
                <a:cs typeface="Calibri"/>
              </a:rPr>
              <a:t>energy.</a:t>
            </a:r>
            <a:endParaRPr sz="2500">
              <a:latin typeface="Calibri"/>
              <a:cs typeface="Calibri"/>
            </a:endParaRPr>
          </a:p>
        </p:txBody>
      </p:sp>
      <p:sp>
        <p:nvSpPr>
          <p:cNvPr id="8" name="object 8"/>
          <p:cNvSpPr txBox="1"/>
          <p:nvPr/>
        </p:nvSpPr>
        <p:spPr>
          <a:xfrm>
            <a:off x="307340" y="3210255"/>
            <a:ext cx="8006080" cy="2332355"/>
          </a:xfrm>
          <a:prstGeom prst="rect">
            <a:avLst/>
          </a:prstGeom>
        </p:spPr>
        <p:txBody>
          <a:bodyPr vert="horz" wrap="square" lIns="0" tIns="13970" rIns="0" bIns="0" rtlCol="0">
            <a:spAutoFit/>
          </a:bodyPr>
          <a:lstStyle/>
          <a:p>
            <a:pPr marL="287020" marR="5080" indent="-274955">
              <a:lnSpc>
                <a:spcPct val="100000"/>
              </a:lnSpc>
              <a:spcBef>
                <a:spcPts val="110"/>
              </a:spcBef>
              <a:buClr>
                <a:srgbClr val="9BB957"/>
              </a:buClr>
              <a:buFont typeface="Segoe UI Symbol"/>
              <a:buChar char="⚫"/>
              <a:tabLst>
                <a:tab pos="287655" algn="l"/>
              </a:tabLst>
            </a:pPr>
            <a:r>
              <a:rPr sz="2800" spc="5" dirty="0">
                <a:latin typeface="Calibri"/>
                <a:cs typeface="Calibri"/>
              </a:rPr>
              <a:t>A</a:t>
            </a:r>
            <a:r>
              <a:rPr sz="2800" spc="-55" dirty="0">
                <a:latin typeface="Calibri"/>
                <a:cs typeface="Calibri"/>
              </a:rPr>
              <a:t> </a:t>
            </a:r>
            <a:r>
              <a:rPr sz="2800" dirty="0">
                <a:latin typeface="Calibri"/>
                <a:cs typeface="Calibri"/>
              </a:rPr>
              <a:t>Cell</a:t>
            </a:r>
            <a:r>
              <a:rPr sz="2800" spc="-55" dirty="0">
                <a:latin typeface="Calibri"/>
                <a:cs typeface="Calibri"/>
              </a:rPr>
              <a:t> </a:t>
            </a:r>
            <a:r>
              <a:rPr sz="2800" spc="-5" dirty="0">
                <a:latin typeface="Calibri"/>
                <a:cs typeface="Calibri"/>
              </a:rPr>
              <a:t>consists</a:t>
            </a:r>
            <a:r>
              <a:rPr sz="2800" dirty="0">
                <a:latin typeface="Calibri"/>
                <a:cs typeface="Calibri"/>
              </a:rPr>
              <a:t> </a:t>
            </a:r>
            <a:r>
              <a:rPr sz="2800" spc="-10" dirty="0">
                <a:latin typeface="Calibri"/>
                <a:cs typeface="Calibri"/>
              </a:rPr>
              <a:t>of</a:t>
            </a:r>
            <a:r>
              <a:rPr sz="2800" spc="-30" dirty="0">
                <a:latin typeface="Calibri"/>
                <a:cs typeface="Calibri"/>
              </a:rPr>
              <a:t> </a:t>
            </a:r>
            <a:r>
              <a:rPr sz="2800" spc="5" dirty="0">
                <a:latin typeface="Calibri"/>
                <a:cs typeface="Calibri"/>
              </a:rPr>
              <a:t>two</a:t>
            </a:r>
            <a:r>
              <a:rPr sz="2800" spc="-75" dirty="0">
                <a:latin typeface="Calibri"/>
                <a:cs typeface="Calibri"/>
              </a:rPr>
              <a:t> </a:t>
            </a:r>
            <a:r>
              <a:rPr sz="2800" spc="-5" dirty="0">
                <a:latin typeface="Calibri"/>
                <a:cs typeface="Calibri"/>
              </a:rPr>
              <a:t>electrodes</a:t>
            </a:r>
            <a:r>
              <a:rPr sz="2800" spc="-20" dirty="0">
                <a:latin typeface="Calibri"/>
                <a:cs typeface="Calibri"/>
              </a:rPr>
              <a:t> </a:t>
            </a:r>
            <a:r>
              <a:rPr sz="2800" spc="-5" dirty="0">
                <a:latin typeface="Calibri"/>
                <a:cs typeface="Calibri"/>
              </a:rPr>
              <a:t>(anode</a:t>
            </a:r>
            <a:r>
              <a:rPr sz="2800" spc="-45" dirty="0">
                <a:latin typeface="Calibri"/>
                <a:cs typeface="Calibri"/>
              </a:rPr>
              <a:t> </a:t>
            </a:r>
            <a:r>
              <a:rPr sz="2800" dirty="0">
                <a:latin typeface="Calibri"/>
                <a:cs typeface="Calibri"/>
              </a:rPr>
              <a:t>and</a:t>
            </a:r>
            <a:r>
              <a:rPr sz="2800" spc="-40" dirty="0">
                <a:latin typeface="Calibri"/>
                <a:cs typeface="Calibri"/>
              </a:rPr>
              <a:t> </a:t>
            </a:r>
            <a:r>
              <a:rPr sz="2800" spc="-5" dirty="0">
                <a:latin typeface="Calibri"/>
                <a:cs typeface="Calibri"/>
              </a:rPr>
              <a:t>cathode) </a:t>
            </a:r>
            <a:r>
              <a:rPr sz="2800" spc="-620" dirty="0">
                <a:latin typeface="Calibri"/>
                <a:cs typeface="Calibri"/>
              </a:rPr>
              <a:t> </a:t>
            </a:r>
            <a:r>
              <a:rPr sz="2800" dirty="0">
                <a:latin typeface="Calibri"/>
                <a:cs typeface="Calibri"/>
              </a:rPr>
              <a:t>in</a:t>
            </a:r>
            <a:r>
              <a:rPr sz="2800" spc="-50" dirty="0">
                <a:latin typeface="Calibri"/>
                <a:cs typeface="Calibri"/>
              </a:rPr>
              <a:t> </a:t>
            </a:r>
            <a:r>
              <a:rPr sz="2800" spc="-5" dirty="0">
                <a:latin typeface="Calibri"/>
                <a:cs typeface="Calibri"/>
              </a:rPr>
              <a:t>contact</a:t>
            </a:r>
            <a:r>
              <a:rPr sz="2800" spc="-20" dirty="0">
                <a:latin typeface="Calibri"/>
                <a:cs typeface="Calibri"/>
              </a:rPr>
              <a:t> </a:t>
            </a:r>
            <a:r>
              <a:rPr sz="2800" dirty="0">
                <a:latin typeface="Calibri"/>
                <a:cs typeface="Calibri"/>
              </a:rPr>
              <a:t>with</a:t>
            </a:r>
            <a:r>
              <a:rPr sz="2800" spc="-35" dirty="0">
                <a:latin typeface="Calibri"/>
                <a:cs typeface="Calibri"/>
              </a:rPr>
              <a:t> </a:t>
            </a:r>
            <a:r>
              <a:rPr sz="2800" dirty="0">
                <a:latin typeface="Calibri"/>
                <a:cs typeface="Calibri"/>
              </a:rPr>
              <a:t>an</a:t>
            </a:r>
            <a:r>
              <a:rPr sz="2800" spc="-20" dirty="0">
                <a:latin typeface="Calibri"/>
                <a:cs typeface="Calibri"/>
              </a:rPr>
              <a:t> </a:t>
            </a:r>
            <a:r>
              <a:rPr sz="2800" dirty="0">
                <a:latin typeface="Calibri"/>
                <a:cs typeface="Calibri"/>
              </a:rPr>
              <a:t>aqueous</a:t>
            </a:r>
            <a:r>
              <a:rPr sz="2800" spc="15" dirty="0">
                <a:latin typeface="Calibri"/>
                <a:cs typeface="Calibri"/>
              </a:rPr>
              <a:t> </a:t>
            </a:r>
            <a:r>
              <a:rPr sz="2800" spc="-5" dirty="0">
                <a:latin typeface="Calibri"/>
                <a:cs typeface="Calibri"/>
              </a:rPr>
              <a:t>conducting</a:t>
            </a:r>
            <a:r>
              <a:rPr sz="2800" spc="15" dirty="0">
                <a:latin typeface="Calibri"/>
                <a:cs typeface="Calibri"/>
              </a:rPr>
              <a:t> </a:t>
            </a:r>
            <a:r>
              <a:rPr sz="2800" spc="-5" dirty="0">
                <a:latin typeface="Calibri"/>
                <a:cs typeface="Calibri"/>
              </a:rPr>
              <a:t>medium.</a:t>
            </a:r>
            <a:endParaRPr sz="2800">
              <a:latin typeface="Calibri"/>
              <a:cs typeface="Calibri"/>
            </a:endParaRPr>
          </a:p>
          <a:p>
            <a:pPr>
              <a:lnSpc>
                <a:spcPct val="100000"/>
              </a:lnSpc>
              <a:spcBef>
                <a:spcPts val="10"/>
              </a:spcBef>
              <a:buClr>
                <a:srgbClr val="9BB957"/>
              </a:buClr>
              <a:buFont typeface="Segoe UI Symbol"/>
              <a:buChar char="⚫"/>
            </a:pPr>
            <a:endParaRPr sz="3850">
              <a:latin typeface="Calibri"/>
              <a:cs typeface="Calibri"/>
            </a:endParaRPr>
          </a:p>
          <a:p>
            <a:pPr marL="287020" marR="891540" indent="-274955">
              <a:lnSpc>
                <a:spcPct val="100000"/>
              </a:lnSpc>
              <a:buClr>
                <a:srgbClr val="9BB957"/>
              </a:buClr>
              <a:buFont typeface="Segoe UI Symbol"/>
              <a:buChar char="⚫"/>
              <a:tabLst>
                <a:tab pos="287655" algn="l"/>
              </a:tabLst>
            </a:pPr>
            <a:r>
              <a:rPr sz="2800" dirty="0">
                <a:latin typeface="Calibri"/>
                <a:cs typeface="Calibri"/>
              </a:rPr>
              <a:t>Half</a:t>
            </a:r>
            <a:r>
              <a:rPr sz="2800" spc="-55" dirty="0">
                <a:latin typeface="Calibri"/>
                <a:cs typeface="Calibri"/>
              </a:rPr>
              <a:t> </a:t>
            </a:r>
            <a:r>
              <a:rPr sz="2800" dirty="0">
                <a:latin typeface="Calibri"/>
                <a:cs typeface="Calibri"/>
              </a:rPr>
              <a:t>Cell</a:t>
            </a:r>
            <a:r>
              <a:rPr sz="2800" spc="-35" dirty="0">
                <a:latin typeface="Calibri"/>
                <a:cs typeface="Calibri"/>
              </a:rPr>
              <a:t> </a:t>
            </a:r>
            <a:r>
              <a:rPr sz="2800" dirty="0">
                <a:latin typeface="Calibri"/>
                <a:cs typeface="Calibri"/>
              </a:rPr>
              <a:t>:</a:t>
            </a:r>
            <a:r>
              <a:rPr sz="2800" spc="-45" dirty="0">
                <a:latin typeface="Calibri"/>
                <a:cs typeface="Calibri"/>
              </a:rPr>
              <a:t> </a:t>
            </a:r>
            <a:r>
              <a:rPr sz="2800" spc="5" dirty="0">
                <a:latin typeface="Calibri"/>
                <a:cs typeface="Calibri"/>
              </a:rPr>
              <a:t>An</a:t>
            </a:r>
            <a:r>
              <a:rPr sz="2800" spc="-50" dirty="0">
                <a:latin typeface="Calibri"/>
                <a:cs typeface="Calibri"/>
              </a:rPr>
              <a:t> </a:t>
            </a:r>
            <a:r>
              <a:rPr sz="2800" spc="-5" dirty="0">
                <a:latin typeface="Calibri"/>
                <a:cs typeface="Calibri"/>
              </a:rPr>
              <a:t>electrode</a:t>
            </a:r>
            <a:r>
              <a:rPr sz="2800" spc="-40" dirty="0">
                <a:latin typeface="Calibri"/>
                <a:cs typeface="Calibri"/>
              </a:rPr>
              <a:t> </a:t>
            </a:r>
            <a:r>
              <a:rPr sz="2800" dirty="0">
                <a:latin typeface="Calibri"/>
                <a:cs typeface="Calibri"/>
              </a:rPr>
              <a:t>in</a:t>
            </a:r>
            <a:r>
              <a:rPr sz="2800" spc="-45" dirty="0">
                <a:latin typeface="Calibri"/>
                <a:cs typeface="Calibri"/>
              </a:rPr>
              <a:t> </a:t>
            </a:r>
            <a:r>
              <a:rPr sz="2800" spc="-5" dirty="0">
                <a:latin typeface="Calibri"/>
                <a:cs typeface="Calibri"/>
              </a:rPr>
              <a:t>contact</a:t>
            </a:r>
            <a:r>
              <a:rPr sz="2800" spc="-40" dirty="0">
                <a:latin typeface="Calibri"/>
                <a:cs typeface="Calibri"/>
              </a:rPr>
              <a:t> </a:t>
            </a:r>
            <a:r>
              <a:rPr sz="2800" dirty="0">
                <a:latin typeface="Calibri"/>
                <a:cs typeface="Calibri"/>
              </a:rPr>
              <a:t>with</a:t>
            </a:r>
            <a:r>
              <a:rPr sz="2800" spc="-40" dirty="0">
                <a:latin typeface="Calibri"/>
                <a:cs typeface="Calibri"/>
              </a:rPr>
              <a:t> </a:t>
            </a:r>
            <a:r>
              <a:rPr sz="2800" dirty="0">
                <a:latin typeface="Calibri"/>
                <a:cs typeface="Calibri"/>
              </a:rPr>
              <a:t>aqueous </a:t>
            </a:r>
            <a:r>
              <a:rPr sz="2800" spc="-620" dirty="0">
                <a:latin typeface="Calibri"/>
                <a:cs typeface="Calibri"/>
              </a:rPr>
              <a:t> </a:t>
            </a:r>
            <a:r>
              <a:rPr sz="2800" spc="-5" dirty="0">
                <a:latin typeface="Calibri"/>
                <a:cs typeface="Calibri"/>
              </a:rPr>
              <a:t>conducting</a:t>
            </a:r>
            <a:r>
              <a:rPr sz="2800" spc="10" dirty="0">
                <a:latin typeface="Calibri"/>
                <a:cs typeface="Calibri"/>
              </a:rPr>
              <a:t> </a:t>
            </a:r>
            <a:r>
              <a:rPr sz="2800" spc="-5" dirty="0">
                <a:latin typeface="Calibri"/>
                <a:cs typeface="Calibri"/>
              </a:rPr>
              <a:t>medium</a:t>
            </a:r>
            <a:r>
              <a:rPr sz="2800" spc="20" dirty="0">
                <a:latin typeface="Calibri"/>
                <a:cs typeface="Calibri"/>
              </a:rPr>
              <a:t> </a:t>
            </a:r>
            <a:r>
              <a:rPr sz="2800" dirty="0">
                <a:latin typeface="Calibri"/>
                <a:cs typeface="Calibri"/>
              </a:rPr>
              <a:t>is</a:t>
            </a:r>
            <a:r>
              <a:rPr sz="2800" spc="-5" dirty="0">
                <a:latin typeface="Calibri"/>
                <a:cs typeface="Calibri"/>
              </a:rPr>
              <a:t> </a:t>
            </a:r>
            <a:r>
              <a:rPr sz="2800" dirty="0">
                <a:latin typeface="Calibri"/>
                <a:cs typeface="Calibri"/>
              </a:rPr>
              <a:t>known</a:t>
            </a:r>
            <a:r>
              <a:rPr sz="2800" spc="-25" dirty="0">
                <a:latin typeface="Calibri"/>
                <a:cs typeface="Calibri"/>
              </a:rPr>
              <a:t> </a:t>
            </a:r>
            <a:r>
              <a:rPr sz="2800" spc="5" dirty="0">
                <a:latin typeface="Calibri"/>
                <a:cs typeface="Calibri"/>
              </a:rPr>
              <a:t>a</a:t>
            </a:r>
            <a:r>
              <a:rPr sz="2800" spc="-40" dirty="0">
                <a:latin typeface="Calibri"/>
                <a:cs typeface="Calibri"/>
              </a:rPr>
              <a:t> </a:t>
            </a:r>
            <a:r>
              <a:rPr sz="2800" dirty="0">
                <a:latin typeface="Calibri"/>
                <a:cs typeface="Calibri"/>
              </a:rPr>
              <a:t>half</a:t>
            </a:r>
            <a:r>
              <a:rPr sz="2800" spc="-5" dirty="0">
                <a:latin typeface="Calibri"/>
                <a:cs typeface="Calibri"/>
              </a:rPr>
              <a:t> </a:t>
            </a:r>
            <a:r>
              <a:rPr sz="2800" dirty="0">
                <a:latin typeface="Calibri"/>
                <a:cs typeface="Calibri"/>
              </a:rPr>
              <a:t>cell.</a:t>
            </a:r>
            <a:endParaRPr sz="28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286000" y="3294379"/>
            <a:ext cx="838200" cy="117475"/>
          </a:xfrm>
          <a:custGeom>
            <a:avLst/>
            <a:gdLst/>
            <a:ahLst/>
            <a:cxnLst/>
            <a:rect l="l" t="t" r="r" b="b"/>
            <a:pathLst>
              <a:path w="838200" h="117475">
                <a:moveTo>
                  <a:pt x="788035" y="59055"/>
                </a:moveTo>
                <a:lnTo>
                  <a:pt x="765810" y="71755"/>
                </a:lnTo>
                <a:lnTo>
                  <a:pt x="724535" y="95885"/>
                </a:lnTo>
                <a:lnTo>
                  <a:pt x="721994" y="103505"/>
                </a:lnTo>
                <a:lnTo>
                  <a:pt x="729614" y="115570"/>
                </a:lnTo>
                <a:lnTo>
                  <a:pt x="737235" y="117475"/>
                </a:lnTo>
                <a:lnTo>
                  <a:pt x="816610" y="71755"/>
                </a:lnTo>
                <a:lnTo>
                  <a:pt x="812800" y="71755"/>
                </a:lnTo>
                <a:lnTo>
                  <a:pt x="812800" y="69850"/>
                </a:lnTo>
                <a:lnTo>
                  <a:pt x="806450" y="69850"/>
                </a:lnTo>
                <a:lnTo>
                  <a:pt x="788035" y="59055"/>
                </a:lnTo>
                <a:close/>
              </a:path>
              <a:path w="838200" h="117475">
                <a:moveTo>
                  <a:pt x="0" y="44450"/>
                </a:moveTo>
                <a:lnTo>
                  <a:pt x="0" y="69850"/>
                </a:lnTo>
                <a:lnTo>
                  <a:pt x="765810" y="71755"/>
                </a:lnTo>
                <a:lnTo>
                  <a:pt x="788035" y="59055"/>
                </a:lnTo>
                <a:lnTo>
                  <a:pt x="765810" y="46355"/>
                </a:lnTo>
                <a:lnTo>
                  <a:pt x="0" y="44450"/>
                </a:lnTo>
                <a:close/>
              </a:path>
              <a:path w="838200" h="117475">
                <a:moveTo>
                  <a:pt x="816696" y="46355"/>
                </a:moveTo>
                <a:lnTo>
                  <a:pt x="812800" y="46355"/>
                </a:lnTo>
                <a:lnTo>
                  <a:pt x="812800" y="71755"/>
                </a:lnTo>
                <a:lnTo>
                  <a:pt x="816610" y="71755"/>
                </a:lnTo>
                <a:lnTo>
                  <a:pt x="838200" y="59055"/>
                </a:lnTo>
                <a:lnTo>
                  <a:pt x="816696" y="46355"/>
                </a:lnTo>
                <a:close/>
              </a:path>
              <a:path w="838200" h="117475">
                <a:moveTo>
                  <a:pt x="806450" y="48260"/>
                </a:moveTo>
                <a:lnTo>
                  <a:pt x="788035" y="59055"/>
                </a:lnTo>
                <a:lnTo>
                  <a:pt x="806450" y="69850"/>
                </a:lnTo>
                <a:lnTo>
                  <a:pt x="806450" y="48260"/>
                </a:lnTo>
                <a:close/>
              </a:path>
              <a:path w="838200" h="117475">
                <a:moveTo>
                  <a:pt x="812800" y="48260"/>
                </a:moveTo>
                <a:lnTo>
                  <a:pt x="806450" y="48260"/>
                </a:lnTo>
                <a:lnTo>
                  <a:pt x="806450" y="69850"/>
                </a:lnTo>
                <a:lnTo>
                  <a:pt x="812800" y="69850"/>
                </a:lnTo>
                <a:lnTo>
                  <a:pt x="812800" y="48260"/>
                </a:lnTo>
                <a:close/>
              </a:path>
              <a:path w="838200" h="117475">
                <a:moveTo>
                  <a:pt x="737235" y="0"/>
                </a:moveTo>
                <a:lnTo>
                  <a:pt x="729614" y="1905"/>
                </a:lnTo>
                <a:lnTo>
                  <a:pt x="725805" y="7620"/>
                </a:lnTo>
                <a:lnTo>
                  <a:pt x="722630" y="13970"/>
                </a:lnTo>
                <a:lnTo>
                  <a:pt x="724535" y="21590"/>
                </a:lnTo>
                <a:lnTo>
                  <a:pt x="765810" y="46355"/>
                </a:lnTo>
                <a:lnTo>
                  <a:pt x="788035" y="59055"/>
                </a:lnTo>
                <a:lnTo>
                  <a:pt x="806450" y="48260"/>
                </a:lnTo>
                <a:lnTo>
                  <a:pt x="812800" y="48260"/>
                </a:lnTo>
                <a:lnTo>
                  <a:pt x="812800" y="46355"/>
                </a:lnTo>
                <a:lnTo>
                  <a:pt x="816696" y="46355"/>
                </a:lnTo>
                <a:lnTo>
                  <a:pt x="743585" y="3175"/>
                </a:lnTo>
                <a:lnTo>
                  <a:pt x="737235" y="0"/>
                </a:lnTo>
                <a:close/>
              </a:path>
            </a:pathLst>
          </a:custGeom>
          <a:solidFill>
            <a:srgbClr val="000000"/>
          </a:solidFill>
        </p:spPr>
        <p:txBody>
          <a:bodyPr wrap="square" lIns="0" tIns="0" rIns="0" bIns="0" rtlCol="0"/>
          <a:lstStyle/>
          <a:p>
            <a:endParaRPr/>
          </a:p>
        </p:txBody>
      </p:sp>
      <p:sp>
        <p:nvSpPr>
          <p:cNvPr id="3" name="object 3"/>
          <p:cNvSpPr/>
          <p:nvPr/>
        </p:nvSpPr>
        <p:spPr>
          <a:xfrm>
            <a:off x="2438400" y="5350509"/>
            <a:ext cx="838200" cy="118110"/>
          </a:xfrm>
          <a:custGeom>
            <a:avLst/>
            <a:gdLst/>
            <a:ahLst/>
            <a:cxnLst/>
            <a:rect l="l" t="t" r="r" b="b"/>
            <a:pathLst>
              <a:path w="838200" h="118110">
                <a:moveTo>
                  <a:pt x="788035" y="59054"/>
                </a:moveTo>
                <a:lnTo>
                  <a:pt x="765810" y="71754"/>
                </a:lnTo>
                <a:lnTo>
                  <a:pt x="724535" y="95884"/>
                </a:lnTo>
                <a:lnTo>
                  <a:pt x="721994" y="103504"/>
                </a:lnTo>
                <a:lnTo>
                  <a:pt x="729614" y="116204"/>
                </a:lnTo>
                <a:lnTo>
                  <a:pt x="737235" y="118109"/>
                </a:lnTo>
                <a:lnTo>
                  <a:pt x="816610" y="71754"/>
                </a:lnTo>
                <a:lnTo>
                  <a:pt x="812800" y="71754"/>
                </a:lnTo>
                <a:lnTo>
                  <a:pt x="812800" y="69849"/>
                </a:lnTo>
                <a:lnTo>
                  <a:pt x="806450" y="69849"/>
                </a:lnTo>
                <a:lnTo>
                  <a:pt x="788035" y="59054"/>
                </a:lnTo>
                <a:close/>
              </a:path>
              <a:path w="838200" h="118110">
                <a:moveTo>
                  <a:pt x="0" y="45084"/>
                </a:moveTo>
                <a:lnTo>
                  <a:pt x="0" y="70484"/>
                </a:lnTo>
                <a:lnTo>
                  <a:pt x="765810" y="71754"/>
                </a:lnTo>
                <a:lnTo>
                  <a:pt x="788035" y="59054"/>
                </a:lnTo>
                <a:lnTo>
                  <a:pt x="765810" y="46354"/>
                </a:lnTo>
                <a:lnTo>
                  <a:pt x="0" y="45084"/>
                </a:lnTo>
                <a:close/>
              </a:path>
              <a:path w="838200" h="118110">
                <a:moveTo>
                  <a:pt x="816449" y="46354"/>
                </a:moveTo>
                <a:lnTo>
                  <a:pt x="812800" y="46354"/>
                </a:lnTo>
                <a:lnTo>
                  <a:pt x="812800" y="71754"/>
                </a:lnTo>
                <a:lnTo>
                  <a:pt x="816610" y="71754"/>
                </a:lnTo>
                <a:lnTo>
                  <a:pt x="838200" y="59054"/>
                </a:lnTo>
                <a:lnTo>
                  <a:pt x="816449" y="46354"/>
                </a:lnTo>
                <a:close/>
              </a:path>
              <a:path w="838200" h="118110">
                <a:moveTo>
                  <a:pt x="806450" y="48259"/>
                </a:moveTo>
                <a:lnTo>
                  <a:pt x="788035" y="59054"/>
                </a:lnTo>
                <a:lnTo>
                  <a:pt x="806450" y="69849"/>
                </a:lnTo>
                <a:lnTo>
                  <a:pt x="806450" y="48259"/>
                </a:lnTo>
                <a:close/>
              </a:path>
              <a:path w="838200" h="118110">
                <a:moveTo>
                  <a:pt x="812800" y="48259"/>
                </a:moveTo>
                <a:lnTo>
                  <a:pt x="806450" y="48259"/>
                </a:lnTo>
                <a:lnTo>
                  <a:pt x="806450" y="69849"/>
                </a:lnTo>
                <a:lnTo>
                  <a:pt x="812800" y="69849"/>
                </a:lnTo>
                <a:lnTo>
                  <a:pt x="812800" y="48259"/>
                </a:lnTo>
                <a:close/>
              </a:path>
              <a:path w="838200" h="118110">
                <a:moveTo>
                  <a:pt x="737235" y="0"/>
                </a:moveTo>
                <a:lnTo>
                  <a:pt x="729614" y="1904"/>
                </a:lnTo>
                <a:lnTo>
                  <a:pt x="725805" y="8254"/>
                </a:lnTo>
                <a:lnTo>
                  <a:pt x="722630" y="13969"/>
                </a:lnTo>
                <a:lnTo>
                  <a:pt x="724535" y="22224"/>
                </a:lnTo>
                <a:lnTo>
                  <a:pt x="765810" y="46354"/>
                </a:lnTo>
                <a:lnTo>
                  <a:pt x="788035" y="59054"/>
                </a:lnTo>
                <a:lnTo>
                  <a:pt x="806450" y="48259"/>
                </a:lnTo>
                <a:lnTo>
                  <a:pt x="812800" y="48259"/>
                </a:lnTo>
                <a:lnTo>
                  <a:pt x="812800" y="46354"/>
                </a:lnTo>
                <a:lnTo>
                  <a:pt x="816449" y="46354"/>
                </a:lnTo>
                <a:lnTo>
                  <a:pt x="743585" y="3809"/>
                </a:lnTo>
                <a:lnTo>
                  <a:pt x="737235" y="0"/>
                </a:lnTo>
                <a:close/>
              </a:path>
            </a:pathLst>
          </a:custGeom>
          <a:solidFill>
            <a:srgbClr val="000000"/>
          </a:solidFill>
        </p:spPr>
        <p:txBody>
          <a:bodyPr wrap="square" lIns="0" tIns="0" rIns="0" bIns="0" rtlCol="0"/>
          <a:lstStyle/>
          <a:p>
            <a:endParaRPr/>
          </a:p>
        </p:txBody>
      </p:sp>
      <p:sp>
        <p:nvSpPr>
          <p:cNvPr id="4" name="object 4"/>
          <p:cNvSpPr txBox="1">
            <a:spLocks noGrp="1"/>
          </p:cNvSpPr>
          <p:nvPr>
            <p:ph type="title"/>
          </p:nvPr>
        </p:nvSpPr>
        <p:spPr>
          <a:xfrm>
            <a:off x="3060573" y="588086"/>
            <a:ext cx="3029585" cy="695325"/>
          </a:xfrm>
          <a:prstGeom prst="rect">
            <a:avLst/>
          </a:prstGeom>
        </p:spPr>
        <p:txBody>
          <a:bodyPr vert="horz" wrap="square" lIns="0" tIns="12065" rIns="0" bIns="0" rtlCol="0">
            <a:spAutoFit/>
          </a:bodyPr>
          <a:lstStyle/>
          <a:p>
            <a:pPr marL="12700">
              <a:lnSpc>
                <a:spcPct val="100000"/>
              </a:lnSpc>
              <a:spcBef>
                <a:spcPts val="95"/>
              </a:spcBef>
            </a:pPr>
            <a:r>
              <a:rPr sz="4400" spc="-10" dirty="0">
                <a:solidFill>
                  <a:srgbClr val="000000"/>
                </a:solidFill>
              </a:rPr>
              <a:t>Types</a:t>
            </a:r>
            <a:r>
              <a:rPr sz="4400" spc="-110" dirty="0">
                <a:solidFill>
                  <a:srgbClr val="000000"/>
                </a:solidFill>
              </a:rPr>
              <a:t> </a:t>
            </a:r>
            <a:r>
              <a:rPr sz="4400" dirty="0">
                <a:solidFill>
                  <a:srgbClr val="000000"/>
                </a:solidFill>
              </a:rPr>
              <a:t>of</a:t>
            </a:r>
            <a:r>
              <a:rPr sz="4400" spc="-85" dirty="0">
                <a:solidFill>
                  <a:srgbClr val="000000"/>
                </a:solidFill>
              </a:rPr>
              <a:t> </a:t>
            </a:r>
            <a:r>
              <a:rPr sz="4400" spc="-5" dirty="0">
                <a:solidFill>
                  <a:srgbClr val="000000"/>
                </a:solidFill>
              </a:rPr>
              <a:t>cells</a:t>
            </a:r>
            <a:endParaRPr sz="4400"/>
          </a:p>
        </p:txBody>
      </p:sp>
      <p:sp>
        <p:nvSpPr>
          <p:cNvPr id="5" name="object 5"/>
          <p:cNvSpPr txBox="1"/>
          <p:nvPr/>
        </p:nvSpPr>
        <p:spPr>
          <a:xfrm>
            <a:off x="460044" y="1513697"/>
            <a:ext cx="8211820" cy="4117975"/>
          </a:xfrm>
          <a:prstGeom prst="rect">
            <a:avLst/>
          </a:prstGeom>
        </p:spPr>
        <p:txBody>
          <a:bodyPr vert="horz" wrap="square" lIns="0" tIns="59054" rIns="0" bIns="0" rtlCol="0">
            <a:spAutoFit/>
          </a:bodyPr>
          <a:lstStyle/>
          <a:p>
            <a:pPr marL="353695" indent="-341630">
              <a:lnSpc>
                <a:spcPct val="100000"/>
              </a:lnSpc>
              <a:spcBef>
                <a:spcPts val="464"/>
              </a:spcBef>
              <a:buFont typeface="Microsoft Sans Serif"/>
              <a:buChar char="•"/>
              <a:tabLst>
                <a:tab pos="353695" algn="l"/>
                <a:tab pos="354330" algn="l"/>
              </a:tabLst>
            </a:pPr>
            <a:r>
              <a:rPr sz="3200" b="1" spc="-5" dirty="0">
                <a:latin typeface="Calibri"/>
                <a:cs typeface="Calibri"/>
              </a:rPr>
              <a:t>Voltaic</a:t>
            </a:r>
            <a:r>
              <a:rPr sz="3200" b="1" spc="-110" dirty="0">
                <a:latin typeface="Calibri"/>
                <a:cs typeface="Calibri"/>
              </a:rPr>
              <a:t> </a:t>
            </a:r>
            <a:r>
              <a:rPr sz="3200" b="1" spc="-10" dirty="0">
                <a:latin typeface="Calibri"/>
                <a:cs typeface="Calibri"/>
              </a:rPr>
              <a:t>(galvanic)</a:t>
            </a:r>
            <a:r>
              <a:rPr sz="3200" b="1" spc="-95" dirty="0">
                <a:latin typeface="Calibri"/>
                <a:cs typeface="Calibri"/>
              </a:rPr>
              <a:t> </a:t>
            </a:r>
            <a:r>
              <a:rPr sz="3200" b="1" spc="-5" dirty="0">
                <a:latin typeface="Calibri"/>
                <a:cs typeface="Calibri"/>
              </a:rPr>
              <a:t>cells:</a:t>
            </a:r>
            <a:endParaRPr sz="3200">
              <a:latin typeface="Calibri"/>
              <a:cs typeface="Calibri"/>
            </a:endParaRPr>
          </a:p>
          <a:p>
            <a:pPr marL="353695" marR="107950" indent="-341630">
              <a:lnSpc>
                <a:spcPts val="3429"/>
              </a:lnSpc>
              <a:spcBef>
                <a:spcPts val="815"/>
              </a:spcBef>
              <a:buFont typeface="Microsoft Sans Serif"/>
              <a:buChar char="•"/>
              <a:tabLst>
                <a:tab pos="927100" algn="l"/>
                <a:tab pos="927735" algn="l"/>
              </a:tabLst>
            </a:pPr>
            <a:r>
              <a:rPr dirty="0"/>
              <a:t>	</a:t>
            </a:r>
            <a:r>
              <a:rPr sz="3200" spc="-5" dirty="0">
                <a:latin typeface="Calibri"/>
                <a:cs typeface="Calibri"/>
              </a:rPr>
              <a:t>a</a:t>
            </a:r>
            <a:r>
              <a:rPr sz="3200" spc="-80" dirty="0">
                <a:latin typeface="Calibri"/>
                <a:cs typeface="Calibri"/>
              </a:rPr>
              <a:t> </a:t>
            </a:r>
            <a:r>
              <a:rPr sz="3200" spc="-5" dirty="0">
                <a:latin typeface="Calibri"/>
                <a:cs typeface="Calibri"/>
              </a:rPr>
              <a:t>spontaneous</a:t>
            </a:r>
            <a:r>
              <a:rPr sz="3200" spc="-80" dirty="0">
                <a:latin typeface="Calibri"/>
                <a:cs typeface="Calibri"/>
              </a:rPr>
              <a:t> </a:t>
            </a:r>
            <a:r>
              <a:rPr sz="3200" dirty="0">
                <a:latin typeface="Calibri"/>
                <a:cs typeface="Calibri"/>
              </a:rPr>
              <a:t>reaction</a:t>
            </a:r>
            <a:r>
              <a:rPr sz="3200" spc="-70" dirty="0">
                <a:latin typeface="Calibri"/>
                <a:cs typeface="Calibri"/>
              </a:rPr>
              <a:t> </a:t>
            </a:r>
            <a:r>
              <a:rPr sz="3200" spc="-5" dirty="0">
                <a:latin typeface="Calibri"/>
                <a:cs typeface="Calibri"/>
              </a:rPr>
              <a:t>generates</a:t>
            </a:r>
            <a:r>
              <a:rPr sz="3200" spc="-85" dirty="0">
                <a:latin typeface="Calibri"/>
                <a:cs typeface="Calibri"/>
              </a:rPr>
              <a:t> </a:t>
            </a:r>
            <a:r>
              <a:rPr sz="3200" spc="-5" dirty="0">
                <a:latin typeface="Calibri"/>
                <a:cs typeface="Calibri"/>
              </a:rPr>
              <a:t>electrical </a:t>
            </a:r>
            <a:r>
              <a:rPr sz="3200" spc="-710" dirty="0">
                <a:latin typeface="Calibri"/>
                <a:cs typeface="Calibri"/>
              </a:rPr>
              <a:t> </a:t>
            </a:r>
            <a:r>
              <a:rPr sz="3200" spc="-10" dirty="0">
                <a:latin typeface="Calibri"/>
                <a:cs typeface="Calibri"/>
              </a:rPr>
              <a:t>energy</a:t>
            </a:r>
            <a:endParaRPr sz="3200">
              <a:latin typeface="Calibri"/>
              <a:cs typeface="Calibri"/>
            </a:endParaRPr>
          </a:p>
          <a:p>
            <a:pPr marL="905510" indent="-893444">
              <a:lnSpc>
                <a:spcPct val="100000"/>
              </a:lnSpc>
              <a:spcBef>
                <a:spcPts val="390"/>
              </a:spcBef>
              <a:buFont typeface="Microsoft Sans Serif"/>
              <a:buChar char="•"/>
              <a:tabLst>
                <a:tab pos="905510" algn="l"/>
                <a:tab pos="906144" algn="l"/>
                <a:tab pos="3000375" algn="l"/>
              </a:tabLst>
            </a:pPr>
            <a:r>
              <a:rPr sz="3200" spc="-5" dirty="0">
                <a:latin typeface="Calibri"/>
                <a:cs typeface="Calibri"/>
              </a:rPr>
              <a:t>C.</a:t>
            </a:r>
            <a:r>
              <a:rPr sz="3200" spc="5" dirty="0">
                <a:latin typeface="Calibri"/>
                <a:cs typeface="Calibri"/>
              </a:rPr>
              <a:t> </a:t>
            </a:r>
            <a:r>
              <a:rPr sz="3200" spc="-5" dirty="0">
                <a:latin typeface="Calibri"/>
                <a:cs typeface="Calibri"/>
              </a:rPr>
              <a:t>E.	E.</a:t>
            </a:r>
            <a:r>
              <a:rPr sz="3200" spc="-35" dirty="0">
                <a:latin typeface="Calibri"/>
                <a:cs typeface="Calibri"/>
              </a:rPr>
              <a:t> </a:t>
            </a:r>
            <a:r>
              <a:rPr sz="3200" spc="-5" dirty="0">
                <a:latin typeface="Calibri"/>
                <a:cs typeface="Calibri"/>
              </a:rPr>
              <a:t>E.</a:t>
            </a:r>
            <a:endParaRPr sz="3200">
              <a:latin typeface="Calibri"/>
              <a:cs typeface="Calibri"/>
            </a:endParaRPr>
          </a:p>
          <a:p>
            <a:pPr marL="353695" indent="-341630">
              <a:lnSpc>
                <a:spcPct val="100000"/>
              </a:lnSpc>
              <a:spcBef>
                <a:spcPts val="390"/>
              </a:spcBef>
              <a:buFont typeface="Microsoft Sans Serif"/>
              <a:buChar char="•"/>
              <a:tabLst>
                <a:tab pos="353695" algn="l"/>
                <a:tab pos="354330" algn="l"/>
              </a:tabLst>
            </a:pPr>
            <a:r>
              <a:rPr sz="3200" b="1" spc="-5" dirty="0">
                <a:latin typeface="Calibri"/>
                <a:cs typeface="Calibri"/>
              </a:rPr>
              <a:t>Electrolytic</a:t>
            </a:r>
            <a:r>
              <a:rPr sz="3200" b="1" spc="-75" dirty="0">
                <a:latin typeface="Calibri"/>
                <a:cs typeface="Calibri"/>
              </a:rPr>
              <a:t> </a:t>
            </a:r>
            <a:r>
              <a:rPr sz="3200" b="1" spc="-5" dirty="0">
                <a:latin typeface="Calibri"/>
                <a:cs typeface="Calibri"/>
              </a:rPr>
              <a:t>cells:</a:t>
            </a:r>
            <a:endParaRPr sz="3200">
              <a:latin typeface="Calibri"/>
              <a:cs typeface="Calibri"/>
            </a:endParaRPr>
          </a:p>
          <a:p>
            <a:pPr marL="353695" marR="5080" indent="-341630">
              <a:lnSpc>
                <a:spcPts val="3429"/>
              </a:lnSpc>
              <a:spcBef>
                <a:spcPts val="815"/>
              </a:spcBef>
              <a:buFont typeface="Microsoft Sans Serif"/>
              <a:buChar char="•"/>
              <a:tabLst>
                <a:tab pos="927100" algn="l"/>
                <a:tab pos="927735" algn="l"/>
              </a:tabLst>
            </a:pPr>
            <a:r>
              <a:rPr dirty="0"/>
              <a:t>	</a:t>
            </a:r>
            <a:r>
              <a:rPr sz="3200" spc="-5" dirty="0">
                <a:latin typeface="Calibri"/>
                <a:cs typeface="Calibri"/>
              </a:rPr>
              <a:t>absorb</a:t>
            </a:r>
            <a:r>
              <a:rPr sz="3200" spc="-60" dirty="0">
                <a:latin typeface="Calibri"/>
                <a:cs typeface="Calibri"/>
              </a:rPr>
              <a:t> </a:t>
            </a:r>
            <a:r>
              <a:rPr sz="3200" spc="-5" dirty="0">
                <a:latin typeface="Calibri"/>
                <a:cs typeface="Calibri"/>
              </a:rPr>
              <a:t>free</a:t>
            </a:r>
            <a:r>
              <a:rPr sz="3200" spc="-70" dirty="0">
                <a:latin typeface="Calibri"/>
                <a:cs typeface="Calibri"/>
              </a:rPr>
              <a:t> </a:t>
            </a:r>
            <a:r>
              <a:rPr sz="3200" spc="-5" dirty="0">
                <a:latin typeface="Calibri"/>
                <a:cs typeface="Calibri"/>
              </a:rPr>
              <a:t>energy</a:t>
            </a:r>
            <a:r>
              <a:rPr sz="3200" spc="-20" dirty="0">
                <a:latin typeface="Calibri"/>
                <a:cs typeface="Calibri"/>
              </a:rPr>
              <a:t> </a:t>
            </a:r>
            <a:r>
              <a:rPr sz="3200" spc="-10" dirty="0">
                <a:latin typeface="Calibri"/>
                <a:cs typeface="Calibri"/>
              </a:rPr>
              <a:t>from</a:t>
            </a:r>
            <a:r>
              <a:rPr sz="3200" spc="-55" dirty="0">
                <a:latin typeface="Calibri"/>
                <a:cs typeface="Calibri"/>
              </a:rPr>
              <a:t> </a:t>
            </a:r>
            <a:r>
              <a:rPr sz="3200" spc="-5" dirty="0">
                <a:latin typeface="Calibri"/>
                <a:cs typeface="Calibri"/>
              </a:rPr>
              <a:t>an</a:t>
            </a:r>
            <a:r>
              <a:rPr sz="3200" spc="-20" dirty="0">
                <a:latin typeface="Calibri"/>
                <a:cs typeface="Calibri"/>
              </a:rPr>
              <a:t> </a:t>
            </a:r>
            <a:r>
              <a:rPr sz="3200" spc="-5" dirty="0">
                <a:latin typeface="Calibri"/>
                <a:cs typeface="Calibri"/>
              </a:rPr>
              <a:t>electrical </a:t>
            </a:r>
            <a:r>
              <a:rPr sz="3200" spc="-10" dirty="0">
                <a:latin typeface="Calibri"/>
                <a:cs typeface="Calibri"/>
              </a:rPr>
              <a:t>source </a:t>
            </a:r>
            <a:r>
              <a:rPr sz="3200" spc="-710" dirty="0">
                <a:latin typeface="Calibri"/>
                <a:cs typeface="Calibri"/>
              </a:rPr>
              <a:t> </a:t>
            </a:r>
            <a:r>
              <a:rPr sz="3200" dirty="0">
                <a:latin typeface="Calibri"/>
                <a:cs typeface="Calibri"/>
              </a:rPr>
              <a:t>to</a:t>
            </a:r>
            <a:r>
              <a:rPr sz="3200" spc="-40" dirty="0">
                <a:latin typeface="Calibri"/>
                <a:cs typeface="Calibri"/>
              </a:rPr>
              <a:t> </a:t>
            </a:r>
            <a:r>
              <a:rPr sz="3200" spc="-10" dirty="0">
                <a:latin typeface="Calibri"/>
                <a:cs typeface="Calibri"/>
              </a:rPr>
              <a:t>drive</a:t>
            </a:r>
            <a:r>
              <a:rPr sz="3200" spc="-5" dirty="0">
                <a:latin typeface="Calibri"/>
                <a:cs typeface="Calibri"/>
              </a:rPr>
              <a:t> a</a:t>
            </a:r>
            <a:r>
              <a:rPr sz="3200" dirty="0">
                <a:latin typeface="Calibri"/>
                <a:cs typeface="Calibri"/>
              </a:rPr>
              <a:t> </a:t>
            </a:r>
            <a:r>
              <a:rPr sz="3200" spc="-10" dirty="0">
                <a:latin typeface="Calibri"/>
                <a:cs typeface="Calibri"/>
              </a:rPr>
              <a:t>non</a:t>
            </a:r>
            <a:r>
              <a:rPr sz="3200" spc="20" dirty="0">
                <a:latin typeface="Calibri"/>
                <a:cs typeface="Calibri"/>
              </a:rPr>
              <a:t> </a:t>
            </a:r>
            <a:r>
              <a:rPr sz="3200" spc="-5" dirty="0">
                <a:latin typeface="Calibri"/>
                <a:cs typeface="Calibri"/>
              </a:rPr>
              <a:t>spontaneous reaction</a:t>
            </a:r>
            <a:endParaRPr sz="3200">
              <a:latin typeface="Calibri"/>
              <a:cs typeface="Calibri"/>
            </a:endParaRPr>
          </a:p>
          <a:p>
            <a:pPr marL="1000125" indent="-988060">
              <a:lnSpc>
                <a:spcPct val="100000"/>
              </a:lnSpc>
              <a:spcBef>
                <a:spcPts val="370"/>
              </a:spcBef>
              <a:buFont typeface="Microsoft Sans Serif"/>
              <a:buChar char="•"/>
              <a:tabLst>
                <a:tab pos="1000125" algn="l"/>
                <a:tab pos="1000760" algn="l"/>
                <a:tab pos="3076575" algn="l"/>
              </a:tabLst>
            </a:pPr>
            <a:r>
              <a:rPr sz="3200" spc="-5" dirty="0">
                <a:latin typeface="Calibri"/>
                <a:cs typeface="Calibri"/>
              </a:rPr>
              <a:t>E.</a:t>
            </a:r>
            <a:r>
              <a:rPr sz="3200" spc="15" dirty="0">
                <a:latin typeface="Calibri"/>
                <a:cs typeface="Calibri"/>
              </a:rPr>
              <a:t> </a:t>
            </a:r>
            <a:r>
              <a:rPr sz="3200" spc="-5" dirty="0">
                <a:latin typeface="Calibri"/>
                <a:cs typeface="Calibri"/>
              </a:rPr>
              <a:t>E.	C.</a:t>
            </a:r>
            <a:r>
              <a:rPr sz="3200" spc="-30" dirty="0">
                <a:latin typeface="Calibri"/>
                <a:cs typeface="Calibri"/>
              </a:rPr>
              <a:t> </a:t>
            </a:r>
            <a:r>
              <a:rPr sz="3200" spc="-5" dirty="0">
                <a:latin typeface="Calibri"/>
                <a:cs typeface="Calibri"/>
              </a:rPr>
              <a:t>E.</a:t>
            </a:r>
            <a:endParaRPr sz="320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616000" y="4223334"/>
          <a:ext cx="7991474" cy="1817494"/>
        </p:xfrm>
        <a:graphic>
          <a:graphicData uri="http://schemas.openxmlformats.org/drawingml/2006/table">
            <a:tbl>
              <a:tblPr firstRow="1" bandRow="1">
                <a:tableStyleId>{2D5ABB26-0587-4C30-8999-92F81FD0307C}</a:tableStyleId>
              </a:tblPr>
              <a:tblGrid>
                <a:gridCol w="1594485"/>
                <a:gridCol w="1600835"/>
                <a:gridCol w="1600834"/>
                <a:gridCol w="1600835"/>
                <a:gridCol w="1594485"/>
              </a:tblGrid>
              <a:tr h="359968">
                <a:tc>
                  <a:txBody>
                    <a:bodyPr/>
                    <a:lstStyle/>
                    <a:p>
                      <a:pPr>
                        <a:lnSpc>
                          <a:spcPct val="100000"/>
                        </a:lnSpc>
                      </a:pPr>
                      <a:endParaRPr sz="1800">
                        <a:latin typeface="Times New Roman"/>
                        <a:cs typeface="Times New Roman"/>
                      </a:endParaRPr>
                    </a:p>
                  </a:txBody>
                  <a:tcPr marL="0" marR="0" marT="0" marB="0">
                    <a:lnR w="12700">
                      <a:solidFill>
                        <a:srgbClr val="FFFFFF"/>
                      </a:solidFill>
                      <a:prstDash val="solid"/>
                    </a:lnR>
                    <a:lnB w="38100">
                      <a:solidFill>
                        <a:srgbClr val="FFFFFF"/>
                      </a:solidFill>
                      <a:prstDash val="solid"/>
                    </a:lnB>
                    <a:solidFill>
                      <a:srgbClr val="4F81BB"/>
                    </a:solidFill>
                  </a:tcPr>
                </a:tc>
                <a:tc gridSpan="2">
                  <a:txBody>
                    <a:bodyPr/>
                    <a:lstStyle/>
                    <a:p>
                      <a:pPr marL="97155">
                        <a:lnSpc>
                          <a:spcPct val="100000"/>
                        </a:lnSpc>
                        <a:spcBef>
                          <a:spcPts val="195"/>
                        </a:spcBef>
                      </a:pPr>
                      <a:r>
                        <a:rPr sz="1800" b="1" spc="5" dirty="0">
                          <a:solidFill>
                            <a:srgbClr val="FFFFFF"/>
                          </a:solidFill>
                          <a:latin typeface="Calibri"/>
                          <a:cs typeface="Calibri"/>
                        </a:rPr>
                        <a:t>E</a:t>
                      </a:r>
                      <a:r>
                        <a:rPr sz="1800" b="1" spc="-15" dirty="0">
                          <a:solidFill>
                            <a:srgbClr val="FFFFFF"/>
                          </a:solidFill>
                          <a:latin typeface="Calibri"/>
                          <a:cs typeface="Calibri"/>
                        </a:rPr>
                        <a:t>l</a:t>
                      </a:r>
                      <a:r>
                        <a:rPr sz="1800" b="1" dirty="0">
                          <a:solidFill>
                            <a:srgbClr val="FFFFFF"/>
                          </a:solidFill>
                          <a:latin typeface="Calibri"/>
                          <a:cs typeface="Calibri"/>
                        </a:rPr>
                        <a:t>e</a:t>
                      </a:r>
                      <a:r>
                        <a:rPr sz="1800" b="1" spc="-10" dirty="0">
                          <a:solidFill>
                            <a:srgbClr val="FFFFFF"/>
                          </a:solidFill>
                          <a:latin typeface="Calibri"/>
                          <a:cs typeface="Calibri"/>
                        </a:rPr>
                        <a:t>c</a:t>
                      </a:r>
                      <a:r>
                        <a:rPr sz="1800" b="1" dirty="0">
                          <a:solidFill>
                            <a:srgbClr val="FFFFFF"/>
                          </a:solidFill>
                          <a:latin typeface="Calibri"/>
                          <a:cs typeface="Calibri"/>
                        </a:rPr>
                        <a:t>t</a:t>
                      </a:r>
                      <a:r>
                        <a:rPr sz="1800" b="1" spc="5" dirty="0">
                          <a:solidFill>
                            <a:srgbClr val="FFFFFF"/>
                          </a:solidFill>
                          <a:latin typeface="Calibri"/>
                          <a:cs typeface="Calibri"/>
                        </a:rPr>
                        <a:t>r</a:t>
                      </a:r>
                      <a:r>
                        <a:rPr sz="1800" b="1" spc="-10" dirty="0">
                          <a:solidFill>
                            <a:srgbClr val="FFFFFF"/>
                          </a:solidFill>
                          <a:latin typeface="Calibri"/>
                          <a:cs typeface="Calibri"/>
                        </a:rPr>
                        <a:t>o</a:t>
                      </a:r>
                      <a:r>
                        <a:rPr sz="1800" b="1" spc="-15" dirty="0">
                          <a:solidFill>
                            <a:srgbClr val="FFFFFF"/>
                          </a:solidFill>
                          <a:latin typeface="Calibri"/>
                          <a:cs typeface="Calibri"/>
                        </a:rPr>
                        <a:t>l</a:t>
                      </a:r>
                      <a:r>
                        <a:rPr sz="1800" b="1" spc="5" dirty="0">
                          <a:solidFill>
                            <a:srgbClr val="FFFFFF"/>
                          </a:solidFill>
                          <a:latin typeface="Calibri"/>
                          <a:cs typeface="Calibri"/>
                        </a:rPr>
                        <a:t>y</a:t>
                      </a:r>
                      <a:r>
                        <a:rPr sz="1800" b="1" dirty="0">
                          <a:solidFill>
                            <a:srgbClr val="FFFFFF"/>
                          </a:solidFill>
                          <a:latin typeface="Calibri"/>
                          <a:cs typeface="Calibri"/>
                        </a:rPr>
                        <a:t>t</a:t>
                      </a:r>
                      <a:r>
                        <a:rPr sz="1800" b="1" spc="-15" dirty="0">
                          <a:solidFill>
                            <a:srgbClr val="FFFFFF"/>
                          </a:solidFill>
                          <a:latin typeface="Calibri"/>
                          <a:cs typeface="Calibri"/>
                        </a:rPr>
                        <a:t>i</a:t>
                      </a:r>
                      <a:r>
                        <a:rPr sz="1800" b="1" dirty="0">
                          <a:solidFill>
                            <a:srgbClr val="FFFFFF"/>
                          </a:solidFill>
                          <a:latin typeface="Calibri"/>
                          <a:cs typeface="Calibri"/>
                        </a:rPr>
                        <a:t>c</a:t>
                      </a:r>
                      <a:r>
                        <a:rPr sz="1800" b="1" spc="-75" dirty="0">
                          <a:solidFill>
                            <a:srgbClr val="FFFFFF"/>
                          </a:solidFill>
                          <a:latin typeface="Calibri"/>
                          <a:cs typeface="Calibri"/>
                        </a:rPr>
                        <a:t> </a:t>
                      </a:r>
                      <a:r>
                        <a:rPr sz="1800" b="1" dirty="0">
                          <a:solidFill>
                            <a:srgbClr val="FFFFFF"/>
                          </a:solidFill>
                          <a:latin typeface="Calibri"/>
                          <a:cs typeface="Calibri"/>
                        </a:rPr>
                        <a:t>Ce</a:t>
                      </a:r>
                      <a:r>
                        <a:rPr sz="1800" b="1" spc="-15" dirty="0">
                          <a:solidFill>
                            <a:srgbClr val="FFFFFF"/>
                          </a:solidFill>
                          <a:latin typeface="Calibri"/>
                          <a:cs typeface="Calibri"/>
                        </a:rPr>
                        <a:t>l</a:t>
                      </a:r>
                      <a:r>
                        <a:rPr sz="1800" b="1" dirty="0">
                          <a:solidFill>
                            <a:srgbClr val="FFFFFF"/>
                          </a:solidFill>
                          <a:latin typeface="Calibri"/>
                          <a:cs typeface="Calibri"/>
                        </a:rPr>
                        <a:t>l</a:t>
                      </a:r>
                      <a:endParaRPr sz="1800">
                        <a:latin typeface="Calibri"/>
                        <a:cs typeface="Calibri"/>
                      </a:endParaRPr>
                    </a:p>
                  </a:txBody>
                  <a:tcPr marL="0" marR="0" marT="24765" marB="0">
                    <a:lnL w="12700">
                      <a:solidFill>
                        <a:srgbClr val="FFFFFF"/>
                      </a:solidFill>
                      <a:prstDash val="solid"/>
                    </a:lnL>
                    <a:lnR w="12700">
                      <a:solidFill>
                        <a:srgbClr val="FFFFFF"/>
                      </a:solidFill>
                      <a:prstDash val="solid"/>
                    </a:lnR>
                    <a:lnB w="38100">
                      <a:solidFill>
                        <a:srgbClr val="FFFFFF"/>
                      </a:solidFill>
                      <a:prstDash val="solid"/>
                    </a:lnB>
                    <a:solidFill>
                      <a:srgbClr val="4F81BB"/>
                    </a:solidFill>
                  </a:tcPr>
                </a:tc>
                <a:tc hMerge="1">
                  <a:txBody>
                    <a:bodyPr/>
                    <a:lstStyle/>
                    <a:p>
                      <a:endParaRPr/>
                    </a:p>
                  </a:txBody>
                  <a:tcPr marL="0" marR="0" marT="0" marB="0"/>
                </a:tc>
                <a:tc gridSpan="2">
                  <a:txBody>
                    <a:bodyPr/>
                    <a:lstStyle/>
                    <a:p>
                      <a:pPr marL="97155">
                        <a:lnSpc>
                          <a:spcPct val="100000"/>
                        </a:lnSpc>
                        <a:spcBef>
                          <a:spcPts val="195"/>
                        </a:spcBef>
                      </a:pPr>
                      <a:r>
                        <a:rPr sz="1800" b="1" spc="-5" dirty="0">
                          <a:solidFill>
                            <a:srgbClr val="FFFFFF"/>
                          </a:solidFill>
                          <a:latin typeface="Calibri"/>
                          <a:cs typeface="Calibri"/>
                        </a:rPr>
                        <a:t>Galvanic</a:t>
                      </a:r>
                      <a:r>
                        <a:rPr sz="1800" b="1" spc="-90" dirty="0">
                          <a:solidFill>
                            <a:srgbClr val="FFFFFF"/>
                          </a:solidFill>
                          <a:latin typeface="Calibri"/>
                          <a:cs typeface="Calibri"/>
                        </a:rPr>
                        <a:t> </a:t>
                      </a:r>
                      <a:r>
                        <a:rPr sz="1800" b="1" dirty="0">
                          <a:solidFill>
                            <a:srgbClr val="FFFFFF"/>
                          </a:solidFill>
                          <a:latin typeface="Calibri"/>
                          <a:cs typeface="Calibri"/>
                        </a:rPr>
                        <a:t>/</a:t>
                      </a:r>
                      <a:r>
                        <a:rPr sz="1800" b="1" spc="-45" dirty="0">
                          <a:solidFill>
                            <a:srgbClr val="FFFFFF"/>
                          </a:solidFill>
                          <a:latin typeface="Calibri"/>
                          <a:cs typeface="Calibri"/>
                        </a:rPr>
                        <a:t> </a:t>
                      </a:r>
                      <a:r>
                        <a:rPr sz="1800" b="1" spc="-5" dirty="0">
                          <a:solidFill>
                            <a:srgbClr val="FFFFFF"/>
                          </a:solidFill>
                          <a:latin typeface="Calibri"/>
                          <a:cs typeface="Calibri"/>
                        </a:rPr>
                        <a:t>Voltaic</a:t>
                      </a:r>
                      <a:r>
                        <a:rPr sz="1800" b="1" spc="-65" dirty="0">
                          <a:solidFill>
                            <a:srgbClr val="FFFFFF"/>
                          </a:solidFill>
                          <a:latin typeface="Calibri"/>
                          <a:cs typeface="Calibri"/>
                        </a:rPr>
                        <a:t> </a:t>
                      </a:r>
                      <a:r>
                        <a:rPr sz="1800" b="1" spc="-5" dirty="0">
                          <a:solidFill>
                            <a:srgbClr val="FFFFFF"/>
                          </a:solidFill>
                          <a:latin typeface="Calibri"/>
                          <a:cs typeface="Calibri"/>
                        </a:rPr>
                        <a:t>Cell</a:t>
                      </a:r>
                      <a:endParaRPr sz="1800">
                        <a:latin typeface="Calibri"/>
                        <a:cs typeface="Calibri"/>
                      </a:endParaRPr>
                    </a:p>
                  </a:txBody>
                  <a:tcPr marL="0" marR="0" marT="24765" marB="0">
                    <a:lnL w="12700">
                      <a:solidFill>
                        <a:srgbClr val="FFFFFF"/>
                      </a:solidFill>
                      <a:prstDash val="solid"/>
                    </a:lnL>
                    <a:lnB w="38100">
                      <a:solidFill>
                        <a:srgbClr val="FFFFFF"/>
                      </a:solidFill>
                      <a:prstDash val="solid"/>
                    </a:lnB>
                    <a:solidFill>
                      <a:srgbClr val="4F81BB"/>
                    </a:solidFill>
                  </a:tcPr>
                </a:tc>
                <a:tc hMerge="1">
                  <a:txBody>
                    <a:bodyPr/>
                    <a:lstStyle/>
                    <a:p>
                      <a:endParaRPr/>
                    </a:p>
                  </a:txBody>
                  <a:tcPr marL="0" marR="0" marT="0" marB="0"/>
                </a:tc>
              </a:tr>
              <a:tr h="366013">
                <a:tc>
                  <a:txBody>
                    <a:bodyPr/>
                    <a:lstStyle/>
                    <a:p>
                      <a:pPr>
                        <a:lnSpc>
                          <a:spcPct val="100000"/>
                        </a:lnSpc>
                      </a:pPr>
                      <a:endParaRPr sz="1800">
                        <a:latin typeface="Times New Roman"/>
                        <a:cs typeface="Times New Roman"/>
                      </a:endParaRPr>
                    </a:p>
                  </a:txBody>
                  <a:tcPr marL="0" marR="0" marT="0" marB="0">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tc>
                  <a:txBody>
                    <a:bodyPr/>
                    <a:lstStyle/>
                    <a:p>
                      <a:pPr marL="97155">
                        <a:lnSpc>
                          <a:spcPct val="100000"/>
                        </a:lnSpc>
                        <a:spcBef>
                          <a:spcPts val="260"/>
                        </a:spcBef>
                      </a:pPr>
                      <a:r>
                        <a:rPr sz="1800" spc="-10" dirty="0">
                          <a:latin typeface="Calibri"/>
                          <a:cs typeface="Calibri"/>
                        </a:rPr>
                        <a:t>Anode</a:t>
                      </a:r>
                      <a:endParaRPr sz="1800">
                        <a:latin typeface="Calibri"/>
                        <a:cs typeface="Calibri"/>
                      </a:endParaRPr>
                    </a:p>
                  </a:txBody>
                  <a:tcPr marL="0" marR="0" marT="330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tc>
                  <a:txBody>
                    <a:bodyPr/>
                    <a:lstStyle/>
                    <a:p>
                      <a:pPr marL="97155">
                        <a:lnSpc>
                          <a:spcPct val="100000"/>
                        </a:lnSpc>
                        <a:spcBef>
                          <a:spcPts val="260"/>
                        </a:spcBef>
                      </a:pPr>
                      <a:r>
                        <a:rPr sz="1800" spc="-5" dirty="0">
                          <a:latin typeface="Calibri"/>
                          <a:cs typeface="Calibri"/>
                        </a:rPr>
                        <a:t>Cathode</a:t>
                      </a:r>
                      <a:endParaRPr sz="1800">
                        <a:latin typeface="Calibri"/>
                        <a:cs typeface="Calibri"/>
                      </a:endParaRPr>
                    </a:p>
                  </a:txBody>
                  <a:tcPr marL="0" marR="0" marT="330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tc>
                  <a:txBody>
                    <a:bodyPr/>
                    <a:lstStyle/>
                    <a:p>
                      <a:pPr marL="97155">
                        <a:lnSpc>
                          <a:spcPct val="100000"/>
                        </a:lnSpc>
                        <a:spcBef>
                          <a:spcPts val="260"/>
                        </a:spcBef>
                      </a:pPr>
                      <a:r>
                        <a:rPr sz="1800" spc="-10" dirty="0">
                          <a:latin typeface="Calibri"/>
                          <a:cs typeface="Calibri"/>
                        </a:rPr>
                        <a:t>Anode</a:t>
                      </a:r>
                      <a:endParaRPr sz="1800">
                        <a:latin typeface="Calibri"/>
                        <a:cs typeface="Calibri"/>
                      </a:endParaRPr>
                    </a:p>
                  </a:txBody>
                  <a:tcPr marL="0" marR="0" marT="330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tc>
                  <a:txBody>
                    <a:bodyPr/>
                    <a:lstStyle/>
                    <a:p>
                      <a:pPr marL="97155">
                        <a:lnSpc>
                          <a:spcPct val="100000"/>
                        </a:lnSpc>
                        <a:spcBef>
                          <a:spcPts val="260"/>
                        </a:spcBef>
                      </a:pPr>
                      <a:r>
                        <a:rPr sz="1800" spc="-5" dirty="0">
                          <a:latin typeface="Calibri"/>
                          <a:cs typeface="Calibri"/>
                        </a:rPr>
                        <a:t>Cathode</a:t>
                      </a:r>
                      <a:endParaRPr sz="1800">
                        <a:latin typeface="Calibri"/>
                        <a:cs typeface="Calibri"/>
                      </a:endParaRPr>
                    </a:p>
                  </a:txBody>
                  <a:tcPr marL="0" marR="0" marT="33020" marB="0">
                    <a:lnL w="12700">
                      <a:solidFill>
                        <a:srgbClr val="FFFFFF"/>
                      </a:solidFill>
                      <a:prstDash val="solid"/>
                    </a:lnL>
                    <a:lnT w="38100">
                      <a:solidFill>
                        <a:srgbClr val="FFFFFF"/>
                      </a:solidFill>
                      <a:prstDash val="solid"/>
                    </a:lnT>
                    <a:lnB w="12700">
                      <a:solidFill>
                        <a:srgbClr val="FFFFFF"/>
                      </a:solidFill>
                      <a:prstDash val="solid"/>
                    </a:lnB>
                    <a:solidFill>
                      <a:srgbClr val="D0D6E8"/>
                    </a:solidFill>
                  </a:tcPr>
                </a:tc>
              </a:tr>
              <a:tr h="365772">
                <a:tc>
                  <a:txBody>
                    <a:bodyPr/>
                    <a:lstStyle/>
                    <a:p>
                      <a:pPr marL="91440">
                        <a:lnSpc>
                          <a:spcPct val="100000"/>
                        </a:lnSpc>
                        <a:spcBef>
                          <a:spcPts val="240"/>
                        </a:spcBef>
                      </a:pPr>
                      <a:r>
                        <a:rPr sz="1800" spc="-10" dirty="0">
                          <a:latin typeface="Calibri"/>
                          <a:cs typeface="Calibri"/>
                        </a:rPr>
                        <a:t>Sign</a:t>
                      </a:r>
                      <a:endParaRPr sz="1800">
                        <a:latin typeface="Calibri"/>
                        <a:cs typeface="Calibri"/>
                      </a:endParaRPr>
                    </a:p>
                  </a:txBody>
                  <a:tcPr marL="0" marR="0" marT="30480" marB="0">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97155">
                        <a:lnSpc>
                          <a:spcPct val="100000"/>
                        </a:lnSpc>
                        <a:spcBef>
                          <a:spcPts val="240"/>
                        </a:spcBef>
                      </a:pPr>
                      <a:r>
                        <a:rPr sz="1800" dirty="0">
                          <a:latin typeface="Calibri"/>
                          <a:cs typeface="Calibri"/>
                        </a:rPr>
                        <a:t>+</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97155">
                        <a:lnSpc>
                          <a:spcPct val="100000"/>
                        </a:lnSpc>
                        <a:spcBef>
                          <a:spcPts val="240"/>
                        </a:spcBef>
                      </a:pPr>
                      <a:r>
                        <a:rPr sz="1800" dirty="0">
                          <a:latin typeface="Calibri"/>
                          <a:cs typeface="Calibri"/>
                        </a:rPr>
                        <a:t>-</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97155">
                        <a:lnSpc>
                          <a:spcPct val="100000"/>
                        </a:lnSpc>
                        <a:spcBef>
                          <a:spcPts val="240"/>
                        </a:spcBef>
                      </a:pPr>
                      <a:r>
                        <a:rPr sz="1800" dirty="0">
                          <a:latin typeface="Calibri"/>
                          <a:cs typeface="Calibri"/>
                        </a:rPr>
                        <a:t>-</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97155">
                        <a:lnSpc>
                          <a:spcPct val="100000"/>
                        </a:lnSpc>
                        <a:spcBef>
                          <a:spcPts val="240"/>
                        </a:spcBef>
                      </a:pPr>
                      <a:r>
                        <a:rPr sz="1800" dirty="0">
                          <a:latin typeface="Calibri"/>
                          <a:cs typeface="Calibri"/>
                        </a:rPr>
                        <a:t>+</a:t>
                      </a:r>
                      <a:endParaRPr sz="1800">
                        <a:latin typeface="Calibri"/>
                        <a:cs typeface="Calibri"/>
                      </a:endParaRPr>
                    </a:p>
                  </a:txBody>
                  <a:tcPr marL="0" marR="0" marT="30480" marB="0">
                    <a:lnL w="12700">
                      <a:solidFill>
                        <a:srgbClr val="FFFFFF"/>
                      </a:solidFill>
                      <a:prstDash val="solid"/>
                    </a:lnL>
                    <a:lnT w="12700">
                      <a:solidFill>
                        <a:srgbClr val="FFFFFF"/>
                      </a:solidFill>
                      <a:prstDash val="solid"/>
                    </a:lnT>
                    <a:lnB w="12700">
                      <a:solidFill>
                        <a:srgbClr val="FFFFFF"/>
                      </a:solidFill>
                      <a:prstDash val="solid"/>
                    </a:lnB>
                    <a:solidFill>
                      <a:srgbClr val="E9EBF4"/>
                    </a:solidFill>
                  </a:tcPr>
                </a:tc>
              </a:tr>
              <a:tr h="366077">
                <a:tc>
                  <a:txBody>
                    <a:bodyPr/>
                    <a:lstStyle/>
                    <a:p>
                      <a:pPr marL="91440">
                        <a:lnSpc>
                          <a:spcPct val="100000"/>
                        </a:lnSpc>
                        <a:spcBef>
                          <a:spcPts val="240"/>
                        </a:spcBef>
                      </a:pPr>
                      <a:r>
                        <a:rPr sz="1800" spc="-5" dirty="0">
                          <a:latin typeface="Calibri"/>
                          <a:cs typeface="Calibri"/>
                        </a:rPr>
                        <a:t>Electron</a:t>
                      </a:r>
                      <a:r>
                        <a:rPr sz="1800" spc="-75" dirty="0">
                          <a:latin typeface="Calibri"/>
                          <a:cs typeface="Calibri"/>
                        </a:rPr>
                        <a:t> </a:t>
                      </a:r>
                      <a:r>
                        <a:rPr sz="1800" spc="-5" dirty="0">
                          <a:latin typeface="Calibri"/>
                          <a:cs typeface="Calibri"/>
                        </a:rPr>
                        <a:t>Flow</a:t>
                      </a:r>
                      <a:endParaRPr sz="1800">
                        <a:latin typeface="Calibri"/>
                        <a:cs typeface="Calibri"/>
                      </a:endParaRPr>
                    </a:p>
                  </a:txBody>
                  <a:tcPr marL="0" marR="0" marT="30480" marB="0">
                    <a:lnR w="12700">
                      <a:solidFill>
                        <a:srgbClr val="FFFFFF"/>
                      </a:solidFill>
                      <a:prstDash val="solid"/>
                    </a:lnR>
                    <a:lnT w="12700">
                      <a:solidFill>
                        <a:srgbClr val="FFFFFF"/>
                      </a:solidFill>
                      <a:prstDash val="solid"/>
                    </a:lnT>
                    <a:lnB w="12700">
                      <a:solidFill>
                        <a:srgbClr val="FFFFFF"/>
                      </a:solidFill>
                      <a:prstDash val="solid"/>
                    </a:lnB>
                    <a:solidFill>
                      <a:srgbClr val="D0D6E8"/>
                    </a:solidFill>
                  </a:tcPr>
                </a:tc>
                <a:tc>
                  <a:txBody>
                    <a:bodyPr/>
                    <a:lstStyle/>
                    <a:p>
                      <a:pPr marL="97155">
                        <a:lnSpc>
                          <a:spcPct val="100000"/>
                        </a:lnSpc>
                        <a:spcBef>
                          <a:spcPts val="240"/>
                        </a:spcBef>
                      </a:pPr>
                      <a:r>
                        <a:rPr sz="1800" spc="-5" dirty="0">
                          <a:latin typeface="Calibri"/>
                          <a:cs typeface="Calibri"/>
                        </a:rPr>
                        <a:t>Out</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6E8"/>
                    </a:solidFill>
                  </a:tcPr>
                </a:tc>
                <a:tc>
                  <a:txBody>
                    <a:bodyPr/>
                    <a:lstStyle/>
                    <a:p>
                      <a:pPr marL="97155">
                        <a:lnSpc>
                          <a:spcPct val="100000"/>
                        </a:lnSpc>
                        <a:spcBef>
                          <a:spcPts val="240"/>
                        </a:spcBef>
                      </a:pPr>
                      <a:r>
                        <a:rPr sz="1800" dirty="0">
                          <a:latin typeface="Calibri"/>
                          <a:cs typeface="Calibri"/>
                        </a:rPr>
                        <a:t>In</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6E8"/>
                    </a:solidFill>
                  </a:tcPr>
                </a:tc>
                <a:tc>
                  <a:txBody>
                    <a:bodyPr/>
                    <a:lstStyle/>
                    <a:p>
                      <a:pPr marL="97155">
                        <a:lnSpc>
                          <a:spcPct val="100000"/>
                        </a:lnSpc>
                        <a:spcBef>
                          <a:spcPts val="240"/>
                        </a:spcBef>
                      </a:pPr>
                      <a:r>
                        <a:rPr sz="1800" spc="-5" dirty="0">
                          <a:latin typeface="Calibri"/>
                          <a:cs typeface="Calibri"/>
                        </a:rPr>
                        <a:t>out</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6E8"/>
                    </a:solidFill>
                  </a:tcPr>
                </a:tc>
                <a:tc>
                  <a:txBody>
                    <a:bodyPr/>
                    <a:lstStyle/>
                    <a:p>
                      <a:pPr marL="97155">
                        <a:lnSpc>
                          <a:spcPct val="100000"/>
                        </a:lnSpc>
                        <a:spcBef>
                          <a:spcPts val="240"/>
                        </a:spcBef>
                      </a:pPr>
                      <a:r>
                        <a:rPr sz="1800" spc="-10" dirty="0">
                          <a:latin typeface="Calibri"/>
                          <a:cs typeface="Calibri"/>
                        </a:rPr>
                        <a:t>in</a:t>
                      </a:r>
                      <a:endParaRPr sz="1800">
                        <a:latin typeface="Calibri"/>
                        <a:cs typeface="Calibri"/>
                      </a:endParaRPr>
                    </a:p>
                  </a:txBody>
                  <a:tcPr marL="0" marR="0" marT="30480" marB="0">
                    <a:lnL w="12700">
                      <a:solidFill>
                        <a:srgbClr val="FFFFFF"/>
                      </a:solidFill>
                      <a:prstDash val="solid"/>
                    </a:lnL>
                    <a:lnT w="12700">
                      <a:solidFill>
                        <a:srgbClr val="FFFFFF"/>
                      </a:solidFill>
                      <a:prstDash val="solid"/>
                    </a:lnT>
                    <a:lnB w="12700">
                      <a:solidFill>
                        <a:srgbClr val="FFFFFF"/>
                      </a:solidFill>
                      <a:prstDash val="solid"/>
                    </a:lnB>
                    <a:solidFill>
                      <a:srgbClr val="D0D6E8"/>
                    </a:solidFill>
                  </a:tcPr>
                </a:tc>
              </a:tr>
              <a:tr h="359664">
                <a:tc>
                  <a:txBody>
                    <a:bodyPr/>
                    <a:lstStyle/>
                    <a:p>
                      <a:pPr marL="91440">
                        <a:lnSpc>
                          <a:spcPct val="100000"/>
                        </a:lnSpc>
                        <a:spcBef>
                          <a:spcPts val="240"/>
                        </a:spcBef>
                      </a:pPr>
                      <a:r>
                        <a:rPr sz="1800" dirty="0">
                          <a:latin typeface="Calibri"/>
                          <a:cs typeface="Calibri"/>
                        </a:rPr>
                        <a:t>Half</a:t>
                      </a:r>
                      <a:r>
                        <a:rPr sz="1800" spc="-75" dirty="0">
                          <a:latin typeface="Calibri"/>
                          <a:cs typeface="Calibri"/>
                        </a:rPr>
                        <a:t> </a:t>
                      </a:r>
                      <a:r>
                        <a:rPr sz="1800" spc="-5" dirty="0">
                          <a:latin typeface="Calibri"/>
                          <a:cs typeface="Calibri"/>
                        </a:rPr>
                        <a:t>Reaction</a:t>
                      </a:r>
                      <a:endParaRPr sz="1800">
                        <a:latin typeface="Calibri"/>
                        <a:cs typeface="Calibri"/>
                      </a:endParaRPr>
                    </a:p>
                  </a:txBody>
                  <a:tcPr marL="0" marR="0" marT="30480" marB="0">
                    <a:lnR w="12700">
                      <a:solidFill>
                        <a:srgbClr val="FFFFFF"/>
                      </a:solidFill>
                      <a:prstDash val="solid"/>
                    </a:lnR>
                    <a:lnT w="12700">
                      <a:solidFill>
                        <a:srgbClr val="FFFFFF"/>
                      </a:solidFill>
                      <a:prstDash val="solid"/>
                    </a:lnT>
                    <a:solidFill>
                      <a:srgbClr val="E9EBF4"/>
                    </a:solidFill>
                  </a:tcPr>
                </a:tc>
                <a:tc>
                  <a:txBody>
                    <a:bodyPr/>
                    <a:lstStyle/>
                    <a:p>
                      <a:pPr marL="97155">
                        <a:lnSpc>
                          <a:spcPct val="100000"/>
                        </a:lnSpc>
                        <a:spcBef>
                          <a:spcPts val="240"/>
                        </a:spcBef>
                      </a:pPr>
                      <a:r>
                        <a:rPr sz="1800" spc="-5" dirty="0">
                          <a:latin typeface="Calibri"/>
                          <a:cs typeface="Calibri"/>
                        </a:rPr>
                        <a:t>Oxidation</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solidFill>
                      <a:srgbClr val="E9EBF4"/>
                    </a:solidFill>
                  </a:tcPr>
                </a:tc>
                <a:tc>
                  <a:txBody>
                    <a:bodyPr/>
                    <a:lstStyle/>
                    <a:p>
                      <a:pPr marL="97155">
                        <a:lnSpc>
                          <a:spcPct val="100000"/>
                        </a:lnSpc>
                        <a:spcBef>
                          <a:spcPts val="240"/>
                        </a:spcBef>
                      </a:pPr>
                      <a:r>
                        <a:rPr sz="1800" spc="-5" dirty="0">
                          <a:latin typeface="Calibri"/>
                          <a:cs typeface="Calibri"/>
                        </a:rPr>
                        <a:t>Reduction</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solidFill>
                      <a:srgbClr val="E9EBF4"/>
                    </a:solidFill>
                  </a:tcPr>
                </a:tc>
                <a:tc>
                  <a:txBody>
                    <a:bodyPr/>
                    <a:lstStyle/>
                    <a:p>
                      <a:pPr marL="97155">
                        <a:lnSpc>
                          <a:spcPct val="100000"/>
                        </a:lnSpc>
                        <a:spcBef>
                          <a:spcPts val="240"/>
                        </a:spcBef>
                      </a:pPr>
                      <a:r>
                        <a:rPr sz="1800" spc="-5" dirty="0">
                          <a:latin typeface="Calibri"/>
                          <a:cs typeface="Calibri"/>
                        </a:rPr>
                        <a:t>Oxidation</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solidFill>
                      <a:srgbClr val="E9EBF4"/>
                    </a:solidFill>
                  </a:tcPr>
                </a:tc>
                <a:tc>
                  <a:txBody>
                    <a:bodyPr/>
                    <a:lstStyle/>
                    <a:p>
                      <a:pPr marL="97155">
                        <a:lnSpc>
                          <a:spcPct val="100000"/>
                        </a:lnSpc>
                        <a:spcBef>
                          <a:spcPts val="240"/>
                        </a:spcBef>
                      </a:pPr>
                      <a:r>
                        <a:rPr sz="1800" spc="-5" dirty="0">
                          <a:latin typeface="Calibri"/>
                          <a:cs typeface="Calibri"/>
                        </a:rPr>
                        <a:t>Reduction</a:t>
                      </a:r>
                      <a:endParaRPr sz="1800">
                        <a:latin typeface="Calibri"/>
                        <a:cs typeface="Calibri"/>
                      </a:endParaRPr>
                    </a:p>
                  </a:txBody>
                  <a:tcPr marL="0" marR="0" marT="30480" marB="0">
                    <a:lnL w="12700">
                      <a:solidFill>
                        <a:srgbClr val="FFFFFF"/>
                      </a:solidFill>
                      <a:prstDash val="solid"/>
                    </a:lnL>
                    <a:lnT w="12700">
                      <a:solidFill>
                        <a:srgbClr val="FFFFFF"/>
                      </a:solidFill>
                      <a:prstDash val="solid"/>
                    </a:lnT>
                    <a:solidFill>
                      <a:srgbClr val="E9EBF4"/>
                    </a:solidFill>
                  </a:tcPr>
                </a:tc>
              </a:tr>
            </a:tbl>
          </a:graphicData>
        </a:graphic>
      </p:graphicFrame>
      <p:pic>
        <p:nvPicPr>
          <p:cNvPr id="3" name="object 3"/>
          <p:cNvPicPr/>
          <p:nvPr/>
        </p:nvPicPr>
        <p:blipFill>
          <a:blip r:embed="rId2" cstate="print"/>
          <a:stretch>
            <a:fillRect/>
          </a:stretch>
        </p:blipFill>
        <p:spPr>
          <a:xfrm>
            <a:off x="1762125" y="381000"/>
            <a:ext cx="5168900" cy="34460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10180" y="133553"/>
            <a:ext cx="4733925" cy="636905"/>
          </a:xfrm>
          <a:prstGeom prst="rect">
            <a:avLst/>
          </a:prstGeom>
        </p:spPr>
        <p:txBody>
          <a:bodyPr vert="horz" wrap="square" lIns="0" tIns="13970" rIns="0" bIns="0" rtlCol="0">
            <a:spAutoFit/>
          </a:bodyPr>
          <a:lstStyle/>
          <a:p>
            <a:pPr marL="12700">
              <a:lnSpc>
                <a:spcPct val="100000"/>
              </a:lnSpc>
              <a:spcBef>
                <a:spcPts val="110"/>
              </a:spcBef>
            </a:pPr>
            <a:r>
              <a:rPr sz="4000" b="1" spc="-5" dirty="0">
                <a:solidFill>
                  <a:srgbClr val="000000"/>
                </a:solidFill>
                <a:latin typeface="Calibri"/>
                <a:cs typeface="Calibri"/>
              </a:rPr>
              <a:t>Common</a:t>
            </a:r>
            <a:r>
              <a:rPr sz="4000" b="1" spc="-65" dirty="0">
                <a:solidFill>
                  <a:srgbClr val="000000"/>
                </a:solidFill>
                <a:latin typeface="Calibri"/>
                <a:cs typeface="Calibri"/>
              </a:rPr>
              <a:t> </a:t>
            </a:r>
            <a:r>
              <a:rPr sz="4000" b="1" spc="-5" dirty="0">
                <a:solidFill>
                  <a:srgbClr val="000000"/>
                </a:solidFill>
                <a:latin typeface="Calibri"/>
                <a:cs typeface="Calibri"/>
              </a:rPr>
              <a:t>Components</a:t>
            </a:r>
            <a:endParaRPr sz="4000">
              <a:latin typeface="Calibri"/>
              <a:cs typeface="Calibri"/>
            </a:endParaRPr>
          </a:p>
        </p:txBody>
      </p:sp>
      <p:sp>
        <p:nvSpPr>
          <p:cNvPr id="3" name="object 3"/>
          <p:cNvSpPr txBox="1"/>
          <p:nvPr/>
        </p:nvSpPr>
        <p:spPr>
          <a:xfrm>
            <a:off x="383540" y="767918"/>
            <a:ext cx="8217534" cy="5126355"/>
          </a:xfrm>
          <a:prstGeom prst="rect">
            <a:avLst/>
          </a:prstGeom>
        </p:spPr>
        <p:txBody>
          <a:bodyPr vert="horz" wrap="square" lIns="0" tIns="106045" rIns="0" bIns="0" rtlCol="0">
            <a:spAutoFit/>
          </a:bodyPr>
          <a:lstStyle/>
          <a:p>
            <a:pPr marL="287020" marR="5080" indent="-274955">
              <a:lnSpc>
                <a:spcPts val="3070"/>
              </a:lnSpc>
              <a:spcBef>
                <a:spcPts val="835"/>
              </a:spcBef>
              <a:buClr>
                <a:srgbClr val="9BB957"/>
              </a:buClr>
              <a:buFont typeface="Segoe UI Symbol"/>
              <a:buChar char="⚫"/>
              <a:tabLst>
                <a:tab pos="287655" algn="l"/>
              </a:tabLst>
            </a:pPr>
            <a:r>
              <a:rPr sz="3200" b="1" spc="-5" dirty="0">
                <a:solidFill>
                  <a:srgbClr val="C00000"/>
                </a:solidFill>
                <a:latin typeface="Calibri"/>
                <a:cs typeface="Calibri"/>
              </a:rPr>
              <a:t>Electrodes: </a:t>
            </a:r>
            <a:r>
              <a:rPr sz="3200" spc="-5" dirty="0">
                <a:latin typeface="Calibri"/>
                <a:cs typeface="Calibri"/>
              </a:rPr>
              <a:t>conduct electricity between </a:t>
            </a:r>
            <a:r>
              <a:rPr sz="3200" spc="-10" dirty="0">
                <a:latin typeface="Calibri"/>
                <a:cs typeface="Calibri"/>
              </a:rPr>
              <a:t>cell </a:t>
            </a:r>
            <a:r>
              <a:rPr sz="3200" spc="-5" dirty="0">
                <a:latin typeface="Calibri"/>
                <a:cs typeface="Calibri"/>
              </a:rPr>
              <a:t>and </a:t>
            </a:r>
            <a:r>
              <a:rPr sz="3200" spc="-710" dirty="0">
                <a:latin typeface="Calibri"/>
                <a:cs typeface="Calibri"/>
              </a:rPr>
              <a:t> </a:t>
            </a:r>
            <a:r>
              <a:rPr sz="3200" spc="-5" dirty="0">
                <a:latin typeface="Calibri"/>
                <a:cs typeface="Calibri"/>
              </a:rPr>
              <a:t>surroundings</a:t>
            </a:r>
            <a:endParaRPr sz="3200">
              <a:latin typeface="Calibri"/>
              <a:cs typeface="Calibri"/>
            </a:endParaRPr>
          </a:p>
          <a:p>
            <a:pPr marL="756285" lvl="1" indent="-287020">
              <a:lnSpc>
                <a:spcPct val="100000"/>
              </a:lnSpc>
              <a:spcBef>
                <a:spcPts val="290"/>
              </a:spcBef>
              <a:buFont typeface="Microsoft Sans Serif"/>
              <a:buChar char="–"/>
              <a:tabLst>
                <a:tab pos="756920" algn="l"/>
              </a:tabLst>
            </a:pPr>
            <a:r>
              <a:rPr sz="2800" b="1" dirty="0">
                <a:solidFill>
                  <a:srgbClr val="C00000"/>
                </a:solidFill>
                <a:latin typeface="Calibri"/>
                <a:cs typeface="Calibri"/>
              </a:rPr>
              <a:t>Anode:</a:t>
            </a:r>
            <a:r>
              <a:rPr sz="2800" b="1" spc="-40" dirty="0">
                <a:solidFill>
                  <a:srgbClr val="C00000"/>
                </a:solidFill>
                <a:latin typeface="Calibri"/>
                <a:cs typeface="Calibri"/>
              </a:rPr>
              <a:t> </a:t>
            </a:r>
            <a:r>
              <a:rPr sz="2800" dirty="0">
                <a:latin typeface="Calibri"/>
                <a:cs typeface="Calibri"/>
              </a:rPr>
              <a:t>Oxidation</a:t>
            </a:r>
            <a:r>
              <a:rPr sz="2800" spc="-45" dirty="0">
                <a:latin typeface="Calibri"/>
                <a:cs typeface="Calibri"/>
              </a:rPr>
              <a:t> </a:t>
            </a:r>
            <a:r>
              <a:rPr sz="2800" spc="-10" dirty="0">
                <a:latin typeface="Calibri"/>
                <a:cs typeface="Calibri"/>
              </a:rPr>
              <a:t>occurs</a:t>
            </a:r>
            <a:r>
              <a:rPr sz="2800" spc="-5" dirty="0">
                <a:latin typeface="Calibri"/>
                <a:cs typeface="Calibri"/>
              </a:rPr>
              <a:t> </a:t>
            </a:r>
            <a:r>
              <a:rPr sz="2800" dirty="0">
                <a:latin typeface="Calibri"/>
                <a:cs typeface="Calibri"/>
              </a:rPr>
              <a:t>at</a:t>
            </a:r>
            <a:r>
              <a:rPr sz="2800" spc="-70" dirty="0">
                <a:latin typeface="Calibri"/>
                <a:cs typeface="Calibri"/>
              </a:rPr>
              <a:t> </a:t>
            </a:r>
            <a:r>
              <a:rPr sz="2800" spc="-5" dirty="0">
                <a:latin typeface="Calibri"/>
                <a:cs typeface="Calibri"/>
              </a:rPr>
              <a:t>the</a:t>
            </a:r>
            <a:r>
              <a:rPr sz="2800" spc="-50" dirty="0">
                <a:latin typeface="Calibri"/>
                <a:cs typeface="Calibri"/>
              </a:rPr>
              <a:t> </a:t>
            </a:r>
            <a:r>
              <a:rPr sz="2800" spc="-5" dirty="0">
                <a:latin typeface="Calibri"/>
                <a:cs typeface="Calibri"/>
              </a:rPr>
              <a:t>anode</a:t>
            </a:r>
            <a:endParaRPr sz="2800">
              <a:latin typeface="Calibri"/>
              <a:cs typeface="Calibri"/>
            </a:endParaRPr>
          </a:p>
          <a:p>
            <a:pPr lvl="1">
              <a:lnSpc>
                <a:spcPct val="100000"/>
              </a:lnSpc>
              <a:spcBef>
                <a:spcPts val="45"/>
              </a:spcBef>
              <a:buClr>
                <a:srgbClr val="C00000"/>
              </a:buClr>
              <a:buFont typeface="Microsoft Sans Serif"/>
              <a:buChar char="–"/>
            </a:pPr>
            <a:endParaRPr sz="3700">
              <a:latin typeface="Calibri"/>
              <a:cs typeface="Calibri"/>
            </a:endParaRPr>
          </a:p>
          <a:p>
            <a:pPr marL="756285" lvl="1" indent="-287020">
              <a:lnSpc>
                <a:spcPct val="100000"/>
              </a:lnSpc>
              <a:buFont typeface="Microsoft Sans Serif"/>
              <a:buChar char="–"/>
              <a:tabLst>
                <a:tab pos="756920" algn="l"/>
                <a:tab pos="4811395" algn="l"/>
              </a:tabLst>
            </a:pPr>
            <a:r>
              <a:rPr sz="2800" b="1" spc="-5" dirty="0">
                <a:solidFill>
                  <a:srgbClr val="C00000"/>
                </a:solidFill>
                <a:latin typeface="Calibri"/>
                <a:cs typeface="Calibri"/>
              </a:rPr>
              <a:t>Cathode: </a:t>
            </a:r>
            <a:r>
              <a:rPr sz="2800" spc="-5" dirty="0">
                <a:latin typeface="Calibri"/>
                <a:cs typeface="Calibri"/>
              </a:rPr>
              <a:t>Reduction</a:t>
            </a:r>
            <a:r>
              <a:rPr sz="2800" spc="15" dirty="0">
                <a:latin typeface="Calibri"/>
                <a:cs typeface="Calibri"/>
              </a:rPr>
              <a:t> </a:t>
            </a:r>
            <a:r>
              <a:rPr sz="2800" spc="-5" dirty="0">
                <a:latin typeface="Calibri"/>
                <a:cs typeface="Calibri"/>
              </a:rPr>
              <a:t>occurs	</a:t>
            </a:r>
            <a:r>
              <a:rPr sz="2800" dirty="0">
                <a:latin typeface="Calibri"/>
                <a:cs typeface="Calibri"/>
              </a:rPr>
              <a:t>at</a:t>
            </a:r>
            <a:r>
              <a:rPr sz="2800" spc="-80" dirty="0">
                <a:latin typeface="Calibri"/>
                <a:cs typeface="Calibri"/>
              </a:rPr>
              <a:t> </a:t>
            </a:r>
            <a:r>
              <a:rPr sz="2800" spc="-5" dirty="0">
                <a:latin typeface="Calibri"/>
                <a:cs typeface="Calibri"/>
              </a:rPr>
              <a:t>the</a:t>
            </a:r>
            <a:r>
              <a:rPr sz="2800" spc="-55" dirty="0">
                <a:latin typeface="Calibri"/>
                <a:cs typeface="Calibri"/>
              </a:rPr>
              <a:t> </a:t>
            </a:r>
            <a:r>
              <a:rPr sz="2800" spc="-5" dirty="0">
                <a:latin typeface="Calibri"/>
                <a:cs typeface="Calibri"/>
              </a:rPr>
              <a:t>cathode</a:t>
            </a:r>
            <a:endParaRPr sz="2800">
              <a:latin typeface="Calibri"/>
              <a:cs typeface="Calibri"/>
            </a:endParaRPr>
          </a:p>
          <a:p>
            <a:pPr lvl="1">
              <a:lnSpc>
                <a:spcPct val="100000"/>
              </a:lnSpc>
              <a:spcBef>
                <a:spcPts val="5"/>
              </a:spcBef>
              <a:buClr>
                <a:srgbClr val="C00000"/>
              </a:buClr>
              <a:buFont typeface="Microsoft Sans Serif"/>
              <a:buChar char="–"/>
            </a:pPr>
            <a:endParaRPr sz="3850">
              <a:latin typeface="Calibri"/>
              <a:cs typeface="Calibri"/>
            </a:endParaRPr>
          </a:p>
          <a:p>
            <a:pPr marL="287020" marR="95250" indent="-274955">
              <a:lnSpc>
                <a:spcPts val="3080"/>
              </a:lnSpc>
              <a:spcBef>
                <a:spcPts val="5"/>
              </a:spcBef>
              <a:buClr>
                <a:srgbClr val="9BB957"/>
              </a:buClr>
              <a:buFont typeface="Segoe UI Symbol"/>
              <a:buChar char="⚫"/>
              <a:tabLst>
                <a:tab pos="287655" algn="l"/>
              </a:tabLst>
            </a:pPr>
            <a:r>
              <a:rPr sz="3200" b="1" spc="-5" dirty="0">
                <a:solidFill>
                  <a:srgbClr val="C00000"/>
                </a:solidFill>
                <a:latin typeface="Calibri"/>
                <a:cs typeface="Calibri"/>
              </a:rPr>
              <a:t>Electrolyte:</a:t>
            </a:r>
            <a:r>
              <a:rPr sz="3200" b="1" spc="-75" dirty="0">
                <a:solidFill>
                  <a:srgbClr val="C00000"/>
                </a:solidFill>
                <a:latin typeface="Calibri"/>
                <a:cs typeface="Calibri"/>
              </a:rPr>
              <a:t> </a:t>
            </a:r>
            <a:r>
              <a:rPr sz="3200" spc="-5" dirty="0">
                <a:latin typeface="Calibri"/>
                <a:cs typeface="Calibri"/>
              </a:rPr>
              <a:t>mixture</a:t>
            </a:r>
            <a:r>
              <a:rPr sz="3200" spc="-35" dirty="0">
                <a:latin typeface="Calibri"/>
                <a:cs typeface="Calibri"/>
              </a:rPr>
              <a:t> </a:t>
            </a:r>
            <a:r>
              <a:rPr sz="3200" spc="-5" dirty="0">
                <a:latin typeface="Calibri"/>
                <a:cs typeface="Calibri"/>
              </a:rPr>
              <a:t>of</a:t>
            </a:r>
            <a:r>
              <a:rPr sz="3200" spc="-40" dirty="0">
                <a:latin typeface="Calibri"/>
                <a:cs typeface="Calibri"/>
              </a:rPr>
              <a:t> </a:t>
            </a:r>
            <a:r>
              <a:rPr sz="3200" spc="-5" dirty="0">
                <a:latin typeface="Calibri"/>
                <a:cs typeface="Calibri"/>
              </a:rPr>
              <a:t>ions</a:t>
            </a:r>
            <a:r>
              <a:rPr sz="3200" spc="-20" dirty="0">
                <a:latin typeface="Calibri"/>
                <a:cs typeface="Calibri"/>
              </a:rPr>
              <a:t> </a:t>
            </a:r>
            <a:r>
              <a:rPr sz="3200" spc="-5" dirty="0">
                <a:latin typeface="Calibri"/>
                <a:cs typeface="Calibri"/>
              </a:rPr>
              <a:t>involved</a:t>
            </a:r>
            <a:r>
              <a:rPr sz="3200" spc="-30" dirty="0">
                <a:latin typeface="Calibri"/>
                <a:cs typeface="Calibri"/>
              </a:rPr>
              <a:t> </a:t>
            </a:r>
            <a:r>
              <a:rPr sz="3200" spc="10" dirty="0">
                <a:latin typeface="Calibri"/>
                <a:cs typeface="Calibri"/>
              </a:rPr>
              <a:t>in</a:t>
            </a:r>
            <a:r>
              <a:rPr sz="3200" spc="-25" dirty="0">
                <a:latin typeface="Calibri"/>
                <a:cs typeface="Calibri"/>
              </a:rPr>
              <a:t> </a:t>
            </a:r>
            <a:r>
              <a:rPr sz="3200" spc="-5" dirty="0">
                <a:latin typeface="Calibri"/>
                <a:cs typeface="Calibri"/>
              </a:rPr>
              <a:t>reaction </a:t>
            </a:r>
            <a:r>
              <a:rPr sz="3200" spc="-705" dirty="0">
                <a:latin typeface="Calibri"/>
                <a:cs typeface="Calibri"/>
              </a:rPr>
              <a:t> </a:t>
            </a:r>
            <a:r>
              <a:rPr sz="3200" spc="-5" dirty="0">
                <a:latin typeface="Calibri"/>
                <a:cs typeface="Calibri"/>
              </a:rPr>
              <a:t>or</a:t>
            </a:r>
            <a:r>
              <a:rPr sz="3200" spc="-45" dirty="0">
                <a:latin typeface="Calibri"/>
                <a:cs typeface="Calibri"/>
              </a:rPr>
              <a:t> </a:t>
            </a:r>
            <a:r>
              <a:rPr sz="3200" spc="-5" dirty="0">
                <a:latin typeface="Calibri"/>
                <a:cs typeface="Calibri"/>
              </a:rPr>
              <a:t>carrying</a:t>
            </a:r>
            <a:r>
              <a:rPr sz="3200" spc="35" dirty="0">
                <a:latin typeface="Calibri"/>
                <a:cs typeface="Calibri"/>
              </a:rPr>
              <a:t> </a:t>
            </a:r>
            <a:r>
              <a:rPr sz="3200" spc="-5" dirty="0">
                <a:latin typeface="Calibri"/>
                <a:cs typeface="Calibri"/>
              </a:rPr>
              <a:t>charge</a:t>
            </a:r>
            <a:endParaRPr sz="3200">
              <a:latin typeface="Calibri"/>
              <a:cs typeface="Calibri"/>
            </a:endParaRPr>
          </a:p>
          <a:p>
            <a:pPr>
              <a:lnSpc>
                <a:spcPct val="100000"/>
              </a:lnSpc>
              <a:spcBef>
                <a:spcPts val="50"/>
              </a:spcBef>
              <a:buClr>
                <a:srgbClr val="9BB957"/>
              </a:buClr>
              <a:buFont typeface="Segoe UI Symbol"/>
              <a:buChar char="⚫"/>
            </a:pPr>
            <a:endParaRPr sz="3750">
              <a:latin typeface="Calibri"/>
              <a:cs typeface="Calibri"/>
            </a:endParaRPr>
          </a:p>
          <a:p>
            <a:pPr marL="287020" marR="290830" indent="-274955">
              <a:lnSpc>
                <a:spcPts val="3100"/>
              </a:lnSpc>
              <a:buClr>
                <a:srgbClr val="9BB957"/>
              </a:buClr>
              <a:buFont typeface="Segoe UI Symbol"/>
              <a:buChar char="⚫"/>
              <a:tabLst>
                <a:tab pos="287655" algn="l"/>
              </a:tabLst>
            </a:pPr>
            <a:r>
              <a:rPr sz="3200" b="1" dirty="0">
                <a:solidFill>
                  <a:srgbClr val="C00000"/>
                </a:solidFill>
                <a:latin typeface="Calibri"/>
                <a:cs typeface="Calibri"/>
              </a:rPr>
              <a:t>Salt</a:t>
            </a:r>
            <a:r>
              <a:rPr sz="3200" b="1" spc="-90" dirty="0">
                <a:solidFill>
                  <a:srgbClr val="C00000"/>
                </a:solidFill>
                <a:latin typeface="Calibri"/>
                <a:cs typeface="Calibri"/>
              </a:rPr>
              <a:t> </a:t>
            </a:r>
            <a:r>
              <a:rPr sz="3200" b="1" spc="-10" dirty="0">
                <a:solidFill>
                  <a:srgbClr val="C00000"/>
                </a:solidFill>
                <a:latin typeface="Calibri"/>
                <a:cs typeface="Calibri"/>
              </a:rPr>
              <a:t>bridge:</a:t>
            </a:r>
            <a:r>
              <a:rPr sz="3200" b="1" spc="-55" dirty="0">
                <a:solidFill>
                  <a:srgbClr val="C00000"/>
                </a:solidFill>
                <a:latin typeface="Calibri"/>
                <a:cs typeface="Calibri"/>
              </a:rPr>
              <a:t> </a:t>
            </a:r>
            <a:r>
              <a:rPr sz="3200" spc="-5" dirty="0">
                <a:latin typeface="Calibri"/>
                <a:cs typeface="Calibri"/>
              </a:rPr>
              <a:t>completes</a:t>
            </a:r>
            <a:r>
              <a:rPr sz="3200" spc="-60" dirty="0">
                <a:latin typeface="Calibri"/>
                <a:cs typeface="Calibri"/>
              </a:rPr>
              <a:t> </a:t>
            </a:r>
            <a:r>
              <a:rPr sz="3200" spc="-5" dirty="0">
                <a:latin typeface="Calibri"/>
                <a:cs typeface="Calibri"/>
              </a:rPr>
              <a:t>circuit</a:t>
            </a:r>
            <a:r>
              <a:rPr sz="3200" spc="-40" dirty="0">
                <a:latin typeface="Calibri"/>
                <a:cs typeface="Calibri"/>
              </a:rPr>
              <a:t> </a:t>
            </a:r>
            <a:r>
              <a:rPr sz="3200" spc="-10" dirty="0">
                <a:latin typeface="Calibri"/>
                <a:cs typeface="Calibri"/>
              </a:rPr>
              <a:t>(provides</a:t>
            </a:r>
            <a:r>
              <a:rPr sz="3200" spc="-60" dirty="0">
                <a:latin typeface="Calibri"/>
                <a:cs typeface="Calibri"/>
              </a:rPr>
              <a:t> </a:t>
            </a:r>
            <a:r>
              <a:rPr sz="3200" spc="-5" dirty="0">
                <a:latin typeface="Calibri"/>
                <a:cs typeface="Calibri"/>
              </a:rPr>
              <a:t>charge </a:t>
            </a:r>
            <a:r>
              <a:rPr sz="3200" spc="-705" dirty="0">
                <a:latin typeface="Calibri"/>
                <a:cs typeface="Calibri"/>
              </a:rPr>
              <a:t> </a:t>
            </a:r>
            <a:r>
              <a:rPr sz="3200" spc="-5" dirty="0">
                <a:latin typeface="Calibri"/>
                <a:cs typeface="Calibri"/>
              </a:rPr>
              <a:t>balance)</a:t>
            </a:r>
            <a:endParaRPr sz="320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810000" y="3689984"/>
            <a:ext cx="685800" cy="85725"/>
          </a:xfrm>
          <a:custGeom>
            <a:avLst/>
            <a:gdLst/>
            <a:ahLst/>
            <a:cxnLst/>
            <a:rect l="l" t="t" r="r" b="b"/>
            <a:pathLst>
              <a:path w="685800" h="85725">
                <a:moveTo>
                  <a:pt x="600075" y="0"/>
                </a:moveTo>
                <a:lnTo>
                  <a:pt x="600075" y="85725"/>
                </a:lnTo>
                <a:lnTo>
                  <a:pt x="657225" y="57150"/>
                </a:lnTo>
                <a:lnTo>
                  <a:pt x="614045" y="57150"/>
                </a:lnTo>
                <a:lnTo>
                  <a:pt x="614045" y="28575"/>
                </a:lnTo>
                <a:lnTo>
                  <a:pt x="657225" y="28575"/>
                </a:lnTo>
                <a:lnTo>
                  <a:pt x="600075" y="0"/>
                </a:lnTo>
                <a:close/>
              </a:path>
              <a:path w="685800" h="85725">
                <a:moveTo>
                  <a:pt x="600075" y="28575"/>
                </a:moveTo>
                <a:lnTo>
                  <a:pt x="0" y="28575"/>
                </a:lnTo>
                <a:lnTo>
                  <a:pt x="0" y="57150"/>
                </a:lnTo>
                <a:lnTo>
                  <a:pt x="600075" y="57150"/>
                </a:lnTo>
                <a:lnTo>
                  <a:pt x="600075" y="28575"/>
                </a:lnTo>
                <a:close/>
              </a:path>
              <a:path w="685800" h="85725">
                <a:moveTo>
                  <a:pt x="657225" y="28575"/>
                </a:moveTo>
                <a:lnTo>
                  <a:pt x="614045" y="28575"/>
                </a:lnTo>
                <a:lnTo>
                  <a:pt x="614045" y="57150"/>
                </a:lnTo>
                <a:lnTo>
                  <a:pt x="657225" y="57150"/>
                </a:lnTo>
                <a:lnTo>
                  <a:pt x="685800" y="42544"/>
                </a:lnTo>
                <a:lnTo>
                  <a:pt x="657225" y="28575"/>
                </a:lnTo>
                <a:close/>
              </a:path>
            </a:pathLst>
          </a:custGeom>
          <a:solidFill>
            <a:srgbClr val="000000"/>
          </a:solidFill>
        </p:spPr>
        <p:txBody>
          <a:bodyPr wrap="square" lIns="0" tIns="0" rIns="0" bIns="0" rtlCol="0"/>
          <a:lstStyle/>
          <a:p>
            <a:endParaRPr/>
          </a:p>
        </p:txBody>
      </p:sp>
      <p:sp>
        <p:nvSpPr>
          <p:cNvPr id="3" name="object 3"/>
          <p:cNvSpPr txBox="1">
            <a:spLocks noGrp="1"/>
          </p:cNvSpPr>
          <p:nvPr>
            <p:ph type="title"/>
          </p:nvPr>
        </p:nvSpPr>
        <p:spPr>
          <a:xfrm>
            <a:off x="3283458" y="389585"/>
            <a:ext cx="2625090" cy="574675"/>
          </a:xfrm>
          <a:prstGeom prst="rect">
            <a:avLst/>
          </a:prstGeom>
        </p:spPr>
        <p:txBody>
          <a:bodyPr vert="horz" wrap="square" lIns="0" tIns="12700" rIns="0" bIns="0" rtlCol="0">
            <a:spAutoFit/>
          </a:bodyPr>
          <a:lstStyle/>
          <a:p>
            <a:pPr marL="12700">
              <a:lnSpc>
                <a:spcPct val="100000"/>
              </a:lnSpc>
              <a:spcBef>
                <a:spcPts val="100"/>
              </a:spcBef>
            </a:pPr>
            <a:r>
              <a:rPr sz="3600" b="1" spc="-5" dirty="0">
                <a:latin typeface="Calibri"/>
                <a:cs typeface="Calibri"/>
              </a:rPr>
              <a:t>Galvanic</a:t>
            </a:r>
            <a:r>
              <a:rPr sz="3600" b="1" spc="-75" dirty="0">
                <a:latin typeface="Calibri"/>
                <a:cs typeface="Calibri"/>
              </a:rPr>
              <a:t> </a:t>
            </a:r>
            <a:r>
              <a:rPr sz="3600" b="1" spc="-10" dirty="0">
                <a:latin typeface="Calibri"/>
                <a:cs typeface="Calibri"/>
              </a:rPr>
              <a:t>Cells</a:t>
            </a:r>
            <a:endParaRPr sz="3600">
              <a:latin typeface="Calibri"/>
              <a:cs typeface="Calibri"/>
            </a:endParaRPr>
          </a:p>
        </p:txBody>
      </p:sp>
      <p:sp>
        <p:nvSpPr>
          <p:cNvPr id="4" name="object 4"/>
          <p:cNvSpPr txBox="1"/>
          <p:nvPr/>
        </p:nvSpPr>
        <p:spPr>
          <a:xfrm>
            <a:off x="370840" y="999566"/>
            <a:ext cx="8277859" cy="4206875"/>
          </a:xfrm>
          <a:prstGeom prst="rect">
            <a:avLst/>
          </a:prstGeom>
        </p:spPr>
        <p:txBody>
          <a:bodyPr vert="horz" wrap="square" lIns="0" tIns="13970" rIns="0" bIns="0" rtlCol="0">
            <a:spAutoFit/>
          </a:bodyPr>
          <a:lstStyle/>
          <a:p>
            <a:pPr marL="25400" marR="161290">
              <a:lnSpc>
                <a:spcPct val="100000"/>
              </a:lnSpc>
              <a:spcBef>
                <a:spcPts val="110"/>
              </a:spcBef>
            </a:pPr>
            <a:r>
              <a:rPr sz="2800" spc="-5" dirty="0">
                <a:latin typeface="Calibri"/>
                <a:cs typeface="Calibri"/>
              </a:rPr>
              <a:t>The</a:t>
            </a:r>
            <a:r>
              <a:rPr sz="2800" spc="-85" dirty="0">
                <a:latin typeface="Calibri"/>
                <a:cs typeface="Calibri"/>
              </a:rPr>
              <a:t> </a:t>
            </a:r>
            <a:r>
              <a:rPr sz="2800" spc="-5" dirty="0">
                <a:latin typeface="Calibri"/>
                <a:cs typeface="Calibri"/>
              </a:rPr>
              <a:t>difference</a:t>
            </a:r>
            <a:r>
              <a:rPr sz="2800" spc="-45" dirty="0">
                <a:latin typeface="Calibri"/>
                <a:cs typeface="Calibri"/>
              </a:rPr>
              <a:t> </a:t>
            </a:r>
            <a:r>
              <a:rPr sz="2800" dirty="0">
                <a:latin typeface="Calibri"/>
                <a:cs typeface="Calibri"/>
              </a:rPr>
              <a:t>in</a:t>
            </a:r>
            <a:r>
              <a:rPr sz="2800" spc="-65" dirty="0">
                <a:latin typeface="Calibri"/>
                <a:cs typeface="Calibri"/>
              </a:rPr>
              <a:t> </a:t>
            </a:r>
            <a:r>
              <a:rPr sz="2800" dirty="0">
                <a:latin typeface="Calibri"/>
                <a:cs typeface="Calibri"/>
              </a:rPr>
              <a:t>electrical</a:t>
            </a:r>
            <a:r>
              <a:rPr sz="2800" spc="-60" dirty="0">
                <a:latin typeface="Calibri"/>
                <a:cs typeface="Calibri"/>
              </a:rPr>
              <a:t> </a:t>
            </a:r>
            <a:r>
              <a:rPr sz="2800" spc="-5" dirty="0">
                <a:latin typeface="Calibri"/>
                <a:cs typeface="Calibri"/>
              </a:rPr>
              <a:t>potential</a:t>
            </a:r>
            <a:r>
              <a:rPr sz="2800" spc="-75" dirty="0">
                <a:latin typeface="Calibri"/>
                <a:cs typeface="Calibri"/>
              </a:rPr>
              <a:t> </a:t>
            </a:r>
            <a:r>
              <a:rPr sz="2800" spc="-5" dirty="0">
                <a:latin typeface="Calibri"/>
                <a:cs typeface="Calibri"/>
              </a:rPr>
              <a:t>between</a:t>
            </a:r>
            <a:r>
              <a:rPr sz="2800" spc="-55" dirty="0">
                <a:latin typeface="Calibri"/>
                <a:cs typeface="Calibri"/>
              </a:rPr>
              <a:t> </a:t>
            </a:r>
            <a:r>
              <a:rPr sz="2800" spc="-5" dirty="0">
                <a:latin typeface="Calibri"/>
                <a:cs typeface="Calibri"/>
              </a:rPr>
              <a:t>the</a:t>
            </a:r>
            <a:r>
              <a:rPr sz="2800" spc="-60" dirty="0">
                <a:latin typeface="Calibri"/>
                <a:cs typeface="Calibri"/>
              </a:rPr>
              <a:t> </a:t>
            </a:r>
            <a:r>
              <a:rPr sz="2800" spc="-5" dirty="0">
                <a:latin typeface="Calibri"/>
                <a:cs typeface="Calibri"/>
              </a:rPr>
              <a:t>anode </a:t>
            </a:r>
            <a:r>
              <a:rPr sz="2800" spc="-615" dirty="0">
                <a:latin typeface="Calibri"/>
                <a:cs typeface="Calibri"/>
              </a:rPr>
              <a:t> </a:t>
            </a:r>
            <a:r>
              <a:rPr sz="2800" dirty="0">
                <a:latin typeface="Calibri"/>
                <a:cs typeface="Calibri"/>
              </a:rPr>
              <a:t>and</a:t>
            </a:r>
            <a:r>
              <a:rPr sz="2800" spc="-25" dirty="0">
                <a:latin typeface="Calibri"/>
                <a:cs typeface="Calibri"/>
              </a:rPr>
              <a:t> </a:t>
            </a:r>
            <a:r>
              <a:rPr sz="2800" spc="-5" dirty="0">
                <a:latin typeface="Calibri"/>
                <a:cs typeface="Calibri"/>
              </a:rPr>
              <a:t>cathode</a:t>
            </a:r>
            <a:r>
              <a:rPr sz="2800" spc="-25" dirty="0">
                <a:latin typeface="Calibri"/>
                <a:cs typeface="Calibri"/>
              </a:rPr>
              <a:t> </a:t>
            </a:r>
            <a:r>
              <a:rPr sz="2800" dirty="0">
                <a:latin typeface="Calibri"/>
                <a:cs typeface="Calibri"/>
              </a:rPr>
              <a:t>is</a:t>
            </a:r>
            <a:r>
              <a:rPr sz="2800" spc="5" dirty="0">
                <a:latin typeface="Calibri"/>
                <a:cs typeface="Calibri"/>
              </a:rPr>
              <a:t> </a:t>
            </a:r>
            <a:r>
              <a:rPr sz="2800" dirty="0">
                <a:latin typeface="Calibri"/>
                <a:cs typeface="Calibri"/>
              </a:rPr>
              <a:t>called:</a:t>
            </a:r>
            <a:endParaRPr sz="2800">
              <a:latin typeface="Calibri"/>
              <a:cs typeface="Calibri"/>
            </a:endParaRPr>
          </a:p>
          <a:p>
            <a:pPr marL="281305" indent="-256540">
              <a:lnSpc>
                <a:spcPct val="100000"/>
              </a:lnSpc>
              <a:spcBef>
                <a:spcPts val="1685"/>
              </a:spcBef>
              <a:buFont typeface="Calibri"/>
              <a:buChar char="•"/>
              <a:tabLst>
                <a:tab pos="281940" algn="l"/>
                <a:tab pos="2281555" algn="l"/>
                <a:tab pos="6330950" algn="l"/>
              </a:tabLst>
            </a:pPr>
            <a:r>
              <a:rPr sz="2800" b="1" i="1" spc="-5" dirty="0">
                <a:latin typeface="Calibri"/>
                <a:cs typeface="Calibri"/>
              </a:rPr>
              <a:t>cell</a:t>
            </a:r>
            <a:r>
              <a:rPr sz="2800" b="1" i="1" spc="-15" dirty="0">
                <a:latin typeface="Calibri"/>
                <a:cs typeface="Calibri"/>
              </a:rPr>
              <a:t> </a:t>
            </a:r>
            <a:r>
              <a:rPr sz="2800" b="1" i="1" dirty="0">
                <a:latin typeface="Calibri"/>
                <a:cs typeface="Calibri"/>
              </a:rPr>
              <a:t>voltage/	</a:t>
            </a:r>
            <a:r>
              <a:rPr sz="2800" b="1" i="1" spc="-5" dirty="0">
                <a:latin typeface="Calibri"/>
                <a:cs typeface="Calibri"/>
              </a:rPr>
              <a:t>electromotive </a:t>
            </a:r>
            <a:r>
              <a:rPr sz="2800" b="1" i="1" dirty="0">
                <a:latin typeface="Calibri"/>
                <a:cs typeface="Calibri"/>
              </a:rPr>
              <a:t>force</a:t>
            </a:r>
            <a:r>
              <a:rPr sz="2800" b="1" i="1" spc="-35" dirty="0">
                <a:latin typeface="Calibri"/>
                <a:cs typeface="Calibri"/>
              </a:rPr>
              <a:t> </a:t>
            </a:r>
            <a:r>
              <a:rPr sz="2800" b="1" i="1" spc="-5" dirty="0">
                <a:latin typeface="Calibri"/>
                <a:cs typeface="Calibri"/>
              </a:rPr>
              <a:t>(emf)/	cell</a:t>
            </a:r>
            <a:r>
              <a:rPr sz="2800" b="1" i="1" spc="-60" dirty="0">
                <a:latin typeface="Calibri"/>
                <a:cs typeface="Calibri"/>
              </a:rPr>
              <a:t> </a:t>
            </a:r>
            <a:r>
              <a:rPr sz="2800" b="1" i="1" spc="-5" dirty="0">
                <a:latin typeface="Calibri"/>
                <a:cs typeface="Calibri"/>
              </a:rPr>
              <a:t>potential</a:t>
            </a:r>
            <a:endParaRPr sz="2800">
              <a:latin typeface="Calibri"/>
              <a:cs typeface="Calibri"/>
            </a:endParaRPr>
          </a:p>
          <a:p>
            <a:pPr>
              <a:lnSpc>
                <a:spcPct val="100000"/>
              </a:lnSpc>
              <a:spcBef>
                <a:spcPts val="20"/>
              </a:spcBef>
            </a:pPr>
            <a:endParaRPr sz="2650">
              <a:latin typeface="Calibri"/>
              <a:cs typeface="Calibri"/>
            </a:endParaRPr>
          </a:p>
          <a:p>
            <a:pPr marR="672465" algn="ctr">
              <a:lnSpc>
                <a:spcPct val="100000"/>
              </a:lnSpc>
            </a:pPr>
            <a:r>
              <a:rPr sz="2400" b="1" dirty="0">
                <a:latin typeface="Constantia"/>
                <a:cs typeface="Constantia"/>
              </a:rPr>
              <a:t>Cell</a:t>
            </a:r>
            <a:r>
              <a:rPr sz="2400" b="1" spc="-125" dirty="0">
                <a:latin typeface="Constantia"/>
                <a:cs typeface="Constantia"/>
              </a:rPr>
              <a:t> </a:t>
            </a:r>
            <a:r>
              <a:rPr sz="2400" b="1" dirty="0">
                <a:latin typeface="Constantia"/>
                <a:cs typeface="Constantia"/>
              </a:rPr>
              <a:t>setup</a:t>
            </a:r>
            <a:endParaRPr sz="2400">
              <a:latin typeface="Constantia"/>
              <a:cs typeface="Constantia"/>
            </a:endParaRPr>
          </a:p>
          <a:p>
            <a:pPr marR="708660" algn="ctr">
              <a:lnSpc>
                <a:spcPct val="100000"/>
              </a:lnSpc>
              <a:spcBef>
                <a:spcPts val="1964"/>
              </a:spcBef>
              <a:tabLst>
                <a:tab pos="2896235" algn="l"/>
              </a:tabLst>
            </a:pPr>
            <a:r>
              <a:rPr sz="1800" b="1" spc="-5" dirty="0">
                <a:latin typeface="Constantia"/>
                <a:cs typeface="Constantia"/>
              </a:rPr>
              <a:t>Zn</a:t>
            </a:r>
            <a:r>
              <a:rPr sz="1800" b="1" spc="-45" dirty="0">
                <a:latin typeface="Constantia"/>
                <a:cs typeface="Constantia"/>
              </a:rPr>
              <a:t> </a:t>
            </a:r>
            <a:r>
              <a:rPr sz="2000" b="1" spc="-5" dirty="0">
                <a:latin typeface="Constantia"/>
                <a:cs typeface="Constantia"/>
              </a:rPr>
              <a:t>(</a:t>
            </a:r>
            <a:r>
              <a:rPr sz="2000" b="1" i="1" spc="-5" dirty="0">
                <a:latin typeface="Constantia"/>
                <a:cs typeface="Constantia"/>
              </a:rPr>
              <a:t>s</a:t>
            </a:r>
            <a:r>
              <a:rPr sz="2000" b="1" spc="-5" dirty="0">
                <a:latin typeface="Constantia"/>
                <a:cs typeface="Constantia"/>
              </a:rPr>
              <a:t>)</a:t>
            </a:r>
            <a:r>
              <a:rPr sz="2000" b="1" spc="-45" dirty="0">
                <a:latin typeface="Constantia"/>
                <a:cs typeface="Constantia"/>
              </a:rPr>
              <a:t> </a:t>
            </a:r>
            <a:r>
              <a:rPr sz="1800" b="1" dirty="0">
                <a:latin typeface="Constantia"/>
                <a:cs typeface="Constantia"/>
              </a:rPr>
              <a:t>+</a:t>
            </a:r>
            <a:r>
              <a:rPr sz="1800" b="1" spc="-5" dirty="0">
                <a:latin typeface="Constantia"/>
                <a:cs typeface="Constantia"/>
              </a:rPr>
              <a:t> </a:t>
            </a:r>
            <a:r>
              <a:rPr sz="1800" b="1" spc="-10" dirty="0">
                <a:latin typeface="Constantia"/>
                <a:cs typeface="Constantia"/>
              </a:rPr>
              <a:t>Cu</a:t>
            </a:r>
            <a:r>
              <a:rPr sz="1725" b="1" spc="-15" baseline="28985" dirty="0">
                <a:latin typeface="Constantia"/>
                <a:cs typeface="Constantia"/>
              </a:rPr>
              <a:t>2+</a:t>
            </a:r>
            <a:r>
              <a:rPr sz="1725" b="1" spc="225" baseline="28985" dirty="0">
                <a:latin typeface="Constantia"/>
                <a:cs typeface="Constantia"/>
              </a:rPr>
              <a:t> </a:t>
            </a:r>
            <a:r>
              <a:rPr sz="2000" b="1" spc="-10" dirty="0">
                <a:latin typeface="Constantia"/>
                <a:cs typeface="Constantia"/>
              </a:rPr>
              <a:t>(</a:t>
            </a:r>
            <a:r>
              <a:rPr sz="2000" b="1" i="1" spc="-10" dirty="0">
                <a:latin typeface="Constantia"/>
                <a:cs typeface="Constantia"/>
              </a:rPr>
              <a:t>aq</a:t>
            </a:r>
            <a:r>
              <a:rPr sz="2000" b="1" spc="-10" dirty="0">
                <a:latin typeface="Constantia"/>
                <a:cs typeface="Constantia"/>
              </a:rPr>
              <a:t>)	</a:t>
            </a:r>
            <a:r>
              <a:rPr sz="1800" b="1" spc="-10" dirty="0">
                <a:latin typeface="Constantia"/>
                <a:cs typeface="Constantia"/>
              </a:rPr>
              <a:t>Cu</a:t>
            </a:r>
            <a:r>
              <a:rPr sz="1800" b="1" spc="-35" dirty="0">
                <a:latin typeface="Constantia"/>
                <a:cs typeface="Constantia"/>
              </a:rPr>
              <a:t> </a:t>
            </a:r>
            <a:r>
              <a:rPr sz="2000" b="1" spc="-5" dirty="0">
                <a:latin typeface="Constantia"/>
                <a:cs typeface="Constantia"/>
              </a:rPr>
              <a:t>(</a:t>
            </a:r>
            <a:r>
              <a:rPr sz="2000" b="1" i="1" spc="-5" dirty="0">
                <a:latin typeface="Constantia"/>
                <a:cs typeface="Constantia"/>
              </a:rPr>
              <a:t>s</a:t>
            </a:r>
            <a:r>
              <a:rPr sz="2000" b="1" spc="-5" dirty="0">
                <a:latin typeface="Constantia"/>
                <a:cs typeface="Constantia"/>
              </a:rPr>
              <a:t>)</a:t>
            </a:r>
            <a:r>
              <a:rPr sz="2000" b="1" spc="-85" dirty="0">
                <a:latin typeface="Constantia"/>
                <a:cs typeface="Constantia"/>
              </a:rPr>
              <a:t> </a:t>
            </a:r>
            <a:r>
              <a:rPr sz="1800" b="1" dirty="0">
                <a:latin typeface="Constantia"/>
                <a:cs typeface="Constantia"/>
              </a:rPr>
              <a:t>+</a:t>
            </a:r>
            <a:r>
              <a:rPr sz="1800" b="1" spc="-20" dirty="0">
                <a:latin typeface="Constantia"/>
                <a:cs typeface="Constantia"/>
              </a:rPr>
              <a:t> </a:t>
            </a:r>
            <a:r>
              <a:rPr sz="1800" b="1" spc="-5" dirty="0">
                <a:latin typeface="Constantia"/>
                <a:cs typeface="Constantia"/>
              </a:rPr>
              <a:t>Zn</a:t>
            </a:r>
            <a:r>
              <a:rPr sz="1725" b="1" spc="-7" baseline="28985" dirty="0">
                <a:latin typeface="Constantia"/>
                <a:cs typeface="Constantia"/>
              </a:rPr>
              <a:t>2+</a:t>
            </a:r>
            <a:r>
              <a:rPr sz="1725" b="1" spc="225" baseline="28985" dirty="0">
                <a:latin typeface="Constantia"/>
                <a:cs typeface="Constantia"/>
              </a:rPr>
              <a:t> </a:t>
            </a:r>
            <a:r>
              <a:rPr sz="2000" b="1" spc="-10" dirty="0">
                <a:latin typeface="Constantia"/>
                <a:cs typeface="Constantia"/>
              </a:rPr>
              <a:t>(</a:t>
            </a:r>
            <a:r>
              <a:rPr sz="2000" b="1" i="1" spc="-10" dirty="0">
                <a:latin typeface="Constantia"/>
                <a:cs typeface="Constantia"/>
              </a:rPr>
              <a:t>aq</a:t>
            </a:r>
            <a:r>
              <a:rPr sz="2000" b="1" spc="-10" dirty="0">
                <a:latin typeface="Constantia"/>
                <a:cs typeface="Constantia"/>
              </a:rPr>
              <a:t>)</a:t>
            </a:r>
            <a:endParaRPr sz="2000">
              <a:latin typeface="Constantia"/>
              <a:cs typeface="Constantia"/>
            </a:endParaRPr>
          </a:p>
          <a:p>
            <a:pPr>
              <a:lnSpc>
                <a:spcPct val="100000"/>
              </a:lnSpc>
              <a:spcBef>
                <a:spcPts val="30"/>
              </a:spcBef>
            </a:pPr>
            <a:endParaRPr sz="2400">
              <a:latin typeface="Constantia"/>
              <a:cs typeface="Constantia"/>
            </a:endParaRPr>
          </a:p>
          <a:p>
            <a:pPr marL="1269365">
              <a:lnSpc>
                <a:spcPct val="100000"/>
              </a:lnSpc>
              <a:tabLst>
                <a:tab pos="3775710" algn="l"/>
                <a:tab pos="5016500" algn="l"/>
              </a:tabLst>
            </a:pPr>
            <a:r>
              <a:rPr sz="2400" b="1" dirty="0">
                <a:latin typeface="Constantia"/>
                <a:cs typeface="Constantia"/>
              </a:rPr>
              <a:t>[Cu</a:t>
            </a:r>
            <a:r>
              <a:rPr sz="2325" b="1" baseline="28673" dirty="0">
                <a:latin typeface="Constantia"/>
                <a:cs typeface="Constantia"/>
              </a:rPr>
              <a:t>2+</a:t>
            </a:r>
            <a:r>
              <a:rPr sz="2400" b="1" dirty="0">
                <a:latin typeface="Constantia"/>
                <a:cs typeface="Constantia"/>
              </a:rPr>
              <a:t>]</a:t>
            </a:r>
            <a:r>
              <a:rPr sz="2400" b="1" spc="-15" dirty="0">
                <a:latin typeface="Constantia"/>
                <a:cs typeface="Constantia"/>
              </a:rPr>
              <a:t> </a:t>
            </a:r>
            <a:r>
              <a:rPr sz="2400" b="1" dirty="0">
                <a:latin typeface="Constantia"/>
                <a:cs typeface="Constantia"/>
              </a:rPr>
              <a:t>= 1</a:t>
            </a:r>
            <a:r>
              <a:rPr sz="2400" b="1" spc="10" dirty="0">
                <a:latin typeface="Constantia"/>
                <a:cs typeface="Constantia"/>
              </a:rPr>
              <a:t> </a:t>
            </a:r>
            <a:r>
              <a:rPr sz="2400" b="1" i="1" dirty="0">
                <a:latin typeface="Constantia"/>
                <a:cs typeface="Constantia"/>
              </a:rPr>
              <a:t>M	</a:t>
            </a:r>
            <a:r>
              <a:rPr sz="2400" b="1" dirty="0">
                <a:latin typeface="Constantia"/>
                <a:cs typeface="Constantia"/>
              </a:rPr>
              <a:t>&amp;	[Zn</a:t>
            </a:r>
            <a:r>
              <a:rPr sz="2325" b="1" baseline="28673" dirty="0">
                <a:latin typeface="Constantia"/>
                <a:cs typeface="Constantia"/>
              </a:rPr>
              <a:t>2+</a:t>
            </a:r>
            <a:r>
              <a:rPr sz="2400" b="1" dirty="0">
                <a:latin typeface="Constantia"/>
                <a:cs typeface="Constantia"/>
              </a:rPr>
              <a:t>]</a:t>
            </a:r>
            <a:r>
              <a:rPr sz="2400" b="1" spc="-10" dirty="0">
                <a:latin typeface="Constantia"/>
                <a:cs typeface="Constantia"/>
              </a:rPr>
              <a:t> </a:t>
            </a:r>
            <a:r>
              <a:rPr sz="2400" b="1" dirty="0">
                <a:latin typeface="Constantia"/>
                <a:cs typeface="Constantia"/>
              </a:rPr>
              <a:t>=</a:t>
            </a:r>
            <a:r>
              <a:rPr sz="2400" b="1" spc="-30" dirty="0">
                <a:latin typeface="Constantia"/>
                <a:cs typeface="Constantia"/>
              </a:rPr>
              <a:t> </a:t>
            </a:r>
            <a:r>
              <a:rPr sz="2400" b="1" dirty="0">
                <a:latin typeface="Constantia"/>
                <a:cs typeface="Constantia"/>
              </a:rPr>
              <a:t>1</a:t>
            </a:r>
            <a:r>
              <a:rPr sz="2400" b="1" spc="-5" dirty="0">
                <a:latin typeface="Constantia"/>
                <a:cs typeface="Constantia"/>
              </a:rPr>
              <a:t> </a:t>
            </a:r>
            <a:r>
              <a:rPr sz="2400" b="1" i="1" dirty="0">
                <a:latin typeface="Constantia"/>
                <a:cs typeface="Constantia"/>
              </a:rPr>
              <a:t>M</a:t>
            </a:r>
            <a:endParaRPr sz="2400">
              <a:latin typeface="Constantia"/>
              <a:cs typeface="Constantia"/>
            </a:endParaRPr>
          </a:p>
          <a:p>
            <a:pPr marL="1196340">
              <a:lnSpc>
                <a:spcPct val="100000"/>
              </a:lnSpc>
              <a:spcBef>
                <a:spcPts val="1925"/>
              </a:spcBef>
            </a:pPr>
            <a:r>
              <a:rPr sz="2400" b="1" dirty="0">
                <a:latin typeface="Constantia"/>
                <a:cs typeface="Constantia"/>
              </a:rPr>
              <a:t>Zn</a:t>
            </a:r>
            <a:r>
              <a:rPr sz="2400" b="1" spc="-55" dirty="0">
                <a:latin typeface="Constantia"/>
                <a:cs typeface="Constantia"/>
              </a:rPr>
              <a:t> </a:t>
            </a:r>
            <a:r>
              <a:rPr sz="2400" b="1" spc="-5" dirty="0">
                <a:latin typeface="Constantia"/>
                <a:cs typeface="Constantia"/>
              </a:rPr>
              <a:t>(</a:t>
            </a:r>
            <a:r>
              <a:rPr sz="2400" b="1" i="1" spc="-5" dirty="0">
                <a:latin typeface="Constantia"/>
                <a:cs typeface="Constantia"/>
              </a:rPr>
              <a:t>s</a:t>
            </a:r>
            <a:r>
              <a:rPr sz="2400" b="1" spc="-5" dirty="0">
                <a:latin typeface="Constantia"/>
                <a:cs typeface="Constantia"/>
              </a:rPr>
              <a:t>)</a:t>
            </a:r>
            <a:r>
              <a:rPr sz="2400" b="1" spc="-20" dirty="0">
                <a:latin typeface="Constantia"/>
                <a:cs typeface="Constantia"/>
              </a:rPr>
              <a:t> </a:t>
            </a:r>
            <a:r>
              <a:rPr sz="2400" b="1" dirty="0">
                <a:latin typeface="Constantia"/>
                <a:cs typeface="Constantia"/>
              </a:rPr>
              <a:t>|</a:t>
            </a:r>
            <a:r>
              <a:rPr sz="2400" b="1" spc="-10" dirty="0">
                <a:latin typeface="Constantia"/>
                <a:cs typeface="Constantia"/>
              </a:rPr>
              <a:t> </a:t>
            </a:r>
            <a:r>
              <a:rPr sz="2400" b="1" spc="-5" dirty="0">
                <a:latin typeface="Constantia"/>
                <a:cs typeface="Constantia"/>
              </a:rPr>
              <a:t>Zn</a:t>
            </a:r>
            <a:r>
              <a:rPr sz="2325" b="1" spc="-7" baseline="28673" dirty="0">
                <a:latin typeface="Constantia"/>
                <a:cs typeface="Constantia"/>
              </a:rPr>
              <a:t>2+</a:t>
            </a:r>
            <a:r>
              <a:rPr sz="2325" b="1" spc="307" baseline="28673" dirty="0">
                <a:latin typeface="Constantia"/>
                <a:cs typeface="Constantia"/>
              </a:rPr>
              <a:t> </a:t>
            </a:r>
            <a:r>
              <a:rPr sz="2400" b="1" spc="5" dirty="0">
                <a:latin typeface="Constantia"/>
                <a:cs typeface="Constantia"/>
              </a:rPr>
              <a:t>(1</a:t>
            </a:r>
            <a:r>
              <a:rPr sz="2400" b="1" spc="-15" dirty="0">
                <a:latin typeface="Constantia"/>
                <a:cs typeface="Constantia"/>
              </a:rPr>
              <a:t> </a:t>
            </a:r>
            <a:r>
              <a:rPr sz="2400" b="1" i="1" spc="-5" dirty="0">
                <a:latin typeface="Constantia"/>
                <a:cs typeface="Constantia"/>
              </a:rPr>
              <a:t>M</a:t>
            </a:r>
            <a:r>
              <a:rPr sz="2400" b="1" spc="-5" dirty="0">
                <a:latin typeface="Constantia"/>
                <a:cs typeface="Constantia"/>
              </a:rPr>
              <a:t>)</a:t>
            </a:r>
            <a:r>
              <a:rPr sz="2400" b="1" spc="5" dirty="0">
                <a:latin typeface="Constantia"/>
                <a:cs typeface="Constantia"/>
              </a:rPr>
              <a:t> </a:t>
            </a:r>
            <a:r>
              <a:rPr sz="2400" b="1" spc="-5" dirty="0">
                <a:latin typeface="Constantia"/>
                <a:cs typeface="Constantia"/>
              </a:rPr>
              <a:t>||</a:t>
            </a:r>
            <a:r>
              <a:rPr sz="2400" b="1" spc="-10" dirty="0">
                <a:latin typeface="Constantia"/>
                <a:cs typeface="Constantia"/>
              </a:rPr>
              <a:t> </a:t>
            </a:r>
            <a:r>
              <a:rPr sz="2400" b="1" dirty="0">
                <a:latin typeface="Constantia"/>
                <a:cs typeface="Constantia"/>
              </a:rPr>
              <a:t>Cu</a:t>
            </a:r>
            <a:r>
              <a:rPr sz="2325" b="1" baseline="28673" dirty="0">
                <a:latin typeface="Constantia"/>
                <a:cs typeface="Constantia"/>
              </a:rPr>
              <a:t>2+</a:t>
            </a:r>
            <a:r>
              <a:rPr sz="2325" b="1" spc="300" baseline="28673" dirty="0">
                <a:latin typeface="Constantia"/>
                <a:cs typeface="Constantia"/>
              </a:rPr>
              <a:t> </a:t>
            </a:r>
            <a:r>
              <a:rPr sz="2400" b="1" spc="-10" dirty="0">
                <a:latin typeface="Constantia"/>
                <a:cs typeface="Constantia"/>
              </a:rPr>
              <a:t>(1</a:t>
            </a:r>
            <a:r>
              <a:rPr sz="2400" b="1" spc="10" dirty="0">
                <a:latin typeface="Constantia"/>
                <a:cs typeface="Constantia"/>
              </a:rPr>
              <a:t> </a:t>
            </a:r>
            <a:r>
              <a:rPr sz="2400" b="1" i="1" spc="-15" dirty="0">
                <a:latin typeface="Constantia"/>
                <a:cs typeface="Constantia"/>
              </a:rPr>
              <a:t>M</a:t>
            </a:r>
            <a:r>
              <a:rPr sz="2400" b="1" spc="-15" dirty="0">
                <a:latin typeface="Constantia"/>
                <a:cs typeface="Constantia"/>
              </a:rPr>
              <a:t>)</a:t>
            </a:r>
            <a:r>
              <a:rPr sz="2400" b="1" spc="10" dirty="0">
                <a:latin typeface="Constantia"/>
                <a:cs typeface="Constantia"/>
              </a:rPr>
              <a:t> </a:t>
            </a:r>
            <a:r>
              <a:rPr sz="2400" b="1" dirty="0">
                <a:latin typeface="Constantia"/>
                <a:cs typeface="Constantia"/>
              </a:rPr>
              <a:t>|</a:t>
            </a:r>
            <a:r>
              <a:rPr sz="2400" b="1" spc="-10" dirty="0">
                <a:latin typeface="Constantia"/>
                <a:cs typeface="Constantia"/>
              </a:rPr>
              <a:t> </a:t>
            </a:r>
            <a:r>
              <a:rPr sz="2400" b="1" dirty="0">
                <a:latin typeface="Constantia"/>
                <a:cs typeface="Constantia"/>
              </a:rPr>
              <a:t>Cu</a:t>
            </a:r>
            <a:r>
              <a:rPr sz="2400" b="1" spc="-20" dirty="0">
                <a:latin typeface="Constantia"/>
                <a:cs typeface="Constantia"/>
              </a:rPr>
              <a:t> </a:t>
            </a:r>
            <a:r>
              <a:rPr sz="2400" b="1" spc="-5" dirty="0">
                <a:latin typeface="Constantia"/>
                <a:cs typeface="Constantia"/>
              </a:rPr>
              <a:t>(</a:t>
            </a:r>
            <a:r>
              <a:rPr sz="2400" b="1" i="1" spc="-5" dirty="0">
                <a:latin typeface="Constantia"/>
                <a:cs typeface="Constantia"/>
              </a:rPr>
              <a:t>s</a:t>
            </a:r>
            <a:r>
              <a:rPr sz="2400" b="1" spc="-5" dirty="0">
                <a:latin typeface="Constantia"/>
                <a:cs typeface="Constantia"/>
              </a:rPr>
              <a:t>)</a:t>
            </a:r>
            <a:endParaRPr sz="2400">
              <a:latin typeface="Constantia"/>
              <a:cs typeface="Constantia"/>
            </a:endParaRPr>
          </a:p>
        </p:txBody>
      </p:sp>
      <p:sp>
        <p:nvSpPr>
          <p:cNvPr id="5" name="object 5"/>
          <p:cNvSpPr txBox="1"/>
          <p:nvPr/>
        </p:nvSpPr>
        <p:spPr>
          <a:xfrm>
            <a:off x="1831975" y="5418226"/>
            <a:ext cx="1070610" cy="454025"/>
          </a:xfrm>
          <a:prstGeom prst="rect">
            <a:avLst/>
          </a:prstGeom>
        </p:spPr>
        <p:txBody>
          <a:bodyPr vert="horz" wrap="square" lIns="0" tIns="13970" rIns="0" bIns="0" rtlCol="0">
            <a:spAutoFit/>
          </a:bodyPr>
          <a:lstStyle/>
          <a:p>
            <a:pPr marL="12700">
              <a:lnSpc>
                <a:spcPct val="100000"/>
              </a:lnSpc>
              <a:spcBef>
                <a:spcPts val="110"/>
              </a:spcBef>
            </a:pPr>
            <a:r>
              <a:rPr sz="2800" b="1" spc="5" dirty="0">
                <a:solidFill>
                  <a:srgbClr val="820000"/>
                </a:solidFill>
                <a:latin typeface="Constantia"/>
                <a:cs typeface="Constantia"/>
              </a:rPr>
              <a:t>an</a:t>
            </a:r>
            <a:r>
              <a:rPr sz="2800" b="1" spc="-15" dirty="0">
                <a:solidFill>
                  <a:srgbClr val="820000"/>
                </a:solidFill>
                <a:latin typeface="Constantia"/>
                <a:cs typeface="Constantia"/>
              </a:rPr>
              <a:t>o</a:t>
            </a:r>
            <a:r>
              <a:rPr sz="2800" b="1" spc="10" dirty="0">
                <a:solidFill>
                  <a:srgbClr val="820000"/>
                </a:solidFill>
                <a:latin typeface="Constantia"/>
                <a:cs typeface="Constantia"/>
              </a:rPr>
              <a:t>d</a:t>
            </a:r>
            <a:r>
              <a:rPr sz="2800" b="1" spc="5" dirty="0">
                <a:solidFill>
                  <a:srgbClr val="820000"/>
                </a:solidFill>
                <a:latin typeface="Constantia"/>
                <a:cs typeface="Constantia"/>
              </a:rPr>
              <a:t>e</a:t>
            </a:r>
            <a:endParaRPr sz="2800">
              <a:latin typeface="Constantia"/>
              <a:cs typeface="Constantia"/>
            </a:endParaRPr>
          </a:p>
        </p:txBody>
      </p:sp>
      <p:sp>
        <p:nvSpPr>
          <p:cNvPr id="6" name="object 6"/>
          <p:cNvSpPr txBox="1"/>
          <p:nvPr/>
        </p:nvSpPr>
        <p:spPr>
          <a:xfrm>
            <a:off x="4804664" y="5500827"/>
            <a:ext cx="118554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005579"/>
                </a:solidFill>
                <a:latin typeface="Constantia"/>
                <a:cs typeface="Constantia"/>
              </a:rPr>
              <a:t>cathode</a:t>
            </a:r>
            <a:endParaRPr sz="2400">
              <a:latin typeface="Constantia"/>
              <a:cs typeface="Constant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641980" y="100329"/>
            <a:ext cx="344805" cy="292735"/>
          </a:xfrm>
          <a:prstGeom prst="rect">
            <a:avLst/>
          </a:prstGeom>
        </p:spPr>
        <p:txBody>
          <a:bodyPr vert="horz" wrap="square" lIns="0" tIns="12700" rIns="0" bIns="0" rtlCol="0">
            <a:spAutoFit/>
          </a:bodyPr>
          <a:lstStyle/>
          <a:p>
            <a:pPr marL="38100">
              <a:lnSpc>
                <a:spcPct val="100000"/>
              </a:lnSpc>
              <a:spcBef>
                <a:spcPts val="100"/>
              </a:spcBef>
            </a:pPr>
            <a:r>
              <a:rPr sz="2625" spc="-89" baseline="-15873" dirty="0">
                <a:latin typeface="Arial MT"/>
                <a:cs typeface="Arial MT"/>
              </a:rPr>
              <a:t>e</a:t>
            </a:r>
            <a:r>
              <a:rPr sz="2625" spc="-300" baseline="-15873" dirty="0">
                <a:latin typeface="Arial MT"/>
                <a:cs typeface="Arial MT"/>
              </a:rPr>
              <a:t> </a:t>
            </a:r>
            <a:r>
              <a:rPr sz="1750" spc="-60" dirty="0">
                <a:latin typeface="Arial MT"/>
                <a:cs typeface="Arial MT"/>
              </a:rPr>
              <a:t>–</a:t>
            </a:r>
            <a:endParaRPr sz="1750">
              <a:latin typeface="Arial MT"/>
              <a:cs typeface="Arial MT"/>
            </a:endParaRPr>
          </a:p>
        </p:txBody>
      </p:sp>
      <p:sp>
        <p:nvSpPr>
          <p:cNvPr id="3" name="object 3"/>
          <p:cNvSpPr txBox="1"/>
          <p:nvPr/>
        </p:nvSpPr>
        <p:spPr>
          <a:xfrm>
            <a:off x="6047866" y="100329"/>
            <a:ext cx="347980" cy="292735"/>
          </a:xfrm>
          <a:prstGeom prst="rect">
            <a:avLst/>
          </a:prstGeom>
        </p:spPr>
        <p:txBody>
          <a:bodyPr vert="horz" wrap="square" lIns="0" tIns="12700" rIns="0" bIns="0" rtlCol="0">
            <a:spAutoFit/>
          </a:bodyPr>
          <a:lstStyle/>
          <a:p>
            <a:pPr marL="38100">
              <a:lnSpc>
                <a:spcPct val="100000"/>
              </a:lnSpc>
              <a:spcBef>
                <a:spcPts val="100"/>
              </a:spcBef>
            </a:pPr>
            <a:r>
              <a:rPr sz="2625" spc="-89" baseline="-15873" dirty="0">
                <a:latin typeface="Arial MT"/>
                <a:cs typeface="Arial MT"/>
              </a:rPr>
              <a:t>e</a:t>
            </a:r>
            <a:r>
              <a:rPr sz="2625" spc="-270" baseline="-15873" dirty="0">
                <a:latin typeface="Arial MT"/>
                <a:cs typeface="Arial MT"/>
              </a:rPr>
              <a:t> </a:t>
            </a:r>
            <a:r>
              <a:rPr sz="1750" spc="-60" dirty="0">
                <a:latin typeface="Arial MT"/>
                <a:cs typeface="Arial MT"/>
              </a:rPr>
              <a:t>–</a:t>
            </a:r>
            <a:endParaRPr sz="1750">
              <a:latin typeface="Arial MT"/>
              <a:cs typeface="Arial MT"/>
            </a:endParaRPr>
          </a:p>
        </p:txBody>
      </p:sp>
      <p:sp>
        <p:nvSpPr>
          <p:cNvPr id="4" name="object 4"/>
          <p:cNvSpPr txBox="1"/>
          <p:nvPr/>
        </p:nvSpPr>
        <p:spPr>
          <a:xfrm>
            <a:off x="1855342" y="664210"/>
            <a:ext cx="347980" cy="292735"/>
          </a:xfrm>
          <a:prstGeom prst="rect">
            <a:avLst/>
          </a:prstGeom>
        </p:spPr>
        <p:txBody>
          <a:bodyPr vert="horz" wrap="square" lIns="0" tIns="12700" rIns="0" bIns="0" rtlCol="0">
            <a:spAutoFit/>
          </a:bodyPr>
          <a:lstStyle/>
          <a:p>
            <a:pPr marL="38100">
              <a:lnSpc>
                <a:spcPct val="100000"/>
              </a:lnSpc>
              <a:spcBef>
                <a:spcPts val="100"/>
              </a:spcBef>
            </a:pPr>
            <a:r>
              <a:rPr sz="2625" spc="-89" baseline="-20634" dirty="0">
                <a:latin typeface="Arial MT"/>
                <a:cs typeface="Arial MT"/>
              </a:rPr>
              <a:t>e</a:t>
            </a:r>
            <a:r>
              <a:rPr sz="2625" spc="-270" baseline="-20634" dirty="0">
                <a:latin typeface="Arial MT"/>
                <a:cs typeface="Arial MT"/>
              </a:rPr>
              <a:t> </a:t>
            </a:r>
            <a:r>
              <a:rPr sz="1750" spc="-60" dirty="0">
                <a:latin typeface="Arial MT"/>
                <a:cs typeface="Arial MT"/>
              </a:rPr>
              <a:t>–</a:t>
            </a:r>
            <a:endParaRPr sz="1750">
              <a:latin typeface="Arial MT"/>
              <a:cs typeface="Arial MT"/>
            </a:endParaRPr>
          </a:p>
        </p:txBody>
      </p:sp>
      <p:sp>
        <p:nvSpPr>
          <p:cNvPr id="5" name="object 5"/>
          <p:cNvSpPr txBox="1"/>
          <p:nvPr/>
        </p:nvSpPr>
        <p:spPr>
          <a:xfrm>
            <a:off x="6816217" y="664210"/>
            <a:ext cx="365125" cy="292735"/>
          </a:xfrm>
          <a:prstGeom prst="rect">
            <a:avLst/>
          </a:prstGeom>
        </p:spPr>
        <p:txBody>
          <a:bodyPr vert="horz" wrap="square" lIns="0" tIns="12700" rIns="0" bIns="0" rtlCol="0">
            <a:spAutoFit/>
          </a:bodyPr>
          <a:lstStyle/>
          <a:p>
            <a:pPr marL="38100">
              <a:lnSpc>
                <a:spcPct val="100000"/>
              </a:lnSpc>
              <a:spcBef>
                <a:spcPts val="100"/>
              </a:spcBef>
            </a:pPr>
            <a:r>
              <a:rPr sz="2625" baseline="-20634" dirty="0">
                <a:latin typeface="Arial MT"/>
                <a:cs typeface="Arial MT"/>
              </a:rPr>
              <a:t>e</a:t>
            </a:r>
            <a:r>
              <a:rPr sz="2625" spc="-247" baseline="-20634" dirty="0">
                <a:latin typeface="Arial MT"/>
                <a:cs typeface="Arial MT"/>
              </a:rPr>
              <a:t> </a:t>
            </a:r>
            <a:r>
              <a:rPr sz="1750" dirty="0">
                <a:latin typeface="Arial MT"/>
                <a:cs typeface="Arial MT"/>
              </a:rPr>
              <a:t>–</a:t>
            </a:r>
            <a:endParaRPr sz="1750">
              <a:latin typeface="Arial MT"/>
              <a:cs typeface="Arial MT"/>
            </a:endParaRPr>
          </a:p>
        </p:txBody>
      </p:sp>
      <p:sp>
        <p:nvSpPr>
          <p:cNvPr id="6" name="object 6"/>
          <p:cNvSpPr txBox="1"/>
          <p:nvPr/>
        </p:nvSpPr>
        <p:spPr>
          <a:xfrm>
            <a:off x="4423664" y="1085215"/>
            <a:ext cx="1182370" cy="292735"/>
          </a:xfrm>
          <a:prstGeom prst="rect">
            <a:avLst/>
          </a:prstGeom>
        </p:spPr>
        <p:txBody>
          <a:bodyPr vert="horz" wrap="square" lIns="0" tIns="12700" rIns="0" bIns="0" rtlCol="0">
            <a:spAutoFit/>
          </a:bodyPr>
          <a:lstStyle/>
          <a:p>
            <a:pPr marL="12700">
              <a:lnSpc>
                <a:spcPct val="100000"/>
              </a:lnSpc>
              <a:spcBef>
                <a:spcPts val="100"/>
              </a:spcBef>
            </a:pPr>
            <a:r>
              <a:rPr sz="1750" spc="-5" dirty="0">
                <a:latin typeface="Arial MT"/>
                <a:cs typeface="Arial MT"/>
              </a:rPr>
              <a:t>Porous</a:t>
            </a:r>
            <a:r>
              <a:rPr sz="1750" spc="-95" dirty="0">
                <a:latin typeface="Arial MT"/>
                <a:cs typeface="Arial MT"/>
              </a:rPr>
              <a:t> </a:t>
            </a:r>
            <a:r>
              <a:rPr sz="1750" spc="-5" dirty="0">
                <a:latin typeface="Arial MT"/>
                <a:cs typeface="Arial MT"/>
              </a:rPr>
              <a:t>disk</a:t>
            </a:r>
            <a:endParaRPr sz="1750">
              <a:latin typeface="Arial MT"/>
              <a:cs typeface="Arial MT"/>
            </a:endParaRPr>
          </a:p>
        </p:txBody>
      </p:sp>
      <p:sp>
        <p:nvSpPr>
          <p:cNvPr id="7" name="object 7"/>
          <p:cNvSpPr txBox="1"/>
          <p:nvPr/>
        </p:nvSpPr>
        <p:spPr>
          <a:xfrm>
            <a:off x="2283332" y="1521028"/>
            <a:ext cx="1977389" cy="512445"/>
          </a:xfrm>
          <a:prstGeom prst="rect">
            <a:avLst/>
          </a:prstGeom>
        </p:spPr>
        <p:txBody>
          <a:bodyPr vert="horz" wrap="square" lIns="0" tIns="12065" rIns="0" bIns="0" rtlCol="0">
            <a:spAutoFit/>
          </a:bodyPr>
          <a:lstStyle/>
          <a:p>
            <a:pPr marL="12700">
              <a:lnSpc>
                <a:spcPct val="100000"/>
              </a:lnSpc>
              <a:spcBef>
                <a:spcPts val="95"/>
              </a:spcBef>
            </a:pPr>
            <a:r>
              <a:rPr sz="3200" b="1" spc="-5" dirty="0">
                <a:solidFill>
                  <a:srgbClr val="FF0000"/>
                </a:solidFill>
                <a:latin typeface="Constantia"/>
                <a:cs typeface="Constantia"/>
              </a:rPr>
              <a:t>O</a:t>
            </a:r>
            <a:r>
              <a:rPr sz="3200" b="1" spc="-15" dirty="0">
                <a:solidFill>
                  <a:srgbClr val="FF0000"/>
                </a:solidFill>
                <a:latin typeface="Constantia"/>
                <a:cs typeface="Constantia"/>
              </a:rPr>
              <a:t>x</a:t>
            </a:r>
            <a:r>
              <a:rPr sz="3200" b="1" spc="-5" dirty="0">
                <a:solidFill>
                  <a:srgbClr val="FF0000"/>
                </a:solidFill>
                <a:latin typeface="Constantia"/>
                <a:cs typeface="Constantia"/>
              </a:rPr>
              <a:t>idation</a:t>
            </a:r>
            <a:endParaRPr sz="3200">
              <a:latin typeface="Constantia"/>
              <a:cs typeface="Constantia"/>
            </a:endParaRPr>
          </a:p>
        </p:txBody>
      </p:sp>
      <p:sp>
        <p:nvSpPr>
          <p:cNvPr id="8" name="object 8"/>
          <p:cNvSpPr txBox="1"/>
          <p:nvPr/>
        </p:nvSpPr>
        <p:spPr>
          <a:xfrm>
            <a:off x="5009134" y="1521028"/>
            <a:ext cx="2027555" cy="512445"/>
          </a:xfrm>
          <a:prstGeom prst="rect">
            <a:avLst/>
          </a:prstGeom>
        </p:spPr>
        <p:txBody>
          <a:bodyPr vert="horz" wrap="square" lIns="0" tIns="12065" rIns="0" bIns="0" rtlCol="0">
            <a:spAutoFit/>
          </a:bodyPr>
          <a:lstStyle/>
          <a:p>
            <a:pPr marL="12700">
              <a:lnSpc>
                <a:spcPct val="100000"/>
              </a:lnSpc>
              <a:spcBef>
                <a:spcPts val="95"/>
              </a:spcBef>
            </a:pPr>
            <a:r>
              <a:rPr sz="3200" b="1" spc="-10" dirty="0">
                <a:solidFill>
                  <a:srgbClr val="FF0000"/>
                </a:solidFill>
                <a:latin typeface="Constantia"/>
                <a:cs typeface="Constantia"/>
              </a:rPr>
              <a:t>Reduction</a:t>
            </a:r>
            <a:endParaRPr sz="3200">
              <a:latin typeface="Constantia"/>
              <a:cs typeface="Constantia"/>
            </a:endParaRPr>
          </a:p>
        </p:txBody>
      </p:sp>
      <p:sp>
        <p:nvSpPr>
          <p:cNvPr id="9" name="object 9"/>
          <p:cNvSpPr txBox="1"/>
          <p:nvPr/>
        </p:nvSpPr>
        <p:spPr>
          <a:xfrm>
            <a:off x="2056510" y="2811272"/>
            <a:ext cx="345440" cy="292735"/>
          </a:xfrm>
          <a:prstGeom prst="rect">
            <a:avLst/>
          </a:prstGeom>
        </p:spPr>
        <p:txBody>
          <a:bodyPr vert="horz" wrap="square" lIns="0" tIns="12700" rIns="0" bIns="0" rtlCol="0">
            <a:spAutoFit/>
          </a:bodyPr>
          <a:lstStyle/>
          <a:p>
            <a:pPr marL="38100">
              <a:lnSpc>
                <a:spcPct val="100000"/>
              </a:lnSpc>
              <a:spcBef>
                <a:spcPts val="100"/>
              </a:spcBef>
            </a:pPr>
            <a:r>
              <a:rPr sz="2625" spc="-89" baseline="-17460" dirty="0">
                <a:latin typeface="Arial MT"/>
                <a:cs typeface="Arial MT"/>
              </a:rPr>
              <a:t>e</a:t>
            </a:r>
            <a:r>
              <a:rPr sz="2625" spc="-300" baseline="-17460" dirty="0">
                <a:latin typeface="Arial MT"/>
                <a:cs typeface="Arial MT"/>
              </a:rPr>
              <a:t> </a:t>
            </a:r>
            <a:r>
              <a:rPr sz="1750" spc="-60" dirty="0">
                <a:latin typeface="Arial MT"/>
                <a:cs typeface="Arial MT"/>
              </a:rPr>
              <a:t>–</a:t>
            </a:r>
            <a:endParaRPr sz="1750">
              <a:latin typeface="Arial MT"/>
              <a:cs typeface="Arial MT"/>
            </a:endParaRPr>
          </a:p>
        </p:txBody>
      </p:sp>
      <p:sp>
        <p:nvSpPr>
          <p:cNvPr id="10" name="object 10"/>
          <p:cNvSpPr txBox="1"/>
          <p:nvPr/>
        </p:nvSpPr>
        <p:spPr>
          <a:xfrm>
            <a:off x="6645275" y="2811272"/>
            <a:ext cx="374015" cy="292735"/>
          </a:xfrm>
          <a:prstGeom prst="rect">
            <a:avLst/>
          </a:prstGeom>
        </p:spPr>
        <p:txBody>
          <a:bodyPr vert="horz" wrap="square" lIns="0" tIns="12700" rIns="0" bIns="0" rtlCol="0">
            <a:spAutoFit/>
          </a:bodyPr>
          <a:lstStyle/>
          <a:p>
            <a:pPr marL="38100">
              <a:lnSpc>
                <a:spcPct val="100000"/>
              </a:lnSpc>
              <a:spcBef>
                <a:spcPts val="100"/>
              </a:spcBef>
            </a:pPr>
            <a:r>
              <a:rPr sz="2625" baseline="-17460" dirty="0">
                <a:latin typeface="Arial MT"/>
                <a:cs typeface="Arial MT"/>
              </a:rPr>
              <a:t>e</a:t>
            </a:r>
            <a:r>
              <a:rPr sz="2625" spc="-142" baseline="-17460" dirty="0">
                <a:latin typeface="Arial MT"/>
                <a:cs typeface="Arial MT"/>
              </a:rPr>
              <a:t> </a:t>
            </a:r>
            <a:r>
              <a:rPr sz="1750" dirty="0">
                <a:latin typeface="Arial MT"/>
                <a:cs typeface="Arial MT"/>
              </a:rPr>
              <a:t>–</a:t>
            </a:r>
            <a:endParaRPr sz="1750">
              <a:latin typeface="Arial MT"/>
              <a:cs typeface="Arial MT"/>
            </a:endParaRPr>
          </a:p>
        </p:txBody>
      </p:sp>
      <p:sp>
        <p:nvSpPr>
          <p:cNvPr id="11" name="object 11"/>
          <p:cNvSpPr txBox="1"/>
          <p:nvPr/>
        </p:nvSpPr>
        <p:spPr>
          <a:xfrm>
            <a:off x="2807589" y="2933192"/>
            <a:ext cx="965200" cy="560705"/>
          </a:xfrm>
          <a:prstGeom prst="rect">
            <a:avLst/>
          </a:prstGeom>
        </p:spPr>
        <p:txBody>
          <a:bodyPr vert="horz" wrap="square" lIns="0" tIns="11430" rIns="0" bIns="0" rtlCol="0">
            <a:spAutoFit/>
          </a:bodyPr>
          <a:lstStyle/>
          <a:p>
            <a:pPr marL="12700" marR="5080">
              <a:lnSpc>
                <a:spcPct val="100600"/>
              </a:lnSpc>
              <a:spcBef>
                <a:spcPts val="90"/>
              </a:spcBef>
            </a:pPr>
            <a:r>
              <a:rPr sz="1750" spc="5" dirty="0">
                <a:latin typeface="Arial MT"/>
                <a:cs typeface="Arial MT"/>
              </a:rPr>
              <a:t>Re</a:t>
            </a:r>
            <a:r>
              <a:rPr sz="1750" spc="-15" dirty="0">
                <a:latin typeface="Arial MT"/>
                <a:cs typeface="Arial MT"/>
              </a:rPr>
              <a:t>d</a:t>
            </a:r>
            <a:r>
              <a:rPr sz="1750" spc="5" dirty="0">
                <a:latin typeface="Arial MT"/>
                <a:cs typeface="Arial MT"/>
              </a:rPr>
              <a:t>u</a:t>
            </a:r>
            <a:r>
              <a:rPr sz="1750" spc="10" dirty="0">
                <a:latin typeface="Arial MT"/>
                <a:cs typeface="Arial MT"/>
              </a:rPr>
              <a:t>c</a:t>
            </a:r>
            <a:r>
              <a:rPr sz="1750" spc="-30" dirty="0">
                <a:latin typeface="Arial MT"/>
                <a:cs typeface="Arial MT"/>
              </a:rPr>
              <a:t>i</a:t>
            </a:r>
            <a:r>
              <a:rPr sz="1750" spc="5" dirty="0">
                <a:latin typeface="Arial MT"/>
                <a:cs typeface="Arial MT"/>
              </a:rPr>
              <a:t>n</a:t>
            </a:r>
            <a:r>
              <a:rPr sz="1750" dirty="0">
                <a:latin typeface="Arial MT"/>
                <a:cs typeface="Arial MT"/>
              </a:rPr>
              <a:t>g  agent</a:t>
            </a:r>
            <a:endParaRPr sz="1750">
              <a:latin typeface="Arial MT"/>
              <a:cs typeface="Arial MT"/>
            </a:endParaRPr>
          </a:p>
        </p:txBody>
      </p:sp>
      <p:sp>
        <p:nvSpPr>
          <p:cNvPr id="12" name="object 12"/>
          <p:cNvSpPr txBox="1"/>
          <p:nvPr/>
        </p:nvSpPr>
        <p:spPr>
          <a:xfrm>
            <a:off x="4969509" y="2933192"/>
            <a:ext cx="937894" cy="560705"/>
          </a:xfrm>
          <a:prstGeom prst="rect">
            <a:avLst/>
          </a:prstGeom>
        </p:spPr>
        <p:txBody>
          <a:bodyPr vert="horz" wrap="square" lIns="0" tIns="11430" rIns="0" bIns="0" rtlCol="0">
            <a:spAutoFit/>
          </a:bodyPr>
          <a:lstStyle/>
          <a:p>
            <a:pPr marL="12700" marR="5080">
              <a:lnSpc>
                <a:spcPct val="100600"/>
              </a:lnSpc>
              <a:spcBef>
                <a:spcPts val="90"/>
              </a:spcBef>
            </a:pPr>
            <a:r>
              <a:rPr sz="1750" dirty="0">
                <a:latin typeface="Arial MT"/>
                <a:cs typeface="Arial MT"/>
              </a:rPr>
              <a:t>O</a:t>
            </a:r>
            <a:r>
              <a:rPr sz="1750" spc="-35" dirty="0">
                <a:latin typeface="Arial MT"/>
                <a:cs typeface="Arial MT"/>
              </a:rPr>
              <a:t>x</a:t>
            </a:r>
            <a:r>
              <a:rPr sz="1750" dirty="0">
                <a:latin typeface="Arial MT"/>
                <a:cs typeface="Arial MT"/>
              </a:rPr>
              <a:t>id</a:t>
            </a:r>
            <a:r>
              <a:rPr sz="1750" spc="20" dirty="0">
                <a:latin typeface="Arial MT"/>
                <a:cs typeface="Arial MT"/>
              </a:rPr>
              <a:t>i</a:t>
            </a:r>
            <a:r>
              <a:rPr sz="1750" spc="-15" dirty="0">
                <a:latin typeface="Arial MT"/>
                <a:cs typeface="Arial MT"/>
              </a:rPr>
              <a:t>z</a:t>
            </a:r>
            <a:r>
              <a:rPr sz="1750" dirty="0">
                <a:latin typeface="Arial MT"/>
                <a:cs typeface="Arial MT"/>
              </a:rPr>
              <a:t>ing  agent</a:t>
            </a:r>
            <a:endParaRPr sz="1750">
              <a:latin typeface="Arial MT"/>
              <a:cs typeface="Arial MT"/>
            </a:endParaRPr>
          </a:p>
        </p:txBody>
      </p:sp>
      <p:sp>
        <p:nvSpPr>
          <p:cNvPr id="13" name="object 13"/>
          <p:cNvSpPr txBox="1"/>
          <p:nvPr/>
        </p:nvSpPr>
        <p:spPr>
          <a:xfrm>
            <a:off x="2017902" y="4851272"/>
            <a:ext cx="1304290" cy="292735"/>
          </a:xfrm>
          <a:prstGeom prst="rect">
            <a:avLst/>
          </a:prstGeom>
        </p:spPr>
        <p:txBody>
          <a:bodyPr vert="horz" wrap="square" lIns="0" tIns="12700" rIns="0" bIns="0" rtlCol="0">
            <a:spAutoFit/>
          </a:bodyPr>
          <a:lstStyle/>
          <a:p>
            <a:pPr marL="12700">
              <a:lnSpc>
                <a:spcPct val="100000"/>
              </a:lnSpc>
              <a:spcBef>
                <a:spcPts val="100"/>
              </a:spcBef>
              <a:tabLst>
                <a:tab pos="646430" algn="l"/>
              </a:tabLst>
            </a:pPr>
            <a:r>
              <a:rPr sz="1750" spc="-10" dirty="0">
                <a:latin typeface="Arial MT"/>
                <a:cs typeface="Arial MT"/>
              </a:rPr>
              <a:t>(</a:t>
            </a:r>
            <a:r>
              <a:rPr sz="1750" spc="5" dirty="0">
                <a:latin typeface="Arial MT"/>
                <a:cs typeface="Arial MT"/>
              </a:rPr>
              <a:t>a</a:t>
            </a:r>
            <a:r>
              <a:rPr sz="1750" dirty="0">
                <a:latin typeface="Arial MT"/>
                <a:cs typeface="Arial MT"/>
              </a:rPr>
              <a:t>)	</a:t>
            </a:r>
            <a:r>
              <a:rPr sz="1750" spc="5" dirty="0">
                <a:latin typeface="Arial MT"/>
                <a:cs typeface="Arial MT"/>
              </a:rPr>
              <a:t>An</a:t>
            </a:r>
            <a:r>
              <a:rPr sz="1750" spc="-15" dirty="0">
                <a:latin typeface="Arial MT"/>
                <a:cs typeface="Arial MT"/>
              </a:rPr>
              <a:t>o</a:t>
            </a:r>
            <a:r>
              <a:rPr sz="1750" spc="5" dirty="0">
                <a:latin typeface="Arial MT"/>
                <a:cs typeface="Arial MT"/>
              </a:rPr>
              <a:t>d</a:t>
            </a:r>
            <a:r>
              <a:rPr sz="1750" dirty="0">
                <a:latin typeface="Arial MT"/>
                <a:cs typeface="Arial MT"/>
              </a:rPr>
              <a:t>e</a:t>
            </a:r>
            <a:endParaRPr sz="1750">
              <a:latin typeface="Arial MT"/>
              <a:cs typeface="Arial MT"/>
            </a:endParaRPr>
          </a:p>
        </p:txBody>
      </p:sp>
      <p:sp>
        <p:nvSpPr>
          <p:cNvPr id="14" name="object 14"/>
          <p:cNvSpPr txBox="1"/>
          <p:nvPr/>
        </p:nvSpPr>
        <p:spPr>
          <a:xfrm>
            <a:off x="5252973" y="4851272"/>
            <a:ext cx="1502410" cy="292735"/>
          </a:xfrm>
          <a:prstGeom prst="rect">
            <a:avLst/>
          </a:prstGeom>
        </p:spPr>
        <p:txBody>
          <a:bodyPr vert="horz" wrap="square" lIns="0" tIns="12700" rIns="0" bIns="0" rtlCol="0">
            <a:spAutoFit/>
          </a:bodyPr>
          <a:lstStyle/>
          <a:p>
            <a:pPr marL="12700">
              <a:lnSpc>
                <a:spcPct val="100000"/>
              </a:lnSpc>
              <a:spcBef>
                <a:spcPts val="100"/>
              </a:spcBef>
              <a:tabLst>
                <a:tab pos="646430" algn="l"/>
              </a:tabLst>
            </a:pPr>
            <a:r>
              <a:rPr sz="1750" spc="-10" dirty="0">
                <a:latin typeface="Arial MT"/>
                <a:cs typeface="Arial MT"/>
              </a:rPr>
              <a:t>(</a:t>
            </a:r>
            <a:r>
              <a:rPr sz="1750" spc="5" dirty="0">
                <a:latin typeface="Arial MT"/>
                <a:cs typeface="Arial MT"/>
              </a:rPr>
              <a:t>b</a:t>
            </a:r>
            <a:r>
              <a:rPr sz="1750" dirty="0">
                <a:latin typeface="Arial MT"/>
                <a:cs typeface="Arial MT"/>
              </a:rPr>
              <a:t>)	</a:t>
            </a:r>
            <a:r>
              <a:rPr sz="1750" spc="5" dirty="0">
                <a:latin typeface="Arial MT"/>
                <a:cs typeface="Arial MT"/>
              </a:rPr>
              <a:t>Ca</a:t>
            </a:r>
            <a:r>
              <a:rPr sz="1750" spc="-10" dirty="0">
                <a:latin typeface="Arial MT"/>
                <a:cs typeface="Arial MT"/>
              </a:rPr>
              <a:t>t</a:t>
            </a:r>
            <a:r>
              <a:rPr sz="1750" spc="5" dirty="0">
                <a:latin typeface="Arial MT"/>
                <a:cs typeface="Arial MT"/>
              </a:rPr>
              <a:t>h</a:t>
            </a:r>
            <a:r>
              <a:rPr sz="1750" spc="-15" dirty="0">
                <a:latin typeface="Arial MT"/>
                <a:cs typeface="Arial MT"/>
              </a:rPr>
              <a:t>o</a:t>
            </a:r>
            <a:r>
              <a:rPr sz="1750" spc="5" dirty="0">
                <a:latin typeface="Arial MT"/>
                <a:cs typeface="Arial MT"/>
              </a:rPr>
              <a:t>d</a:t>
            </a:r>
            <a:r>
              <a:rPr sz="1750" dirty="0">
                <a:latin typeface="Arial MT"/>
                <a:cs typeface="Arial MT"/>
              </a:rPr>
              <a:t>e</a:t>
            </a:r>
            <a:endParaRPr sz="1750">
              <a:latin typeface="Arial MT"/>
              <a:cs typeface="Arial MT"/>
            </a:endParaRPr>
          </a:p>
        </p:txBody>
      </p:sp>
      <p:grpSp>
        <p:nvGrpSpPr>
          <p:cNvPr id="15" name="object 15"/>
          <p:cNvGrpSpPr/>
          <p:nvPr/>
        </p:nvGrpSpPr>
        <p:grpSpPr>
          <a:xfrm>
            <a:off x="228600" y="233045"/>
            <a:ext cx="8458200" cy="6320155"/>
            <a:chOff x="228600" y="233045"/>
            <a:chExt cx="8458200" cy="6320155"/>
          </a:xfrm>
        </p:grpSpPr>
        <p:sp>
          <p:nvSpPr>
            <p:cNvPr id="16" name="object 16"/>
            <p:cNvSpPr/>
            <p:nvPr/>
          </p:nvSpPr>
          <p:spPr>
            <a:xfrm>
              <a:off x="1116964" y="2239009"/>
              <a:ext cx="3307715" cy="2450465"/>
            </a:xfrm>
            <a:custGeom>
              <a:avLst/>
              <a:gdLst/>
              <a:ahLst/>
              <a:cxnLst/>
              <a:rect l="l" t="t" r="r" b="b"/>
              <a:pathLst>
                <a:path w="3307715" h="2450465">
                  <a:moveTo>
                    <a:pt x="3208020" y="0"/>
                  </a:moveTo>
                  <a:lnTo>
                    <a:pt x="3141980" y="0"/>
                  </a:lnTo>
                  <a:lnTo>
                    <a:pt x="3132455" y="8254"/>
                  </a:lnTo>
                  <a:lnTo>
                    <a:pt x="3124200" y="8254"/>
                  </a:lnTo>
                  <a:lnTo>
                    <a:pt x="3114040" y="18414"/>
                  </a:lnTo>
                  <a:lnTo>
                    <a:pt x="3108960" y="18414"/>
                  </a:lnTo>
                  <a:lnTo>
                    <a:pt x="3098800" y="27939"/>
                  </a:lnTo>
                  <a:lnTo>
                    <a:pt x="3089275" y="27939"/>
                  </a:lnTo>
                  <a:lnTo>
                    <a:pt x="3079750" y="37464"/>
                  </a:lnTo>
                  <a:lnTo>
                    <a:pt x="3004820" y="37464"/>
                  </a:lnTo>
                  <a:lnTo>
                    <a:pt x="3004820" y="27939"/>
                  </a:lnTo>
                  <a:lnTo>
                    <a:pt x="2989580" y="27939"/>
                  </a:lnTo>
                  <a:lnTo>
                    <a:pt x="2981325" y="18414"/>
                  </a:lnTo>
                  <a:lnTo>
                    <a:pt x="2971800" y="18414"/>
                  </a:lnTo>
                  <a:lnTo>
                    <a:pt x="2962275" y="8254"/>
                  </a:lnTo>
                  <a:lnTo>
                    <a:pt x="2952750" y="8254"/>
                  </a:lnTo>
                  <a:lnTo>
                    <a:pt x="2952750" y="0"/>
                  </a:lnTo>
                  <a:lnTo>
                    <a:pt x="2881630" y="0"/>
                  </a:lnTo>
                  <a:lnTo>
                    <a:pt x="2872105" y="8254"/>
                  </a:lnTo>
                  <a:lnTo>
                    <a:pt x="2862580" y="8254"/>
                  </a:lnTo>
                  <a:lnTo>
                    <a:pt x="2862580" y="18414"/>
                  </a:lnTo>
                  <a:lnTo>
                    <a:pt x="2854325" y="18414"/>
                  </a:lnTo>
                  <a:lnTo>
                    <a:pt x="2844800" y="27939"/>
                  </a:lnTo>
                  <a:lnTo>
                    <a:pt x="2825115" y="27939"/>
                  </a:lnTo>
                  <a:lnTo>
                    <a:pt x="2815590" y="37464"/>
                  </a:lnTo>
                  <a:lnTo>
                    <a:pt x="2754630" y="37464"/>
                  </a:lnTo>
                  <a:lnTo>
                    <a:pt x="2745105" y="27939"/>
                  </a:lnTo>
                  <a:lnTo>
                    <a:pt x="2727325" y="27939"/>
                  </a:lnTo>
                  <a:lnTo>
                    <a:pt x="2717165" y="18414"/>
                  </a:lnTo>
                  <a:lnTo>
                    <a:pt x="2707640" y="18414"/>
                  </a:lnTo>
                  <a:lnTo>
                    <a:pt x="2707640" y="8254"/>
                  </a:lnTo>
                  <a:lnTo>
                    <a:pt x="2698115" y="8254"/>
                  </a:lnTo>
                  <a:lnTo>
                    <a:pt x="2687955" y="0"/>
                  </a:lnTo>
                  <a:lnTo>
                    <a:pt x="2625725" y="0"/>
                  </a:lnTo>
                  <a:lnTo>
                    <a:pt x="2616200" y="8254"/>
                  </a:lnTo>
                  <a:lnTo>
                    <a:pt x="2606675" y="8254"/>
                  </a:lnTo>
                  <a:lnTo>
                    <a:pt x="2598420" y="18414"/>
                  </a:lnTo>
                  <a:lnTo>
                    <a:pt x="2588895" y="18414"/>
                  </a:lnTo>
                  <a:lnTo>
                    <a:pt x="2578735" y="27939"/>
                  </a:lnTo>
                  <a:lnTo>
                    <a:pt x="2559685" y="27939"/>
                  </a:lnTo>
                  <a:lnTo>
                    <a:pt x="2559685" y="37464"/>
                  </a:lnTo>
                  <a:lnTo>
                    <a:pt x="2489200" y="37464"/>
                  </a:lnTo>
                  <a:lnTo>
                    <a:pt x="2480945" y="27939"/>
                  </a:lnTo>
                  <a:lnTo>
                    <a:pt x="2470785" y="27939"/>
                  </a:lnTo>
                  <a:lnTo>
                    <a:pt x="2461260" y="18414"/>
                  </a:lnTo>
                  <a:lnTo>
                    <a:pt x="2451735" y="18414"/>
                  </a:lnTo>
                  <a:lnTo>
                    <a:pt x="2447925" y="8254"/>
                  </a:lnTo>
                  <a:lnTo>
                    <a:pt x="2437765" y="8254"/>
                  </a:lnTo>
                  <a:lnTo>
                    <a:pt x="2428240" y="0"/>
                  </a:lnTo>
                  <a:lnTo>
                    <a:pt x="2362200" y="0"/>
                  </a:lnTo>
                  <a:lnTo>
                    <a:pt x="2353945" y="8254"/>
                  </a:lnTo>
                  <a:lnTo>
                    <a:pt x="2343785" y="8254"/>
                  </a:lnTo>
                  <a:lnTo>
                    <a:pt x="2338705" y="18414"/>
                  </a:lnTo>
                  <a:lnTo>
                    <a:pt x="2330450" y="18414"/>
                  </a:lnTo>
                  <a:lnTo>
                    <a:pt x="2330450" y="27939"/>
                  </a:lnTo>
                  <a:lnTo>
                    <a:pt x="2310765" y="27939"/>
                  </a:lnTo>
                  <a:lnTo>
                    <a:pt x="2301240" y="37464"/>
                  </a:lnTo>
                  <a:lnTo>
                    <a:pt x="2233295" y="37464"/>
                  </a:lnTo>
                  <a:lnTo>
                    <a:pt x="2228850" y="27939"/>
                  </a:lnTo>
                  <a:lnTo>
                    <a:pt x="2209800" y="27939"/>
                  </a:lnTo>
                  <a:lnTo>
                    <a:pt x="2201545" y="18414"/>
                  </a:lnTo>
                  <a:lnTo>
                    <a:pt x="2192020" y="18414"/>
                  </a:lnTo>
                  <a:lnTo>
                    <a:pt x="2181860" y="8254"/>
                  </a:lnTo>
                  <a:lnTo>
                    <a:pt x="2172335" y="0"/>
                  </a:lnTo>
                  <a:lnTo>
                    <a:pt x="2101850" y="0"/>
                  </a:lnTo>
                  <a:lnTo>
                    <a:pt x="2092325" y="8254"/>
                  </a:lnTo>
                  <a:lnTo>
                    <a:pt x="2082800" y="18414"/>
                  </a:lnTo>
                  <a:lnTo>
                    <a:pt x="2073910" y="18414"/>
                  </a:lnTo>
                  <a:lnTo>
                    <a:pt x="2064385" y="27939"/>
                  </a:lnTo>
                  <a:lnTo>
                    <a:pt x="2045335" y="27939"/>
                  </a:lnTo>
                  <a:lnTo>
                    <a:pt x="2035810" y="37464"/>
                  </a:lnTo>
                  <a:lnTo>
                    <a:pt x="1974850" y="37464"/>
                  </a:lnTo>
                  <a:lnTo>
                    <a:pt x="1965325" y="27939"/>
                  </a:lnTo>
                  <a:lnTo>
                    <a:pt x="1955164" y="27939"/>
                  </a:lnTo>
                  <a:lnTo>
                    <a:pt x="1946910" y="18414"/>
                  </a:lnTo>
                  <a:lnTo>
                    <a:pt x="1937385" y="18414"/>
                  </a:lnTo>
                  <a:lnTo>
                    <a:pt x="1927860" y="8254"/>
                  </a:lnTo>
                  <a:lnTo>
                    <a:pt x="1918335" y="8254"/>
                  </a:lnTo>
                  <a:lnTo>
                    <a:pt x="1908175" y="0"/>
                  </a:lnTo>
                  <a:lnTo>
                    <a:pt x="1845945" y="0"/>
                  </a:lnTo>
                  <a:lnTo>
                    <a:pt x="1836420" y="8254"/>
                  </a:lnTo>
                  <a:lnTo>
                    <a:pt x="1828164" y="8254"/>
                  </a:lnTo>
                  <a:lnTo>
                    <a:pt x="1818639" y="18414"/>
                  </a:lnTo>
                  <a:lnTo>
                    <a:pt x="1809114" y="18414"/>
                  </a:lnTo>
                  <a:lnTo>
                    <a:pt x="1809114" y="27939"/>
                  </a:lnTo>
                  <a:lnTo>
                    <a:pt x="1789429" y="27939"/>
                  </a:lnTo>
                  <a:lnTo>
                    <a:pt x="1784985" y="37464"/>
                  </a:lnTo>
                  <a:lnTo>
                    <a:pt x="1718945" y="37464"/>
                  </a:lnTo>
                  <a:lnTo>
                    <a:pt x="1709420" y="27939"/>
                  </a:lnTo>
                  <a:lnTo>
                    <a:pt x="1691004" y="27939"/>
                  </a:lnTo>
                  <a:lnTo>
                    <a:pt x="1681479" y="18414"/>
                  </a:lnTo>
                  <a:lnTo>
                    <a:pt x="1677670" y="18414"/>
                  </a:lnTo>
                  <a:lnTo>
                    <a:pt x="1667510" y="8254"/>
                  </a:lnTo>
                  <a:lnTo>
                    <a:pt x="1657985" y="0"/>
                  </a:lnTo>
                  <a:lnTo>
                    <a:pt x="1582420" y="0"/>
                  </a:lnTo>
                  <a:lnTo>
                    <a:pt x="1582420" y="8254"/>
                  </a:lnTo>
                  <a:lnTo>
                    <a:pt x="1573530" y="8254"/>
                  </a:lnTo>
                  <a:lnTo>
                    <a:pt x="1568449" y="18414"/>
                  </a:lnTo>
                  <a:lnTo>
                    <a:pt x="1558290" y="18414"/>
                  </a:lnTo>
                  <a:lnTo>
                    <a:pt x="1550670" y="27939"/>
                  </a:lnTo>
                  <a:lnTo>
                    <a:pt x="1530985" y="27939"/>
                  </a:lnTo>
                  <a:lnTo>
                    <a:pt x="1521460" y="37464"/>
                  </a:lnTo>
                  <a:lnTo>
                    <a:pt x="1460499" y="37464"/>
                  </a:lnTo>
                  <a:lnTo>
                    <a:pt x="1450974" y="27939"/>
                  </a:lnTo>
                  <a:lnTo>
                    <a:pt x="1430020" y="27939"/>
                  </a:lnTo>
                  <a:lnTo>
                    <a:pt x="1430020" y="18414"/>
                  </a:lnTo>
                  <a:lnTo>
                    <a:pt x="1421765" y="18414"/>
                  </a:lnTo>
                  <a:lnTo>
                    <a:pt x="1412240" y="8254"/>
                  </a:lnTo>
                  <a:lnTo>
                    <a:pt x="1402080" y="8254"/>
                  </a:lnTo>
                  <a:lnTo>
                    <a:pt x="1392555" y="0"/>
                  </a:lnTo>
                  <a:lnTo>
                    <a:pt x="1331595" y="0"/>
                  </a:lnTo>
                  <a:lnTo>
                    <a:pt x="1322070" y="8254"/>
                  </a:lnTo>
                  <a:lnTo>
                    <a:pt x="1312545" y="8254"/>
                  </a:lnTo>
                  <a:lnTo>
                    <a:pt x="1302385" y="18414"/>
                  </a:lnTo>
                  <a:lnTo>
                    <a:pt x="1294130" y="18414"/>
                  </a:lnTo>
                  <a:lnTo>
                    <a:pt x="1284605" y="27939"/>
                  </a:lnTo>
                  <a:lnTo>
                    <a:pt x="1275080" y="27939"/>
                  </a:lnTo>
                  <a:lnTo>
                    <a:pt x="1265555" y="37464"/>
                  </a:lnTo>
                  <a:lnTo>
                    <a:pt x="1195070" y="37464"/>
                  </a:lnTo>
                  <a:lnTo>
                    <a:pt x="1195070" y="27939"/>
                  </a:lnTo>
                  <a:lnTo>
                    <a:pt x="1176655" y="27939"/>
                  </a:lnTo>
                  <a:lnTo>
                    <a:pt x="1167130" y="18414"/>
                  </a:lnTo>
                  <a:lnTo>
                    <a:pt x="1157605" y="18414"/>
                  </a:lnTo>
                  <a:lnTo>
                    <a:pt x="1148080" y="8254"/>
                  </a:lnTo>
                  <a:lnTo>
                    <a:pt x="1138555" y="8254"/>
                  </a:lnTo>
                  <a:lnTo>
                    <a:pt x="1138555" y="0"/>
                  </a:lnTo>
                  <a:lnTo>
                    <a:pt x="1067435" y="0"/>
                  </a:lnTo>
                  <a:lnTo>
                    <a:pt x="1057910" y="8254"/>
                  </a:lnTo>
                  <a:lnTo>
                    <a:pt x="1049655" y="8254"/>
                  </a:lnTo>
                  <a:lnTo>
                    <a:pt x="1049655" y="18414"/>
                  </a:lnTo>
                  <a:lnTo>
                    <a:pt x="1040129" y="18414"/>
                  </a:lnTo>
                  <a:lnTo>
                    <a:pt x="1029335" y="27939"/>
                  </a:lnTo>
                  <a:lnTo>
                    <a:pt x="1015365" y="27939"/>
                  </a:lnTo>
                  <a:lnTo>
                    <a:pt x="1005204" y="37464"/>
                  </a:lnTo>
                  <a:lnTo>
                    <a:pt x="939165" y="37464"/>
                  </a:lnTo>
                  <a:lnTo>
                    <a:pt x="929004" y="27939"/>
                  </a:lnTo>
                  <a:lnTo>
                    <a:pt x="911224" y="27939"/>
                  </a:lnTo>
                  <a:lnTo>
                    <a:pt x="906145" y="18414"/>
                  </a:lnTo>
                  <a:lnTo>
                    <a:pt x="897254" y="18414"/>
                  </a:lnTo>
                  <a:lnTo>
                    <a:pt x="897254" y="8254"/>
                  </a:lnTo>
                  <a:lnTo>
                    <a:pt x="887729" y="8254"/>
                  </a:lnTo>
                  <a:lnTo>
                    <a:pt x="878204" y="0"/>
                  </a:lnTo>
                  <a:lnTo>
                    <a:pt x="811529" y="0"/>
                  </a:lnTo>
                  <a:lnTo>
                    <a:pt x="802004" y="8254"/>
                  </a:lnTo>
                  <a:lnTo>
                    <a:pt x="798195" y="8254"/>
                  </a:lnTo>
                  <a:lnTo>
                    <a:pt x="788670" y="18414"/>
                  </a:lnTo>
                  <a:lnTo>
                    <a:pt x="778510" y="18414"/>
                  </a:lnTo>
                  <a:lnTo>
                    <a:pt x="770254" y="27939"/>
                  </a:lnTo>
                  <a:lnTo>
                    <a:pt x="751204" y="27939"/>
                  </a:lnTo>
                  <a:lnTo>
                    <a:pt x="751204" y="37464"/>
                  </a:lnTo>
                  <a:lnTo>
                    <a:pt x="680720" y="37464"/>
                  </a:lnTo>
                  <a:lnTo>
                    <a:pt x="670560" y="27939"/>
                  </a:lnTo>
                  <a:lnTo>
                    <a:pt x="661035" y="27939"/>
                  </a:lnTo>
                  <a:lnTo>
                    <a:pt x="651510" y="18414"/>
                  </a:lnTo>
                  <a:lnTo>
                    <a:pt x="643254" y="18414"/>
                  </a:lnTo>
                  <a:lnTo>
                    <a:pt x="633729" y="8254"/>
                  </a:lnTo>
                  <a:lnTo>
                    <a:pt x="623570" y="8254"/>
                  </a:lnTo>
                  <a:lnTo>
                    <a:pt x="612774" y="0"/>
                  </a:lnTo>
                  <a:lnTo>
                    <a:pt x="551815" y="0"/>
                  </a:lnTo>
                  <a:lnTo>
                    <a:pt x="542290" y="8254"/>
                  </a:lnTo>
                  <a:lnTo>
                    <a:pt x="532129" y="8254"/>
                  </a:lnTo>
                  <a:lnTo>
                    <a:pt x="524510" y="18414"/>
                  </a:lnTo>
                  <a:lnTo>
                    <a:pt x="514349" y="18414"/>
                  </a:lnTo>
                  <a:lnTo>
                    <a:pt x="514349" y="27939"/>
                  </a:lnTo>
                  <a:lnTo>
                    <a:pt x="495300" y="27939"/>
                  </a:lnTo>
                  <a:lnTo>
                    <a:pt x="485775" y="37464"/>
                  </a:lnTo>
                  <a:lnTo>
                    <a:pt x="424815" y="37464"/>
                  </a:lnTo>
                  <a:lnTo>
                    <a:pt x="414654" y="27939"/>
                  </a:lnTo>
                  <a:lnTo>
                    <a:pt x="396875" y="27939"/>
                  </a:lnTo>
                  <a:lnTo>
                    <a:pt x="387350" y="18414"/>
                  </a:lnTo>
                  <a:lnTo>
                    <a:pt x="377825" y="18414"/>
                  </a:lnTo>
                  <a:lnTo>
                    <a:pt x="367665" y="8254"/>
                  </a:lnTo>
                  <a:lnTo>
                    <a:pt x="363854" y="0"/>
                  </a:lnTo>
                  <a:lnTo>
                    <a:pt x="287654" y="0"/>
                  </a:lnTo>
                  <a:lnTo>
                    <a:pt x="278129" y="8254"/>
                  </a:lnTo>
                  <a:lnTo>
                    <a:pt x="269875" y="18414"/>
                  </a:lnTo>
                  <a:lnTo>
                    <a:pt x="259715" y="18414"/>
                  </a:lnTo>
                  <a:lnTo>
                    <a:pt x="250190" y="27939"/>
                  </a:lnTo>
                  <a:lnTo>
                    <a:pt x="236854" y="27939"/>
                  </a:lnTo>
                  <a:lnTo>
                    <a:pt x="226694" y="37464"/>
                  </a:lnTo>
                  <a:lnTo>
                    <a:pt x="159384" y="37464"/>
                  </a:lnTo>
                  <a:lnTo>
                    <a:pt x="149225" y="27939"/>
                  </a:lnTo>
                  <a:lnTo>
                    <a:pt x="135890" y="27939"/>
                  </a:lnTo>
                  <a:lnTo>
                    <a:pt x="135890" y="18414"/>
                  </a:lnTo>
                  <a:lnTo>
                    <a:pt x="125729" y="18414"/>
                  </a:lnTo>
                  <a:lnTo>
                    <a:pt x="117475" y="8254"/>
                  </a:lnTo>
                  <a:lnTo>
                    <a:pt x="107950" y="8254"/>
                  </a:lnTo>
                  <a:lnTo>
                    <a:pt x="98425" y="0"/>
                  </a:lnTo>
                  <a:lnTo>
                    <a:pt x="60959" y="0"/>
                  </a:lnTo>
                  <a:lnTo>
                    <a:pt x="8254" y="18414"/>
                  </a:lnTo>
                  <a:lnTo>
                    <a:pt x="0" y="2185035"/>
                  </a:lnTo>
                  <a:lnTo>
                    <a:pt x="51434" y="2411729"/>
                  </a:lnTo>
                  <a:lnTo>
                    <a:pt x="1294130" y="2450465"/>
                  </a:lnTo>
                  <a:lnTo>
                    <a:pt x="3108960" y="2450465"/>
                  </a:lnTo>
                  <a:lnTo>
                    <a:pt x="3307715" y="2440940"/>
                  </a:lnTo>
                  <a:lnTo>
                    <a:pt x="3307715" y="37464"/>
                  </a:lnTo>
                  <a:lnTo>
                    <a:pt x="3268980" y="37464"/>
                  </a:lnTo>
                  <a:lnTo>
                    <a:pt x="3259455" y="27939"/>
                  </a:lnTo>
                  <a:lnTo>
                    <a:pt x="3241675" y="27939"/>
                  </a:lnTo>
                  <a:lnTo>
                    <a:pt x="3241675" y="18414"/>
                  </a:lnTo>
                  <a:lnTo>
                    <a:pt x="3231515" y="18414"/>
                  </a:lnTo>
                  <a:lnTo>
                    <a:pt x="3221990" y="8254"/>
                  </a:lnTo>
                  <a:lnTo>
                    <a:pt x="3217545" y="8254"/>
                  </a:lnTo>
                  <a:lnTo>
                    <a:pt x="3208020" y="0"/>
                  </a:lnTo>
                  <a:close/>
                </a:path>
              </a:pathLst>
            </a:custGeom>
            <a:solidFill>
              <a:srgbClr val="99FFE6"/>
            </a:solidFill>
          </p:spPr>
          <p:txBody>
            <a:bodyPr wrap="square" lIns="0" tIns="0" rIns="0" bIns="0" rtlCol="0"/>
            <a:lstStyle/>
            <a:p>
              <a:endParaRPr/>
            </a:p>
          </p:txBody>
        </p:sp>
        <p:sp>
          <p:nvSpPr>
            <p:cNvPr id="17" name="object 17"/>
            <p:cNvSpPr/>
            <p:nvPr/>
          </p:nvSpPr>
          <p:spPr>
            <a:xfrm>
              <a:off x="1252855" y="2266949"/>
              <a:ext cx="3161030" cy="9525"/>
            </a:xfrm>
            <a:custGeom>
              <a:avLst/>
              <a:gdLst/>
              <a:ahLst/>
              <a:cxnLst/>
              <a:rect l="l" t="t" r="r" b="b"/>
              <a:pathLst>
                <a:path w="3161029" h="9525">
                  <a:moveTo>
                    <a:pt x="3161030" y="9525"/>
                  </a:moveTo>
                  <a:lnTo>
                    <a:pt x="3151505" y="9525"/>
                  </a:lnTo>
                  <a:lnTo>
                    <a:pt x="3141345" y="9525"/>
                  </a:lnTo>
                  <a:lnTo>
                    <a:pt x="3131820" y="9525"/>
                  </a:lnTo>
                  <a:lnTo>
                    <a:pt x="3122295" y="9525"/>
                  </a:lnTo>
                </a:path>
                <a:path w="3161029" h="9525">
                  <a:moveTo>
                    <a:pt x="2934335" y="9525"/>
                  </a:moveTo>
                  <a:lnTo>
                    <a:pt x="2924810" y="9525"/>
                  </a:lnTo>
                  <a:lnTo>
                    <a:pt x="2867660" y="9525"/>
                  </a:lnTo>
                  <a:lnTo>
                    <a:pt x="2859405" y="9525"/>
                  </a:lnTo>
                </a:path>
                <a:path w="3161029" h="9525">
                  <a:moveTo>
                    <a:pt x="2670174" y="9525"/>
                  </a:moveTo>
                  <a:lnTo>
                    <a:pt x="2660015" y="9525"/>
                  </a:lnTo>
                  <a:lnTo>
                    <a:pt x="2618740" y="9525"/>
                  </a:lnTo>
                  <a:lnTo>
                    <a:pt x="2609215" y="9525"/>
                  </a:lnTo>
                </a:path>
                <a:path w="3161029" h="9525">
                  <a:moveTo>
                    <a:pt x="2415540" y="9525"/>
                  </a:moveTo>
                  <a:lnTo>
                    <a:pt x="2411095" y="9525"/>
                  </a:lnTo>
                  <a:lnTo>
                    <a:pt x="2354580" y="9525"/>
                  </a:lnTo>
                  <a:lnTo>
                    <a:pt x="2345055" y="9525"/>
                  </a:lnTo>
                </a:path>
                <a:path w="3161029" h="9525">
                  <a:moveTo>
                    <a:pt x="2157095" y="9525"/>
                  </a:moveTo>
                  <a:lnTo>
                    <a:pt x="2147570" y="9525"/>
                  </a:lnTo>
                  <a:lnTo>
                    <a:pt x="2100580" y="9525"/>
                  </a:lnTo>
                  <a:lnTo>
                    <a:pt x="2090420" y="9525"/>
                  </a:lnTo>
                </a:path>
                <a:path w="3161029" h="9525">
                  <a:moveTo>
                    <a:pt x="1892934" y="9525"/>
                  </a:moveTo>
                  <a:lnTo>
                    <a:pt x="1884680" y="9525"/>
                  </a:lnTo>
                  <a:lnTo>
                    <a:pt x="1841500" y="9525"/>
                  </a:lnTo>
                  <a:lnTo>
                    <a:pt x="1831975" y="9525"/>
                  </a:lnTo>
                </a:path>
                <a:path w="3161029" h="9525">
                  <a:moveTo>
                    <a:pt x="1644014" y="9525"/>
                  </a:moveTo>
                  <a:lnTo>
                    <a:pt x="1633855" y="9525"/>
                  </a:lnTo>
                  <a:lnTo>
                    <a:pt x="1586864" y="9525"/>
                  </a:lnTo>
                  <a:lnTo>
                    <a:pt x="1577339" y="9525"/>
                  </a:lnTo>
                </a:path>
                <a:path w="3161029" h="9525">
                  <a:moveTo>
                    <a:pt x="1379855" y="9525"/>
                  </a:moveTo>
                  <a:lnTo>
                    <a:pt x="1370330" y="9525"/>
                  </a:lnTo>
                  <a:lnTo>
                    <a:pt x="1323339" y="9525"/>
                  </a:lnTo>
                  <a:lnTo>
                    <a:pt x="1318895" y="9525"/>
                  </a:lnTo>
                </a:path>
                <a:path w="3161029" h="9525">
                  <a:moveTo>
                    <a:pt x="1125220" y="9525"/>
                  </a:moveTo>
                  <a:lnTo>
                    <a:pt x="1115695" y="9525"/>
                  </a:lnTo>
                  <a:lnTo>
                    <a:pt x="1064895" y="9525"/>
                  </a:lnTo>
                  <a:lnTo>
                    <a:pt x="1054734" y="9525"/>
                  </a:lnTo>
                </a:path>
                <a:path w="3161029" h="9525">
                  <a:moveTo>
                    <a:pt x="866775" y="9525"/>
                  </a:moveTo>
                  <a:lnTo>
                    <a:pt x="857250" y="9525"/>
                  </a:lnTo>
                  <a:lnTo>
                    <a:pt x="809625" y="9525"/>
                  </a:lnTo>
                  <a:lnTo>
                    <a:pt x="800100" y="9525"/>
                  </a:lnTo>
                </a:path>
                <a:path w="3161029" h="9525">
                  <a:moveTo>
                    <a:pt x="612139" y="9525"/>
                  </a:moveTo>
                  <a:lnTo>
                    <a:pt x="602614" y="9525"/>
                  </a:lnTo>
                  <a:lnTo>
                    <a:pt x="551180" y="9525"/>
                  </a:lnTo>
                  <a:lnTo>
                    <a:pt x="541655" y="9525"/>
                  </a:lnTo>
                </a:path>
                <a:path w="3161029" h="9525">
                  <a:moveTo>
                    <a:pt x="347979" y="9525"/>
                  </a:moveTo>
                  <a:lnTo>
                    <a:pt x="338454" y="9525"/>
                  </a:lnTo>
                  <a:lnTo>
                    <a:pt x="297179" y="9525"/>
                  </a:lnTo>
                  <a:lnTo>
                    <a:pt x="287654" y="9525"/>
                  </a:lnTo>
                </a:path>
                <a:path w="3161029" h="9525">
                  <a:moveTo>
                    <a:pt x="89534" y="9525"/>
                  </a:moveTo>
                  <a:lnTo>
                    <a:pt x="80009" y="9525"/>
                  </a:lnTo>
                  <a:lnTo>
                    <a:pt x="33019" y="9525"/>
                  </a:lnTo>
                  <a:lnTo>
                    <a:pt x="23494" y="9525"/>
                  </a:lnTo>
                </a:path>
                <a:path w="3161029" h="9525">
                  <a:moveTo>
                    <a:pt x="13334" y="0"/>
                  </a:moveTo>
                  <a:lnTo>
                    <a:pt x="5079" y="0"/>
                  </a:lnTo>
                  <a:lnTo>
                    <a:pt x="0" y="0"/>
                  </a:lnTo>
                </a:path>
              </a:pathLst>
            </a:custGeom>
            <a:ln w="21744">
              <a:solidFill>
                <a:srgbClr val="000000"/>
              </a:solidFill>
            </a:ln>
          </p:spPr>
          <p:txBody>
            <a:bodyPr wrap="square" lIns="0" tIns="0" rIns="0" bIns="0" rtlCol="0"/>
            <a:lstStyle/>
            <a:p>
              <a:endParaRPr/>
            </a:p>
          </p:txBody>
        </p:sp>
        <p:sp>
          <p:nvSpPr>
            <p:cNvPr id="18" name="object 18"/>
            <p:cNvSpPr/>
            <p:nvPr/>
          </p:nvSpPr>
          <p:spPr>
            <a:xfrm>
              <a:off x="1242694" y="2257424"/>
              <a:ext cx="10160" cy="0"/>
            </a:xfrm>
            <a:custGeom>
              <a:avLst/>
              <a:gdLst/>
              <a:ahLst/>
              <a:cxnLst/>
              <a:rect l="l" t="t" r="r" b="b"/>
              <a:pathLst>
                <a:path w="10159">
                  <a:moveTo>
                    <a:pt x="5080" y="-10872"/>
                  </a:moveTo>
                  <a:lnTo>
                    <a:pt x="5080" y="10872"/>
                  </a:lnTo>
                </a:path>
              </a:pathLst>
            </a:custGeom>
            <a:ln w="10160">
              <a:solidFill>
                <a:srgbClr val="000000"/>
              </a:solidFill>
            </a:ln>
          </p:spPr>
          <p:txBody>
            <a:bodyPr wrap="square" lIns="0" tIns="0" rIns="0" bIns="0" rtlCol="0"/>
            <a:lstStyle/>
            <a:p>
              <a:endParaRPr/>
            </a:p>
          </p:txBody>
        </p:sp>
        <p:sp>
          <p:nvSpPr>
            <p:cNvPr id="19" name="object 19"/>
            <p:cNvSpPr/>
            <p:nvPr/>
          </p:nvSpPr>
          <p:spPr>
            <a:xfrm>
              <a:off x="1116964" y="2239009"/>
              <a:ext cx="117475" cy="2400300"/>
            </a:xfrm>
            <a:custGeom>
              <a:avLst/>
              <a:gdLst/>
              <a:ahLst/>
              <a:cxnLst/>
              <a:rect l="l" t="t" r="r" b="b"/>
              <a:pathLst>
                <a:path w="117475" h="2400300">
                  <a:moveTo>
                    <a:pt x="117475" y="8254"/>
                  </a:moveTo>
                  <a:lnTo>
                    <a:pt x="107950" y="8254"/>
                  </a:lnTo>
                  <a:lnTo>
                    <a:pt x="98425" y="0"/>
                  </a:lnTo>
                  <a:lnTo>
                    <a:pt x="88900" y="0"/>
                  </a:lnTo>
                  <a:lnTo>
                    <a:pt x="78740" y="0"/>
                  </a:lnTo>
                  <a:lnTo>
                    <a:pt x="70484" y="0"/>
                  </a:lnTo>
                  <a:lnTo>
                    <a:pt x="60959" y="0"/>
                  </a:lnTo>
                  <a:lnTo>
                    <a:pt x="8254" y="18414"/>
                  </a:lnTo>
                  <a:lnTo>
                    <a:pt x="0" y="2175510"/>
                  </a:lnTo>
                  <a:lnTo>
                    <a:pt x="51434" y="2400300"/>
                  </a:lnTo>
                </a:path>
              </a:pathLst>
            </a:custGeom>
            <a:ln w="21744">
              <a:solidFill>
                <a:srgbClr val="000000"/>
              </a:solidFill>
            </a:ln>
          </p:spPr>
          <p:txBody>
            <a:bodyPr wrap="square" lIns="0" tIns="0" rIns="0" bIns="0" rtlCol="0"/>
            <a:lstStyle/>
            <a:p>
              <a:endParaRPr/>
            </a:p>
          </p:txBody>
        </p:sp>
        <p:pic>
          <p:nvPicPr>
            <p:cNvPr id="20" name="object 20"/>
            <p:cNvPicPr/>
            <p:nvPr/>
          </p:nvPicPr>
          <p:blipFill>
            <a:blip r:embed="rId2" cstate="print"/>
            <a:stretch>
              <a:fillRect/>
            </a:stretch>
          </p:blipFill>
          <p:spPr>
            <a:xfrm>
              <a:off x="943609" y="1751608"/>
              <a:ext cx="7085330" cy="2985491"/>
            </a:xfrm>
            <a:prstGeom prst="rect">
              <a:avLst/>
            </a:prstGeom>
          </p:spPr>
        </p:pic>
        <p:sp>
          <p:nvSpPr>
            <p:cNvPr id="21" name="object 21"/>
            <p:cNvSpPr/>
            <p:nvPr/>
          </p:nvSpPr>
          <p:spPr>
            <a:xfrm>
              <a:off x="1177925" y="4589145"/>
              <a:ext cx="6586855" cy="0"/>
            </a:xfrm>
            <a:custGeom>
              <a:avLst/>
              <a:gdLst/>
              <a:ahLst/>
              <a:cxnLst/>
              <a:rect l="l" t="t" r="r" b="b"/>
              <a:pathLst>
                <a:path w="6586855">
                  <a:moveTo>
                    <a:pt x="0" y="0"/>
                  </a:moveTo>
                  <a:lnTo>
                    <a:pt x="3236595" y="0"/>
                  </a:lnTo>
                </a:path>
                <a:path w="6586855">
                  <a:moveTo>
                    <a:pt x="3408045" y="0"/>
                  </a:moveTo>
                  <a:lnTo>
                    <a:pt x="6586855" y="0"/>
                  </a:lnTo>
                </a:path>
              </a:pathLst>
            </a:custGeom>
            <a:ln w="39909">
              <a:solidFill>
                <a:srgbClr val="000000"/>
              </a:solidFill>
            </a:ln>
          </p:spPr>
          <p:txBody>
            <a:bodyPr wrap="square" lIns="0" tIns="0" rIns="0" bIns="0" rtlCol="0"/>
            <a:lstStyle/>
            <a:p>
              <a:endParaRPr/>
            </a:p>
          </p:txBody>
        </p:sp>
        <p:sp>
          <p:nvSpPr>
            <p:cNvPr id="22" name="object 22"/>
            <p:cNvSpPr/>
            <p:nvPr/>
          </p:nvSpPr>
          <p:spPr>
            <a:xfrm>
              <a:off x="943609" y="2011045"/>
              <a:ext cx="245110" cy="2550160"/>
            </a:xfrm>
            <a:custGeom>
              <a:avLst/>
              <a:gdLst/>
              <a:ahLst/>
              <a:cxnLst/>
              <a:rect l="l" t="t" r="r" b="b"/>
              <a:pathLst>
                <a:path w="245109" h="2550160">
                  <a:moveTo>
                    <a:pt x="245109" y="2550160"/>
                  </a:moveTo>
                  <a:lnTo>
                    <a:pt x="234950" y="2539999"/>
                  </a:lnTo>
                </a:path>
                <a:path w="245109" h="2550160">
                  <a:moveTo>
                    <a:pt x="201930" y="0"/>
                  </a:moveTo>
                  <a:lnTo>
                    <a:pt x="192405" y="0"/>
                  </a:lnTo>
                  <a:lnTo>
                    <a:pt x="173990" y="0"/>
                  </a:lnTo>
                </a:path>
                <a:path w="245109" h="2550160">
                  <a:moveTo>
                    <a:pt x="64770" y="0"/>
                  </a:moveTo>
                  <a:lnTo>
                    <a:pt x="55245" y="0"/>
                  </a:lnTo>
                  <a:lnTo>
                    <a:pt x="46990" y="0"/>
                  </a:lnTo>
                  <a:lnTo>
                    <a:pt x="27940" y="10159"/>
                  </a:lnTo>
                  <a:lnTo>
                    <a:pt x="27940" y="19684"/>
                  </a:lnTo>
                  <a:lnTo>
                    <a:pt x="17780" y="29209"/>
                  </a:lnTo>
                  <a:lnTo>
                    <a:pt x="8255" y="38734"/>
                  </a:lnTo>
                  <a:lnTo>
                    <a:pt x="8255" y="46989"/>
                  </a:lnTo>
                  <a:lnTo>
                    <a:pt x="0" y="57150"/>
                  </a:lnTo>
                  <a:lnTo>
                    <a:pt x="0" y="76200"/>
                  </a:lnTo>
                  <a:lnTo>
                    <a:pt x="0" y="80644"/>
                  </a:lnTo>
                </a:path>
              </a:pathLst>
            </a:custGeom>
            <a:ln w="21744">
              <a:solidFill>
                <a:srgbClr val="000000"/>
              </a:solidFill>
            </a:ln>
          </p:spPr>
          <p:txBody>
            <a:bodyPr wrap="square" lIns="0" tIns="0" rIns="0" bIns="0" rtlCol="0"/>
            <a:lstStyle/>
            <a:p>
              <a:endParaRPr/>
            </a:p>
          </p:txBody>
        </p:sp>
        <p:sp>
          <p:nvSpPr>
            <p:cNvPr id="23" name="object 23"/>
            <p:cNvSpPr/>
            <p:nvPr/>
          </p:nvSpPr>
          <p:spPr>
            <a:xfrm>
              <a:off x="941705" y="2110740"/>
              <a:ext cx="21590" cy="0"/>
            </a:xfrm>
            <a:custGeom>
              <a:avLst/>
              <a:gdLst/>
              <a:ahLst/>
              <a:cxnLst/>
              <a:rect l="l" t="t" r="r" b="b"/>
              <a:pathLst>
                <a:path w="21590">
                  <a:moveTo>
                    <a:pt x="0" y="0"/>
                  </a:moveTo>
                  <a:lnTo>
                    <a:pt x="21589" y="0"/>
                  </a:lnTo>
                </a:path>
              </a:pathLst>
            </a:custGeom>
            <a:ln w="19433">
              <a:solidFill>
                <a:srgbClr val="000000"/>
              </a:solidFill>
            </a:ln>
          </p:spPr>
          <p:txBody>
            <a:bodyPr wrap="square" lIns="0" tIns="0" rIns="0" bIns="0" rtlCol="0"/>
            <a:lstStyle/>
            <a:p>
              <a:endParaRPr/>
            </a:p>
          </p:txBody>
        </p:sp>
        <p:sp>
          <p:nvSpPr>
            <p:cNvPr id="24" name="object 24"/>
            <p:cNvSpPr/>
            <p:nvPr/>
          </p:nvSpPr>
          <p:spPr>
            <a:xfrm>
              <a:off x="1038225" y="2157095"/>
              <a:ext cx="4445" cy="9525"/>
            </a:xfrm>
            <a:custGeom>
              <a:avLst/>
              <a:gdLst/>
              <a:ahLst/>
              <a:cxnLst/>
              <a:rect l="l" t="t" r="r" b="b"/>
              <a:pathLst>
                <a:path w="4444" h="9525">
                  <a:moveTo>
                    <a:pt x="0" y="0"/>
                  </a:moveTo>
                  <a:lnTo>
                    <a:pt x="0" y="0"/>
                  </a:lnTo>
                  <a:lnTo>
                    <a:pt x="4444" y="9525"/>
                  </a:lnTo>
                </a:path>
              </a:pathLst>
            </a:custGeom>
            <a:ln w="21746">
              <a:solidFill>
                <a:srgbClr val="000000"/>
              </a:solidFill>
            </a:ln>
          </p:spPr>
          <p:txBody>
            <a:bodyPr wrap="square" lIns="0" tIns="0" rIns="0" bIns="0" rtlCol="0"/>
            <a:lstStyle/>
            <a:p>
              <a:endParaRPr/>
            </a:p>
          </p:txBody>
        </p:sp>
        <p:sp>
          <p:nvSpPr>
            <p:cNvPr id="25" name="object 25"/>
            <p:cNvSpPr/>
            <p:nvPr/>
          </p:nvSpPr>
          <p:spPr>
            <a:xfrm>
              <a:off x="1041400" y="2181224"/>
              <a:ext cx="21590" cy="0"/>
            </a:xfrm>
            <a:custGeom>
              <a:avLst/>
              <a:gdLst/>
              <a:ahLst/>
              <a:cxnLst/>
              <a:rect l="l" t="t" r="r" b="b"/>
              <a:pathLst>
                <a:path w="21590">
                  <a:moveTo>
                    <a:pt x="0" y="0"/>
                  </a:moveTo>
                  <a:lnTo>
                    <a:pt x="21590" y="0"/>
                  </a:lnTo>
                </a:path>
              </a:pathLst>
            </a:custGeom>
            <a:ln w="8171">
              <a:solidFill>
                <a:srgbClr val="000000"/>
              </a:solidFill>
            </a:ln>
          </p:spPr>
          <p:txBody>
            <a:bodyPr wrap="square" lIns="0" tIns="0" rIns="0" bIns="0" rtlCol="0"/>
            <a:lstStyle/>
            <a:p>
              <a:endParaRPr/>
            </a:p>
          </p:txBody>
        </p:sp>
        <p:sp>
          <p:nvSpPr>
            <p:cNvPr id="26" name="object 26"/>
            <p:cNvSpPr/>
            <p:nvPr/>
          </p:nvSpPr>
          <p:spPr>
            <a:xfrm>
              <a:off x="1009015" y="2002790"/>
              <a:ext cx="6971030" cy="2647315"/>
            </a:xfrm>
            <a:custGeom>
              <a:avLst/>
              <a:gdLst/>
              <a:ahLst/>
              <a:cxnLst/>
              <a:rect l="l" t="t" r="r" b="b"/>
              <a:pathLst>
                <a:path w="6971030" h="2647315">
                  <a:moveTo>
                    <a:pt x="52704" y="182245"/>
                  </a:moveTo>
                  <a:lnTo>
                    <a:pt x="52704" y="191770"/>
                  </a:lnTo>
                  <a:lnTo>
                    <a:pt x="52704" y="2547620"/>
                  </a:lnTo>
                  <a:lnTo>
                    <a:pt x="52704" y="2576830"/>
                  </a:lnTo>
                  <a:lnTo>
                    <a:pt x="60959" y="2604135"/>
                  </a:lnTo>
                  <a:lnTo>
                    <a:pt x="71119" y="2628265"/>
                  </a:lnTo>
                  <a:lnTo>
                    <a:pt x="80644" y="2647315"/>
                  </a:lnTo>
                </a:path>
                <a:path w="6971030" h="2647315">
                  <a:moveTo>
                    <a:pt x="6971030" y="7620"/>
                  </a:moveTo>
                  <a:lnTo>
                    <a:pt x="6953250" y="7620"/>
                  </a:lnTo>
                  <a:lnTo>
                    <a:pt x="6943089" y="7620"/>
                  </a:lnTo>
                </a:path>
                <a:path w="6971030" h="2647315">
                  <a:moveTo>
                    <a:pt x="6833869" y="7620"/>
                  </a:moveTo>
                  <a:lnTo>
                    <a:pt x="6819900" y="7620"/>
                  </a:lnTo>
                  <a:lnTo>
                    <a:pt x="6810375" y="7620"/>
                  </a:lnTo>
                  <a:lnTo>
                    <a:pt x="6802119" y="17780"/>
                  </a:lnTo>
                  <a:lnTo>
                    <a:pt x="6792594" y="27305"/>
                  </a:lnTo>
                  <a:lnTo>
                    <a:pt x="6783069" y="36830"/>
                  </a:lnTo>
                  <a:lnTo>
                    <a:pt x="6783069" y="46355"/>
                  </a:lnTo>
                  <a:lnTo>
                    <a:pt x="6772909" y="54610"/>
                  </a:lnTo>
                  <a:lnTo>
                    <a:pt x="6772909" y="64770"/>
                  </a:lnTo>
                  <a:lnTo>
                    <a:pt x="6772909" y="83820"/>
                  </a:lnTo>
                  <a:lnTo>
                    <a:pt x="6772909" y="2539365"/>
                  </a:lnTo>
                  <a:lnTo>
                    <a:pt x="6772909" y="2547620"/>
                  </a:lnTo>
                  <a:lnTo>
                    <a:pt x="6772909" y="2557780"/>
                  </a:lnTo>
                  <a:lnTo>
                    <a:pt x="6763384" y="2567305"/>
                  </a:lnTo>
                  <a:lnTo>
                    <a:pt x="6763384" y="2576830"/>
                  </a:lnTo>
                  <a:lnTo>
                    <a:pt x="6755130" y="2586355"/>
                  </a:lnTo>
                  <a:lnTo>
                    <a:pt x="6745605" y="2594610"/>
                  </a:lnTo>
                </a:path>
                <a:path w="6971030" h="2647315">
                  <a:moveTo>
                    <a:pt x="109219" y="7620"/>
                  </a:moveTo>
                  <a:lnTo>
                    <a:pt x="99694" y="0"/>
                  </a:lnTo>
                  <a:lnTo>
                    <a:pt x="10159" y="0"/>
                  </a:lnTo>
                  <a:lnTo>
                    <a:pt x="0" y="7620"/>
                  </a:lnTo>
                </a:path>
                <a:path w="6971030" h="2647315">
                  <a:moveTo>
                    <a:pt x="6938009" y="0"/>
                  </a:moveTo>
                  <a:lnTo>
                    <a:pt x="6843394" y="0"/>
                  </a:lnTo>
                  <a:lnTo>
                    <a:pt x="6833869" y="7620"/>
                  </a:lnTo>
                </a:path>
              </a:pathLst>
            </a:custGeom>
            <a:ln w="21744">
              <a:solidFill>
                <a:srgbClr val="000000"/>
              </a:solidFill>
            </a:ln>
          </p:spPr>
          <p:txBody>
            <a:bodyPr wrap="square" lIns="0" tIns="0" rIns="0" bIns="0" rtlCol="0"/>
            <a:lstStyle/>
            <a:p>
              <a:endParaRPr/>
            </a:p>
          </p:txBody>
        </p:sp>
        <p:sp>
          <p:nvSpPr>
            <p:cNvPr id="27" name="object 27"/>
            <p:cNvSpPr/>
            <p:nvPr/>
          </p:nvSpPr>
          <p:spPr>
            <a:xfrm>
              <a:off x="7155180" y="2237740"/>
              <a:ext cx="345440" cy="1321435"/>
            </a:xfrm>
            <a:custGeom>
              <a:avLst/>
              <a:gdLst/>
              <a:ahLst/>
              <a:cxnLst/>
              <a:rect l="l" t="t" r="r" b="b"/>
              <a:pathLst>
                <a:path w="345440" h="1321435">
                  <a:moveTo>
                    <a:pt x="345440" y="18414"/>
                  </a:moveTo>
                  <a:lnTo>
                    <a:pt x="335915" y="18414"/>
                  </a:lnTo>
                  <a:lnTo>
                    <a:pt x="326390" y="27939"/>
                  </a:lnTo>
                  <a:lnTo>
                    <a:pt x="314960" y="27939"/>
                  </a:lnTo>
                  <a:lnTo>
                    <a:pt x="305435" y="37464"/>
                  </a:lnTo>
                  <a:lnTo>
                    <a:pt x="0" y="37464"/>
                  </a:lnTo>
                  <a:lnTo>
                    <a:pt x="0" y="1321435"/>
                  </a:lnTo>
                  <a:lnTo>
                    <a:pt x="345440" y="1321435"/>
                  </a:lnTo>
                  <a:lnTo>
                    <a:pt x="345440" y="18414"/>
                  </a:lnTo>
                  <a:close/>
                </a:path>
                <a:path w="345440" h="1321435">
                  <a:moveTo>
                    <a:pt x="232410" y="27939"/>
                  </a:moveTo>
                  <a:lnTo>
                    <a:pt x="43179" y="27939"/>
                  </a:lnTo>
                  <a:lnTo>
                    <a:pt x="33020" y="37464"/>
                  </a:lnTo>
                  <a:lnTo>
                    <a:pt x="232410" y="37464"/>
                  </a:lnTo>
                  <a:lnTo>
                    <a:pt x="232410" y="27939"/>
                  </a:lnTo>
                  <a:close/>
                </a:path>
                <a:path w="345440" h="1321435">
                  <a:moveTo>
                    <a:pt x="204470" y="18414"/>
                  </a:moveTo>
                  <a:lnTo>
                    <a:pt x="73025" y="18414"/>
                  </a:lnTo>
                  <a:lnTo>
                    <a:pt x="62229" y="27939"/>
                  </a:lnTo>
                  <a:lnTo>
                    <a:pt x="212725" y="27939"/>
                  </a:lnTo>
                  <a:lnTo>
                    <a:pt x="204470" y="18414"/>
                  </a:lnTo>
                  <a:close/>
                </a:path>
                <a:path w="345440" h="1321435">
                  <a:moveTo>
                    <a:pt x="183515" y="8255"/>
                  </a:moveTo>
                  <a:lnTo>
                    <a:pt x="81279" y="8255"/>
                  </a:lnTo>
                  <a:lnTo>
                    <a:pt x="81279" y="18414"/>
                  </a:lnTo>
                  <a:lnTo>
                    <a:pt x="193675" y="18414"/>
                  </a:lnTo>
                  <a:lnTo>
                    <a:pt x="183515" y="8255"/>
                  </a:lnTo>
                  <a:close/>
                </a:path>
                <a:path w="345440" h="1321435">
                  <a:moveTo>
                    <a:pt x="173990" y="0"/>
                  </a:moveTo>
                  <a:lnTo>
                    <a:pt x="100965" y="0"/>
                  </a:lnTo>
                  <a:lnTo>
                    <a:pt x="91440" y="8255"/>
                  </a:lnTo>
                  <a:lnTo>
                    <a:pt x="173990" y="8255"/>
                  </a:lnTo>
                  <a:lnTo>
                    <a:pt x="173990" y="0"/>
                  </a:lnTo>
                  <a:close/>
                </a:path>
              </a:pathLst>
            </a:custGeom>
            <a:solidFill>
              <a:srgbClr val="80B3E6"/>
            </a:solidFill>
          </p:spPr>
          <p:txBody>
            <a:bodyPr wrap="square" lIns="0" tIns="0" rIns="0" bIns="0" rtlCol="0"/>
            <a:lstStyle/>
            <a:p>
              <a:endParaRPr/>
            </a:p>
          </p:txBody>
        </p:sp>
        <p:sp>
          <p:nvSpPr>
            <p:cNvPr id="28" name="object 28"/>
            <p:cNvSpPr/>
            <p:nvPr/>
          </p:nvSpPr>
          <p:spPr>
            <a:xfrm>
              <a:off x="7155180" y="2237740"/>
              <a:ext cx="334645" cy="1310005"/>
            </a:xfrm>
            <a:custGeom>
              <a:avLst/>
              <a:gdLst/>
              <a:ahLst/>
              <a:cxnLst/>
              <a:rect l="l" t="t" r="r" b="b"/>
              <a:pathLst>
                <a:path w="334645" h="1310004">
                  <a:moveTo>
                    <a:pt x="334645" y="8255"/>
                  </a:moveTo>
                  <a:lnTo>
                    <a:pt x="334645" y="18414"/>
                  </a:lnTo>
                  <a:lnTo>
                    <a:pt x="325120" y="18414"/>
                  </a:lnTo>
                  <a:lnTo>
                    <a:pt x="314960" y="27939"/>
                  </a:lnTo>
                  <a:lnTo>
                    <a:pt x="305435" y="27939"/>
                  </a:lnTo>
                  <a:lnTo>
                    <a:pt x="295910" y="37464"/>
                  </a:lnTo>
                  <a:lnTo>
                    <a:pt x="286385" y="37464"/>
                  </a:lnTo>
                  <a:lnTo>
                    <a:pt x="225425" y="37464"/>
                  </a:lnTo>
                  <a:lnTo>
                    <a:pt x="225425" y="27939"/>
                  </a:lnTo>
                  <a:lnTo>
                    <a:pt x="215265" y="27939"/>
                  </a:lnTo>
                  <a:lnTo>
                    <a:pt x="205740" y="27939"/>
                  </a:lnTo>
                  <a:lnTo>
                    <a:pt x="197485" y="18414"/>
                  </a:lnTo>
                  <a:lnTo>
                    <a:pt x="187960" y="18414"/>
                  </a:lnTo>
                  <a:lnTo>
                    <a:pt x="178435" y="8255"/>
                  </a:lnTo>
                  <a:lnTo>
                    <a:pt x="168275" y="8255"/>
                  </a:lnTo>
                  <a:lnTo>
                    <a:pt x="168275" y="0"/>
                  </a:lnTo>
                  <a:lnTo>
                    <a:pt x="158750" y="0"/>
                  </a:lnTo>
                  <a:lnTo>
                    <a:pt x="150495" y="0"/>
                  </a:lnTo>
                  <a:lnTo>
                    <a:pt x="98425" y="0"/>
                  </a:lnTo>
                  <a:lnTo>
                    <a:pt x="88265" y="8255"/>
                  </a:lnTo>
                  <a:lnTo>
                    <a:pt x="78740" y="8255"/>
                  </a:lnTo>
                  <a:lnTo>
                    <a:pt x="78740" y="18414"/>
                  </a:lnTo>
                  <a:lnTo>
                    <a:pt x="70485" y="18414"/>
                  </a:lnTo>
                  <a:lnTo>
                    <a:pt x="60960" y="27939"/>
                  </a:lnTo>
                  <a:lnTo>
                    <a:pt x="50800" y="27939"/>
                  </a:lnTo>
                  <a:lnTo>
                    <a:pt x="41275" y="27939"/>
                  </a:lnTo>
                  <a:lnTo>
                    <a:pt x="31750" y="37464"/>
                  </a:lnTo>
                  <a:lnTo>
                    <a:pt x="27940" y="37464"/>
                  </a:lnTo>
                  <a:lnTo>
                    <a:pt x="17779" y="37464"/>
                  </a:lnTo>
                  <a:lnTo>
                    <a:pt x="8254" y="37464"/>
                  </a:lnTo>
                  <a:lnTo>
                    <a:pt x="0" y="37464"/>
                  </a:lnTo>
                  <a:lnTo>
                    <a:pt x="0" y="1310005"/>
                  </a:lnTo>
                  <a:lnTo>
                    <a:pt x="334645" y="1310005"/>
                  </a:lnTo>
                  <a:lnTo>
                    <a:pt x="334645" y="18414"/>
                  </a:lnTo>
                </a:path>
              </a:pathLst>
            </a:custGeom>
            <a:ln w="10872">
              <a:solidFill>
                <a:srgbClr val="333333"/>
              </a:solidFill>
            </a:ln>
          </p:spPr>
          <p:txBody>
            <a:bodyPr wrap="square" lIns="0" tIns="0" rIns="0" bIns="0" rtlCol="0"/>
            <a:lstStyle/>
            <a:p>
              <a:endParaRPr/>
            </a:p>
          </p:txBody>
        </p:sp>
        <p:sp>
          <p:nvSpPr>
            <p:cNvPr id="29" name="object 29"/>
            <p:cNvSpPr/>
            <p:nvPr/>
          </p:nvSpPr>
          <p:spPr>
            <a:xfrm>
              <a:off x="7145655" y="1757045"/>
              <a:ext cx="355600" cy="534670"/>
            </a:xfrm>
            <a:custGeom>
              <a:avLst/>
              <a:gdLst/>
              <a:ahLst/>
              <a:cxnLst/>
              <a:rect l="l" t="t" r="r" b="b"/>
              <a:pathLst>
                <a:path w="355600" h="534669">
                  <a:moveTo>
                    <a:pt x="355600" y="0"/>
                  </a:moveTo>
                  <a:lnTo>
                    <a:pt x="4445" y="0"/>
                  </a:lnTo>
                  <a:lnTo>
                    <a:pt x="0" y="534669"/>
                  </a:lnTo>
                  <a:lnTo>
                    <a:pt x="43179" y="534669"/>
                  </a:lnTo>
                  <a:lnTo>
                    <a:pt x="53340" y="525144"/>
                  </a:lnTo>
                  <a:lnTo>
                    <a:pt x="73660" y="525144"/>
                  </a:lnTo>
                  <a:lnTo>
                    <a:pt x="81915" y="515619"/>
                  </a:lnTo>
                  <a:lnTo>
                    <a:pt x="91440" y="515619"/>
                  </a:lnTo>
                  <a:lnTo>
                    <a:pt x="91440" y="505459"/>
                  </a:lnTo>
                  <a:lnTo>
                    <a:pt x="101600" y="505459"/>
                  </a:lnTo>
                  <a:lnTo>
                    <a:pt x="112395" y="494664"/>
                  </a:lnTo>
                  <a:lnTo>
                    <a:pt x="184150" y="494664"/>
                  </a:lnTo>
                  <a:lnTo>
                    <a:pt x="184150" y="505459"/>
                  </a:lnTo>
                  <a:lnTo>
                    <a:pt x="193675" y="505459"/>
                  </a:lnTo>
                  <a:lnTo>
                    <a:pt x="205104" y="515619"/>
                  </a:lnTo>
                  <a:lnTo>
                    <a:pt x="214629" y="515619"/>
                  </a:lnTo>
                  <a:lnTo>
                    <a:pt x="222885" y="525144"/>
                  </a:lnTo>
                  <a:lnTo>
                    <a:pt x="242570" y="525144"/>
                  </a:lnTo>
                  <a:lnTo>
                    <a:pt x="242570" y="534669"/>
                  </a:lnTo>
                  <a:lnTo>
                    <a:pt x="315595" y="534669"/>
                  </a:lnTo>
                  <a:lnTo>
                    <a:pt x="325120" y="525144"/>
                  </a:lnTo>
                  <a:lnTo>
                    <a:pt x="336550" y="525144"/>
                  </a:lnTo>
                  <a:lnTo>
                    <a:pt x="346075" y="515619"/>
                  </a:lnTo>
                  <a:lnTo>
                    <a:pt x="355600" y="515619"/>
                  </a:lnTo>
                  <a:lnTo>
                    <a:pt x="355600" y="0"/>
                  </a:lnTo>
                  <a:close/>
                </a:path>
              </a:pathLst>
            </a:custGeom>
            <a:solidFill>
              <a:srgbClr val="80B3E6"/>
            </a:solidFill>
          </p:spPr>
          <p:txBody>
            <a:bodyPr wrap="square" lIns="0" tIns="0" rIns="0" bIns="0" rtlCol="0"/>
            <a:lstStyle/>
            <a:p>
              <a:endParaRPr/>
            </a:p>
          </p:txBody>
        </p:sp>
        <p:sp>
          <p:nvSpPr>
            <p:cNvPr id="30" name="object 30"/>
            <p:cNvSpPr/>
            <p:nvPr/>
          </p:nvSpPr>
          <p:spPr>
            <a:xfrm>
              <a:off x="1722119" y="595629"/>
              <a:ext cx="5767705" cy="1678939"/>
            </a:xfrm>
            <a:custGeom>
              <a:avLst/>
              <a:gdLst/>
              <a:ahLst/>
              <a:cxnLst/>
              <a:rect l="l" t="t" r="r" b="b"/>
              <a:pathLst>
                <a:path w="5767705" h="1678939">
                  <a:moveTo>
                    <a:pt x="5427345" y="1678940"/>
                  </a:moveTo>
                  <a:lnTo>
                    <a:pt x="5427345" y="1167765"/>
                  </a:lnTo>
                  <a:lnTo>
                    <a:pt x="5766434" y="1167765"/>
                  </a:lnTo>
                  <a:lnTo>
                    <a:pt x="5767705" y="1657985"/>
                  </a:lnTo>
                  <a:lnTo>
                    <a:pt x="5758180" y="1657985"/>
                  </a:lnTo>
                  <a:lnTo>
                    <a:pt x="5748020" y="1668145"/>
                  </a:lnTo>
                  <a:lnTo>
                    <a:pt x="5738495" y="1668145"/>
                  </a:lnTo>
                  <a:lnTo>
                    <a:pt x="5728970" y="1677670"/>
                  </a:lnTo>
                  <a:lnTo>
                    <a:pt x="5719445" y="1677670"/>
                  </a:lnTo>
                  <a:lnTo>
                    <a:pt x="5658484" y="1677670"/>
                  </a:lnTo>
                  <a:lnTo>
                    <a:pt x="5658484" y="1668145"/>
                  </a:lnTo>
                  <a:lnTo>
                    <a:pt x="5648325" y="1668145"/>
                  </a:lnTo>
                  <a:lnTo>
                    <a:pt x="5638800" y="1668145"/>
                  </a:lnTo>
                  <a:lnTo>
                    <a:pt x="5630545" y="1657985"/>
                  </a:lnTo>
                  <a:lnTo>
                    <a:pt x="5621020" y="1657985"/>
                  </a:lnTo>
                  <a:lnTo>
                    <a:pt x="5611495" y="1648460"/>
                  </a:lnTo>
                  <a:lnTo>
                    <a:pt x="5601334" y="1648460"/>
                  </a:lnTo>
                  <a:lnTo>
                    <a:pt x="5601334" y="1638935"/>
                  </a:lnTo>
                  <a:lnTo>
                    <a:pt x="5591809" y="1638935"/>
                  </a:lnTo>
                  <a:lnTo>
                    <a:pt x="5582284" y="1638935"/>
                  </a:lnTo>
                  <a:lnTo>
                    <a:pt x="5531484" y="1638935"/>
                  </a:lnTo>
                  <a:lnTo>
                    <a:pt x="5521325" y="1648460"/>
                  </a:lnTo>
                  <a:lnTo>
                    <a:pt x="5511800" y="1648460"/>
                  </a:lnTo>
                  <a:lnTo>
                    <a:pt x="5511800" y="1657985"/>
                  </a:lnTo>
                  <a:lnTo>
                    <a:pt x="5502275" y="1657985"/>
                  </a:lnTo>
                  <a:lnTo>
                    <a:pt x="5494020" y="1668145"/>
                  </a:lnTo>
                  <a:lnTo>
                    <a:pt x="5483859" y="1668145"/>
                  </a:lnTo>
                  <a:lnTo>
                    <a:pt x="5474334" y="1668145"/>
                  </a:lnTo>
                  <a:lnTo>
                    <a:pt x="5464809" y="1677670"/>
                  </a:lnTo>
                  <a:lnTo>
                    <a:pt x="5461000" y="1677670"/>
                  </a:lnTo>
                  <a:lnTo>
                    <a:pt x="5450839" y="1677670"/>
                  </a:lnTo>
                  <a:lnTo>
                    <a:pt x="5441314" y="1677670"/>
                  </a:lnTo>
                  <a:lnTo>
                    <a:pt x="5431789" y="1677670"/>
                  </a:lnTo>
                </a:path>
                <a:path w="5767705" h="1678939">
                  <a:moveTo>
                    <a:pt x="0" y="1148080"/>
                  </a:moveTo>
                  <a:lnTo>
                    <a:pt x="0" y="452120"/>
                  </a:lnTo>
                  <a:lnTo>
                    <a:pt x="0" y="432435"/>
                  </a:lnTo>
                  <a:lnTo>
                    <a:pt x="8255" y="394970"/>
                  </a:lnTo>
                  <a:lnTo>
                    <a:pt x="17780" y="352425"/>
                  </a:lnTo>
                  <a:lnTo>
                    <a:pt x="37465" y="286385"/>
                  </a:lnTo>
                  <a:lnTo>
                    <a:pt x="74930" y="225425"/>
                  </a:lnTo>
                  <a:lnTo>
                    <a:pt x="135890" y="154940"/>
                  </a:lnTo>
                  <a:lnTo>
                    <a:pt x="215900" y="88265"/>
                  </a:lnTo>
                  <a:lnTo>
                    <a:pt x="325119" y="46990"/>
                  </a:lnTo>
                  <a:lnTo>
                    <a:pt x="470535" y="8255"/>
                  </a:lnTo>
                  <a:lnTo>
                    <a:pt x="650240" y="0"/>
                  </a:lnTo>
                  <a:lnTo>
                    <a:pt x="832485" y="0"/>
                  </a:lnTo>
                  <a:lnTo>
                    <a:pt x="993140" y="0"/>
                  </a:lnTo>
                  <a:lnTo>
                    <a:pt x="4939664" y="0"/>
                  </a:lnTo>
                  <a:lnTo>
                    <a:pt x="5123180" y="8255"/>
                  </a:lnTo>
                  <a:lnTo>
                    <a:pt x="5264150" y="46990"/>
                  </a:lnTo>
                  <a:lnTo>
                    <a:pt x="5373370" y="88265"/>
                  </a:lnTo>
                  <a:lnTo>
                    <a:pt x="5457825" y="154940"/>
                  </a:lnTo>
                  <a:lnTo>
                    <a:pt x="5518784" y="225425"/>
                  </a:lnTo>
                  <a:lnTo>
                    <a:pt x="5557520" y="286385"/>
                  </a:lnTo>
                  <a:lnTo>
                    <a:pt x="5571489" y="352425"/>
                  </a:lnTo>
                  <a:lnTo>
                    <a:pt x="5581014" y="394970"/>
                  </a:lnTo>
                  <a:lnTo>
                    <a:pt x="5590539" y="432435"/>
                  </a:lnTo>
                  <a:lnTo>
                    <a:pt x="5590539" y="452120"/>
                  </a:lnTo>
                  <a:lnTo>
                    <a:pt x="5590539" y="1158240"/>
                  </a:lnTo>
                </a:path>
              </a:pathLst>
            </a:custGeom>
            <a:ln w="10872">
              <a:solidFill>
                <a:srgbClr val="000000"/>
              </a:solidFill>
            </a:ln>
          </p:spPr>
          <p:txBody>
            <a:bodyPr wrap="square" lIns="0" tIns="0" rIns="0" bIns="0" rtlCol="0"/>
            <a:lstStyle/>
            <a:p>
              <a:endParaRPr/>
            </a:p>
          </p:txBody>
        </p:sp>
        <p:sp>
          <p:nvSpPr>
            <p:cNvPr id="31" name="object 31"/>
            <p:cNvSpPr/>
            <p:nvPr/>
          </p:nvSpPr>
          <p:spPr>
            <a:xfrm>
              <a:off x="4414520" y="2016759"/>
              <a:ext cx="172085" cy="2595245"/>
            </a:xfrm>
            <a:custGeom>
              <a:avLst/>
              <a:gdLst/>
              <a:ahLst/>
              <a:cxnLst/>
              <a:rect l="l" t="t" r="r" b="b"/>
              <a:pathLst>
                <a:path w="172085" h="2595245">
                  <a:moveTo>
                    <a:pt x="172085" y="0"/>
                  </a:moveTo>
                  <a:lnTo>
                    <a:pt x="0" y="0"/>
                  </a:lnTo>
                  <a:lnTo>
                    <a:pt x="0" y="2595245"/>
                  </a:lnTo>
                  <a:lnTo>
                    <a:pt x="172085" y="2595245"/>
                  </a:lnTo>
                  <a:lnTo>
                    <a:pt x="172085" y="0"/>
                  </a:lnTo>
                  <a:close/>
                </a:path>
              </a:pathLst>
            </a:custGeom>
            <a:solidFill>
              <a:srgbClr val="33FFB3"/>
            </a:solidFill>
          </p:spPr>
          <p:txBody>
            <a:bodyPr wrap="square" lIns="0" tIns="0" rIns="0" bIns="0" rtlCol="0"/>
            <a:lstStyle/>
            <a:p>
              <a:endParaRPr/>
            </a:p>
          </p:txBody>
        </p:sp>
        <p:sp>
          <p:nvSpPr>
            <p:cNvPr id="32" name="object 32"/>
            <p:cNvSpPr/>
            <p:nvPr/>
          </p:nvSpPr>
          <p:spPr>
            <a:xfrm>
              <a:off x="4414520" y="2016759"/>
              <a:ext cx="161290" cy="2584450"/>
            </a:xfrm>
            <a:custGeom>
              <a:avLst/>
              <a:gdLst/>
              <a:ahLst/>
              <a:cxnLst/>
              <a:rect l="l" t="t" r="r" b="b"/>
              <a:pathLst>
                <a:path w="161289" h="2584450">
                  <a:moveTo>
                    <a:pt x="0" y="2584450"/>
                  </a:moveTo>
                  <a:lnTo>
                    <a:pt x="161289" y="2584450"/>
                  </a:lnTo>
                  <a:lnTo>
                    <a:pt x="161289" y="0"/>
                  </a:lnTo>
                  <a:lnTo>
                    <a:pt x="0" y="0"/>
                  </a:lnTo>
                  <a:lnTo>
                    <a:pt x="0" y="2584450"/>
                  </a:lnTo>
                  <a:close/>
                </a:path>
              </a:pathLst>
            </a:custGeom>
            <a:ln w="21746">
              <a:solidFill>
                <a:srgbClr val="000000"/>
              </a:solidFill>
            </a:ln>
          </p:spPr>
          <p:txBody>
            <a:bodyPr wrap="square" lIns="0" tIns="0" rIns="0" bIns="0" rtlCol="0"/>
            <a:lstStyle/>
            <a:p>
              <a:endParaRPr/>
            </a:p>
          </p:txBody>
        </p:sp>
        <p:sp>
          <p:nvSpPr>
            <p:cNvPr id="33" name="object 33"/>
            <p:cNvSpPr/>
            <p:nvPr/>
          </p:nvSpPr>
          <p:spPr>
            <a:xfrm>
              <a:off x="4495165" y="1548130"/>
              <a:ext cx="0" cy="663575"/>
            </a:xfrm>
            <a:custGeom>
              <a:avLst/>
              <a:gdLst/>
              <a:ahLst/>
              <a:cxnLst/>
              <a:rect l="l" t="t" r="r" b="b"/>
              <a:pathLst>
                <a:path h="663575">
                  <a:moveTo>
                    <a:pt x="0" y="0"/>
                  </a:moveTo>
                  <a:lnTo>
                    <a:pt x="0" y="663575"/>
                  </a:lnTo>
                </a:path>
              </a:pathLst>
            </a:custGeom>
            <a:ln w="10872">
              <a:solidFill>
                <a:srgbClr val="000000"/>
              </a:solidFill>
            </a:ln>
          </p:spPr>
          <p:txBody>
            <a:bodyPr wrap="square" lIns="0" tIns="0" rIns="0" bIns="0" rtlCol="0"/>
            <a:lstStyle/>
            <a:p>
              <a:endParaRPr/>
            </a:p>
          </p:txBody>
        </p:sp>
        <p:sp>
          <p:nvSpPr>
            <p:cNvPr id="34" name="object 34"/>
            <p:cNvSpPr/>
            <p:nvPr/>
          </p:nvSpPr>
          <p:spPr>
            <a:xfrm>
              <a:off x="2730500" y="2892424"/>
              <a:ext cx="1386840" cy="854075"/>
            </a:xfrm>
            <a:custGeom>
              <a:avLst/>
              <a:gdLst/>
              <a:ahLst/>
              <a:cxnLst/>
              <a:rect l="l" t="t" r="r" b="b"/>
              <a:pathLst>
                <a:path w="1386839" h="854075">
                  <a:moveTo>
                    <a:pt x="1386839" y="0"/>
                  </a:moveTo>
                  <a:lnTo>
                    <a:pt x="0" y="0"/>
                  </a:lnTo>
                  <a:lnTo>
                    <a:pt x="0" y="854075"/>
                  </a:lnTo>
                  <a:lnTo>
                    <a:pt x="1376679" y="854075"/>
                  </a:lnTo>
                  <a:lnTo>
                    <a:pt x="1386839" y="0"/>
                  </a:lnTo>
                  <a:close/>
                </a:path>
              </a:pathLst>
            </a:custGeom>
            <a:solidFill>
              <a:srgbClr val="FFFFFF"/>
            </a:solidFill>
          </p:spPr>
          <p:txBody>
            <a:bodyPr wrap="square" lIns="0" tIns="0" rIns="0" bIns="0" rtlCol="0"/>
            <a:lstStyle/>
            <a:p>
              <a:endParaRPr/>
            </a:p>
          </p:txBody>
        </p:sp>
        <p:sp>
          <p:nvSpPr>
            <p:cNvPr id="35" name="object 35"/>
            <p:cNvSpPr/>
            <p:nvPr/>
          </p:nvSpPr>
          <p:spPr>
            <a:xfrm>
              <a:off x="2730500" y="2892424"/>
              <a:ext cx="1375410" cy="842644"/>
            </a:xfrm>
            <a:custGeom>
              <a:avLst/>
              <a:gdLst/>
              <a:ahLst/>
              <a:cxnLst/>
              <a:rect l="l" t="t" r="r" b="b"/>
              <a:pathLst>
                <a:path w="1375410" h="842645">
                  <a:moveTo>
                    <a:pt x="1365885" y="842644"/>
                  </a:moveTo>
                  <a:lnTo>
                    <a:pt x="1375410" y="0"/>
                  </a:lnTo>
                  <a:lnTo>
                    <a:pt x="0" y="0"/>
                  </a:lnTo>
                  <a:lnTo>
                    <a:pt x="0" y="842644"/>
                  </a:lnTo>
                  <a:lnTo>
                    <a:pt x="1375410" y="842644"/>
                  </a:lnTo>
                </a:path>
              </a:pathLst>
            </a:custGeom>
            <a:ln w="10872">
              <a:solidFill>
                <a:srgbClr val="000000"/>
              </a:solidFill>
            </a:ln>
          </p:spPr>
          <p:txBody>
            <a:bodyPr wrap="square" lIns="0" tIns="0" rIns="0" bIns="0" rtlCol="0"/>
            <a:lstStyle/>
            <a:p>
              <a:endParaRPr/>
            </a:p>
          </p:txBody>
        </p:sp>
        <p:sp>
          <p:nvSpPr>
            <p:cNvPr id="36" name="object 36"/>
            <p:cNvSpPr/>
            <p:nvPr/>
          </p:nvSpPr>
          <p:spPr>
            <a:xfrm>
              <a:off x="4881879" y="2892424"/>
              <a:ext cx="1432560" cy="854075"/>
            </a:xfrm>
            <a:custGeom>
              <a:avLst/>
              <a:gdLst/>
              <a:ahLst/>
              <a:cxnLst/>
              <a:rect l="l" t="t" r="r" b="b"/>
              <a:pathLst>
                <a:path w="1432560" h="854075">
                  <a:moveTo>
                    <a:pt x="1432560" y="0"/>
                  </a:moveTo>
                  <a:lnTo>
                    <a:pt x="0" y="0"/>
                  </a:lnTo>
                  <a:lnTo>
                    <a:pt x="0" y="854075"/>
                  </a:lnTo>
                  <a:lnTo>
                    <a:pt x="1432560" y="854075"/>
                  </a:lnTo>
                  <a:lnTo>
                    <a:pt x="1432560" y="0"/>
                  </a:lnTo>
                  <a:close/>
                </a:path>
              </a:pathLst>
            </a:custGeom>
            <a:solidFill>
              <a:srgbClr val="FFFFFF"/>
            </a:solidFill>
          </p:spPr>
          <p:txBody>
            <a:bodyPr wrap="square" lIns="0" tIns="0" rIns="0" bIns="0" rtlCol="0"/>
            <a:lstStyle/>
            <a:p>
              <a:endParaRPr/>
            </a:p>
          </p:txBody>
        </p:sp>
        <p:sp>
          <p:nvSpPr>
            <p:cNvPr id="37" name="object 37"/>
            <p:cNvSpPr/>
            <p:nvPr/>
          </p:nvSpPr>
          <p:spPr>
            <a:xfrm>
              <a:off x="4881879" y="2892424"/>
              <a:ext cx="1421765" cy="843280"/>
            </a:xfrm>
            <a:custGeom>
              <a:avLst/>
              <a:gdLst/>
              <a:ahLst/>
              <a:cxnLst/>
              <a:rect l="l" t="t" r="r" b="b"/>
              <a:pathLst>
                <a:path w="1421764" h="843279">
                  <a:moveTo>
                    <a:pt x="0" y="843280"/>
                  </a:moveTo>
                  <a:lnTo>
                    <a:pt x="1421764" y="843280"/>
                  </a:lnTo>
                  <a:lnTo>
                    <a:pt x="1421764" y="0"/>
                  </a:lnTo>
                  <a:lnTo>
                    <a:pt x="0" y="0"/>
                  </a:lnTo>
                  <a:lnTo>
                    <a:pt x="0" y="843280"/>
                  </a:lnTo>
                  <a:close/>
                </a:path>
              </a:pathLst>
            </a:custGeom>
            <a:ln w="21744">
              <a:solidFill>
                <a:srgbClr val="000000"/>
              </a:solidFill>
            </a:ln>
          </p:spPr>
          <p:txBody>
            <a:bodyPr wrap="square" lIns="0" tIns="0" rIns="0" bIns="0" rtlCol="0"/>
            <a:lstStyle/>
            <a:p>
              <a:endParaRPr/>
            </a:p>
          </p:txBody>
        </p:sp>
        <p:sp>
          <p:nvSpPr>
            <p:cNvPr id="38" name="object 38"/>
            <p:cNvSpPr/>
            <p:nvPr/>
          </p:nvSpPr>
          <p:spPr>
            <a:xfrm>
              <a:off x="6518275" y="2486659"/>
              <a:ext cx="793750" cy="828040"/>
            </a:xfrm>
            <a:custGeom>
              <a:avLst/>
              <a:gdLst/>
              <a:ahLst/>
              <a:cxnLst/>
              <a:rect l="l" t="t" r="r" b="b"/>
              <a:pathLst>
                <a:path w="793750" h="828039">
                  <a:moveTo>
                    <a:pt x="0" y="817879"/>
                  </a:moveTo>
                  <a:lnTo>
                    <a:pt x="4445" y="828039"/>
                  </a:lnTo>
                  <a:lnTo>
                    <a:pt x="13970" y="828039"/>
                  </a:lnTo>
                  <a:lnTo>
                    <a:pt x="41275" y="828039"/>
                  </a:lnTo>
                  <a:lnTo>
                    <a:pt x="467359" y="828039"/>
                  </a:lnTo>
                  <a:lnTo>
                    <a:pt x="557529" y="817879"/>
                  </a:lnTo>
                  <a:lnTo>
                    <a:pt x="631825" y="802639"/>
                  </a:lnTo>
                  <a:lnTo>
                    <a:pt x="684529" y="775335"/>
                  </a:lnTo>
                  <a:lnTo>
                    <a:pt x="721995" y="747394"/>
                  </a:lnTo>
                  <a:lnTo>
                    <a:pt x="760729" y="708660"/>
                  </a:lnTo>
                  <a:lnTo>
                    <a:pt x="784225" y="648335"/>
                  </a:lnTo>
                  <a:lnTo>
                    <a:pt x="784225" y="620394"/>
                  </a:lnTo>
                  <a:lnTo>
                    <a:pt x="793750" y="601344"/>
                  </a:lnTo>
                  <a:lnTo>
                    <a:pt x="793750" y="0"/>
                  </a:lnTo>
                </a:path>
              </a:pathLst>
            </a:custGeom>
            <a:ln w="10872">
              <a:solidFill>
                <a:srgbClr val="000000"/>
              </a:solidFill>
            </a:ln>
          </p:spPr>
          <p:txBody>
            <a:bodyPr wrap="square" lIns="0" tIns="0" rIns="0" bIns="0" rtlCol="0"/>
            <a:lstStyle/>
            <a:p>
              <a:endParaRPr/>
            </a:p>
          </p:txBody>
        </p:sp>
        <p:sp>
          <p:nvSpPr>
            <p:cNvPr id="39" name="object 39"/>
            <p:cNvSpPr/>
            <p:nvPr/>
          </p:nvSpPr>
          <p:spPr>
            <a:xfrm>
              <a:off x="1652269" y="515620"/>
              <a:ext cx="5749290" cy="2886710"/>
            </a:xfrm>
            <a:custGeom>
              <a:avLst/>
              <a:gdLst/>
              <a:ahLst/>
              <a:cxnLst/>
              <a:rect l="l" t="t" r="r" b="b"/>
              <a:pathLst>
                <a:path w="5749290" h="2886710">
                  <a:moveTo>
                    <a:pt x="74294" y="613409"/>
                  </a:moveTo>
                  <a:lnTo>
                    <a:pt x="0" y="906144"/>
                  </a:lnTo>
                  <a:lnTo>
                    <a:pt x="74294" y="876300"/>
                  </a:lnTo>
                  <a:lnTo>
                    <a:pt x="156210" y="876300"/>
                  </a:lnTo>
                  <a:lnTo>
                    <a:pt x="74294" y="613409"/>
                  </a:lnTo>
                  <a:close/>
                </a:path>
                <a:path w="5749290" h="2886710">
                  <a:moveTo>
                    <a:pt x="156210" y="876300"/>
                  </a:moveTo>
                  <a:lnTo>
                    <a:pt x="74294" y="876300"/>
                  </a:lnTo>
                  <a:lnTo>
                    <a:pt x="165735" y="906144"/>
                  </a:lnTo>
                  <a:lnTo>
                    <a:pt x="156210" y="876300"/>
                  </a:lnTo>
                  <a:close/>
                </a:path>
                <a:path w="5749290" h="2886710">
                  <a:moveTo>
                    <a:pt x="1431290" y="80009"/>
                  </a:moveTo>
                  <a:lnTo>
                    <a:pt x="1403350" y="161289"/>
                  </a:lnTo>
                  <a:lnTo>
                    <a:pt x="1697990" y="83819"/>
                  </a:lnTo>
                  <a:lnTo>
                    <a:pt x="1432560" y="83819"/>
                  </a:lnTo>
                  <a:lnTo>
                    <a:pt x="1431290" y="80009"/>
                  </a:lnTo>
                  <a:close/>
                </a:path>
                <a:path w="5749290" h="2886710">
                  <a:moveTo>
                    <a:pt x="1669415" y="76200"/>
                  </a:moveTo>
                  <a:lnTo>
                    <a:pt x="1432560" y="76200"/>
                  </a:lnTo>
                  <a:lnTo>
                    <a:pt x="1432560" y="83819"/>
                  </a:lnTo>
                  <a:lnTo>
                    <a:pt x="1697990" y="83819"/>
                  </a:lnTo>
                  <a:lnTo>
                    <a:pt x="1669415" y="76200"/>
                  </a:lnTo>
                  <a:close/>
                </a:path>
                <a:path w="5749290" h="2886710">
                  <a:moveTo>
                    <a:pt x="1403350" y="0"/>
                  </a:moveTo>
                  <a:lnTo>
                    <a:pt x="1431290" y="80009"/>
                  </a:lnTo>
                  <a:lnTo>
                    <a:pt x="1432560" y="76200"/>
                  </a:lnTo>
                  <a:lnTo>
                    <a:pt x="1669415" y="76200"/>
                  </a:lnTo>
                  <a:lnTo>
                    <a:pt x="1403350" y="0"/>
                  </a:lnTo>
                  <a:close/>
                </a:path>
                <a:path w="5749290" h="2886710">
                  <a:moveTo>
                    <a:pt x="4135754" y="76200"/>
                  </a:moveTo>
                  <a:lnTo>
                    <a:pt x="4116704" y="161289"/>
                  </a:lnTo>
                  <a:lnTo>
                    <a:pt x="4409440" y="83819"/>
                  </a:lnTo>
                  <a:lnTo>
                    <a:pt x="4145279" y="83819"/>
                  </a:lnTo>
                  <a:lnTo>
                    <a:pt x="4135754" y="76200"/>
                  </a:lnTo>
                  <a:close/>
                </a:path>
                <a:path w="5749290" h="2886710">
                  <a:moveTo>
                    <a:pt x="4116704" y="0"/>
                  </a:moveTo>
                  <a:lnTo>
                    <a:pt x="4145279" y="83819"/>
                  </a:lnTo>
                  <a:lnTo>
                    <a:pt x="4409440" y="83819"/>
                  </a:lnTo>
                  <a:lnTo>
                    <a:pt x="4116704" y="0"/>
                  </a:lnTo>
                  <a:close/>
                </a:path>
                <a:path w="5749290" h="2886710">
                  <a:moveTo>
                    <a:pt x="4949189" y="2720975"/>
                  </a:moveTo>
                  <a:lnTo>
                    <a:pt x="4657090" y="2804794"/>
                  </a:lnTo>
                  <a:lnTo>
                    <a:pt x="4949189" y="2886709"/>
                  </a:lnTo>
                  <a:lnTo>
                    <a:pt x="4921884" y="2804794"/>
                  </a:lnTo>
                  <a:lnTo>
                    <a:pt x="4918709" y="2804794"/>
                  </a:lnTo>
                  <a:lnTo>
                    <a:pt x="4918709" y="2795269"/>
                  </a:lnTo>
                  <a:lnTo>
                    <a:pt x="4921884" y="2795269"/>
                  </a:lnTo>
                  <a:lnTo>
                    <a:pt x="4949189" y="2720975"/>
                  </a:lnTo>
                  <a:close/>
                </a:path>
                <a:path w="5749290" h="2886710">
                  <a:moveTo>
                    <a:pt x="4919980" y="2800350"/>
                  </a:moveTo>
                  <a:lnTo>
                    <a:pt x="4918709" y="2804794"/>
                  </a:lnTo>
                  <a:lnTo>
                    <a:pt x="4921884" y="2804794"/>
                  </a:lnTo>
                  <a:lnTo>
                    <a:pt x="4919980" y="2800350"/>
                  </a:lnTo>
                  <a:close/>
                </a:path>
                <a:path w="5749290" h="2886710">
                  <a:moveTo>
                    <a:pt x="4921884" y="2795269"/>
                  </a:moveTo>
                  <a:lnTo>
                    <a:pt x="4918709" y="2795269"/>
                  </a:lnTo>
                  <a:lnTo>
                    <a:pt x="4919980" y="2800350"/>
                  </a:lnTo>
                  <a:lnTo>
                    <a:pt x="4921884" y="2795269"/>
                  </a:lnTo>
                  <a:close/>
                </a:path>
                <a:path w="5749290" h="2886710">
                  <a:moveTo>
                    <a:pt x="5581014" y="2108834"/>
                  </a:moveTo>
                  <a:lnTo>
                    <a:pt x="5666739" y="2397125"/>
                  </a:lnTo>
                  <a:lnTo>
                    <a:pt x="5742198" y="2133600"/>
                  </a:lnTo>
                  <a:lnTo>
                    <a:pt x="5666739" y="2133600"/>
                  </a:lnTo>
                  <a:lnTo>
                    <a:pt x="5581014" y="2108834"/>
                  </a:lnTo>
                  <a:close/>
                </a:path>
                <a:path w="5749290" h="2886710">
                  <a:moveTo>
                    <a:pt x="5749289" y="2108834"/>
                  </a:moveTo>
                  <a:lnTo>
                    <a:pt x="5657214" y="2127884"/>
                  </a:lnTo>
                  <a:lnTo>
                    <a:pt x="5666739" y="2133600"/>
                  </a:lnTo>
                  <a:lnTo>
                    <a:pt x="5742198" y="2133600"/>
                  </a:lnTo>
                  <a:lnTo>
                    <a:pt x="5749289" y="2108834"/>
                  </a:lnTo>
                  <a:close/>
                </a:path>
                <a:path w="5749290" h="2886710">
                  <a:moveTo>
                    <a:pt x="5581014" y="653414"/>
                  </a:moveTo>
                  <a:lnTo>
                    <a:pt x="5666739" y="942339"/>
                  </a:lnTo>
                  <a:lnTo>
                    <a:pt x="5741034" y="682625"/>
                  </a:lnTo>
                  <a:lnTo>
                    <a:pt x="5657214" y="682625"/>
                  </a:lnTo>
                  <a:lnTo>
                    <a:pt x="5662295" y="680719"/>
                  </a:lnTo>
                  <a:lnTo>
                    <a:pt x="5581014" y="653414"/>
                  </a:lnTo>
                  <a:close/>
                </a:path>
                <a:path w="5749290" h="2886710">
                  <a:moveTo>
                    <a:pt x="5749289" y="653414"/>
                  </a:moveTo>
                  <a:lnTo>
                    <a:pt x="5662295" y="680719"/>
                  </a:lnTo>
                  <a:lnTo>
                    <a:pt x="5666739" y="682625"/>
                  </a:lnTo>
                  <a:lnTo>
                    <a:pt x="5741034" y="682625"/>
                  </a:lnTo>
                  <a:lnTo>
                    <a:pt x="5749289" y="653414"/>
                  </a:lnTo>
                  <a:close/>
                </a:path>
              </a:pathLst>
            </a:custGeom>
            <a:solidFill>
              <a:srgbClr val="000000"/>
            </a:solidFill>
          </p:spPr>
          <p:txBody>
            <a:bodyPr wrap="square" lIns="0" tIns="0" rIns="0" bIns="0" rtlCol="0"/>
            <a:lstStyle/>
            <a:p>
              <a:endParaRPr/>
            </a:p>
          </p:txBody>
        </p:sp>
        <p:sp>
          <p:nvSpPr>
            <p:cNvPr id="40" name="object 40"/>
            <p:cNvSpPr/>
            <p:nvPr/>
          </p:nvSpPr>
          <p:spPr>
            <a:xfrm>
              <a:off x="1712594" y="2711449"/>
              <a:ext cx="1022985" cy="602615"/>
            </a:xfrm>
            <a:custGeom>
              <a:avLst/>
              <a:gdLst/>
              <a:ahLst/>
              <a:cxnLst/>
              <a:rect l="l" t="t" r="r" b="b"/>
              <a:pathLst>
                <a:path w="1022985" h="602614">
                  <a:moveTo>
                    <a:pt x="1022985" y="592454"/>
                  </a:moveTo>
                  <a:lnTo>
                    <a:pt x="1013460" y="602614"/>
                  </a:lnTo>
                  <a:lnTo>
                    <a:pt x="984250" y="602614"/>
                  </a:lnTo>
                  <a:lnTo>
                    <a:pt x="933450" y="602614"/>
                  </a:lnTo>
                  <a:lnTo>
                    <a:pt x="324485" y="602614"/>
                  </a:lnTo>
                  <a:lnTo>
                    <a:pt x="234950" y="592454"/>
                  </a:lnTo>
                  <a:lnTo>
                    <a:pt x="164465" y="577214"/>
                  </a:lnTo>
                  <a:lnTo>
                    <a:pt x="107950" y="549910"/>
                  </a:lnTo>
                  <a:lnTo>
                    <a:pt x="64769" y="521970"/>
                  </a:lnTo>
                  <a:lnTo>
                    <a:pt x="37465" y="483235"/>
                  </a:lnTo>
                  <a:lnTo>
                    <a:pt x="8255" y="422910"/>
                  </a:lnTo>
                  <a:lnTo>
                    <a:pt x="0" y="394970"/>
                  </a:lnTo>
                  <a:lnTo>
                    <a:pt x="0" y="375920"/>
                  </a:lnTo>
                  <a:lnTo>
                    <a:pt x="0" y="0"/>
                  </a:lnTo>
                </a:path>
              </a:pathLst>
            </a:custGeom>
            <a:ln w="10872">
              <a:solidFill>
                <a:srgbClr val="000000"/>
              </a:solidFill>
            </a:ln>
          </p:spPr>
          <p:txBody>
            <a:bodyPr wrap="square" lIns="0" tIns="0" rIns="0" bIns="0" rtlCol="0"/>
            <a:lstStyle/>
            <a:p>
              <a:endParaRPr/>
            </a:p>
          </p:txBody>
        </p:sp>
        <p:sp>
          <p:nvSpPr>
            <p:cNvPr id="41" name="object 41"/>
            <p:cNvSpPr/>
            <p:nvPr/>
          </p:nvSpPr>
          <p:spPr>
            <a:xfrm>
              <a:off x="1642110" y="2566670"/>
              <a:ext cx="977265" cy="836294"/>
            </a:xfrm>
            <a:custGeom>
              <a:avLst/>
              <a:gdLst/>
              <a:ahLst/>
              <a:cxnLst/>
              <a:rect l="l" t="t" r="r" b="b"/>
              <a:pathLst>
                <a:path w="977264" h="836295">
                  <a:moveTo>
                    <a:pt x="74294" y="0"/>
                  </a:moveTo>
                  <a:lnTo>
                    <a:pt x="0" y="292734"/>
                  </a:lnTo>
                  <a:lnTo>
                    <a:pt x="74294" y="262889"/>
                  </a:lnTo>
                  <a:lnTo>
                    <a:pt x="156209" y="262889"/>
                  </a:lnTo>
                  <a:lnTo>
                    <a:pt x="74294" y="0"/>
                  </a:lnTo>
                  <a:close/>
                </a:path>
                <a:path w="977264" h="836295">
                  <a:moveTo>
                    <a:pt x="156209" y="262889"/>
                  </a:moveTo>
                  <a:lnTo>
                    <a:pt x="74294" y="262889"/>
                  </a:lnTo>
                  <a:lnTo>
                    <a:pt x="165734" y="292734"/>
                  </a:lnTo>
                  <a:lnTo>
                    <a:pt x="156209" y="262889"/>
                  </a:lnTo>
                  <a:close/>
                </a:path>
                <a:path w="977264" h="836295">
                  <a:moveTo>
                    <a:pt x="977264" y="670559"/>
                  </a:moveTo>
                  <a:lnTo>
                    <a:pt x="688339" y="754379"/>
                  </a:lnTo>
                  <a:lnTo>
                    <a:pt x="977264" y="836294"/>
                  </a:lnTo>
                  <a:lnTo>
                    <a:pt x="950594" y="754379"/>
                  </a:lnTo>
                  <a:lnTo>
                    <a:pt x="946784" y="754379"/>
                  </a:lnTo>
                  <a:lnTo>
                    <a:pt x="946784" y="744854"/>
                  </a:lnTo>
                  <a:lnTo>
                    <a:pt x="950594" y="744854"/>
                  </a:lnTo>
                  <a:lnTo>
                    <a:pt x="977264" y="670559"/>
                  </a:lnTo>
                  <a:close/>
                </a:path>
                <a:path w="977264" h="836295">
                  <a:moveTo>
                    <a:pt x="948689" y="749934"/>
                  </a:moveTo>
                  <a:lnTo>
                    <a:pt x="946784" y="754379"/>
                  </a:lnTo>
                  <a:lnTo>
                    <a:pt x="950594" y="754379"/>
                  </a:lnTo>
                  <a:lnTo>
                    <a:pt x="948689" y="749934"/>
                  </a:lnTo>
                  <a:close/>
                </a:path>
                <a:path w="977264" h="836295">
                  <a:moveTo>
                    <a:pt x="950594" y="744854"/>
                  </a:moveTo>
                  <a:lnTo>
                    <a:pt x="946784" y="744854"/>
                  </a:lnTo>
                  <a:lnTo>
                    <a:pt x="948689" y="749934"/>
                  </a:lnTo>
                  <a:lnTo>
                    <a:pt x="950594" y="744854"/>
                  </a:lnTo>
                  <a:close/>
                </a:path>
              </a:pathLst>
            </a:custGeom>
            <a:solidFill>
              <a:srgbClr val="000000"/>
            </a:solidFill>
          </p:spPr>
          <p:txBody>
            <a:bodyPr wrap="square" lIns="0" tIns="0" rIns="0" bIns="0" rtlCol="0"/>
            <a:lstStyle/>
            <a:p>
              <a:endParaRPr/>
            </a:p>
          </p:txBody>
        </p:sp>
        <p:pic>
          <p:nvPicPr>
            <p:cNvPr id="42" name="object 42"/>
            <p:cNvPicPr/>
            <p:nvPr/>
          </p:nvPicPr>
          <p:blipFill>
            <a:blip r:embed="rId3" cstate="print"/>
            <a:stretch>
              <a:fillRect/>
            </a:stretch>
          </p:blipFill>
          <p:spPr>
            <a:xfrm>
              <a:off x="228600" y="233045"/>
              <a:ext cx="8458200" cy="6320155"/>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562600" y="5566409"/>
            <a:ext cx="685800" cy="103505"/>
          </a:xfrm>
          <a:custGeom>
            <a:avLst/>
            <a:gdLst/>
            <a:ahLst/>
            <a:cxnLst/>
            <a:rect l="l" t="t" r="r" b="b"/>
            <a:pathLst>
              <a:path w="685800" h="103504">
                <a:moveTo>
                  <a:pt x="660400" y="51434"/>
                </a:moveTo>
                <a:lnTo>
                  <a:pt x="590550" y="92709"/>
                </a:lnTo>
                <a:lnTo>
                  <a:pt x="589914" y="96519"/>
                </a:lnTo>
                <a:lnTo>
                  <a:pt x="593089" y="102234"/>
                </a:lnTo>
                <a:lnTo>
                  <a:pt x="596900" y="103504"/>
                </a:lnTo>
                <a:lnTo>
                  <a:pt x="675004" y="57784"/>
                </a:lnTo>
                <a:lnTo>
                  <a:pt x="673100" y="57784"/>
                </a:lnTo>
                <a:lnTo>
                  <a:pt x="673100" y="57149"/>
                </a:lnTo>
                <a:lnTo>
                  <a:pt x="669925" y="57149"/>
                </a:lnTo>
                <a:lnTo>
                  <a:pt x="660400" y="51434"/>
                </a:lnTo>
                <a:close/>
              </a:path>
              <a:path w="685800" h="103504">
                <a:moveTo>
                  <a:pt x="649485" y="45084"/>
                </a:moveTo>
                <a:lnTo>
                  <a:pt x="0" y="45084"/>
                </a:lnTo>
                <a:lnTo>
                  <a:pt x="0" y="57784"/>
                </a:lnTo>
                <a:lnTo>
                  <a:pt x="649604" y="57784"/>
                </a:lnTo>
                <a:lnTo>
                  <a:pt x="660400" y="51434"/>
                </a:lnTo>
                <a:lnTo>
                  <a:pt x="649485" y="45084"/>
                </a:lnTo>
                <a:close/>
              </a:path>
              <a:path w="685800" h="103504">
                <a:moveTo>
                  <a:pt x="596900" y="0"/>
                </a:moveTo>
                <a:lnTo>
                  <a:pt x="593089" y="1269"/>
                </a:lnTo>
                <a:lnTo>
                  <a:pt x="589914" y="6984"/>
                </a:lnTo>
                <a:lnTo>
                  <a:pt x="590550" y="10794"/>
                </a:lnTo>
                <a:lnTo>
                  <a:pt x="649485" y="45084"/>
                </a:lnTo>
                <a:lnTo>
                  <a:pt x="673100" y="45084"/>
                </a:lnTo>
                <a:lnTo>
                  <a:pt x="673100" y="57784"/>
                </a:lnTo>
                <a:lnTo>
                  <a:pt x="675004" y="57784"/>
                </a:lnTo>
                <a:lnTo>
                  <a:pt x="685800" y="51434"/>
                </a:lnTo>
                <a:lnTo>
                  <a:pt x="675004" y="45084"/>
                </a:lnTo>
                <a:lnTo>
                  <a:pt x="596900" y="0"/>
                </a:lnTo>
                <a:close/>
              </a:path>
              <a:path w="685800" h="103504">
                <a:moveTo>
                  <a:pt x="669925" y="46354"/>
                </a:moveTo>
                <a:lnTo>
                  <a:pt x="660400" y="51434"/>
                </a:lnTo>
                <a:lnTo>
                  <a:pt x="669925" y="57149"/>
                </a:lnTo>
                <a:lnTo>
                  <a:pt x="669925" y="46354"/>
                </a:lnTo>
                <a:close/>
              </a:path>
              <a:path w="685800" h="103504">
                <a:moveTo>
                  <a:pt x="673100" y="46354"/>
                </a:moveTo>
                <a:lnTo>
                  <a:pt x="669925" y="46354"/>
                </a:lnTo>
                <a:lnTo>
                  <a:pt x="669925" y="57149"/>
                </a:lnTo>
                <a:lnTo>
                  <a:pt x="673100" y="57149"/>
                </a:lnTo>
                <a:lnTo>
                  <a:pt x="673100" y="46354"/>
                </a:lnTo>
                <a:close/>
              </a:path>
              <a:path w="685800" h="103504">
                <a:moveTo>
                  <a:pt x="673100" y="45084"/>
                </a:moveTo>
                <a:lnTo>
                  <a:pt x="649604" y="45084"/>
                </a:lnTo>
                <a:lnTo>
                  <a:pt x="660400" y="51434"/>
                </a:lnTo>
                <a:lnTo>
                  <a:pt x="669925" y="46354"/>
                </a:lnTo>
                <a:lnTo>
                  <a:pt x="673100" y="46354"/>
                </a:lnTo>
                <a:lnTo>
                  <a:pt x="673100" y="45084"/>
                </a:lnTo>
                <a:close/>
              </a:path>
            </a:pathLst>
          </a:custGeom>
          <a:solidFill>
            <a:srgbClr val="000000"/>
          </a:solidFill>
        </p:spPr>
        <p:txBody>
          <a:bodyPr wrap="square" lIns="0" tIns="0" rIns="0" bIns="0" rtlCol="0"/>
          <a:lstStyle/>
          <a:p>
            <a:endParaRPr/>
          </a:p>
        </p:txBody>
      </p:sp>
      <p:sp>
        <p:nvSpPr>
          <p:cNvPr id="3" name="object 3"/>
          <p:cNvSpPr txBox="1">
            <a:spLocks noGrp="1"/>
          </p:cNvSpPr>
          <p:nvPr>
            <p:ph type="title"/>
          </p:nvPr>
        </p:nvSpPr>
        <p:spPr>
          <a:xfrm>
            <a:off x="139700" y="545033"/>
            <a:ext cx="6945630" cy="512445"/>
          </a:xfrm>
          <a:prstGeom prst="rect">
            <a:avLst/>
          </a:prstGeom>
        </p:spPr>
        <p:txBody>
          <a:bodyPr vert="horz" wrap="square" lIns="0" tIns="12065" rIns="0" bIns="0" rtlCol="0">
            <a:spAutoFit/>
          </a:bodyPr>
          <a:lstStyle/>
          <a:p>
            <a:pPr marL="12700">
              <a:lnSpc>
                <a:spcPct val="100000"/>
              </a:lnSpc>
              <a:spcBef>
                <a:spcPts val="95"/>
              </a:spcBef>
            </a:pPr>
            <a:r>
              <a:rPr sz="3200" spc="-5" dirty="0">
                <a:solidFill>
                  <a:srgbClr val="000000"/>
                </a:solidFill>
              </a:rPr>
              <a:t>Representation</a:t>
            </a:r>
            <a:r>
              <a:rPr sz="3200" spc="-55" dirty="0">
                <a:solidFill>
                  <a:srgbClr val="000000"/>
                </a:solidFill>
              </a:rPr>
              <a:t> </a:t>
            </a:r>
            <a:r>
              <a:rPr sz="3200" spc="-5" dirty="0">
                <a:solidFill>
                  <a:srgbClr val="000000"/>
                </a:solidFill>
              </a:rPr>
              <a:t>of</a:t>
            </a:r>
            <a:r>
              <a:rPr sz="3200" spc="-45" dirty="0">
                <a:solidFill>
                  <a:srgbClr val="000000"/>
                </a:solidFill>
              </a:rPr>
              <a:t> </a:t>
            </a:r>
            <a:r>
              <a:rPr sz="3200" spc="-5" dirty="0">
                <a:solidFill>
                  <a:srgbClr val="000000"/>
                </a:solidFill>
              </a:rPr>
              <a:t>an</a:t>
            </a:r>
            <a:r>
              <a:rPr sz="3200" spc="-80" dirty="0">
                <a:solidFill>
                  <a:srgbClr val="000000"/>
                </a:solidFill>
              </a:rPr>
              <a:t> </a:t>
            </a:r>
            <a:r>
              <a:rPr sz="3200" spc="-5" dirty="0">
                <a:solidFill>
                  <a:srgbClr val="000000"/>
                </a:solidFill>
              </a:rPr>
              <a:t>electrochemical</a:t>
            </a:r>
            <a:r>
              <a:rPr sz="3200" spc="-50" dirty="0">
                <a:solidFill>
                  <a:srgbClr val="000000"/>
                </a:solidFill>
              </a:rPr>
              <a:t> </a:t>
            </a:r>
            <a:r>
              <a:rPr sz="3200" spc="-5" dirty="0">
                <a:solidFill>
                  <a:srgbClr val="000000"/>
                </a:solidFill>
              </a:rPr>
              <a:t>cell:</a:t>
            </a:r>
            <a:endParaRPr sz="3200"/>
          </a:p>
        </p:txBody>
      </p:sp>
      <p:sp>
        <p:nvSpPr>
          <p:cNvPr id="4" name="object 4"/>
          <p:cNvSpPr txBox="1"/>
          <p:nvPr/>
        </p:nvSpPr>
        <p:spPr>
          <a:xfrm>
            <a:off x="485444" y="1112646"/>
            <a:ext cx="8129270" cy="4178935"/>
          </a:xfrm>
          <a:prstGeom prst="rect">
            <a:avLst/>
          </a:prstGeom>
        </p:spPr>
        <p:txBody>
          <a:bodyPr vert="horz" wrap="square" lIns="0" tIns="26670" rIns="0" bIns="0" rtlCol="0">
            <a:spAutoFit/>
          </a:bodyPr>
          <a:lstStyle/>
          <a:p>
            <a:pPr marL="578485" marR="827405" indent="-515620">
              <a:lnSpc>
                <a:spcPts val="2860"/>
              </a:lnSpc>
              <a:spcBef>
                <a:spcPts val="210"/>
              </a:spcBef>
              <a:buAutoNum type="arabicParenR"/>
              <a:tabLst>
                <a:tab pos="578485" algn="l"/>
                <a:tab pos="579120" algn="l"/>
                <a:tab pos="2063114" algn="l"/>
              </a:tabLst>
            </a:pPr>
            <a:r>
              <a:rPr sz="2400" dirty="0">
                <a:latin typeface="Calibri"/>
                <a:cs typeface="Calibri"/>
              </a:rPr>
              <a:t>Anode</a:t>
            </a:r>
            <a:r>
              <a:rPr sz="2400" spc="-15" dirty="0">
                <a:latin typeface="Calibri"/>
                <a:cs typeface="Calibri"/>
              </a:rPr>
              <a:t> </a:t>
            </a:r>
            <a:r>
              <a:rPr sz="2400" spc="-10" dirty="0">
                <a:latin typeface="Calibri"/>
                <a:cs typeface="Calibri"/>
              </a:rPr>
              <a:t>(-ve	</a:t>
            </a:r>
            <a:r>
              <a:rPr sz="2400" spc="-5" dirty="0">
                <a:latin typeface="Calibri"/>
                <a:cs typeface="Calibri"/>
              </a:rPr>
              <a:t>electrode</a:t>
            </a:r>
            <a:r>
              <a:rPr sz="2400" spc="-35" dirty="0">
                <a:latin typeface="Calibri"/>
                <a:cs typeface="Calibri"/>
              </a:rPr>
              <a:t> </a:t>
            </a:r>
            <a:r>
              <a:rPr sz="2400" dirty="0">
                <a:latin typeface="Calibri"/>
                <a:cs typeface="Calibri"/>
              </a:rPr>
              <a:t>)</a:t>
            </a:r>
            <a:r>
              <a:rPr sz="2400" spc="-30" dirty="0">
                <a:latin typeface="Calibri"/>
                <a:cs typeface="Calibri"/>
              </a:rPr>
              <a:t> </a:t>
            </a:r>
            <a:r>
              <a:rPr sz="2400" dirty="0">
                <a:latin typeface="Calibri"/>
                <a:cs typeface="Calibri"/>
              </a:rPr>
              <a:t>is</a:t>
            </a:r>
            <a:r>
              <a:rPr sz="2400" spc="-40" dirty="0">
                <a:latin typeface="Calibri"/>
                <a:cs typeface="Calibri"/>
              </a:rPr>
              <a:t> </a:t>
            </a:r>
            <a:r>
              <a:rPr sz="2400" dirty="0">
                <a:latin typeface="Calibri"/>
                <a:cs typeface="Calibri"/>
              </a:rPr>
              <a:t>written</a:t>
            </a:r>
            <a:r>
              <a:rPr sz="2400" spc="-50" dirty="0">
                <a:latin typeface="Calibri"/>
                <a:cs typeface="Calibri"/>
              </a:rPr>
              <a:t> </a:t>
            </a:r>
            <a:r>
              <a:rPr sz="2400" dirty="0">
                <a:latin typeface="Calibri"/>
                <a:cs typeface="Calibri"/>
              </a:rPr>
              <a:t>on</a:t>
            </a:r>
            <a:r>
              <a:rPr sz="2400" spc="-35" dirty="0">
                <a:latin typeface="Calibri"/>
                <a:cs typeface="Calibri"/>
              </a:rPr>
              <a:t> </a:t>
            </a:r>
            <a:r>
              <a:rPr sz="2400" spc="-5" dirty="0">
                <a:latin typeface="Calibri"/>
                <a:cs typeface="Calibri"/>
              </a:rPr>
              <a:t>left</a:t>
            </a:r>
            <a:r>
              <a:rPr sz="2400" spc="-35" dirty="0">
                <a:latin typeface="Calibri"/>
                <a:cs typeface="Calibri"/>
              </a:rPr>
              <a:t> </a:t>
            </a:r>
            <a:r>
              <a:rPr sz="2400" spc="-5" dirty="0">
                <a:latin typeface="Calibri"/>
                <a:cs typeface="Calibri"/>
              </a:rPr>
              <a:t>hand</a:t>
            </a:r>
            <a:r>
              <a:rPr sz="2400" dirty="0">
                <a:latin typeface="Calibri"/>
                <a:cs typeface="Calibri"/>
              </a:rPr>
              <a:t> </a:t>
            </a:r>
            <a:r>
              <a:rPr sz="2400" spc="-10" dirty="0">
                <a:latin typeface="Calibri"/>
                <a:cs typeface="Calibri"/>
              </a:rPr>
              <a:t>side</a:t>
            </a:r>
            <a:r>
              <a:rPr sz="2400" spc="-35" dirty="0">
                <a:latin typeface="Calibri"/>
                <a:cs typeface="Calibri"/>
              </a:rPr>
              <a:t> </a:t>
            </a:r>
            <a:r>
              <a:rPr sz="2400" dirty="0">
                <a:latin typeface="Calibri"/>
                <a:cs typeface="Calibri"/>
              </a:rPr>
              <a:t>and </a:t>
            </a:r>
            <a:r>
              <a:rPr sz="2400" spc="-530" dirty="0">
                <a:latin typeface="Calibri"/>
                <a:cs typeface="Calibri"/>
              </a:rPr>
              <a:t> </a:t>
            </a:r>
            <a:r>
              <a:rPr sz="2400" spc="-5" dirty="0">
                <a:latin typeface="Calibri"/>
                <a:cs typeface="Calibri"/>
              </a:rPr>
              <a:t>cathode</a:t>
            </a:r>
            <a:r>
              <a:rPr sz="2400" spc="-25" dirty="0">
                <a:latin typeface="Calibri"/>
                <a:cs typeface="Calibri"/>
              </a:rPr>
              <a:t> </a:t>
            </a:r>
            <a:r>
              <a:rPr sz="2400" spc="-5" dirty="0">
                <a:latin typeface="Calibri"/>
                <a:cs typeface="Calibri"/>
              </a:rPr>
              <a:t>(+ve</a:t>
            </a:r>
            <a:r>
              <a:rPr sz="2400" spc="-30" dirty="0">
                <a:latin typeface="Calibri"/>
                <a:cs typeface="Calibri"/>
              </a:rPr>
              <a:t> </a:t>
            </a:r>
            <a:r>
              <a:rPr sz="2400" spc="-5" dirty="0">
                <a:latin typeface="Calibri"/>
                <a:cs typeface="Calibri"/>
              </a:rPr>
              <a:t>electrode)</a:t>
            </a:r>
            <a:r>
              <a:rPr sz="2400" spc="-55" dirty="0">
                <a:latin typeface="Calibri"/>
                <a:cs typeface="Calibri"/>
              </a:rPr>
              <a:t> </a:t>
            </a:r>
            <a:r>
              <a:rPr sz="2400" spc="-15" dirty="0">
                <a:latin typeface="Calibri"/>
                <a:cs typeface="Calibri"/>
              </a:rPr>
              <a:t>is</a:t>
            </a:r>
            <a:r>
              <a:rPr sz="2400" spc="-45" dirty="0">
                <a:latin typeface="Calibri"/>
                <a:cs typeface="Calibri"/>
              </a:rPr>
              <a:t> </a:t>
            </a:r>
            <a:r>
              <a:rPr sz="2400" dirty="0">
                <a:latin typeface="Calibri"/>
                <a:cs typeface="Calibri"/>
              </a:rPr>
              <a:t>written</a:t>
            </a:r>
            <a:r>
              <a:rPr sz="2400" spc="-40" dirty="0">
                <a:latin typeface="Calibri"/>
                <a:cs typeface="Calibri"/>
              </a:rPr>
              <a:t> </a:t>
            </a:r>
            <a:r>
              <a:rPr sz="2400" dirty="0">
                <a:latin typeface="Calibri"/>
                <a:cs typeface="Calibri"/>
              </a:rPr>
              <a:t>on</a:t>
            </a:r>
            <a:r>
              <a:rPr sz="2400" spc="-30" dirty="0">
                <a:latin typeface="Calibri"/>
                <a:cs typeface="Calibri"/>
              </a:rPr>
              <a:t> </a:t>
            </a:r>
            <a:r>
              <a:rPr sz="2400" spc="-5" dirty="0">
                <a:latin typeface="Calibri"/>
                <a:cs typeface="Calibri"/>
              </a:rPr>
              <a:t>write</a:t>
            </a:r>
            <a:r>
              <a:rPr sz="2400" spc="-30" dirty="0">
                <a:latin typeface="Calibri"/>
                <a:cs typeface="Calibri"/>
              </a:rPr>
              <a:t> </a:t>
            </a:r>
            <a:r>
              <a:rPr sz="2400" spc="-10" dirty="0">
                <a:latin typeface="Calibri"/>
                <a:cs typeface="Calibri"/>
              </a:rPr>
              <a:t>hand</a:t>
            </a:r>
            <a:r>
              <a:rPr sz="2400" spc="-5" dirty="0">
                <a:latin typeface="Calibri"/>
                <a:cs typeface="Calibri"/>
              </a:rPr>
              <a:t> side.</a:t>
            </a:r>
            <a:endParaRPr sz="2400">
              <a:latin typeface="Calibri"/>
              <a:cs typeface="Calibri"/>
            </a:endParaRPr>
          </a:p>
          <a:p>
            <a:pPr marL="578485" marR="68580" indent="-515620">
              <a:lnSpc>
                <a:spcPct val="100000"/>
              </a:lnSpc>
              <a:spcBef>
                <a:spcPts val="484"/>
              </a:spcBef>
              <a:buAutoNum type="arabicParenR"/>
              <a:tabLst>
                <a:tab pos="578485" algn="l"/>
                <a:tab pos="579120" algn="l"/>
              </a:tabLst>
            </a:pPr>
            <a:r>
              <a:rPr sz="2400" dirty="0">
                <a:latin typeface="Calibri"/>
                <a:cs typeface="Calibri"/>
              </a:rPr>
              <a:t>Single</a:t>
            </a:r>
            <a:r>
              <a:rPr sz="2400" spc="-55" dirty="0">
                <a:latin typeface="Calibri"/>
                <a:cs typeface="Calibri"/>
              </a:rPr>
              <a:t> </a:t>
            </a:r>
            <a:r>
              <a:rPr sz="2400" spc="-5" dirty="0">
                <a:latin typeface="Calibri"/>
                <a:cs typeface="Calibri"/>
              </a:rPr>
              <a:t>vertical</a:t>
            </a:r>
            <a:r>
              <a:rPr sz="2400" spc="-35" dirty="0">
                <a:latin typeface="Calibri"/>
                <a:cs typeface="Calibri"/>
              </a:rPr>
              <a:t> </a:t>
            </a:r>
            <a:r>
              <a:rPr sz="2400" spc="-5" dirty="0">
                <a:latin typeface="Calibri"/>
                <a:cs typeface="Calibri"/>
              </a:rPr>
              <a:t>line</a:t>
            </a:r>
            <a:r>
              <a:rPr sz="2400" spc="-35" dirty="0">
                <a:latin typeface="Calibri"/>
                <a:cs typeface="Calibri"/>
              </a:rPr>
              <a:t> </a:t>
            </a:r>
            <a:r>
              <a:rPr sz="2400" spc="-5" dirty="0">
                <a:latin typeface="Calibri"/>
                <a:cs typeface="Calibri"/>
              </a:rPr>
              <a:t>(l)</a:t>
            </a:r>
            <a:r>
              <a:rPr sz="2400" spc="-55" dirty="0">
                <a:latin typeface="Calibri"/>
                <a:cs typeface="Calibri"/>
              </a:rPr>
              <a:t> </a:t>
            </a:r>
            <a:r>
              <a:rPr sz="2400" dirty="0">
                <a:latin typeface="Calibri"/>
                <a:cs typeface="Calibri"/>
              </a:rPr>
              <a:t>or</a:t>
            </a:r>
            <a:r>
              <a:rPr sz="2400" spc="-35" dirty="0">
                <a:latin typeface="Calibri"/>
                <a:cs typeface="Calibri"/>
              </a:rPr>
              <a:t> </a:t>
            </a:r>
            <a:r>
              <a:rPr sz="2400" spc="-5" dirty="0">
                <a:latin typeface="Calibri"/>
                <a:cs typeface="Calibri"/>
              </a:rPr>
              <a:t>semicolon</a:t>
            </a:r>
            <a:r>
              <a:rPr sz="2400" spc="-45" dirty="0">
                <a:latin typeface="Calibri"/>
                <a:cs typeface="Calibri"/>
              </a:rPr>
              <a:t> </a:t>
            </a:r>
            <a:r>
              <a:rPr sz="2400" spc="-5" dirty="0">
                <a:latin typeface="Calibri"/>
                <a:cs typeface="Calibri"/>
              </a:rPr>
              <a:t>(;)</a:t>
            </a:r>
            <a:r>
              <a:rPr sz="2400" spc="-75" dirty="0">
                <a:latin typeface="Calibri"/>
                <a:cs typeface="Calibri"/>
              </a:rPr>
              <a:t> </a:t>
            </a:r>
            <a:r>
              <a:rPr sz="2400" spc="-5" dirty="0">
                <a:latin typeface="Calibri"/>
                <a:cs typeface="Calibri"/>
              </a:rPr>
              <a:t>indicates</a:t>
            </a:r>
            <a:r>
              <a:rPr sz="2400" spc="-55" dirty="0">
                <a:latin typeface="Calibri"/>
                <a:cs typeface="Calibri"/>
              </a:rPr>
              <a:t> </a:t>
            </a:r>
            <a:r>
              <a:rPr sz="2400" spc="-5" dirty="0">
                <a:latin typeface="Calibri"/>
                <a:cs typeface="Calibri"/>
              </a:rPr>
              <a:t>direct</a:t>
            </a:r>
            <a:r>
              <a:rPr sz="2400" spc="-25" dirty="0">
                <a:latin typeface="Calibri"/>
                <a:cs typeface="Calibri"/>
              </a:rPr>
              <a:t> </a:t>
            </a:r>
            <a:r>
              <a:rPr sz="2400" spc="-5" dirty="0">
                <a:latin typeface="Calibri"/>
                <a:cs typeface="Calibri"/>
              </a:rPr>
              <a:t>contact </a:t>
            </a:r>
            <a:r>
              <a:rPr sz="2400" spc="-525" dirty="0">
                <a:latin typeface="Calibri"/>
                <a:cs typeface="Calibri"/>
              </a:rPr>
              <a:t> </a:t>
            </a:r>
            <a:r>
              <a:rPr sz="2400" spc="-5" dirty="0">
                <a:latin typeface="Calibri"/>
                <a:cs typeface="Calibri"/>
              </a:rPr>
              <a:t>between</a:t>
            </a:r>
            <a:r>
              <a:rPr sz="2400" spc="-25" dirty="0">
                <a:latin typeface="Calibri"/>
                <a:cs typeface="Calibri"/>
              </a:rPr>
              <a:t> </a:t>
            </a:r>
            <a:r>
              <a:rPr sz="2400" spc="-5" dirty="0">
                <a:latin typeface="Calibri"/>
                <a:cs typeface="Calibri"/>
              </a:rPr>
              <a:t>two</a:t>
            </a:r>
            <a:r>
              <a:rPr sz="2400" spc="-10" dirty="0">
                <a:latin typeface="Calibri"/>
                <a:cs typeface="Calibri"/>
              </a:rPr>
              <a:t> </a:t>
            </a:r>
            <a:r>
              <a:rPr sz="2400" spc="-5" dirty="0">
                <a:latin typeface="Calibri"/>
                <a:cs typeface="Calibri"/>
              </a:rPr>
              <a:t>phases</a:t>
            </a:r>
            <a:endParaRPr sz="2400">
              <a:latin typeface="Calibri"/>
              <a:cs typeface="Calibri"/>
            </a:endParaRPr>
          </a:p>
          <a:p>
            <a:pPr marL="334645">
              <a:lnSpc>
                <a:spcPct val="100000"/>
              </a:lnSpc>
              <a:spcBef>
                <a:spcPts val="580"/>
              </a:spcBef>
            </a:pPr>
            <a:r>
              <a:rPr sz="2400" dirty="0">
                <a:latin typeface="Calibri"/>
                <a:cs typeface="Calibri"/>
              </a:rPr>
              <a:t>ZnlZn</a:t>
            </a:r>
            <a:r>
              <a:rPr sz="2325" baseline="28673" dirty="0">
                <a:latin typeface="Calibri"/>
                <a:cs typeface="Calibri"/>
              </a:rPr>
              <a:t>+2</a:t>
            </a:r>
            <a:r>
              <a:rPr sz="2325" spc="262" baseline="28673" dirty="0">
                <a:latin typeface="Calibri"/>
                <a:cs typeface="Calibri"/>
              </a:rPr>
              <a:t> </a:t>
            </a:r>
            <a:r>
              <a:rPr sz="2400" dirty="0">
                <a:latin typeface="Calibri"/>
                <a:cs typeface="Calibri"/>
              </a:rPr>
              <a:t>or</a:t>
            </a:r>
            <a:r>
              <a:rPr sz="2400" spc="-10" dirty="0">
                <a:latin typeface="Calibri"/>
                <a:cs typeface="Calibri"/>
              </a:rPr>
              <a:t> </a:t>
            </a:r>
            <a:r>
              <a:rPr sz="2400" spc="-5" dirty="0">
                <a:latin typeface="Calibri"/>
                <a:cs typeface="Calibri"/>
              </a:rPr>
              <a:t>Cu</a:t>
            </a:r>
            <a:r>
              <a:rPr sz="2325" spc="-7" baseline="28673" dirty="0">
                <a:latin typeface="Calibri"/>
                <a:cs typeface="Calibri"/>
              </a:rPr>
              <a:t>+2</a:t>
            </a:r>
            <a:r>
              <a:rPr sz="2400" spc="-5" dirty="0">
                <a:latin typeface="Calibri"/>
                <a:cs typeface="Calibri"/>
              </a:rPr>
              <a:t>lCu</a:t>
            </a:r>
            <a:endParaRPr sz="2400">
              <a:latin typeface="Calibri"/>
              <a:cs typeface="Calibri"/>
            </a:endParaRPr>
          </a:p>
          <a:p>
            <a:pPr marL="578485" marR="204470" indent="-515620">
              <a:lnSpc>
                <a:spcPct val="100000"/>
              </a:lnSpc>
              <a:spcBef>
                <a:spcPts val="575"/>
              </a:spcBef>
            </a:pPr>
            <a:r>
              <a:rPr sz="2400" dirty="0">
                <a:latin typeface="Calibri"/>
                <a:cs typeface="Calibri"/>
              </a:rPr>
              <a:t>The</a:t>
            </a:r>
            <a:r>
              <a:rPr sz="2400" spc="-60" dirty="0">
                <a:latin typeface="Calibri"/>
                <a:cs typeface="Calibri"/>
              </a:rPr>
              <a:t> </a:t>
            </a:r>
            <a:r>
              <a:rPr sz="2400" spc="-5" dirty="0">
                <a:latin typeface="Calibri"/>
                <a:cs typeface="Calibri"/>
              </a:rPr>
              <a:t>molar</a:t>
            </a:r>
            <a:r>
              <a:rPr sz="2400" spc="-60" dirty="0">
                <a:latin typeface="Calibri"/>
                <a:cs typeface="Calibri"/>
              </a:rPr>
              <a:t> </a:t>
            </a:r>
            <a:r>
              <a:rPr sz="2400" spc="-5" dirty="0">
                <a:latin typeface="Calibri"/>
                <a:cs typeface="Calibri"/>
              </a:rPr>
              <a:t>concentration</a:t>
            </a:r>
            <a:r>
              <a:rPr sz="2400" spc="-70" dirty="0">
                <a:latin typeface="Calibri"/>
                <a:cs typeface="Calibri"/>
              </a:rPr>
              <a:t> </a:t>
            </a:r>
            <a:r>
              <a:rPr sz="2400" dirty="0">
                <a:latin typeface="Calibri"/>
                <a:cs typeface="Calibri"/>
              </a:rPr>
              <a:t>is</a:t>
            </a:r>
            <a:r>
              <a:rPr sz="2400" spc="-70" dirty="0">
                <a:latin typeface="Calibri"/>
                <a:cs typeface="Calibri"/>
              </a:rPr>
              <a:t> </a:t>
            </a:r>
            <a:r>
              <a:rPr sz="2400" spc="-5" dirty="0">
                <a:latin typeface="Calibri"/>
                <a:cs typeface="Calibri"/>
              </a:rPr>
              <a:t>written</a:t>
            </a:r>
            <a:r>
              <a:rPr sz="2400" spc="-55" dirty="0">
                <a:latin typeface="Calibri"/>
                <a:cs typeface="Calibri"/>
              </a:rPr>
              <a:t> </a:t>
            </a:r>
            <a:r>
              <a:rPr sz="2400" dirty="0">
                <a:latin typeface="Calibri"/>
                <a:cs typeface="Calibri"/>
              </a:rPr>
              <a:t>in</a:t>
            </a:r>
            <a:r>
              <a:rPr sz="2400" spc="-50" dirty="0">
                <a:latin typeface="Calibri"/>
                <a:cs typeface="Calibri"/>
              </a:rPr>
              <a:t> </a:t>
            </a:r>
            <a:r>
              <a:rPr sz="2400" dirty="0">
                <a:latin typeface="Calibri"/>
                <a:cs typeface="Calibri"/>
              </a:rPr>
              <a:t>brackets</a:t>
            </a:r>
            <a:r>
              <a:rPr sz="2400" spc="-85" dirty="0">
                <a:latin typeface="Calibri"/>
                <a:cs typeface="Calibri"/>
              </a:rPr>
              <a:t> </a:t>
            </a:r>
            <a:r>
              <a:rPr sz="2400" spc="-5" dirty="0">
                <a:latin typeface="Calibri"/>
                <a:cs typeface="Calibri"/>
              </a:rPr>
              <a:t>after</a:t>
            </a:r>
            <a:r>
              <a:rPr sz="2400" spc="-65" dirty="0">
                <a:latin typeface="Calibri"/>
                <a:cs typeface="Calibri"/>
              </a:rPr>
              <a:t> </a:t>
            </a:r>
            <a:r>
              <a:rPr sz="2400" spc="5" dirty="0">
                <a:latin typeface="Calibri"/>
                <a:cs typeface="Calibri"/>
              </a:rPr>
              <a:t>the</a:t>
            </a:r>
            <a:r>
              <a:rPr sz="2400" spc="-60" dirty="0">
                <a:latin typeface="Calibri"/>
                <a:cs typeface="Calibri"/>
              </a:rPr>
              <a:t> </a:t>
            </a:r>
            <a:r>
              <a:rPr sz="2400" spc="-5" dirty="0">
                <a:latin typeface="Calibri"/>
                <a:cs typeface="Calibri"/>
              </a:rPr>
              <a:t>formula </a:t>
            </a:r>
            <a:r>
              <a:rPr sz="2400" spc="-530" dirty="0">
                <a:latin typeface="Calibri"/>
                <a:cs typeface="Calibri"/>
              </a:rPr>
              <a:t> </a:t>
            </a:r>
            <a:r>
              <a:rPr sz="2400" dirty="0">
                <a:latin typeface="Calibri"/>
                <a:cs typeface="Calibri"/>
              </a:rPr>
              <a:t>of</a:t>
            </a:r>
            <a:r>
              <a:rPr sz="2400" spc="-10" dirty="0">
                <a:latin typeface="Calibri"/>
                <a:cs typeface="Calibri"/>
              </a:rPr>
              <a:t> </a:t>
            </a:r>
            <a:r>
              <a:rPr sz="2400" spc="-15" dirty="0">
                <a:latin typeface="Calibri"/>
                <a:cs typeface="Calibri"/>
              </a:rPr>
              <a:t>ion</a:t>
            </a:r>
            <a:endParaRPr sz="2400">
              <a:latin typeface="Calibri"/>
              <a:cs typeface="Calibri"/>
            </a:endParaRPr>
          </a:p>
          <a:p>
            <a:pPr marL="244475" algn="ctr">
              <a:lnSpc>
                <a:spcPts val="4575"/>
              </a:lnSpc>
              <a:tabLst>
                <a:tab pos="3004185" algn="l"/>
              </a:tabLst>
            </a:pPr>
            <a:r>
              <a:rPr sz="4000" spc="-5" dirty="0">
                <a:latin typeface="Calibri"/>
                <a:cs typeface="Calibri"/>
              </a:rPr>
              <a:t>ZnlZn</a:t>
            </a:r>
            <a:r>
              <a:rPr sz="3900" spc="-7" baseline="28846" dirty="0">
                <a:latin typeface="Calibri"/>
                <a:cs typeface="Calibri"/>
              </a:rPr>
              <a:t>+2</a:t>
            </a:r>
            <a:r>
              <a:rPr sz="3900" spc="502" baseline="28846" dirty="0">
                <a:latin typeface="Calibri"/>
                <a:cs typeface="Calibri"/>
              </a:rPr>
              <a:t> </a:t>
            </a:r>
            <a:r>
              <a:rPr sz="4000" dirty="0">
                <a:latin typeface="Calibri"/>
                <a:cs typeface="Calibri"/>
              </a:rPr>
              <a:t>(1M)	</a:t>
            </a:r>
            <a:r>
              <a:rPr sz="4000" spc="-15" dirty="0">
                <a:latin typeface="Calibri"/>
                <a:cs typeface="Calibri"/>
              </a:rPr>
              <a:t>or</a:t>
            </a:r>
            <a:r>
              <a:rPr sz="4000" spc="-35" dirty="0">
                <a:latin typeface="Calibri"/>
                <a:cs typeface="Calibri"/>
              </a:rPr>
              <a:t> </a:t>
            </a:r>
            <a:r>
              <a:rPr sz="4000" spc="-5" dirty="0">
                <a:latin typeface="Calibri"/>
                <a:cs typeface="Calibri"/>
              </a:rPr>
              <a:t>Cu</a:t>
            </a:r>
            <a:r>
              <a:rPr sz="3900" spc="-7" baseline="28846" dirty="0">
                <a:latin typeface="Calibri"/>
                <a:cs typeface="Calibri"/>
              </a:rPr>
              <a:t>+2</a:t>
            </a:r>
            <a:r>
              <a:rPr sz="4000" spc="-5" dirty="0">
                <a:latin typeface="Calibri"/>
                <a:cs typeface="Calibri"/>
              </a:rPr>
              <a:t>(1M)lCu</a:t>
            </a:r>
            <a:endParaRPr sz="4000">
              <a:latin typeface="Calibri"/>
              <a:cs typeface="Calibri"/>
            </a:endParaRPr>
          </a:p>
          <a:p>
            <a:pPr marL="377825" marR="542925" indent="-377825">
              <a:lnSpc>
                <a:spcPct val="100000"/>
              </a:lnSpc>
              <a:spcBef>
                <a:spcPts val="495"/>
              </a:spcBef>
              <a:buAutoNum type="arabicParenR" startAt="3"/>
              <a:tabLst>
                <a:tab pos="377825" algn="l"/>
              </a:tabLst>
            </a:pPr>
            <a:r>
              <a:rPr sz="2400" spc="-5" dirty="0">
                <a:latin typeface="Calibri"/>
                <a:cs typeface="Calibri"/>
              </a:rPr>
              <a:t>Double</a:t>
            </a:r>
            <a:r>
              <a:rPr sz="2400" spc="-20" dirty="0">
                <a:latin typeface="Calibri"/>
                <a:cs typeface="Calibri"/>
              </a:rPr>
              <a:t> </a:t>
            </a:r>
            <a:r>
              <a:rPr sz="2400" spc="-5" dirty="0">
                <a:latin typeface="Calibri"/>
                <a:cs typeface="Calibri"/>
              </a:rPr>
              <a:t>standing</a:t>
            </a:r>
            <a:r>
              <a:rPr sz="2400" spc="-60" dirty="0">
                <a:latin typeface="Calibri"/>
                <a:cs typeface="Calibri"/>
              </a:rPr>
              <a:t> </a:t>
            </a:r>
            <a:r>
              <a:rPr sz="2400" spc="-5" dirty="0">
                <a:latin typeface="Calibri"/>
                <a:cs typeface="Calibri"/>
              </a:rPr>
              <a:t>line</a:t>
            </a:r>
            <a:r>
              <a:rPr sz="2400" spc="-35" dirty="0">
                <a:latin typeface="Calibri"/>
                <a:cs typeface="Calibri"/>
              </a:rPr>
              <a:t> </a:t>
            </a:r>
            <a:r>
              <a:rPr sz="2400" spc="-5" dirty="0">
                <a:latin typeface="Calibri"/>
                <a:cs typeface="Calibri"/>
              </a:rPr>
              <a:t>represents</a:t>
            </a:r>
            <a:r>
              <a:rPr sz="2400" spc="-35" dirty="0">
                <a:latin typeface="Calibri"/>
                <a:cs typeface="Calibri"/>
              </a:rPr>
              <a:t> </a:t>
            </a:r>
            <a:r>
              <a:rPr sz="2400" spc="-10" dirty="0">
                <a:latin typeface="Calibri"/>
                <a:cs typeface="Calibri"/>
              </a:rPr>
              <a:t>salt</a:t>
            </a:r>
            <a:r>
              <a:rPr sz="2400" spc="-50" dirty="0">
                <a:latin typeface="Calibri"/>
                <a:cs typeface="Calibri"/>
              </a:rPr>
              <a:t> </a:t>
            </a:r>
            <a:r>
              <a:rPr sz="2400" spc="-5" dirty="0">
                <a:latin typeface="Calibri"/>
                <a:cs typeface="Calibri"/>
              </a:rPr>
              <a:t>bridge</a:t>
            </a:r>
            <a:r>
              <a:rPr sz="2400" spc="-30" dirty="0">
                <a:latin typeface="Calibri"/>
                <a:cs typeface="Calibri"/>
              </a:rPr>
              <a:t> </a:t>
            </a:r>
            <a:r>
              <a:rPr sz="2400" spc="-10" dirty="0">
                <a:latin typeface="Calibri"/>
                <a:cs typeface="Calibri"/>
              </a:rPr>
              <a:t>to</a:t>
            </a:r>
            <a:r>
              <a:rPr sz="2400" spc="-60" dirty="0">
                <a:latin typeface="Calibri"/>
                <a:cs typeface="Calibri"/>
              </a:rPr>
              <a:t> </a:t>
            </a:r>
            <a:r>
              <a:rPr sz="2400" spc="-5" dirty="0">
                <a:latin typeface="Calibri"/>
                <a:cs typeface="Calibri"/>
              </a:rPr>
              <a:t>connect</a:t>
            </a:r>
            <a:r>
              <a:rPr sz="2400" spc="-45" dirty="0">
                <a:latin typeface="Calibri"/>
                <a:cs typeface="Calibri"/>
              </a:rPr>
              <a:t> </a:t>
            </a:r>
            <a:r>
              <a:rPr sz="2400" spc="-5" dirty="0">
                <a:latin typeface="Calibri"/>
                <a:cs typeface="Calibri"/>
              </a:rPr>
              <a:t>two </a:t>
            </a:r>
            <a:r>
              <a:rPr sz="2400" spc="-530" dirty="0">
                <a:latin typeface="Calibri"/>
                <a:cs typeface="Calibri"/>
              </a:rPr>
              <a:t> </a:t>
            </a:r>
            <a:r>
              <a:rPr sz="2400" dirty="0">
                <a:latin typeface="Calibri"/>
                <a:cs typeface="Calibri"/>
              </a:rPr>
              <a:t>half </a:t>
            </a:r>
            <a:r>
              <a:rPr sz="2400" spc="-5" dirty="0">
                <a:latin typeface="Calibri"/>
                <a:cs typeface="Calibri"/>
              </a:rPr>
              <a:t>cells.</a:t>
            </a:r>
            <a:endParaRPr sz="2400">
              <a:latin typeface="Calibri"/>
              <a:cs typeface="Calibri"/>
            </a:endParaRPr>
          </a:p>
        </p:txBody>
      </p:sp>
      <p:sp>
        <p:nvSpPr>
          <p:cNvPr id="5" name="object 5"/>
          <p:cNvSpPr txBox="1"/>
          <p:nvPr/>
        </p:nvSpPr>
        <p:spPr>
          <a:xfrm>
            <a:off x="536244" y="5339283"/>
            <a:ext cx="283908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4)</a:t>
            </a:r>
            <a:r>
              <a:rPr sz="2400" spc="-45" dirty="0">
                <a:latin typeface="Calibri"/>
                <a:cs typeface="Calibri"/>
              </a:rPr>
              <a:t> </a:t>
            </a:r>
            <a:r>
              <a:rPr sz="2400" spc="-5" dirty="0">
                <a:latin typeface="Calibri"/>
                <a:cs typeface="Calibri"/>
              </a:rPr>
              <a:t>Cell</a:t>
            </a:r>
            <a:r>
              <a:rPr sz="2400" spc="-120" dirty="0">
                <a:latin typeface="Calibri"/>
                <a:cs typeface="Calibri"/>
              </a:rPr>
              <a:t> </a:t>
            </a:r>
            <a:r>
              <a:rPr sz="2400" spc="-5" dirty="0">
                <a:latin typeface="Calibri"/>
                <a:cs typeface="Calibri"/>
              </a:rPr>
              <a:t>representation</a:t>
            </a:r>
            <a:r>
              <a:rPr sz="2400" spc="-75" dirty="0">
                <a:latin typeface="Calibri"/>
                <a:cs typeface="Calibri"/>
              </a:rPr>
              <a:t> </a:t>
            </a:r>
            <a:r>
              <a:rPr sz="2400" dirty="0">
                <a:latin typeface="Calibri"/>
                <a:cs typeface="Calibri"/>
              </a:rPr>
              <a:t>:</a:t>
            </a:r>
            <a:endParaRPr sz="2400">
              <a:latin typeface="Calibri"/>
              <a:cs typeface="Calibri"/>
            </a:endParaRPr>
          </a:p>
        </p:txBody>
      </p:sp>
      <p:sp>
        <p:nvSpPr>
          <p:cNvPr id="6" name="object 6"/>
          <p:cNvSpPr txBox="1"/>
          <p:nvPr/>
        </p:nvSpPr>
        <p:spPr>
          <a:xfrm>
            <a:off x="3547109" y="5412435"/>
            <a:ext cx="4861560" cy="329565"/>
          </a:xfrm>
          <a:prstGeom prst="rect">
            <a:avLst/>
          </a:prstGeom>
        </p:spPr>
        <p:txBody>
          <a:bodyPr vert="horz" wrap="square" lIns="0" tIns="11430" rIns="0" bIns="0" rtlCol="0">
            <a:spAutoFit/>
          </a:bodyPr>
          <a:lstStyle/>
          <a:p>
            <a:pPr marL="50800">
              <a:lnSpc>
                <a:spcPct val="100000"/>
              </a:lnSpc>
              <a:spcBef>
                <a:spcPts val="90"/>
              </a:spcBef>
              <a:tabLst>
                <a:tab pos="2947035" algn="l"/>
              </a:tabLst>
            </a:pPr>
            <a:r>
              <a:rPr sz="1800" b="1" spc="-5" dirty="0">
                <a:latin typeface="Constantia"/>
                <a:cs typeface="Constantia"/>
              </a:rPr>
              <a:t>Zn</a:t>
            </a:r>
            <a:r>
              <a:rPr sz="1800" b="1" spc="-45" dirty="0">
                <a:latin typeface="Constantia"/>
                <a:cs typeface="Constantia"/>
              </a:rPr>
              <a:t> </a:t>
            </a:r>
            <a:r>
              <a:rPr sz="2000" b="1" spc="-5" dirty="0">
                <a:latin typeface="Constantia"/>
                <a:cs typeface="Constantia"/>
              </a:rPr>
              <a:t>(</a:t>
            </a:r>
            <a:r>
              <a:rPr sz="2000" b="1" i="1" spc="-5" dirty="0">
                <a:latin typeface="Constantia"/>
                <a:cs typeface="Constantia"/>
              </a:rPr>
              <a:t>s</a:t>
            </a:r>
            <a:r>
              <a:rPr sz="2000" b="1" spc="-5" dirty="0">
                <a:latin typeface="Constantia"/>
                <a:cs typeface="Constantia"/>
              </a:rPr>
              <a:t>)</a:t>
            </a:r>
            <a:r>
              <a:rPr sz="2000" b="1" spc="-45" dirty="0">
                <a:latin typeface="Constantia"/>
                <a:cs typeface="Constantia"/>
              </a:rPr>
              <a:t> </a:t>
            </a:r>
            <a:r>
              <a:rPr sz="1800" b="1" dirty="0">
                <a:latin typeface="Constantia"/>
                <a:cs typeface="Constantia"/>
              </a:rPr>
              <a:t>+ </a:t>
            </a:r>
            <a:r>
              <a:rPr sz="1800" b="1" spc="-10" dirty="0">
                <a:latin typeface="Constantia"/>
                <a:cs typeface="Constantia"/>
              </a:rPr>
              <a:t>Cu</a:t>
            </a:r>
            <a:r>
              <a:rPr sz="1725" b="1" spc="-15" baseline="28985" dirty="0">
                <a:latin typeface="Constantia"/>
                <a:cs typeface="Constantia"/>
              </a:rPr>
              <a:t>2+</a:t>
            </a:r>
            <a:r>
              <a:rPr sz="1725" b="1" spc="225" baseline="28985" dirty="0">
                <a:latin typeface="Constantia"/>
                <a:cs typeface="Constantia"/>
              </a:rPr>
              <a:t> </a:t>
            </a:r>
            <a:r>
              <a:rPr sz="2000" b="1" spc="-10" dirty="0">
                <a:latin typeface="Constantia"/>
                <a:cs typeface="Constantia"/>
              </a:rPr>
              <a:t>(</a:t>
            </a:r>
            <a:r>
              <a:rPr sz="2000" b="1" i="1" spc="-10" dirty="0">
                <a:latin typeface="Constantia"/>
                <a:cs typeface="Constantia"/>
              </a:rPr>
              <a:t>aq</a:t>
            </a:r>
            <a:r>
              <a:rPr sz="2000" b="1" spc="-10" dirty="0">
                <a:latin typeface="Constantia"/>
                <a:cs typeface="Constantia"/>
              </a:rPr>
              <a:t>)	</a:t>
            </a:r>
            <a:r>
              <a:rPr sz="1800" b="1" spc="-10" dirty="0">
                <a:latin typeface="Constantia"/>
                <a:cs typeface="Constantia"/>
              </a:rPr>
              <a:t>Cu</a:t>
            </a:r>
            <a:r>
              <a:rPr sz="1800" b="1" spc="-35" dirty="0">
                <a:latin typeface="Constantia"/>
                <a:cs typeface="Constantia"/>
              </a:rPr>
              <a:t> </a:t>
            </a:r>
            <a:r>
              <a:rPr sz="2000" b="1" spc="-5" dirty="0">
                <a:latin typeface="Constantia"/>
                <a:cs typeface="Constantia"/>
              </a:rPr>
              <a:t>(</a:t>
            </a:r>
            <a:r>
              <a:rPr sz="2000" b="1" i="1" spc="-5" dirty="0">
                <a:latin typeface="Constantia"/>
                <a:cs typeface="Constantia"/>
              </a:rPr>
              <a:t>s</a:t>
            </a:r>
            <a:r>
              <a:rPr sz="2000" b="1" spc="-5" dirty="0">
                <a:latin typeface="Constantia"/>
                <a:cs typeface="Constantia"/>
              </a:rPr>
              <a:t>)</a:t>
            </a:r>
            <a:r>
              <a:rPr sz="2000" b="1" spc="-65" dirty="0">
                <a:latin typeface="Constantia"/>
                <a:cs typeface="Constantia"/>
              </a:rPr>
              <a:t> </a:t>
            </a:r>
            <a:r>
              <a:rPr sz="1800" b="1" dirty="0">
                <a:latin typeface="Constantia"/>
                <a:cs typeface="Constantia"/>
              </a:rPr>
              <a:t>+</a:t>
            </a:r>
            <a:r>
              <a:rPr sz="1800" b="1" spc="-45" dirty="0">
                <a:latin typeface="Constantia"/>
                <a:cs typeface="Constantia"/>
              </a:rPr>
              <a:t> </a:t>
            </a:r>
            <a:r>
              <a:rPr sz="1800" b="1" dirty="0">
                <a:latin typeface="Constantia"/>
                <a:cs typeface="Constantia"/>
              </a:rPr>
              <a:t>Zn</a:t>
            </a:r>
            <a:r>
              <a:rPr sz="1725" b="1" baseline="28985" dirty="0">
                <a:latin typeface="Constantia"/>
                <a:cs typeface="Constantia"/>
              </a:rPr>
              <a:t>2+</a:t>
            </a:r>
            <a:r>
              <a:rPr sz="1725" b="1" spc="202" baseline="28985" dirty="0">
                <a:latin typeface="Constantia"/>
                <a:cs typeface="Constantia"/>
              </a:rPr>
              <a:t> </a:t>
            </a:r>
            <a:r>
              <a:rPr sz="2000" b="1" spc="-10" dirty="0">
                <a:latin typeface="Constantia"/>
                <a:cs typeface="Constantia"/>
              </a:rPr>
              <a:t>(</a:t>
            </a:r>
            <a:r>
              <a:rPr sz="2000" b="1" i="1" spc="-10" dirty="0">
                <a:latin typeface="Constantia"/>
                <a:cs typeface="Constantia"/>
              </a:rPr>
              <a:t>aq</a:t>
            </a:r>
            <a:r>
              <a:rPr sz="2000" b="1" spc="-10" dirty="0">
                <a:latin typeface="Constantia"/>
                <a:cs typeface="Constantia"/>
              </a:rPr>
              <a:t>)</a:t>
            </a:r>
            <a:endParaRPr sz="2000">
              <a:latin typeface="Constantia"/>
              <a:cs typeface="Constantia"/>
            </a:endParaRPr>
          </a:p>
        </p:txBody>
      </p:sp>
      <p:sp>
        <p:nvSpPr>
          <p:cNvPr id="7" name="object 7"/>
          <p:cNvSpPr txBox="1"/>
          <p:nvPr/>
        </p:nvSpPr>
        <p:spPr>
          <a:xfrm>
            <a:off x="2367660" y="5863538"/>
            <a:ext cx="5316220" cy="391160"/>
          </a:xfrm>
          <a:prstGeom prst="rect">
            <a:avLst/>
          </a:prstGeom>
        </p:spPr>
        <p:txBody>
          <a:bodyPr vert="horz" wrap="square" lIns="0" tIns="12700" rIns="0" bIns="0" rtlCol="0">
            <a:spAutoFit/>
          </a:bodyPr>
          <a:lstStyle/>
          <a:p>
            <a:pPr marL="38100">
              <a:lnSpc>
                <a:spcPct val="100000"/>
              </a:lnSpc>
              <a:spcBef>
                <a:spcPts val="100"/>
              </a:spcBef>
            </a:pPr>
            <a:r>
              <a:rPr sz="2400" b="1" dirty="0">
                <a:latin typeface="Constantia"/>
                <a:cs typeface="Constantia"/>
              </a:rPr>
              <a:t>Zn</a:t>
            </a:r>
            <a:r>
              <a:rPr sz="2400" b="1" spc="-55" dirty="0">
                <a:latin typeface="Constantia"/>
                <a:cs typeface="Constantia"/>
              </a:rPr>
              <a:t> </a:t>
            </a:r>
            <a:r>
              <a:rPr sz="2400" b="1" spc="-5" dirty="0">
                <a:latin typeface="Constantia"/>
                <a:cs typeface="Constantia"/>
              </a:rPr>
              <a:t>(</a:t>
            </a:r>
            <a:r>
              <a:rPr sz="2400" b="1" i="1" spc="-5" dirty="0">
                <a:latin typeface="Constantia"/>
                <a:cs typeface="Constantia"/>
              </a:rPr>
              <a:t>s</a:t>
            </a:r>
            <a:r>
              <a:rPr sz="2400" b="1" spc="-5" dirty="0">
                <a:latin typeface="Constantia"/>
                <a:cs typeface="Constantia"/>
              </a:rPr>
              <a:t>)</a:t>
            </a:r>
            <a:r>
              <a:rPr sz="2400" b="1" spc="-15" dirty="0">
                <a:latin typeface="Constantia"/>
                <a:cs typeface="Constantia"/>
              </a:rPr>
              <a:t> </a:t>
            </a:r>
            <a:r>
              <a:rPr sz="2400" b="1" dirty="0">
                <a:latin typeface="Constantia"/>
                <a:cs typeface="Constantia"/>
              </a:rPr>
              <a:t>|</a:t>
            </a:r>
            <a:r>
              <a:rPr sz="2400" b="1" spc="-10" dirty="0">
                <a:latin typeface="Constantia"/>
                <a:cs typeface="Constantia"/>
              </a:rPr>
              <a:t> </a:t>
            </a:r>
            <a:r>
              <a:rPr sz="2400" b="1" spc="-5" dirty="0">
                <a:latin typeface="Constantia"/>
                <a:cs typeface="Constantia"/>
              </a:rPr>
              <a:t>Zn</a:t>
            </a:r>
            <a:r>
              <a:rPr sz="2325" b="1" spc="-7" baseline="28673" dirty="0">
                <a:latin typeface="Constantia"/>
                <a:cs typeface="Constantia"/>
              </a:rPr>
              <a:t>2+</a:t>
            </a:r>
            <a:r>
              <a:rPr sz="2325" b="1" spc="300" baseline="28673" dirty="0">
                <a:latin typeface="Constantia"/>
                <a:cs typeface="Constantia"/>
              </a:rPr>
              <a:t> </a:t>
            </a:r>
            <a:r>
              <a:rPr sz="2400" b="1" spc="5" dirty="0">
                <a:latin typeface="Constantia"/>
                <a:cs typeface="Constantia"/>
              </a:rPr>
              <a:t>(1</a:t>
            </a:r>
            <a:r>
              <a:rPr sz="2400" b="1" spc="-20" dirty="0">
                <a:latin typeface="Constantia"/>
                <a:cs typeface="Constantia"/>
              </a:rPr>
              <a:t> </a:t>
            </a:r>
            <a:r>
              <a:rPr sz="2400" b="1" i="1" spc="-15" dirty="0">
                <a:latin typeface="Constantia"/>
                <a:cs typeface="Constantia"/>
              </a:rPr>
              <a:t>M</a:t>
            </a:r>
            <a:r>
              <a:rPr sz="2400" b="1" spc="-15" dirty="0">
                <a:latin typeface="Constantia"/>
                <a:cs typeface="Constantia"/>
              </a:rPr>
              <a:t>)</a:t>
            </a:r>
            <a:r>
              <a:rPr sz="2400" b="1" spc="10" dirty="0">
                <a:latin typeface="Constantia"/>
                <a:cs typeface="Constantia"/>
              </a:rPr>
              <a:t> </a:t>
            </a:r>
            <a:r>
              <a:rPr sz="2400" b="1" spc="-5" dirty="0">
                <a:latin typeface="Constantia"/>
                <a:cs typeface="Constantia"/>
              </a:rPr>
              <a:t>||</a:t>
            </a:r>
            <a:r>
              <a:rPr sz="2400" b="1" spc="-10" dirty="0">
                <a:latin typeface="Constantia"/>
                <a:cs typeface="Constantia"/>
              </a:rPr>
              <a:t> </a:t>
            </a:r>
            <a:r>
              <a:rPr sz="2400" b="1" dirty="0">
                <a:latin typeface="Constantia"/>
                <a:cs typeface="Constantia"/>
              </a:rPr>
              <a:t>Cu</a:t>
            </a:r>
            <a:r>
              <a:rPr sz="2325" b="1" baseline="28673" dirty="0">
                <a:latin typeface="Constantia"/>
                <a:cs typeface="Constantia"/>
              </a:rPr>
              <a:t>2+</a:t>
            </a:r>
            <a:r>
              <a:rPr sz="2325" b="1" spc="307" baseline="28673" dirty="0">
                <a:latin typeface="Constantia"/>
                <a:cs typeface="Constantia"/>
              </a:rPr>
              <a:t> </a:t>
            </a:r>
            <a:r>
              <a:rPr sz="2400" b="1" spc="-10" dirty="0">
                <a:latin typeface="Constantia"/>
                <a:cs typeface="Constantia"/>
              </a:rPr>
              <a:t>(1</a:t>
            </a:r>
            <a:r>
              <a:rPr sz="2400" b="1" spc="-20" dirty="0">
                <a:latin typeface="Constantia"/>
                <a:cs typeface="Constantia"/>
              </a:rPr>
              <a:t> </a:t>
            </a:r>
            <a:r>
              <a:rPr sz="2400" b="1" i="1" spc="-5" dirty="0">
                <a:latin typeface="Constantia"/>
                <a:cs typeface="Constantia"/>
              </a:rPr>
              <a:t>M</a:t>
            </a:r>
            <a:r>
              <a:rPr sz="2400" b="1" spc="-5" dirty="0">
                <a:latin typeface="Constantia"/>
                <a:cs typeface="Constantia"/>
              </a:rPr>
              <a:t>)</a:t>
            </a:r>
            <a:r>
              <a:rPr sz="2400" b="1" spc="5" dirty="0">
                <a:latin typeface="Constantia"/>
                <a:cs typeface="Constantia"/>
              </a:rPr>
              <a:t> </a:t>
            </a:r>
            <a:r>
              <a:rPr sz="2400" b="1" dirty="0">
                <a:latin typeface="Constantia"/>
                <a:cs typeface="Constantia"/>
              </a:rPr>
              <a:t>|</a:t>
            </a:r>
            <a:r>
              <a:rPr sz="2400" b="1" spc="-10" dirty="0">
                <a:latin typeface="Constantia"/>
                <a:cs typeface="Constantia"/>
              </a:rPr>
              <a:t> </a:t>
            </a:r>
            <a:r>
              <a:rPr sz="2400" b="1" dirty="0">
                <a:latin typeface="Constantia"/>
                <a:cs typeface="Constantia"/>
              </a:rPr>
              <a:t>Cu</a:t>
            </a:r>
            <a:r>
              <a:rPr sz="2400" b="1" spc="-40" dirty="0">
                <a:latin typeface="Constantia"/>
                <a:cs typeface="Constantia"/>
              </a:rPr>
              <a:t> </a:t>
            </a:r>
            <a:r>
              <a:rPr sz="2400" b="1" spc="-5" dirty="0">
                <a:latin typeface="Constantia"/>
                <a:cs typeface="Constantia"/>
              </a:rPr>
              <a:t>(</a:t>
            </a:r>
            <a:r>
              <a:rPr sz="2400" b="1" i="1" spc="-5" dirty="0">
                <a:latin typeface="Constantia"/>
                <a:cs typeface="Constantia"/>
              </a:rPr>
              <a:t>s</a:t>
            </a:r>
            <a:r>
              <a:rPr sz="2400" b="1" spc="-5" dirty="0">
                <a:latin typeface="Constantia"/>
                <a:cs typeface="Constantia"/>
              </a:rPr>
              <a:t>)</a:t>
            </a:r>
            <a:endParaRPr sz="2400">
              <a:latin typeface="Constantia"/>
              <a:cs typeface="Constant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484073"/>
            <a:ext cx="2672715" cy="421005"/>
          </a:xfrm>
          <a:prstGeom prst="rect">
            <a:avLst/>
          </a:prstGeom>
        </p:spPr>
        <p:txBody>
          <a:bodyPr vert="horz" wrap="square" lIns="0" tIns="12065" rIns="0" bIns="0" rtlCol="0">
            <a:spAutoFit/>
          </a:bodyPr>
          <a:lstStyle/>
          <a:p>
            <a:pPr marL="12700">
              <a:lnSpc>
                <a:spcPct val="100000"/>
              </a:lnSpc>
              <a:spcBef>
                <a:spcPts val="95"/>
              </a:spcBef>
            </a:pPr>
            <a:r>
              <a:rPr sz="2600" spc="-5" dirty="0"/>
              <a:t>Electrode</a:t>
            </a:r>
            <a:r>
              <a:rPr sz="2600" spc="-114" dirty="0"/>
              <a:t> </a:t>
            </a:r>
            <a:r>
              <a:rPr sz="2600" spc="-5" dirty="0"/>
              <a:t>potential:</a:t>
            </a:r>
            <a:endParaRPr sz="2600"/>
          </a:p>
        </p:txBody>
      </p:sp>
      <p:sp>
        <p:nvSpPr>
          <p:cNvPr id="3" name="object 3"/>
          <p:cNvSpPr txBox="1"/>
          <p:nvPr/>
        </p:nvSpPr>
        <p:spPr>
          <a:xfrm>
            <a:off x="320040" y="871549"/>
            <a:ext cx="8317865" cy="4718050"/>
          </a:xfrm>
          <a:prstGeom prst="rect">
            <a:avLst/>
          </a:prstGeom>
        </p:spPr>
        <p:txBody>
          <a:bodyPr vert="horz" wrap="square" lIns="0" tIns="88265" rIns="0" bIns="0" rtlCol="0">
            <a:spAutoFit/>
          </a:bodyPr>
          <a:lstStyle/>
          <a:p>
            <a:pPr marL="417830" marR="81280" indent="-342265">
              <a:lnSpc>
                <a:spcPct val="80000"/>
              </a:lnSpc>
              <a:spcBef>
                <a:spcPts val="695"/>
              </a:spcBef>
              <a:buFont typeface="Microsoft Sans Serif"/>
              <a:buChar char="•"/>
              <a:tabLst>
                <a:tab pos="417195" algn="l"/>
                <a:tab pos="418465" algn="l"/>
                <a:tab pos="7963534" algn="l"/>
              </a:tabLst>
            </a:pPr>
            <a:r>
              <a:rPr sz="2500" b="1" spc="-5" dirty="0">
                <a:latin typeface="Calibri"/>
                <a:cs typeface="Calibri"/>
              </a:rPr>
              <a:t>Electrode</a:t>
            </a:r>
            <a:r>
              <a:rPr sz="2500" b="1" dirty="0">
                <a:latin typeface="Calibri"/>
                <a:cs typeface="Calibri"/>
              </a:rPr>
              <a:t> </a:t>
            </a:r>
            <a:r>
              <a:rPr sz="2500" b="1" spc="-5" dirty="0">
                <a:latin typeface="Calibri"/>
                <a:cs typeface="Calibri"/>
              </a:rPr>
              <a:t>potential</a:t>
            </a:r>
            <a:r>
              <a:rPr sz="2500" spc="-5" dirty="0">
                <a:latin typeface="Calibri"/>
                <a:cs typeface="Calibri"/>
              </a:rPr>
              <a:t>,</a:t>
            </a:r>
            <a:r>
              <a:rPr sz="2500" spc="15" dirty="0">
                <a:latin typeface="Calibri"/>
                <a:cs typeface="Calibri"/>
              </a:rPr>
              <a:t> </a:t>
            </a:r>
            <a:r>
              <a:rPr sz="2500" i="1" spc="-5" dirty="0">
                <a:latin typeface="Calibri"/>
                <a:cs typeface="Calibri"/>
              </a:rPr>
              <a:t>E</a:t>
            </a:r>
            <a:r>
              <a:rPr sz="2500" spc="-5" dirty="0">
                <a:latin typeface="Calibri"/>
                <a:cs typeface="Calibri"/>
              </a:rPr>
              <a:t>,</a:t>
            </a:r>
            <a:r>
              <a:rPr sz="2500" spc="-10" dirty="0">
                <a:latin typeface="Calibri"/>
                <a:cs typeface="Calibri"/>
              </a:rPr>
              <a:t> </a:t>
            </a:r>
            <a:r>
              <a:rPr sz="2500" spc="-15" dirty="0">
                <a:latin typeface="Calibri"/>
                <a:cs typeface="Calibri"/>
              </a:rPr>
              <a:t>in</a:t>
            </a:r>
            <a:r>
              <a:rPr sz="2500" spc="10" dirty="0">
                <a:latin typeface="Calibri"/>
                <a:cs typeface="Calibri"/>
              </a:rPr>
              <a:t> </a:t>
            </a:r>
            <a:r>
              <a:rPr sz="2500" dirty="0">
                <a:latin typeface="Calibri"/>
                <a:cs typeface="Calibri"/>
              </a:rPr>
              <a:t>chemistry</a:t>
            </a:r>
            <a:r>
              <a:rPr sz="2500" spc="-20" dirty="0">
                <a:latin typeface="Calibri"/>
                <a:cs typeface="Calibri"/>
              </a:rPr>
              <a:t> </a:t>
            </a:r>
            <a:r>
              <a:rPr sz="2500" spc="-5" dirty="0">
                <a:latin typeface="Calibri"/>
                <a:cs typeface="Calibri"/>
              </a:rPr>
              <a:t>or</a:t>
            </a:r>
            <a:r>
              <a:rPr sz="2500" spc="25" dirty="0">
                <a:latin typeface="Calibri"/>
                <a:cs typeface="Calibri"/>
              </a:rPr>
              <a:t> </a:t>
            </a:r>
            <a:r>
              <a:rPr sz="2500" spc="-5" dirty="0">
                <a:latin typeface="Calibri"/>
                <a:cs typeface="Calibri"/>
              </a:rPr>
              <a:t>electrochemistry, </a:t>
            </a:r>
            <a:r>
              <a:rPr sz="2500" dirty="0">
                <a:latin typeface="Calibri"/>
                <a:cs typeface="Calibri"/>
              </a:rPr>
              <a:t> </a:t>
            </a:r>
            <a:r>
              <a:rPr sz="2500" spc="-5" dirty="0">
                <a:latin typeface="Calibri"/>
                <a:cs typeface="Calibri"/>
              </a:rPr>
              <a:t>accordi</a:t>
            </a:r>
            <a:r>
              <a:rPr sz="2500" spc="5" dirty="0">
                <a:latin typeface="Calibri"/>
                <a:cs typeface="Calibri"/>
              </a:rPr>
              <a:t>n</a:t>
            </a:r>
            <a:r>
              <a:rPr sz="2500" spc="-5" dirty="0">
                <a:latin typeface="Calibri"/>
                <a:cs typeface="Calibri"/>
              </a:rPr>
              <a:t>g</a:t>
            </a:r>
            <a:r>
              <a:rPr sz="2500" spc="-35" dirty="0">
                <a:latin typeface="Calibri"/>
                <a:cs typeface="Calibri"/>
              </a:rPr>
              <a:t> </a:t>
            </a:r>
            <a:r>
              <a:rPr sz="2500" spc="-5" dirty="0">
                <a:latin typeface="Calibri"/>
                <a:cs typeface="Calibri"/>
              </a:rPr>
              <a:t>to</a:t>
            </a:r>
            <a:r>
              <a:rPr sz="2500" spc="-60" dirty="0">
                <a:latin typeface="Calibri"/>
                <a:cs typeface="Calibri"/>
              </a:rPr>
              <a:t> </a:t>
            </a:r>
            <a:r>
              <a:rPr sz="2500" spc="-5" dirty="0">
                <a:latin typeface="Calibri"/>
                <a:cs typeface="Calibri"/>
              </a:rPr>
              <a:t>a</a:t>
            </a:r>
            <a:r>
              <a:rPr sz="2500" spc="-60" dirty="0">
                <a:latin typeface="Calibri"/>
                <a:cs typeface="Calibri"/>
              </a:rPr>
              <a:t> </a:t>
            </a:r>
            <a:r>
              <a:rPr sz="2500" spc="-5" dirty="0">
                <a:latin typeface="Calibri"/>
                <a:cs typeface="Calibri"/>
              </a:rPr>
              <a:t>IUP</a:t>
            </a:r>
            <a:r>
              <a:rPr sz="2500" dirty="0">
                <a:latin typeface="Calibri"/>
                <a:cs typeface="Calibri"/>
              </a:rPr>
              <a:t>S</a:t>
            </a:r>
            <a:r>
              <a:rPr sz="2500" spc="-5" dirty="0">
                <a:latin typeface="Calibri"/>
                <a:cs typeface="Calibri"/>
              </a:rPr>
              <a:t>C</a:t>
            </a:r>
            <a:r>
              <a:rPr sz="2500" spc="5" dirty="0">
                <a:latin typeface="Calibri"/>
                <a:cs typeface="Calibri"/>
              </a:rPr>
              <a:t> </a:t>
            </a:r>
            <a:r>
              <a:rPr sz="2500" spc="-25" dirty="0">
                <a:latin typeface="Calibri"/>
                <a:cs typeface="Calibri"/>
              </a:rPr>
              <a:t>de</a:t>
            </a:r>
            <a:r>
              <a:rPr sz="2500" spc="-10" dirty="0">
                <a:latin typeface="Calibri"/>
                <a:cs typeface="Calibri"/>
              </a:rPr>
              <a:t>fi</a:t>
            </a:r>
            <a:r>
              <a:rPr sz="2500" spc="5" dirty="0">
                <a:latin typeface="Calibri"/>
                <a:cs typeface="Calibri"/>
              </a:rPr>
              <a:t>n</a:t>
            </a:r>
            <a:r>
              <a:rPr sz="2500" spc="-5" dirty="0">
                <a:latin typeface="Calibri"/>
                <a:cs typeface="Calibri"/>
              </a:rPr>
              <a:t>iti</a:t>
            </a:r>
            <a:r>
              <a:rPr sz="2500" dirty="0">
                <a:latin typeface="Calibri"/>
                <a:cs typeface="Calibri"/>
              </a:rPr>
              <a:t>o</a:t>
            </a:r>
            <a:r>
              <a:rPr sz="2500" spc="-5" dirty="0">
                <a:latin typeface="Calibri"/>
                <a:cs typeface="Calibri"/>
              </a:rPr>
              <a:t>n,</a:t>
            </a:r>
            <a:r>
              <a:rPr sz="2500" spc="-30" dirty="0">
                <a:latin typeface="Calibri"/>
                <a:cs typeface="Calibri"/>
              </a:rPr>
              <a:t> </a:t>
            </a:r>
            <a:r>
              <a:rPr sz="2500" spc="-5" dirty="0">
                <a:latin typeface="Calibri"/>
                <a:cs typeface="Calibri"/>
              </a:rPr>
              <a:t>is</a:t>
            </a:r>
            <a:r>
              <a:rPr sz="2500" spc="-30" dirty="0">
                <a:latin typeface="Calibri"/>
                <a:cs typeface="Calibri"/>
              </a:rPr>
              <a:t> </a:t>
            </a:r>
            <a:r>
              <a:rPr sz="2500" spc="-25" dirty="0">
                <a:latin typeface="Calibri"/>
                <a:cs typeface="Calibri"/>
              </a:rPr>
              <a:t>t</a:t>
            </a:r>
            <a:r>
              <a:rPr sz="2500" spc="-5" dirty="0">
                <a:latin typeface="Calibri"/>
                <a:cs typeface="Calibri"/>
              </a:rPr>
              <a:t>he</a:t>
            </a:r>
            <a:r>
              <a:rPr sz="2500" spc="-30" dirty="0">
                <a:latin typeface="Calibri"/>
                <a:cs typeface="Calibri"/>
              </a:rPr>
              <a:t> </a:t>
            </a:r>
            <a:r>
              <a:rPr sz="2500" spc="-5" dirty="0">
                <a:latin typeface="Calibri"/>
                <a:cs typeface="Calibri"/>
              </a:rPr>
              <a:t>e</a:t>
            </a:r>
            <a:r>
              <a:rPr sz="2500" spc="-25" dirty="0">
                <a:latin typeface="Calibri"/>
                <a:cs typeface="Calibri"/>
              </a:rPr>
              <a:t>l</a:t>
            </a:r>
            <a:r>
              <a:rPr sz="2500" spc="-5" dirty="0">
                <a:latin typeface="Calibri"/>
                <a:cs typeface="Calibri"/>
              </a:rPr>
              <a:t>ectromotive</a:t>
            </a:r>
            <a:r>
              <a:rPr sz="2500" spc="-30" dirty="0">
                <a:latin typeface="Calibri"/>
                <a:cs typeface="Calibri"/>
              </a:rPr>
              <a:t> </a:t>
            </a:r>
            <a:r>
              <a:rPr sz="2500" spc="-10" dirty="0">
                <a:latin typeface="Calibri"/>
                <a:cs typeface="Calibri"/>
              </a:rPr>
              <a:t>f</a:t>
            </a:r>
            <a:r>
              <a:rPr sz="2500" dirty="0">
                <a:latin typeface="Calibri"/>
                <a:cs typeface="Calibri"/>
              </a:rPr>
              <a:t>o</a:t>
            </a:r>
            <a:r>
              <a:rPr sz="2500" spc="-15" dirty="0">
                <a:latin typeface="Calibri"/>
                <a:cs typeface="Calibri"/>
              </a:rPr>
              <a:t>r</a:t>
            </a:r>
            <a:r>
              <a:rPr sz="2500" spc="-5" dirty="0">
                <a:latin typeface="Calibri"/>
                <a:cs typeface="Calibri"/>
              </a:rPr>
              <a:t>ce</a:t>
            </a:r>
            <a:r>
              <a:rPr sz="2500" dirty="0">
                <a:latin typeface="Calibri"/>
                <a:cs typeface="Calibri"/>
              </a:rPr>
              <a:t>	</a:t>
            </a:r>
            <a:r>
              <a:rPr sz="2500" spc="-5" dirty="0">
                <a:latin typeface="Calibri"/>
                <a:cs typeface="Calibri"/>
              </a:rPr>
              <a:t>of  a</a:t>
            </a:r>
            <a:r>
              <a:rPr sz="2500" spc="-15" dirty="0">
                <a:latin typeface="Calibri"/>
                <a:cs typeface="Calibri"/>
              </a:rPr>
              <a:t> </a:t>
            </a:r>
            <a:r>
              <a:rPr sz="2500" spc="-5" dirty="0">
                <a:latin typeface="Calibri"/>
                <a:cs typeface="Calibri"/>
              </a:rPr>
              <a:t>cell</a:t>
            </a:r>
            <a:r>
              <a:rPr sz="2500" spc="20" dirty="0">
                <a:latin typeface="Calibri"/>
                <a:cs typeface="Calibri"/>
              </a:rPr>
              <a:t> </a:t>
            </a:r>
            <a:r>
              <a:rPr sz="2500" spc="-5" dirty="0">
                <a:latin typeface="Calibri"/>
                <a:cs typeface="Calibri"/>
              </a:rPr>
              <a:t>built</a:t>
            </a:r>
            <a:r>
              <a:rPr sz="2500" spc="-10" dirty="0">
                <a:latin typeface="Calibri"/>
                <a:cs typeface="Calibri"/>
              </a:rPr>
              <a:t> </a:t>
            </a:r>
            <a:r>
              <a:rPr sz="2500" spc="-5" dirty="0">
                <a:latin typeface="Calibri"/>
                <a:cs typeface="Calibri"/>
              </a:rPr>
              <a:t>of</a:t>
            </a:r>
            <a:r>
              <a:rPr sz="2500" spc="-25" dirty="0">
                <a:latin typeface="Calibri"/>
                <a:cs typeface="Calibri"/>
              </a:rPr>
              <a:t> </a:t>
            </a:r>
            <a:r>
              <a:rPr sz="2500" spc="-5" dirty="0">
                <a:latin typeface="Calibri"/>
                <a:cs typeface="Calibri"/>
              </a:rPr>
              <a:t>two electrodes:</a:t>
            </a:r>
            <a:r>
              <a:rPr sz="2500" dirty="0">
                <a:latin typeface="Microsoft Sans Serif"/>
                <a:cs typeface="Microsoft Sans Serif"/>
              </a:rPr>
              <a:t> </a:t>
            </a:r>
            <a:endParaRPr sz="2500">
              <a:latin typeface="Microsoft Sans Serif"/>
              <a:cs typeface="Microsoft Sans Serif"/>
            </a:endParaRPr>
          </a:p>
          <a:p>
            <a:pPr marL="417830" marR="767715" indent="-342265">
              <a:lnSpc>
                <a:spcPts val="2400"/>
              </a:lnSpc>
              <a:spcBef>
                <a:spcPts val="560"/>
              </a:spcBef>
              <a:buFont typeface="Microsoft Sans Serif"/>
              <a:buChar char="•"/>
              <a:tabLst>
                <a:tab pos="417195" algn="l"/>
                <a:tab pos="418465" algn="l"/>
              </a:tabLst>
            </a:pPr>
            <a:r>
              <a:rPr sz="2500" spc="-5" dirty="0">
                <a:latin typeface="Calibri"/>
                <a:cs typeface="Calibri"/>
              </a:rPr>
              <a:t>on</a:t>
            </a:r>
            <a:r>
              <a:rPr sz="2500" spc="-30" dirty="0">
                <a:latin typeface="Calibri"/>
                <a:cs typeface="Calibri"/>
              </a:rPr>
              <a:t> </a:t>
            </a:r>
            <a:r>
              <a:rPr sz="2500" dirty="0">
                <a:latin typeface="Calibri"/>
                <a:cs typeface="Calibri"/>
              </a:rPr>
              <a:t>the</a:t>
            </a:r>
            <a:r>
              <a:rPr sz="2500" spc="-25" dirty="0">
                <a:latin typeface="Calibri"/>
                <a:cs typeface="Calibri"/>
              </a:rPr>
              <a:t> </a:t>
            </a:r>
            <a:r>
              <a:rPr sz="2500" spc="-5" dirty="0">
                <a:latin typeface="Calibri"/>
                <a:cs typeface="Calibri"/>
              </a:rPr>
              <a:t>left-hand</a:t>
            </a:r>
            <a:r>
              <a:rPr sz="2500" spc="-20" dirty="0">
                <a:latin typeface="Calibri"/>
                <a:cs typeface="Calibri"/>
              </a:rPr>
              <a:t> </a:t>
            </a:r>
            <a:r>
              <a:rPr sz="2500" spc="-5" dirty="0">
                <a:latin typeface="Calibri"/>
                <a:cs typeface="Calibri"/>
              </a:rPr>
              <a:t>side</a:t>
            </a:r>
            <a:r>
              <a:rPr sz="2500" spc="-25" dirty="0">
                <a:latin typeface="Calibri"/>
                <a:cs typeface="Calibri"/>
              </a:rPr>
              <a:t> </a:t>
            </a:r>
            <a:r>
              <a:rPr sz="2500" spc="-5" dirty="0">
                <a:latin typeface="Calibri"/>
                <a:cs typeface="Calibri"/>
              </a:rPr>
              <a:t>of</a:t>
            </a:r>
            <a:r>
              <a:rPr sz="2500" spc="-55" dirty="0">
                <a:latin typeface="Calibri"/>
                <a:cs typeface="Calibri"/>
              </a:rPr>
              <a:t> </a:t>
            </a:r>
            <a:r>
              <a:rPr sz="2500" dirty="0">
                <a:latin typeface="Calibri"/>
                <a:cs typeface="Calibri"/>
              </a:rPr>
              <a:t>the</a:t>
            </a:r>
            <a:r>
              <a:rPr sz="2500" spc="-5" dirty="0">
                <a:latin typeface="Calibri"/>
                <a:cs typeface="Calibri"/>
              </a:rPr>
              <a:t> cell</a:t>
            </a:r>
            <a:r>
              <a:rPr sz="2500" spc="-25" dirty="0">
                <a:latin typeface="Calibri"/>
                <a:cs typeface="Calibri"/>
              </a:rPr>
              <a:t> </a:t>
            </a:r>
            <a:r>
              <a:rPr sz="2500" spc="-5" dirty="0">
                <a:latin typeface="Calibri"/>
                <a:cs typeface="Calibri"/>
              </a:rPr>
              <a:t>diagram</a:t>
            </a:r>
            <a:r>
              <a:rPr sz="2500" spc="-40" dirty="0">
                <a:latin typeface="Calibri"/>
                <a:cs typeface="Calibri"/>
              </a:rPr>
              <a:t> </a:t>
            </a:r>
            <a:r>
              <a:rPr sz="2500" spc="-5" dirty="0">
                <a:latin typeface="Calibri"/>
                <a:cs typeface="Calibri"/>
              </a:rPr>
              <a:t>is</a:t>
            </a:r>
            <a:r>
              <a:rPr sz="2500" spc="-30" dirty="0">
                <a:latin typeface="Calibri"/>
                <a:cs typeface="Calibri"/>
              </a:rPr>
              <a:t> </a:t>
            </a:r>
            <a:r>
              <a:rPr sz="2500" dirty="0">
                <a:latin typeface="Calibri"/>
                <a:cs typeface="Calibri"/>
              </a:rPr>
              <a:t>the</a:t>
            </a:r>
            <a:r>
              <a:rPr sz="2500" spc="20" dirty="0">
                <a:latin typeface="Calibri"/>
                <a:cs typeface="Calibri"/>
              </a:rPr>
              <a:t> </a:t>
            </a:r>
            <a:r>
              <a:rPr sz="2500" spc="-5" dirty="0">
                <a:latin typeface="Calibri"/>
                <a:cs typeface="Calibri"/>
              </a:rPr>
              <a:t>standard </a:t>
            </a:r>
            <a:r>
              <a:rPr sz="2500" spc="-550" dirty="0">
                <a:latin typeface="Calibri"/>
                <a:cs typeface="Calibri"/>
              </a:rPr>
              <a:t> </a:t>
            </a:r>
            <a:r>
              <a:rPr sz="2500" spc="-5" dirty="0">
                <a:latin typeface="Calibri"/>
                <a:cs typeface="Calibri"/>
              </a:rPr>
              <a:t>hydrogen</a:t>
            </a:r>
            <a:r>
              <a:rPr sz="2500" spc="15" dirty="0">
                <a:latin typeface="Calibri"/>
                <a:cs typeface="Calibri"/>
              </a:rPr>
              <a:t> </a:t>
            </a:r>
            <a:r>
              <a:rPr sz="2500" spc="-5" dirty="0">
                <a:latin typeface="Calibri"/>
                <a:cs typeface="Calibri"/>
              </a:rPr>
              <a:t>electrode</a:t>
            </a:r>
            <a:r>
              <a:rPr sz="2500" spc="-10" dirty="0">
                <a:latin typeface="Calibri"/>
                <a:cs typeface="Calibri"/>
              </a:rPr>
              <a:t> </a:t>
            </a:r>
            <a:r>
              <a:rPr sz="2500" spc="-5" dirty="0">
                <a:latin typeface="Calibri"/>
                <a:cs typeface="Calibri"/>
              </a:rPr>
              <a:t>(SHE),</a:t>
            </a:r>
            <a:r>
              <a:rPr sz="2500" spc="20" dirty="0">
                <a:latin typeface="Calibri"/>
                <a:cs typeface="Calibri"/>
              </a:rPr>
              <a:t> </a:t>
            </a:r>
            <a:r>
              <a:rPr sz="2500" spc="-5" dirty="0">
                <a:latin typeface="Calibri"/>
                <a:cs typeface="Calibri"/>
              </a:rPr>
              <a:t>and</a:t>
            </a:r>
            <a:r>
              <a:rPr sz="2500" dirty="0">
                <a:latin typeface="Microsoft Sans Serif"/>
                <a:cs typeface="Microsoft Sans Serif"/>
              </a:rPr>
              <a:t> </a:t>
            </a:r>
            <a:endParaRPr sz="2500">
              <a:latin typeface="Microsoft Sans Serif"/>
              <a:cs typeface="Microsoft Sans Serif"/>
            </a:endParaRPr>
          </a:p>
          <a:p>
            <a:pPr marL="417830" indent="-342265">
              <a:lnSpc>
                <a:spcPts val="2975"/>
              </a:lnSpc>
              <a:spcBef>
                <a:spcPts val="45"/>
              </a:spcBef>
              <a:buFont typeface="Microsoft Sans Serif"/>
              <a:buChar char="•"/>
              <a:tabLst>
                <a:tab pos="417195" algn="l"/>
                <a:tab pos="418465" algn="l"/>
              </a:tabLst>
            </a:pPr>
            <a:r>
              <a:rPr sz="2500" spc="-5" dirty="0">
                <a:latin typeface="Calibri"/>
                <a:cs typeface="Calibri"/>
              </a:rPr>
              <a:t>on</a:t>
            </a:r>
            <a:r>
              <a:rPr sz="2500" spc="-25" dirty="0">
                <a:latin typeface="Calibri"/>
                <a:cs typeface="Calibri"/>
              </a:rPr>
              <a:t> </a:t>
            </a:r>
            <a:r>
              <a:rPr sz="2500" dirty="0">
                <a:latin typeface="Calibri"/>
                <a:cs typeface="Calibri"/>
              </a:rPr>
              <a:t>the</a:t>
            </a:r>
            <a:r>
              <a:rPr sz="2500" spc="-25" dirty="0">
                <a:latin typeface="Calibri"/>
                <a:cs typeface="Calibri"/>
              </a:rPr>
              <a:t> </a:t>
            </a:r>
            <a:r>
              <a:rPr sz="2500" spc="-5" dirty="0">
                <a:latin typeface="Calibri"/>
                <a:cs typeface="Calibri"/>
              </a:rPr>
              <a:t>right-hand</a:t>
            </a:r>
            <a:r>
              <a:rPr sz="2500" spc="-25" dirty="0">
                <a:latin typeface="Calibri"/>
                <a:cs typeface="Calibri"/>
              </a:rPr>
              <a:t> </a:t>
            </a:r>
            <a:r>
              <a:rPr sz="2500" spc="-5" dirty="0">
                <a:latin typeface="Calibri"/>
                <a:cs typeface="Calibri"/>
              </a:rPr>
              <a:t>side</a:t>
            </a:r>
            <a:r>
              <a:rPr sz="2500" spc="10" dirty="0">
                <a:latin typeface="Calibri"/>
                <a:cs typeface="Calibri"/>
              </a:rPr>
              <a:t> </a:t>
            </a:r>
            <a:r>
              <a:rPr sz="2500" spc="-15" dirty="0">
                <a:latin typeface="Calibri"/>
                <a:cs typeface="Calibri"/>
              </a:rPr>
              <a:t>is</a:t>
            </a:r>
            <a:r>
              <a:rPr sz="2500" spc="-30" dirty="0">
                <a:latin typeface="Calibri"/>
                <a:cs typeface="Calibri"/>
              </a:rPr>
              <a:t> </a:t>
            </a:r>
            <a:r>
              <a:rPr sz="2500" dirty="0">
                <a:latin typeface="Calibri"/>
                <a:cs typeface="Calibri"/>
              </a:rPr>
              <a:t>the</a:t>
            </a:r>
            <a:r>
              <a:rPr sz="2500" spc="-25" dirty="0">
                <a:latin typeface="Calibri"/>
                <a:cs typeface="Calibri"/>
              </a:rPr>
              <a:t> </a:t>
            </a:r>
            <a:r>
              <a:rPr sz="2500" spc="-5" dirty="0">
                <a:latin typeface="Calibri"/>
                <a:cs typeface="Calibri"/>
              </a:rPr>
              <a:t>electrode</a:t>
            </a:r>
            <a:r>
              <a:rPr sz="2500" spc="-20" dirty="0">
                <a:latin typeface="Calibri"/>
                <a:cs typeface="Calibri"/>
              </a:rPr>
              <a:t> </a:t>
            </a:r>
            <a:r>
              <a:rPr sz="2500" spc="-5" dirty="0">
                <a:latin typeface="Calibri"/>
                <a:cs typeface="Calibri"/>
              </a:rPr>
              <a:t>in</a:t>
            </a:r>
            <a:r>
              <a:rPr sz="2500" spc="-20" dirty="0">
                <a:latin typeface="Calibri"/>
                <a:cs typeface="Calibri"/>
              </a:rPr>
              <a:t> </a:t>
            </a:r>
            <a:r>
              <a:rPr sz="2500" spc="-10" dirty="0">
                <a:latin typeface="Calibri"/>
                <a:cs typeface="Calibri"/>
              </a:rPr>
              <a:t>question.</a:t>
            </a:r>
            <a:r>
              <a:rPr sz="2500" dirty="0">
                <a:latin typeface="Microsoft Sans Serif"/>
                <a:cs typeface="Microsoft Sans Serif"/>
              </a:rPr>
              <a:t> </a:t>
            </a:r>
            <a:endParaRPr sz="2500">
              <a:latin typeface="Microsoft Sans Serif"/>
              <a:cs typeface="Microsoft Sans Serif"/>
            </a:endParaRPr>
          </a:p>
          <a:p>
            <a:pPr marL="417830" marR="566420" indent="-342265">
              <a:lnSpc>
                <a:spcPts val="2400"/>
              </a:lnSpc>
              <a:spcBef>
                <a:spcPts val="555"/>
              </a:spcBef>
              <a:buFont typeface="Microsoft Sans Serif"/>
              <a:buChar char="•"/>
              <a:tabLst>
                <a:tab pos="417195" algn="l"/>
                <a:tab pos="418465" algn="l"/>
              </a:tabLst>
            </a:pPr>
            <a:r>
              <a:rPr sz="2500" dirty="0">
                <a:latin typeface="Calibri"/>
                <a:cs typeface="Calibri"/>
              </a:rPr>
              <a:t>The</a:t>
            </a:r>
            <a:r>
              <a:rPr sz="2500" spc="-55" dirty="0">
                <a:latin typeface="Calibri"/>
                <a:cs typeface="Calibri"/>
              </a:rPr>
              <a:t> </a:t>
            </a:r>
            <a:r>
              <a:rPr sz="2500" spc="-5" dirty="0">
                <a:latin typeface="Calibri"/>
                <a:cs typeface="Calibri"/>
              </a:rPr>
              <a:t>SHE</a:t>
            </a:r>
            <a:r>
              <a:rPr sz="2500" spc="-30" dirty="0">
                <a:latin typeface="Calibri"/>
                <a:cs typeface="Calibri"/>
              </a:rPr>
              <a:t> </a:t>
            </a:r>
            <a:r>
              <a:rPr sz="2500" spc="-15" dirty="0">
                <a:latin typeface="Calibri"/>
                <a:cs typeface="Calibri"/>
              </a:rPr>
              <a:t>is</a:t>
            </a:r>
            <a:r>
              <a:rPr sz="2500" spc="-50" dirty="0">
                <a:latin typeface="Calibri"/>
                <a:cs typeface="Calibri"/>
              </a:rPr>
              <a:t> </a:t>
            </a:r>
            <a:r>
              <a:rPr sz="2500" spc="-5" dirty="0">
                <a:latin typeface="Calibri"/>
                <a:cs typeface="Calibri"/>
              </a:rPr>
              <a:t>defined</a:t>
            </a:r>
            <a:r>
              <a:rPr sz="2500" spc="5" dirty="0">
                <a:latin typeface="Calibri"/>
                <a:cs typeface="Calibri"/>
              </a:rPr>
              <a:t> </a:t>
            </a:r>
            <a:r>
              <a:rPr sz="2500" spc="-5" dirty="0">
                <a:latin typeface="Calibri"/>
                <a:cs typeface="Calibri"/>
              </a:rPr>
              <a:t>to</a:t>
            </a:r>
            <a:r>
              <a:rPr sz="2500" spc="-85" dirty="0">
                <a:latin typeface="Calibri"/>
                <a:cs typeface="Calibri"/>
              </a:rPr>
              <a:t> </a:t>
            </a:r>
            <a:r>
              <a:rPr sz="2500" spc="-10" dirty="0">
                <a:latin typeface="Calibri"/>
                <a:cs typeface="Calibri"/>
              </a:rPr>
              <a:t>have</a:t>
            </a:r>
            <a:r>
              <a:rPr sz="2500" spc="-25" dirty="0">
                <a:latin typeface="Calibri"/>
                <a:cs typeface="Calibri"/>
              </a:rPr>
              <a:t> </a:t>
            </a:r>
            <a:r>
              <a:rPr sz="2500" spc="-5" dirty="0">
                <a:latin typeface="Calibri"/>
                <a:cs typeface="Calibri"/>
              </a:rPr>
              <a:t>a</a:t>
            </a:r>
            <a:r>
              <a:rPr sz="2500" spc="-35" dirty="0">
                <a:latin typeface="Calibri"/>
                <a:cs typeface="Calibri"/>
              </a:rPr>
              <a:t> </a:t>
            </a:r>
            <a:r>
              <a:rPr sz="2500" spc="-5" dirty="0">
                <a:latin typeface="Calibri"/>
                <a:cs typeface="Calibri"/>
              </a:rPr>
              <a:t>potential</a:t>
            </a:r>
            <a:r>
              <a:rPr sz="2500" spc="-20" dirty="0">
                <a:latin typeface="Calibri"/>
                <a:cs typeface="Calibri"/>
              </a:rPr>
              <a:t> </a:t>
            </a:r>
            <a:r>
              <a:rPr sz="2500" spc="-5" dirty="0">
                <a:latin typeface="Calibri"/>
                <a:cs typeface="Calibri"/>
              </a:rPr>
              <a:t>of</a:t>
            </a:r>
            <a:r>
              <a:rPr sz="2500" spc="-50" dirty="0">
                <a:latin typeface="Calibri"/>
                <a:cs typeface="Calibri"/>
              </a:rPr>
              <a:t> </a:t>
            </a:r>
            <a:r>
              <a:rPr sz="2500" spc="-5" dirty="0">
                <a:latin typeface="Calibri"/>
                <a:cs typeface="Calibri"/>
              </a:rPr>
              <a:t>zero</a:t>
            </a:r>
            <a:r>
              <a:rPr sz="2500" spc="-20" dirty="0">
                <a:latin typeface="Calibri"/>
                <a:cs typeface="Calibri"/>
              </a:rPr>
              <a:t> </a:t>
            </a:r>
            <a:r>
              <a:rPr sz="2500" spc="-10" dirty="0">
                <a:latin typeface="Calibri"/>
                <a:cs typeface="Calibri"/>
              </a:rPr>
              <a:t>Volt,</a:t>
            </a:r>
            <a:r>
              <a:rPr sz="2500" spc="-30" dirty="0">
                <a:latin typeface="Calibri"/>
                <a:cs typeface="Calibri"/>
              </a:rPr>
              <a:t> </a:t>
            </a:r>
            <a:r>
              <a:rPr sz="2500" dirty="0">
                <a:latin typeface="Calibri"/>
                <a:cs typeface="Calibri"/>
              </a:rPr>
              <a:t>so</a:t>
            </a:r>
            <a:r>
              <a:rPr sz="2500" spc="-55" dirty="0">
                <a:latin typeface="Calibri"/>
                <a:cs typeface="Calibri"/>
              </a:rPr>
              <a:t> </a:t>
            </a:r>
            <a:r>
              <a:rPr sz="2500" spc="-10" dirty="0">
                <a:latin typeface="Calibri"/>
                <a:cs typeface="Calibri"/>
              </a:rPr>
              <a:t>the </a:t>
            </a:r>
            <a:r>
              <a:rPr sz="2500" spc="-550" dirty="0">
                <a:latin typeface="Calibri"/>
                <a:cs typeface="Calibri"/>
              </a:rPr>
              <a:t> </a:t>
            </a:r>
            <a:r>
              <a:rPr sz="2500" spc="-5" dirty="0">
                <a:latin typeface="Calibri"/>
                <a:cs typeface="Calibri"/>
              </a:rPr>
              <a:t>signed</a:t>
            </a:r>
            <a:r>
              <a:rPr sz="2500" spc="5" dirty="0">
                <a:latin typeface="Calibri"/>
                <a:cs typeface="Calibri"/>
              </a:rPr>
              <a:t> </a:t>
            </a:r>
            <a:r>
              <a:rPr sz="2500" spc="-5" dirty="0">
                <a:latin typeface="Calibri"/>
                <a:cs typeface="Calibri"/>
              </a:rPr>
              <a:t>cell</a:t>
            </a:r>
            <a:r>
              <a:rPr sz="2500" spc="-35" dirty="0">
                <a:latin typeface="Calibri"/>
                <a:cs typeface="Calibri"/>
              </a:rPr>
              <a:t> </a:t>
            </a:r>
            <a:r>
              <a:rPr sz="2500" spc="-5" dirty="0">
                <a:latin typeface="Calibri"/>
                <a:cs typeface="Calibri"/>
              </a:rPr>
              <a:t>potential</a:t>
            </a:r>
            <a:r>
              <a:rPr sz="2500" spc="5" dirty="0">
                <a:latin typeface="Calibri"/>
                <a:cs typeface="Calibri"/>
              </a:rPr>
              <a:t> </a:t>
            </a:r>
            <a:r>
              <a:rPr sz="2500" spc="-5" dirty="0">
                <a:latin typeface="Calibri"/>
                <a:cs typeface="Calibri"/>
              </a:rPr>
              <a:t>from</a:t>
            </a:r>
            <a:r>
              <a:rPr sz="2500" spc="-15" dirty="0">
                <a:latin typeface="Calibri"/>
                <a:cs typeface="Calibri"/>
              </a:rPr>
              <a:t> </a:t>
            </a:r>
            <a:r>
              <a:rPr sz="2500" dirty="0">
                <a:latin typeface="Calibri"/>
                <a:cs typeface="Calibri"/>
              </a:rPr>
              <a:t>the</a:t>
            </a:r>
            <a:r>
              <a:rPr sz="2500" spc="15" dirty="0">
                <a:latin typeface="Calibri"/>
                <a:cs typeface="Calibri"/>
              </a:rPr>
              <a:t> </a:t>
            </a:r>
            <a:r>
              <a:rPr sz="2500" spc="-10" dirty="0">
                <a:latin typeface="Calibri"/>
                <a:cs typeface="Calibri"/>
              </a:rPr>
              <a:t>above</a:t>
            </a:r>
            <a:r>
              <a:rPr sz="2500" dirty="0">
                <a:latin typeface="Calibri"/>
                <a:cs typeface="Calibri"/>
              </a:rPr>
              <a:t> </a:t>
            </a:r>
            <a:r>
              <a:rPr sz="2500" spc="-5" dirty="0">
                <a:latin typeface="Calibri"/>
                <a:cs typeface="Calibri"/>
              </a:rPr>
              <a:t>setup</a:t>
            </a:r>
            <a:r>
              <a:rPr sz="2500" dirty="0">
                <a:latin typeface="Calibri"/>
                <a:cs typeface="Calibri"/>
              </a:rPr>
              <a:t> </a:t>
            </a:r>
            <a:r>
              <a:rPr sz="2500" spc="-15" dirty="0">
                <a:latin typeface="Calibri"/>
                <a:cs typeface="Calibri"/>
              </a:rPr>
              <a:t>is</a:t>
            </a:r>
            <a:r>
              <a:rPr sz="2500" dirty="0">
                <a:latin typeface="Microsoft Sans Serif"/>
                <a:cs typeface="Microsoft Sans Serif"/>
              </a:rPr>
              <a:t> </a:t>
            </a:r>
            <a:endParaRPr sz="2500">
              <a:latin typeface="Microsoft Sans Serif"/>
              <a:cs typeface="Microsoft Sans Serif"/>
            </a:endParaRPr>
          </a:p>
          <a:p>
            <a:pPr marL="417830" indent="-342265">
              <a:lnSpc>
                <a:spcPts val="2955"/>
              </a:lnSpc>
              <a:spcBef>
                <a:spcPts val="215"/>
              </a:spcBef>
              <a:buFont typeface="Microsoft Sans Serif"/>
              <a:buChar char="•"/>
              <a:tabLst>
                <a:tab pos="417195" algn="l"/>
                <a:tab pos="418465" algn="l"/>
              </a:tabLst>
            </a:pPr>
            <a:r>
              <a:rPr sz="3750" i="1" spc="-7" baseline="13333" dirty="0">
                <a:latin typeface="Calibri"/>
                <a:cs typeface="Calibri"/>
              </a:rPr>
              <a:t>E</a:t>
            </a:r>
            <a:r>
              <a:rPr sz="1650" spc="-5" dirty="0">
                <a:latin typeface="Calibri"/>
                <a:cs typeface="Calibri"/>
              </a:rPr>
              <a:t>cell</a:t>
            </a:r>
            <a:r>
              <a:rPr sz="1650" spc="210" dirty="0">
                <a:latin typeface="Calibri"/>
                <a:cs typeface="Calibri"/>
              </a:rPr>
              <a:t> </a:t>
            </a:r>
            <a:r>
              <a:rPr sz="3750" spc="-7" baseline="13333" dirty="0">
                <a:latin typeface="Calibri"/>
                <a:cs typeface="Calibri"/>
              </a:rPr>
              <a:t>=</a:t>
            </a:r>
            <a:r>
              <a:rPr sz="3750" spc="22" baseline="13333" dirty="0">
                <a:latin typeface="Calibri"/>
                <a:cs typeface="Calibri"/>
              </a:rPr>
              <a:t> </a:t>
            </a:r>
            <a:r>
              <a:rPr sz="3750" i="1" spc="-7" baseline="13333" dirty="0">
                <a:latin typeface="Calibri"/>
                <a:cs typeface="Calibri"/>
              </a:rPr>
              <a:t>E</a:t>
            </a:r>
            <a:r>
              <a:rPr sz="1650" spc="-5" dirty="0">
                <a:latin typeface="Calibri"/>
                <a:cs typeface="Calibri"/>
              </a:rPr>
              <a:t>left</a:t>
            </a:r>
            <a:r>
              <a:rPr sz="1650" spc="5" dirty="0">
                <a:latin typeface="Calibri"/>
                <a:cs typeface="Calibri"/>
              </a:rPr>
              <a:t> </a:t>
            </a:r>
            <a:r>
              <a:rPr sz="1650" spc="-5" dirty="0">
                <a:latin typeface="Calibri"/>
                <a:cs typeface="Calibri"/>
              </a:rPr>
              <a:t>(SHE)</a:t>
            </a:r>
            <a:r>
              <a:rPr sz="1650" spc="165" dirty="0">
                <a:latin typeface="Calibri"/>
                <a:cs typeface="Calibri"/>
              </a:rPr>
              <a:t> </a:t>
            </a:r>
            <a:r>
              <a:rPr sz="3750" spc="-7" baseline="13333" dirty="0">
                <a:latin typeface="Calibri"/>
                <a:cs typeface="Calibri"/>
              </a:rPr>
              <a:t>−</a:t>
            </a:r>
            <a:r>
              <a:rPr sz="3750" spc="15" baseline="13333" dirty="0">
                <a:latin typeface="Calibri"/>
                <a:cs typeface="Calibri"/>
              </a:rPr>
              <a:t> </a:t>
            </a:r>
            <a:r>
              <a:rPr sz="3750" i="1" spc="-7" baseline="13333" dirty="0">
                <a:latin typeface="Calibri"/>
                <a:cs typeface="Calibri"/>
              </a:rPr>
              <a:t>E</a:t>
            </a:r>
            <a:r>
              <a:rPr sz="1650" spc="-5" dirty="0">
                <a:latin typeface="Calibri"/>
                <a:cs typeface="Calibri"/>
              </a:rPr>
              <a:t>right</a:t>
            </a:r>
            <a:r>
              <a:rPr sz="1650" spc="229" dirty="0">
                <a:latin typeface="Calibri"/>
                <a:cs typeface="Calibri"/>
              </a:rPr>
              <a:t> </a:t>
            </a:r>
            <a:r>
              <a:rPr sz="3750" spc="-7" baseline="13333" dirty="0">
                <a:latin typeface="Calibri"/>
                <a:cs typeface="Calibri"/>
              </a:rPr>
              <a:t>=</a:t>
            </a:r>
            <a:r>
              <a:rPr sz="3750" spc="-15" baseline="13333" dirty="0">
                <a:latin typeface="Calibri"/>
                <a:cs typeface="Calibri"/>
              </a:rPr>
              <a:t> </a:t>
            </a:r>
            <a:r>
              <a:rPr sz="3750" spc="-7" baseline="13333" dirty="0">
                <a:latin typeface="Calibri"/>
                <a:cs typeface="Calibri"/>
              </a:rPr>
              <a:t>0 V</a:t>
            </a:r>
            <a:r>
              <a:rPr sz="3750" spc="15" baseline="13333" dirty="0">
                <a:latin typeface="Calibri"/>
                <a:cs typeface="Calibri"/>
              </a:rPr>
              <a:t> </a:t>
            </a:r>
            <a:r>
              <a:rPr sz="3750" spc="-7" baseline="13333" dirty="0">
                <a:latin typeface="Calibri"/>
                <a:cs typeface="Calibri"/>
              </a:rPr>
              <a:t>−</a:t>
            </a:r>
            <a:r>
              <a:rPr sz="3750" spc="22" baseline="13333" dirty="0">
                <a:latin typeface="Calibri"/>
                <a:cs typeface="Calibri"/>
              </a:rPr>
              <a:t> </a:t>
            </a:r>
            <a:r>
              <a:rPr sz="3750" i="1" spc="-7" baseline="13333" dirty="0">
                <a:latin typeface="Calibri"/>
                <a:cs typeface="Calibri"/>
              </a:rPr>
              <a:t>E</a:t>
            </a:r>
            <a:r>
              <a:rPr sz="1650" spc="-5" dirty="0">
                <a:latin typeface="Calibri"/>
                <a:cs typeface="Calibri"/>
              </a:rPr>
              <a:t>electrode</a:t>
            </a:r>
            <a:r>
              <a:rPr sz="1650" spc="165" dirty="0">
                <a:latin typeface="Calibri"/>
                <a:cs typeface="Calibri"/>
              </a:rPr>
              <a:t> </a:t>
            </a:r>
            <a:r>
              <a:rPr sz="3750" spc="-7" baseline="13333" dirty="0">
                <a:latin typeface="Calibri"/>
                <a:cs typeface="Calibri"/>
              </a:rPr>
              <a:t>=</a:t>
            </a:r>
            <a:r>
              <a:rPr sz="3750" spc="22" baseline="13333" dirty="0">
                <a:latin typeface="Calibri"/>
                <a:cs typeface="Calibri"/>
              </a:rPr>
              <a:t> </a:t>
            </a:r>
            <a:r>
              <a:rPr sz="3750" i="1" spc="-7" baseline="13333" dirty="0">
                <a:latin typeface="Calibri"/>
                <a:cs typeface="Calibri"/>
              </a:rPr>
              <a:t>E</a:t>
            </a:r>
            <a:r>
              <a:rPr sz="1650" spc="-5" dirty="0">
                <a:latin typeface="Calibri"/>
                <a:cs typeface="Calibri"/>
              </a:rPr>
              <a:t>electrode</a:t>
            </a:r>
            <a:r>
              <a:rPr sz="2500" spc="-5" dirty="0">
                <a:latin typeface="Microsoft Sans Serif"/>
                <a:cs typeface="Microsoft Sans Serif"/>
              </a:rPr>
              <a:t> </a:t>
            </a:r>
            <a:endParaRPr sz="2500">
              <a:latin typeface="Microsoft Sans Serif"/>
              <a:cs typeface="Microsoft Sans Serif"/>
            </a:endParaRPr>
          </a:p>
          <a:p>
            <a:pPr marL="417830" indent="-342265">
              <a:lnSpc>
                <a:spcPts val="2955"/>
              </a:lnSpc>
              <a:buFont typeface="Microsoft Sans Serif"/>
              <a:buChar char="•"/>
              <a:tabLst>
                <a:tab pos="417195" algn="l"/>
                <a:tab pos="418465" algn="l"/>
              </a:tabLst>
            </a:pPr>
            <a:r>
              <a:rPr sz="2500" spc="-5" dirty="0">
                <a:latin typeface="Calibri"/>
                <a:cs typeface="Calibri"/>
              </a:rPr>
              <a:t>.SHE</a:t>
            </a:r>
            <a:r>
              <a:rPr sz="2500" spc="-30" dirty="0">
                <a:latin typeface="Calibri"/>
                <a:cs typeface="Calibri"/>
              </a:rPr>
              <a:t> </a:t>
            </a:r>
            <a:r>
              <a:rPr sz="2500" spc="-5" dirty="0">
                <a:latin typeface="Calibri"/>
                <a:cs typeface="Calibri"/>
              </a:rPr>
              <a:t>is</a:t>
            </a:r>
            <a:r>
              <a:rPr sz="2500" spc="-10" dirty="0">
                <a:latin typeface="Calibri"/>
                <a:cs typeface="Calibri"/>
              </a:rPr>
              <a:t> </a:t>
            </a:r>
            <a:r>
              <a:rPr sz="2500" spc="-5" dirty="0">
                <a:latin typeface="Calibri"/>
                <a:cs typeface="Calibri"/>
              </a:rPr>
              <a:t>cathode</a:t>
            </a:r>
            <a:r>
              <a:rPr sz="2500" spc="-10" dirty="0">
                <a:latin typeface="Calibri"/>
                <a:cs typeface="Calibri"/>
              </a:rPr>
              <a:t> </a:t>
            </a:r>
            <a:r>
              <a:rPr sz="2500" dirty="0">
                <a:latin typeface="Calibri"/>
                <a:cs typeface="Calibri"/>
              </a:rPr>
              <a:t>and</a:t>
            </a:r>
            <a:r>
              <a:rPr sz="2500" spc="-5" dirty="0">
                <a:latin typeface="Calibri"/>
                <a:cs typeface="Calibri"/>
              </a:rPr>
              <a:t> </a:t>
            </a:r>
            <a:r>
              <a:rPr sz="2500" spc="-10" dirty="0">
                <a:latin typeface="Calibri"/>
                <a:cs typeface="Calibri"/>
              </a:rPr>
              <a:t>electrode</a:t>
            </a:r>
            <a:r>
              <a:rPr sz="2500" spc="-5" dirty="0">
                <a:latin typeface="Calibri"/>
                <a:cs typeface="Calibri"/>
              </a:rPr>
              <a:t> is</a:t>
            </a:r>
            <a:r>
              <a:rPr sz="2500" spc="-30" dirty="0">
                <a:latin typeface="Calibri"/>
                <a:cs typeface="Calibri"/>
              </a:rPr>
              <a:t> </a:t>
            </a:r>
            <a:r>
              <a:rPr sz="2500" spc="-5" dirty="0">
                <a:latin typeface="Calibri"/>
                <a:cs typeface="Calibri"/>
              </a:rPr>
              <a:t>anode</a:t>
            </a:r>
            <a:r>
              <a:rPr sz="2500" dirty="0">
                <a:latin typeface="Microsoft Sans Serif"/>
                <a:cs typeface="Microsoft Sans Serif"/>
              </a:rPr>
              <a:t> </a:t>
            </a:r>
            <a:endParaRPr sz="2500">
              <a:latin typeface="Microsoft Sans Serif"/>
              <a:cs typeface="Microsoft Sans Serif"/>
            </a:endParaRPr>
          </a:p>
          <a:p>
            <a:pPr marL="417830" indent="-342265">
              <a:lnSpc>
                <a:spcPts val="2940"/>
              </a:lnSpc>
              <a:spcBef>
                <a:spcPts val="120"/>
              </a:spcBef>
              <a:buFont typeface="Microsoft Sans Serif"/>
              <a:buChar char="•"/>
              <a:tabLst>
                <a:tab pos="417195" algn="l"/>
                <a:tab pos="418465" algn="l"/>
              </a:tabLst>
            </a:pPr>
            <a:r>
              <a:rPr sz="3750" spc="-7" baseline="13333" dirty="0">
                <a:latin typeface="Calibri"/>
                <a:cs typeface="Calibri"/>
              </a:rPr>
              <a:t>Δ</a:t>
            </a:r>
            <a:r>
              <a:rPr sz="3750" i="1" spc="-7" baseline="13333" dirty="0">
                <a:latin typeface="Calibri"/>
                <a:cs typeface="Calibri"/>
              </a:rPr>
              <a:t>V</a:t>
            </a:r>
            <a:r>
              <a:rPr sz="1650" spc="-5" dirty="0">
                <a:latin typeface="Calibri"/>
                <a:cs typeface="Calibri"/>
              </a:rPr>
              <a:t>cell</a:t>
            </a:r>
            <a:r>
              <a:rPr sz="1650" spc="204" dirty="0">
                <a:latin typeface="Calibri"/>
                <a:cs typeface="Calibri"/>
              </a:rPr>
              <a:t> </a:t>
            </a:r>
            <a:r>
              <a:rPr sz="3750" spc="-7" baseline="13333" dirty="0">
                <a:latin typeface="Calibri"/>
                <a:cs typeface="Calibri"/>
              </a:rPr>
              <a:t>=</a:t>
            </a:r>
            <a:r>
              <a:rPr sz="3750" baseline="13333" dirty="0">
                <a:latin typeface="Calibri"/>
                <a:cs typeface="Calibri"/>
              </a:rPr>
              <a:t> </a:t>
            </a:r>
            <a:r>
              <a:rPr sz="3750" i="1" spc="-7" baseline="13333" dirty="0">
                <a:latin typeface="Calibri"/>
                <a:cs typeface="Calibri"/>
              </a:rPr>
              <a:t>E</a:t>
            </a:r>
            <a:r>
              <a:rPr sz="1650" spc="-5" dirty="0">
                <a:latin typeface="Calibri"/>
                <a:cs typeface="Calibri"/>
              </a:rPr>
              <a:t>red,cathode</a:t>
            </a:r>
            <a:r>
              <a:rPr sz="1650" spc="165" dirty="0">
                <a:latin typeface="Calibri"/>
                <a:cs typeface="Calibri"/>
              </a:rPr>
              <a:t> </a:t>
            </a:r>
            <a:r>
              <a:rPr sz="3750" spc="-7" baseline="13333" dirty="0">
                <a:latin typeface="Calibri"/>
                <a:cs typeface="Calibri"/>
              </a:rPr>
              <a:t>−</a:t>
            </a:r>
            <a:r>
              <a:rPr sz="3750" spc="7" baseline="13333" dirty="0">
                <a:latin typeface="Calibri"/>
                <a:cs typeface="Calibri"/>
              </a:rPr>
              <a:t> </a:t>
            </a:r>
            <a:r>
              <a:rPr sz="3750" i="1" spc="-7" baseline="13333" dirty="0">
                <a:latin typeface="Calibri"/>
                <a:cs typeface="Calibri"/>
              </a:rPr>
              <a:t>E</a:t>
            </a:r>
            <a:r>
              <a:rPr sz="1650" spc="-5" dirty="0">
                <a:latin typeface="Calibri"/>
                <a:cs typeface="Calibri"/>
              </a:rPr>
              <a:t>red,anode</a:t>
            </a:r>
            <a:r>
              <a:rPr sz="2500" spc="-5" dirty="0">
                <a:latin typeface="Microsoft Sans Serif"/>
                <a:cs typeface="Microsoft Sans Serif"/>
              </a:rPr>
              <a:t> </a:t>
            </a:r>
            <a:endParaRPr sz="2500">
              <a:latin typeface="Microsoft Sans Serif"/>
              <a:cs typeface="Microsoft Sans Serif"/>
            </a:endParaRPr>
          </a:p>
          <a:p>
            <a:pPr marL="417830" indent="-342265">
              <a:lnSpc>
                <a:spcPts val="2940"/>
              </a:lnSpc>
              <a:buFont typeface="Microsoft Sans Serif"/>
              <a:buChar char="•"/>
              <a:tabLst>
                <a:tab pos="417195" algn="l"/>
                <a:tab pos="418465" algn="l"/>
              </a:tabLst>
            </a:pPr>
            <a:r>
              <a:rPr sz="2500" spc="-30" dirty="0">
                <a:latin typeface="Calibri"/>
                <a:cs typeface="Calibri"/>
              </a:rPr>
              <a:t>o</a:t>
            </a:r>
            <a:r>
              <a:rPr sz="2500" spc="-40" dirty="0">
                <a:latin typeface="Calibri"/>
                <a:cs typeface="Calibri"/>
              </a:rPr>
              <a:t>r</a:t>
            </a:r>
            <a:r>
              <a:rPr sz="2500" spc="-5" dirty="0">
                <a:latin typeface="Calibri"/>
                <a:cs typeface="Calibri"/>
              </a:rPr>
              <a:t>,</a:t>
            </a:r>
            <a:r>
              <a:rPr sz="2500" spc="-135" dirty="0">
                <a:latin typeface="Calibri"/>
                <a:cs typeface="Calibri"/>
              </a:rPr>
              <a:t> </a:t>
            </a:r>
            <a:r>
              <a:rPr sz="2500" spc="-25" dirty="0">
                <a:latin typeface="Calibri"/>
                <a:cs typeface="Calibri"/>
              </a:rPr>
              <a:t>eq</a:t>
            </a:r>
            <a:r>
              <a:rPr sz="2500" spc="-5" dirty="0">
                <a:latin typeface="Calibri"/>
                <a:cs typeface="Calibri"/>
              </a:rPr>
              <a:t>u</a:t>
            </a:r>
            <a:r>
              <a:rPr sz="2500" spc="-30" dirty="0">
                <a:latin typeface="Calibri"/>
                <a:cs typeface="Calibri"/>
              </a:rPr>
              <a:t>iv</a:t>
            </a:r>
            <a:r>
              <a:rPr sz="2500" spc="-5" dirty="0">
                <a:latin typeface="Calibri"/>
                <a:cs typeface="Calibri"/>
              </a:rPr>
              <a:t>a</a:t>
            </a:r>
            <a:r>
              <a:rPr sz="2500" spc="-25" dirty="0">
                <a:latin typeface="Calibri"/>
                <a:cs typeface="Calibri"/>
              </a:rPr>
              <a:t>lent</a:t>
            </a:r>
            <a:r>
              <a:rPr sz="2500" spc="-5" dirty="0">
                <a:latin typeface="Calibri"/>
                <a:cs typeface="Calibri"/>
              </a:rPr>
              <a:t>l</a:t>
            </a:r>
            <a:r>
              <a:rPr sz="2500" spc="-35" dirty="0">
                <a:latin typeface="Calibri"/>
                <a:cs typeface="Calibri"/>
              </a:rPr>
              <a:t>y</a:t>
            </a:r>
            <a:r>
              <a:rPr sz="2500" dirty="0">
                <a:latin typeface="Calibri"/>
                <a:cs typeface="Calibri"/>
              </a:rPr>
              <a:t>,</a:t>
            </a:r>
            <a:r>
              <a:rPr sz="2500" spc="-5" dirty="0">
                <a:latin typeface="Microsoft Sans Serif"/>
                <a:cs typeface="Microsoft Sans Serif"/>
              </a:rPr>
              <a:t> </a:t>
            </a:r>
            <a:endParaRPr sz="2500">
              <a:latin typeface="Microsoft Sans Serif"/>
              <a:cs typeface="Microsoft Sans Serif"/>
            </a:endParaRPr>
          </a:p>
          <a:p>
            <a:pPr marL="417830" indent="-342265">
              <a:lnSpc>
                <a:spcPct val="100000"/>
              </a:lnSpc>
              <a:spcBef>
                <a:spcPts val="290"/>
              </a:spcBef>
              <a:buFont typeface="Microsoft Sans Serif"/>
              <a:buChar char="•"/>
              <a:tabLst>
                <a:tab pos="417195" algn="l"/>
                <a:tab pos="418465" algn="l"/>
              </a:tabLst>
            </a:pPr>
            <a:r>
              <a:rPr sz="3750" spc="-7" baseline="13333" dirty="0">
                <a:latin typeface="Calibri"/>
                <a:cs typeface="Calibri"/>
              </a:rPr>
              <a:t>Δ</a:t>
            </a:r>
            <a:r>
              <a:rPr sz="3750" i="1" spc="-7" baseline="13333" dirty="0">
                <a:latin typeface="Calibri"/>
                <a:cs typeface="Calibri"/>
              </a:rPr>
              <a:t>V</a:t>
            </a:r>
            <a:r>
              <a:rPr sz="1650" spc="-5" dirty="0">
                <a:latin typeface="Calibri"/>
                <a:cs typeface="Calibri"/>
              </a:rPr>
              <a:t>cell</a:t>
            </a:r>
            <a:r>
              <a:rPr sz="1650" spc="185" dirty="0">
                <a:latin typeface="Calibri"/>
                <a:cs typeface="Calibri"/>
              </a:rPr>
              <a:t> </a:t>
            </a:r>
            <a:r>
              <a:rPr sz="3750" spc="-7" baseline="13333" dirty="0">
                <a:latin typeface="Calibri"/>
                <a:cs typeface="Calibri"/>
              </a:rPr>
              <a:t>=</a:t>
            </a:r>
            <a:r>
              <a:rPr sz="3750" spc="-15" baseline="13333" dirty="0">
                <a:latin typeface="Calibri"/>
                <a:cs typeface="Calibri"/>
              </a:rPr>
              <a:t> </a:t>
            </a:r>
            <a:r>
              <a:rPr sz="3750" i="1" spc="-7" baseline="13333" dirty="0">
                <a:latin typeface="Calibri"/>
                <a:cs typeface="Calibri"/>
              </a:rPr>
              <a:t>E</a:t>
            </a:r>
            <a:r>
              <a:rPr sz="1650" spc="-5" dirty="0">
                <a:latin typeface="Calibri"/>
                <a:cs typeface="Calibri"/>
              </a:rPr>
              <a:t>red,cathode</a:t>
            </a:r>
            <a:r>
              <a:rPr sz="1650" spc="120" dirty="0">
                <a:latin typeface="Calibri"/>
                <a:cs typeface="Calibri"/>
              </a:rPr>
              <a:t> </a:t>
            </a:r>
            <a:r>
              <a:rPr sz="3750" spc="-7" baseline="13333" dirty="0">
                <a:latin typeface="Calibri"/>
                <a:cs typeface="Calibri"/>
              </a:rPr>
              <a:t>+</a:t>
            </a:r>
            <a:r>
              <a:rPr sz="3750" spc="30" baseline="13333" dirty="0">
                <a:latin typeface="Calibri"/>
                <a:cs typeface="Calibri"/>
              </a:rPr>
              <a:t> </a:t>
            </a:r>
            <a:r>
              <a:rPr sz="3750" i="1" spc="-15" baseline="13333" dirty="0">
                <a:latin typeface="Calibri"/>
                <a:cs typeface="Calibri"/>
              </a:rPr>
              <a:t>E</a:t>
            </a:r>
            <a:r>
              <a:rPr sz="1650" spc="-10" dirty="0">
                <a:latin typeface="Calibri"/>
                <a:cs typeface="Calibri"/>
              </a:rPr>
              <a:t>oxy,anode</a:t>
            </a:r>
            <a:r>
              <a:rPr sz="3750" spc="-15" baseline="13333" dirty="0">
                <a:latin typeface="Calibri"/>
                <a:cs typeface="Calibri"/>
              </a:rPr>
              <a:t>.</a:t>
            </a:r>
            <a:r>
              <a:rPr sz="2500" dirty="0">
                <a:latin typeface="Microsoft Sans Serif"/>
                <a:cs typeface="Microsoft Sans Serif"/>
              </a:rPr>
              <a:t> </a:t>
            </a:r>
            <a:endParaRPr sz="2500">
              <a:latin typeface="Microsoft Sans Serif"/>
              <a:cs typeface="Microsoft Sans Serif"/>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407873"/>
            <a:ext cx="8134350" cy="4766945"/>
          </a:xfrm>
          <a:prstGeom prst="rect">
            <a:avLst/>
          </a:prstGeom>
        </p:spPr>
        <p:txBody>
          <a:bodyPr vert="horz" wrap="square" lIns="0" tIns="12065" rIns="0" bIns="0" rtlCol="0">
            <a:spAutoFit/>
          </a:bodyPr>
          <a:lstStyle/>
          <a:p>
            <a:pPr marL="354330" indent="-342265">
              <a:lnSpc>
                <a:spcPts val="3745"/>
              </a:lnSpc>
              <a:spcBef>
                <a:spcPts val="95"/>
              </a:spcBef>
              <a:buClr>
                <a:srgbClr val="C00000"/>
              </a:buClr>
              <a:buFont typeface="Microsoft Sans Serif"/>
              <a:buChar char="•"/>
              <a:tabLst>
                <a:tab pos="353695" algn="l"/>
                <a:tab pos="354965" algn="l"/>
              </a:tabLst>
            </a:pPr>
            <a:r>
              <a:rPr sz="3200" b="1" spc="-5" dirty="0">
                <a:solidFill>
                  <a:srgbClr val="C00000"/>
                </a:solidFill>
                <a:latin typeface="Calibri"/>
                <a:cs typeface="Calibri"/>
              </a:rPr>
              <a:t>Reference</a:t>
            </a:r>
            <a:r>
              <a:rPr sz="3200" b="1" spc="-160" dirty="0">
                <a:solidFill>
                  <a:srgbClr val="C00000"/>
                </a:solidFill>
                <a:latin typeface="Calibri"/>
                <a:cs typeface="Calibri"/>
              </a:rPr>
              <a:t> </a:t>
            </a:r>
            <a:r>
              <a:rPr sz="3200" b="1" spc="-5" dirty="0">
                <a:solidFill>
                  <a:srgbClr val="C00000"/>
                </a:solidFill>
                <a:latin typeface="Calibri"/>
                <a:cs typeface="Calibri"/>
              </a:rPr>
              <a:t>electrode:</a:t>
            </a:r>
            <a:r>
              <a:rPr sz="3200" b="1" spc="-45" dirty="0">
                <a:solidFill>
                  <a:srgbClr val="C00000"/>
                </a:solidFill>
                <a:latin typeface="Arial"/>
                <a:cs typeface="Arial"/>
              </a:rPr>
              <a:t> </a:t>
            </a:r>
            <a:endParaRPr sz="3200">
              <a:latin typeface="Arial"/>
              <a:cs typeface="Arial"/>
            </a:endParaRPr>
          </a:p>
          <a:p>
            <a:pPr marL="354330" marR="5080" indent="73025">
              <a:lnSpc>
                <a:spcPts val="2780"/>
              </a:lnSpc>
              <a:spcBef>
                <a:spcPts val="280"/>
              </a:spcBef>
            </a:pPr>
            <a:r>
              <a:rPr sz="2600" spc="-5" dirty="0">
                <a:latin typeface="Calibri"/>
                <a:cs typeface="Calibri"/>
              </a:rPr>
              <a:t>Reference</a:t>
            </a:r>
            <a:r>
              <a:rPr sz="2600" spc="-60" dirty="0">
                <a:latin typeface="Calibri"/>
                <a:cs typeface="Calibri"/>
              </a:rPr>
              <a:t> </a:t>
            </a:r>
            <a:r>
              <a:rPr sz="2600" spc="-5" dirty="0">
                <a:latin typeface="Calibri"/>
                <a:cs typeface="Calibri"/>
              </a:rPr>
              <a:t>electrode</a:t>
            </a:r>
            <a:r>
              <a:rPr sz="2600" spc="-65" dirty="0">
                <a:latin typeface="Calibri"/>
                <a:cs typeface="Calibri"/>
              </a:rPr>
              <a:t> </a:t>
            </a:r>
            <a:r>
              <a:rPr sz="2600" spc="-5" dirty="0">
                <a:latin typeface="Calibri"/>
                <a:cs typeface="Calibri"/>
              </a:rPr>
              <a:t>is</a:t>
            </a:r>
            <a:r>
              <a:rPr sz="2600" spc="-70" dirty="0">
                <a:latin typeface="Calibri"/>
                <a:cs typeface="Calibri"/>
              </a:rPr>
              <a:t> </a:t>
            </a:r>
            <a:r>
              <a:rPr sz="2600" spc="-5" dirty="0">
                <a:latin typeface="Calibri"/>
                <a:cs typeface="Calibri"/>
              </a:rPr>
              <a:t>defined</a:t>
            </a:r>
            <a:r>
              <a:rPr sz="2600" spc="-65" dirty="0">
                <a:latin typeface="Calibri"/>
                <a:cs typeface="Calibri"/>
              </a:rPr>
              <a:t> </a:t>
            </a:r>
            <a:r>
              <a:rPr sz="2600" dirty="0">
                <a:latin typeface="Calibri"/>
                <a:cs typeface="Calibri"/>
              </a:rPr>
              <a:t>as</a:t>
            </a:r>
            <a:r>
              <a:rPr sz="2600" spc="-40" dirty="0">
                <a:latin typeface="Calibri"/>
                <a:cs typeface="Calibri"/>
              </a:rPr>
              <a:t> </a:t>
            </a:r>
            <a:r>
              <a:rPr sz="2600" spc="-5" dirty="0">
                <a:latin typeface="Calibri"/>
                <a:cs typeface="Calibri"/>
              </a:rPr>
              <a:t>the</a:t>
            </a:r>
            <a:r>
              <a:rPr sz="2600" spc="-55" dirty="0">
                <a:latin typeface="Calibri"/>
                <a:cs typeface="Calibri"/>
              </a:rPr>
              <a:t> </a:t>
            </a:r>
            <a:r>
              <a:rPr sz="2600" dirty="0">
                <a:latin typeface="Calibri"/>
                <a:cs typeface="Calibri"/>
              </a:rPr>
              <a:t>electrode</a:t>
            </a:r>
            <a:r>
              <a:rPr sz="2600" spc="-70" dirty="0">
                <a:latin typeface="Calibri"/>
                <a:cs typeface="Calibri"/>
              </a:rPr>
              <a:t> </a:t>
            </a:r>
            <a:r>
              <a:rPr sz="2600" spc="-5" dirty="0">
                <a:latin typeface="Calibri"/>
                <a:cs typeface="Calibri"/>
              </a:rPr>
              <a:t>which</a:t>
            </a:r>
            <a:r>
              <a:rPr sz="2600" spc="-50" dirty="0">
                <a:latin typeface="Calibri"/>
                <a:cs typeface="Calibri"/>
              </a:rPr>
              <a:t> </a:t>
            </a:r>
            <a:r>
              <a:rPr sz="2600" spc="-5" dirty="0">
                <a:latin typeface="Calibri"/>
                <a:cs typeface="Calibri"/>
              </a:rPr>
              <a:t>has </a:t>
            </a:r>
            <a:r>
              <a:rPr sz="2600" spc="-570" dirty="0">
                <a:latin typeface="Calibri"/>
                <a:cs typeface="Calibri"/>
              </a:rPr>
              <a:t> </a:t>
            </a:r>
            <a:r>
              <a:rPr sz="2600" spc="-5" dirty="0">
                <a:solidFill>
                  <a:srgbClr val="C00000"/>
                </a:solidFill>
                <a:latin typeface="Calibri"/>
                <a:cs typeface="Calibri"/>
              </a:rPr>
              <a:t>stable</a:t>
            </a:r>
            <a:r>
              <a:rPr sz="2600" dirty="0">
                <a:solidFill>
                  <a:srgbClr val="C00000"/>
                </a:solidFill>
                <a:latin typeface="Calibri"/>
                <a:cs typeface="Calibri"/>
              </a:rPr>
              <a:t> </a:t>
            </a:r>
            <a:r>
              <a:rPr sz="2600" spc="-5" dirty="0">
                <a:solidFill>
                  <a:srgbClr val="C00000"/>
                </a:solidFill>
                <a:latin typeface="Calibri"/>
                <a:cs typeface="Calibri"/>
              </a:rPr>
              <a:t>and reproducible</a:t>
            </a:r>
            <a:r>
              <a:rPr sz="2600" dirty="0">
                <a:solidFill>
                  <a:srgbClr val="C00000"/>
                </a:solidFill>
                <a:latin typeface="Calibri"/>
                <a:cs typeface="Calibri"/>
              </a:rPr>
              <a:t> </a:t>
            </a:r>
            <a:r>
              <a:rPr sz="2600" spc="-5" dirty="0">
                <a:solidFill>
                  <a:srgbClr val="C00000"/>
                </a:solidFill>
                <a:latin typeface="Calibri"/>
                <a:cs typeface="Calibri"/>
              </a:rPr>
              <a:t>potential</a:t>
            </a:r>
            <a:r>
              <a:rPr sz="2600" spc="15" dirty="0">
                <a:solidFill>
                  <a:srgbClr val="C00000"/>
                </a:solidFill>
                <a:latin typeface="Calibri"/>
                <a:cs typeface="Calibri"/>
              </a:rPr>
              <a:t> </a:t>
            </a:r>
            <a:r>
              <a:rPr sz="2600" spc="-5" dirty="0">
                <a:latin typeface="Calibri"/>
                <a:cs typeface="Calibri"/>
              </a:rPr>
              <a:t>and</a:t>
            </a:r>
            <a:r>
              <a:rPr sz="2600" dirty="0">
                <a:latin typeface="Calibri"/>
                <a:cs typeface="Calibri"/>
              </a:rPr>
              <a:t> completes</a:t>
            </a:r>
            <a:r>
              <a:rPr sz="2600" spc="-20" dirty="0">
                <a:latin typeface="Calibri"/>
                <a:cs typeface="Calibri"/>
              </a:rPr>
              <a:t> </a:t>
            </a:r>
            <a:r>
              <a:rPr sz="2600" spc="-5" dirty="0">
                <a:latin typeface="Calibri"/>
                <a:cs typeface="Calibri"/>
              </a:rPr>
              <a:t>the</a:t>
            </a:r>
            <a:r>
              <a:rPr sz="2600" spc="10" dirty="0">
                <a:latin typeface="Calibri"/>
                <a:cs typeface="Calibri"/>
              </a:rPr>
              <a:t> </a:t>
            </a:r>
            <a:r>
              <a:rPr sz="2600" spc="-5" dirty="0">
                <a:latin typeface="Calibri"/>
                <a:cs typeface="Calibri"/>
              </a:rPr>
              <a:t>cell </a:t>
            </a:r>
            <a:r>
              <a:rPr sz="2600" dirty="0">
                <a:latin typeface="Calibri"/>
                <a:cs typeface="Calibri"/>
              </a:rPr>
              <a:t> </a:t>
            </a:r>
            <a:r>
              <a:rPr sz="2600" spc="-5" dirty="0">
                <a:latin typeface="Calibri"/>
                <a:cs typeface="Calibri"/>
              </a:rPr>
              <a:t>acting</a:t>
            </a:r>
            <a:r>
              <a:rPr sz="2600" spc="-30" dirty="0">
                <a:latin typeface="Calibri"/>
                <a:cs typeface="Calibri"/>
              </a:rPr>
              <a:t> </a:t>
            </a:r>
            <a:r>
              <a:rPr sz="2600" spc="-5" dirty="0">
                <a:latin typeface="Calibri"/>
                <a:cs typeface="Calibri"/>
              </a:rPr>
              <a:t>as</a:t>
            </a:r>
            <a:r>
              <a:rPr sz="2600" spc="-15" dirty="0">
                <a:latin typeface="Calibri"/>
                <a:cs typeface="Calibri"/>
              </a:rPr>
              <a:t> </a:t>
            </a:r>
            <a:r>
              <a:rPr sz="2600" spc="-5" dirty="0">
                <a:latin typeface="Calibri"/>
                <a:cs typeface="Calibri"/>
              </a:rPr>
              <a:t>half</a:t>
            </a:r>
            <a:r>
              <a:rPr sz="2600" spc="-30" dirty="0">
                <a:latin typeface="Calibri"/>
                <a:cs typeface="Calibri"/>
              </a:rPr>
              <a:t> </a:t>
            </a:r>
            <a:r>
              <a:rPr sz="2600" spc="-5" dirty="0">
                <a:latin typeface="Calibri"/>
                <a:cs typeface="Calibri"/>
              </a:rPr>
              <a:t>cell.</a:t>
            </a:r>
            <a:endParaRPr sz="2600">
              <a:latin typeface="Calibri"/>
              <a:cs typeface="Calibri"/>
            </a:endParaRPr>
          </a:p>
          <a:p>
            <a:pPr marL="427355">
              <a:lnSpc>
                <a:spcPts val="2625"/>
              </a:lnSpc>
            </a:pPr>
            <a:r>
              <a:rPr sz="2600" spc="-5" dirty="0">
                <a:latin typeface="Calibri"/>
                <a:cs typeface="Calibri"/>
              </a:rPr>
              <a:t>Purpose</a:t>
            </a:r>
            <a:r>
              <a:rPr sz="2600" spc="-90" dirty="0">
                <a:latin typeface="Calibri"/>
                <a:cs typeface="Calibri"/>
              </a:rPr>
              <a:t> </a:t>
            </a:r>
            <a:r>
              <a:rPr sz="2600" spc="-5" dirty="0">
                <a:latin typeface="Calibri"/>
                <a:cs typeface="Calibri"/>
              </a:rPr>
              <a:t>of</a:t>
            </a:r>
            <a:r>
              <a:rPr sz="2600" spc="-65" dirty="0">
                <a:latin typeface="Calibri"/>
                <a:cs typeface="Calibri"/>
              </a:rPr>
              <a:t> </a:t>
            </a:r>
            <a:r>
              <a:rPr sz="2600" spc="-5" dirty="0">
                <a:latin typeface="Calibri"/>
                <a:cs typeface="Calibri"/>
              </a:rPr>
              <a:t>reference</a:t>
            </a:r>
            <a:r>
              <a:rPr sz="2600" spc="-70" dirty="0">
                <a:latin typeface="Calibri"/>
                <a:cs typeface="Calibri"/>
              </a:rPr>
              <a:t> </a:t>
            </a:r>
            <a:r>
              <a:rPr sz="2600" spc="-5" dirty="0">
                <a:latin typeface="Calibri"/>
                <a:cs typeface="Calibri"/>
              </a:rPr>
              <a:t>electrode</a:t>
            </a:r>
            <a:endParaRPr sz="2600">
              <a:latin typeface="Calibri"/>
              <a:cs typeface="Calibri"/>
            </a:endParaRPr>
          </a:p>
          <a:p>
            <a:pPr marL="753110" lvl="1" indent="-326390">
              <a:lnSpc>
                <a:spcPts val="2870"/>
              </a:lnSpc>
              <a:buAutoNum type="arabicPeriod"/>
              <a:tabLst>
                <a:tab pos="753745" algn="l"/>
              </a:tabLst>
            </a:pPr>
            <a:r>
              <a:rPr sz="2600" spc="-5" dirty="0">
                <a:latin typeface="Calibri"/>
                <a:cs typeface="Calibri"/>
              </a:rPr>
              <a:t>to</a:t>
            </a:r>
            <a:r>
              <a:rPr sz="2600" spc="-50" dirty="0">
                <a:latin typeface="Calibri"/>
                <a:cs typeface="Calibri"/>
              </a:rPr>
              <a:t> </a:t>
            </a:r>
            <a:r>
              <a:rPr sz="2600" spc="-5" dirty="0">
                <a:latin typeface="Calibri"/>
                <a:cs typeface="Calibri"/>
              </a:rPr>
              <a:t>complete</a:t>
            </a:r>
            <a:r>
              <a:rPr sz="2600" spc="-45" dirty="0">
                <a:latin typeface="Calibri"/>
                <a:cs typeface="Calibri"/>
              </a:rPr>
              <a:t> </a:t>
            </a:r>
            <a:r>
              <a:rPr sz="2600" spc="-5" dirty="0">
                <a:latin typeface="Calibri"/>
                <a:cs typeface="Calibri"/>
              </a:rPr>
              <a:t>the</a:t>
            </a:r>
            <a:r>
              <a:rPr sz="2600" spc="-40" dirty="0">
                <a:latin typeface="Calibri"/>
                <a:cs typeface="Calibri"/>
              </a:rPr>
              <a:t> </a:t>
            </a:r>
            <a:r>
              <a:rPr sz="2600" spc="-5" dirty="0">
                <a:latin typeface="Calibri"/>
                <a:cs typeface="Calibri"/>
              </a:rPr>
              <a:t>cell</a:t>
            </a:r>
            <a:endParaRPr sz="2600">
              <a:latin typeface="Calibri"/>
              <a:cs typeface="Calibri"/>
            </a:endParaRPr>
          </a:p>
          <a:p>
            <a:pPr marL="753110" lvl="1" indent="-326390">
              <a:lnSpc>
                <a:spcPts val="3025"/>
              </a:lnSpc>
              <a:buAutoNum type="arabicPeriod"/>
              <a:tabLst>
                <a:tab pos="753745" algn="l"/>
              </a:tabLst>
            </a:pPr>
            <a:r>
              <a:rPr sz="2600" spc="-5" dirty="0">
                <a:latin typeface="Calibri"/>
                <a:cs typeface="Calibri"/>
              </a:rPr>
              <a:t>provide</a:t>
            </a:r>
            <a:r>
              <a:rPr sz="2600" spc="-90" dirty="0">
                <a:latin typeface="Calibri"/>
                <a:cs typeface="Calibri"/>
              </a:rPr>
              <a:t> </a:t>
            </a:r>
            <a:r>
              <a:rPr sz="2600" spc="-5" dirty="0">
                <a:latin typeface="Calibri"/>
                <a:cs typeface="Calibri"/>
              </a:rPr>
              <a:t>stable</a:t>
            </a:r>
            <a:r>
              <a:rPr sz="2600" spc="-100" dirty="0">
                <a:latin typeface="Calibri"/>
                <a:cs typeface="Calibri"/>
              </a:rPr>
              <a:t> </a:t>
            </a:r>
            <a:r>
              <a:rPr sz="2600" dirty="0">
                <a:latin typeface="Calibri"/>
                <a:cs typeface="Calibri"/>
              </a:rPr>
              <a:t>potential</a:t>
            </a:r>
            <a:endParaRPr sz="2600">
              <a:latin typeface="Calibri"/>
              <a:cs typeface="Calibri"/>
            </a:endParaRPr>
          </a:p>
          <a:p>
            <a:pPr marL="354330" marR="76835" lvl="1" indent="30480">
              <a:lnSpc>
                <a:spcPts val="2810"/>
              </a:lnSpc>
              <a:spcBef>
                <a:spcPts val="565"/>
              </a:spcBef>
              <a:buAutoNum type="arabicPeriod"/>
              <a:tabLst>
                <a:tab pos="711200" algn="l"/>
              </a:tabLst>
            </a:pPr>
            <a:r>
              <a:rPr sz="2600" spc="-5" dirty="0">
                <a:latin typeface="Calibri"/>
                <a:cs typeface="Calibri"/>
              </a:rPr>
              <a:t>returns</a:t>
            </a:r>
            <a:r>
              <a:rPr sz="2600" spc="-55" dirty="0">
                <a:latin typeface="Calibri"/>
                <a:cs typeface="Calibri"/>
              </a:rPr>
              <a:t> </a:t>
            </a:r>
            <a:r>
              <a:rPr sz="2600" spc="-5" dirty="0">
                <a:latin typeface="Calibri"/>
                <a:cs typeface="Calibri"/>
              </a:rPr>
              <a:t>to</a:t>
            </a:r>
            <a:r>
              <a:rPr sz="2600" spc="-30" dirty="0">
                <a:latin typeface="Calibri"/>
                <a:cs typeface="Calibri"/>
              </a:rPr>
              <a:t> </a:t>
            </a:r>
            <a:r>
              <a:rPr sz="2600" spc="-5" dirty="0">
                <a:latin typeface="Calibri"/>
                <a:cs typeface="Calibri"/>
              </a:rPr>
              <a:t>its</a:t>
            </a:r>
            <a:r>
              <a:rPr sz="2600" spc="-20" dirty="0">
                <a:latin typeface="Calibri"/>
                <a:cs typeface="Calibri"/>
              </a:rPr>
              <a:t> </a:t>
            </a:r>
            <a:r>
              <a:rPr sz="2600" spc="-5" dirty="0">
                <a:latin typeface="Calibri"/>
                <a:cs typeface="Calibri"/>
              </a:rPr>
              <a:t>original</a:t>
            </a:r>
            <a:r>
              <a:rPr sz="2600" spc="-10" dirty="0">
                <a:latin typeface="Calibri"/>
                <a:cs typeface="Calibri"/>
              </a:rPr>
              <a:t> </a:t>
            </a:r>
            <a:r>
              <a:rPr sz="2600" spc="-5" dirty="0">
                <a:latin typeface="Calibri"/>
                <a:cs typeface="Calibri"/>
              </a:rPr>
              <a:t>potential</a:t>
            </a:r>
            <a:r>
              <a:rPr sz="2600" spc="-15" dirty="0">
                <a:latin typeface="Calibri"/>
                <a:cs typeface="Calibri"/>
              </a:rPr>
              <a:t> </a:t>
            </a:r>
            <a:r>
              <a:rPr sz="2600" spc="-5" dirty="0">
                <a:latin typeface="Calibri"/>
                <a:cs typeface="Calibri"/>
              </a:rPr>
              <a:t>after</a:t>
            </a:r>
            <a:r>
              <a:rPr sz="2600" spc="-40" dirty="0">
                <a:latin typeface="Calibri"/>
                <a:cs typeface="Calibri"/>
              </a:rPr>
              <a:t> </a:t>
            </a:r>
            <a:r>
              <a:rPr sz="2600" spc="-5" dirty="0">
                <a:latin typeface="Calibri"/>
                <a:cs typeface="Calibri"/>
              </a:rPr>
              <a:t>being</a:t>
            </a:r>
            <a:r>
              <a:rPr sz="2600" spc="-50" dirty="0">
                <a:latin typeface="Calibri"/>
                <a:cs typeface="Calibri"/>
              </a:rPr>
              <a:t> </a:t>
            </a:r>
            <a:r>
              <a:rPr sz="2600" spc="-5" dirty="0">
                <a:latin typeface="Calibri"/>
                <a:cs typeface="Calibri"/>
              </a:rPr>
              <a:t>subjected</a:t>
            </a:r>
            <a:r>
              <a:rPr sz="2600" spc="-60" dirty="0">
                <a:latin typeface="Calibri"/>
                <a:cs typeface="Calibri"/>
              </a:rPr>
              <a:t> </a:t>
            </a:r>
            <a:r>
              <a:rPr sz="2600" spc="-10" dirty="0">
                <a:latin typeface="Calibri"/>
                <a:cs typeface="Calibri"/>
              </a:rPr>
              <a:t>to </a:t>
            </a:r>
            <a:r>
              <a:rPr sz="2600" spc="-570" dirty="0">
                <a:latin typeface="Calibri"/>
                <a:cs typeface="Calibri"/>
              </a:rPr>
              <a:t> </a:t>
            </a:r>
            <a:r>
              <a:rPr sz="2600" spc="-10" dirty="0">
                <a:latin typeface="Calibri"/>
                <a:cs typeface="Calibri"/>
              </a:rPr>
              <a:t>small</a:t>
            </a:r>
            <a:r>
              <a:rPr sz="2600" spc="-30" dirty="0">
                <a:latin typeface="Calibri"/>
                <a:cs typeface="Calibri"/>
              </a:rPr>
              <a:t> </a:t>
            </a:r>
            <a:r>
              <a:rPr sz="2600" dirty="0">
                <a:latin typeface="Calibri"/>
                <a:cs typeface="Calibri"/>
              </a:rPr>
              <a:t>currents</a:t>
            </a:r>
            <a:endParaRPr sz="2600">
              <a:latin typeface="Calibri"/>
              <a:cs typeface="Calibri"/>
            </a:endParaRPr>
          </a:p>
          <a:p>
            <a:pPr marL="12700">
              <a:lnSpc>
                <a:spcPct val="100000"/>
              </a:lnSpc>
              <a:spcBef>
                <a:spcPts val="270"/>
              </a:spcBef>
            </a:pPr>
            <a:r>
              <a:rPr sz="2600" spc="-5" dirty="0">
                <a:latin typeface="Calibri"/>
                <a:cs typeface="Calibri"/>
              </a:rPr>
              <a:t>Typ</a:t>
            </a:r>
            <a:r>
              <a:rPr sz="2600" dirty="0">
                <a:latin typeface="Calibri"/>
                <a:cs typeface="Calibri"/>
              </a:rPr>
              <a:t>e</a:t>
            </a:r>
            <a:r>
              <a:rPr sz="2600" spc="-5" dirty="0">
                <a:latin typeface="Calibri"/>
                <a:cs typeface="Calibri"/>
              </a:rPr>
              <a:t>s</a:t>
            </a:r>
            <a:r>
              <a:rPr sz="2600" spc="-135" dirty="0">
                <a:latin typeface="Calibri"/>
                <a:cs typeface="Calibri"/>
              </a:rPr>
              <a:t> </a:t>
            </a:r>
            <a:r>
              <a:rPr sz="2600" spc="-10" dirty="0">
                <a:latin typeface="Calibri"/>
                <a:cs typeface="Calibri"/>
              </a:rPr>
              <a:t>o</a:t>
            </a:r>
            <a:r>
              <a:rPr sz="2600" spc="-5" dirty="0">
                <a:latin typeface="Calibri"/>
                <a:cs typeface="Calibri"/>
              </a:rPr>
              <a:t>f</a:t>
            </a:r>
            <a:r>
              <a:rPr sz="2600" spc="-85" dirty="0">
                <a:latin typeface="Calibri"/>
                <a:cs typeface="Calibri"/>
              </a:rPr>
              <a:t> </a:t>
            </a:r>
            <a:r>
              <a:rPr sz="2600" spc="-5" dirty="0">
                <a:latin typeface="Calibri"/>
                <a:cs typeface="Calibri"/>
              </a:rPr>
              <a:t>R</a:t>
            </a:r>
            <a:r>
              <a:rPr sz="2600" dirty="0">
                <a:latin typeface="Calibri"/>
                <a:cs typeface="Calibri"/>
              </a:rPr>
              <a:t>e</a:t>
            </a:r>
            <a:r>
              <a:rPr sz="2600" spc="-10" dirty="0">
                <a:latin typeface="Calibri"/>
                <a:cs typeface="Calibri"/>
              </a:rPr>
              <a:t>fe</a:t>
            </a:r>
            <a:r>
              <a:rPr sz="2600" dirty="0">
                <a:latin typeface="Calibri"/>
                <a:cs typeface="Calibri"/>
              </a:rPr>
              <a:t>r</a:t>
            </a:r>
            <a:r>
              <a:rPr sz="2600" spc="-5" dirty="0">
                <a:latin typeface="Calibri"/>
                <a:cs typeface="Calibri"/>
              </a:rPr>
              <a:t>e</a:t>
            </a:r>
            <a:r>
              <a:rPr sz="2600" dirty="0">
                <a:latin typeface="Calibri"/>
                <a:cs typeface="Calibri"/>
              </a:rPr>
              <a:t>n</a:t>
            </a:r>
            <a:r>
              <a:rPr sz="2600" spc="-5" dirty="0">
                <a:latin typeface="Calibri"/>
                <a:cs typeface="Calibri"/>
              </a:rPr>
              <a:t>ce</a:t>
            </a:r>
            <a:r>
              <a:rPr sz="2600" spc="-110" dirty="0">
                <a:latin typeface="Calibri"/>
                <a:cs typeface="Calibri"/>
              </a:rPr>
              <a:t> </a:t>
            </a:r>
            <a:r>
              <a:rPr sz="2600" spc="-10" dirty="0">
                <a:latin typeface="Calibri"/>
                <a:cs typeface="Calibri"/>
              </a:rPr>
              <a:t>E</a:t>
            </a:r>
            <a:r>
              <a:rPr sz="2600" dirty="0">
                <a:latin typeface="Calibri"/>
                <a:cs typeface="Calibri"/>
              </a:rPr>
              <a:t>l</a:t>
            </a:r>
            <a:r>
              <a:rPr sz="2600" spc="-25" dirty="0">
                <a:latin typeface="Calibri"/>
                <a:cs typeface="Calibri"/>
              </a:rPr>
              <a:t>e</a:t>
            </a:r>
            <a:r>
              <a:rPr sz="2600" spc="-5" dirty="0">
                <a:latin typeface="Calibri"/>
                <a:cs typeface="Calibri"/>
              </a:rPr>
              <a:t>ct</a:t>
            </a:r>
            <a:r>
              <a:rPr sz="2600" dirty="0">
                <a:latin typeface="Calibri"/>
                <a:cs typeface="Calibri"/>
              </a:rPr>
              <a:t>r</a:t>
            </a:r>
            <a:r>
              <a:rPr sz="2600" spc="-10" dirty="0">
                <a:latin typeface="Calibri"/>
                <a:cs typeface="Calibri"/>
              </a:rPr>
              <a:t>od</a:t>
            </a:r>
            <a:r>
              <a:rPr sz="2600" dirty="0">
                <a:latin typeface="Calibri"/>
                <a:cs typeface="Calibri"/>
              </a:rPr>
              <a:t>e</a:t>
            </a:r>
            <a:r>
              <a:rPr sz="2600" spc="-5" dirty="0">
                <a:latin typeface="Calibri"/>
                <a:cs typeface="Calibri"/>
              </a:rPr>
              <a:t>s</a:t>
            </a:r>
            <a:endParaRPr sz="2600">
              <a:latin typeface="Calibri"/>
              <a:cs typeface="Calibri"/>
            </a:endParaRPr>
          </a:p>
          <a:p>
            <a:pPr marL="527685" indent="-515620">
              <a:lnSpc>
                <a:spcPct val="100000"/>
              </a:lnSpc>
              <a:spcBef>
                <a:spcPts val="315"/>
              </a:spcBef>
              <a:buAutoNum type="arabicParenR"/>
              <a:tabLst>
                <a:tab pos="527685" algn="l"/>
                <a:tab pos="528320" algn="l"/>
              </a:tabLst>
            </a:pPr>
            <a:r>
              <a:rPr sz="2600" dirty="0">
                <a:latin typeface="Calibri"/>
                <a:cs typeface="Calibri"/>
              </a:rPr>
              <a:t>Standard</a:t>
            </a:r>
            <a:r>
              <a:rPr sz="2600" spc="-114" dirty="0">
                <a:latin typeface="Calibri"/>
                <a:cs typeface="Calibri"/>
              </a:rPr>
              <a:t> </a:t>
            </a:r>
            <a:r>
              <a:rPr sz="2600" spc="-5" dirty="0">
                <a:latin typeface="Calibri"/>
                <a:cs typeface="Calibri"/>
              </a:rPr>
              <a:t>hydrogen</a:t>
            </a:r>
            <a:r>
              <a:rPr sz="2600" spc="-105" dirty="0">
                <a:latin typeface="Calibri"/>
                <a:cs typeface="Calibri"/>
              </a:rPr>
              <a:t> </a:t>
            </a:r>
            <a:r>
              <a:rPr sz="2600" spc="-5" dirty="0">
                <a:latin typeface="Calibri"/>
                <a:cs typeface="Calibri"/>
              </a:rPr>
              <a:t>Electrode</a:t>
            </a:r>
            <a:endParaRPr sz="2600">
              <a:latin typeface="Calibri"/>
              <a:cs typeface="Calibri"/>
            </a:endParaRPr>
          </a:p>
          <a:p>
            <a:pPr marL="527685" indent="-515620">
              <a:lnSpc>
                <a:spcPct val="100000"/>
              </a:lnSpc>
              <a:spcBef>
                <a:spcPts val="315"/>
              </a:spcBef>
              <a:buAutoNum type="arabicParenR"/>
              <a:tabLst>
                <a:tab pos="527685" algn="l"/>
                <a:tab pos="528320" algn="l"/>
              </a:tabLst>
            </a:pPr>
            <a:r>
              <a:rPr sz="2600" spc="-5" dirty="0">
                <a:latin typeface="Calibri"/>
                <a:cs typeface="Calibri"/>
              </a:rPr>
              <a:t>Saturated</a:t>
            </a:r>
            <a:r>
              <a:rPr sz="2600" spc="-95" dirty="0">
                <a:latin typeface="Calibri"/>
                <a:cs typeface="Calibri"/>
              </a:rPr>
              <a:t> </a:t>
            </a:r>
            <a:r>
              <a:rPr sz="2600" spc="-5" dirty="0">
                <a:latin typeface="Calibri"/>
                <a:cs typeface="Calibri"/>
              </a:rPr>
              <a:t>Calomel</a:t>
            </a:r>
            <a:r>
              <a:rPr sz="2600" spc="-75" dirty="0">
                <a:latin typeface="Calibri"/>
                <a:cs typeface="Calibri"/>
              </a:rPr>
              <a:t> </a:t>
            </a:r>
            <a:r>
              <a:rPr sz="2600" spc="-5" dirty="0">
                <a:latin typeface="Calibri"/>
                <a:cs typeface="Calibri"/>
              </a:rPr>
              <a:t>Electrode</a:t>
            </a:r>
            <a:endParaRPr sz="260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60044" y="413969"/>
            <a:ext cx="8077834" cy="4102662"/>
          </a:xfrm>
          <a:prstGeom prst="rect">
            <a:avLst/>
          </a:prstGeom>
        </p:spPr>
        <p:txBody>
          <a:bodyPr vert="horz" wrap="square" lIns="0" tIns="68580" rIns="0" bIns="0" rtlCol="0">
            <a:spAutoFit/>
          </a:bodyPr>
          <a:lstStyle/>
          <a:p>
            <a:pPr marL="353695" marR="1193165" indent="-341630" algn="just">
              <a:lnSpc>
                <a:spcPts val="3440"/>
              </a:lnSpc>
              <a:spcBef>
                <a:spcPts val="540"/>
              </a:spcBef>
              <a:buFont typeface="Microsoft Sans Serif"/>
              <a:buChar char="•"/>
              <a:tabLst>
                <a:tab pos="354330" algn="l"/>
              </a:tabLst>
            </a:pPr>
            <a:r>
              <a:rPr sz="2400" spc="-5" dirty="0">
                <a:solidFill>
                  <a:srgbClr val="C00000"/>
                </a:solidFill>
                <a:cs typeface="Calibri"/>
              </a:rPr>
              <a:t>Difficulties </a:t>
            </a:r>
            <a:r>
              <a:rPr sz="2400" dirty="0">
                <a:solidFill>
                  <a:srgbClr val="C00000"/>
                </a:solidFill>
                <a:cs typeface="Calibri"/>
              </a:rPr>
              <a:t>in </a:t>
            </a:r>
            <a:r>
              <a:rPr sz="2400" spc="-10" dirty="0">
                <a:solidFill>
                  <a:srgbClr val="C00000"/>
                </a:solidFill>
                <a:cs typeface="Calibri"/>
              </a:rPr>
              <a:t>use </a:t>
            </a:r>
            <a:r>
              <a:rPr sz="2400" spc="-20" dirty="0">
                <a:solidFill>
                  <a:srgbClr val="C00000"/>
                </a:solidFill>
                <a:cs typeface="Calibri"/>
              </a:rPr>
              <a:t>of </a:t>
            </a:r>
            <a:r>
              <a:rPr sz="2400" spc="-10" dirty="0">
                <a:solidFill>
                  <a:srgbClr val="C00000"/>
                </a:solidFill>
                <a:cs typeface="Calibri"/>
              </a:rPr>
              <a:t>Standard </a:t>
            </a:r>
            <a:r>
              <a:rPr sz="2400" spc="-5" dirty="0">
                <a:solidFill>
                  <a:srgbClr val="C00000"/>
                </a:solidFill>
                <a:cs typeface="Calibri"/>
              </a:rPr>
              <a:t>Hydrogen </a:t>
            </a:r>
            <a:r>
              <a:rPr sz="2400" spc="-710" dirty="0">
                <a:solidFill>
                  <a:srgbClr val="C00000"/>
                </a:solidFill>
                <a:cs typeface="Calibri"/>
              </a:rPr>
              <a:t> </a:t>
            </a:r>
            <a:r>
              <a:rPr sz="2400" spc="-10" dirty="0">
                <a:solidFill>
                  <a:srgbClr val="C00000"/>
                </a:solidFill>
                <a:cs typeface="Calibri"/>
              </a:rPr>
              <a:t>Electrode</a:t>
            </a:r>
            <a:endParaRPr sz="2400">
              <a:cs typeface="Calibri"/>
            </a:endParaRPr>
          </a:p>
          <a:p>
            <a:pPr marL="527685" marR="892810" indent="-515620" algn="just">
              <a:lnSpc>
                <a:spcPct val="90400"/>
              </a:lnSpc>
              <a:spcBef>
                <a:spcPts val="725"/>
              </a:spcBef>
              <a:buAutoNum type="arabicParenR"/>
              <a:tabLst>
                <a:tab pos="528320" algn="l"/>
              </a:tabLst>
            </a:pPr>
            <a:r>
              <a:rPr sz="2400" dirty="0">
                <a:cs typeface="Calibri"/>
              </a:rPr>
              <a:t>Platinum </a:t>
            </a:r>
            <a:r>
              <a:rPr sz="2400" spc="-10" dirty="0">
                <a:cs typeface="Calibri"/>
              </a:rPr>
              <a:t>used </a:t>
            </a:r>
            <a:r>
              <a:rPr sz="2400" spc="-5" dirty="0">
                <a:cs typeface="Calibri"/>
              </a:rPr>
              <a:t>in it get contaminated </a:t>
            </a:r>
            <a:r>
              <a:rPr sz="2400" spc="-10" dirty="0">
                <a:cs typeface="Calibri"/>
              </a:rPr>
              <a:t>by </a:t>
            </a:r>
            <a:r>
              <a:rPr sz="2400" spc="-710" dirty="0">
                <a:cs typeface="Calibri"/>
              </a:rPr>
              <a:t> </a:t>
            </a:r>
            <a:r>
              <a:rPr sz="2400" spc="-5" dirty="0">
                <a:cs typeface="Calibri"/>
              </a:rPr>
              <a:t>impurities </a:t>
            </a:r>
            <a:r>
              <a:rPr sz="2400" dirty="0">
                <a:cs typeface="Calibri"/>
              </a:rPr>
              <a:t>in </a:t>
            </a:r>
            <a:r>
              <a:rPr sz="2400" spc="-10" dirty="0">
                <a:cs typeface="Calibri"/>
              </a:rPr>
              <a:t>solution </a:t>
            </a:r>
            <a:r>
              <a:rPr sz="2400" spc="-5" dirty="0">
                <a:cs typeface="Calibri"/>
              </a:rPr>
              <a:t>and gases. Creates </a:t>
            </a:r>
            <a:r>
              <a:rPr sz="2400" spc="-710" dirty="0">
                <a:cs typeface="Calibri"/>
              </a:rPr>
              <a:t> </a:t>
            </a:r>
            <a:r>
              <a:rPr sz="2400" spc="-5" dirty="0">
                <a:cs typeface="Calibri"/>
              </a:rPr>
              <a:t>difficulty</a:t>
            </a:r>
            <a:r>
              <a:rPr sz="2400" spc="5" dirty="0">
                <a:cs typeface="Calibri"/>
              </a:rPr>
              <a:t> </a:t>
            </a:r>
            <a:r>
              <a:rPr sz="2400" dirty="0">
                <a:cs typeface="Calibri"/>
              </a:rPr>
              <a:t>in</a:t>
            </a:r>
            <a:r>
              <a:rPr sz="2400" spc="-30" dirty="0">
                <a:cs typeface="Calibri"/>
              </a:rPr>
              <a:t> </a:t>
            </a:r>
            <a:r>
              <a:rPr sz="2400" dirty="0">
                <a:cs typeface="Calibri"/>
              </a:rPr>
              <a:t>attending</a:t>
            </a:r>
            <a:r>
              <a:rPr sz="2400" spc="30" dirty="0">
                <a:cs typeface="Calibri"/>
              </a:rPr>
              <a:t> </a:t>
            </a:r>
            <a:r>
              <a:rPr sz="2400" spc="-5" dirty="0">
                <a:cs typeface="Calibri"/>
              </a:rPr>
              <a:t>equilibrium.</a:t>
            </a:r>
            <a:endParaRPr sz="2400">
              <a:cs typeface="Calibri"/>
            </a:endParaRPr>
          </a:p>
          <a:p>
            <a:pPr marL="527685" marR="5080" indent="-515620">
              <a:lnSpc>
                <a:spcPts val="3429"/>
              </a:lnSpc>
              <a:spcBef>
                <a:spcPts val="795"/>
              </a:spcBef>
              <a:buAutoNum type="arabicParenR"/>
              <a:tabLst>
                <a:tab pos="527685" algn="l"/>
                <a:tab pos="528320" algn="l"/>
              </a:tabLst>
            </a:pPr>
            <a:r>
              <a:rPr sz="2400" spc="-10" dirty="0">
                <a:cs typeface="Calibri"/>
              </a:rPr>
              <a:t>The</a:t>
            </a:r>
            <a:r>
              <a:rPr sz="2400" spc="-80" dirty="0">
                <a:cs typeface="Calibri"/>
              </a:rPr>
              <a:t> </a:t>
            </a:r>
            <a:r>
              <a:rPr sz="2400" spc="-10" dirty="0">
                <a:cs typeface="Calibri"/>
              </a:rPr>
              <a:t>presence</a:t>
            </a:r>
            <a:r>
              <a:rPr sz="2400" spc="-80" dirty="0">
                <a:cs typeface="Calibri"/>
              </a:rPr>
              <a:t> </a:t>
            </a:r>
            <a:r>
              <a:rPr sz="2400" spc="-5" dirty="0">
                <a:cs typeface="Calibri"/>
              </a:rPr>
              <a:t>of</a:t>
            </a:r>
            <a:r>
              <a:rPr sz="2400" spc="-75" dirty="0">
                <a:cs typeface="Calibri"/>
              </a:rPr>
              <a:t> </a:t>
            </a:r>
            <a:r>
              <a:rPr sz="2400" dirty="0">
                <a:cs typeface="Calibri"/>
              </a:rPr>
              <a:t>oxidising</a:t>
            </a:r>
            <a:r>
              <a:rPr sz="2400" spc="-35" dirty="0">
                <a:cs typeface="Calibri"/>
              </a:rPr>
              <a:t> </a:t>
            </a:r>
            <a:r>
              <a:rPr sz="2400" spc="-5" dirty="0">
                <a:cs typeface="Calibri"/>
              </a:rPr>
              <a:t>agents,</a:t>
            </a:r>
            <a:r>
              <a:rPr sz="2400" spc="-85" dirty="0">
                <a:cs typeface="Calibri"/>
              </a:rPr>
              <a:t> </a:t>
            </a:r>
            <a:r>
              <a:rPr sz="2400" spc="-5" dirty="0">
                <a:cs typeface="Calibri"/>
              </a:rPr>
              <a:t>unsaturated </a:t>
            </a:r>
            <a:r>
              <a:rPr sz="2400" spc="-710" dirty="0">
                <a:cs typeface="Calibri"/>
              </a:rPr>
              <a:t> </a:t>
            </a:r>
            <a:r>
              <a:rPr sz="2400" spc="-5" dirty="0">
                <a:cs typeface="Calibri"/>
              </a:rPr>
              <a:t>organic</a:t>
            </a:r>
            <a:r>
              <a:rPr sz="2400" spc="-10" dirty="0">
                <a:cs typeface="Calibri"/>
              </a:rPr>
              <a:t> </a:t>
            </a:r>
            <a:r>
              <a:rPr sz="2400" spc="-5" dirty="0">
                <a:cs typeface="Calibri"/>
              </a:rPr>
              <a:t>compounds etc in</a:t>
            </a:r>
            <a:r>
              <a:rPr sz="2400" dirty="0">
                <a:cs typeface="Calibri"/>
              </a:rPr>
              <a:t> </a:t>
            </a:r>
            <a:r>
              <a:rPr sz="2400" spc="-5" dirty="0">
                <a:cs typeface="Calibri"/>
              </a:rPr>
              <a:t>solution</a:t>
            </a:r>
            <a:r>
              <a:rPr sz="2400" dirty="0">
                <a:cs typeface="Calibri"/>
              </a:rPr>
              <a:t> </a:t>
            </a:r>
            <a:r>
              <a:rPr sz="2400" spc="-5" dirty="0">
                <a:cs typeface="Calibri"/>
              </a:rPr>
              <a:t>displaces </a:t>
            </a:r>
            <a:r>
              <a:rPr sz="2400" dirty="0">
                <a:cs typeface="Calibri"/>
              </a:rPr>
              <a:t> </a:t>
            </a:r>
            <a:r>
              <a:rPr sz="2400" spc="-5" dirty="0">
                <a:cs typeface="Calibri"/>
              </a:rPr>
              <a:t>the</a:t>
            </a:r>
            <a:r>
              <a:rPr sz="2400" spc="-25" dirty="0">
                <a:cs typeface="Calibri"/>
              </a:rPr>
              <a:t> </a:t>
            </a:r>
            <a:r>
              <a:rPr sz="2400" spc="-5" dirty="0">
                <a:cs typeface="Calibri"/>
              </a:rPr>
              <a:t>equilibrium</a:t>
            </a:r>
            <a:r>
              <a:rPr sz="2400" spc="10" dirty="0">
                <a:cs typeface="Calibri"/>
              </a:rPr>
              <a:t> </a:t>
            </a:r>
            <a:r>
              <a:rPr sz="2400" spc="-5" dirty="0">
                <a:cs typeface="Calibri"/>
              </a:rPr>
              <a:t>and</a:t>
            </a:r>
            <a:r>
              <a:rPr sz="2400" spc="5" dirty="0">
                <a:cs typeface="Calibri"/>
              </a:rPr>
              <a:t> </a:t>
            </a:r>
            <a:r>
              <a:rPr sz="2400" spc="-5" dirty="0">
                <a:cs typeface="Calibri"/>
              </a:rPr>
              <a:t>alters</a:t>
            </a:r>
            <a:r>
              <a:rPr sz="2400" spc="5" dirty="0">
                <a:cs typeface="Calibri"/>
              </a:rPr>
              <a:t> </a:t>
            </a:r>
            <a:r>
              <a:rPr sz="2400" spc="-5" dirty="0">
                <a:cs typeface="Calibri"/>
              </a:rPr>
              <a:t>the</a:t>
            </a:r>
            <a:r>
              <a:rPr sz="2400" dirty="0">
                <a:cs typeface="Calibri"/>
              </a:rPr>
              <a:t> </a:t>
            </a:r>
            <a:r>
              <a:rPr sz="2400" spc="-5" dirty="0">
                <a:cs typeface="Calibri"/>
              </a:rPr>
              <a:t>potential.</a:t>
            </a:r>
            <a:endParaRPr sz="2400">
              <a:cs typeface="Calibri"/>
            </a:endParaRPr>
          </a:p>
          <a:p>
            <a:pPr marL="527685" marR="460375" indent="-515620">
              <a:lnSpc>
                <a:spcPct val="90000"/>
              </a:lnSpc>
              <a:spcBef>
                <a:spcPts val="780"/>
              </a:spcBef>
              <a:buAutoNum type="arabicParenR"/>
              <a:tabLst>
                <a:tab pos="527685" algn="l"/>
                <a:tab pos="528320" algn="l"/>
              </a:tabLst>
            </a:pPr>
            <a:r>
              <a:rPr sz="2400" dirty="0">
                <a:cs typeface="Calibri"/>
              </a:rPr>
              <a:t>It</a:t>
            </a:r>
            <a:r>
              <a:rPr sz="2400" spc="-20" dirty="0">
                <a:cs typeface="Calibri"/>
              </a:rPr>
              <a:t> </a:t>
            </a:r>
            <a:r>
              <a:rPr sz="2400" spc="-5" dirty="0">
                <a:cs typeface="Calibri"/>
              </a:rPr>
              <a:t>cannot</a:t>
            </a:r>
            <a:r>
              <a:rPr sz="2400" spc="-20" dirty="0">
                <a:cs typeface="Calibri"/>
              </a:rPr>
              <a:t> </a:t>
            </a:r>
            <a:r>
              <a:rPr sz="2400" spc="-5" dirty="0">
                <a:cs typeface="Calibri"/>
              </a:rPr>
              <a:t>be</a:t>
            </a:r>
            <a:r>
              <a:rPr sz="2400" spc="-40" dirty="0">
                <a:cs typeface="Calibri"/>
              </a:rPr>
              <a:t> </a:t>
            </a:r>
            <a:r>
              <a:rPr sz="2400" spc="-10" dirty="0">
                <a:cs typeface="Calibri"/>
              </a:rPr>
              <a:t>used</a:t>
            </a:r>
            <a:r>
              <a:rPr sz="2400" spc="-25" dirty="0">
                <a:cs typeface="Calibri"/>
              </a:rPr>
              <a:t> </a:t>
            </a:r>
            <a:r>
              <a:rPr sz="2400" dirty="0">
                <a:cs typeface="Calibri"/>
              </a:rPr>
              <a:t>frequently</a:t>
            </a:r>
            <a:r>
              <a:rPr sz="2400" spc="-35" dirty="0">
                <a:cs typeface="Calibri"/>
              </a:rPr>
              <a:t> </a:t>
            </a:r>
            <a:r>
              <a:rPr sz="2400" spc="-5" dirty="0">
                <a:cs typeface="Calibri"/>
              </a:rPr>
              <a:t>in</a:t>
            </a:r>
            <a:r>
              <a:rPr sz="2400" dirty="0">
                <a:cs typeface="Calibri"/>
              </a:rPr>
              <a:t> </a:t>
            </a:r>
            <a:r>
              <a:rPr sz="2400" spc="-5" dirty="0">
                <a:cs typeface="Calibri"/>
              </a:rPr>
              <a:t>presence</a:t>
            </a:r>
            <a:r>
              <a:rPr sz="2400" spc="-55" dirty="0">
                <a:cs typeface="Calibri"/>
              </a:rPr>
              <a:t> </a:t>
            </a:r>
            <a:r>
              <a:rPr sz="2400" spc="-10" dirty="0">
                <a:cs typeface="Calibri"/>
              </a:rPr>
              <a:t>of </a:t>
            </a:r>
            <a:r>
              <a:rPr sz="2400" spc="-710" dirty="0">
                <a:cs typeface="Calibri"/>
              </a:rPr>
              <a:t> </a:t>
            </a:r>
            <a:r>
              <a:rPr sz="2400" spc="-5" dirty="0">
                <a:cs typeface="Calibri"/>
              </a:rPr>
              <a:t>reducible ions</a:t>
            </a:r>
            <a:r>
              <a:rPr sz="2400" dirty="0">
                <a:cs typeface="Calibri"/>
              </a:rPr>
              <a:t> or</a:t>
            </a:r>
            <a:r>
              <a:rPr sz="2400" spc="-10" dirty="0">
                <a:cs typeface="Calibri"/>
              </a:rPr>
              <a:t> </a:t>
            </a:r>
            <a:r>
              <a:rPr sz="2400" spc="-5" dirty="0">
                <a:cs typeface="Calibri"/>
              </a:rPr>
              <a:t>substances </a:t>
            </a:r>
            <a:r>
              <a:rPr sz="2400" spc="-10" dirty="0">
                <a:cs typeface="Calibri"/>
              </a:rPr>
              <a:t>having</a:t>
            </a:r>
            <a:r>
              <a:rPr sz="2400" spc="10" dirty="0">
                <a:cs typeface="Calibri"/>
              </a:rPr>
              <a:t> </a:t>
            </a:r>
            <a:r>
              <a:rPr sz="2400" spc="-10" dirty="0">
                <a:cs typeface="Calibri"/>
              </a:rPr>
              <a:t>+ve </a:t>
            </a:r>
            <a:r>
              <a:rPr sz="2400" spc="-5" dirty="0">
                <a:cs typeface="Calibri"/>
              </a:rPr>
              <a:t> </a:t>
            </a:r>
            <a:r>
              <a:rPr sz="2400" spc="-10" dirty="0">
                <a:cs typeface="Calibri"/>
              </a:rPr>
              <a:t>electrode</a:t>
            </a:r>
            <a:r>
              <a:rPr sz="2400" spc="-30" dirty="0">
                <a:cs typeface="Calibri"/>
              </a:rPr>
              <a:t> </a:t>
            </a:r>
            <a:r>
              <a:rPr sz="2400" spc="-5" dirty="0">
                <a:cs typeface="Calibri"/>
              </a:rPr>
              <a:t>potential</a:t>
            </a:r>
            <a:r>
              <a:rPr sz="2400" spc="20" dirty="0">
                <a:cs typeface="Calibri"/>
              </a:rPr>
              <a:t> </a:t>
            </a:r>
            <a:r>
              <a:rPr sz="2400" spc="-10" dirty="0">
                <a:cs typeface="Calibri"/>
              </a:rPr>
              <a:t>such</a:t>
            </a:r>
            <a:r>
              <a:rPr sz="2400" spc="-30" dirty="0">
                <a:cs typeface="Calibri"/>
              </a:rPr>
              <a:t> </a:t>
            </a:r>
            <a:r>
              <a:rPr sz="2400" dirty="0">
                <a:cs typeface="Calibri"/>
              </a:rPr>
              <a:t>as</a:t>
            </a:r>
            <a:r>
              <a:rPr sz="2400" spc="-30" dirty="0">
                <a:cs typeface="Calibri"/>
              </a:rPr>
              <a:t> </a:t>
            </a:r>
            <a:r>
              <a:rPr sz="2400" spc="-10" dirty="0">
                <a:cs typeface="Calibri"/>
              </a:rPr>
              <a:t>Cu,</a:t>
            </a:r>
            <a:r>
              <a:rPr sz="2400" spc="-5" dirty="0">
                <a:cs typeface="Calibri"/>
              </a:rPr>
              <a:t> Ag,</a:t>
            </a:r>
            <a:r>
              <a:rPr sz="2400" dirty="0">
                <a:cs typeface="Calibri"/>
              </a:rPr>
              <a:t> </a:t>
            </a:r>
            <a:r>
              <a:rPr sz="2400" spc="5" dirty="0">
                <a:cs typeface="Calibri"/>
              </a:rPr>
              <a:t>Au</a:t>
            </a:r>
            <a:r>
              <a:rPr sz="2400" spc="-30" dirty="0">
                <a:cs typeface="Calibri"/>
              </a:rPr>
              <a:t> </a:t>
            </a:r>
            <a:r>
              <a:rPr sz="2400" spc="-5" dirty="0">
                <a:cs typeface="Calibri"/>
              </a:rPr>
              <a:t>etc.</a:t>
            </a:r>
            <a:endParaRPr sz="2400">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85669" y="72593"/>
            <a:ext cx="3774440" cy="636905"/>
          </a:xfrm>
          <a:prstGeom prst="rect">
            <a:avLst/>
          </a:prstGeom>
        </p:spPr>
        <p:txBody>
          <a:bodyPr vert="horz" wrap="square" lIns="0" tIns="13970" rIns="0" bIns="0" rtlCol="0">
            <a:spAutoFit/>
          </a:bodyPr>
          <a:lstStyle/>
          <a:p>
            <a:pPr marL="12700">
              <a:lnSpc>
                <a:spcPct val="100000"/>
              </a:lnSpc>
              <a:spcBef>
                <a:spcPts val="110"/>
              </a:spcBef>
            </a:pPr>
            <a:r>
              <a:rPr sz="4000" spc="-5" dirty="0"/>
              <a:t>Calomel</a:t>
            </a:r>
            <a:r>
              <a:rPr sz="4000" spc="-110" dirty="0"/>
              <a:t> </a:t>
            </a:r>
            <a:r>
              <a:rPr sz="4000" spc="-5" dirty="0"/>
              <a:t>Electrode</a:t>
            </a:r>
            <a:endParaRPr sz="4000"/>
          </a:p>
        </p:txBody>
      </p:sp>
      <p:sp>
        <p:nvSpPr>
          <p:cNvPr id="3" name="object 3"/>
          <p:cNvSpPr txBox="1"/>
          <p:nvPr/>
        </p:nvSpPr>
        <p:spPr>
          <a:xfrm>
            <a:off x="307340" y="561279"/>
            <a:ext cx="8413750" cy="4315460"/>
          </a:xfrm>
          <a:prstGeom prst="rect">
            <a:avLst/>
          </a:prstGeom>
        </p:spPr>
        <p:txBody>
          <a:bodyPr vert="horz" wrap="square" lIns="0" tIns="90170" rIns="0" bIns="0" rtlCol="0">
            <a:spAutoFit/>
          </a:bodyPr>
          <a:lstStyle/>
          <a:p>
            <a:pPr marL="354330" indent="-342265">
              <a:lnSpc>
                <a:spcPct val="100000"/>
              </a:lnSpc>
              <a:spcBef>
                <a:spcPts val="710"/>
              </a:spcBef>
              <a:buFont typeface="Microsoft Sans Serif"/>
              <a:buChar char="•"/>
              <a:tabLst>
                <a:tab pos="353695" algn="l"/>
                <a:tab pos="354965" algn="l"/>
              </a:tabLst>
            </a:pPr>
            <a:r>
              <a:rPr sz="3200" spc="-10" dirty="0">
                <a:solidFill>
                  <a:srgbClr val="C00000"/>
                </a:solidFill>
                <a:latin typeface="Calibri"/>
                <a:cs typeface="Calibri"/>
              </a:rPr>
              <a:t>Construction</a:t>
            </a:r>
            <a:r>
              <a:rPr sz="3200" spc="-35" dirty="0">
                <a:solidFill>
                  <a:srgbClr val="C00000"/>
                </a:solidFill>
                <a:latin typeface="Calibri"/>
                <a:cs typeface="Calibri"/>
              </a:rPr>
              <a:t> </a:t>
            </a:r>
            <a:r>
              <a:rPr sz="3200" spc="25" dirty="0">
                <a:solidFill>
                  <a:srgbClr val="C00000"/>
                </a:solidFill>
                <a:latin typeface="Calibri"/>
                <a:cs typeface="Calibri"/>
              </a:rPr>
              <a:t>:</a:t>
            </a:r>
            <a:r>
              <a:rPr sz="3200" dirty="0">
                <a:solidFill>
                  <a:srgbClr val="C00000"/>
                </a:solidFill>
                <a:latin typeface="Microsoft Sans Serif"/>
                <a:cs typeface="Microsoft Sans Serif"/>
              </a:rPr>
              <a:t> </a:t>
            </a:r>
            <a:endParaRPr sz="3200">
              <a:latin typeface="Microsoft Sans Serif"/>
              <a:cs typeface="Microsoft Sans Serif"/>
            </a:endParaRPr>
          </a:p>
          <a:p>
            <a:pPr marL="354330" marR="5080" indent="-342265">
              <a:lnSpc>
                <a:spcPct val="99500"/>
              </a:lnSpc>
              <a:spcBef>
                <a:spcPts val="480"/>
              </a:spcBef>
              <a:buFont typeface="Microsoft Sans Serif"/>
              <a:buChar char="•"/>
              <a:tabLst>
                <a:tab pos="353695" algn="l"/>
                <a:tab pos="354965" algn="l"/>
              </a:tabLst>
            </a:pPr>
            <a:r>
              <a:rPr sz="2400" spc="-5" dirty="0">
                <a:latin typeface="Calibri"/>
                <a:cs typeface="Calibri"/>
              </a:rPr>
              <a:t>Calomel</a:t>
            </a:r>
            <a:r>
              <a:rPr sz="2400" spc="10" dirty="0">
                <a:latin typeface="Calibri"/>
                <a:cs typeface="Calibri"/>
              </a:rPr>
              <a:t> </a:t>
            </a:r>
            <a:r>
              <a:rPr sz="2400" spc="-5" dirty="0">
                <a:latin typeface="Calibri"/>
                <a:cs typeface="Calibri"/>
              </a:rPr>
              <a:t>electrode</a:t>
            </a:r>
            <a:r>
              <a:rPr sz="2400" spc="10" dirty="0">
                <a:latin typeface="Calibri"/>
                <a:cs typeface="Calibri"/>
              </a:rPr>
              <a:t> </a:t>
            </a:r>
            <a:r>
              <a:rPr sz="2400" spc="-10" dirty="0">
                <a:latin typeface="Calibri"/>
                <a:cs typeface="Calibri"/>
              </a:rPr>
              <a:t>consist</a:t>
            </a:r>
            <a:r>
              <a:rPr sz="2400" spc="15" dirty="0">
                <a:latin typeface="Calibri"/>
                <a:cs typeface="Calibri"/>
              </a:rPr>
              <a:t> </a:t>
            </a:r>
            <a:r>
              <a:rPr sz="2400" spc="-10" dirty="0">
                <a:latin typeface="Calibri"/>
                <a:cs typeface="Calibri"/>
              </a:rPr>
              <a:t>of </a:t>
            </a:r>
            <a:r>
              <a:rPr sz="2400" dirty="0">
                <a:latin typeface="Calibri"/>
                <a:cs typeface="Calibri"/>
              </a:rPr>
              <a:t>narrow</a:t>
            </a:r>
            <a:r>
              <a:rPr sz="2400" spc="-5" dirty="0">
                <a:latin typeface="Calibri"/>
                <a:cs typeface="Calibri"/>
              </a:rPr>
              <a:t> </a:t>
            </a:r>
            <a:r>
              <a:rPr sz="2400" dirty="0">
                <a:latin typeface="Calibri"/>
                <a:cs typeface="Calibri"/>
              </a:rPr>
              <a:t>glass</a:t>
            </a:r>
            <a:r>
              <a:rPr sz="2400" spc="-20" dirty="0">
                <a:latin typeface="Calibri"/>
                <a:cs typeface="Calibri"/>
              </a:rPr>
              <a:t> </a:t>
            </a:r>
            <a:r>
              <a:rPr sz="2400" spc="-5" dirty="0">
                <a:latin typeface="Calibri"/>
                <a:cs typeface="Calibri"/>
              </a:rPr>
              <a:t>tube</a:t>
            </a:r>
            <a:r>
              <a:rPr sz="2400" spc="-10" dirty="0">
                <a:latin typeface="Calibri"/>
                <a:cs typeface="Calibri"/>
              </a:rPr>
              <a:t> </a:t>
            </a:r>
            <a:r>
              <a:rPr sz="2400" dirty="0">
                <a:latin typeface="Calibri"/>
                <a:cs typeface="Calibri"/>
              </a:rPr>
              <a:t>at</a:t>
            </a:r>
            <a:r>
              <a:rPr sz="2400" spc="15" dirty="0">
                <a:latin typeface="Calibri"/>
                <a:cs typeface="Calibri"/>
              </a:rPr>
              <a:t> </a:t>
            </a:r>
            <a:r>
              <a:rPr sz="2400" dirty="0">
                <a:latin typeface="Calibri"/>
                <a:cs typeface="Calibri"/>
              </a:rPr>
              <a:t>the</a:t>
            </a:r>
            <a:r>
              <a:rPr sz="2400" spc="-15" dirty="0">
                <a:latin typeface="Calibri"/>
                <a:cs typeface="Calibri"/>
              </a:rPr>
              <a:t> </a:t>
            </a:r>
            <a:r>
              <a:rPr sz="2400" spc="-5" dirty="0">
                <a:latin typeface="Calibri"/>
                <a:cs typeface="Calibri"/>
              </a:rPr>
              <a:t>bottom</a:t>
            </a:r>
            <a:r>
              <a:rPr sz="2400" spc="10" dirty="0">
                <a:latin typeface="Calibri"/>
                <a:cs typeface="Calibri"/>
              </a:rPr>
              <a:t> </a:t>
            </a:r>
            <a:r>
              <a:rPr sz="2400" spc="-10" dirty="0">
                <a:latin typeface="Calibri"/>
                <a:cs typeface="Calibri"/>
              </a:rPr>
              <a:t>of </a:t>
            </a:r>
            <a:r>
              <a:rPr sz="2400" spc="-5" dirty="0">
                <a:latin typeface="Calibri"/>
                <a:cs typeface="Calibri"/>
              </a:rPr>
              <a:t> which</a:t>
            </a:r>
            <a:r>
              <a:rPr sz="2400" spc="-25" dirty="0">
                <a:latin typeface="Calibri"/>
                <a:cs typeface="Calibri"/>
              </a:rPr>
              <a:t> </a:t>
            </a:r>
            <a:r>
              <a:rPr sz="2400" spc="-5" dirty="0">
                <a:latin typeface="Calibri"/>
                <a:cs typeface="Calibri"/>
              </a:rPr>
              <a:t>pure Hg</a:t>
            </a:r>
            <a:r>
              <a:rPr sz="2400" spc="-15" dirty="0">
                <a:latin typeface="Calibri"/>
                <a:cs typeface="Calibri"/>
              </a:rPr>
              <a:t> </a:t>
            </a:r>
            <a:r>
              <a:rPr sz="2400" dirty="0">
                <a:latin typeface="Calibri"/>
                <a:cs typeface="Calibri"/>
              </a:rPr>
              <a:t>is</a:t>
            </a:r>
            <a:r>
              <a:rPr sz="2400" spc="-45" dirty="0">
                <a:latin typeface="Calibri"/>
                <a:cs typeface="Calibri"/>
              </a:rPr>
              <a:t> </a:t>
            </a:r>
            <a:r>
              <a:rPr sz="2400" spc="-5" dirty="0">
                <a:latin typeface="Calibri"/>
                <a:cs typeface="Calibri"/>
              </a:rPr>
              <a:t>placed,</a:t>
            </a:r>
            <a:r>
              <a:rPr sz="2400" spc="-55" dirty="0">
                <a:latin typeface="Calibri"/>
                <a:cs typeface="Calibri"/>
              </a:rPr>
              <a:t> </a:t>
            </a:r>
            <a:r>
              <a:rPr sz="2400" dirty="0">
                <a:latin typeface="Calibri"/>
                <a:cs typeface="Calibri"/>
              </a:rPr>
              <a:t>above</a:t>
            </a:r>
            <a:r>
              <a:rPr sz="2400" spc="-5" dirty="0">
                <a:latin typeface="Calibri"/>
                <a:cs typeface="Calibri"/>
              </a:rPr>
              <a:t> this</a:t>
            </a:r>
            <a:r>
              <a:rPr sz="2400" spc="-15" dirty="0">
                <a:latin typeface="Calibri"/>
                <a:cs typeface="Calibri"/>
              </a:rPr>
              <a:t> </a:t>
            </a:r>
            <a:r>
              <a:rPr sz="2400" spc="-10" dirty="0">
                <a:latin typeface="Calibri"/>
                <a:cs typeface="Calibri"/>
              </a:rPr>
              <a:t>there</a:t>
            </a:r>
            <a:r>
              <a:rPr sz="2400" spc="-5" dirty="0">
                <a:latin typeface="Calibri"/>
                <a:cs typeface="Calibri"/>
              </a:rPr>
              <a:t> </a:t>
            </a:r>
            <a:r>
              <a:rPr sz="2400" dirty="0">
                <a:latin typeface="Calibri"/>
                <a:cs typeface="Calibri"/>
              </a:rPr>
              <a:t>is</a:t>
            </a:r>
            <a:r>
              <a:rPr sz="2400" spc="-40" dirty="0">
                <a:latin typeface="Calibri"/>
                <a:cs typeface="Calibri"/>
              </a:rPr>
              <a:t> </a:t>
            </a:r>
            <a:r>
              <a:rPr sz="2400" dirty="0">
                <a:latin typeface="Calibri"/>
                <a:cs typeface="Calibri"/>
              </a:rPr>
              <a:t>a</a:t>
            </a:r>
            <a:r>
              <a:rPr sz="2400" spc="-40" dirty="0">
                <a:latin typeface="Calibri"/>
                <a:cs typeface="Calibri"/>
              </a:rPr>
              <a:t> </a:t>
            </a:r>
            <a:r>
              <a:rPr sz="2400" spc="-5" dirty="0">
                <a:latin typeface="Calibri"/>
                <a:cs typeface="Calibri"/>
              </a:rPr>
              <a:t>paste </a:t>
            </a:r>
            <a:r>
              <a:rPr sz="2400" spc="-10" dirty="0">
                <a:latin typeface="Calibri"/>
                <a:cs typeface="Calibri"/>
              </a:rPr>
              <a:t>of</a:t>
            </a:r>
            <a:r>
              <a:rPr sz="2400" spc="-5" dirty="0">
                <a:latin typeface="Calibri"/>
                <a:cs typeface="Calibri"/>
              </a:rPr>
              <a:t> Hg-Hg2Cl2. </a:t>
            </a:r>
            <a:r>
              <a:rPr sz="2400" spc="-525" dirty="0">
                <a:latin typeface="Calibri"/>
                <a:cs typeface="Calibri"/>
              </a:rPr>
              <a:t> </a:t>
            </a:r>
            <a:r>
              <a:rPr sz="2400" dirty="0">
                <a:latin typeface="Calibri"/>
                <a:cs typeface="Calibri"/>
              </a:rPr>
              <a:t>A</a:t>
            </a:r>
            <a:r>
              <a:rPr sz="2400" spc="5" dirty="0">
                <a:latin typeface="Calibri"/>
                <a:cs typeface="Calibri"/>
              </a:rPr>
              <a:t> </a:t>
            </a:r>
            <a:r>
              <a:rPr sz="2400" dirty="0">
                <a:latin typeface="Calibri"/>
                <a:cs typeface="Calibri"/>
              </a:rPr>
              <a:t>remaining</a:t>
            </a:r>
            <a:r>
              <a:rPr sz="2400" spc="-20" dirty="0">
                <a:latin typeface="Calibri"/>
                <a:cs typeface="Calibri"/>
              </a:rPr>
              <a:t> </a:t>
            </a:r>
            <a:r>
              <a:rPr sz="2400" spc="-5" dirty="0">
                <a:latin typeface="Calibri"/>
                <a:cs typeface="Calibri"/>
              </a:rPr>
              <a:t>portion</a:t>
            </a:r>
            <a:r>
              <a:rPr sz="2400" spc="10" dirty="0">
                <a:latin typeface="Calibri"/>
                <a:cs typeface="Calibri"/>
              </a:rPr>
              <a:t> </a:t>
            </a:r>
            <a:r>
              <a:rPr sz="2400" spc="-10" dirty="0">
                <a:latin typeface="Calibri"/>
                <a:cs typeface="Calibri"/>
              </a:rPr>
              <a:t>of</a:t>
            </a:r>
            <a:r>
              <a:rPr sz="2400" spc="15" dirty="0">
                <a:latin typeface="Calibri"/>
                <a:cs typeface="Calibri"/>
              </a:rPr>
              <a:t> </a:t>
            </a:r>
            <a:r>
              <a:rPr sz="2400" spc="-10" dirty="0">
                <a:latin typeface="Calibri"/>
                <a:cs typeface="Calibri"/>
              </a:rPr>
              <a:t>glass</a:t>
            </a:r>
            <a:r>
              <a:rPr sz="2400" dirty="0">
                <a:latin typeface="Calibri"/>
                <a:cs typeface="Calibri"/>
              </a:rPr>
              <a:t> </a:t>
            </a:r>
            <a:r>
              <a:rPr sz="2400" spc="-5" dirty="0">
                <a:latin typeface="Calibri"/>
                <a:cs typeface="Calibri"/>
              </a:rPr>
              <a:t>tube</a:t>
            </a:r>
            <a:r>
              <a:rPr sz="2400" spc="5" dirty="0">
                <a:latin typeface="Calibri"/>
                <a:cs typeface="Calibri"/>
              </a:rPr>
              <a:t> </a:t>
            </a:r>
            <a:r>
              <a:rPr sz="2400" dirty="0">
                <a:latin typeface="Calibri"/>
                <a:cs typeface="Calibri"/>
              </a:rPr>
              <a:t>is</a:t>
            </a:r>
            <a:r>
              <a:rPr sz="2400" spc="-20" dirty="0">
                <a:latin typeface="Calibri"/>
                <a:cs typeface="Calibri"/>
              </a:rPr>
              <a:t> </a:t>
            </a:r>
            <a:r>
              <a:rPr sz="2400" spc="-5" dirty="0">
                <a:latin typeface="Calibri"/>
                <a:cs typeface="Calibri"/>
              </a:rPr>
              <a:t>filled</a:t>
            </a:r>
            <a:r>
              <a:rPr sz="2400" dirty="0">
                <a:latin typeface="Calibri"/>
                <a:cs typeface="Calibri"/>
              </a:rPr>
              <a:t> </a:t>
            </a:r>
            <a:r>
              <a:rPr sz="2400" spc="-5" dirty="0">
                <a:latin typeface="Calibri"/>
                <a:cs typeface="Calibri"/>
              </a:rPr>
              <a:t>with</a:t>
            </a:r>
            <a:r>
              <a:rPr sz="2400" spc="10" dirty="0">
                <a:latin typeface="Calibri"/>
                <a:cs typeface="Calibri"/>
              </a:rPr>
              <a:t> </a:t>
            </a:r>
            <a:r>
              <a:rPr sz="2400" spc="-5" dirty="0">
                <a:latin typeface="Calibri"/>
                <a:cs typeface="Calibri"/>
              </a:rPr>
              <a:t>saturated</a:t>
            </a:r>
            <a:r>
              <a:rPr sz="2400" spc="15" dirty="0">
                <a:latin typeface="Calibri"/>
                <a:cs typeface="Calibri"/>
              </a:rPr>
              <a:t> </a:t>
            </a:r>
            <a:r>
              <a:rPr sz="2400" spc="-5" dirty="0">
                <a:latin typeface="Calibri"/>
                <a:cs typeface="Calibri"/>
              </a:rPr>
              <a:t>KCl </a:t>
            </a:r>
            <a:r>
              <a:rPr sz="2400" dirty="0">
                <a:latin typeface="Calibri"/>
                <a:cs typeface="Calibri"/>
              </a:rPr>
              <a:t> </a:t>
            </a:r>
            <a:r>
              <a:rPr sz="2400" spc="-5" dirty="0">
                <a:latin typeface="Calibri"/>
                <a:cs typeface="Calibri"/>
              </a:rPr>
              <a:t>solution.</a:t>
            </a:r>
            <a:r>
              <a:rPr sz="2400" dirty="0">
                <a:latin typeface="Microsoft Sans Serif"/>
                <a:cs typeface="Microsoft Sans Serif"/>
              </a:rPr>
              <a:t> </a:t>
            </a:r>
            <a:endParaRPr sz="2400">
              <a:latin typeface="Microsoft Sans Serif"/>
              <a:cs typeface="Microsoft Sans Serif"/>
            </a:endParaRPr>
          </a:p>
          <a:p>
            <a:pPr marL="354330" indent="-342265">
              <a:lnSpc>
                <a:spcPct val="100000"/>
              </a:lnSpc>
              <a:spcBef>
                <a:spcPts val="600"/>
              </a:spcBef>
              <a:buFont typeface="Microsoft Sans Serif"/>
              <a:buChar char="•"/>
              <a:tabLst>
                <a:tab pos="353695" algn="l"/>
                <a:tab pos="354965" algn="l"/>
              </a:tabLst>
            </a:pPr>
            <a:r>
              <a:rPr sz="2400" spc="-5" dirty="0">
                <a:latin typeface="Calibri"/>
                <a:cs typeface="Calibri"/>
              </a:rPr>
              <a:t>Platinum</a:t>
            </a:r>
            <a:r>
              <a:rPr sz="2400" spc="-55" dirty="0">
                <a:latin typeface="Calibri"/>
                <a:cs typeface="Calibri"/>
              </a:rPr>
              <a:t> </a:t>
            </a:r>
            <a:r>
              <a:rPr sz="2400" spc="-5" dirty="0">
                <a:latin typeface="Calibri"/>
                <a:cs typeface="Calibri"/>
              </a:rPr>
              <a:t>wire</a:t>
            </a:r>
            <a:r>
              <a:rPr sz="2400" spc="-30" dirty="0">
                <a:latin typeface="Calibri"/>
                <a:cs typeface="Calibri"/>
              </a:rPr>
              <a:t> </a:t>
            </a:r>
            <a:r>
              <a:rPr sz="2400" dirty="0">
                <a:latin typeface="Calibri"/>
                <a:cs typeface="Calibri"/>
              </a:rPr>
              <a:t>is</a:t>
            </a:r>
            <a:r>
              <a:rPr sz="2400" spc="-45" dirty="0">
                <a:latin typeface="Calibri"/>
                <a:cs typeface="Calibri"/>
              </a:rPr>
              <a:t> </a:t>
            </a:r>
            <a:r>
              <a:rPr sz="2400" spc="-5" dirty="0">
                <a:latin typeface="Calibri"/>
                <a:cs typeface="Calibri"/>
              </a:rPr>
              <a:t>dipped</a:t>
            </a:r>
            <a:r>
              <a:rPr sz="2400" spc="5" dirty="0">
                <a:latin typeface="Calibri"/>
                <a:cs typeface="Calibri"/>
              </a:rPr>
              <a:t> </a:t>
            </a:r>
            <a:r>
              <a:rPr sz="2400" spc="-15" dirty="0">
                <a:latin typeface="Calibri"/>
                <a:cs typeface="Calibri"/>
              </a:rPr>
              <a:t>in</a:t>
            </a:r>
            <a:r>
              <a:rPr sz="2400" spc="-5" dirty="0">
                <a:latin typeface="Calibri"/>
                <a:cs typeface="Calibri"/>
              </a:rPr>
              <a:t> pure</a:t>
            </a:r>
            <a:r>
              <a:rPr sz="2400" spc="-30" dirty="0">
                <a:latin typeface="Calibri"/>
                <a:cs typeface="Calibri"/>
              </a:rPr>
              <a:t> </a:t>
            </a:r>
            <a:r>
              <a:rPr sz="2400" spc="-5" dirty="0">
                <a:latin typeface="Calibri"/>
                <a:cs typeface="Calibri"/>
              </a:rPr>
              <a:t>Hg</a:t>
            </a:r>
            <a:r>
              <a:rPr sz="2400" spc="-65" dirty="0">
                <a:latin typeface="Calibri"/>
                <a:cs typeface="Calibri"/>
              </a:rPr>
              <a:t> </a:t>
            </a:r>
            <a:r>
              <a:rPr sz="2400" spc="5" dirty="0">
                <a:latin typeface="Calibri"/>
                <a:cs typeface="Calibri"/>
              </a:rPr>
              <a:t>to</a:t>
            </a:r>
            <a:r>
              <a:rPr sz="2400" spc="-35" dirty="0">
                <a:latin typeface="Calibri"/>
                <a:cs typeface="Calibri"/>
              </a:rPr>
              <a:t> </a:t>
            </a:r>
            <a:r>
              <a:rPr sz="2400" spc="-5" dirty="0">
                <a:latin typeface="Calibri"/>
                <a:cs typeface="Calibri"/>
              </a:rPr>
              <a:t>make</a:t>
            </a:r>
            <a:r>
              <a:rPr sz="2400" spc="-30" dirty="0">
                <a:latin typeface="Calibri"/>
                <a:cs typeface="Calibri"/>
              </a:rPr>
              <a:t> </a:t>
            </a:r>
            <a:r>
              <a:rPr sz="2400" spc="-5" dirty="0">
                <a:latin typeface="Calibri"/>
                <a:cs typeface="Calibri"/>
              </a:rPr>
              <a:t>electrical</a:t>
            </a:r>
            <a:r>
              <a:rPr sz="2400" spc="-35" dirty="0">
                <a:latin typeface="Calibri"/>
                <a:cs typeface="Calibri"/>
              </a:rPr>
              <a:t> </a:t>
            </a:r>
            <a:r>
              <a:rPr sz="2400" spc="-10" dirty="0">
                <a:latin typeface="Calibri"/>
                <a:cs typeface="Calibri"/>
              </a:rPr>
              <a:t>contact.</a:t>
            </a:r>
            <a:r>
              <a:rPr sz="2400" dirty="0">
                <a:latin typeface="Microsoft Sans Serif"/>
                <a:cs typeface="Microsoft Sans Serif"/>
              </a:rPr>
              <a:t> </a:t>
            </a:r>
            <a:endParaRPr sz="2400">
              <a:latin typeface="Microsoft Sans Serif"/>
              <a:cs typeface="Microsoft Sans Serif"/>
            </a:endParaRPr>
          </a:p>
          <a:p>
            <a:pPr marL="79375" marR="3611245" indent="-67310">
              <a:lnSpc>
                <a:spcPts val="3460"/>
              </a:lnSpc>
              <a:spcBef>
                <a:spcPts val="210"/>
              </a:spcBef>
              <a:buFont typeface="Microsoft Sans Serif"/>
              <a:buChar char="•"/>
              <a:tabLst>
                <a:tab pos="353695" algn="l"/>
                <a:tab pos="354965" algn="l"/>
              </a:tabLst>
            </a:pPr>
            <a:r>
              <a:rPr sz="2400" dirty="0">
                <a:latin typeface="Calibri"/>
                <a:cs typeface="Calibri"/>
              </a:rPr>
              <a:t>In a direct </a:t>
            </a:r>
            <a:r>
              <a:rPr sz="2400" spc="-5" dirty="0">
                <a:latin typeface="Calibri"/>
                <a:cs typeface="Calibri"/>
              </a:rPr>
              <a:t>dipping </a:t>
            </a:r>
            <a:r>
              <a:rPr sz="2400" dirty="0">
                <a:latin typeface="Calibri"/>
                <a:cs typeface="Calibri"/>
              </a:rPr>
              <a:t>type </a:t>
            </a:r>
            <a:r>
              <a:rPr sz="2400" spc="-10" dirty="0">
                <a:latin typeface="Calibri"/>
                <a:cs typeface="Calibri"/>
              </a:rPr>
              <a:t>of </a:t>
            </a:r>
            <a:r>
              <a:rPr sz="2400" spc="-5" dirty="0">
                <a:latin typeface="Calibri"/>
                <a:cs typeface="Calibri"/>
              </a:rPr>
              <a:t>calomel </a:t>
            </a:r>
            <a:r>
              <a:rPr sz="2400" dirty="0">
                <a:latin typeface="Calibri"/>
                <a:cs typeface="Calibri"/>
              </a:rPr>
              <a:t> </a:t>
            </a:r>
            <a:r>
              <a:rPr sz="2400" spc="-5" dirty="0">
                <a:latin typeface="Calibri"/>
                <a:cs typeface="Calibri"/>
              </a:rPr>
              <a:t>electrode</a:t>
            </a:r>
            <a:r>
              <a:rPr sz="2400" spc="-55" dirty="0">
                <a:latin typeface="Calibri"/>
                <a:cs typeface="Calibri"/>
              </a:rPr>
              <a:t> </a:t>
            </a:r>
            <a:r>
              <a:rPr sz="2400" spc="-5" dirty="0">
                <a:latin typeface="Calibri"/>
                <a:cs typeface="Calibri"/>
              </a:rPr>
              <a:t>there </a:t>
            </a:r>
            <a:r>
              <a:rPr sz="2400" dirty="0">
                <a:latin typeface="Calibri"/>
                <a:cs typeface="Calibri"/>
              </a:rPr>
              <a:t>is</a:t>
            </a:r>
            <a:r>
              <a:rPr sz="2400" spc="-45" dirty="0">
                <a:latin typeface="Calibri"/>
                <a:cs typeface="Calibri"/>
              </a:rPr>
              <a:t> </a:t>
            </a:r>
            <a:r>
              <a:rPr sz="2400" dirty="0">
                <a:latin typeface="Calibri"/>
                <a:cs typeface="Calibri"/>
              </a:rPr>
              <a:t>a</a:t>
            </a:r>
            <a:r>
              <a:rPr sz="2400" spc="-40" dirty="0">
                <a:latin typeface="Calibri"/>
                <a:cs typeface="Calibri"/>
              </a:rPr>
              <a:t> </a:t>
            </a:r>
            <a:r>
              <a:rPr sz="2400" spc="-5" dirty="0">
                <a:latin typeface="Calibri"/>
                <a:cs typeface="Calibri"/>
              </a:rPr>
              <a:t>porous</a:t>
            </a:r>
            <a:r>
              <a:rPr sz="2400" spc="-10" dirty="0">
                <a:latin typeface="Calibri"/>
                <a:cs typeface="Calibri"/>
              </a:rPr>
              <a:t> </a:t>
            </a:r>
            <a:r>
              <a:rPr sz="2400" spc="-5" dirty="0">
                <a:latin typeface="Calibri"/>
                <a:cs typeface="Calibri"/>
              </a:rPr>
              <a:t>plug</a:t>
            </a:r>
            <a:r>
              <a:rPr sz="2400" spc="-15" dirty="0">
                <a:latin typeface="Calibri"/>
                <a:cs typeface="Calibri"/>
              </a:rPr>
              <a:t> at</a:t>
            </a:r>
            <a:r>
              <a:rPr sz="2400" spc="-55" dirty="0">
                <a:latin typeface="Calibri"/>
                <a:cs typeface="Calibri"/>
              </a:rPr>
              <a:t> </a:t>
            </a:r>
            <a:r>
              <a:rPr sz="2400" spc="10" dirty="0">
                <a:latin typeface="Calibri"/>
                <a:cs typeface="Calibri"/>
              </a:rPr>
              <a:t>the </a:t>
            </a:r>
            <a:r>
              <a:rPr sz="2400" spc="-530" dirty="0">
                <a:latin typeface="Calibri"/>
                <a:cs typeface="Calibri"/>
              </a:rPr>
              <a:t> </a:t>
            </a:r>
            <a:r>
              <a:rPr sz="2400" spc="-5" dirty="0">
                <a:latin typeface="Calibri"/>
                <a:cs typeface="Calibri"/>
              </a:rPr>
              <a:t>bottom</a:t>
            </a:r>
            <a:r>
              <a:rPr sz="2400" spc="-25" dirty="0">
                <a:latin typeface="Calibri"/>
                <a:cs typeface="Calibri"/>
              </a:rPr>
              <a:t> </a:t>
            </a:r>
            <a:r>
              <a:rPr sz="2400" spc="-10" dirty="0">
                <a:latin typeface="Calibri"/>
                <a:cs typeface="Calibri"/>
              </a:rPr>
              <a:t>.</a:t>
            </a:r>
            <a:r>
              <a:rPr sz="2400" dirty="0">
                <a:latin typeface="Microsoft Sans Serif"/>
                <a:cs typeface="Microsoft Sans Serif"/>
              </a:rPr>
              <a:t> </a:t>
            </a:r>
            <a:endParaRPr sz="2400">
              <a:latin typeface="Microsoft Sans Serif"/>
              <a:cs typeface="Microsoft Sans Serif"/>
            </a:endParaRPr>
          </a:p>
          <a:p>
            <a:pPr marL="12700">
              <a:lnSpc>
                <a:spcPct val="100000"/>
              </a:lnSpc>
              <a:spcBef>
                <a:spcPts val="434"/>
              </a:spcBef>
            </a:pPr>
            <a:r>
              <a:rPr sz="2400" spc="-5" dirty="0">
                <a:solidFill>
                  <a:srgbClr val="C00000"/>
                </a:solidFill>
                <a:latin typeface="Calibri"/>
                <a:cs typeface="Calibri"/>
              </a:rPr>
              <a:t>Electrode</a:t>
            </a:r>
            <a:r>
              <a:rPr sz="2400" spc="-114" dirty="0">
                <a:solidFill>
                  <a:srgbClr val="C00000"/>
                </a:solidFill>
                <a:latin typeface="Calibri"/>
                <a:cs typeface="Calibri"/>
              </a:rPr>
              <a:t> </a:t>
            </a:r>
            <a:r>
              <a:rPr sz="2400" spc="-5" dirty="0">
                <a:solidFill>
                  <a:srgbClr val="C00000"/>
                </a:solidFill>
                <a:latin typeface="Calibri"/>
                <a:cs typeface="Calibri"/>
              </a:rPr>
              <a:t>representation</a:t>
            </a:r>
            <a:endParaRPr sz="2400">
              <a:latin typeface="Calibri"/>
              <a:cs typeface="Calibri"/>
            </a:endParaRPr>
          </a:p>
        </p:txBody>
      </p:sp>
      <p:pic>
        <p:nvPicPr>
          <p:cNvPr id="4" name="object 4"/>
          <p:cNvPicPr/>
          <p:nvPr/>
        </p:nvPicPr>
        <p:blipFill>
          <a:blip r:embed="rId2" cstate="print"/>
          <a:stretch>
            <a:fillRect/>
          </a:stretch>
        </p:blipFill>
        <p:spPr>
          <a:xfrm>
            <a:off x="904875" y="5207634"/>
            <a:ext cx="3219450" cy="628649"/>
          </a:xfrm>
          <a:prstGeom prst="rect">
            <a:avLst/>
          </a:prstGeom>
        </p:spPr>
      </p:pic>
      <p:pic>
        <p:nvPicPr>
          <p:cNvPr id="5" name="object 5"/>
          <p:cNvPicPr/>
          <p:nvPr/>
        </p:nvPicPr>
        <p:blipFill>
          <a:blip r:embed="rId3" cstate="print"/>
          <a:stretch>
            <a:fillRect/>
          </a:stretch>
        </p:blipFill>
        <p:spPr>
          <a:xfrm>
            <a:off x="5951854" y="3275228"/>
            <a:ext cx="2870200" cy="322376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85750" y="1733550"/>
            <a:ext cx="8604250" cy="4775200"/>
            <a:chOff x="285750" y="1733550"/>
            <a:chExt cx="8604250" cy="4775200"/>
          </a:xfrm>
        </p:grpSpPr>
        <p:pic>
          <p:nvPicPr>
            <p:cNvPr id="3" name="object 3"/>
            <p:cNvPicPr/>
            <p:nvPr/>
          </p:nvPicPr>
          <p:blipFill>
            <a:blip r:embed="rId2" cstate="print"/>
            <a:stretch>
              <a:fillRect/>
            </a:stretch>
          </p:blipFill>
          <p:spPr>
            <a:xfrm>
              <a:off x="2054860" y="1887220"/>
              <a:ext cx="4846955" cy="3568065"/>
            </a:xfrm>
            <a:prstGeom prst="rect">
              <a:avLst/>
            </a:prstGeom>
          </p:spPr>
        </p:pic>
        <p:sp>
          <p:nvSpPr>
            <p:cNvPr id="4" name="object 4"/>
            <p:cNvSpPr/>
            <p:nvPr/>
          </p:nvSpPr>
          <p:spPr>
            <a:xfrm>
              <a:off x="295275" y="1743075"/>
              <a:ext cx="8585200" cy="4756150"/>
            </a:xfrm>
            <a:custGeom>
              <a:avLst/>
              <a:gdLst/>
              <a:ahLst/>
              <a:cxnLst/>
              <a:rect l="l" t="t" r="r" b="b"/>
              <a:pathLst>
                <a:path w="8585200" h="4756150">
                  <a:moveTo>
                    <a:pt x="0" y="4756150"/>
                  </a:moveTo>
                  <a:lnTo>
                    <a:pt x="8585200" y="4756150"/>
                  </a:lnTo>
                  <a:lnTo>
                    <a:pt x="8585200" y="0"/>
                  </a:lnTo>
                  <a:lnTo>
                    <a:pt x="0" y="0"/>
                  </a:lnTo>
                  <a:lnTo>
                    <a:pt x="0" y="4756150"/>
                  </a:lnTo>
                  <a:close/>
                </a:path>
              </a:pathLst>
            </a:custGeom>
            <a:ln w="19050">
              <a:solidFill>
                <a:srgbClr val="000000"/>
              </a:solidFill>
            </a:ln>
          </p:spPr>
          <p:txBody>
            <a:bodyPr wrap="square" lIns="0" tIns="0" rIns="0" bIns="0" rtlCol="0"/>
            <a:lstStyle/>
            <a:p>
              <a:endParaRPr/>
            </a:p>
          </p:txBody>
        </p:sp>
        <p:sp>
          <p:nvSpPr>
            <p:cNvPr id="5" name="object 5"/>
            <p:cNvSpPr/>
            <p:nvPr/>
          </p:nvSpPr>
          <p:spPr>
            <a:xfrm>
              <a:off x="2576195" y="2981324"/>
              <a:ext cx="4739005" cy="2897505"/>
            </a:xfrm>
            <a:custGeom>
              <a:avLst/>
              <a:gdLst/>
              <a:ahLst/>
              <a:cxnLst/>
              <a:rect l="l" t="t" r="r" b="b"/>
              <a:pathLst>
                <a:path w="4739005" h="2897504">
                  <a:moveTo>
                    <a:pt x="914400" y="1418590"/>
                  </a:moveTo>
                  <a:lnTo>
                    <a:pt x="324485" y="1418590"/>
                  </a:lnTo>
                  <a:lnTo>
                    <a:pt x="371475" y="1391285"/>
                  </a:lnTo>
                  <a:lnTo>
                    <a:pt x="373380" y="1382395"/>
                  </a:lnTo>
                  <a:lnTo>
                    <a:pt x="365760" y="1369060"/>
                  </a:lnTo>
                  <a:lnTo>
                    <a:pt x="356870" y="1366520"/>
                  </a:lnTo>
                  <a:lnTo>
                    <a:pt x="349885" y="1370965"/>
                  </a:lnTo>
                  <a:lnTo>
                    <a:pt x="243205" y="1433195"/>
                  </a:lnTo>
                  <a:lnTo>
                    <a:pt x="356870" y="1499235"/>
                  </a:lnTo>
                  <a:lnTo>
                    <a:pt x="365760" y="1497330"/>
                  </a:lnTo>
                  <a:lnTo>
                    <a:pt x="373380" y="1483360"/>
                  </a:lnTo>
                  <a:lnTo>
                    <a:pt x="371475" y="1474470"/>
                  </a:lnTo>
                  <a:lnTo>
                    <a:pt x="324485" y="1447165"/>
                  </a:lnTo>
                  <a:lnTo>
                    <a:pt x="914400" y="1447165"/>
                  </a:lnTo>
                  <a:lnTo>
                    <a:pt x="914400" y="1418590"/>
                  </a:lnTo>
                  <a:close/>
                </a:path>
                <a:path w="4739005" h="2897504">
                  <a:moveTo>
                    <a:pt x="922020" y="2157730"/>
                  </a:moveTo>
                  <a:lnTo>
                    <a:pt x="345795" y="1802130"/>
                  </a:lnTo>
                  <a:lnTo>
                    <a:pt x="306705" y="1778000"/>
                  </a:lnTo>
                  <a:lnTo>
                    <a:pt x="361315" y="1779270"/>
                  </a:lnTo>
                  <a:lnTo>
                    <a:pt x="362585" y="1778000"/>
                  </a:lnTo>
                  <a:lnTo>
                    <a:pt x="367665" y="1772920"/>
                  </a:lnTo>
                  <a:lnTo>
                    <a:pt x="368300" y="1765300"/>
                  </a:lnTo>
                  <a:lnTo>
                    <a:pt x="368300" y="1757045"/>
                  </a:lnTo>
                  <a:lnTo>
                    <a:pt x="361950" y="1750695"/>
                  </a:lnTo>
                  <a:lnTo>
                    <a:pt x="344170" y="1750060"/>
                  </a:lnTo>
                  <a:lnTo>
                    <a:pt x="230505" y="1747520"/>
                  </a:lnTo>
                  <a:lnTo>
                    <a:pt x="288925" y="1856740"/>
                  </a:lnTo>
                  <a:lnTo>
                    <a:pt x="292100" y="1863725"/>
                  </a:lnTo>
                  <a:lnTo>
                    <a:pt x="300990" y="1866265"/>
                  </a:lnTo>
                  <a:lnTo>
                    <a:pt x="314960" y="1858645"/>
                  </a:lnTo>
                  <a:lnTo>
                    <a:pt x="317500" y="1849755"/>
                  </a:lnTo>
                  <a:lnTo>
                    <a:pt x="313690" y="1842770"/>
                  </a:lnTo>
                  <a:lnTo>
                    <a:pt x="292100" y="1802130"/>
                  </a:lnTo>
                  <a:lnTo>
                    <a:pt x="907415" y="2181860"/>
                  </a:lnTo>
                  <a:lnTo>
                    <a:pt x="922020" y="2157730"/>
                  </a:lnTo>
                  <a:close/>
                </a:path>
                <a:path w="4739005" h="2897504">
                  <a:moveTo>
                    <a:pt x="929005" y="661670"/>
                  </a:moveTo>
                  <a:lnTo>
                    <a:pt x="324485" y="661670"/>
                  </a:lnTo>
                  <a:lnTo>
                    <a:pt x="371475" y="634365"/>
                  </a:lnTo>
                  <a:lnTo>
                    <a:pt x="373380" y="625475"/>
                  </a:lnTo>
                  <a:lnTo>
                    <a:pt x="365760" y="611505"/>
                  </a:lnTo>
                  <a:lnTo>
                    <a:pt x="356870" y="609600"/>
                  </a:lnTo>
                  <a:lnTo>
                    <a:pt x="243205" y="675640"/>
                  </a:lnTo>
                  <a:lnTo>
                    <a:pt x="356870" y="742315"/>
                  </a:lnTo>
                  <a:lnTo>
                    <a:pt x="365760" y="739775"/>
                  </a:lnTo>
                  <a:lnTo>
                    <a:pt x="369570" y="732790"/>
                  </a:lnTo>
                  <a:lnTo>
                    <a:pt x="373380" y="726440"/>
                  </a:lnTo>
                  <a:lnTo>
                    <a:pt x="371475" y="717550"/>
                  </a:lnTo>
                  <a:lnTo>
                    <a:pt x="323850" y="690245"/>
                  </a:lnTo>
                  <a:lnTo>
                    <a:pt x="929005" y="690245"/>
                  </a:lnTo>
                  <a:lnTo>
                    <a:pt x="929005" y="661670"/>
                  </a:lnTo>
                  <a:close/>
                </a:path>
                <a:path w="4739005" h="2897504">
                  <a:moveTo>
                    <a:pt x="929005" y="52070"/>
                  </a:moveTo>
                  <a:lnTo>
                    <a:pt x="95885" y="52070"/>
                  </a:lnTo>
                  <a:lnTo>
                    <a:pt x="142875" y="24765"/>
                  </a:lnTo>
                  <a:lnTo>
                    <a:pt x="144780" y="15875"/>
                  </a:lnTo>
                  <a:lnTo>
                    <a:pt x="137160" y="1905"/>
                  </a:lnTo>
                  <a:lnTo>
                    <a:pt x="128270" y="0"/>
                  </a:lnTo>
                  <a:lnTo>
                    <a:pt x="14605" y="66040"/>
                  </a:lnTo>
                  <a:lnTo>
                    <a:pt x="128270" y="132715"/>
                  </a:lnTo>
                  <a:lnTo>
                    <a:pt x="137160" y="130175"/>
                  </a:lnTo>
                  <a:lnTo>
                    <a:pt x="140970" y="123190"/>
                  </a:lnTo>
                  <a:lnTo>
                    <a:pt x="144780" y="116840"/>
                  </a:lnTo>
                  <a:lnTo>
                    <a:pt x="142875" y="107950"/>
                  </a:lnTo>
                  <a:lnTo>
                    <a:pt x="95250" y="80645"/>
                  </a:lnTo>
                  <a:lnTo>
                    <a:pt x="929005" y="80645"/>
                  </a:lnTo>
                  <a:lnTo>
                    <a:pt x="929005" y="52070"/>
                  </a:lnTo>
                  <a:close/>
                </a:path>
                <a:path w="4739005" h="2897504">
                  <a:moveTo>
                    <a:pt x="973455" y="2873375"/>
                  </a:moveTo>
                  <a:lnTo>
                    <a:pt x="114414" y="2331097"/>
                  </a:lnTo>
                  <a:lnTo>
                    <a:pt x="76200" y="2306955"/>
                  </a:lnTo>
                  <a:lnTo>
                    <a:pt x="130810" y="2308860"/>
                  </a:lnTo>
                  <a:lnTo>
                    <a:pt x="132918" y="2306955"/>
                  </a:lnTo>
                  <a:lnTo>
                    <a:pt x="137160" y="2303145"/>
                  </a:lnTo>
                  <a:lnTo>
                    <a:pt x="137795" y="2287270"/>
                  </a:lnTo>
                  <a:lnTo>
                    <a:pt x="132080" y="2280285"/>
                  </a:lnTo>
                  <a:lnTo>
                    <a:pt x="0" y="2275840"/>
                  </a:lnTo>
                  <a:lnTo>
                    <a:pt x="57150" y="2385695"/>
                  </a:lnTo>
                  <a:lnTo>
                    <a:pt x="60960" y="2392680"/>
                  </a:lnTo>
                  <a:lnTo>
                    <a:pt x="69850" y="2395220"/>
                  </a:lnTo>
                  <a:lnTo>
                    <a:pt x="83820" y="2388235"/>
                  </a:lnTo>
                  <a:lnTo>
                    <a:pt x="86360" y="2379345"/>
                  </a:lnTo>
                  <a:lnTo>
                    <a:pt x="61595" y="2331085"/>
                  </a:lnTo>
                  <a:lnTo>
                    <a:pt x="957580" y="2897505"/>
                  </a:lnTo>
                  <a:lnTo>
                    <a:pt x="973455" y="2873375"/>
                  </a:lnTo>
                  <a:close/>
                </a:path>
                <a:path w="4739005" h="2897504">
                  <a:moveTo>
                    <a:pt x="3045460" y="1777365"/>
                  </a:moveTo>
                  <a:lnTo>
                    <a:pt x="2914015" y="1764030"/>
                  </a:lnTo>
                  <a:lnTo>
                    <a:pt x="2907030" y="1769745"/>
                  </a:lnTo>
                  <a:lnTo>
                    <a:pt x="2906395" y="1778000"/>
                  </a:lnTo>
                  <a:lnTo>
                    <a:pt x="2905760" y="1785620"/>
                  </a:lnTo>
                  <a:lnTo>
                    <a:pt x="2911475" y="1792605"/>
                  </a:lnTo>
                  <a:lnTo>
                    <a:pt x="2965450" y="1798320"/>
                  </a:lnTo>
                  <a:lnTo>
                    <a:pt x="2178685" y="2156460"/>
                  </a:lnTo>
                  <a:lnTo>
                    <a:pt x="2190750" y="2182495"/>
                  </a:lnTo>
                  <a:lnTo>
                    <a:pt x="2977515" y="1824355"/>
                  </a:lnTo>
                  <a:lnTo>
                    <a:pt x="2950210" y="1861820"/>
                  </a:lnTo>
                  <a:lnTo>
                    <a:pt x="2945765" y="1868170"/>
                  </a:lnTo>
                  <a:lnTo>
                    <a:pt x="2947670" y="1877695"/>
                  </a:lnTo>
                  <a:lnTo>
                    <a:pt x="2960370" y="1886585"/>
                  </a:lnTo>
                  <a:lnTo>
                    <a:pt x="2969260" y="1884680"/>
                  </a:lnTo>
                  <a:lnTo>
                    <a:pt x="3012084" y="1824355"/>
                  </a:lnTo>
                  <a:lnTo>
                    <a:pt x="3045460" y="1777365"/>
                  </a:lnTo>
                  <a:close/>
                </a:path>
                <a:path w="4739005" h="2897504">
                  <a:moveTo>
                    <a:pt x="3045460" y="1468120"/>
                  </a:moveTo>
                  <a:lnTo>
                    <a:pt x="3020695" y="1453515"/>
                  </a:lnTo>
                  <a:lnTo>
                    <a:pt x="2938145" y="1405890"/>
                  </a:lnTo>
                  <a:lnTo>
                    <a:pt x="2931795" y="1401445"/>
                  </a:lnTo>
                  <a:lnTo>
                    <a:pt x="2922905" y="1403985"/>
                  </a:lnTo>
                  <a:lnTo>
                    <a:pt x="2919095" y="1410970"/>
                  </a:lnTo>
                  <a:lnTo>
                    <a:pt x="2914650" y="1417320"/>
                  </a:lnTo>
                  <a:lnTo>
                    <a:pt x="2917190" y="1426210"/>
                  </a:lnTo>
                  <a:lnTo>
                    <a:pt x="2964180" y="1453515"/>
                  </a:lnTo>
                  <a:lnTo>
                    <a:pt x="2376805" y="1453515"/>
                  </a:lnTo>
                  <a:lnTo>
                    <a:pt x="2376805" y="1482090"/>
                  </a:lnTo>
                  <a:lnTo>
                    <a:pt x="2964180" y="1482090"/>
                  </a:lnTo>
                  <a:lnTo>
                    <a:pt x="2917190" y="1509395"/>
                  </a:lnTo>
                  <a:lnTo>
                    <a:pt x="2914650" y="1518285"/>
                  </a:lnTo>
                  <a:lnTo>
                    <a:pt x="2919095" y="1525270"/>
                  </a:lnTo>
                  <a:lnTo>
                    <a:pt x="2922905" y="1532255"/>
                  </a:lnTo>
                  <a:lnTo>
                    <a:pt x="2931795" y="1534160"/>
                  </a:lnTo>
                  <a:lnTo>
                    <a:pt x="2938145" y="1530350"/>
                  </a:lnTo>
                  <a:lnTo>
                    <a:pt x="3020695" y="1482090"/>
                  </a:lnTo>
                  <a:lnTo>
                    <a:pt x="3045460" y="1468120"/>
                  </a:lnTo>
                  <a:close/>
                </a:path>
                <a:path w="4739005" h="2897504">
                  <a:moveTo>
                    <a:pt x="3045460" y="675640"/>
                  </a:moveTo>
                  <a:lnTo>
                    <a:pt x="3020695" y="661670"/>
                  </a:lnTo>
                  <a:lnTo>
                    <a:pt x="2931795" y="609600"/>
                  </a:lnTo>
                  <a:lnTo>
                    <a:pt x="2922905" y="611505"/>
                  </a:lnTo>
                  <a:lnTo>
                    <a:pt x="2919095" y="618490"/>
                  </a:lnTo>
                  <a:lnTo>
                    <a:pt x="2914650" y="625475"/>
                  </a:lnTo>
                  <a:lnTo>
                    <a:pt x="2917190" y="634365"/>
                  </a:lnTo>
                  <a:lnTo>
                    <a:pt x="2964180" y="661670"/>
                  </a:lnTo>
                  <a:lnTo>
                    <a:pt x="2376805" y="661670"/>
                  </a:lnTo>
                  <a:lnTo>
                    <a:pt x="2376805" y="690245"/>
                  </a:lnTo>
                  <a:lnTo>
                    <a:pt x="2964180" y="690245"/>
                  </a:lnTo>
                  <a:lnTo>
                    <a:pt x="2917190" y="717550"/>
                  </a:lnTo>
                  <a:lnTo>
                    <a:pt x="2914650" y="726440"/>
                  </a:lnTo>
                  <a:lnTo>
                    <a:pt x="2919095" y="732790"/>
                  </a:lnTo>
                  <a:lnTo>
                    <a:pt x="2922905" y="739775"/>
                  </a:lnTo>
                  <a:lnTo>
                    <a:pt x="2931795" y="742315"/>
                  </a:lnTo>
                  <a:lnTo>
                    <a:pt x="3045460" y="675640"/>
                  </a:lnTo>
                  <a:close/>
                </a:path>
                <a:path w="4739005" h="2897504">
                  <a:moveTo>
                    <a:pt x="3291205" y="66040"/>
                  </a:moveTo>
                  <a:lnTo>
                    <a:pt x="3266440" y="52070"/>
                  </a:lnTo>
                  <a:lnTo>
                    <a:pt x="3177540" y="0"/>
                  </a:lnTo>
                  <a:lnTo>
                    <a:pt x="3168650" y="1905"/>
                  </a:lnTo>
                  <a:lnTo>
                    <a:pt x="3161030" y="15875"/>
                  </a:lnTo>
                  <a:lnTo>
                    <a:pt x="3162935" y="24765"/>
                  </a:lnTo>
                  <a:lnTo>
                    <a:pt x="3209925" y="52070"/>
                  </a:lnTo>
                  <a:lnTo>
                    <a:pt x="2184400" y="52070"/>
                  </a:lnTo>
                  <a:lnTo>
                    <a:pt x="2184400" y="80645"/>
                  </a:lnTo>
                  <a:lnTo>
                    <a:pt x="3210560" y="80645"/>
                  </a:lnTo>
                  <a:lnTo>
                    <a:pt x="3162935" y="107950"/>
                  </a:lnTo>
                  <a:lnTo>
                    <a:pt x="3161030" y="116840"/>
                  </a:lnTo>
                  <a:lnTo>
                    <a:pt x="3164840" y="123190"/>
                  </a:lnTo>
                  <a:lnTo>
                    <a:pt x="3168650" y="130175"/>
                  </a:lnTo>
                  <a:lnTo>
                    <a:pt x="3177540" y="132715"/>
                  </a:lnTo>
                  <a:lnTo>
                    <a:pt x="3267075" y="80645"/>
                  </a:lnTo>
                  <a:lnTo>
                    <a:pt x="3291205" y="66040"/>
                  </a:lnTo>
                  <a:close/>
                </a:path>
                <a:path w="4739005" h="2897504">
                  <a:moveTo>
                    <a:pt x="4443730" y="1457325"/>
                  </a:moveTo>
                  <a:lnTo>
                    <a:pt x="4217898" y="1240790"/>
                  </a:lnTo>
                  <a:lnTo>
                    <a:pt x="4196715" y="1220470"/>
                  </a:lnTo>
                  <a:lnTo>
                    <a:pt x="4242435" y="1231265"/>
                  </a:lnTo>
                  <a:lnTo>
                    <a:pt x="4250055" y="1233170"/>
                  </a:lnTo>
                  <a:lnTo>
                    <a:pt x="4257675" y="1228090"/>
                  </a:lnTo>
                  <a:lnTo>
                    <a:pt x="4259580" y="1220470"/>
                  </a:lnTo>
                  <a:lnTo>
                    <a:pt x="4261485" y="1212850"/>
                  </a:lnTo>
                  <a:lnTo>
                    <a:pt x="4256405" y="1205230"/>
                  </a:lnTo>
                  <a:lnTo>
                    <a:pt x="4128770" y="1174115"/>
                  </a:lnTo>
                  <a:lnTo>
                    <a:pt x="4164330" y="1301115"/>
                  </a:lnTo>
                  <a:lnTo>
                    <a:pt x="4172585" y="1305560"/>
                  </a:lnTo>
                  <a:lnTo>
                    <a:pt x="4187825" y="1301115"/>
                  </a:lnTo>
                  <a:lnTo>
                    <a:pt x="4192270" y="1292860"/>
                  </a:lnTo>
                  <a:lnTo>
                    <a:pt x="4177030" y="1240790"/>
                  </a:lnTo>
                  <a:lnTo>
                    <a:pt x="4423410" y="1478280"/>
                  </a:lnTo>
                  <a:lnTo>
                    <a:pt x="4443730" y="1457325"/>
                  </a:lnTo>
                  <a:close/>
                </a:path>
                <a:path w="4739005" h="2897504">
                  <a:moveTo>
                    <a:pt x="4739005" y="690245"/>
                  </a:moveTo>
                  <a:lnTo>
                    <a:pt x="4738268" y="673735"/>
                  </a:lnTo>
                  <a:lnTo>
                    <a:pt x="4737735" y="661670"/>
                  </a:lnTo>
                  <a:lnTo>
                    <a:pt x="4209415" y="673735"/>
                  </a:lnTo>
                  <a:lnTo>
                    <a:pt x="4255770" y="645160"/>
                  </a:lnTo>
                  <a:lnTo>
                    <a:pt x="4240530" y="621030"/>
                  </a:lnTo>
                  <a:lnTo>
                    <a:pt x="4128770" y="690245"/>
                  </a:lnTo>
                  <a:lnTo>
                    <a:pt x="4243705" y="753745"/>
                  </a:lnTo>
                  <a:lnTo>
                    <a:pt x="4252595" y="751205"/>
                  </a:lnTo>
                  <a:lnTo>
                    <a:pt x="4260215" y="737235"/>
                  </a:lnTo>
                  <a:lnTo>
                    <a:pt x="4257675" y="728980"/>
                  </a:lnTo>
                  <a:lnTo>
                    <a:pt x="4212590" y="703580"/>
                  </a:lnTo>
                  <a:lnTo>
                    <a:pt x="4210050" y="702310"/>
                  </a:lnTo>
                  <a:lnTo>
                    <a:pt x="4739005" y="690245"/>
                  </a:lnTo>
                  <a:close/>
                </a:path>
              </a:pathLst>
            </a:custGeom>
            <a:solidFill>
              <a:srgbClr val="C00000"/>
            </a:solidFill>
          </p:spPr>
          <p:txBody>
            <a:bodyPr wrap="square" lIns="0" tIns="0" rIns="0" bIns="0" rtlCol="0"/>
            <a:lstStyle/>
            <a:p>
              <a:endParaRPr/>
            </a:p>
          </p:txBody>
        </p:sp>
      </p:grpSp>
      <p:sp>
        <p:nvSpPr>
          <p:cNvPr id="6" name="object 6"/>
          <p:cNvSpPr txBox="1">
            <a:spLocks noGrp="1"/>
          </p:cNvSpPr>
          <p:nvPr>
            <p:ph type="title"/>
          </p:nvPr>
        </p:nvSpPr>
        <p:spPr>
          <a:xfrm>
            <a:off x="2713101" y="679526"/>
            <a:ext cx="3568065" cy="512445"/>
          </a:xfrm>
          <a:prstGeom prst="rect">
            <a:avLst/>
          </a:prstGeom>
        </p:spPr>
        <p:txBody>
          <a:bodyPr vert="horz" wrap="square" lIns="0" tIns="12065" rIns="0" bIns="0" rtlCol="0">
            <a:spAutoFit/>
          </a:bodyPr>
          <a:lstStyle/>
          <a:p>
            <a:pPr marL="12700">
              <a:lnSpc>
                <a:spcPct val="100000"/>
              </a:lnSpc>
              <a:spcBef>
                <a:spcPts val="95"/>
              </a:spcBef>
            </a:pPr>
            <a:r>
              <a:rPr sz="3200" b="1" spc="-5" dirty="0">
                <a:latin typeface="Arial"/>
                <a:cs typeface="Arial"/>
              </a:rPr>
              <a:t>Calomel</a:t>
            </a:r>
            <a:r>
              <a:rPr sz="3200" b="1" spc="-110" dirty="0">
                <a:latin typeface="Arial"/>
                <a:cs typeface="Arial"/>
              </a:rPr>
              <a:t> </a:t>
            </a:r>
            <a:r>
              <a:rPr sz="3200" b="1" dirty="0">
                <a:latin typeface="Arial"/>
                <a:cs typeface="Arial"/>
              </a:rPr>
              <a:t>Electrode</a:t>
            </a:r>
            <a:endParaRPr sz="3200">
              <a:latin typeface="Arial"/>
              <a:cs typeface="Arial"/>
            </a:endParaRPr>
          </a:p>
        </p:txBody>
      </p:sp>
      <p:sp>
        <p:nvSpPr>
          <p:cNvPr id="7" name="object 7"/>
          <p:cNvSpPr txBox="1"/>
          <p:nvPr/>
        </p:nvSpPr>
        <p:spPr>
          <a:xfrm>
            <a:off x="3542029" y="2863850"/>
            <a:ext cx="1219200" cy="400050"/>
          </a:xfrm>
          <a:prstGeom prst="rect">
            <a:avLst/>
          </a:prstGeom>
          <a:ln w="9525">
            <a:solidFill>
              <a:srgbClr val="FF0000"/>
            </a:solidFill>
          </a:ln>
        </p:spPr>
        <p:txBody>
          <a:bodyPr vert="horz" wrap="square" lIns="0" tIns="29209" rIns="0" bIns="0" rtlCol="0">
            <a:spAutoFit/>
          </a:bodyPr>
          <a:lstStyle/>
          <a:p>
            <a:pPr marL="195580">
              <a:lnSpc>
                <a:spcPct val="100000"/>
              </a:lnSpc>
              <a:spcBef>
                <a:spcPts val="229"/>
              </a:spcBef>
            </a:pPr>
            <a:r>
              <a:rPr sz="2000" spc="-15" dirty="0">
                <a:latin typeface="Constantia"/>
                <a:cs typeface="Constantia"/>
              </a:rPr>
              <a:t>Pt</a:t>
            </a:r>
            <a:r>
              <a:rPr sz="2000" spc="-5" dirty="0">
                <a:latin typeface="Constantia"/>
                <a:cs typeface="Constantia"/>
              </a:rPr>
              <a:t>.</a:t>
            </a:r>
            <a:r>
              <a:rPr sz="2000" spc="-100" dirty="0">
                <a:latin typeface="Constantia"/>
                <a:cs typeface="Constantia"/>
              </a:rPr>
              <a:t> </a:t>
            </a:r>
            <a:r>
              <a:rPr sz="2000" spc="-10" dirty="0">
                <a:latin typeface="Constantia"/>
                <a:cs typeface="Constantia"/>
              </a:rPr>
              <a:t>w</a:t>
            </a:r>
            <a:r>
              <a:rPr sz="2000" spc="10" dirty="0">
                <a:latin typeface="Constantia"/>
                <a:cs typeface="Constantia"/>
              </a:rPr>
              <a:t>i</a:t>
            </a:r>
            <a:r>
              <a:rPr sz="2000" spc="-10" dirty="0">
                <a:latin typeface="Constantia"/>
                <a:cs typeface="Constantia"/>
              </a:rPr>
              <a:t>re</a:t>
            </a:r>
            <a:endParaRPr sz="2000">
              <a:latin typeface="Constantia"/>
              <a:cs typeface="Constantia"/>
            </a:endParaRPr>
          </a:p>
        </p:txBody>
      </p:sp>
      <p:sp>
        <p:nvSpPr>
          <p:cNvPr id="8" name="object 8"/>
          <p:cNvSpPr txBox="1"/>
          <p:nvPr/>
        </p:nvSpPr>
        <p:spPr>
          <a:xfrm>
            <a:off x="3419475" y="3481704"/>
            <a:ext cx="1614805" cy="370205"/>
          </a:xfrm>
          <a:prstGeom prst="rect">
            <a:avLst/>
          </a:prstGeom>
          <a:ln w="9525">
            <a:solidFill>
              <a:srgbClr val="FF0000"/>
            </a:solidFill>
          </a:ln>
        </p:spPr>
        <p:txBody>
          <a:bodyPr vert="horz" wrap="square" lIns="0" tIns="31115" rIns="0" bIns="0" rtlCol="0">
            <a:spAutoFit/>
          </a:bodyPr>
          <a:lstStyle/>
          <a:p>
            <a:pPr marL="95885">
              <a:lnSpc>
                <a:spcPct val="100000"/>
              </a:lnSpc>
              <a:spcBef>
                <a:spcPts val="245"/>
              </a:spcBef>
            </a:pPr>
            <a:r>
              <a:rPr sz="1800" spc="-5" dirty="0">
                <a:latin typeface="Constantia"/>
                <a:cs typeface="Constantia"/>
              </a:rPr>
              <a:t>Saturated</a:t>
            </a:r>
            <a:r>
              <a:rPr sz="1800" spc="-90" dirty="0">
                <a:latin typeface="Constantia"/>
                <a:cs typeface="Constantia"/>
              </a:rPr>
              <a:t> </a:t>
            </a:r>
            <a:r>
              <a:rPr sz="1800" spc="-10" dirty="0">
                <a:latin typeface="Constantia"/>
                <a:cs typeface="Constantia"/>
              </a:rPr>
              <a:t>KCL</a:t>
            </a:r>
            <a:endParaRPr sz="1800">
              <a:latin typeface="Constantia"/>
              <a:cs typeface="Constantia"/>
            </a:endParaRPr>
          </a:p>
        </p:txBody>
      </p:sp>
      <p:sp>
        <p:nvSpPr>
          <p:cNvPr id="9" name="object 9"/>
          <p:cNvSpPr txBox="1"/>
          <p:nvPr/>
        </p:nvSpPr>
        <p:spPr>
          <a:xfrm>
            <a:off x="7315200" y="3481704"/>
            <a:ext cx="609600" cy="370205"/>
          </a:xfrm>
          <a:prstGeom prst="rect">
            <a:avLst/>
          </a:prstGeom>
          <a:ln w="9525">
            <a:solidFill>
              <a:srgbClr val="FF0000"/>
            </a:solidFill>
          </a:ln>
        </p:spPr>
        <p:txBody>
          <a:bodyPr vert="horz" wrap="square" lIns="0" tIns="31115" rIns="0" bIns="0" rtlCol="0">
            <a:spAutoFit/>
          </a:bodyPr>
          <a:lstStyle/>
          <a:p>
            <a:pPr marL="96520">
              <a:lnSpc>
                <a:spcPct val="100000"/>
              </a:lnSpc>
              <a:spcBef>
                <a:spcPts val="245"/>
              </a:spcBef>
            </a:pPr>
            <a:r>
              <a:rPr sz="1800" dirty="0">
                <a:latin typeface="Constantia"/>
                <a:cs typeface="Constantia"/>
              </a:rPr>
              <a:t>gel</a:t>
            </a:r>
            <a:endParaRPr sz="1800">
              <a:latin typeface="Constantia"/>
              <a:cs typeface="Constantia"/>
            </a:endParaRPr>
          </a:p>
        </p:txBody>
      </p:sp>
      <p:sp>
        <p:nvSpPr>
          <p:cNvPr id="10" name="object 10"/>
          <p:cNvSpPr txBox="1"/>
          <p:nvPr/>
        </p:nvSpPr>
        <p:spPr>
          <a:xfrm>
            <a:off x="3542029" y="4244340"/>
            <a:ext cx="1411605" cy="646430"/>
          </a:xfrm>
          <a:prstGeom prst="rect">
            <a:avLst/>
          </a:prstGeom>
          <a:ln w="9525">
            <a:solidFill>
              <a:srgbClr val="FF0000"/>
            </a:solidFill>
          </a:ln>
        </p:spPr>
        <p:txBody>
          <a:bodyPr vert="horz" wrap="square" lIns="0" tIns="27940" rIns="0" bIns="0" rtlCol="0">
            <a:spAutoFit/>
          </a:bodyPr>
          <a:lstStyle/>
          <a:p>
            <a:pPr marL="95250" marR="243204">
              <a:lnSpc>
                <a:spcPct val="101099"/>
              </a:lnSpc>
              <a:spcBef>
                <a:spcPts val="220"/>
              </a:spcBef>
            </a:pPr>
            <a:r>
              <a:rPr sz="1800" spc="-5" dirty="0">
                <a:latin typeface="Constantia"/>
                <a:cs typeface="Constantia"/>
              </a:rPr>
              <a:t>Paste </a:t>
            </a:r>
            <a:r>
              <a:rPr sz="1800" dirty="0">
                <a:latin typeface="Constantia"/>
                <a:cs typeface="Constantia"/>
              </a:rPr>
              <a:t>of </a:t>
            </a:r>
            <a:r>
              <a:rPr sz="1800" spc="5" dirty="0">
                <a:latin typeface="Constantia"/>
                <a:cs typeface="Constantia"/>
              </a:rPr>
              <a:t> </a:t>
            </a:r>
            <a:r>
              <a:rPr sz="1800" spc="-10" dirty="0">
                <a:latin typeface="Constantia"/>
                <a:cs typeface="Constantia"/>
              </a:rPr>
              <a:t>H</a:t>
            </a:r>
            <a:r>
              <a:rPr sz="1800" spc="-5" dirty="0">
                <a:latin typeface="Constantia"/>
                <a:cs typeface="Constantia"/>
              </a:rPr>
              <a:t>g</a:t>
            </a:r>
            <a:r>
              <a:rPr sz="1800" dirty="0">
                <a:latin typeface="Constantia"/>
                <a:cs typeface="Constantia"/>
              </a:rPr>
              <a:t>-</a:t>
            </a:r>
            <a:r>
              <a:rPr sz="1800" spc="-10" dirty="0">
                <a:latin typeface="Constantia"/>
                <a:cs typeface="Constantia"/>
              </a:rPr>
              <a:t>H</a:t>
            </a:r>
            <a:r>
              <a:rPr sz="1800" spc="-5" dirty="0">
                <a:latin typeface="Constantia"/>
                <a:cs typeface="Constantia"/>
              </a:rPr>
              <a:t>g</a:t>
            </a:r>
            <a:r>
              <a:rPr sz="1800" baseline="-18518" dirty="0">
                <a:latin typeface="Constantia"/>
                <a:cs typeface="Constantia"/>
              </a:rPr>
              <a:t>2</a:t>
            </a:r>
            <a:r>
              <a:rPr sz="1800" spc="-104" baseline="-18518" dirty="0">
                <a:latin typeface="Constantia"/>
                <a:cs typeface="Constantia"/>
              </a:rPr>
              <a:t> </a:t>
            </a:r>
            <a:r>
              <a:rPr sz="1800" dirty="0">
                <a:latin typeface="Constantia"/>
                <a:cs typeface="Constantia"/>
              </a:rPr>
              <a:t>C</a:t>
            </a:r>
            <a:r>
              <a:rPr sz="1800" spc="-5" dirty="0">
                <a:latin typeface="Constantia"/>
                <a:cs typeface="Constantia"/>
              </a:rPr>
              <a:t>l</a:t>
            </a:r>
            <a:r>
              <a:rPr sz="1800" baseline="-18518" dirty="0">
                <a:latin typeface="Constantia"/>
                <a:cs typeface="Constantia"/>
              </a:rPr>
              <a:t>2</a:t>
            </a:r>
            <a:endParaRPr sz="1800" baseline="-18518">
              <a:latin typeface="Constantia"/>
              <a:cs typeface="Constantia"/>
            </a:endParaRPr>
          </a:p>
        </p:txBody>
      </p:sp>
      <p:sp>
        <p:nvSpPr>
          <p:cNvPr id="11" name="object 11"/>
          <p:cNvSpPr txBox="1"/>
          <p:nvPr/>
        </p:nvSpPr>
        <p:spPr>
          <a:xfrm>
            <a:off x="6705600" y="4426584"/>
            <a:ext cx="1524000" cy="368300"/>
          </a:xfrm>
          <a:prstGeom prst="rect">
            <a:avLst/>
          </a:prstGeom>
          <a:ln w="9525">
            <a:solidFill>
              <a:srgbClr val="FF0000"/>
            </a:solidFill>
          </a:ln>
        </p:spPr>
        <p:txBody>
          <a:bodyPr vert="horz" wrap="square" lIns="0" tIns="34290" rIns="0" bIns="0" rtlCol="0">
            <a:spAutoFit/>
          </a:bodyPr>
          <a:lstStyle/>
          <a:p>
            <a:pPr marL="96520">
              <a:lnSpc>
                <a:spcPct val="100000"/>
              </a:lnSpc>
              <a:spcBef>
                <a:spcPts val="270"/>
              </a:spcBef>
            </a:pPr>
            <a:r>
              <a:rPr sz="1800" spc="5" dirty="0">
                <a:latin typeface="Constantia"/>
                <a:cs typeface="Constantia"/>
              </a:rPr>
              <a:t>Po</a:t>
            </a:r>
            <a:r>
              <a:rPr sz="1800" spc="-20" dirty="0">
                <a:latin typeface="Constantia"/>
                <a:cs typeface="Constantia"/>
              </a:rPr>
              <a:t>r</a:t>
            </a:r>
            <a:r>
              <a:rPr sz="1800" spc="5" dirty="0">
                <a:latin typeface="Constantia"/>
                <a:cs typeface="Constantia"/>
              </a:rPr>
              <a:t>o</a:t>
            </a:r>
            <a:r>
              <a:rPr sz="1800" dirty="0">
                <a:latin typeface="Constantia"/>
                <a:cs typeface="Constantia"/>
              </a:rPr>
              <a:t>us</a:t>
            </a:r>
            <a:r>
              <a:rPr sz="1800" spc="-120" dirty="0">
                <a:latin typeface="Constantia"/>
                <a:cs typeface="Constantia"/>
              </a:rPr>
              <a:t> </a:t>
            </a:r>
            <a:r>
              <a:rPr sz="1800" dirty="0">
                <a:latin typeface="Constantia"/>
                <a:cs typeface="Constantia"/>
              </a:rPr>
              <a:t>plug</a:t>
            </a:r>
            <a:endParaRPr sz="1800">
              <a:latin typeface="Constantia"/>
              <a:cs typeface="Constantia"/>
            </a:endParaRPr>
          </a:p>
        </p:txBody>
      </p:sp>
      <p:sp>
        <p:nvSpPr>
          <p:cNvPr id="12" name="object 12"/>
          <p:cNvSpPr txBox="1"/>
          <p:nvPr/>
        </p:nvSpPr>
        <p:spPr>
          <a:xfrm>
            <a:off x="3381375" y="5128895"/>
            <a:ext cx="1691005" cy="370205"/>
          </a:xfrm>
          <a:prstGeom prst="rect">
            <a:avLst/>
          </a:prstGeom>
          <a:ln w="9525">
            <a:solidFill>
              <a:srgbClr val="FF0000"/>
            </a:solidFill>
          </a:ln>
        </p:spPr>
        <p:txBody>
          <a:bodyPr vert="horz" wrap="square" lIns="0" tIns="27305" rIns="0" bIns="0" rtlCol="0">
            <a:spAutoFit/>
          </a:bodyPr>
          <a:lstStyle/>
          <a:p>
            <a:pPr marL="93980">
              <a:lnSpc>
                <a:spcPct val="100000"/>
              </a:lnSpc>
              <a:spcBef>
                <a:spcPts val="215"/>
              </a:spcBef>
            </a:pPr>
            <a:r>
              <a:rPr sz="1800" dirty="0">
                <a:latin typeface="Constantia"/>
                <a:cs typeface="Constantia"/>
              </a:rPr>
              <a:t>Pure</a:t>
            </a:r>
            <a:r>
              <a:rPr sz="1800" spc="-95" dirty="0">
                <a:latin typeface="Constantia"/>
                <a:cs typeface="Constantia"/>
              </a:rPr>
              <a:t> </a:t>
            </a:r>
            <a:r>
              <a:rPr sz="1800" spc="-10" dirty="0">
                <a:latin typeface="Constantia"/>
                <a:cs typeface="Constantia"/>
              </a:rPr>
              <a:t>mercury</a:t>
            </a:r>
            <a:endParaRPr sz="1800">
              <a:latin typeface="Constantia"/>
              <a:cs typeface="Constantia"/>
            </a:endParaRPr>
          </a:p>
        </p:txBody>
      </p:sp>
      <p:sp>
        <p:nvSpPr>
          <p:cNvPr id="13" name="object 13"/>
          <p:cNvSpPr txBox="1"/>
          <p:nvPr/>
        </p:nvSpPr>
        <p:spPr>
          <a:xfrm>
            <a:off x="3542029" y="5821679"/>
            <a:ext cx="1411605" cy="381000"/>
          </a:xfrm>
          <a:prstGeom prst="rect">
            <a:avLst/>
          </a:prstGeom>
          <a:ln w="9525">
            <a:solidFill>
              <a:srgbClr val="FF0000"/>
            </a:solidFill>
          </a:ln>
        </p:spPr>
        <p:txBody>
          <a:bodyPr vert="horz" wrap="square" lIns="0" tIns="36195" rIns="0" bIns="0" rtlCol="0">
            <a:spAutoFit/>
          </a:bodyPr>
          <a:lstStyle/>
          <a:p>
            <a:pPr marL="95250">
              <a:lnSpc>
                <a:spcPct val="100000"/>
              </a:lnSpc>
              <a:spcBef>
                <a:spcPts val="285"/>
              </a:spcBef>
            </a:pPr>
            <a:r>
              <a:rPr sz="1800" spc="5" dirty="0">
                <a:latin typeface="Constantia"/>
                <a:cs typeface="Constantia"/>
              </a:rPr>
              <a:t>Po</a:t>
            </a:r>
            <a:r>
              <a:rPr sz="1800" spc="-20" dirty="0">
                <a:latin typeface="Constantia"/>
                <a:cs typeface="Constantia"/>
              </a:rPr>
              <a:t>r</a:t>
            </a:r>
            <a:r>
              <a:rPr sz="1800" spc="5" dirty="0">
                <a:latin typeface="Constantia"/>
                <a:cs typeface="Constantia"/>
              </a:rPr>
              <a:t>o</a:t>
            </a:r>
            <a:r>
              <a:rPr sz="1800" dirty="0">
                <a:latin typeface="Constantia"/>
                <a:cs typeface="Constantia"/>
              </a:rPr>
              <a:t>us</a:t>
            </a:r>
            <a:r>
              <a:rPr sz="1800" spc="-120" dirty="0">
                <a:latin typeface="Constantia"/>
                <a:cs typeface="Constantia"/>
              </a:rPr>
              <a:t> </a:t>
            </a:r>
            <a:r>
              <a:rPr sz="1800" dirty="0">
                <a:latin typeface="Constantia"/>
                <a:cs typeface="Constantia"/>
              </a:rPr>
              <a:t>plug</a:t>
            </a:r>
            <a:endParaRPr sz="1800">
              <a:latin typeface="Constantia"/>
              <a:cs typeface="Constanti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04975" y="923289"/>
            <a:ext cx="4352925" cy="381000"/>
          </a:xfrm>
          <a:prstGeom prst="rect">
            <a:avLst/>
          </a:prstGeom>
        </p:spPr>
      </p:pic>
      <p:pic>
        <p:nvPicPr>
          <p:cNvPr id="3" name="object 3"/>
          <p:cNvPicPr/>
          <p:nvPr/>
        </p:nvPicPr>
        <p:blipFill>
          <a:blip r:embed="rId3" cstate="print"/>
          <a:stretch>
            <a:fillRect/>
          </a:stretch>
        </p:blipFill>
        <p:spPr>
          <a:xfrm>
            <a:off x="1628775" y="2056892"/>
            <a:ext cx="4448175" cy="323850"/>
          </a:xfrm>
          <a:prstGeom prst="rect">
            <a:avLst/>
          </a:prstGeom>
        </p:spPr>
      </p:pic>
      <p:sp>
        <p:nvSpPr>
          <p:cNvPr id="4" name="object 4"/>
          <p:cNvSpPr txBox="1"/>
          <p:nvPr/>
        </p:nvSpPr>
        <p:spPr>
          <a:xfrm>
            <a:off x="460044" y="389585"/>
            <a:ext cx="7252334" cy="2783840"/>
          </a:xfrm>
          <a:prstGeom prst="rect">
            <a:avLst/>
          </a:prstGeom>
        </p:spPr>
        <p:txBody>
          <a:bodyPr vert="horz" wrap="square" lIns="0" tIns="12065" rIns="0" bIns="0" rtlCol="0">
            <a:spAutoFit/>
          </a:bodyPr>
          <a:lstStyle/>
          <a:p>
            <a:pPr marL="353695" indent="-341630">
              <a:lnSpc>
                <a:spcPct val="100000"/>
              </a:lnSpc>
              <a:spcBef>
                <a:spcPts val="95"/>
              </a:spcBef>
              <a:buFont typeface="Microsoft Sans Serif"/>
              <a:buChar char="•"/>
              <a:tabLst>
                <a:tab pos="353695" algn="l"/>
                <a:tab pos="354330" algn="l"/>
              </a:tabLst>
            </a:pPr>
            <a:r>
              <a:rPr sz="3200" dirty="0">
                <a:solidFill>
                  <a:srgbClr val="C00000"/>
                </a:solidFill>
                <a:latin typeface="Calibri"/>
                <a:cs typeface="Calibri"/>
              </a:rPr>
              <a:t>If</a:t>
            </a:r>
            <a:r>
              <a:rPr sz="3200" spc="-30" dirty="0">
                <a:solidFill>
                  <a:srgbClr val="C00000"/>
                </a:solidFill>
                <a:latin typeface="Calibri"/>
                <a:cs typeface="Calibri"/>
              </a:rPr>
              <a:t> </a:t>
            </a:r>
            <a:r>
              <a:rPr sz="3200" spc="-5" dirty="0">
                <a:solidFill>
                  <a:srgbClr val="C00000"/>
                </a:solidFill>
                <a:latin typeface="Calibri"/>
                <a:cs typeface="Calibri"/>
              </a:rPr>
              <a:t>calomel</a:t>
            </a:r>
            <a:r>
              <a:rPr sz="3200" dirty="0">
                <a:solidFill>
                  <a:srgbClr val="C00000"/>
                </a:solidFill>
                <a:latin typeface="Calibri"/>
                <a:cs typeface="Calibri"/>
              </a:rPr>
              <a:t> </a:t>
            </a:r>
            <a:r>
              <a:rPr sz="3200" spc="-5" dirty="0">
                <a:solidFill>
                  <a:srgbClr val="C00000"/>
                </a:solidFill>
                <a:latin typeface="Calibri"/>
                <a:cs typeface="Calibri"/>
              </a:rPr>
              <a:t>acts</a:t>
            </a:r>
            <a:r>
              <a:rPr sz="3200" spc="-30" dirty="0">
                <a:solidFill>
                  <a:srgbClr val="C00000"/>
                </a:solidFill>
                <a:latin typeface="Calibri"/>
                <a:cs typeface="Calibri"/>
              </a:rPr>
              <a:t> </a:t>
            </a:r>
            <a:r>
              <a:rPr sz="3200" dirty="0">
                <a:solidFill>
                  <a:srgbClr val="C00000"/>
                </a:solidFill>
                <a:latin typeface="Calibri"/>
                <a:cs typeface="Calibri"/>
              </a:rPr>
              <a:t>as</a:t>
            </a:r>
            <a:r>
              <a:rPr sz="3200" spc="-40" dirty="0">
                <a:solidFill>
                  <a:srgbClr val="C00000"/>
                </a:solidFill>
                <a:latin typeface="Calibri"/>
                <a:cs typeface="Calibri"/>
              </a:rPr>
              <a:t> </a:t>
            </a:r>
            <a:r>
              <a:rPr sz="3200" spc="-5" dirty="0">
                <a:solidFill>
                  <a:srgbClr val="C00000"/>
                </a:solidFill>
                <a:latin typeface="Calibri"/>
                <a:cs typeface="Calibri"/>
              </a:rPr>
              <a:t>cathode</a:t>
            </a:r>
            <a:r>
              <a:rPr sz="3200" dirty="0">
                <a:solidFill>
                  <a:srgbClr val="C00000"/>
                </a:solidFill>
                <a:latin typeface="Microsoft Sans Serif"/>
                <a:cs typeface="Microsoft Sans Serif"/>
              </a:rPr>
              <a:t> </a:t>
            </a:r>
            <a:endParaRPr sz="3200">
              <a:latin typeface="Microsoft Sans Serif"/>
              <a:cs typeface="Microsoft Sans Serif"/>
            </a:endParaRPr>
          </a:p>
          <a:p>
            <a:pPr>
              <a:lnSpc>
                <a:spcPct val="100000"/>
              </a:lnSpc>
              <a:buChar char="•"/>
            </a:pPr>
            <a:endParaRPr sz="4750">
              <a:latin typeface="Microsoft Sans Serif"/>
              <a:cs typeface="Microsoft Sans Serif"/>
            </a:endParaRPr>
          </a:p>
          <a:p>
            <a:pPr marL="353695" indent="-341630">
              <a:lnSpc>
                <a:spcPct val="100000"/>
              </a:lnSpc>
              <a:spcBef>
                <a:spcPts val="5"/>
              </a:spcBef>
              <a:buFont typeface="Microsoft Sans Serif"/>
              <a:buChar char="•"/>
              <a:tabLst>
                <a:tab pos="353695" algn="l"/>
                <a:tab pos="354330" algn="l"/>
              </a:tabLst>
            </a:pPr>
            <a:r>
              <a:rPr sz="3200" dirty="0">
                <a:solidFill>
                  <a:srgbClr val="C00000"/>
                </a:solidFill>
                <a:latin typeface="Calibri"/>
                <a:cs typeface="Calibri"/>
              </a:rPr>
              <a:t>If</a:t>
            </a:r>
            <a:r>
              <a:rPr sz="3200" spc="-35" dirty="0">
                <a:solidFill>
                  <a:srgbClr val="C00000"/>
                </a:solidFill>
                <a:latin typeface="Calibri"/>
                <a:cs typeface="Calibri"/>
              </a:rPr>
              <a:t> </a:t>
            </a:r>
            <a:r>
              <a:rPr sz="3200" spc="-5" dirty="0">
                <a:solidFill>
                  <a:srgbClr val="C00000"/>
                </a:solidFill>
                <a:latin typeface="Calibri"/>
                <a:cs typeface="Calibri"/>
              </a:rPr>
              <a:t>calomel</a:t>
            </a:r>
            <a:r>
              <a:rPr sz="3200" spc="-10" dirty="0">
                <a:solidFill>
                  <a:srgbClr val="C00000"/>
                </a:solidFill>
                <a:latin typeface="Calibri"/>
                <a:cs typeface="Calibri"/>
              </a:rPr>
              <a:t> </a:t>
            </a:r>
            <a:r>
              <a:rPr sz="3200" spc="-5" dirty="0">
                <a:solidFill>
                  <a:srgbClr val="C00000"/>
                </a:solidFill>
                <a:latin typeface="Calibri"/>
                <a:cs typeface="Calibri"/>
              </a:rPr>
              <a:t>acts</a:t>
            </a:r>
            <a:r>
              <a:rPr sz="3200" spc="-10" dirty="0">
                <a:solidFill>
                  <a:srgbClr val="C00000"/>
                </a:solidFill>
                <a:latin typeface="Calibri"/>
                <a:cs typeface="Calibri"/>
              </a:rPr>
              <a:t> </a:t>
            </a:r>
            <a:r>
              <a:rPr sz="3200" spc="-5" dirty="0">
                <a:solidFill>
                  <a:srgbClr val="C00000"/>
                </a:solidFill>
                <a:latin typeface="Calibri"/>
                <a:cs typeface="Calibri"/>
              </a:rPr>
              <a:t>as</a:t>
            </a:r>
            <a:r>
              <a:rPr sz="3200" spc="-15" dirty="0">
                <a:solidFill>
                  <a:srgbClr val="C00000"/>
                </a:solidFill>
                <a:latin typeface="Calibri"/>
                <a:cs typeface="Calibri"/>
              </a:rPr>
              <a:t> </a:t>
            </a:r>
            <a:r>
              <a:rPr sz="3200" dirty="0">
                <a:solidFill>
                  <a:srgbClr val="C00000"/>
                </a:solidFill>
                <a:latin typeface="Calibri"/>
                <a:cs typeface="Calibri"/>
              </a:rPr>
              <a:t>anode</a:t>
            </a:r>
            <a:r>
              <a:rPr sz="3200" dirty="0">
                <a:solidFill>
                  <a:srgbClr val="C00000"/>
                </a:solidFill>
                <a:latin typeface="Microsoft Sans Serif"/>
                <a:cs typeface="Microsoft Sans Serif"/>
              </a:rPr>
              <a:t> </a:t>
            </a:r>
            <a:endParaRPr sz="3200">
              <a:latin typeface="Microsoft Sans Serif"/>
              <a:cs typeface="Microsoft Sans Serif"/>
            </a:endParaRPr>
          </a:p>
          <a:p>
            <a:pPr>
              <a:lnSpc>
                <a:spcPct val="100000"/>
              </a:lnSpc>
              <a:spcBef>
                <a:spcPts val="35"/>
              </a:spcBef>
              <a:buChar char="•"/>
            </a:pPr>
            <a:endParaRPr sz="4650">
              <a:latin typeface="Microsoft Sans Serif"/>
              <a:cs typeface="Microsoft Sans Serif"/>
            </a:endParaRPr>
          </a:p>
          <a:p>
            <a:pPr marL="353695" indent="-341630">
              <a:lnSpc>
                <a:spcPct val="100000"/>
              </a:lnSpc>
              <a:buFont typeface="Microsoft Sans Serif"/>
              <a:buChar char="•"/>
              <a:tabLst>
                <a:tab pos="353695" algn="l"/>
                <a:tab pos="354330" algn="l"/>
              </a:tabLst>
            </a:pPr>
            <a:r>
              <a:rPr sz="2800" spc="-5" dirty="0">
                <a:solidFill>
                  <a:srgbClr val="C00000"/>
                </a:solidFill>
                <a:latin typeface="Constantia"/>
                <a:cs typeface="Constantia"/>
              </a:rPr>
              <a:t>The</a:t>
            </a:r>
            <a:r>
              <a:rPr sz="2800" spc="-175" dirty="0">
                <a:solidFill>
                  <a:srgbClr val="C00000"/>
                </a:solidFill>
                <a:latin typeface="Constantia"/>
                <a:cs typeface="Constantia"/>
              </a:rPr>
              <a:t> </a:t>
            </a:r>
            <a:r>
              <a:rPr sz="2800" spc="-10" dirty="0">
                <a:solidFill>
                  <a:srgbClr val="C00000"/>
                </a:solidFill>
                <a:latin typeface="Constantia"/>
                <a:cs typeface="Constantia"/>
              </a:rPr>
              <a:t>reduction</a:t>
            </a:r>
            <a:r>
              <a:rPr sz="2800" spc="-180" dirty="0">
                <a:solidFill>
                  <a:srgbClr val="C00000"/>
                </a:solidFill>
                <a:latin typeface="Constantia"/>
                <a:cs typeface="Constantia"/>
              </a:rPr>
              <a:t> </a:t>
            </a:r>
            <a:r>
              <a:rPr sz="2800" spc="-5" dirty="0">
                <a:solidFill>
                  <a:srgbClr val="C00000"/>
                </a:solidFill>
                <a:latin typeface="Constantia"/>
                <a:cs typeface="Constantia"/>
              </a:rPr>
              <a:t>electrode</a:t>
            </a:r>
            <a:r>
              <a:rPr sz="2800" spc="-175" dirty="0">
                <a:solidFill>
                  <a:srgbClr val="C00000"/>
                </a:solidFill>
                <a:latin typeface="Constantia"/>
                <a:cs typeface="Constantia"/>
              </a:rPr>
              <a:t> </a:t>
            </a:r>
            <a:r>
              <a:rPr sz="2800" spc="-5" dirty="0">
                <a:solidFill>
                  <a:srgbClr val="C00000"/>
                </a:solidFill>
                <a:latin typeface="Constantia"/>
                <a:cs typeface="Constantia"/>
              </a:rPr>
              <a:t>potential</a:t>
            </a:r>
            <a:r>
              <a:rPr sz="2800" spc="-55" dirty="0">
                <a:solidFill>
                  <a:srgbClr val="C00000"/>
                </a:solidFill>
                <a:latin typeface="Constantia"/>
                <a:cs typeface="Constantia"/>
              </a:rPr>
              <a:t> </a:t>
            </a:r>
            <a:r>
              <a:rPr sz="2800" dirty="0">
                <a:solidFill>
                  <a:srgbClr val="C00000"/>
                </a:solidFill>
                <a:latin typeface="Constantia"/>
                <a:cs typeface="Constantia"/>
              </a:rPr>
              <a:t>is</a:t>
            </a:r>
            <a:r>
              <a:rPr sz="2800" spc="-180" dirty="0">
                <a:solidFill>
                  <a:srgbClr val="C00000"/>
                </a:solidFill>
                <a:latin typeface="Constantia"/>
                <a:cs typeface="Constantia"/>
              </a:rPr>
              <a:t> </a:t>
            </a:r>
            <a:r>
              <a:rPr sz="2800" dirty="0">
                <a:solidFill>
                  <a:srgbClr val="C00000"/>
                </a:solidFill>
                <a:latin typeface="Constantia"/>
                <a:cs typeface="Constantia"/>
              </a:rPr>
              <a:t>given</a:t>
            </a:r>
            <a:r>
              <a:rPr sz="2800" spc="-95" dirty="0">
                <a:solidFill>
                  <a:srgbClr val="C00000"/>
                </a:solidFill>
                <a:latin typeface="Constantia"/>
                <a:cs typeface="Constantia"/>
              </a:rPr>
              <a:t> </a:t>
            </a:r>
            <a:r>
              <a:rPr sz="2800" spc="5" dirty="0">
                <a:solidFill>
                  <a:srgbClr val="C00000"/>
                </a:solidFill>
                <a:latin typeface="Constantia"/>
                <a:cs typeface="Constantia"/>
              </a:rPr>
              <a:t>by</a:t>
            </a:r>
            <a:r>
              <a:rPr sz="2800" dirty="0">
                <a:solidFill>
                  <a:srgbClr val="C00000"/>
                </a:solidFill>
                <a:latin typeface="Microsoft Sans Serif"/>
                <a:cs typeface="Microsoft Sans Serif"/>
              </a:rPr>
              <a:t> </a:t>
            </a:r>
            <a:endParaRPr sz="2800">
              <a:latin typeface="Microsoft Sans Serif"/>
              <a:cs typeface="Microsoft Sans Serif"/>
            </a:endParaRPr>
          </a:p>
        </p:txBody>
      </p:sp>
      <p:sp>
        <p:nvSpPr>
          <p:cNvPr id="5" name="object 5"/>
          <p:cNvSpPr txBox="1"/>
          <p:nvPr/>
        </p:nvSpPr>
        <p:spPr>
          <a:xfrm>
            <a:off x="801420" y="3158438"/>
            <a:ext cx="1318260" cy="454025"/>
          </a:xfrm>
          <a:prstGeom prst="rect">
            <a:avLst/>
          </a:prstGeom>
        </p:spPr>
        <p:txBody>
          <a:bodyPr vert="horz" wrap="square" lIns="0" tIns="13970" rIns="0" bIns="0" rtlCol="0">
            <a:spAutoFit/>
          </a:bodyPr>
          <a:lstStyle/>
          <a:p>
            <a:pPr marL="12700">
              <a:lnSpc>
                <a:spcPct val="100000"/>
              </a:lnSpc>
              <a:spcBef>
                <a:spcPts val="110"/>
              </a:spcBef>
            </a:pPr>
            <a:r>
              <a:rPr sz="2800" spc="-80" dirty="0">
                <a:solidFill>
                  <a:srgbClr val="C00000"/>
                </a:solidFill>
                <a:latin typeface="Constantia"/>
                <a:cs typeface="Constantia"/>
              </a:rPr>
              <a:t>e</a:t>
            </a:r>
            <a:r>
              <a:rPr sz="2800" spc="-95" dirty="0">
                <a:solidFill>
                  <a:srgbClr val="C00000"/>
                </a:solidFill>
                <a:latin typeface="Constantia"/>
                <a:cs typeface="Constantia"/>
              </a:rPr>
              <a:t>q</a:t>
            </a:r>
            <a:r>
              <a:rPr sz="2800" spc="-85" dirty="0">
                <a:solidFill>
                  <a:srgbClr val="C00000"/>
                </a:solidFill>
                <a:latin typeface="Constantia"/>
                <a:cs typeface="Constantia"/>
              </a:rPr>
              <a:t>ua</a:t>
            </a:r>
            <a:r>
              <a:rPr sz="2800" spc="-65" dirty="0">
                <a:solidFill>
                  <a:srgbClr val="C00000"/>
                </a:solidFill>
                <a:latin typeface="Constantia"/>
                <a:cs typeface="Constantia"/>
              </a:rPr>
              <a:t>t</a:t>
            </a:r>
            <a:r>
              <a:rPr sz="2800" spc="-25" dirty="0">
                <a:solidFill>
                  <a:srgbClr val="C00000"/>
                </a:solidFill>
                <a:latin typeface="Constantia"/>
                <a:cs typeface="Constantia"/>
              </a:rPr>
              <a:t>i</a:t>
            </a:r>
            <a:r>
              <a:rPr sz="2800" spc="-85" dirty="0">
                <a:solidFill>
                  <a:srgbClr val="C00000"/>
                </a:solidFill>
                <a:latin typeface="Constantia"/>
                <a:cs typeface="Constantia"/>
              </a:rPr>
              <a:t>o</a:t>
            </a:r>
            <a:r>
              <a:rPr sz="2800" spc="-100" dirty="0">
                <a:solidFill>
                  <a:srgbClr val="C00000"/>
                </a:solidFill>
                <a:latin typeface="Constantia"/>
                <a:cs typeface="Constantia"/>
              </a:rPr>
              <a:t>n</a:t>
            </a:r>
            <a:endParaRPr sz="2800">
              <a:latin typeface="Constantia"/>
              <a:cs typeface="Constantia"/>
            </a:endParaRPr>
          </a:p>
        </p:txBody>
      </p:sp>
      <p:sp>
        <p:nvSpPr>
          <p:cNvPr id="6" name="object 6"/>
          <p:cNvSpPr txBox="1"/>
          <p:nvPr/>
        </p:nvSpPr>
        <p:spPr>
          <a:xfrm>
            <a:off x="2492629" y="3369005"/>
            <a:ext cx="516890" cy="454025"/>
          </a:xfrm>
          <a:prstGeom prst="rect">
            <a:avLst/>
          </a:prstGeom>
        </p:spPr>
        <p:txBody>
          <a:bodyPr vert="horz" wrap="square" lIns="0" tIns="13970" rIns="0" bIns="0" rtlCol="0">
            <a:spAutoFit/>
          </a:bodyPr>
          <a:lstStyle/>
          <a:p>
            <a:pPr marL="38100">
              <a:lnSpc>
                <a:spcPct val="100000"/>
              </a:lnSpc>
              <a:spcBef>
                <a:spcPts val="110"/>
              </a:spcBef>
            </a:pPr>
            <a:r>
              <a:rPr sz="4200" baseline="12896" dirty="0">
                <a:latin typeface="Calibri"/>
                <a:cs typeface="Calibri"/>
              </a:rPr>
              <a:t>E</a:t>
            </a:r>
            <a:r>
              <a:rPr sz="1850" dirty="0">
                <a:latin typeface="Calibri"/>
                <a:cs typeface="Calibri"/>
              </a:rPr>
              <a:t>cal</a:t>
            </a:r>
            <a:endParaRPr sz="1850">
              <a:latin typeface="Calibri"/>
              <a:cs typeface="Calibri"/>
            </a:endParaRPr>
          </a:p>
        </p:txBody>
      </p:sp>
      <p:sp>
        <p:nvSpPr>
          <p:cNvPr id="7" name="object 7"/>
          <p:cNvSpPr txBox="1"/>
          <p:nvPr/>
        </p:nvSpPr>
        <p:spPr>
          <a:xfrm>
            <a:off x="3169666" y="3286709"/>
            <a:ext cx="3396615" cy="454025"/>
          </a:xfrm>
          <a:prstGeom prst="rect">
            <a:avLst/>
          </a:prstGeom>
        </p:spPr>
        <p:txBody>
          <a:bodyPr vert="horz" wrap="square" lIns="0" tIns="13970" rIns="0" bIns="0" rtlCol="0">
            <a:spAutoFit/>
          </a:bodyPr>
          <a:lstStyle/>
          <a:p>
            <a:pPr marL="38100">
              <a:lnSpc>
                <a:spcPct val="100000"/>
              </a:lnSpc>
              <a:spcBef>
                <a:spcPts val="110"/>
              </a:spcBef>
              <a:tabLst>
                <a:tab pos="748030" algn="l"/>
                <a:tab pos="1104900" algn="l"/>
              </a:tabLst>
            </a:pPr>
            <a:r>
              <a:rPr sz="2800" spc="5" dirty="0">
                <a:latin typeface="Calibri"/>
                <a:cs typeface="Calibri"/>
              </a:rPr>
              <a:t>=</a:t>
            </a:r>
            <a:r>
              <a:rPr sz="2800" spc="-20" dirty="0">
                <a:latin typeface="Calibri"/>
                <a:cs typeface="Calibri"/>
              </a:rPr>
              <a:t> </a:t>
            </a:r>
            <a:r>
              <a:rPr sz="2800" dirty="0">
                <a:latin typeface="Calibri"/>
                <a:cs typeface="Calibri"/>
              </a:rPr>
              <a:t>E°	-	</a:t>
            </a:r>
            <a:r>
              <a:rPr sz="2800" spc="-5" dirty="0">
                <a:latin typeface="Calibri"/>
                <a:cs typeface="Calibri"/>
              </a:rPr>
              <a:t>0.0591</a:t>
            </a:r>
            <a:r>
              <a:rPr sz="2800" spc="10" dirty="0">
                <a:latin typeface="Calibri"/>
                <a:cs typeface="Calibri"/>
              </a:rPr>
              <a:t> </a:t>
            </a:r>
            <a:r>
              <a:rPr sz="2800" spc="5" dirty="0">
                <a:latin typeface="Calibri"/>
                <a:cs typeface="Calibri"/>
              </a:rPr>
              <a:t>log</a:t>
            </a:r>
            <a:r>
              <a:rPr sz="2800" spc="-30" dirty="0">
                <a:latin typeface="Calibri"/>
                <a:cs typeface="Calibri"/>
              </a:rPr>
              <a:t> </a:t>
            </a:r>
            <a:r>
              <a:rPr sz="2800" dirty="0">
                <a:latin typeface="Calibri"/>
                <a:cs typeface="Calibri"/>
              </a:rPr>
              <a:t>[</a:t>
            </a:r>
            <a:r>
              <a:rPr sz="2800" spc="-25" dirty="0">
                <a:latin typeface="Calibri"/>
                <a:cs typeface="Calibri"/>
              </a:rPr>
              <a:t> </a:t>
            </a:r>
            <a:r>
              <a:rPr sz="2800" spc="-5" dirty="0">
                <a:latin typeface="Calibri"/>
                <a:cs typeface="Calibri"/>
              </a:rPr>
              <a:t>Cl</a:t>
            </a:r>
            <a:r>
              <a:rPr sz="2700" b="1" spc="-7" baseline="29320" dirty="0">
                <a:latin typeface="Calibri"/>
                <a:cs typeface="Calibri"/>
              </a:rPr>
              <a:t>¯</a:t>
            </a:r>
            <a:r>
              <a:rPr sz="2800" spc="-5" dirty="0">
                <a:latin typeface="Calibri"/>
                <a:cs typeface="Calibri"/>
              </a:rPr>
              <a:t>]</a:t>
            </a:r>
            <a:endParaRPr sz="2800">
              <a:latin typeface="Calibri"/>
              <a:cs typeface="Calibri"/>
            </a:endParaRPr>
          </a:p>
        </p:txBody>
      </p:sp>
      <p:sp>
        <p:nvSpPr>
          <p:cNvPr id="8" name="object 8"/>
          <p:cNvSpPr txBox="1"/>
          <p:nvPr/>
        </p:nvSpPr>
        <p:spPr>
          <a:xfrm>
            <a:off x="460044" y="4159122"/>
            <a:ext cx="8128634" cy="754380"/>
          </a:xfrm>
          <a:prstGeom prst="rect">
            <a:avLst/>
          </a:prstGeom>
        </p:spPr>
        <p:txBody>
          <a:bodyPr vert="horz" wrap="square" lIns="0" tIns="26670" rIns="0" bIns="0" rtlCol="0">
            <a:spAutoFit/>
          </a:bodyPr>
          <a:lstStyle/>
          <a:p>
            <a:pPr marL="353695" marR="5080" indent="-341630">
              <a:lnSpc>
                <a:spcPts val="2860"/>
              </a:lnSpc>
              <a:spcBef>
                <a:spcPts val="210"/>
              </a:spcBef>
              <a:buFont typeface="Microsoft Sans Serif"/>
              <a:buChar char="•"/>
              <a:tabLst>
                <a:tab pos="353695" algn="l"/>
                <a:tab pos="354330" algn="l"/>
                <a:tab pos="6263005" algn="l"/>
              </a:tabLst>
            </a:pPr>
            <a:r>
              <a:rPr sz="2400" dirty="0">
                <a:solidFill>
                  <a:srgbClr val="C00000"/>
                </a:solidFill>
                <a:latin typeface="Constantia"/>
                <a:cs typeface="Constantia"/>
              </a:rPr>
              <a:t>P</a:t>
            </a:r>
            <a:r>
              <a:rPr sz="2400" spc="-10" dirty="0">
                <a:solidFill>
                  <a:srgbClr val="C00000"/>
                </a:solidFill>
                <a:latin typeface="Constantia"/>
                <a:cs typeface="Constantia"/>
              </a:rPr>
              <a:t>o</a:t>
            </a:r>
            <a:r>
              <a:rPr sz="2400" spc="-5" dirty="0">
                <a:solidFill>
                  <a:srgbClr val="C00000"/>
                </a:solidFill>
                <a:latin typeface="Constantia"/>
                <a:cs typeface="Constantia"/>
              </a:rPr>
              <a:t>te</a:t>
            </a:r>
            <a:r>
              <a:rPr sz="2400" spc="-10" dirty="0">
                <a:solidFill>
                  <a:srgbClr val="C00000"/>
                </a:solidFill>
                <a:latin typeface="Constantia"/>
                <a:cs typeface="Constantia"/>
              </a:rPr>
              <a:t>n</a:t>
            </a:r>
            <a:r>
              <a:rPr sz="2400" spc="-5" dirty="0">
                <a:solidFill>
                  <a:srgbClr val="C00000"/>
                </a:solidFill>
                <a:latin typeface="Constantia"/>
                <a:cs typeface="Constantia"/>
              </a:rPr>
              <a:t>t</a:t>
            </a:r>
            <a:r>
              <a:rPr sz="2400" spc="-15" dirty="0">
                <a:solidFill>
                  <a:srgbClr val="C00000"/>
                </a:solidFill>
                <a:latin typeface="Constantia"/>
                <a:cs typeface="Constantia"/>
              </a:rPr>
              <a:t>i</a:t>
            </a:r>
            <a:r>
              <a:rPr sz="2400" dirty="0">
                <a:solidFill>
                  <a:srgbClr val="C00000"/>
                </a:solidFill>
                <a:latin typeface="Constantia"/>
                <a:cs typeface="Constantia"/>
              </a:rPr>
              <a:t>al</a:t>
            </a:r>
            <a:r>
              <a:rPr sz="2400" spc="-125" dirty="0">
                <a:solidFill>
                  <a:srgbClr val="C00000"/>
                </a:solidFill>
                <a:latin typeface="Constantia"/>
                <a:cs typeface="Constantia"/>
              </a:rPr>
              <a:t> </a:t>
            </a:r>
            <a:r>
              <a:rPr sz="2400" spc="-5" dirty="0">
                <a:solidFill>
                  <a:srgbClr val="C00000"/>
                </a:solidFill>
                <a:latin typeface="Constantia"/>
                <a:cs typeface="Constantia"/>
              </a:rPr>
              <a:t>o</a:t>
            </a:r>
            <a:r>
              <a:rPr sz="2400" dirty="0">
                <a:solidFill>
                  <a:srgbClr val="C00000"/>
                </a:solidFill>
                <a:latin typeface="Constantia"/>
                <a:cs typeface="Constantia"/>
              </a:rPr>
              <a:t>f</a:t>
            </a:r>
            <a:r>
              <a:rPr sz="2400" spc="-75" dirty="0">
                <a:solidFill>
                  <a:srgbClr val="C00000"/>
                </a:solidFill>
                <a:latin typeface="Constantia"/>
                <a:cs typeface="Constantia"/>
              </a:rPr>
              <a:t> </a:t>
            </a:r>
            <a:r>
              <a:rPr sz="2400" spc="-5" dirty="0">
                <a:solidFill>
                  <a:srgbClr val="C00000"/>
                </a:solidFill>
                <a:latin typeface="Constantia"/>
                <a:cs typeface="Constantia"/>
              </a:rPr>
              <a:t>cal</a:t>
            </a:r>
            <a:r>
              <a:rPr sz="2400" spc="-10" dirty="0">
                <a:solidFill>
                  <a:srgbClr val="C00000"/>
                </a:solidFill>
                <a:latin typeface="Constantia"/>
                <a:cs typeface="Constantia"/>
              </a:rPr>
              <a:t>o</a:t>
            </a:r>
            <a:r>
              <a:rPr sz="2400" spc="5" dirty="0">
                <a:solidFill>
                  <a:srgbClr val="C00000"/>
                </a:solidFill>
                <a:latin typeface="Constantia"/>
                <a:cs typeface="Constantia"/>
              </a:rPr>
              <a:t>m</a:t>
            </a:r>
            <a:r>
              <a:rPr sz="2400" dirty="0">
                <a:solidFill>
                  <a:srgbClr val="C00000"/>
                </a:solidFill>
                <a:latin typeface="Constantia"/>
                <a:cs typeface="Constantia"/>
              </a:rPr>
              <a:t>el</a:t>
            </a:r>
            <a:r>
              <a:rPr sz="2400" spc="-90" dirty="0">
                <a:solidFill>
                  <a:srgbClr val="C00000"/>
                </a:solidFill>
                <a:latin typeface="Constantia"/>
                <a:cs typeface="Constantia"/>
              </a:rPr>
              <a:t> </a:t>
            </a:r>
            <a:r>
              <a:rPr sz="2400" dirty="0">
                <a:solidFill>
                  <a:srgbClr val="C00000"/>
                </a:solidFill>
                <a:latin typeface="Constantia"/>
                <a:cs typeface="Constantia"/>
              </a:rPr>
              <a:t>elec</a:t>
            </a:r>
            <a:r>
              <a:rPr sz="2400" spc="-10" dirty="0">
                <a:solidFill>
                  <a:srgbClr val="C00000"/>
                </a:solidFill>
                <a:latin typeface="Constantia"/>
                <a:cs typeface="Constantia"/>
              </a:rPr>
              <a:t>t</a:t>
            </a:r>
            <a:r>
              <a:rPr sz="2400" spc="-5" dirty="0">
                <a:solidFill>
                  <a:srgbClr val="C00000"/>
                </a:solidFill>
                <a:latin typeface="Constantia"/>
                <a:cs typeface="Constantia"/>
              </a:rPr>
              <a:t>r</a:t>
            </a:r>
            <a:r>
              <a:rPr sz="2400" spc="-15" dirty="0">
                <a:solidFill>
                  <a:srgbClr val="C00000"/>
                </a:solidFill>
                <a:latin typeface="Constantia"/>
                <a:cs typeface="Constantia"/>
              </a:rPr>
              <a:t>o</a:t>
            </a:r>
            <a:r>
              <a:rPr sz="2400" dirty="0">
                <a:solidFill>
                  <a:srgbClr val="C00000"/>
                </a:solidFill>
                <a:latin typeface="Constantia"/>
                <a:cs typeface="Constantia"/>
              </a:rPr>
              <a:t>de</a:t>
            </a:r>
            <a:r>
              <a:rPr sz="2400" spc="-140" dirty="0">
                <a:solidFill>
                  <a:srgbClr val="C00000"/>
                </a:solidFill>
                <a:latin typeface="Constantia"/>
                <a:cs typeface="Constantia"/>
              </a:rPr>
              <a:t> </a:t>
            </a:r>
            <a:r>
              <a:rPr sz="2400" dirty="0">
                <a:solidFill>
                  <a:srgbClr val="C00000"/>
                </a:solidFill>
                <a:latin typeface="Constantia"/>
                <a:cs typeface="Constantia"/>
              </a:rPr>
              <a:t>dependant</a:t>
            </a:r>
            <a:r>
              <a:rPr sz="2400" spc="-150" dirty="0">
                <a:solidFill>
                  <a:srgbClr val="C00000"/>
                </a:solidFill>
                <a:latin typeface="Constantia"/>
                <a:cs typeface="Constantia"/>
              </a:rPr>
              <a:t> </a:t>
            </a:r>
            <a:r>
              <a:rPr sz="2400" spc="-5" dirty="0">
                <a:solidFill>
                  <a:srgbClr val="C00000"/>
                </a:solidFill>
                <a:latin typeface="Constantia"/>
                <a:cs typeface="Constantia"/>
              </a:rPr>
              <a:t>o</a:t>
            </a:r>
            <a:r>
              <a:rPr sz="2400" dirty="0">
                <a:solidFill>
                  <a:srgbClr val="C00000"/>
                </a:solidFill>
                <a:latin typeface="Constantia"/>
                <a:cs typeface="Constantia"/>
              </a:rPr>
              <a:t>n	</a:t>
            </a:r>
            <a:r>
              <a:rPr sz="2400" spc="15" dirty="0">
                <a:solidFill>
                  <a:srgbClr val="C00000"/>
                </a:solidFill>
                <a:latin typeface="Constantia"/>
                <a:cs typeface="Constantia"/>
              </a:rPr>
              <a:t>c</a:t>
            </a:r>
            <a:r>
              <a:rPr sz="2400" dirty="0">
                <a:solidFill>
                  <a:srgbClr val="C00000"/>
                </a:solidFill>
                <a:latin typeface="Constantia"/>
                <a:cs typeface="Constantia"/>
              </a:rPr>
              <a:t>o</a:t>
            </a:r>
            <a:r>
              <a:rPr sz="2400" spc="-10" dirty="0">
                <a:solidFill>
                  <a:srgbClr val="C00000"/>
                </a:solidFill>
                <a:latin typeface="Constantia"/>
                <a:cs typeface="Constantia"/>
              </a:rPr>
              <a:t>n</a:t>
            </a:r>
            <a:r>
              <a:rPr sz="2400" spc="-5" dirty="0">
                <a:solidFill>
                  <a:srgbClr val="C00000"/>
                </a:solidFill>
                <a:latin typeface="Constantia"/>
                <a:cs typeface="Constantia"/>
              </a:rPr>
              <a:t>cen</a:t>
            </a:r>
            <a:r>
              <a:rPr sz="2400" spc="-15" dirty="0">
                <a:solidFill>
                  <a:srgbClr val="C00000"/>
                </a:solidFill>
                <a:latin typeface="Constantia"/>
                <a:cs typeface="Constantia"/>
              </a:rPr>
              <a:t>t</a:t>
            </a:r>
            <a:r>
              <a:rPr sz="2400" spc="-5" dirty="0">
                <a:solidFill>
                  <a:srgbClr val="C00000"/>
                </a:solidFill>
                <a:latin typeface="Constantia"/>
                <a:cs typeface="Constantia"/>
              </a:rPr>
              <a:t>ra</a:t>
            </a:r>
            <a:r>
              <a:rPr sz="2400" spc="5" dirty="0">
                <a:solidFill>
                  <a:srgbClr val="C00000"/>
                </a:solidFill>
                <a:latin typeface="Constantia"/>
                <a:cs typeface="Constantia"/>
              </a:rPr>
              <a:t>t</a:t>
            </a:r>
            <a:r>
              <a:rPr sz="2400" spc="-5" dirty="0">
                <a:solidFill>
                  <a:srgbClr val="C00000"/>
                </a:solidFill>
                <a:latin typeface="Constantia"/>
                <a:cs typeface="Constantia"/>
              </a:rPr>
              <a:t>i</a:t>
            </a:r>
            <a:r>
              <a:rPr sz="2400" spc="-15" dirty="0">
                <a:solidFill>
                  <a:srgbClr val="C00000"/>
                </a:solidFill>
                <a:latin typeface="Constantia"/>
                <a:cs typeface="Constantia"/>
              </a:rPr>
              <a:t>o</a:t>
            </a:r>
            <a:r>
              <a:rPr sz="2400" dirty="0">
                <a:solidFill>
                  <a:srgbClr val="C00000"/>
                </a:solidFill>
                <a:latin typeface="Constantia"/>
                <a:cs typeface="Constantia"/>
              </a:rPr>
              <a:t>n  </a:t>
            </a:r>
            <a:r>
              <a:rPr sz="2400" spc="-5" dirty="0">
                <a:solidFill>
                  <a:srgbClr val="C00000"/>
                </a:solidFill>
                <a:latin typeface="Constantia"/>
                <a:cs typeface="Constantia"/>
              </a:rPr>
              <a:t>of</a:t>
            </a:r>
            <a:r>
              <a:rPr sz="2400" spc="15" dirty="0">
                <a:solidFill>
                  <a:srgbClr val="C00000"/>
                </a:solidFill>
                <a:latin typeface="Constantia"/>
                <a:cs typeface="Constantia"/>
              </a:rPr>
              <a:t> </a:t>
            </a:r>
            <a:r>
              <a:rPr sz="2400" dirty="0">
                <a:solidFill>
                  <a:srgbClr val="C00000"/>
                </a:solidFill>
                <a:latin typeface="Constantia"/>
                <a:cs typeface="Constantia"/>
              </a:rPr>
              <a:t>KCL</a:t>
            </a:r>
            <a:r>
              <a:rPr sz="2400" dirty="0">
                <a:solidFill>
                  <a:srgbClr val="C00000"/>
                </a:solidFill>
                <a:latin typeface="Microsoft Sans Serif"/>
                <a:cs typeface="Microsoft Sans Serif"/>
              </a:rPr>
              <a:t> </a:t>
            </a:r>
            <a:endParaRPr sz="2400">
              <a:latin typeface="Microsoft Sans Serif"/>
              <a:cs typeface="Microsoft Sans Serif"/>
            </a:endParaRPr>
          </a:p>
        </p:txBody>
      </p:sp>
      <p:graphicFrame>
        <p:nvGraphicFramePr>
          <p:cNvPr id="9" name="object 9"/>
          <p:cNvGraphicFramePr>
            <a:graphicFrameLocks noGrp="1"/>
          </p:cNvGraphicFramePr>
          <p:nvPr/>
        </p:nvGraphicFramePr>
        <p:xfrm>
          <a:off x="1981835" y="4726508"/>
          <a:ext cx="6772909" cy="1534081"/>
        </p:xfrm>
        <a:graphic>
          <a:graphicData uri="http://schemas.openxmlformats.org/drawingml/2006/table">
            <a:tbl>
              <a:tblPr firstRow="1" bandRow="1">
                <a:tableStyleId>{2D5ABB26-0587-4C30-8999-92F81FD0307C}</a:tableStyleId>
              </a:tblPr>
              <a:tblGrid>
                <a:gridCol w="2585720"/>
                <a:gridCol w="1930400"/>
                <a:gridCol w="2256789"/>
              </a:tblGrid>
              <a:tr h="442264">
                <a:tc>
                  <a:txBody>
                    <a:bodyPr/>
                    <a:lstStyle/>
                    <a:p>
                      <a:pPr marL="5080" algn="ctr">
                        <a:lnSpc>
                          <a:spcPct val="100000"/>
                        </a:lnSpc>
                        <a:spcBef>
                          <a:spcPts val="215"/>
                        </a:spcBef>
                      </a:pPr>
                      <a:r>
                        <a:rPr sz="1800" b="1" spc="-5" dirty="0">
                          <a:solidFill>
                            <a:srgbClr val="FFFFFF"/>
                          </a:solidFill>
                          <a:latin typeface="Arial"/>
                          <a:cs typeface="Arial"/>
                        </a:rPr>
                        <a:t>Concentration</a:t>
                      </a:r>
                      <a:r>
                        <a:rPr sz="1800" b="1" spc="-15" dirty="0">
                          <a:solidFill>
                            <a:srgbClr val="FFFFFF"/>
                          </a:solidFill>
                          <a:latin typeface="Arial"/>
                          <a:cs typeface="Arial"/>
                        </a:rPr>
                        <a:t> </a:t>
                      </a:r>
                      <a:r>
                        <a:rPr sz="1800" b="1" dirty="0">
                          <a:solidFill>
                            <a:srgbClr val="FFFFFF"/>
                          </a:solidFill>
                          <a:latin typeface="Arial"/>
                          <a:cs typeface="Arial"/>
                        </a:rPr>
                        <a:t>of</a:t>
                      </a:r>
                      <a:r>
                        <a:rPr sz="1800" b="1" spc="475" dirty="0">
                          <a:solidFill>
                            <a:srgbClr val="FFFFFF"/>
                          </a:solidFill>
                          <a:latin typeface="Arial"/>
                          <a:cs typeface="Arial"/>
                        </a:rPr>
                        <a:t> </a:t>
                      </a:r>
                      <a:r>
                        <a:rPr sz="1800" b="1" spc="-10" dirty="0">
                          <a:solidFill>
                            <a:srgbClr val="FFFFFF"/>
                          </a:solidFill>
                          <a:latin typeface="Arial"/>
                          <a:cs typeface="Arial"/>
                        </a:rPr>
                        <a:t>KCl</a:t>
                      </a:r>
                      <a:endParaRPr sz="1800">
                        <a:latin typeface="Arial"/>
                        <a:cs typeface="Arial"/>
                      </a:endParaRPr>
                    </a:p>
                  </a:txBody>
                  <a:tcPr marL="0" marR="0" marT="27305" marB="0">
                    <a:lnR w="12700">
                      <a:solidFill>
                        <a:srgbClr val="FFFFFF"/>
                      </a:solidFill>
                      <a:prstDash val="solid"/>
                    </a:lnR>
                    <a:lnB w="38100">
                      <a:solidFill>
                        <a:srgbClr val="FFFFFF"/>
                      </a:solidFill>
                      <a:prstDash val="solid"/>
                    </a:lnB>
                    <a:solidFill>
                      <a:srgbClr val="4F81BB"/>
                    </a:solidFill>
                  </a:tcPr>
                </a:tc>
                <a:tc>
                  <a:txBody>
                    <a:bodyPr/>
                    <a:lstStyle/>
                    <a:p>
                      <a:pPr marL="359410">
                        <a:lnSpc>
                          <a:spcPct val="100000"/>
                        </a:lnSpc>
                        <a:spcBef>
                          <a:spcPts val="215"/>
                        </a:spcBef>
                      </a:pPr>
                      <a:r>
                        <a:rPr sz="1800" b="1" dirty="0">
                          <a:solidFill>
                            <a:srgbClr val="FFFFFF"/>
                          </a:solidFill>
                          <a:latin typeface="Arial"/>
                          <a:cs typeface="Arial"/>
                        </a:rPr>
                        <a:t>E</a:t>
                      </a:r>
                      <a:r>
                        <a:rPr sz="1800" b="1" spc="-30" dirty="0">
                          <a:solidFill>
                            <a:srgbClr val="FFFFFF"/>
                          </a:solidFill>
                          <a:latin typeface="Arial"/>
                          <a:cs typeface="Arial"/>
                        </a:rPr>
                        <a:t> </a:t>
                      </a:r>
                      <a:r>
                        <a:rPr sz="1800" b="1" dirty="0">
                          <a:solidFill>
                            <a:srgbClr val="FFFFFF"/>
                          </a:solidFill>
                          <a:latin typeface="Arial"/>
                          <a:cs typeface="Arial"/>
                        </a:rPr>
                        <a:t>°</a:t>
                      </a:r>
                      <a:r>
                        <a:rPr sz="1800" b="1" spc="-30" dirty="0">
                          <a:solidFill>
                            <a:srgbClr val="FFFFFF"/>
                          </a:solidFill>
                          <a:latin typeface="Arial"/>
                          <a:cs typeface="Arial"/>
                        </a:rPr>
                        <a:t> </a:t>
                      </a:r>
                      <a:r>
                        <a:rPr sz="1800" b="1" spc="-5" dirty="0">
                          <a:solidFill>
                            <a:srgbClr val="FFFFFF"/>
                          </a:solidFill>
                          <a:latin typeface="Arial"/>
                          <a:cs typeface="Arial"/>
                        </a:rPr>
                        <a:t>calomel</a:t>
                      </a:r>
                      <a:endParaRPr sz="1800">
                        <a:latin typeface="Arial"/>
                        <a:cs typeface="Arial"/>
                      </a:endParaRPr>
                    </a:p>
                  </a:txBody>
                  <a:tcPr marL="0" marR="0" marT="27305" marB="0">
                    <a:lnL w="12700">
                      <a:solidFill>
                        <a:srgbClr val="FFFFFF"/>
                      </a:solidFill>
                      <a:prstDash val="solid"/>
                    </a:lnL>
                    <a:lnR w="12700">
                      <a:solidFill>
                        <a:srgbClr val="FFFFFF"/>
                      </a:solidFill>
                      <a:prstDash val="solid"/>
                    </a:lnR>
                    <a:lnB w="38100">
                      <a:solidFill>
                        <a:srgbClr val="FFFFFF"/>
                      </a:solidFill>
                      <a:prstDash val="solid"/>
                    </a:lnB>
                    <a:solidFill>
                      <a:srgbClr val="4F81BB"/>
                    </a:solidFill>
                  </a:tcPr>
                </a:tc>
                <a:tc>
                  <a:txBody>
                    <a:bodyPr/>
                    <a:lstStyle/>
                    <a:p>
                      <a:pPr marL="19685" algn="ctr">
                        <a:lnSpc>
                          <a:spcPct val="100000"/>
                        </a:lnSpc>
                        <a:spcBef>
                          <a:spcPts val="215"/>
                        </a:spcBef>
                      </a:pPr>
                      <a:r>
                        <a:rPr sz="1800" b="1" dirty="0">
                          <a:solidFill>
                            <a:srgbClr val="FFFFFF"/>
                          </a:solidFill>
                          <a:latin typeface="Arial"/>
                          <a:cs typeface="Arial"/>
                        </a:rPr>
                        <a:t>Name</a:t>
                      </a:r>
                      <a:endParaRPr sz="1800">
                        <a:latin typeface="Arial"/>
                        <a:cs typeface="Arial"/>
                      </a:endParaRPr>
                    </a:p>
                  </a:txBody>
                  <a:tcPr marL="0" marR="0" marT="27305" marB="0">
                    <a:lnL w="12700">
                      <a:solidFill>
                        <a:srgbClr val="FFFFFF"/>
                      </a:solidFill>
                      <a:prstDash val="solid"/>
                    </a:lnL>
                    <a:lnB w="38100">
                      <a:solidFill>
                        <a:srgbClr val="FFFFFF"/>
                      </a:solidFill>
                      <a:prstDash val="solid"/>
                    </a:lnB>
                    <a:solidFill>
                      <a:srgbClr val="4F81BB"/>
                    </a:solidFill>
                  </a:tcPr>
                </a:tc>
              </a:tr>
              <a:tr h="365772">
                <a:tc>
                  <a:txBody>
                    <a:bodyPr/>
                    <a:lstStyle/>
                    <a:p>
                      <a:pPr marL="69850" algn="ctr">
                        <a:lnSpc>
                          <a:spcPct val="100000"/>
                        </a:lnSpc>
                        <a:spcBef>
                          <a:spcPts val="310"/>
                        </a:spcBef>
                      </a:pPr>
                      <a:r>
                        <a:rPr sz="1800" spc="5" dirty="0">
                          <a:latin typeface="Microsoft Sans Serif"/>
                          <a:cs typeface="Microsoft Sans Serif"/>
                        </a:rPr>
                        <a:t>0.1</a:t>
                      </a:r>
                      <a:r>
                        <a:rPr sz="1800" spc="-45" dirty="0">
                          <a:latin typeface="Microsoft Sans Serif"/>
                          <a:cs typeface="Microsoft Sans Serif"/>
                        </a:rPr>
                        <a:t> </a:t>
                      </a:r>
                      <a:r>
                        <a:rPr sz="1800" spc="-5" dirty="0">
                          <a:latin typeface="Microsoft Sans Serif"/>
                          <a:cs typeface="Microsoft Sans Serif"/>
                        </a:rPr>
                        <a:t>N</a:t>
                      </a:r>
                      <a:r>
                        <a:rPr sz="1800" dirty="0">
                          <a:latin typeface="Microsoft Sans Serif"/>
                          <a:cs typeface="Microsoft Sans Serif"/>
                        </a:rPr>
                        <a:t> </a:t>
                      </a:r>
                      <a:endParaRPr sz="1800">
                        <a:latin typeface="Microsoft Sans Serif"/>
                        <a:cs typeface="Microsoft Sans Serif"/>
                      </a:endParaRPr>
                    </a:p>
                  </a:txBody>
                  <a:tcPr marL="0" marR="0" marT="39370" marB="0">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tc>
                  <a:txBody>
                    <a:bodyPr/>
                    <a:lstStyle/>
                    <a:p>
                      <a:pPr marL="353695">
                        <a:lnSpc>
                          <a:spcPct val="100000"/>
                        </a:lnSpc>
                        <a:spcBef>
                          <a:spcPts val="310"/>
                        </a:spcBef>
                      </a:pPr>
                      <a:r>
                        <a:rPr sz="1800" dirty="0">
                          <a:latin typeface="Microsoft Sans Serif"/>
                          <a:cs typeface="Microsoft Sans Serif"/>
                        </a:rPr>
                        <a:t>0.3334</a:t>
                      </a:r>
                      <a:r>
                        <a:rPr sz="1800" spc="-40" dirty="0">
                          <a:latin typeface="Microsoft Sans Serif"/>
                          <a:cs typeface="Microsoft Sans Serif"/>
                        </a:rPr>
                        <a:t> </a:t>
                      </a:r>
                      <a:r>
                        <a:rPr sz="1800" spc="-5" dirty="0">
                          <a:latin typeface="Microsoft Sans Serif"/>
                          <a:cs typeface="Microsoft Sans Serif"/>
                        </a:rPr>
                        <a:t>volts</a:t>
                      </a:r>
                      <a:r>
                        <a:rPr sz="1800" dirty="0">
                          <a:latin typeface="Microsoft Sans Serif"/>
                          <a:cs typeface="Microsoft Sans Serif"/>
                        </a:rPr>
                        <a:t> </a:t>
                      </a:r>
                      <a:endParaRPr sz="1800">
                        <a:latin typeface="Microsoft Sans Serif"/>
                        <a:cs typeface="Microsoft Sans Serif"/>
                      </a:endParaRPr>
                    </a:p>
                  </a:txBody>
                  <a:tcPr marL="0" marR="0" marT="393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tc>
                  <a:txBody>
                    <a:bodyPr/>
                    <a:lstStyle/>
                    <a:p>
                      <a:pPr marL="78740" algn="ctr">
                        <a:lnSpc>
                          <a:spcPct val="100000"/>
                        </a:lnSpc>
                        <a:spcBef>
                          <a:spcPts val="310"/>
                        </a:spcBef>
                      </a:pPr>
                      <a:r>
                        <a:rPr sz="1800" dirty="0">
                          <a:latin typeface="Microsoft Sans Serif"/>
                          <a:cs typeface="Microsoft Sans Serif"/>
                        </a:rPr>
                        <a:t>Desi</a:t>
                      </a:r>
                      <a:r>
                        <a:rPr sz="1800" spc="-50" dirty="0">
                          <a:latin typeface="Microsoft Sans Serif"/>
                          <a:cs typeface="Microsoft Sans Serif"/>
                        </a:rPr>
                        <a:t> </a:t>
                      </a:r>
                      <a:r>
                        <a:rPr sz="1800" dirty="0">
                          <a:latin typeface="Microsoft Sans Serif"/>
                          <a:cs typeface="Microsoft Sans Serif"/>
                        </a:rPr>
                        <a:t>normal</a:t>
                      </a:r>
                      <a:r>
                        <a:rPr sz="1800" spc="-45" dirty="0">
                          <a:latin typeface="Microsoft Sans Serif"/>
                          <a:cs typeface="Microsoft Sans Serif"/>
                        </a:rPr>
                        <a:t> </a:t>
                      </a:r>
                      <a:r>
                        <a:rPr sz="1800" spc="-5" dirty="0">
                          <a:latin typeface="Microsoft Sans Serif"/>
                          <a:cs typeface="Microsoft Sans Serif"/>
                        </a:rPr>
                        <a:t>calomel</a:t>
                      </a:r>
                      <a:r>
                        <a:rPr sz="1800" dirty="0">
                          <a:latin typeface="Microsoft Sans Serif"/>
                          <a:cs typeface="Microsoft Sans Serif"/>
                        </a:rPr>
                        <a:t> </a:t>
                      </a:r>
                      <a:endParaRPr sz="1800">
                        <a:latin typeface="Microsoft Sans Serif"/>
                        <a:cs typeface="Microsoft Sans Serif"/>
                      </a:endParaRPr>
                    </a:p>
                  </a:txBody>
                  <a:tcPr marL="0" marR="0" marT="39370" marB="0">
                    <a:lnL w="12700">
                      <a:solidFill>
                        <a:srgbClr val="FFFFFF"/>
                      </a:solidFill>
                      <a:prstDash val="solid"/>
                    </a:lnL>
                    <a:lnT w="38100">
                      <a:solidFill>
                        <a:srgbClr val="FFFFFF"/>
                      </a:solidFill>
                      <a:prstDash val="solid"/>
                    </a:lnT>
                    <a:lnB w="12700">
                      <a:solidFill>
                        <a:srgbClr val="FFFFFF"/>
                      </a:solidFill>
                      <a:prstDash val="solid"/>
                    </a:lnB>
                    <a:solidFill>
                      <a:srgbClr val="D0D6E8"/>
                    </a:solidFill>
                  </a:tcPr>
                </a:tc>
              </a:tr>
              <a:tr h="366077">
                <a:tc>
                  <a:txBody>
                    <a:bodyPr/>
                    <a:lstStyle/>
                    <a:p>
                      <a:pPr marL="66675" algn="ctr">
                        <a:lnSpc>
                          <a:spcPct val="100000"/>
                        </a:lnSpc>
                        <a:spcBef>
                          <a:spcPts val="315"/>
                        </a:spcBef>
                      </a:pPr>
                      <a:r>
                        <a:rPr sz="1800" dirty="0">
                          <a:latin typeface="Microsoft Sans Serif"/>
                          <a:cs typeface="Microsoft Sans Serif"/>
                        </a:rPr>
                        <a:t>1.0</a:t>
                      </a:r>
                      <a:r>
                        <a:rPr sz="1800" spc="-40" dirty="0">
                          <a:latin typeface="Microsoft Sans Serif"/>
                          <a:cs typeface="Microsoft Sans Serif"/>
                        </a:rPr>
                        <a:t> </a:t>
                      </a:r>
                      <a:r>
                        <a:rPr sz="1800" spc="-25" dirty="0">
                          <a:latin typeface="Microsoft Sans Serif"/>
                          <a:cs typeface="Microsoft Sans Serif"/>
                        </a:rPr>
                        <a:t>N</a:t>
                      </a:r>
                      <a:r>
                        <a:rPr sz="1800" dirty="0">
                          <a:latin typeface="Microsoft Sans Serif"/>
                          <a:cs typeface="Microsoft Sans Serif"/>
                        </a:rPr>
                        <a:t> </a:t>
                      </a:r>
                      <a:endParaRPr sz="1800">
                        <a:latin typeface="Microsoft Sans Serif"/>
                        <a:cs typeface="Microsoft Sans Serif"/>
                      </a:endParaRPr>
                    </a:p>
                  </a:txBody>
                  <a:tcPr marL="0" marR="0" marT="40005" marB="0">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353695">
                        <a:lnSpc>
                          <a:spcPct val="100000"/>
                        </a:lnSpc>
                        <a:spcBef>
                          <a:spcPts val="315"/>
                        </a:spcBef>
                      </a:pPr>
                      <a:r>
                        <a:rPr sz="1800" dirty="0">
                          <a:latin typeface="Microsoft Sans Serif"/>
                          <a:cs typeface="Microsoft Sans Serif"/>
                        </a:rPr>
                        <a:t>0.2810</a:t>
                      </a:r>
                      <a:r>
                        <a:rPr sz="1800" spc="-40" dirty="0">
                          <a:latin typeface="Microsoft Sans Serif"/>
                          <a:cs typeface="Microsoft Sans Serif"/>
                        </a:rPr>
                        <a:t> </a:t>
                      </a:r>
                      <a:r>
                        <a:rPr sz="1800" spc="-5" dirty="0">
                          <a:latin typeface="Microsoft Sans Serif"/>
                          <a:cs typeface="Microsoft Sans Serif"/>
                        </a:rPr>
                        <a:t>volts</a:t>
                      </a:r>
                      <a:r>
                        <a:rPr sz="1800" dirty="0">
                          <a:latin typeface="Microsoft Sans Serif"/>
                          <a:cs typeface="Microsoft Sans Serif"/>
                        </a:rPr>
                        <a:t> </a:t>
                      </a:r>
                      <a:endParaRPr sz="1800">
                        <a:latin typeface="Microsoft Sans Serif"/>
                        <a:cs typeface="Microsoft Sans Serif"/>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4"/>
                    </a:solidFill>
                  </a:tcPr>
                </a:tc>
                <a:tc>
                  <a:txBody>
                    <a:bodyPr/>
                    <a:lstStyle/>
                    <a:p>
                      <a:pPr marL="81915" algn="ctr">
                        <a:lnSpc>
                          <a:spcPct val="100000"/>
                        </a:lnSpc>
                        <a:spcBef>
                          <a:spcPts val="315"/>
                        </a:spcBef>
                      </a:pPr>
                      <a:r>
                        <a:rPr sz="1800" spc="-5" dirty="0">
                          <a:latin typeface="Microsoft Sans Serif"/>
                          <a:cs typeface="Microsoft Sans Serif"/>
                        </a:rPr>
                        <a:t>Normal</a:t>
                      </a:r>
                      <a:r>
                        <a:rPr sz="1800" spc="-35" dirty="0">
                          <a:latin typeface="Microsoft Sans Serif"/>
                          <a:cs typeface="Microsoft Sans Serif"/>
                        </a:rPr>
                        <a:t> </a:t>
                      </a:r>
                      <a:r>
                        <a:rPr sz="1800" spc="-5" dirty="0">
                          <a:latin typeface="Microsoft Sans Serif"/>
                          <a:cs typeface="Microsoft Sans Serif"/>
                        </a:rPr>
                        <a:t>calomel</a:t>
                      </a:r>
                      <a:r>
                        <a:rPr sz="1800" dirty="0">
                          <a:latin typeface="Microsoft Sans Serif"/>
                          <a:cs typeface="Microsoft Sans Serif"/>
                        </a:rPr>
                        <a:t> </a:t>
                      </a:r>
                      <a:endParaRPr sz="1800">
                        <a:latin typeface="Microsoft Sans Serif"/>
                        <a:cs typeface="Microsoft Sans Serif"/>
                      </a:endParaRPr>
                    </a:p>
                  </a:txBody>
                  <a:tcPr marL="0" marR="0" marT="40005" marB="0">
                    <a:lnL w="12700">
                      <a:solidFill>
                        <a:srgbClr val="FFFFFF"/>
                      </a:solidFill>
                      <a:prstDash val="solid"/>
                    </a:lnL>
                    <a:lnT w="12700">
                      <a:solidFill>
                        <a:srgbClr val="FFFFFF"/>
                      </a:solidFill>
                      <a:prstDash val="solid"/>
                    </a:lnT>
                    <a:lnB w="12700">
                      <a:solidFill>
                        <a:srgbClr val="FFFFFF"/>
                      </a:solidFill>
                      <a:prstDash val="solid"/>
                    </a:lnB>
                    <a:solidFill>
                      <a:srgbClr val="E9EBF4"/>
                    </a:solidFill>
                  </a:tcPr>
                </a:tc>
              </a:tr>
              <a:tr h="359968">
                <a:tc>
                  <a:txBody>
                    <a:bodyPr/>
                    <a:lstStyle/>
                    <a:p>
                      <a:pPr marL="63500" algn="ctr">
                        <a:lnSpc>
                          <a:spcPct val="100000"/>
                        </a:lnSpc>
                        <a:spcBef>
                          <a:spcPts val="310"/>
                        </a:spcBef>
                      </a:pPr>
                      <a:r>
                        <a:rPr sz="1800" spc="-5" dirty="0">
                          <a:latin typeface="Microsoft Sans Serif"/>
                          <a:cs typeface="Microsoft Sans Serif"/>
                        </a:rPr>
                        <a:t>Saturated</a:t>
                      </a:r>
                      <a:r>
                        <a:rPr sz="1800" dirty="0">
                          <a:latin typeface="Microsoft Sans Serif"/>
                          <a:cs typeface="Microsoft Sans Serif"/>
                        </a:rPr>
                        <a:t> </a:t>
                      </a:r>
                      <a:endParaRPr sz="1800">
                        <a:latin typeface="Microsoft Sans Serif"/>
                        <a:cs typeface="Microsoft Sans Serif"/>
                      </a:endParaRPr>
                    </a:p>
                  </a:txBody>
                  <a:tcPr marL="0" marR="0" marT="39370" marB="0">
                    <a:lnR w="12700">
                      <a:solidFill>
                        <a:srgbClr val="FFFFFF"/>
                      </a:solidFill>
                      <a:prstDash val="solid"/>
                    </a:lnR>
                    <a:lnT w="12700">
                      <a:solidFill>
                        <a:srgbClr val="FFFFFF"/>
                      </a:solidFill>
                      <a:prstDash val="solid"/>
                    </a:lnT>
                    <a:solidFill>
                      <a:srgbClr val="D0D6E8"/>
                    </a:solidFill>
                  </a:tcPr>
                </a:tc>
                <a:tc>
                  <a:txBody>
                    <a:bodyPr/>
                    <a:lstStyle/>
                    <a:p>
                      <a:pPr marL="353695">
                        <a:lnSpc>
                          <a:spcPct val="100000"/>
                        </a:lnSpc>
                        <a:spcBef>
                          <a:spcPts val="310"/>
                        </a:spcBef>
                      </a:pPr>
                      <a:r>
                        <a:rPr sz="1800" dirty="0">
                          <a:latin typeface="Microsoft Sans Serif"/>
                          <a:cs typeface="Microsoft Sans Serif"/>
                        </a:rPr>
                        <a:t>0.2422</a:t>
                      </a:r>
                      <a:r>
                        <a:rPr sz="1800" spc="-40" dirty="0">
                          <a:latin typeface="Microsoft Sans Serif"/>
                          <a:cs typeface="Microsoft Sans Serif"/>
                        </a:rPr>
                        <a:t> </a:t>
                      </a:r>
                      <a:r>
                        <a:rPr sz="1800" spc="-5" dirty="0">
                          <a:latin typeface="Microsoft Sans Serif"/>
                          <a:cs typeface="Microsoft Sans Serif"/>
                        </a:rPr>
                        <a:t>volts</a:t>
                      </a:r>
                      <a:r>
                        <a:rPr sz="1800" dirty="0">
                          <a:latin typeface="Microsoft Sans Serif"/>
                          <a:cs typeface="Microsoft Sans Serif"/>
                        </a:rPr>
                        <a:t> </a:t>
                      </a:r>
                      <a:endParaRPr sz="1800">
                        <a:latin typeface="Microsoft Sans Serif"/>
                        <a:cs typeface="Microsoft Sans Serif"/>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solidFill>
                      <a:srgbClr val="D0D6E8"/>
                    </a:solidFill>
                  </a:tcPr>
                </a:tc>
                <a:tc>
                  <a:txBody>
                    <a:bodyPr/>
                    <a:lstStyle/>
                    <a:p>
                      <a:pPr marL="78740" algn="ctr">
                        <a:lnSpc>
                          <a:spcPct val="100000"/>
                        </a:lnSpc>
                        <a:spcBef>
                          <a:spcPts val="310"/>
                        </a:spcBef>
                      </a:pPr>
                      <a:r>
                        <a:rPr sz="1800" dirty="0">
                          <a:latin typeface="Microsoft Sans Serif"/>
                          <a:cs typeface="Microsoft Sans Serif"/>
                        </a:rPr>
                        <a:t>Saturated</a:t>
                      </a:r>
                      <a:r>
                        <a:rPr sz="1800" spc="-55" dirty="0">
                          <a:latin typeface="Microsoft Sans Serif"/>
                          <a:cs typeface="Microsoft Sans Serif"/>
                        </a:rPr>
                        <a:t> </a:t>
                      </a:r>
                      <a:r>
                        <a:rPr sz="1800" spc="-5" dirty="0">
                          <a:latin typeface="Microsoft Sans Serif"/>
                          <a:cs typeface="Microsoft Sans Serif"/>
                        </a:rPr>
                        <a:t>calomel</a:t>
                      </a:r>
                      <a:r>
                        <a:rPr sz="1800" dirty="0">
                          <a:latin typeface="Microsoft Sans Serif"/>
                          <a:cs typeface="Microsoft Sans Serif"/>
                        </a:rPr>
                        <a:t> </a:t>
                      </a:r>
                      <a:endParaRPr sz="1800">
                        <a:latin typeface="Microsoft Sans Serif"/>
                        <a:cs typeface="Microsoft Sans Serif"/>
                      </a:endParaRPr>
                    </a:p>
                  </a:txBody>
                  <a:tcPr marL="0" marR="0" marT="39370" marB="0">
                    <a:lnL w="12700">
                      <a:solidFill>
                        <a:srgbClr val="FFFFFF"/>
                      </a:solidFill>
                      <a:prstDash val="solid"/>
                    </a:lnL>
                    <a:lnT w="12700">
                      <a:solidFill>
                        <a:srgbClr val="FFFFFF"/>
                      </a:solidFill>
                      <a:prstDash val="solid"/>
                    </a:lnT>
                    <a:solidFill>
                      <a:srgbClr val="D0D6E8"/>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85444" y="420065"/>
            <a:ext cx="7927975" cy="5100320"/>
          </a:xfrm>
          <a:prstGeom prst="rect">
            <a:avLst/>
          </a:prstGeom>
        </p:spPr>
        <p:txBody>
          <a:bodyPr vert="horz" wrap="square" lIns="0" tIns="13970" rIns="0" bIns="0" rtlCol="0">
            <a:spAutoFit/>
          </a:bodyPr>
          <a:lstStyle/>
          <a:p>
            <a:pPr marL="404495" indent="-341630">
              <a:lnSpc>
                <a:spcPts val="3854"/>
              </a:lnSpc>
              <a:spcBef>
                <a:spcPts val="110"/>
              </a:spcBef>
              <a:buFont typeface="Microsoft Sans Serif"/>
              <a:buChar char="•"/>
              <a:tabLst>
                <a:tab pos="404495" algn="l"/>
                <a:tab pos="405130" algn="l"/>
              </a:tabLst>
            </a:pPr>
            <a:r>
              <a:rPr sz="3400" b="1" dirty="0">
                <a:solidFill>
                  <a:srgbClr val="C00000"/>
                </a:solidFill>
                <a:latin typeface="Calibri"/>
                <a:cs typeface="Calibri"/>
              </a:rPr>
              <a:t>Demerits</a:t>
            </a:r>
            <a:r>
              <a:rPr sz="3400" b="1" spc="-60" dirty="0">
                <a:solidFill>
                  <a:srgbClr val="C00000"/>
                </a:solidFill>
                <a:latin typeface="Calibri"/>
                <a:cs typeface="Calibri"/>
              </a:rPr>
              <a:t> </a:t>
            </a:r>
            <a:r>
              <a:rPr sz="3400" b="1" spc="-5" dirty="0">
                <a:solidFill>
                  <a:srgbClr val="C00000"/>
                </a:solidFill>
                <a:latin typeface="Calibri"/>
                <a:cs typeface="Calibri"/>
              </a:rPr>
              <a:t>of</a:t>
            </a:r>
            <a:r>
              <a:rPr sz="3400" b="1" spc="-65" dirty="0">
                <a:solidFill>
                  <a:srgbClr val="C00000"/>
                </a:solidFill>
                <a:latin typeface="Calibri"/>
                <a:cs typeface="Calibri"/>
              </a:rPr>
              <a:t> </a:t>
            </a:r>
            <a:r>
              <a:rPr sz="3400" b="1" spc="-5" dirty="0">
                <a:solidFill>
                  <a:srgbClr val="C00000"/>
                </a:solidFill>
                <a:latin typeface="Calibri"/>
                <a:cs typeface="Calibri"/>
              </a:rPr>
              <a:t>Calomel</a:t>
            </a:r>
            <a:r>
              <a:rPr sz="3400" b="1" spc="-50" dirty="0">
                <a:solidFill>
                  <a:srgbClr val="C00000"/>
                </a:solidFill>
                <a:latin typeface="Calibri"/>
                <a:cs typeface="Calibri"/>
              </a:rPr>
              <a:t> </a:t>
            </a:r>
            <a:r>
              <a:rPr sz="3400" b="1" spc="-5" dirty="0">
                <a:solidFill>
                  <a:srgbClr val="C00000"/>
                </a:solidFill>
                <a:latin typeface="Calibri"/>
                <a:cs typeface="Calibri"/>
              </a:rPr>
              <a:t>Electrode</a:t>
            </a:r>
            <a:endParaRPr sz="3400">
              <a:latin typeface="Calibri"/>
              <a:cs typeface="Calibri"/>
            </a:endParaRPr>
          </a:p>
          <a:p>
            <a:pPr marL="404495" marR="1319530" lvl="1">
              <a:lnSpc>
                <a:spcPct val="79300"/>
              </a:lnSpc>
              <a:spcBef>
                <a:spcPts val="445"/>
              </a:spcBef>
              <a:buAutoNum type="arabicPeriod"/>
              <a:tabLst>
                <a:tab pos="746760" algn="l"/>
              </a:tabLst>
            </a:pPr>
            <a:r>
              <a:rPr sz="2700" spc="5" dirty="0">
                <a:latin typeface="Calibri"/>
                <a:cs typeface="Calibri"/>
              </a:rPr>
              <a:t>can</a:t>
            </a:r>
            <a:r>
              <a:rPr sz="2700" spc="-50" dirty="0">
                <a:latin typeface="Calibri"/>
                <a:cs typeface="Calibri"/>
              </a:rPr>
              <a:t> </a:t>
            </a:r>
            <a:r>
              <a:rPr sz="2700" spc="-5" dirty="0">
                <a:latin typeface="Calibri"/>
                <a:cs typeface="Calibri"/>
              </a:rPr>
              <a:t>not</a:t>
            </a:r>
            <a:r>
              <a:rPr sz="2700" spc="-35" dirty="0">
                <a:latin typeface="Calibri"/>
                <a:cs typeface="Calibri"/>
              </a:rPr>
              <a:t> </a:t>
            </a:r>
            <a:r>
              <a:rPr sz="2700" spc="-5" dirty="0">
                <a:latin typeface="Calibri"/>
                <a:cs typeface="Calibri"/>
              </a:rPr>
              <a:t>be</a:t>
            </a:r>
            <a:r>
              <a:rPr sz="2700" spc="-45" dirty="0">
                <a:latin typeface="Calibri"/>
                <a:cs typeface="Calibri"/>
              </a:rPr>
              <a:t> </a:t>
            </a:r>
            <a:r>
              <a:rPr sz="2700" dirty="0">
                <a:latin typeface="Calibri"/>
                <a:cs typeface="Calibri"/>
              </a:rPr>
              <a:t>use</a:t>
            </a:r>
            <a:r>
              <a:rPr sz="2700" spc="-45" dirty="0">
                <a:latin typeface="Calibri"/>
                <a:cs typeface="Calibri"/>
              </a:rPr>
              <a:t> </a:t>
            </a:r>
            <a:r>
              <a:rPr sz="2700" dirty="0">
                <a:latin typeface="Calibri"/>
                <a:cs typeface="Calibri"/>
              </a:rPr>
              <a:t>above</a:t>
            </a:r>
            <a:r>
              <a:rPr sz="2700" spc="-70" dirty="0">
                <a:latin typeface="Calibri"/>
                <a:cs typeface="Calibri"/>
              </a:rPr>
              <a:t> </a:t>
            </a:r>
            <a:r>
              <a:rPr sz="2700" spc="-5" dirty="0">
                <a:latin typeface="Calibri"/>
                <a:cs typeface="Calibri"/>
              </a:rPr>
              <a:t>50</a:t>
            </a:r>
            <a:r>
              <a:rPr sz="2700" spc="-5" dirty="0">
                <a:latin typeface="Microsoft Sans Serif"/>
                <a:cs typeface="Microsoft Sans Serif"/>
              </a:rPr>
              <a:t>°</a:t>
            </a:r>
            <a:r>
              <a:rPr sz="2700" spc="-5" dirty="0">
                <a:latin typeface="Calibri"/>
                <a:cs typeface="Calibri"/>
              </a:rPr>
              <a:t>C</a:t>
            </a:r>
            <a:r>
              <a:rPr sz="2700" spc="-20" dirty="0">
                <a:latin typeface="Calibri"/>
                <a:cs typeface="Calibri"/>
              </a:rPr>
              <a:t> </a:t>
            </a:r>
            <a:r>
              <a:rPr sz="2700" dirty="0">
                <a:latin typeface="Calibri"/>
                <a:cs typeface="Calibri"/>
              </a:rPr>
              <a:t>as</a:t>
            </a:r>
            <a:r>
              <a:rPr sz="2700" spc="-40" dirty="0">
                <a:latin typeface="Calibri"/>
                <a:cs typeface="Calibri"/>
              </a:rPr>
              <a:t> </a:t>
            </a:r>
            <a:r>
              <a:rPr sz="2700" spc="-5" dirty="0">
                <a:latin typeface="Calibri"/>
                <a:cs typeface="Calibri"/>
              </a:rPr>
              <a:t>Hg</a:t>
            </a:r>
            <a:r>
              <a:rPr sz="2700" spc="-7" baseline="-18518" dirty="0">
                <a:latin typeface="Calibri"/>
                <a:cs typeface="Calibri"/>
              </a:rPr>
              <a:t>2</a:t>
            </a:r>
            <a:r>
              <a:rPr sz="2700" spc="-5" dirty="0">
                <a:latin typeface="Calibri"/>
                <a:cs typeface="Calibri"/>
              </a:rPr>
              <a:t>Cl</a:t>
            </a:r>
            <a:r>
              <a:rPr sz="2700" spc="-7" baseline="-18518" dirty="0">
                <a:latin typeface="Calibri"/>
                <a:cs typeface="Calibri"/>
              </a:rPr>
              <a:t>2</a:t>
            </a:r>
            <a:r>
              <a:rPr sz="2700" spc="247" baseline="-18518" dirty="0">
                <a:latin typeface="Calibri"/>
                <a:cs typeface="Calibri"/>
              </a:rPr>
              <a:t> </a:t>
            </a:r>
            <a:r>
              <a:rPr sz="2700" spc="-5" dirty="0">
                <a:latin typeface="Calibri"/>
                <a:cs typeface="Calibri"/>
              </a:rPr>
              <a:t>starts </a:t>
            </a:r>
            <a:r>
              <a:rPr sz="2700" spc="-595" dirty="0">
                <a:latin typeface="Calibri"/>
                <a:cs typeface="Calibri"/>
              </a:rPr>
              <a:t> </a:t>
            </a:r>
            <a:r>
              <a:rPr sz="2700" dirty="0">
                <a:latin typeface="Calibri"/>
                <a:cs typeface="Calibri"/>
              </a:rPr>
              <a:t>decomposing</a:t>
            </a:r>
            <a:endParaRPr sz="2700">
              <a:latin typeface="Calibri"/>
              <a:cs typeface="Calibri"/>
            </a:endParaRPr>
          </a:p>
          <a:p>
            <a:pPr marL="742950" lvl="1" indent="-339090">
              <a:lnSpc>
                <a:spcPts val="2760"/>
              </a:lnSpc>
              <a:buAutoNum type="arabicPeriod"/>
              <a:tabLst>
                <a:tab pos="743585" algn="l"/>
              </a:tabLst>
            </a:pPr>
            <a:r>
              <a:rPr sz="2700" dirty="0">
                <a:latin typeface="Calibri"/>
                <a:cs typeface="Calibri"/>
              </a:rPr>
              <a:t>involves</a:t>
            </a:r>
            <a:r>
              <a:rPr sz="2700" spc="-50" dirty="0">
                <a:latin typeface="Calibri"/>
                <a:cs typeface="Calibri"/>
              </a:rPr>
              <a:t> </a:t>
            </a:r>
            <a:r>
              <a:rPr sz="2700" dirty="0">
                <a:latin typeface="Calibri"/>
                <a:cs typeface="Calibri"/>
              </a:rPr>
              <a:t>handling</a:t>
            </a:r>
            <a:r>
              <a:rPr sz="2700" spc="-65" dirty="0">
                <a:latin typeface="Calibri"/>
                <a:cs typeface="Calibri"/>
              </a:rPr>
              <a:t> </a:t>
            </a:r>
            <a:r>
              <a:rPr sz="2700" spc="5" dirty="0">
                <a:latin typeface="Calibri"/>
                <a:cs typeface="Calibri"/>
              </a:rPr>
              <a:t>of</a:t>
            </a:r>
            <a:r>
              <a:rPr sz="2700" spc="-30" dirty="0">
                <a:latin typeface="Calibri"/>
                <a:cs typeface="Calibri"/>
              </a:rPr>
              <a:t> </a:t>
            </a:r>
            <a:r>
              <a:rPr sz="2700" dirty="0">
                <a:latin typeface="Calibri"/>
                <a:cs typeface="Calibri"/>
              </a:rPr>
              <a:t>poisonous</a:t>
            </a:r>
            <a:r>
              <a:rPr sz="2700" spc="-65" dirty="0">
                <a:latin typeface="Calibri"/>
                <a:cs typeface="Calibri"/>
              </a:rPr>
              <a:t> </a:t>
            </a:r>
            <a:r>
              <a:rPr sz="2700" dirty="0">
                <a:latin typeface="Calibri"/>
                <a:cs typeface="Calibri"/>
              </a:rPr>
              <a:t>Hg</a:t>
            </a:r>
            <a:r>
              <a:rPr sz="2700" spc="-20" dirty="0">
                <a:latin typeface="Calibri"/>
                <a:cs typeface="Calibri"/>
              </a:rPr>
              <a:t> </a:t>
            </a:r>
            <a:r>
              <a:rPr sz="2700" dirty="0">
                <a:latin typeface="Calibri"/>
                <a:cs typeface="Calibri"/>
              </a:rPr>
              <a:t>and</a:t>
            </a:r>
            <a:r>
              <a:rPr sz="2700" spc="-25" dirty="0">
                <a:latin typeface="Calibri"/>
                <a:cs typeface="Calibri"/>
              </a:rPr>
              <a:t> </a:t>
            </a:r>
            <a:r>
              <a:rPr sz="2700" spc="-10" dirty="0">
                <a:latin typeface="Calibri"/>
                <a:cs typeface="Calibri"/>
              </a:rPr>
              <a:t>Hg</a:t>
            </a:r>
            <a:r>
              <a:rPr sz="2625" spc="-15" baseline="-6349" dirty="0">
                <a:latin typeface="Calibri"/>
                <a:cs typeface="Calibri"/>
              </a:rPr>
              <a:t>2</a:t>
            </a:r>
            <a:r>
              <a:rPr sz="2700" spc="-10" dirty="0">
                <a:latin typeface="Calibri"/>
                <a:cs typeface="Calibri"/>
              </a:rPr>
              <a:t>Cl</a:t>
            </a:r>
            <a:r>
              <a:rPr sz="2625" spc="-15" baseline="-6349" dirty="0">
                <a:latin typeface="Calibri"/>
                <a:cs typeface="Calibri"/>
              </a:rPr>
              <a:t>2</a:t>
            </a:r>
            <a:endParaRPr sz="2625" baseline="-6349">
              <a:latin typeface="Calibri"/>
              <a:cs typeface="Calibri"/>
            </a:endParaRPr>
          </a:p>
          <a:p>
            <a:pPr>
              <a:lnSpc>
                <a:spcPct val="100000"/>
              </a:lnSpc>
              <a:spcBef>
                <a:spcPts val="35"/>
              </a:spcBef>
            </a:pPr>
            <a:endParaRPr sz="2000">
              <a:latin typeface="Calibri"/>
              <a:cs typeface="Calibri"/>
            </a:endParaRPr>
          </a:p>
          <a:p>
            <a:pPr marL="404495">
              <a:lnSpc>
                <a:spcPts val="3204"/>
              </a:lnSpc>
              <a:tabLst>
                <a:tab pos="2218690" algn="l"/>
              </a:tabLst>
            </a:pPr>
            <a:r>
              <a:rPr sz="2700" b="1" dirty="0">
                <a:solidFill>
                  <a:srgbClr val="C00000"/>
                </a:solidFill>
                <a:latin typeface="Calibri"/>
                <a:cs typeface="Calibri"/>
              </a:rPr>
              <a:t>Advantages	:</a:t>
            </a:r>
            <a:endParaRPr sz="2700">
              <a:latin typeface="Calibri"/>
              <a:cs typeface="Calibri"/>
            </a:endParaRPr>
          </a:p>
          <a:p>
            <a:pPr marL="578485" marR="30480" indent="-515620">
              <a:lnSpc>
                <a:spcPct val="79700"/>
              </a:lnSpc>
              <a:spcBef>
                <a:spcPts val="620"/>
              </a:spcBef>
              <a:buAutoNum type="arabicPeriod"/>
              <a:tabLst>
                <a:tab pos="578485" algn="l"/>
                <a:tab pos="579120" algn="l"/>
              </a:tabLst>
            </a:pPr>
            <a:r>
              <a:rPr sz="2700" dirty="0">
                <a:latin typeface="Calibri"/>
                <a:cs typeface="Calibri"/>
              </a:rPr>
              <a:t>less</a:t>
            </a:r>
            <a:r>
              <a:rPr sz="2700" spc="-45" dirty="0">
                <a:latin typeface="Calibri"/>
                <a:cs typeface="Calibri"/>
              </a:rPr>
              <a:t> </a:t>
            </a:r>
            <a:r>
              <a:rPr sz="2700" dirty="0">
                <a:latin typeface="Calibri"/>
                <a:cs typeface="Calibri"/>
              </a:rPr>
              <a:t>prone</a:t>
            </a:r>
            <a:r>
              <a:rPr sz="2700" spc="-65" dirty="0">
                <a:latin typeface="Calibri"/>
                <a:cs typeface="Calibri"/>
              </a:rPr>
              <a:t> </a:t>
            </a:r>
            <a:r>
              <a:rPr sz="2700" spc="5" dirty="0">
                <a:latin typeface="Calibri"/>
                <a:cs typeface="Calibri"/>
              </a:rPr>
              <a:t>to</a:t>
            </a:r>
            <a:r>
              <a:rPr sz="2700" spc="-50" dirty="0">
                <a:latin typeface="Calibri"/>
                <a:cs typeface="Calibri"/>
              </a:rPr>
              <a:t> </a:t>
            </a:r>
            <a:r>
              <a:rPr sz="2700" dirty="0">
                <a:latin typeface="Calibri"/>
                <a:cs typeface="Calibri"/>
              </a:rPr>
              <a:t>contamination</a:t>
            </a:r>
            <a:r>
              <a:rPr sz="2700" spc="-55" dirty="0">
                <a:latin typeface="Calibri"/>
                <a:cs typeface="Calibri"/>
              </a:rPr>
              <a:t> </a:t>
            </a:r>
            <a:r>
              <a:rPr sz="2700" dirty="0">
                <a:latin typeface="Calibri"/>
                <a:cs typeface="Calibri"/>
              </a:rPr>
              <a:t>as</a:t>
            </a:r>
            <a:r>
              <a:rPr sz="2700" spc="-40" dirty="0">
                <a:latin typeface="Calibri"/>
                <a:cs typeface="Calibri"/>
              </a:rPr>
              <a:t> </a:t>
            </a:r>
            <a:r>
              <a:rPr sz="2700" dirty="0">
                <a:latin typeface="Calibri"/>
                <a:cs typeface="Calibri"/>
              </a:rPr>
              <a:t>Hg</a:t>
            </a:r>
            <a:r>
              <a:rPr sz="2700" spc="-15" dirty="0">
                <a:latin typeface="Calibri"/>
                <a:cs typeface="Calibri"/>
              </a:rPr>
              <a:t> </a:t>
            </a:r>
            <a:r>
              <a:rPr sz="2700" dirty="0">
                <a:latin typeface="Times New Roman"/>
                <a:cs typeface="Times New Roman"/>
              </a:rPr>
              <a:t>|</a:t>
            </a:r>
            <a:r>
              <a:rPr sz="2700" spc="-70" dirty="0">
                <a:latin typeface="Times New Roman"/>
                <a:cs typeface="Times New Roman"/>
              </a:rPr>
              <a:t> </a:t>
            </a:r>
            <a:r>
              <a:rPr sz="2700" spc="-5" dirty="0">
                <a:latin typeface="Times New Roman"/>
                <a:cs typeface="Times New Roman"/>
              </a:rPr>
              <a:t>Hg2Cl2</a:t>
            </a:r>
            <a:r>
              <a:rPr sz="2700" spc="-35" dirty="0">
                <a:latin typeface="Times New Roman"/>
                <a:cs typeface="Times New Roman"/>
              </a:rPr>
              <a:t> </a:t>
            </a:r>
            <a:r>
              <a:rPr sz="2700" spc="-5" dirty="0">
                <a:latin typeface="Times New Roman"/>
                <a:cs typeface="Times New Roman"/>
              </a:rPr>
              <a:t>interface </a:t>
            </a:r>
            <a:r>
              <a:rPr sz="2700" spc="-660" dirty="0">
                <a:latin typeface="Times New Roman"/>
                <a:cs typeface="Times New Roman"/>
              </a:rPr>
              <a:t> </a:t>
            </a:r>
            <a:r>
              <a:rPr sz="2700" spc="-5" dirty="0">
                <a:latin typeface="Times New Roman"/>
                <a:cs typeface="Times New Roman"/>
              </a:rPr>
              <a:t>is</a:t>
            </a:r>
            <a:r>
              <a:rPr sz="2700" dirty="0">
                <a:latin typeface="Times New Roman"/>
                <a:cs typeface="Times New Roman"/>
              </a:rPr>
              <a:t> </a:t>
            </a:r>
            <a:r>
              <a:rPr sz="2700" spc="-5" dirty="0">
                <a:latin typeface="Times New Roman"/>
                <a:cs typeface="Times New Roman"/>
              </a:rPr>
              <a:t>protected</a:t>
            </a:r>
            <a:r>
              <a:rPr sz="2700" spc="5" dirty="0">
                <a:latin typeface="Times New Roman"/>
                <a:cs typeface="Times New Roman"/>
              </a:rPr>
              <a:t> </a:t>
            </a:r>
            <a:r>
              <a:rPr sz="2700" spc="-10" dirty="0">
                <a:latin typeface="Times New Roman"/>
                <a:cs typeface="Times New Roman"/>
              </a:rPr>
              <a:t>inside</a:t>
            </a:r>
            <a:r>
              <a:rPr sz="2700" spc="-5" dirty="0">
                <a:latin typeface="Times New Roman"/>
                <a:cs typeface="Times New Roman"/>
              </a:rPr>
              <a:t> </a:t>
            </a:r>
            <a:r>
              <a:rPr sz="2700" spc="5" dirty="0">
                <a:latin typeface="Times New Roman"/>
                <a:cs typeface="Times New Roman"/>
              </a:rPr>
              <a:t>a</a:t>
            </a:r>
            <a:r>
              <a:rPr sz="2700" spc="-5" dirty="0">
                <a:latin typeface="Times New Roman"/>
                <a:cs typeface="Times New Roman"/>
              </a:rPr>
              <a:t> tube</a:t>
            </a:r>
            <a:r>
              <a:rPr sz="2700" spc="-10" dirty="0">
                <a:latin typeface="Times New Roman"/>
                <a:cs typeface="Times New Roman"/>
              </a:rPr>
              <a:t> </a:t>
            </a:r>
            <a:r>
              <a:rPr sz="2700" spc="-5" dirty="0">
                <a:latin typeface="Times New Roman"/>
                <a:cs typeface="Times New Roman"/>
              </a:rPr>
              <a:t>and</a:t>
            </a:r>
            <a:r>
              <a:rPr sz="2700" spc="15" dirty="0">
                <a:latin typeface="Times New Roman"/>
                <a:cs typeface="Times New Roman"/>
              </a:rPr>
              <a:t> </a:t>
            </a:r>
            <a:r>
              <a:rPr sz="2700" spc="-10" dirty="0">
                <a:latin typeface="Times New Roman"/>
                <a:cs typeface="Times New Roman"/>
              </a:rPr>
              <a:t>is</a:t>
            </a:r>
            <a:r>
              <a:rPr sz="2700" spc="-25" dirty="0">
                <a:latin typeface="Times New Roman"/>
                <a:cs typeface="Times New Roman"/>
              </a:rPr>
              <a:t> </a:t>
            </a:r>
            <a:r>
              <a:rPr sz="2700" dirty="0">
                <a:latin typeface="Times New Roman"/>
                <a:cs typeface="Times New Roman"/>
              </a:rPr>
              <a:t>not</a:t>
            </a:r>
            <a:r>
              <a:rPr sz="2700" spc="-10" dirty="0">
                <a:latin typeface="Times New Roman"/>
                <a:cs typeface="Times New Roman"/>
              </a:rPr>
              <a:t> </a:t>
            </a:r>
            <a:r>
              <a:rPr sz="2700" spc="-5" dirty="0">
                <a:latin typeface="Times New Roman"/>
                <a:cs typeface="Times New Roman"/>
              </a:rPr>
              <a:t>in</a:t>
            </a:r>
            <a:r>
              <a:rPr sz="2700" spc="15" dirty="0">
                <a:latin typeface="Times New Roman"/>
                <a:cs typeface="Times New Roman"/>
              </a:rPr>
              <a:t> </a:t>
            </a:r>
            <a:r>
              <a:rPr sz="2700" dirty="0">
                <a:latin typeface="Times New Roman"/>
                <a:cs typeface="Times New Roman"/>
              </a:rPr>
              <a:t>direct</a:t>
            </a:r>
            <a:r>
              <a:rPr sz="2700" spc="-5" dirty="0">
                <a:latin typeface="Times New Roman"/>
                <a:cs typeface="Times New Roman"/>
              </a:rPr>
              <a:t> contact </a:t>
            </a:r>
            <a:r>
              <a:rPr sz="2700" dirty="0">
                <a:latin typeface="Times New Roman"/>
                <a:cs typeface="Times New Roman"/>
              </a:rPr>
              <a:t> with</a:t>
            </a:r>
            <a:r>
              <a:rPr sz="2700" spc="-15" dirty="0">
                <a:latin typeface="Times New Roman"/>
                <a:cs typeface="Times New Roman"/>
              </a:rPr>
              <a:t> </a:t>
            </a:r>
            <a:r>
              <a:rPr sz="2700" spc="-5" dirty="0">
                <a:latin typeface="Times New Roman"/>
                <a:cs typeface="Times New Roman"/>
              </a:rPr>
              <a:t>electrolyte.</a:t>
            </a:r>
            <a:endParaRPr sz="2700">
              <a:latin typeface="Times New Roman"/>
              <a:cs typeface="Times New Roman"/>
            </a:endParaRPr>
          </a:p>
          <a:p>
            <a:pPr marL="578485" marR="128905" indent="-515620">
              <a:lnSpc>
                <a:spcPts val="2600"/>
              </a:lnSpc>
              <a:spcBef>
                <a:spcPts val="645"/>
              </a:spcBef>
              <a:buFont typeface="Calibri"/>
              <a:buAutoNum type="arabicPeriod"/>
              <a:tabLst>
                <a:tab pos="654685" algn="l"/>
                <a:tab pos="655320" algn="l"/>
              </a:tabLst>
            </a:pPr>
            <a:r>
              <a:rPr dirty="0"/>
              <a:t>	</a:t>
            </a:r>
            <a:r>
              <a:rPr sz="2700" spc="-5" dirty="0">
                <a:latin typeface="Calibri"/>
                <a:cs typeface="Calibri"/>
              </a:rPr>
              <a:t>Reproducibility</a:t>
            </a:r>
            <a:r>
              <a:rPr sz="2700" spc="-70" dirty="0">
                <a:latin typeface="Calibri"/>
                <a:cs typeface="Calibri"/>
              </a:rPr>
              <a:t> </a:t>
            </a:r>
            <a:r>
              <a:rPr sz="2700" spc="5" dirty="0">
                <a:latin typeface="Calibri"/>
                <a:cs typeface="Calibri"/>
              </a:rPr>
              <a:t>of</a:t>
            </a:r>
            <a:r>
              <a:rPr sz="2700" spc="-65" dirty="0">
                <a:latin typeface="Calibri"/>
                <a:cs typeface="Calibri"/>
              </a:rPr>
              <a:t> </a:t>
            </a:r>
            <a:r>
              <a:rPr sz="2700" spc="-5" dirty="0">
                <a:latin typeface="Calibri"/>
                <a:cs typeface="Calibri"/>
              </a:rPr>
              <a:t>Calomel</a:t>
            </a:r>
            <a:r>
              <a:rPr sz="2700" spc="-50" dirty="0">
                <a:latin typeface="Calibri"/>
                <a:cs typeface="Calibri"/>
              </a:rPr>
              <a:t> </a:t>
            </a:r>
            <a:r>
              <a:rPr sz="2700" spc="-5" dirty="0">
                <a:latin typeface="Calibri"/>
                <a:cs typeface="Calibri"/>
              </a:rPr>
              <a:t>electrode</a:t>
            </a:r>
            <a:r>
              <a:rPr sz="2700" spc="-75" dirty="0">
                <a:latin typeface="Calibri"/>
                <a:cs typeface="Calibri"/>
              </a:rPr>
              <a:t> </a:t>
            </a:r>
            <a:r>
              <a:rPr sz="2700" dirty="0">
                <a:latin typeface="Calibri"/>
                <a:cs typeface="Calibri"/>
              </a:rPr>
              <a:t>is</a:t>
            </a:r>
            <a:r>
              <a:rPr sz="2700" spc="-50" dirty="0">
                <a:latin typeface="Calibri"/>
                <a:cs typeface="Calibri"/>
              </a:rPr>
              <a:t> </a:t>
            </a:r>
            <a:r>
              <a:rPr sz="2700" spc="-5" dirty="0">
                <a:latin typeface="Calibri"/>
                <a:cs typeface="Calibri"/>
              </a:rPr>
              <a:t>much</a:t>
            </a:r>
            <a:r>
              <a:rPr sz="2700" spc="-55" dirty="0">
                <a:latin typeface="Calibri"/>
                <a:cs typeface="Calibri"/>
              </a:rPr>
              <a:t> </a:t>
            </a:r>
            <a:r>
              <a:rPr sz="2700" dirty="0">
                <a:latin typeface="Calibri"/>
                <a:cs typeface="Calibri"/>
              </a:rPr>
              <a:t>better </a:t>
            </a:r>
            <a:r>
              <a:rPr sz="2700" spc="-600" dirty="0">
                <a:latin typeface="Calibri"/>
                <a:cs typeface="Calibri"/>
              </a:rPr>
              <a:t> </a:t>
            </a:r>
            <a:r>
              <a:rPr sz="2700" dirty="0">
                <a:latin typeface="Calibri"/>
                <a:cs typeface="Calibri"/>
              </a:rPr>
              <a:t>than</a:t>
            </a:r>
            <a:r>
              <a:rPr sz="2700" spc="-25" dirty="0">
                <a:latin typeface="Calibri"/>
                <a:cs typeface="Calibri"/>
              </a:rPr>
              <a:t> </a:t>
            </a:r>
            <a:r>
              <a:rPr sz="2700" dirty="0">
                <a:latin typeface="Calibri"/>
                <a:cs typeface="Calibri"/>
              </a:rPr>
              <a:t>Ag</a:t>
            </a:r>
            <a:r>
              <a:rPr sz="2700" spc="-15" dirty="0">
                <a:latin typeface="Calibri"/>
                <a:cs typeface="Calibri"/>
              </a:rPr>
              <a:t> </a:t>
            </a:r>
            <a:r>
              <a:rPr sz="2700" dirty="0">
                <a:latin typeface="Times New Roman"/>
                <a:cs typeface="Times New Roman"/>
              </a:rPr>
              <a:t>|</a:t>
            </a:r>
            <a:r>
              <a:rPr sz="2700" spc="-165" dirty="0">
                <a:latin typeface="Times New Roman"/>
                <a:cs typeface="Times New Roman"/>
              </a:rPr>
              <a:t> </a:t>
            </a:r>
            <a:r>
              <a:rPr sz="2700" dirty="0">
                <a:latin typeface="Times New Roman"/>
                <a:cs typeface="Times New Roman"/>
              </a:rPr>
              <a:t>AgCl</a:t>
            </a:r>
            <a:endParaRPr sz="2700">
              <a:latin typeface="Times New Roman"/>
              <a:cs typeface="Times New Roman"/>
            </a:endParaRPr>
          </a:p>
          <a:p>
            <a:pPr>
              <a:lnSpc>
                <a:spcPct val="100000"/>
              </a:lnSpc>
              <a:spcBef>
                <a:spcPts val="10"/>
              </a:spcBef>
            </a:pPr>
            <a:endParaRPr sz="2800">
              <a:latin typeface="Times New Roman"/>
              <a:cs typeface="Times New Roman"/>
            </a:endParaRPr>
          </a:p>
          <a:p>
            <a:pPr marL="578485" marR="470534">
              <a:lnSpc>
                <a:spcPts val="2300"/>
              </a:lnSpc>
            </a:pPr>
            <a:r>
              <a:rPr sz="2400" spc="-5" dirty="0">
                <a:latin typeface="Calibri"/>
                <a:cs typeface="Calibri"/>
              </a:rPr>
              <a:t>Calomel</a:t>
            </a:r>
            <a:r>
              <a:rPr sz="2400" spc="-50" dirty="0">
                <a:latin typeface="Calibri"/>
                <a:cs typeface="Calibri"/>
              </a:rPr>
              <a:t> </a:t>
            </a:r>
            <a:r>
              <a:rPr sz="2400" dirty="0">
                <a:latin typeface="Calibri"/>
                <a:cs typeface="Calibri"/>
              </a:rPr>
              <a:t>–</a:t>
            </a:r>
            <a:r>
              <a:rPr sz="2400" spc="-60" dirty="0">
                <a:latin typeface="Calibri"/>
                <a:cs typeface="Calibri"/>
              </a:rPr>
              <a:t> </a:t>
            </a:r>
            <a:r>
              <a:rPr sz="2400" spc="-5" dirty="0">
                <a:latin typeface="Calibri"/>
                <a:cs typeface="Calibri"/>
              </a:rPr>
              <a:t>mineral</a:t>
            </a:r>
            <a:r>
              <a:rPr sz="2400" spc="-30" dirty="0">
                <a:latin typeface="Calibri"/>
                <a:cs typeface="Calibri"/>
              </a:rPr>
              <a:t> </a:t>
            </a:r>
            <a:r>
              <a:rPr sz="2400" spc="-5" dirty="0">
                <a:latin typeface="Calibri"/>
                <a:cs typeface="Calibri"/>
              </a:rPr>
              <a:t>rarely</a:t>
            </a:r>
            <a:r>
              <a:rPr sz="2400" spc="-90" dirty="0">
                <a:latin typeface="Calibri"/>
                <a:cs typeface="Calibri"/>
              </a:rPr>
              <a:t> </a:t>
            </a:r>
            <a:r>
              <a:rPr sz="2400" spc="-5" dirty="0">
                <a:latin typeface="Calibri"/>
                <a:cs typeface="Calibri"/>
              </a:rPr>
              <a:t>found</a:t>
            </a:r>
            <a:r>
              <a:rPr sz="2400" spc="-15" dirty="0">
                <a:latin typeface="Calibri"/>
                <a:cs typeface="Calibri"/>
              </a:rPr>
              <a:t> in</a:t>
            </a:r>
            <a:r>
              <a:rPr sz="2400" spc="-30" dirty="0">
                <a:latin typeface="Calibri"/>
                <a:cs typeface="Calibri"/>
              </a:rPr>
              <a:t> </a:t>
            </a:r>
            <a:r>
              <a:rPr sz="2400" spc="-5" dirty="0">
                <a:latin typeface="Calibri"/>
                <a:cs typeface="Calibri"/>
              </a:rPr>
              <a:t>nature</a:t>
            </a:r>
            <a:r>
              <a:rPr sz="2400" spc="-25" dirty="0">
                <a:latin typeface="Calibri"/>
                <a:cs typeface="Calibri"/>
              </a:rPr>
              <a:t> </a:t>
            </a:r>
            <a:r>
              <a:rPr sz="2400" dirty="0">
                <a:latin typeface="Calibri"/>
                <a:cs typeface="Calibri"/>
              </a:rPr>
              <a:t>.</a:t>
            </a:r>
            <a:r>
              <a:rPr sz="2400" spc="-45" dirty="0">
                <a:latin typeface="Calibri"/>
                <a:cs typeface="Calibri"/>
              </a:rPr>
              <a:t> </a:t>
            </a:r>
            <a:r>
              <a:rPr sz="2400" spc="-5" dirty="0">
                <a:latin typeface="Calibri"/>
                <a:cs typeface="Calibri"/>
              </a:rPr>
              <a:t>Mercurous</a:t>
            </a:r>
            <a:r>
              <a:rPr sz="2400" spc="-30" dirty="0">
                <a:latin typeface="Calibri"/>
                <a:cs typeface="Calibri"/>
              </a:rPr>
              <a:t> </a:t>
            </a:r>
            <a:r>
              <a:rPr sz="2400" spc="-10" dirty="0">
                <a:latin typeface="Calibri"/>
                <a:cs typeface="Calibri"/>
              </a:rPr>
              <a:t>(I) </a:t>
            </a:r>
            <a:r>
              <a:rPr sz="2400" spc="-525" dirty="0">
                <a:latin typeface="Calibri"/>
                <a:cs typeface="Calibri"/>
              </a:rPr>
              <a:t> </a:t>
            </a:r>
            <a:r>
              <a:rPr sz="2400" dirty="0">
                <a:latin typeface="Calibri"/>
                <a:cs typeface="Calibri"/>
              </a:rPr>
              <a:t>chloride,</a:t>
            </a:r>
            <a:r>
              <a:rPr sz="2400" spc="-35" dirty="0">
                <a:latin typeface="Calibri"/>
                <a:cs typeface="Calibri"/>
              </a:rPr>
              <a:t> </a:t>
            </a:r>
            <a:r>
              <a:rPr sz="2400" spc="-5" dirty="0">
                <a:latin typeface="Calibri"/>
                <a:cs typeface="Calibri"/>
              </a:rPr>
              <a:t>Hg2Cl2.</a:t>
            </a:r>
            <a:endParaRPr sz="240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99742" y="78689"/>
            <a:ext cx="5913755" cy="512445"/>
          </a:xfrm>
          <a:prstGeom prst="rect">
            <a:avLst/>
          </a:prstGeom>
        </p:spPr>
        <p:txBody>
          <a:bodyPr vert="horz" wrap="square" lIns="0" tIns="12065" rIns="0" bIns="0" rtlCol="0">
            <a:spAutoFit/>
          </a:bodyPr>
          <a:lstStyle/>
          <a:p>
            <a:pPr marL="12700">
              <a:lnSpc>
                <a:spcPct val="100000"/>
              </a:lnSpc>
              <a:spcBef>
                <a:spcPts val="95"/>
              </a:spcBef>
            </a:pPr>
            <a:r>
              <a:rPr sz="3200" b="1" spc="-5" dirty="0">
                <a:latin typeface="Calibri"/>
                <a:cs typeface="Calibri"/>
              </a:rPr>
              <a:t>Indicator</a:t>
            </a:r>
            <a:r>
              <a:rPr sz="3200" b="1" spc="-70" dirty="0">
                <a:latin typeface="Calibri"/>
                <a:cs typeface="Calibri"/>
              </a:rPr>
              <a:t> </a:t>
            </a:r>
            <a:r>
              <a:rPr sz="3200" b="1" spc="-5" dirty="0">
                <a:latin typeface="Calibri"/>
                <a:cs typeface="Calibri"/>
              </a:rPr>
              <a:t>Electrode-Glass</a:t>
            </a:r>
            <a:r>
              <a:rPr sz="3200" b="1" spc="-90" dirty="0">
                <a:latin typeface="Calibri"/>
                <a:cs typeface="Calibri"/>
              </a:rPr>
              <a:t> </a:t>
            </a:r>
            <a:r>
              <a:rPr sz="3200" b="1" spc="-5" dirty="0">
                <a:latin typeface="Calibri"/>
                <a:cs typeface="Calibri"/>
              </a:rPr>
              <a:t>Electrode</a:t>
            </a:r>
            <a:endParaRPr sz="3200">
              <a:latin typeface="Calibri"/>
              <a:cs typeface="Calibri"/>
            </a:endParaRPr>
          </a:p>
        </p:txBody>
      </p:sp>
      <p:sp>
        <p:nvSpPr>
          <p:cNvPr id="3" name="object 3"/>
          <p:cNvSpPr txBox="1"/>
          <p:nvPr/>
        </p:nvSpPr>
        <p:spPr>
          <a:xfrm>
            <a:off x="370840" y="694766"/>
            <a:ext cx="8308975" cy="5429250"/>
          </a:xfrm>
          <a:prstGeom prst="rect">
            <a:avLst/>
          </a:prstGeom>
        </p:spPr>
        <p:txBody>
          <a:bodyPr vert="horz" wrap="square" lIns="0" tIns="29845" rIns="0" bIns="0" rtlCol="0">
            <a:spAutoFit/>
          </a:bodyPr>
          <a:lstStyle/>
          <a:p>
            <a:pPr marL="443230" marR="17780" indent="-341630">
              <a:lnSpc>
                <a:spcPts val="3820"/>
              </a:lnSpc>
              <a:spcBef>
                <a:spcPts val="235"/>
              </a:spcBef>
              <a:buFont typeface="Microsoft Sans Serif"/>
              <a:buChar char="•"/>
              <a:tabLst>
                <a:tab pos="442595" algn="l"/>
                <a:tab pos="443865" algn="l"/>
              </a:tabLst>
            </a:pPr>
            <a:r>
              <a:rPr sz="3200" spc="-5" dirty="0">
                <a:solidFill>
                  <a:srgbClr val="C00000"/>
                </a:solidFill>
                <a:latin typeface="Calibri"/>
                <a:cs typeface="Calibri"/>
              </a:rPr>
              <a:t>Indicator</a:t>
            </a:r>
            <a:r>
              <a:rPr sz="3200" spc="-25" dirty="0">
                <a:solidFill>
                  <a:srgbClr val="C00000"/>
                </a:solidFill>
                <a:latin typeface="Calibri"/>
                <a:cs typeface="Calibri"/>
              </a:rPr>
              <a:t> </a:t>
            </a:r>
            <a:r>
              <a:rPr sz="3200" spc="-5" dirty="0">
                <a:solidFill>
                  <a:srgbClr val="C00000"/>
                </a:solidFill>
                <a:latin typeface="Calibri"/>
                <a:cs typeface="Calibri"/>
              </a:rPr>
              <a:t>Electrode</a:t>
            </a:r>
            <a:r>
              <a:rPr sz="3200" spc="5" dirty="0">
                <a:solidFill>
                  <a:srgbClr val="C00000"/>
                </a:solidFill>
                <a:latin typeface="Calibri"/>
                <a:cs typeface="Calibri"/>
              </a:rPr>
              <a:t> </a:t>
            </a:r>
            <a:r>
              <a:rPr sz="3200" spc="-5" dirty="0">
                <a:latin typeface="Calibri"/>
                <a:cs typeface="Calibri"/>
              </a:rPr>
              <a:t>–</a:t>
            </a:r>
            <a:r>
              <a:rPr sz="3200" spc="-35" dirty="0">
                <a:latin typeface="Calibri"/>
                <a:cs typeface="Calibri"/>
              </a:rPr>
              <a:t> </a:t>
            </a:r>
            <a:r>
              <a:rPr sz="3200" dirty="0">
                <a:latin typeface="Calibri"/>
                <a:cs typeface="Calibri"/>
              </a:rPr>
              <a:t>is</a:t>
            </a:r>
            <a:r>
              <a:rPr sz="3200" spc="-30" dirty="0">
                <a:latin typeface="Calibri"/>
                <a:cs typeface="Calibri"/>
              </a:rPr>
              <a:t> </a:t>
            </a:r>
            <a:r>
              <a:rPr sz="3200" spc="-5" dirty="0">
                <a:latin typeface="Calibri"/>
                <a:cs typeface="Calibri"/>
              </a:rPr>
              <a:t>the</a:t>
            </a:r>
            <a:r>
              <a:rPr sz="3200" spc="-25" dirty="0">
                <a:latin typeface="Calibri"/>
                <a:cs typeface="Calibri"/>
              </a:rPr>
              <a:t> </a:t>
            </a:r>
            <a:r>
              <a:rPr sz="3200" spc="-5" dirty="0">
                <a:latin typeface="Calibri"/>
                <a:cs typeface="Calibri"/>
              </a:rPr>
              <a:t>electrode</a:t>
            </a:r>
            <a:r>
              <a:rPr sz="3200" spc="-25" dirty="0">
                <a:latin typeface="Calibri"/>
                <a:cs typeface="Calibri"/>
              </a:rPr>
              <a:t> </a:t>
            </a:r>
            <a:r>
              <a:rPr sz="3200" spc="-5" dirty="0">
                <a:latin typeface="Calibri"/>
                <a:cs typeface="Calibri"/>
              </a:rPr>
              <a:t>of</a:t>
            </a:r>
            <a:r>
              <a:rPr sz="3200" spc="-20" dirty="0">
                <a:latin typeface="Calibri"/>
                <a:cs typeface="Calibri"/>
              </a:rPr>
              <a:t> </a:t>
            </a:r>
            <a:r>
              <a:rPr sz="3200" spc="-5" dirty="0">
                <a:latin typeface="Calibri"/>
                <a:cs typeface="Calibri"/>
              </a:rPr>
              <a:t>a</a:t>
            </a:r>
            <a:r>
              <a:rPr sz="3200" spc="-20" dirty="0">
                <a:latin typeface="Calibri"/>
                <a:cs typeface="Calibri"/>
              </a:rPr>
              <a:t> </a:t>
            </a:r>
            <a:r>
              <a:rPr sz="3200" spc="-10" dirty="0">
                <a:latin typeface="Calibri"/>
                <a:cs typeface="Calibri"/>
              </a:rPr>
              <a:t>cell </a:t>
            </a:r>
            <a:r>
              <a:rPr sz="3200" spc="5" dirty="0">
                <a:latin typeface="Calibri"/>
                <a:cs typeface="Calibri"/>
              </a:rPr>
              <a:t>in </a:t>
            </a:r>
            <a:r>
              <a:rPr sz="3200" spc="-710" dirty="0">
                <a:latin typeface="Calibri"/>
                <a:cs typeface="Calibri"/>
              </a:rPr>
              <a:t> </a:t>
            </a:r>
            <a:r>
              <a:rPr sz="3200" spc="-5" dirty="0">
                <a:latin typeface="Calibri"/>
                <a:cs typeface="Calibri"/>
              </a:rPr>
              <a:t>which</a:t>
            </a:r>
            <a:r>
              <a:rPr sz="3200" spc="-10" dirty="0">
                <a:latin typeface="Calibri"/>
                <a:cs typeface="Calibri"/>
              </a:rPr>
              <a:t> </a:t>
            </a:r>
            <a:r>
              <a:rPr sz="3200" spc="-5" dirty="0">
                <a:latin typeface="Calibri"/>
                <a:cs typeface="Calibri"/>
              </a:rPr>
              <a:t>the potential</a:t>
            </a:r>
            <a:r>
              <a:rPr sz="3200" spc="5" dirty="0">
                <a:latin typeface="Calibri"/>
                <a:cs typeface="Calibri"/>
              </a:rPr>
              <a:t> </a:t>
            </a:r>
            <a:r>
              <a:rPr sz="3200" spc="-10" dirty="0">
                <a:latin typeface="Calibri"/>
                <a:cs typeface="Calibri"/>
              </a:rPr>
              <a:t>depends</a:t>
            </a:r>
            <a:r>
              <a:rPr sz="3200" spc="-5" dirty="0">
                <a:latin typeface="Calibri"/>
                <a:cs typeface="Calibri"/>
              </a:rPr>
              <a:t> </a:t>
            </a:r>
            <a:r>
              <a:rPr sz="3200" spc="-10" dirty="0">
                <a:latin typeface="Calibri"/>
                <a:cs typeface="Calibri"/>
              </a:rPr>
              <a:t>on</a:t>
            </a:r>
            <a:r>
              <a:rPr sz="3200" spc="35" dirty="0">
                <a:latin typeface="Calibri"/>
                <a:cs typeface="Calibri"/>
              </a:rPr>
              <a:t> </a:t>
            </a:r>
            <a:r>
              <a:rPr sz="3200" spc="-5" dirty="0">
                <a:latin typeface="Calibri"/>
                <a:cs typeface="Calibri"/>
              </a:rPr>
              <a:t>the </a:t>
            </a:r>
            <a:r>
              <a:rPr sz="3200" dirty="0">
                <a:latin typeface="Calibri"/>
                <a:cs typeface="Calibri"/>
              </a:rPr>
              <a:t> </a:t>
            </a:r>
            <a:r>
              <a:rPr sz="3200" spc="-5" dirty="0">
                <a:latin typeface="Calibri"/>
                <a:cs typeface="Calibri"/>
              </a:rPr>
              <a:t>concentration</a:t>
            </a:r>
            <a:r>
              <a:rPr sz="3200" spc="-15" dirty="0">
                <a:latin typeface="Calibri"/>
                <a:cs typeface="Calibri"/>
              </a:rPr>
              <a:t> </a:t>
            </a:r>
            <a:r>
              <a:rPr sz="3200" spc="-5" dirty="0">
                <a:latin typeface="Calibri"/>
                <a:cs typeface="Calibri"/>
              </a:rPr>
              <a:t>of</a:t>
            </a:r>
            <a:r>
              <a:rPr sz="3200" spc="5" dirty="0">
                <a:latin typeface="Calibri"/>
                <a:cs typeface="Calibri"/>
              </a:rPr>
              <a:t> </a:t>
            </a:r>
            <a:r>
              <a:rPr sz="3200" spc="-5" dirty="0">
                <a:latin typeface="Calibri"/>
                <a:cs typeface="Calibri"/>
              </a:rPr>
              <a:t>a</a:t>
            </a:r>
            <a:r>
              <a:rPr sz="3200" spc="-25" dirty="0">
                <a:latin typeface="Calibri"/>
                <a:cs typeface="Calibri"/>
              </a:rPr>
              <a:t> </a:t>
            </a:r>
            <a:r>
              <a:rPr sz="3200" spc="-5" dirty="0">
                <a:latin typeface="Calibri"/>
                <a:cs typeface="Calibri"/>
              </a:rPr>
              <a:t>particular</a:t>
            </a:r>
            <a:r>
              <a:rPr sz="3200" dirty="0">
                <a:latin typeface="Calibri"/>
                <a:cs typeface="Calibri"/>
              </a:rPr>
              <a:t> </a:t>
            </a:r>
            <a:r>
              <a:rPr sz="3200" spc="-5" dirty="0">
                <a:latin typeface="Calibri"/>
                <a:cs typeface="Calibri"/>
              </a:rPr>
              <a:t>ion</a:t>
            </a:r>
            <a:r>
              <a:rPr sz="3200" dirty="0">
                <a:latin typeface="Calibri"/>
                <a:cs typeface="Calibri"/>
              </a:rPr>
              <a:t> .</a:t>
            </a:r>
            <a:r>
              <a:rPr sz="3200" dirty="0">
                <a:solidFill>
                  <a:srgbClr val="C00000"/>
                </a:solidFill>
                <a:latin typeface="Microsoft Sans Serif"/>
                <a:cs typeface="Microsoft Sans Serif"/>
              </a:rPr>
              <a:t> </a:t>
            </a:r>
            <a:endParaRPr sz="3200">
              <a:latin typeface="Microsoft Sans Serif"/>
              <a:cs typeface="Microsoft Sans Serif"/>
            </a:endParaRPr>
          </a:p>
          <a:p>
            <a:pPr marL="25400" marR="4563745">
              <a:lnSpc>
                <a:spcPct val="99600"/>
              </a:lnSpc>
              <a:spcBef>
                <a:spcPts val="2270"/>
              </a:spcBef>
              <a:tabLst>
                <a:tab pos="2997835" algn="l"/>
              </a:tabLst>
            </a:pPr>
            <a:r>
              <a:rPr sz="2400" b="1" spc="-5" dirty="0">
                <a:solidFill>
                  <a:srgbClr val="C00000"/>
                </a:solidFill>
                <a:latin typeface="Calibri"/>
                <a:cs typeface="Calibri"/>
              </a:rPr>
              <a:t>Principle </a:t>
            </a:r>
            <a:r>
              <a:rPr sz="2400" b="1" dirty="0">
                <a:solidFill>
                  <a:srgbClr val="C00000"/>
                </a:solidFill>
                <a:latin typeface="Calibri"/>
                <a:cs typeface="Calibri"/>
              </a:rPr>
              <a:t>of </a:t>
            </a:r>
            <a:r>
              <a:rPr sz="2400" b="1" spc="-5" dirty="0">
                <a:solidFill>
                  <a:srgbClr val="C00000"/>
                </a:solidFill>
                <a:latin typeface="Calibri"/>
                <a:cs typeface="Calibri"/>
              </a:rPr>
              <a:t>Glass Electrode: </a:t>
            </a:r>
            <a:r>
              <a:rPr sz="2400" b="1" dirty="0">
                <a:solidFill>
                  <a:srgbClr val="C00000"/>
                </a:solidFill>
                <a:latin typeface="Calibri"/>
                <a:cs typeface="Calibri"/>
              </a:rPr>
              <a:t> </a:t>
            </a:r>
            <a:r>
              <a:rPr sz="2400" dirty="0">
                <a:latin typeface="Calibri"/>
                <a:cs typeface="Calibri"/>
              </a:rPr>
              <a:t>When</a:t>
            </a:r>
            <a:r>
              <a:rPr sz="2400" spc="-5" dirty="0">
                <a:latin typeface="Calibri"/>
                <a:cs typeface="Calibri"/>
              </a:rPr>
              <a:t> two</a:t>
            </a:r>
            <a:r>
              <a:rPr sz="2400" spc="5" dirty="0">
                <a:latin typeface="Calibri"/>
                <a:cs typeface="Calibri"/>
              </a:rPr>
              <a:t> </a:t>
            </a:r>
            <a:r>
              <a:rPr sz="2400" spc="-10" dirty="0">
                <a:latin typeface="Calibri"/>
                <a:cs typeface="Calibri"/>
              </a:rPr>
              <a:t>solution </a:t>
            </a:r>
            <a:r>
              <a:rPr sz="2400" spc="-5" dirty="0">
                <a:latin typeface="Calibri"/>
                <a:cs typeface="Calibri"/>
              </a:rPr>
              <a:t>of </a:t>
            </a:r>
            <a:r>
              <a:rPr sz="2400" dirty="0">
                <a:latin typeface="Calibri"/>
                <a:cs typeface="Calibri"/>
              </a:rPr>
              <a:t> </a:t>
            </a:r>
            <a:r>
              <a:rPr sz="2400" spc="-5" dirty="0">
                <a:latin typeface="Calibri"/>
                <a:cs typeface="Calibri"/>
              </a:rPr>
              <a:t>different </a:t>
            </a:r>
            <a:r>
              <a:rPr sz="2400" spc="5" dirty="0">
                <a:latin typeface="Calibri"/>
                <a:cs typeface="Calibri"/>
              </a:rPr>
              <a:t>H</a:t>
            </a:r>
            <a:r>
              <a:rPr sz="2325" spc="7" baseline="28673" dirty="0">
                <a:latin typeface="Calibri"/>
                <a:cs typeface="Calibri"/>
              </a:rPr>
              <a:t>+</a:t>
            </a:r>
            <a:r>
              <a:rPr sz="2325" spc="15" baseline="28673" dirty="0">
                <a:latin typeface="Calibri"/>
                <a:cs typeface="Calibri"/>
              </a:rPr>
              <a:t> </a:t>
            </a:r>
            <a:r>
              <a:rPr sz="2400" dirty="0">
                <a:latin typeface="Calibri"/>
                <a:cs typeface="Calibri"/>
              </a:rPr>
              <a:t>ions </a:t>
            </a:r>
            <a:r>
              <a:rPr sz="2400" spc="5" dirty="0">
                <a:latin typeface="Calibri"/>
                <a:cs typeface="Calibri"/>
              </a:rPr>
              <a:t> </a:t>
            </a:r>
            <a:r>
              <a:rPr sz="2400" spc="-5" dirty="0">
                <a:latin typeface="Calibri"/>
                <a:cs typeface="Calibri"/>
              </a:rPr>
              <a:t>concentrations,</a:t>
            </a:r>
            <a:r>
              <a:rPr sz="2400" spc="-130" dirty="0">
                <a:latin typeface="Calibri"/>
                <a:cs typeface="Calibri"/>
              </a:rPr>
              <a:t> </a:t>
            </a:r>
            <a:r>
              <a:rPr sz="2400" dirty="0">
                <a:latin typeface="Calibri"/>
                <a:cs typeface="Calibri"/>
              </a:rPr>
              <a:t>are</a:t>
            </a:r>
            <a:r>
              <a:rPr sz="2400" spc="-130" dirty="0">
                <a:latin typeface="Calibri"/>
                <a:cs typeface="Calibri"/>
              </a:rPr>
              <a:t> </a:t>
            </a:r>
            <a:r>
              <a:rPr sz="2400" spc="-5" dirty="0">
                <a:latin typeface="Calibri"/>
                <a:cs typeface="Calibri"/>
              </a:rPr>
              <a:t>separated </a:t>
            </a:r>
            <a:r>
              <a:rPr sz="2400" spc="-530" dirty="0">
                <a:latin typeface="Calibri"/>
                <a:cs typeface="Calibri"/>
              </a:rPr>
              <a:t> </a:t>
            </a:r>
            <a:r>
              <a:rPr sz="2400" dirty="0">
                <a:latin typeface="Calibri"/>
                <a:cs typeface="Calibri"/>
              </a:rPr>
              <a:t>by a </a:t>
            </a:r>
            <a:r>
              <a:rPr sz="2400" spc="-5" dirty="0">
                <a:latin typeface="Calibri"/>
                <a:cs typeface="Calibri"/>
              </a:rPr>
              <a:t>thin walled </a:t>
            </a:r>
            <a:r>
              <a:rPr sz="2400" dirty="0">
                <a:latin typeface="Calibri"/>
                <a:cs typeface="Calibri"/>
              </a:rPr>
              <a:t>glass </a:t>
            </a:r>
            <a:r>
              <a:rPr sz="2400" spc="5" dirty="0">
                <a:latin typeface="Calibri"/>
                <a:cs typeface="Calibri"/>
              </a:rPr>
              <a:t> </a:t>
            </a:r>
            <a:r>
              <a:rPr sz="2400" spc="-5" dirty="0">
                <a:latin typeface="Calibri"/>
                <a:cs typeface="Calibri"/>
              </a:rPr>
              <a:t>membrane, </a:t>
            </a:r>
            <a:r>
              <a:rPr sz="2400" dirty="0">
                <a:latin typeface="Calibri"/>
                <a:cs typeface="Calibri"/>
              </a:rPr>
              <a:t>a </a:t>
            </a:r>
            <a:r>
              <a:rPr sz="2400" spc="-5" dirty="0">
                <a:latin typeface="Calibri"/>
                <a:cs typeface="Calibri"/>
              </a:rPr>
              <a:t>potential </a:t>
            </a:r>
            <a:r>
              <a:rPr sz="2400" dirty="0">
                <a:latin typeface="Calibri"/>
                <a:cs typeface="Calibri"/>
              </a:rPr>
              <a:t> </a:t>
            </a:r>
            <a:r>
              <a:rPr sz="2400" spc="-5" dirty="0">
                <a:latin typeface="Calibri"/>
                <a:cs typeface="Calibri"/>
              </a:rPr>
              <a:t>difference</a:t>
            </a:r>
            <a:r>
              <a:rPr sz="2400" spc="5" dirty="0">
                <a:latin typeface="Calibri"/>
                <a:cs typeface="Calibri"/>
              </a:rPr>
              <a:t> </a:t>
            </a:r>
            <a:r>
              <a:rPr sz="2400" spc="-5" dirty="0">
                <a:latin typeface="Calibri"/>
                <a:cs typeface="Calibri"/>
              </a:rPr>
              <a:t>developed </a:t>
            </a:r>
            <a:r>
              <a:rPr sz="2400" dirty="0">
                <a:latin typeface="Calibri"/>
                <a:cs typeface="Calibri"/>
              </a:rPr>
              <a:t>is </a:t>
            </a:r>
            <a:r>
              <a:rPr sz="2400" spc="5" dirty="0">
                <a:latin typeface="Calibri"/>
                <a:cs typeface="Calibri"/>
              </a:rPr>
              <a:t> </a:t>
            </a:r>
            <a:r>
              <a:rPr sz="2400" spc="-5" dirty="0">
                <a:latin typeface="Calibri"/>
                <a:cs typeface="Calibri"/>
              </a:rPr>
              <a:t>proportional </a:t>
            </a:r>
            <a:r>
              <a:rPr sz="2400" spc="5" dirty="0">
                <a:latin typeface="Calibri"/>
                <a:cs typeface="Calibri"/>
              </a:rPr>
              <a:t>to </a:t>
            </a:r>
            <a:r>
              <a:rPr sz="2400" spc="-5" dirty="0">
                <a:latin typeface="Calibri"/>
                <a:cs typeface="Calibri"/>
              </a:rPr>
              <a:t>the difference </a:t>
            </a:r>
            <a:r>
              <a:rPr sz="2400" spc="-530" dirty="0">
                <a:latin typeface="Calibri"/>
                <a:cs typeface="Calibri"/>
              </a:rPr>
              <a:t> </a:t>
            </a:r>
            <a:r>
              <a:rPr sz="2400" dirty="0">
                <a:latin typeface="Calibri"/>
                <a:cs typeface="Calibri"/>
              </a:rPr>
              <a:t>in</a:t>
            </a:r>
            <a:r>
              <a:rPr sz="2400" spc="-30" dirty="0">
                <a:latin typeface="Calibri"/>
                <a:cs typeface="Calibri"/>
              </a:rPr>
              <a:t> </a:t>
            </a:r>
            <a:r>
              <a:rPr sz="2400" spc="-5" dirty="0">
                <a:latin typeface="Calibri"/>
                <a:cs typeface="Calibri"/>
              </a:rPr>
              <a:t>H</a:t>
            </a:r>
            <a:r>
              <a:rPr sz="2325" spc="-7" baseline="28673" dirty="0">
                <a:latin typeface="Calibri"/>
                <a:cs typeface="Calibri"/>
              </a:rPr>
              <a:t>+</a:t>
            </a:r>
            <a:r>
              <a:rPr sz="2325" spc="254" baseline="28673" dirty="0">
                <a:latin typeface="Calibri"/>
                <a:cs typeface="Calibri"/>
              </a:rPr>
              <a:t> </a:t>
            </a:r>
            <a:r>
              <a:rPr sz="2400" dirty="0">
                <a:latin typeface="Calibri"/>
                <a:cs typeface="Calibri"/>
              </a:rPr>
              <a:t>ion</a:t>
            </a:r>
            <a:r>
              <a:rPr sz="2400" spc="-20" dirty="0">
                <a:latin typeface="Calibri"/>
                <a:cs typeface="Calibri"/>
              </a:rPr>
              <a:t> </a:t>
            </a:r>
            <a:r>
              <a:rPr sz="2400" spc="-5" dirty="0">
                <a:latin typeface="Calibri"/>
                <a:cs typeface="Calibri"/>
              </a:rPr>
              <a:t>concentration	</a:t>
            </a:r>
            <a:r>
              <a:rPr sz="2400" dirty="0">
                <a:latin typeface="Calibri"/>
                <a:cs typeface="Calibri"/>
              </a:rPr>
              <a:t>of</a:t>
            </a:r>
            <a:r>
              <a:rPr sz="2400" spc="-120" dirty="0">
                <a:latin typeface="Calibri"/>
                <a:cs typeface="Calibri"/>
              </a:rPr>
              <a:t> </a:t>
            </a:r>
            <a:r>
              <a:rPr sz="2400" spc="10" dirty="0">
                <a:latin typeface="Calibri"/>
                <a:cs typeface="Calibri"/>
              </a:rPr>
              <a:t>the </a:t>
            </a:r>
            <a:r>
              <a:rPr sz="2400" spc="-525" dirty="0">
                <a:latin typeface="Calibri"/>
                <a:cs typeface="Calibri"/>
              </a:rPr>
              <a:t> </a:t>
            </a:r>
            <a:r>
              <a:rPr sz="2400" spc="-5" dirty="0">
                <a:latin typeface="Calibri"/>
                <a:cs typeface="Calibri"/>
              </a:rPr>
              <a:t>two</a:t>
            </a:r>
            <a:r>
              <a:rPr sz="2400" spc="-35" dirty="0">
                <a:latin typeface="Calibri"/>
                <a:cs typeface="Calibri"/>
              </a:rPr>
              <a:t> </a:t>
            </a:r>
            <a:r>
              <a:rPr sz="2400" spc="-5" dirty="0">
                <a:latin typeface="Calibri"/>
                <a:cs typeface="Calibri"/>
              </a:rPr>
              <a:t>solutions.</a:t>
            </a:r>
            <a:endParaRPr sz="2400">
              <a:latin typeface="Calibri"/>
              <a:cs typeface="Calibri"/>
            </a:endParaRPr>
          </a:p>
        </p:txBody>
      </p:sp>
      <p:pic>
        <p:nvPicPr>
          <p:cNvPr id="4" name="object 4"/>
          <p:cNvPicPr/>
          <p:nvPr/>
        </p:nvPicPr>
        <p:blipFill>
          <a:blip r:embed="rId2" cstate="print"/>
          <a:stretch>
            <a:fillRect/>
          </a:stretch>
        </p:blipFill>
        <p:spPr>
          <a:xfrm>
            <a:off x="4981575" y="2398979"/>
            <a:ext cx="3829050" cy="33242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325881"/>
            <a:ext cx="7932420" cy="1509395"/>
          </a:xfrm>
          <a:prstGeom prst="rect">
            <a:avLst/>
          </a:prstGeom>
        </p:spPr>
        <p:txBody>
          <a:bodyPr vert="horz" wrap="square" lIns="0" tIns="53340" rIns="0" bIns="0" rtlCol="0">
            <a:spAutoFit/>
          </a:bodyPr>
          <a:lstStyle/>
          <a:p>
            <a:pPr marL="354330" marR="5080" indent="-342265">
              <a:lnSpc>
                <a:spcPts val="2090"/>
              </a:lnSpc>
              <a:spcBef>
                <a:spcPts val="420"/>
              </a:spcBef>
              <a:buChar char="•"/>
              <a:tabLst>
                <a:tab pos="353695" algn="l"/>
                <a:tab pos="354965" algn="l"/>
              </a:tabLst>
            </a:pPr>
            <a:r>
              <a:rPr sz="2000" spc="-10" dirty="0">
                <a:latin typeface="Microsoft Sans Serif"/>
                <a:cs typeface="Microsoft Sans Serif"/>
              </a:rPr>
              <a:t>The </a:t>
            </a:r>
            <a:r>
              <a:rPr sz="2000" dirty="0">
                <a:latin typeface="Microsoft Sans Serif"/>
                <a:cs typeface="Microsoft Sans Serif"/>
              </a:rPr>
              <a:t>glass</a:t>
            </a:r>
            <a:r>
              <a:rPr sz="2000" spc="-10" dirty="0">
                <a:latin typeface="Microsoft Sans Serif"/>
                <a:cs typeface="Microsoft Sans Serif"/>
              </a:rPr>
              <a:t> </a:t>
            </a:r>
            <a:r>
              <a:rPr sz="2000" spc="-5" dirty="0">
                <a:latin typeface="Microsoft Sans Serif"/>
                <a:cs typeface="Microsoft Sans Serif"/>
              </a:rPr>
              <a:t>electrode</a:t>
            </a:r>
            <a:r>
              <a:rPr sz="2000" spc="-30" dirty="0">
                <a:latin typeface="Microsoft Sans Serif"/>
                <a:cs typeface="Microsoft Sans Serif"/>
              </a:rPr>
              <a:t> </a:t>
            </a:r>
            <a:r>
              <a:rPr sz="2000" dirty="0">
                <a:latin typeface="Microsoft Sans Serif"/>
                <a:cs typeface="Microsoft Sans Serif"/>
              </a:rPr>
              <a:t>consists</a:t>
            </a:r>
            <a:r>
              <a:rPr sz="2000" spc="-30" dirty="0">
                <a:latin typeface="Microsoft Sans Serif"/>
                <a:cs typeface="Microsoft Sans Serif"/>
              </a:rPr>
              <a:t> </a:t>
            </a:r>
            <a:r>
              <a:rPr sz="2000" spc="-10" dirty="0">
                <a:latin typeface="Microsoft Sans Serif"/>
                <a:cs typeface="Microsoft Sans Serif"/>
              </a:rPr>
              <a:t>of</a:t>
            </a:r>
            <a:r>
              <a:rPr sz="2000" spc="20" dirty="0">
                <a:latin typeface="Microsoft Sans Serif"/>
                <a:cs typeface="Microsoft Sans Serif"/>
              </a:rPr>
              <a:t> </a:t>
            </a:r>
            <a:r>
              <a:rPr sz="2000" spc="-10" dirty="0">
                <a:latin typeface="Microsoft Sans Serif"/>
                <a:cs typeface="Microsoft Sans Serif"/>
              </a:rPr>
              <a:t>a</a:t>
            </a:r>
            <a:r>
              <a:rPr sz="2000" spc="15" dirty="0">
                <a:latin typeface="Microsoft Sans Serif"/>
                <a:cs typeface="Microsoft Sans Serif"/>
              </a:rPr>
              <a:t> </a:t>
            </a:r>
            <a:r>
              <a:rPr sz="2000" dirty="0">
                <a:latin typeface="Microsoft Sans Serif"/>
                <a:cs typeface="Microsoft Sans Serif"/>
              </a:rPr>
              <a:t>very </a:t>
            </a:r>
            <a:r>
              <a:rPr sz="2000" spc="-5" dirty="0">
                <a:latin typeface="Microsoft Sans Serif"/>
                <a:cs typeface="Microsoft Sans Serif"/>
              </a:rPr>
              <a:t>thin</a:t>
            </a:r>
            <a:r>
              <a:rPr sz="2000" spc="15" dirty="0">
                <a:latin typeface="Microsoft Sans Serif"/>
                <a:cs typeface="Microsoft Sans Serif"/>
              </a:rPr>
              <a:t> </a:t>
            </a:r>
            <a:r>
              <a:rPr sz="2000" spc="-5" dirty="0">
                <a:latin typeface="Microsoft Sans Serif"/>
                <a:cs typeface="Microsoft Sans Serif"/>
              </a:rPr>
              <a:t>walled</a:t>
            </a:r>
            <a:r>
              <a:rPr sz="2000" spc="20" dirty="0">
                <a:latin typeface="Microsoft Sans Serif"/>
                <a:cs typeface="Microsoft Sans Serif"/>
              </a:rPr>
              <a:t> </a:t>
            </a:r>
            <a:r>
              <a:rPr sz="2000" spc="-5" dirty="0">
                <a:latin typeface="Microsoft Sans Serif"/>
                <a:cs typeface="Microsoft Sans Serif"/>
              </a:rPr>
              <a:t>glass</a:t>
            </a:r>
            <a:r>
              <a:rPr sz="2000" spc="-10" dirty="0">
                <a:latin typeface="Microsoft Sans Serif"/>
                <a:cs typeface="Microsoft Sans Serif"/>
              </a:rPr>
              <a:t> </a:t>
            </a:r>
            <a:r>
              <a:rPr sz="2000" spc="-5" dirty="0">
                <a:latin typeface="Microsoft Sans Serif"/>
                <a:cs typeface="Microsoft Sans Serif"/>
              </a:rPr>
              <a:t>bulb,</a:t>
            </a:r>
            <a:r>
              <a:rPr sz="2000" dirty="0">
                <a:latin typeface="Microsoft Sans Serif"/>
                <a:cs typeface="Microsoft Sans Serif"/>
              </a:rPr>
              <a:t> made </a:t>
            </a:r>
            <a:r>
              <a:rPr sz="2000" spc="5" dirty="0">
                <a:latin typeface="Microsoft Sans Serif"/>
                <a:cs typeface="Microsoft Sans Serif"/>
              </a:rPr>
              <a:t> </a:t>
            </a:r>
            <a:r>
              <a:rPr sz="2000" spc="-10" dirty="0">
                <a:latin typeface="Microsoft Sans Serif"/>
                <a:cs typeface="Microsoft Sans Serif"/>
              </a:rPr>
              <a:t>from</a:t>
            </a:r>
            <a:r>
              <a:rPr sz="2000" spc="-50" dirty="0">
                <a:latin typeface="Microsoft Sans Serif"/>
                <a:cs typeface="Microsoft Sans Serif"/>
              </a:rPr>
              <a:t> </a:t>
            </a:r>
            <a:r>
              <a:rPr sz="2000" spc="15" dirty="0">
                <a:latin typeface="Microsoft Sans Serif"/>
                <a:cs typeface="Microsoft Sans Serif"/>
              </a:rPr>
              <a:t>a</a:t>
            </a:r>
            <a:r>
              <a:rPr sz="2000" spc="-5" dirty="0">
                <a:latin typeface="Microsoft Sans Serif"/>
                <a:cs typeface="Microsoft Sans Serif"/>
              </a:rPr>
              <a:t> low melting </a:t>
            </a:r>
            <a:r>
              <a:rPr sz="2000" dirty="0">
                <a:latin typeface="Microsoft Sans Serif"/>
                <a:cs typeface="Microsoft Sans Serif"/>
              </a:rPr>
              <a:t>glass</a:t>
            </a:r>
            <a:r>
              <a:rPr sz="2000" spc="-30" dirty="0">
                <a:latin typeface="Microsoft Sans Serif"/>
                <a:cs typeface="Microsoft Sans Serif"/>
              </a:rPr>
              <a:t> </a:t>
            </a:r>
            <a:r>
              <a:rPr sz="2000" spc="-10" dirty="0">
                <a:latin typeface="Microsoft Sans Serif"/>
                <a:cs typeface="Microsoft Sans Serif"/>
              </a:rPr>
              <a:t>having</a:t>
            </a:r>
            <a:r>
              <a:rPr sz="2000" spc="-5" dirty="0">
                <a:latin typeface="Microsoft Sans Serif"/>
                <a:cs typeface="Microsoft Sans Serif"/>
              </a:rPr>
              <a:t> high</a:t>
            </a:r>
            <a:r>
              <a:rPr sz="2000" spc="-30" dirty="0">
                <a:latin typeface="Microsoft Sans Serif"/>
                <a:cs typeface="Microsoft Sans Serif"/>
              </a:rPr>
              <a:t> </a:t>
            </a:r>
            <a:r>
              <a:rPr sz="2000" spc="-5" dirty="0">
                <a:latin typeface="Microsoft Sans Serif"/>
                <a:cs typeface="Microsoft Sans Serif"/>
              </a:rPr>
              <a:t>electrical</a:t>
            </a:r>
            <a:r>
              <a:rPr sz="2000" spc="-30" dirty="0">
                <a:latin typeface="Microsoft Sans Serif"/>
                <a:cs typeface="Microsoft Sans Serif"/>
              </a:rPr>
              <a:t> </a:t>
            </a:r>
            <a:r>
              <a:rPr sz="2000" spc="-5" dirty="0">
                <a:latin typeface="Microsoft Sans Serif"/>
                <a:cs typeface="Microsoft Sans Serif"/>
              </a:rPr>
              <a:t>conductivity.</a:t>
            </a:r>
            <a:r>
              <a:rPr sz="2000" dirty="0">
                <a:latin typeface="Microsoft Sans Serif"/>
                <a:cs typeface="Microsoft Sans Serif"/>
              </a:rPr>
              <a:t> </a:t>
            </a:r>
            <a:endParaRPr sz="2000">
              <a:latin typeface="Microsoft Sans Serif"/>
              <a:cs typeface="Microsoft Sans Serif"/>
            </a:endParaRPr>
          </a:p>
          <a:p>
            <a:pPr marL="354330" indent="-342265">
              <a:lnSpc>
                <a:spcPts val="2385"/>
              </a:lnSpc>
              <a:buChar char="•"/>
              <a:tabLst>
                <a:tab pos="353695" algn="l"/>
                <a:tab pos="354965" algn="l"/>
              </a:tabLst>
            </a:pPr>
            <a:r>
              <a:rPr sz="2000" spc="-5" dirty="0">
                <a:latin typeface="Microsoft Sans Serif"/>
                <a:cs typeface="Microsoft Sans Serif"/>
              </a:rPr>
              <a:t>Electrode</a:t>
            </a:r>
            <a:r>
              <a:rPr sz="2000" spc="-35" dirty="0">
                <a:latin typeface="Microsoft Sans Serif"/>
                <a:cs typeface="Microsoft Sans Serif"/>
              </a:rPr>
              <a:t> </a:t>
            </a:r>
            <a:r>
              <a:rPr sz="2000" spc="10" dirty="0">
                <a:latin typeface="Microsoft Sans Serif"/>
                <a:cs typeface="Microsoft Sans Serif"/>
              </a:rPr>
              <a:t>is</a:t>
            </a:r>
            <a:r>
              <a:rPr sz="2000" spc="15" dirty="0">
                <a:latin typeface="Microsoft Sans Serif"/>
                <a:cs typeface="Microsoft Sans Serif"/>
              </a:rPr>
              <a:t> </a:t>
            </a:r>
            <a:r>
              <a:rPr sz="2000" spc="-10" dirty="0">
                <a:latin typeface="Microsoft Sans Serif"/>
                <a:cs typeface="Microsoft Sans Serif"/>
              </a:rPr>
              <a:t>filled</a:t>
            </a:r>
            <a:r>
              <a:rPr sz="2000" spc="15" dirty="0">
                <a:latin typeface="Microsoft Sans Serif"/>
                <a:cs typeface="Microsoft Sans Serif"/>
              </a:rPr>
              <a:t> </a:t>
            </a:r>
            <a:r>
              <a:rPr sz="2000" dirty="0">
                <a:latin typeface="Microsoft Sans Serif"/>
                <a:cs typeface="Microsoft Sans Serif"/>
              </a:rPr>
              <a:t>with</a:t>
            </a:r>
            <a:r>
              <a:rPr sz="2000" spc="-10" dirty="0">
                <a:latin typeface="Microsoft Sans Serif"/>
                <a:cs typeface="Microsoft Sans Serif"/>
              </a:rPr>
              <a:t> </a:t>
            </a:r>
            <a:r>
              <a:rPr sz="2000" spc="-5" dirty="0">
                <a:latin typeface="Microsoft Sans Serif"/>
                <a:cs typeface="Microsoft Sans Serif"/>
              </a:rPr>
              <a:t>0.1M</a:t>
            </a:r>
            <a:r>
              <a:rPr sz="2000" spc="-10" dirty="0">
                <a:latin typeface="Microsoft Sans Serif"/>
                <a:cs typeface="Microsoft Sans Serif"/>
              </a:rPr>
              <a:t> </a:t>
            </a:r>
            <a:r>
              <a:rPr sz="2000" dirty="0">
                <a:latin typeface="Microsoft Sans Serif"/>
                <a:cs typeface="Microsoft Sans Serif"/>
              </a:rPr>
              <a:t>HCl</a:t>
            </a:r>
            <a:r>
              <a:rPr sz="2000" spc="-10" dirty="0">
                <a:latin typeface="Microsoft Sans Serif"/>
                <a:cs typeface="Microsoft Sans Serif"/>
              </a:rPr>
              <a:t> </a:t>
            </a:r>
            <a:r>
              <a:rPr sz="2000" spc="-5" dirty="0">
                <a:latin typeface="Microsoft Sans Serif"/>
                <a:cs typeface="Microsoft Sans Serif"/>
              </a:rPr>
              <a:t>solution.</a:t>
            </a:r>
            <a:r>
              <a:rPr sz="2000" dirty="0">
                <a:latin typeface="Microsoft Sans Serif"/>
                <a:cs typeface="Microsoft Sans Serif"/>
              </a:rPr>
              <a:t> </a:t>
            </a:r>
            <a:endParaRPr sz="2000">
              <a:latin typeface="Microsoft Sans Serif"/>
              <a:cs typeface="Microsoft Sans Serif"/>
            </a:endParaRPr>
          </a:p>
          <a:p>
            <a:pPr marL="354330" indent="-342265">
              <a:lnSpc>
                <a:spcPct val="100000"/>
              </a:lnSpc>
              <a:buChar char="•"/>
              <a:tabLst>
                <a:tab pos="353695" algn="l"/>
                <a:tab pos="354965" algn="l"/>
              </a:tabLst>
            </a:pPr>
            <a:r>
              <a:rPr sz="2000" spc="-10" dirty="0">
                <a:latin typeface="Microsoft Sans Serif"/>
                <a:cs typeface="Microsoft Sans Serif"/>
              </a:rPr>
              <a:t>For </a:t>
            </a:r>
            <a:r>
              <a:rPr sz="2000" spc="-5" dirty="0">
                <a:latin typeface="Microsoft Sans Serif"/>
                <a:cs typeface="Microsoft Sans Serif"/>
              </a:rPr>
              <a:t>external connection</a:t>
            </a:r>
            <a:r>
              <a:rPr sz="2000" spc="-30" dirty="0">
                <a:latin typeface="Microsoft Sans Serif"/>
                <a:cs typeface="Microsoft Sans Serif"/>
              </a:rPr>
              <a:t> </a:t>
            </a:r>
            <a:r>
              <a:rPr sz="2000" spc="-5" dirty="0">
                <a:latin typeface="Microsoft Sans Serif"/>
                <a:cs typeface="Microsoft Sans Serif"/>
              </a:rPr>
              <a:t>platinum</a:t>
            </a:r>
            <a:r>
              <a:rPr sz="2000" spc="15" dirty="0">
                <a:latin typeface="Microsoft Sans Serif"/>
                <a:cs typeface="Microsoft Sans Serif"/>
              </a:rPr>
              <a:t> </a:t>
            </a:r>
            <a:r>
              <a:rPr sz="2000" spc="-5" dirty="0">
                <a:latin typeface="Microsoft Sans Serif"/>
                <a:cs typeface="Microsoft Sans Serif"/>
              </a:rPr>
              <a:t>(Pt)</a:t>
            </a:r>
            <a:r>
              <a:rPr sz="2000" dirty="0">
                <a:latin typeface="Microsoft Sans Serif"/>
                <a:cs typeface="Microsoft Sans Serif"/>
              </a:rPr>
              <a:t> wire</a:t>
            </a:r>
            <a:r>
              <a:rPr sz="2000" spc="-5" dirty="0">
                <a:latin typeface="Microsoft Sans Serif"/>
                <a:cs typeface="Microsoft Sans Serif"/>
              </a:rPr>
              <a:t> </a:t>
            </a:r>
            <a:r>
              <a:rPr sz="2000" dirty="0">
                <a:latin typeface="Microsoft Sans Serif"/>
                <a:cs typeface="Microsoft Sans Serif"/>
              </a:rPr>
              <a:t>is</a:t>
            </a:r>
            <a:r>
              <a:rPr sz="2000" spc="15" dirty="0">
                <a:latin typeface="Microsoft Sans Serif"/>
                <a:cs typeface="Microsoft Sans Serif"/>
              </a:rPr>
              <a:t> </a:t>
            </a:r>
            <a:r>
              <a:rPr sz="2000" spc="-5" dirty="0">
                <a:latin typeface="Microsoft Sans Serif"/>
                <a:cs typeface="Microsoft Sans Serif"/>
              </a:rPr>
              <a:t>insert.</a:t>
            </a:r>
            <a:r>
              <a:rPr sz="2000" dirty="0">
                <a:latin typeface="Microsoft Sans Serif"/>
                <a:cs typeface="Microsoft Sans Serif"/>
              </a:rPr>
              <a:t> </a:t>
            </a:r>
            <a:endParaRPr sz="2000">
              <a:latin typeface="Microsoft Sans Serif"/>
              <a:cs typeface="Microsoft Sans Serif"/>
            </a:endParaRPr>
          </a:p>
          <a:p>
            <a:pPr marL="354330" indent="-342265">
              <a:lnSpc>
                <a:spcPct val="100000"/>
              </a:lnSpc>
              <a:buChar char="•"/>
              <a:tabLst>
                <a:tab pos="353695" algn="l"/>
                <a:tab pos="354965" algn="l"/>
              </a:tabLst>
            </a:pPr>
            <a:r>
              <a:rPr sz="2000" spc="5" dirty="0">
                <a:latin typeface="Microsoft Sans Serif"/>
                <a:cs typeface="Microsoft Sans Serif"/>
              </a:rPr>
              <a:t>Cell</a:t>
            </a:r>
            <a:r>
              <a:rPr sz="2000" spc="-20" dirty="0">
                <a:latin typeface="Microsoft Sans Serif"/>
                <a:cs typeface="Microsoft Sans Serif"/>
              </a:rPr>
              <a:t> </a:t>
            </a:r>
            <a:r>
              <a:rPr sz="2000" spc="-5" dirty="0">
                <a:latin typeface="Microsoft Sans Serif"/>
                <a:cs typeface="Microsoft Sans Serif"/>
              </a:rPr>
              <a:t>set</a:t>
            </a:r>
            <a:r>
              <a:rPr sz="2000" spc="-20" dirty="0">
                <a:latin typeface="Microsoft Sans Serif"/>
                <a:cs typeface="Microsoft Sans Serif"/>
              </a:rPr>
              <a:t> </a:t>
            </a:r>
            <a:r>
              <a:rPr sz="2000" spc="-10" dirty="0">
                <a:latin typeface="Microsoft Sans Serif"/>
                <a:cs typeface="Microsoft Sans Serif"/>
              </a:rPr>
              <a:t>up</a:t>
            </a:r>
            <a:r>
              <a:rPr sz="2000" spc="-20" dirty="0">
                <a:latin typeface="Microsoft Sans Serif"/>
                <a:cs typeface="Microsoft Sans Serif"/>
              </a:rPr>
              <a:t> </a:t>
            </a:r>
            <a:r>
              <a:rPr sz="2000" spc="-10" dirty="0">
                <a:latin typeface="Microsoft Sans Serif"/>
                <a:cs typeface="Microsoft Sans Serif"/>
              </a:rPr>
              <a:t>of</a:t>
            </a:r>
            <a:r>
              <a:rPr sz="2000" spc="10" dirty="0">
                <a:latin typeface="Microsoft Sans Serif"/>
                <a:cs typeface="Microsoft Sans Serif"/>
              </a:rPr>
              <a:t> </a:t>
            </a:r>
            <a:r>
              <a:rPr sz="2000" dirty="0">
                <a:latin typeface="Microsoft Sans Serif"/>
                <a:cs typeface="Microsoft Sans Serif"/>
              </a:rPr>
              <a:t>glass</a:t>
            </a:r>
            <a:r>
              <a:rPr sz="2000" spc="-10" dirty="0">
                <a:latin typeface="Microsoft Sans Serif"/>
                <a:cs typeface="Microsoft Sans Serif"/>
              </a:rPr>
              <a:t> </a:t>
            </a:r>
            <a:r>
              <a:rPr sz="2000" spc="-5" dirty="0">
                <a:latin typeface="Microsoft Sans Serif"/>
                <a:cs typeface="Microsoft Sans Serif"/>
              </a:rPr>
              <a:t>electrode</a:t>
            </a:r>
            <a:r>
              <a:rPr sz="2000" dirty="0">
                <a:latin typeface="Microsoft Sans Serif"/>
                <a:cs typeface="Microsoft Sans Serif"/>
              </a:rPr>
              <a:t> </a:t>
            </a:r>
            <a:endParaRPr sz="2000">
              <a:latin typeface="Microsoft Sans Serif"/>
              <a:cs typeface="Microsoft Sans Serif"/>
            </a:endParaRPr>
          </a:p>
        </p:txBody>
      </p:sp>
      <p:sp>
        <p:nvSpPr>
          <p:cNvPr id="3" name="object 3"/>
          <p:cNvSpPr txBox="1"/>
          <p:nvPr/>
        </p:nvSpPr>
        <p:spPr>
          <a:xfrm>
            <a:off x="139700" y="1807845"/>
            <a:ext cx="53975" cy="153670"/>
          </a:xfrm>
          <a:prstGeom prst="rect">
            <a:avLst/>
          </a:prstGeom>
        </p:spPr>
        <p:txBody>
          <a:bodyPr vert="horz" wrap="square" lIns="0" tIns="11430" rIns="0" bIns="0" rtlCol="0">
            <a:spAutoFit/>
          </a:bodyPr>
          <a:lstStyle/>
          <a:p>
            <a:pPr marL="12700">
              <a:lnSpc>
                <a:spcPct val="100000"/>
              </a:lnSpc>
              <a:spcBef>
                <a:spcPts val="90"/>
              </a:spcBef>
            </a:pPr>
            <a:r>
              <a:rPr sz="850" spc="-5" dirty="0">
                <a:latin typeface="Microsoft Sans Serif"/>
                <a:cs typeface="Microsoft Sans Serif"/>
              </a:rPr>
              <a:t> </a:t>
            </a:r>
            <a:endParaRPr sz="850">
              <a:latin typeface="Microsoft Sans Serif"/>
              <a:cs typeface="Microsoft Sans Serif"/>
            </a:endParaRPr>
          </a:p>
        </p:txBody>
      </p:sp>
      <p:sp>
        <p:nvSpPr>
          <p:cNvPr id="4" name="object 4"/>
          <p:cNvSpPr txBox="1"/>
          <p:nvPr/>
        </p:nvSpPr>
        <p:spPr>
          <a:xfrm>
            <a:off x="139700" y="2302001"/>
            <a:ext cx="59690" cy="269240"/>
          </a:xfrm>
          <a:prstGeom prst="rect">
            <a:avLst/>
          </a:prstGeom>
        </p:spPr>
        <p:txBody>
          <a:bodyPr vert="horz" wrap="square" lIns="0" tIns="13335" rIns="0" bIns="0" rtlCol="0">
            <a:spAutoFit/>
          </a:bodyPr>
          <a:lstStyle/>
          <a:p>
            <a:pPr marL="12700">
              <a:lnSpc>
                <a:spcPts val="1195"/>
              </a:lnSpc>
              <a:spcBef>
                <a:spcPts val="105"/>
              </a:spcBef>
            </a:pPr>
            <a:r>
              <a:rPr sz="1000" dirty="0">
                <a:latin typeface="Microsoft Sans Serif"/>
                <a:cs typeface="Microsoft Sans Serif"/>
              </a:rPr>
              <a:t> </a:t>
            </a:r>
            <a:endParaRPr sz="1000">
              <a:latin typeface="Microsoft Sans Serif"/>
              <a:cs typeface="Microsoft Sans Serif"/>
            </a:endParaRPr>
          </a:p>
          <a:p>
            <a:pPr marL="12700">
              <a:lnSpc>
                <a:spcPts val="715"/>
              </a:lnSpc>
            </a:pPr>
            <a:r>
              <a:rPr sz="600" dirty="0">
                <a:latin typeface="Microsoft Sans Serif"/>
                <a:cs typeface="Microsoft Sans Serif"/>
              </a:rPr>
              <a:t> </a:t>
            </a:r>
            <a:endParaRPr sz="600">
              <a:latin typeface="Microsoft Sans Serif"/>
              <a:cs typeface="Microsoft Sans Serif"/>
            </a:endParaRPr>
          </a:p>
        </p:txBody>
      </p:sp>
      <p:sp>
        <p:nvSpPr>
          <p:cNvPr id="5" name="object 5"/>
          <p:cNvSpPr txBox="1"/>
          <p:nvPr/>
        </p:nvSpPr>
        <p:spPr>
          <a:xfrm>
            <a:off x="358140" y="2991104"/>
            <a:ext cx="8404225" cy="575945"/>
          </a:xfrm>
          <a:prstGeom prst="rect">
            <a:avLst/>
          </a:prstGeom>
        </p:spPr>
        <p:txBody>
          <a:bodyPr vert="horz" wrap="square" lIns="0" tIns="68580" rIns="0" bIns="0" rtlCol="0">
            <a:spAutoFit/>
          </a:bodyPr>
          <a:lstStyle/>
          <a:p>
            <a:pPr marL="379730" marR="43180" indent="-342265">
              <a:lnSpc>
                <a:spcPts val="1939"/>
              </a:lnSpc>
              <a:spcBef>
                <a:spcPts val="540"/>
              </a:spcBef>
              <a:buChar char="•"/>
              <a:tabLst>
                <a:tab pos="379095" algn="l"/>
                <a:tab pos="380365" algn="l"/>
              </a:tabLst>
            </a:pPr>
            <a:r>
              <a:rPr sz="2000" spc="-10" dirty="0">
                <a:latin typeface="Microsoft Sans Serif"/>
                <a:cs typeface="Microsoft Sans Serif"/>
              </a:rPr>
              <a:t>The</a:t>
            </a:r>
            <a:r>
              <a:rPr sz="2000" spc="-5" dirty="0">
                <a:latin typeface="Microsoft Sans Serif"/>
                <a:cs typeface="Microsoft Sans Serif"/>
              </a:rPr>
              <a:t> </a:t>
            </a:r>
            <a:r>
              <a:rPr sz="2000" dirty="0">
                <a:latin typeface="Microsoft Sans Serif"/>
                <a:cs typeface="Microsoft Sans Serif"/>
              </a:rPr>
              <a:t>glass</a:t>
            </a:r>
            <a:r>
              <a:rPr sz="2000" spc="20" dirty="0">
                <a:latin typeface="Microsoft Sans Serif"/>
                <a:cs typeface="Microsoft Sans Serif"/>
              </a:rPr>
              <a:t> </a:t>
            </a:r>
            <a:r>
              <a:rPr sz="2000" spc="-5" dirty="0">
                <a:latin typeface="Microsoft Sans Serif"/>
                <a:cs typeface="Microsoft Sans Serif"/>
              </a:rPr>
              <a:t>membrane</a:t>
            </a:r>
            <a:r>
              <a:rPr sz="2000" spc="-25" dirty="0">
                <a:latin typeface="Microsoft Sans Serif"/>
                <a:cs typeface="Microsoft Sans Serif"/>
              </a:rPr>
              <a:t> </a:t>
            </a:r>
            <a:r>
              <a:rPr sz="2000" spc="-5" dirty="0">
                <a:latin typeface="Microsoft Sans Serif"/>
                <a:cs typeface="Microsoft Sans Serif"/>
              </a:rPr>
              <a:t>acts</a:t>
            </a:r>
            <a:r>
              <a:rPr sz="2000" spc="20" dirty="0">
                <a:latin typeface="Microsoft Sans Serif"/>
                <a:cs typeface="Microsoft Sans Serif"/>
              </a:rPr>
              <a:t> </a:t>
            </a:r>
            <a:r>
              <a:rPr sz="2000" spc="-5" dirty="0">
                <a:latin typeface="Microsoft Sans Serif"/>
                <a:cs typeface="Microsoft Sans Serif"/>
              </a:rPr>
              <a:t>as</a:t>
            </a:r>
            <a:r>
              <a:rPr sz="2000" spc="20" dirty="0">
                <a:latin typeface="Microsoft Sans Serif"/>
                <a:cs typeface="Microsoft Sans Serif"/>
              </a:rPr>
              <a:t> </a:t>
            </a:r>
            <a:r>
              <a:rPr sz="2000" spc="-10" dirty="0">
                <a:latin typeface="Microsoft Sans Serif"/>
                <a:cs typeface="Microsoft Sans Serif"/>
              </a:rPr>
              <a:t>an</a:t>
            </a:r>
            <a:r>
              <a:rPr sz="2000" spc="25" dirty="0">
                <a:latin typeface="Microsoft Sans Serif"/>
                <a:cs typeface="Microsoft Sans Serif"/>
              </a:rPr>
              <a:t> </a:t>
            </a:r>
            <a:r>
              <a:rPr sz="2000" spc="-5" dirty="0">
                <a:latin typeface="Microsoft Sans Serif"/>
                <a:cs typeface="Microsoft Sans Serif"/>
              </a:rPr>
              <a:t>ion</a:t>
            </a:r>
            <a:r>
              <a:rPr sz="2000" spc="20" dirty="0">
                <a:latin typeface="Microsoft Sans Serif"/>
                <a:cs typeface="Microsoft Sans Serif"/>
              </a:rPr>
              <a:t> </a:t>
            </a:r>
            <a:r>
              <a:rPr sz="2000" spc="-5" dirty="0">
                <a:latin typeface="Microsoft Sans Serif"/>
                <a:cs typeface="Microsoft Sans Serif"/>
              </a:rPr>
              <a:t>exchanger i.e.</a:t>
            </a:r>
            <a:r>
              <a:rPr sz="2000" spc="25" dirty="0">
                <a:latin typeface="Microsoft Sans Serif"/>
                <a:cs typeface="Microsoft Sans Serif"/>
              </a:rPr>
              <a:t> </a:t>
            </a:r>
            <a:r>
              <a:rPr sz="2000" spc="-5" dirty="0">
                <a:latin typeface="Microsoft Sans Serif"/>
                <a:cs typeface="Microsoft Sans Serif"/>
              </a:rPr>
              <a:t>exchange </a:t>
            </a:r>
            <a:r>
              <a:rPr sz="2000" spc="-10" dirty="0">
                <a:latin typeface="Microsoft Sans Serif"/>
                <a:cs typeface="Microsoft Sans Serif"/>
              </a:rPr>
              <a:t>of</a:t>
            </a:r>
            <a:r>
              <a:rPr sz="2000" spc="25" dirty="0">
                <a:latin typeface="Microsoft Sans Serif"/>
                <a:cs typeface="Microsoft Sans Serif"/>
              </a:rPr>
              <a:t> </a:t>
            </a:r>
            <a:r>
              <a:rPr sz="2000" spc="5" dirty="0">
                <a:latin typeface="Microsoft Sans Serif"/>
                <a:cs typeface="Microsoft Sans Serif"/>
              </a:rPr>
              <a:t>Na</a:t>
            </a:r>
            <a:r>
              <a:rPr sz="1950" spc="7" baseline="25641" dirty="0">
                <a:latin typeface="Microsoft Sans Serif"/>
                <a:cs typeface="Microsoft Sans Serif"/>
              </a:rPr>
              <a:t>+</a:t>
            </a:r>
            <a:r>
              <a:rPr sz="1950" spc="307" baseline="25641" dirty="0">
                <a:latin typeface="Microsoft Sans Serif"/>
                <a:cs typeface="Microsoft Sans Serif"/>
              </a:rPr>
              <a:t> </a:t>
            </a:r>
            <a:r>
              <a:rPr sz="2000" spc="-10" dirty="0">
                <a:latin typeface="Microsoft Sans Serif"/>
                <a:cs typeface="Microsoft Sans Serif"/>
              </a:rPr>
              <a:t>of </a:t>
            </a:r>
            <a:r>
              <a:rPr sz="2000" spc="-5" dirty="0">
                <a:latin typeface="Microsoft Sans Serif"/>
                <a:cs typeface="Microsoft Sans Serif"/>
              </a:rPr>
              <a:t> </a:t>
            </a:r>
            <a:r>
              <a:rPr sz="2000" dirty="0">
                <a:latin typeface="Microsoft Sans Serif"/>
                <a:cs typeface="Microsoft Sans Serif"/>
              </a:rPr>
              <a:t>glass</a:t>
            </a:r>
            <a:r>
              <a:rPr sz="2000" spc="-35" dirty="0">
                <a:latin typeface="Microsoft Sans Serif"/>
                <a:cs typeface="Microsoft Sans Serif"/>
              </a:rPr>
              <a:t> </a:t>
            </a:r>
            <a:r>
              <a:rPr sz="2000" dirty="0">
                <a:latin typeface="Microsoft Sans Serif"/>
                <a:cs typeface="Microsoft Sans Serif"/>
              </a:rPr>
              <a:t>with</a:t>
            </a:r>
            <a:r>
              <a:rPr sz="2000" spc="15" dirty="0">
                <a:latin typeface="Microsoft Sans Serif"/>
                <a:cs typeface="Microsoft Sans Serif"/>
              </a:rPr>
              <a:t> </a:t>
            </a:r>
            <a:r>
              <a:rPr sz="2000" dirty="0">
                <a:latin typeface="Microsoft Sans Serif"/>
                <a:cs typeface="Microsoft Sans Serif"/>
              </a:rPr>
              <a:t>H</a:t>
            </a:r>
            <a:r>
              <a:rPr sz="1950" baseline="25641" dirty="0">
                <a:latin typeface="Microsoft Sans Serif"/>
                <a:cs typeface="Microsoft Sans Serif"/>
              </a:rPr>
              <a:t>+</a:t>
            </a:r>
            <a:r>
              <a:rPr sz="1950" spc="277" baseline="25641" dirty="0">
                <a:latin typeface="Microsoft Sans Serif"/>
                <a:cs typeface="Microsoft Sans Serif"/>
              </a:rPr>
              <a:t> </a:t>
            </a:r>
            <a:r>
              <a:rPr sz="2000" spc="-10" dirty="0">
                <a:latin typeface="Microsoft Sans Serif"/>
                <a:cs typeface="Microsoft Sans Serif"/>
              </a:rPr>
              <a:t>of</a:t>
            </a:r>
            <a:r>
              <a:rPr sz="2000" spc="15" dirty="0">
                <a:latin typeface="Microsoft Sans Serif"/>
                <a:cs typeface="Microsoft Sans Serif"/>
              </a:rPr>
              <a:t> </a:t>
            </a:r>
            <a:r>
              <a:rPr sz="2000" spc="-5" dirty="0">
                <a:latin typeface="Microsoft Sans Serif"/>
                <a:cs typeface="Microsoft Sans Serif"/>
              </a:rPr>
              <a:t>solution.</a:t>
            </a:r>
            <a:r>
              <a:rPr sz="2000" dirty="0">
                <a:latin typeface="Microsoft Sans Serif"/>
                <a:cs typeface="Microsoft Sans Serif"/>
              </a:rPr>
              <a:t> </a:t>
            </a:r>
            <a:endParaRPr sz="2000">
              <a:latin typeface="Microsoft Sans Serif"/>
              <a:cs typeface="Microsoft Sans Serif"/>
            </a:endParaRPr>
          </a:p>
        </p:txBody>
      </p:sp>
      <p:sp>
        <p:nvSpPr>
          <p:cNvPr id="6" name="object 6"/>
          <p:cNvSpPr txBox="1"/>
          <p:nvPr/>
        </p:nvSpPr>
        <p:spPr>
          <a:xfrm>
            <a:off x="139700" y="3533901"/>
            <a:ext cx="59690" cy="607695"/>
          </a:xfrm>
          <a:prstGeom prst="rect">
            <a:avLst/>
          </a:prstGeom>
        </p:spPr>
        <p:txBody>
          <a:bodyPr vert="horz" wrap="square" lIns="0" tIns="11430" rIns="0" bIns="0" rtlCol="0">
            <a:spAutoFit/>
          </a:bodyPr>
          <a:lstStyle/>
          <a:p>
            <a:pPr marL="12700">
              <a:lnSpc>
                <a:spcPct val="100000"/>
              </a:lnSpc>
              <a:spcBef>
                <a:spcPts val="90"/>
              </a:spcBef>
            </a:pPr>
            <a:r>
              <a:rPr sz="800" spc="-5" dirty="0">
                <a:latin typeface="Microsoft Sans Serif"/>
                <a:cs typeface="Microsoft Sans Serif"/>
              </a:rPr>
              <a:t> </a:t>
            </a:r>
            <a:endParaRPr sz="800">
              <a:latin typeface="Microsoft Sans Serif"/>
              <a:cs typeface="Microsoft Sans Serif"/>
            </a:endParaRPr>
          </a:p>
          <a:p>
            <a:pPr>
              <a:lnSpc>
                <a:spcPct val="100000"/>
              </a:lnSpc>
              <a:spcBef>
                <a:spcPts val="35"/>
              </a:spcBef>
            </a:pPr>
            <a:endParaRPr sz="1150">
              <a:latin typeface="Microsoft Sans Serif"/>
              <a:cs typeface="Microsoft Sans Serif"/>
            </a:endParaRPr>
          </a:p>
          <a:p>
            <a:pPr marL="12700">
              <a:lnSpc>
                <a:spcPts val="1175"/>
              </a:lnSpc>
            </a:pPr>
            <a:r>
              <a:rPr sz="1000" dirty="0">
                <a:latin typeface="Microsoft Sans Serif"/>
                <a:cs typeface="Microsoft Sans Serif"/>
              </a:rPr>
              <a:t> </a:t>
            </a:r>
            <a:endParaRPr sz="1000">
              <a:latin typeface="Microsoft Sans Serif"/>
              <a:cs typeface="Microsoft Sans Serif"/>
            </a:endParaRPr>
          </a:p>
          <a:p>
            <a:pPr marL="12700">
              <a:lnSpc>
                <a:spcPts val="1115"/>
              </a:lnSpc>
            </a:pPr>
            <a:r>
              <a:rPr sz="950" dirty="0">
                <a:latin typeface="Microsoft Sans Serif"/>
                <a:cs typeface="Microsoft Sans Serif"/>
              </a:rPr>
              <a:t> </a:t>
            </a:r>
            <a:endParaRPr sz="950">
              <a:latin typeface="Microsoft Sans Serif"/>
              <a:cs typeface="Microsoft Sans Serif"/>
            </a:endParaRPr>
          </a:p>
        </p:txBody>
      </p:sp>
      <p:sp>
        <p:nvSpPr>
          <p:cNvPr id="7" name="object 7"/>
          <p:cNvSpPr txBox="1"/>
          <p:nvPr/>
        </p:nvSpPr>
        <p:spPr>
          <a:xfrm>
            <a:off x="139700" y="4332554"/>
            <a:ext cx="8575675" cy="1878330"/>
          </a:xfrm>
          <a:prstGeom prst="rect">
            <a:avLst/>
          </a:prstGeom>
        </p:spPr>
        <p:txBody>
          <a:bodyPr vert="horz" wrap="square" lIns="0" tIns="13335" rIns="0" bIns="0" rtlCol="0">
            <a:spAutoFit/>
          </a:bodyPr>
          <a:lstStyle/>
          <a:p>
            <a:pPr marL="12700">
              <a:lnSpc>
                <a:spcPts val="3270"/>
              </a:lnSpc>
              <a:spcBef>
                <a:spcPts val="105"/>
              </a:spcBef>
            </a:pPr>
            <a:r>
              <a:rPr sz="2900" dirty="0">
                <a:latin typeface="Microsoft Sans Serif"/>
                <a:cs typeface="Microsoft Sans Serif"/>
              </a:rPr>
              <a:t> </a:t>
            </a:r>
            <a:endParaRPr sz="2900">
              <a:latin typeface="Microsoft Sans Serif"/>
              <a:cs typeface="Microsoft Sans Serif"/>
            </a:endParaRPr>
          </a:p>
          <a:p>
            <a:pPr marL="598170" marR="5080" indent="-342265">
              <a:lnSpc>
                <a:spcPct val="80000"/>
              </a:lnSpc>
              <a:spcBef>
                <a:spcPts val="270"/>
              </a:spcBef>
              <a:buChar char="•"/>
              <a:tabLst>
                <a:tab pos="597535" algn="l"/>
                <a:tab pos="598805" algn="l"/>
              </a:tabLst>
            </a:pPr>
            <a:r>
              <a:rPr sz="2000" spc="-5" dirty="0">
                <a:solidFill>
                  <a:srgbClr val="C00000"/>
                </a:solidFill>
                <a:latin typeface="Microsoft Sans Serif"/>
                <a:cs typeface="Microsoft Sans Serif"/>
              </a:rPr>
              <a:t>Glass </a:t>
            </a:r>
            <a:r>
              <a:rPr sz="2000" spc="-10" dirty="0">
                <a:solidFill>
                  <a:srgbClr val="C00000"/>
                </a:solidFill>
                <a:latin typeface="Microsoft Sans Serif"/>
                <a:cs typeface="Microsoft Sans Serif"/>
              </a:rPr>
              <a:t>electrode</a:t>
            </a:r>
            <a:r>
              <a:rPr sz="2000" spc="-5" dirty="0">
                <a:solidFill>
                  <a:srgbClr val="C00000"/>
                </a:solidFill>
                <a:latin typeface="Microsoft Sans Serif"/>
                <a:cs typeface="Microsoft Sans Serif"/>
              </a:rPr>
              <a:t> require</a:t>
            </a:r>
            <a:r>
              <a:rPr sz="2000" dirty="0">
                <a:solidFill>
                  <a:srgbClr val="C00000"/>
                </a:solidFill>
                <a:latin typeface="Microsoft Sans Serif"/>
                <a:cs typeface="Microsoft Sans Serif"/>
              </a:rPr>
              <a:t> soaking </a:t>
            </a:r>
            <a:r>
              <a:rPr sz="2000" spc="-5" dirty="0">
                <a:solidFill>
                  <a:srgbClr val="C00000"/>
                </a:solidFill>
                <a:latin typeface="Microsoft Sans Serif"/>
                <a:cs typeface="Microsoft Sans Serif"/>
              </a:rPr>
              <a:t>of</a:t>
            </a:r>
            <a:r>
              <a:rPr sz="2000" spc="25" dirty="0">
                <a:solidFill>
                  <a:srgbClr val="C00000"/>
                </a:solidFill>
                <a:latin typeface="Microsoft Sans Serif"/>
                <a:cs typeface="Microsoft Sans Serif"/>
              </a:rPr>
              <a:t> </a:t>
            </a:r>
            <a:r>
              <a:rPr sz="2000" spc="-10" dirty="0">
                <a:solidFill>
                  <a:srgbClr val="C00000"/>
                </a:solidFill>
                <a:latin typeface="Microsoft Sans Serif"/>
                <a:cs typeface="Microsoft Sans Serif"/>
              </a:rPr>
              <a:t>water</a:t>
            </a:r>
            <a:r>
              <a:rPr sz="2000" spc="-5" dirty="0">
                <a:solidFill>
                  <a:srgbClr val="C00000"/>
                </a:solidFill>
                <a:latin typeface="Microsoft Sans Serif"/>
                <a:cs typeface="Microsoft Sans Serif"/>
              </a:rPr>
              <a:t> for</a:t>
            </a:r>
            <a:r>
              <a:rPr sz="2000" spc="25" dirty="0">
                <a:solidFill>
                  <a:srgbClr val="C00000"/>
                </a:solidFill>
                <a:latin typeface="Microsoft Sans Serif"/>
                <a:cs typeface="Microsoft Sans Serif"/>
              </a:rPr>
              <a:t> </a:t>
            </a:r>
            <a:r>
              <a:rPr sz="2000" spc="-5" dirty="0">
                <a:solidFill>
                  <a:srgbClr val="C00000"/>
                </a:solidFill>
                <a:latin typeface="Microsoft Sans Serif"/>
                <a:cs typeface="Microsoft Sans Serif"/>
              </a:rPr>
              <a:t>some </a:t>
            </a:r>
            <a:r>
              <a:rPr sz="2000" dirty="0">
                <a:solidFill>
                  <a:srgbClr val="C00000"/>
                </a:solidFill>
                <a:latin typeface="Microsoft Sans Serif"/>
                <a:cs typeface="Microsoft Sans Serif"/>
              </a:rPr>
              <a:t>hours </a:t>
            </a:r>
            <a:r>
              <a:rPr sz="2000" spc="-10" dirty="0">
                <a:solidFill>
                  <a:srgbClr val="C00000"/>
                </a:solidFill>
                <a:latin typeface="Microsoft Sans Serif"/>
                <a:cs typeface="Microsoft Sans Serif"/>
              </a:rPr>
              <a:t>before</a:t>
            </a:r>
            <a:r>
              <a:rPr sz="2000" spc="20" dirty="0">
                <a:solidFill>
                  <a:srgbClr val="C00000"/>
                </a:solidFill>
                <a:latin typeface="Microsoft Sans Serif"/>
                <a:cs typeface="Microsoft Sans Serif"/>
              </a:rPr>
              <a:t> </a:t>
            </a:r>
            <a:r>
              <a:rPr sz="2000" spc="-10" dirty="0">
                <a:solidFill>
                  <a:srgbClr val="C00000"/>
                </a:solidFill>
                <a:latin typeface="Microsoft Sans Serif"/>
                <a:cs typeface="Microsoft Sans Serif"/>
              </a:rPr>
              <a:t>use</a:t>
            </a:r>
            <a:r>
              <a:rPr sz="2000" spc="25" dirty="0">
                <a:solidFill>
                  <a:srgbClr val="C00000"/>
                </a:solidFill>
                <a:latin typeface="Microsoft Sans Serif"/>
                <a:cs typeface="Microsoft Sans Serif"/>
              </a:rPr>
              <a:t> </a:t>
            </a:r>
            <a:r>
              <a:rPr sz="2000" spc="-5" dirty="0">
                <a:solidFill>
                  <a:srgbClr val="C00000"/>
                </a:solidFill>
                <a:latin typeface="Microsoft Sans Serif"/>
                <a:cs typeface="Microsoft Sans Serif"/>
              </a:rPr>
              <a:t>so </a:t>
            </a:r>
            <a:r>
              <a:rPr sz="2000" dirty="0">
                <a:solidFill>
                  <a:srgbClr val="C00000"/>
                </a:solidFill>
                <a:latin typeface="Microsoft Sans Serif"/>
                <a:cs typeface="Microsoft Sans Serif"/>
              </a:rPr>
              <a:t> </a:t>
            </a:r>
            <a:r>
              <a:rPr sz="2000" spc="30" dirty="0">
                <a:solidFill>
                  <a:srgbClr val="C00000"/>
                </a:solidFill>
                <a:latin typeface="Microsoft Sans Serif"/>
                <a:cs typeface="Microsoft Sans Serif"/>
              </a:rPr>
              <a:t>that</a:t>
            </a:r>
            <a:r>
              <a:rPr sz="2000" spc="-10" dirty="0">
                <a:solidFill>
                  <a:srgbClr val="C00000"/>
                </a:solidFill>
                <a:latin typeface="Microsoft Sans Serif"/>
                <a:cs typeface="Microsoft Sans Serif"/>
              </a:rPr>
              <a:t> </a:t>
            </a:r>
            <a:r>
              <a:rPr sz="2000" spc="370" dirty="0">
                <a:solidFill>
                  <a:srgbClr val="C00000"/>
                </a:solidFill>
                <a:latin typeface="Microsoft Sans Serif"/>
                <a:cs typeface="Microsoft Sans Serif"/>
              </a:rPr>
              <a:t>–</a:t>
            </a:r>
            <a:r>
              <a:rPr sz="2000" spc="-5" dirty="0">
                <a:solidFill>
                  <a:srgbClr val="C00000"/>
                </a:solidFill>
                <a:latin typeface="Microsoft Sans Serif"/>
                <a:cs typeface="Microsoft Sans Serif"/>
              </a:rPr>
              <a:t> </a:t>
            </a:r>
            <a:endParaRPr sz="2000">
              <a:latin typeface="Microsoft Sans Serif"/>
              <a:cs typeface="Microsoft Sans Serif"/>
            </a:endParaRPr>
          </a:p>
          <a:p>
            <a:pPr marL="598170" indent="-342265">
              <a:lnSpc>
                <a:spcPts val="2375"/>
              </a:lnSpc>
              <a:buChar char="•"/>
              <a:tabLst>
                <a:tab pos="597535" algn="l"/>
                <a:tab pos="598805" algn="l"/>
              </a:tabLst>
            </a:pPr>
            <a:r>
              <a:rPr sz="2000" spc="-5" dirty="0">
                <a:latin typeface="Microsoft Sans Serif"/>
                <a:cs typeface="Microsoft Sans Serif"/>
              </a:rPr>
              <a:t>surface</a:t>
            </a:r>
            <a:r>
              <a:rPr sz="2000" spc="-55" dirty="0">
                <a:latin typeface="Microsoft Sans Serif"/>
                <a:cs typeface="Microsoft Sans Serif"/>
              </a:rPr>
              <a:t> </a:t>
            </a:r>
            <a:r>
              <a:rPr sz="2000" spc="-5" dirty="0">
                <a:latin typeface="Microsoft Sans Serif"/>
                <a:cs typeface="Microsoft Sans Serif"/>
              </a:rPr>
              <a:t>becomes</a:t>
            </a:r>
            <a:r>
              <a:rPr sz="2000" spc="-25" dirty="0">
                <a:latin typeface="Microsoft Sans Serif"/>
                <a:cs typeface="Microsoft Sans Serif"/>
              </a:rPr>
              <a:t> </a:t>
            </a:r>
            <a:r>
              <a:rPr sz="2000" dirty="0">
                <a:latin typeface="Microsoft Sans Serif"/>
                <a:cs typeface="Microsoft Sans Serif"/>
              </a:rPr>
              <a:t>active, </a:t>
            </a:r>
            <a:endParaRPr sz="2000">
              <a:latin typeface="Microsoft Sans Serif"/>
              <a:cs typeface="Microsoft Sans Serif"/>
            </a:endParaRPr>
          </a:p>
          <a:p>
            <a:pPr marL="598170" indent="-342265">
              <a:lnSpc>
                <a:spcPct val="100000"/>
              </a:lnSpc>
              <a:spcBef>
                <a:spcPts val="25"/>
              </a:spcBef>
              <a:buChar char="•"/>
              <a:tabLst>
                <a:tab pos="597535" algn="l"/>
                <a:tab pos="598805" algn="l"/>
              </a:tabLst>
            </a:pPr>
            <a:r>
              <a:rPr sz="2000" spc="-10" dirty="0">
                <a:latin typeface="Microsoft Sans Serif"/>
                <a:cs typeface="Microsoft Sans Serif"/>
              </a:rPr>
              <a:t>hydrated</a:t>
            </a:r>
            <a:r>
              <a:rPr sz="2000" spc="-15" dirty="0">
                <a:latin typeface="Microsoft Sans Serif"/>
                <a:cs typeface="Microsoft Sans Serif"/>
              </a:rPr>
              <a:t> </a:t>
            </a:r>
            <a:r>
              <a:rPr sz="2000" dirty="0">
                <a:latin typeface="Microsoft Sans Serif"/>
                <a:cs typeface="Microsoft Sans Serif"/>
              </a:rPr>
              <a:t>layer</a:t>
            </a:r>
            <a:r>
              <a:rPr sz="2000" spc="-10" dirty="0">
                <a:latin typeface="Microsoft Sans Serif"/>
                <a:cs typeface="Microsoft Sans Serif"/>
              </a:rPr>
              <a:t> </a:t>
            </a:r>
            <a:r>
              <a:rPr sz="2000" spc="-5" dirty="0">
                <a:latin typeface="Microsoft Sans Serif"/>
                <a:cs typeface="Microsoft Sans Serif"/>
              </a:rPr>
              <a:t>developed</a:t>
            </a:r>
            <a:r>
              <a:rPr sz="2000" spc="15" dirty="0">
                <a:latin typeface="Microsoft Sans Serif"/>
                <a:cs typeface="Microsoft Sans Serif"/>
              </a:rPr>
              <a:t> </a:t>
            </a:r>
            <a:r>
              <a:rPr sz="2000" dirty="0">
                <a:latin typeface="Microsoft Sans Serif"/>
                <a:cs typeface="Microsoft Sans Serif"/>
              </a:rPr>
              <a:t>on</a:t>
            </a:r>
            <a:r>
              <a:rPr sz="2000" spc="15" dirty="0">
                <a:latin typeface="Microsoft Sans Serif"/>
                <a:cs typeface="Microsoft Sans Serif"/>
              </a:rPr>
              <a:t> </a:t>
            </a:r>
            <a:r>
              <a:rPr sz="2000" spc="-5" dirty="0">
                <a:latin typeface="Microsoft Sans Serif"/>
                <a:cs typeface="Microsoft Sans Serif"/>
              </a:rPr>
              <a:t>outer</a:t>
            </a:r>
            <a:r>
              <a:rPr sz="2000" spc="-10" dirty="0">
                <a:latin typeface="Microsoft Sans Serif"/>
                <a:cs typeface="Microsoft Sans Serif"/>
              </a:rPr>
              <a:t> </a:t>
            </a:r>
            <a:r>
              <a:rPr sz="2000" dirty="0">
                <a:latin typeface="Microsoft Sans Serif"/>
                <a:cs typeface="Microsoft Sans Serif"/>
              </a:rPr>
              <a:t>glass</a:t>
            </a:r>
            <a:r>
              <a:rPr sz="2000" spc="-10" dirty="0">
                <a:latin typeface="Microsoft Sans Serif"/>
                <a:cs typeface="Microsoft Sans Serif"/>
              </a:rPr>
              <a:t> </a:t>
            </a:r>
            <a:r>
              <a:rPr sz="2000" spc="-5" dirty="0">
                <a:latin typeface="Microsoft Sans Serif"/>
                <a:cs typeface="Microsoft Sans Serif"/>
              </a:rPr>
              <a:t>surface </a:t>
            </a:r>
            <a:endParaRPr sz="2000">
              <a:latin typeface="Microsoft Sans Serif"/>
              <a:cs typeface="Microsoft Sans Serif"/>
            </a:endParaRPr>
          </a:p>
          <a:p>
            <a:pPr marL="598170" indent="-342265">
              <a:lnSpc>
                <a:spcPct val="100000"/>
              </a:lnSpc>
              <a:buChar char="•"/>
              <a:tabLst>
                <a:tab pos="597535" algn="l"/>
                <a:tab pos="598805" algn="l"/>
              </a:tabLst>
            </a:pPr>
            <a:r>
              <a:rPr sz="2000" spc="-10" dirty="0">
                <a:latin typeface="Microsoft Sans Serif"/>
                <a:cs typeface="Microsoft Sans Serif"/>
              </a:rPr>
              <a:t>Ion</a:t>
            </a:r>
            <a:r>
              <a:rPr sz="2000" spc="-40" dirty="0">
                <a:latin typeface="Microsoft Sans Serif"/>
                <a:cs typeface="Microsoft Sans Serif"/>
              </a:rPr>
              <a:t> </a:t>
            </a:r>
            <a:r>
              <a:rPr sz="2000" spc="-5" dirty="0">
                <a:latin typeface="Microsoft Sans Serif"/>
                <a:cs typeface="Microsoft Sans Serif"/>
              </a:rPr>
              <a:t>exchange</a:t>
            </a:r>
            <a:r>
              <a:rPr sz="2000" spc="-40" dirty="0">
                <a:latin typeface="Microsoft Sans Serif"/>
                <a:cs typeface="Microsoft Sans Serif"/>
              </a:rPr>
              <a:t> </a:t>
            </a:r>
            <a:r>
              <a:rPr sz="2000" dirty="0">
                <a:latin typeface="Microsoft Sans Serif"/>
                <a:cs typeface="Microsoft Sans Serif"/>
              </a:rPr>
              <a:t>can</a:t>
            </a:r>
            <a:r>
              <a:rPr sz="2000" spc="-40" dirty="0">
                <a:latin typeface="Microsoft Sans Serif"/>
                <a:cs typeface="Microsoft Sans Serif"/>
              </a:rPr>
              <a:t> </a:t>
            </a:r>
            <a:r>
              <a:rPr sz="2000" spc="-5" dirty="0">
                <a:latin typeface="Microsoft Sans Serif"/>
                <a:cs typeface="Microsoft Sans Serif"/>
              </a:rPr>
              <a:t>take</a:t>
            </a:r>
            <a:r>
              <a:rPr sz="2000" spc="10" dirty="0">
                <a:latin typeface="Microsoft Sans Serif"/>
                <a:cs typeface="Microsoft Sans Serif"/>
              </a:rPr>
              <a:t> </a:t>
            </a:r>
            <a:r>
              <a:rPr sz="2000" spc="-5" dirty="0">
                <a:latin typeface="Microsoft Sans Serif"/>
                <a:cs typeface="Microsoft Sans Serif"/>
              </a:rPr>
              <a:t>place</a:t>
            </a:r>
            <a:r>
              <a:rPr sz="2000" spc="-35" dirty="0">
                <a:latin typeface="Microsoft Sans Serif"/>
                <a:cs typeface="Microsoft Sans Serif"/>
              </a:rPr>
              <a:t> </a:t>
            </a:r>
            <a:r>
              <a:rPr sz="2000" dirty="0">
                <a:latin typeface="Microsoft Sans Serif"/>
                <a:cs typeface="Microsoft Sans Serif"/>
              </a:rPr>
              <a:t>easily. </a:t>
            </a:r>
            <a:endParaRPr sz="2000">
              <a:latin typeface="Microsoft Sans Serif"/>
              <a:cs typeface="Microsoft Sans Serif"/>
            </a:endParaRPr>
          </a:p>
        </p:txBody>
      </p:sp>
      <p:pic>
        <p:nvPicPr>
          <p:cNvPr id="8" name="object 8"/>
          <p:cNvPicPr/>
          <p:nvPr/>
        </p:nvPicPr>
        <p:blipFill>
          <a:blip r:embed="rId2" cstate="print"/>
          <a:stretch>
            <a:fillRect/>
          </a:stretch>
        </p:blipFill>
        <p:spPr>
          <a:xfrm>
            <a:off x="2152650" y="1971675"/>
            <a:ext cx="3876675" cy="352425"/>
          </a:xfrm>
          <a:prstGeom prst="rect">
            <a:avLst/>
          </a:prstGeom>
        </p:spPr>
      </p:pic>
      <p:pic>
        <p:nvPicPr>
          <p:cNvPr id="9" name="object 9"/>
          <p:cNvPicPr/>
          <p:nvPr/>
        </p:nvPicPr>
        <p:blipFill>
          <a:blip r:embed="rId3" cstate="print"/>
          <a:stretch>
            <a:fillRect/>
          </a:stretch>
        </p:blipFill>
        <p:spPr>
          <a:xfrm>
            <a:off x="2695575" y="2581275"/>
            <a:ext cx="3362325" cy="333375"/>
          </a:xfrm>
          <a:prstGeom prst="rect">
            <a:avLst/>
          </a:prstGeom>
        </p:spPr>
      </p:pic>
      <p:pic>
        <p:nvPicPr>
          <p:cNvPr id="10" name="object 10"/>
          <p:cNvPicPr/>
          <p:nvPr/>
        </p:nvPicPr>
        <p:blipFill>
          <a:blip r:embed="rId4" cstate="print"/>
          <a:stretch>
            <a:fillRect/>
          </a:stretch>
        </p:blipFill>
        <p:spPr>
          <a:xfrm>
            <a:off x="2548254" y="3690620"/>
            <a:ext cx="3652266" cy="156844"/>
          </a:xfrm>
          <a:prstGeom prst="rect">
            <a:avLst/>
          </a:prstGeom>
        </p:spPr>
      </p:pic>
      <p:pic>
        <p:nvPicPr>
          <p:cNvPr id="11" name="object 11"/>
          <p:cNvPicPr/>
          <p:nvPr/>
        </p:nvPicPr>
        <p:blipFill>
          <a:blip r:embed="rId5" cstate="print"/>
          <a:stretch>
            <a:fillRect/>
          </a:stretch>
        </p:blipFill>
        <p:spPr>
          <a:xfrm>
            <a:off x="3463925" y="4157345"/>
            <a:ext cx="2179828" cy="21208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60044" y="395985"/>
            <a:ext cx="8052434" cy="1925320"/>
          </a:xfrm>
          <a:prstGeom prst="rect">
            <a:avLst/>
          </a:prstGeom>
        </p:spPr>
        <p:txBody>
          <a:bodyPr vert="horz" wrap="square" lIns="0" tIns="14605" rIns="0" bIns="0" rtlCol="0">
            <a:spAutoFit/>
          </a:bodyPr>
          <a:lstStyle/>
          <a:p>
            <a:pPr marL="353695" marR="5080" indent="-341630">
              <a:lnSpc>
                <a:spcPct val="99500"/>
              </a:lnSpc>
              <a:spcBef>
                <a:spcPts val="115"/>
              </a:spcBef>
              <a:buFont typeface="Microsoft Sans Serif"/>
              <a:buChar char="•"/>
              <a:tabLst>
                <a:tab pos="353695" algn="l"/>
                <a:tab pos="354330" algn="l"/>
              </a:tabLst>
            </a:pPr>
            <a:r>
              <a:rPr sz="2400" dirty="0">
                <a:latin typeface="Calibri"/>
                <a:cs typeface="Calibri"/>
              </a:rPr>
              <a:t>When</a:t>
            </a:r>
            <a:r>
              <a:rPr sz="2400" spc="-25" dirty="0">
                <a:latin typeface="Calibri"/>
                <a:cs typeface="Calibri"/>
              </a:rPr>
              <a:t> </a:t>
            </a:r>
            <a:r>
              <a:rPr sz="2400" dirty="0">
                <a:latin typeface="Calibri"/>
                <a:cs typeface="Calibri"/>
              </a:rPr>
              <a:t>glass</a:t>
            </a:r>
            <a:r>
              <a:rPr sz="2400" spc="-45" dirty="0">
                <a:latin typeface="Calibri"/>
                <a:cs typeface="Calibri"/>
              </a:rPr>
              <a:t> </a:t>
            </a:r>
            <a:r>
              <a:rPr sz="2400" spc="-5" dirty="0">
                <a:latin typeface="Calibri"/>
                <a:cs typeface="Calibri"/>
              </a:rPr>
              <a:t>electrode</a:t>
            </a:r>
            <a:r>
              <a:rPr sz="2400" spc="-30" dirty="0">
                <a:latin typeface="Calibri"/>
                <a:cs typeface="Calibri"/>
              </a:rPr>
              <a:t> </a:t>
            </a:r>
            <a:r>
              <a:rPr sz="2400" dirty="0">
                <a:latin typeface="Calibri"/>
                <a:cs typeface="Calibri"/>
              </a:rPr>
              <a:t>is</a:t>
            </a:r>
            <a:r>
              <a:rPr sz="2400" spc="-45" dirty="0">
                <a:latin typeface="Calibri"/>
                <a:cs typeface="Calibri"/>
              </a:rPr>
              <a:t> </a:t>
            </a:r>
            <a:r>
              <a:rPr sz="2400" dirty="0">
                <a:latin typeface="Calibri"/>
                <a:cs typeface="Calibri"/>
              </a:rPr>
              <a:t>placed</a:t>
            </a:r>
            <a:r>
              <a:rPr sz="2400" spc="-35" dirty="0">
                <a:latin typeface="Calibri"/>
                <a:cs typeface="Calibri"/>
              </a:rPr>
              <a:t> </a:t>
            </a:r>
            <a:r>
              <a:rPr sz="2400" dirty="0">
                <a:latin typeface="Calibri"/>
                <a:cs typeface="Calibri"/>
              </a:rPr>
              <a:t>in</a:t>
            </a:r>
            <a:r>
              <a:rPr sz="2400" spc="-30" dirty="0">
                <a:latin typeface="Calibri"/>
                <a:cs typeface="Calibri"/>
              </a:rPr>
              <a:t> </a:t>
            </a:r>
            <a:r>
              <a:rPr sz="2400" dirty="0">
                <a:latin typeface="Calibri"/>
                <a:cs typeface="Calibri"/>
              </a:rPr>
              <a:t>a</a:t>
            </a:r>
            <a:r>
              <a:rPr sz="2400" spc="-15" dirty="0">
                <a:latin typeface="Calibri"/>
                <a:cs typeface="Calibri"/>
              </a:rPr>
              <a:t> </a:t>
            </a:r>
            <a:r>
              <a:rPr sz="2400" spc="-5" dirty="0">
                <a:latin typeface="Calibri"/>
                <a:cs typeface="Calibri"/>
              </a:rPr>
              <a:t>sample</a:t>
            </a:r>
            <a:r>
              <a:rPr sz="2400" spc="-30" dirty="0">
                <a:latin typeface="Calibri"/>
                <a:cs typeface="Calibri"/>
              </a:rPr>
              <a:t> </a:t>
            </a:r>
            <a:r>
              <a:rPr sz="2400" spc="-10" dirty="0">
                <a:latin typeface="Calibri"/>
                <a:cs typeface="Calibri"/>
              </a:rPr>
              <a:t>solution</a:t>
            </a:r>
            <a:r>
              <a:rPr sz="2400" spc="10" dirty="0">
                <a:latin typeface="Calibri"/>
                <a:cs typeface="Calibri"/>
              </a:rPr>
              <a:t> </a:t>
            </a:r>
            <a:r>
              <a:rPr sz="2400" spc="-10" dirty="0">
                <a:latin typeface="Calibri"/>
                <a:cs typeface="Calibri"/>
              </a:rPr>
              <a:t>containing </a:t>
            </a:r>
            <a:r>
              <a:rPr sz="2400" spc="-530" dirty="0">
                <a:latin typeface="Calibri"/>
                <a:cs typeface="Calibri"/>
              </a:rPr>
              <a:t> </a:t>
            </a:r>
            <a:r>
              <a:rPr sz="2400" spc="-5" dirty="0">
                <a:latin typeface="Calibri"/>
                <a:cs typeface="Calibri"/>
              </a:rPr>
              <a:t>unknown</a:t>
            </a:r>
            <a:r>
              <a:rPr sz="2400" spc="-15" dirty="0">
                <a:latin typeface="Calibri"/>
                <a:cs typeface="Calibri"/>
              </a:rPr>
              <a:t> </a:t>
            </a:r>
            <a:r>
              <a:rPr sz="2400" spc="-5" dirty="0">
                <a:latin typeface="Calibri"/>
                <a:cs typeface="Calibri"/>
              </a:rPr>
              <a:t>H+</a:t>
            </a:r>
            <a:r>
              <a:rPr sz="2400" spc="10" dirty="0">
                <a:latin typeface="Calibri"/>
                <a:cs typeface="Calibri"/>
              </a:rPr>
              <a:t> </a:t>
            </a:r>
            <a:r>
              <a:rPr sz="2400" spc="-10" dirty="0">
                <a:latin typeface="Calibri"/>
                <a:cs typeface="Calibri"/>
              </a:rPr>
              <a:t>ion</a:t>
            </a:r>
            <a:r>
              <a:rPr sz="2400" spc="15" dirty="0">
                <a:latin typeface="Calibri"/>
                <a:cs typeface="Calibri"/>
              </a:rPr>
              <a:t> </a:t>
            </a:r>
            <a:r>
              <a:rPr sz="2400" spc="-5" dirty="0">
                <a:latin typeface="Calibri"/>
                <a:cs typeface="Calibri"/>
              </a:rPr>
              <a:t>concentration,</a:t>
            </a:r>
            <a:r>
              <a:rPr sz="2400" spc="-10" dirty="0">
                <a:latin typeface="Calibri"/>
                <a:cs typeface="Calibri"/>
              </a:rPr>
              <a:t> </a:t>
            </a:r>
            <a:r>
              <a:rPr sz="2400" dirty="0">
                <a:latin typeface="Calibri"/>
                <a:cs typeface="Calibri"/>
              </a:rPr>
              <a:t>the</a:t>
            </a:r>
            <a:r>
              <a:rPr sz="2400" spc="-15" dirty="0">
                <a:latin typeface="Calibri"/>
                <a:cs typeface="Calibri"/>
              </a:rPr>
              <a:t> </a:t>
            </a:r>
            <a:r>
              <a:rPr sz="2400" spc="-5" dirty="0">
                <a:latin typeface="Calibri"/>
                <a:cs typeface="Calibri"/>
              </a:rPr>
              <a:t>potential</a:t>
            </a:r>
            <a:r>
              <a:rPr sz="2400" spc="-15" dirty="0">
                <a:latin typeface="Calibri"/>
                <a:cs typeface="Calibri"/>
              </a:rPr>
              <a:t> </a:t>
            </a:r>
            <a:r>
              <a:rPr sz="2400" spc="-5" dirty="0">
                <a:latin typeface="Calibri"/>
                <a:cs typeface="Calibri"/>
              </a:rPr>
              <a:t>development </a:t>
            </a:r>
            <a:r>
              <a:rPr sz="2400" dirty="0">
                <a:latin typeface="Calibri"/>
                <a:cs typeface="Calibri"/>
              </a:rPr>
              <a:t> across</a:t>
            </a:r>
            <a:r>
              <a:rPr sz="2400" spc="10" dirty="0">
                <a:latin typeface="Calibri"/>
                <a:cs typeface="Calibri"/>
              </a:rPr>
              <a:t> </a:t>
            </a:r>
            <a:r>
              <a:rPr sz="2400" spc="-5" dirty="0">
                <a:latin typeface="Calibri"/>
                <a:cs typeface="Calibri"/>
              </a:rPr>
              <a:t>the</a:t>
            </a:r>
            <a:r>
              <a:rPr sz="2400" spc="10" dirty="0">
                <a:latin typeface="Calibri"/>
                <a:cs typeface="Calibri"/>
              </a:rPr>
              <a:t> </a:t>
            </a:r>
            <a:r>
              <a:rPr sz="2400" dirty="0">
                <a:latin typeface="Calibri"/>
                <a:cs typeface="Calibri"/>
              </a:rPr>
              <a:t>glass </a:t>
            </a:r>
            <a:r>
              <a:rPr sz="2400" spc="-10" dirty="0">
                <a:latin typeface="Calibri"/>
                <a:cs typeface="Calibri"/>
              </a:rPr>
              <a:t>membrane</a:t>
            </a:r>
            <a:r>
              <a:rPr sz="2400" spc="10" dirty="0">
                <a:latin typeface="Calibri"/>
                <a:cs typeface="Calibri"/>
              </a:rPr>
              <a:t> </a:t>
            </a:r>
            <a:r>
              <a:rPr sz="2400" dirty="0">
                <a:latin typeface="Calibri"/>
                <a:cs typeface="Calibri"/>
              </a:rPr>
              <a:t>as</a:t>
            </a:r>
            <a:r>
              <a:rPr sz="2400" spc="-20" dirty="0">
                <a:latin typeface="Calibri"/>
                <a:cs typeface="Calibri"/>
              </a:rPr>
              <a:t> </a:t>
            </a:r>
            <a:r>
              <a:rPr sz="2400" dirty="0">
                <a:latin typeface="Calibri"/>
                <a:cs typeface="Calibri"/>
              </a:rPr>
              <a:t>a</a:t>
            </a:r>
            <a:r>
              <a:rPr sz="2400" spc="5" dirty="0">
                <a:latin typeface="Calibri"/>
                <a:cs typeface="Calibri"/>
              </a:rPr>
              <a:t> </a:t>
            </a:r>
            <a:r>
              <a:rPr sz="2400" spc="-5" dirty="0">
                <a:latin typeface="Calibri"/>
                <a:cs typeface="Calibri"/>
              </a:rPr>
              <a:t>result of </a:t>
            </a:r>
            <a:r>
              <a:rPr sz="2400" dirty="0">
                <a:latin typeface="Calibri"/>
                <a:cs typeface="Calibri"/>
              </a:rPr>
              <a:t>a</a:t>
            </a:r>
            <a:r>
              <a:rPr sz="2400" spc="10" dirty="0">
                <a:latin typeface="Calibri"/>
                <a:cs typeface="Calibri"/>
              </a:rPr>
              <a:t> </a:t>
            </a:r>
            <a:r>
              <a:rPr sz="2400" spc="-10" dirty="0">
                <a:latin typeface="Calibri"/>
                <a:cs typeface="Calibri"/>
              </a:rPr>
              <a:t>concentration </a:t>
            </a:r>
            <a:r>
              <a:rPr sz="2400" spc="-5" dirty="0">
                <a:latin typeface="Calibri"/>
                <a:cs typeface="Calibri"/>
              </a:rPr>
              <a:t> difference</a:t>
            </a:r>
            <a:r>
              <a:rPr sz="2400" dirty="0">
                <a:latin typeface="Calibri"/>
                <a:cs typeface="Calibri"/>
              </a:rPr>
              <a:t> of</a:t>
            </a:r>
            <a:r>
              <a:rPr sz="2400" spc="-5" dirty="0">
                <a:latin typeface="Calibri"/>
                <a:cs typeface="Calibri"/>
              </a:rPr>
              <a:t> H+</a:t>
            </a:r>
            <a:r>
              <a:rPr sz="2400" spc="-10" dirty="0">
                <a:latin typeface="Calibri"/>
                <a:cs typeface="Calibri"/>
              </a:rPr>
              <a:t> </a:t>
            </a:r>
            <a:r>
              <a:rPr sz="2400" spc="-5" dirty="0">
                <a:latin typeface="Calibri"/>
                <a:cs typeface="Calibri"/>
              </a:rPr>
              <a:t>ions</a:t>
            </a:r>
            <a:r>
              <a:rPr sz="2400" spc="10" dirty="0">
                <a:latin typeface="Calibri"/>
                <a:cs typeface="Calibri"/>
              </a:rPr>
              <a:t> </a:t>
            </a:r>
            <a:r>
              <a:rPr sz="2400" spc="-10" dirty="0">
                <a:latin typeface="Calibri"/>
                <a:cs typeface="Calibri"/>
              </a:rPr>
              <a:t>on</a:t>
            </a:r>
            <a:r>
              <a:rPr sz="2400" spc="-30" dirty="0">
                <a:latin typeface="Calibri"/>
                <a:cs typeface="Calibri"/>
              </a:rPr>
              <a:t> </a:t>
            </a:r>
            <a:r>
              <a:rPr sz="2400" spc="-5" dirty="0">
                <a:latin typeface="Calibri"/>
                <a:cs typeface="Calibri"/>
              </a:rPr>
              <a:t>both side </a:t>
            </a:r>
            <a:r>
              <a:rPr sz="2400" spc="-10" dirty="0">
                <a:latin typeface="Calibri"/>
                <a:cs typeface="Calibri"/>
              </a:rPr>
              <a:t>of </a:t>
            </a:r>
            <a:r>
              <a:rPr sz="2400" spc="-5" dirty="0">
                <a:latin typeface="Calibri"/>
                <a:cs typeface="Calibri"/>
              </a:rPr>
              <a:t>membrane.</a:t>
            </a:r>
            <a:r>
              <a:rPr sz="2400" dirty="0">
                <a:latin typeface="Microsoft Sans Serif"/>
                <a:cs typeface="Microsoft Sans Serif"/>
              </a:rPr>
              <a:t> </a:t>
            </a:r>
            <a:endParaRPr sz="2400">
              <a:latin typeface="Microsoft Sans Serif"/>
              <a:cs typeface="Microsoft Sans Serif"/>
            </a:endParaRPr>
          </a:p>
          <a:p>
            <a:pPr marL="353695" indent="-341630">
              <a:lnSpc>
                <a:spcPct val="100000"/>
              </a:lnSpc>
              <a:spcBef>
                <a:spcPts val="600"/>
              </a:spcBef>
              <a:buFont typeface="Microsoft Sans Serif"/>
              <a:buChar char="•"/>
              <a:tabLst>
                <a:tab pos="353695" algn="l"/>
                <a:tab pos="354330" algn="l"/>
              </a:tabLst>
            </a:pPr>
            <a:r>
              <a:rPr sz="2400" spc="-5" dirty="0">
                <a:latin typeface="Calibri"/>
                <a:cs typeface="Calibri"/>
              </a:rPr>
              <a:t>Potential</a:t>
            </a:r>
            <a:r>
              <a:rPr sz="2400" spc="-50" dirty="0">
                <a:latin typeface="Calibri"/>
                <a:cs typeface="Calibri"/>
              </a:rPr>
              <a:t> </a:t>
            </a:r>
            <a:r>
              <a:rPr sz="2400" dirty="0">
                <a:latin typeface="Calibri"/>
                <a:cs typeface="Calibri"/>
              </a:rPr>
              <a:t>is</a:t>
            </a:r>
            <a:r>
              <a:rPr sz="2400" spc="-65" dirty="0">
                <a:latin typeface="Calibri"/>
                <a:cs typeface="Calibri"/>
              </a:rPr>
              <a:t> </a:t>
            </a:r>
            <a:r>
              <a:rPr sz="2400" spc="-5" dirty="0">
                <a:latin typeface="Calibri"/>
                <a:cs typeface="Calibri"/>
              </a:rPr>
              <a:t>determine</a:t>
            </a:r>
            <a:r>
              <a:rPr sz="2400" spc="-50" dirty="0">
                <a:latin typeface="Calibri"/>
                <a:cs typeface="Calibri"/>
              </a:rPr>
              <a:t> </a:t>
            </a:r>
            <a:r>
              <a:rPr sz="2400" spc="5" dirty="0">
                <a:latin typeface="Calibri"/>
                <a:cs typeface="Calibri"/>
              </a:rPr>
              <a:t>by</a:t>
            </a:r>
            <a:r>
              <a:rPr sz="2400" spc="-70" dirty="0">
                <a:latin typeface="Calibri"/>
                <a:cs typeface="Calibri"/>
              </a:rPr>
              <a:t> </a:t>
            </a:r>
            <a:r>
              <a:rPr sz="2400" spc="-5" dirty="0">
                <a:latin typeface="Calibri"/>
                <a:cs typeface="Calibri"/>
              </a:rPr>
              <a:t>using</a:t>
            </a:r>
            <a:r>
              <a:rPr sz="2400" spc="-30" dirty="0">
                <a:latin typeface="Calibri"/>
                <a:cs typeface="Calibri"/>
              </a:rPr>
              <a:t> </a:t>
            </a:r>
            <a:r>
              <a:rPr sz="2400" spc="-10" dirty="0">
                <a:latin typeface="Calibri"/>
                <a:cs typeface="Calibri"/>
              </a:rPr>
              <a:t>saturated</a:t>
            </a:r>
            <a:r>
              <a:rPr sz="2400" spc="-20" dirty="0">
                <a:latin typeface="Calibri"/>
                <a:cs typeface="Calibri"/>
              </a:rPr>
              <a:t> </a:t>
            </a:r>
            <a:r>
              <a:rPr sz="2400" spc="-5" dirty="0">
                <a:latin typeface="Calibri"/>
                <a:cs typeface="Calibri"/>
              </a:rPr>
              <a:t>calomel</a:t>
            </a:r>
            <a:r>
              <a:rPr sz="2400" spc="-70" dirty="0">
                <a:latin typeface="Calibri"/>
                <a:cs typeface="Calibri"/>
              </a:rPr>
              <a:t> </a:t>
            </a:r>
            <a:r>
              <a:rPr sz="2400" spc="-5" dirty="0">
                <a:latin typeface="Calibri"/>
                <a:cs typeface="Calibri"/>
              </a:rPr>
              <a:t>electrode.</a:t>
            </a:r>
            <a:r>
              <a:rPr sz="2400" dirty="0">
                <a:latin typeface="Microsoft Sans Serif"/>
                <a:cs typeface="Microsoft Sans Serif"/>
              </a:rPr>
              <a:t> </a:t>
            </a:r>
            <a:endParaRPr sz="2400">
              <a:latin typeface="Microsoft Sans Serif"/>
              <a:cs typeface="Microsoft Sans Serif"/>
            </a:endParaRPr>
          </a:p>
        </p:txBody>
      </p:sp>
      <p:grpSp>
        <p:nvGrpSpPr>
          <p:cNvPr id="3" name="object 3"/>
          <p:cNvGrpSpPr/>
          <p:nvPr/>
        </p:nvGrpSpPr>
        <p:grpSpPr>
          <a:xfrm>
            <a:off x="2428557" y="2503487"/>
            <a:ext cx="4728210" cy="3600450"/>
            <a:chOff x="2428557" y="2503487"/>
            <a:chExt cx="4728210" cy="3600450"/>
          </a:xfrm>
        </p:grpSpPr>
        <p:pic>
          <p:nvPicPr>
            <p:cNvPr id="4" name="object 4"/>
            <p:cNvPicPr/>
            <p:nvPr/>
          </p:nvPicPr>
          <p:blipFill>
            <a:blip r:embed="rId2" cstate="print"/>
            <a:stretch>
              <a:fillRect/>
            </a:stretch>
          </p:blipFill>
          <p:spPr>
            <a:xfrm>
              <a:off x="2499995" y="2575311"/>
              <a:ext cx="4571364" cy="3423533"/>
            </a:xfrm>
            <a:prstGeom prst="rect">
              <a:avLst/>
            </a:prstGeom>
          </p:spPr>
        </p:pic>
        <p:sp>
          <p:nvSpPr>
            <p:cNvPr id="5" name="object 5"/>
            <p:cNvSpPr/>
            <p:nvPr/>
          </p:nvSpPr>
          <p:spPr>
            <a:xfrm>
              <a:off x="2433320" y="2508250"/>
              <a:ext cx="4718685" cy="3590925"/>
            </a:xfrm>
            <a:custGeom>
              <a:avLst/>
              <a:gdLst/>
              <a:ahLst/>
              <a:cxnLst/>
              <a:rect l="l" t="t" r="r" b="b"/>
              <a:pathLst>
                <a:path w="4718684" h="3590925">
                  <a:moveTo>
                    <a:pt x="0" y="3590925"/>
                  </a:moveTo>
                  <a:lnTo>
                    <a:pt x="4718684" y="3590925"/>
                  </a:lnTo>
                  <a:lnTo>
                    <a:pt x="4718684" y="0"/>
                  </a:lnTo>
                  <a:lnTo>
                    <a:pt x="0" y="0"/>
                  </a:lnTo>
                  <a:lnTo>
                    <a:pt x="0" y="3590925"/>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43380" y="167081"/>
            <a:ext cx="6624320" cy="636905"/>
          </a:xfrm>
          <a:prstGeom prst="rect">
            <a:avLst/>
          </a:prstGeom>
        </p:spPr>
        <p:txBody>
          <a:bodyPr vert="horz" wrap="square" lIns="0" tIns="13970" rIns="0" bIns="0" rtlCol="0">
            <a:spAutoFit/>
          </a:bodyPr>
          <a:lstStyle/>
          <a:p>
            <a:pPr marL="12700">
              <a:lnSpc>
                <a:spcPct val="100000"/>
              </a:lnSpc>
              <a:spcBef>
                <a:spcPts val="110"/>
              </a:spcBef>
            </a:pPr>
            <a:r>
              <a:rPr sz="4000" spc="-5" dirty="0"/>
              <a:t>Determination</a:t>
            </a:r>
            <a:r>
              <a:rPr sz="4000" spc="-40" dirty="0"/>
              <a:t> </a:t>
            </a:r>
            <a:r>
              <a:rPr sz="4000" dirty="0"/>
              <a:t>of</a:t>
            </a:r>
            <a:r>
              <a:rPr sz="4000" spc="-30" dirty="0"/>
              <a:t> </a:t>
            </a:r>
            <a:r>
              <a:rPr sz="4000" spc="-5" dirty="0"/>
              <a:t>pH</a:t>
            </a:r>
            <a:r>
              <a:rPr sz="4000" spc="-60" dirty="0"/>
              <a:t> </a:t>
            </a:r>
            <a:r>
              <a:rPr sz="4000" dirty="0"/>
              <a:t>of</a:t>
            </a:r>
            <a:r>
              <a:rPr sz="4000" spc="-50" dirty="0"/>
              <a:t> </a:t>
            </a:r>
            <a:r>
              <a:rPr sz="4000" spc="-5" dirty="0"/>
              <a:t>Solution</a:t>
            </a:r>
            <a:endParaRPr sz="4000"/>
          </a:p>
        </p:txBody>
      </p:sp>
      <p:sp>
        <p:nvSpPr>
          <p:cNvPr id="3" name="object 3"/>
          <p:cNvSpPr txBox="1"/>
          <p:nvPr/>
        </p:nvSpPr>
        <p:spPr>
          <a:xfrm>
            <a:off x="460044" y="999566"/>
            <a:ext cx="8094345" cy="880744"/>
          </a:xfrm>
          <a:prstGeom prst="rect">
            <a:avLst/>
          </a:prstGeom>
        </p:spPr>
        <p:txBody>
          <a:bodyPr vert="horz" wrap="square" lIns="0" tIns="13970" rIns="0" bIns="0" rtlCol="0">
            <a:spAutoFit/>
          </a:bodyPr>
          <a:lstStyle/>
          <a:p>
            <a:pPr marL="353695" marR="5080" indent="-341630">
              <a:lnSpc>
                <a:spcPct val="100000"/>
              </a:lnSpc>
              <a:spcBef>
                <a:spcPts val="110"/>
              </a:spcBef>
              <a:buFont typeface="Microsoft Sans Serif"/>
              <a:buChar char="•"/>
              <a:tabLst>
                <a:tab pos="353695" algn="l"/>
                <a:tab pos="354330" algn="l"/>
              </a:tabLst>
            </a:pPr>
            <a:r>
              <a:rPr sz="2800" spc="5" dirty="0">
                <a:latin typeface="Calibri"/>
                <a:cs typeface="Calibri"/>
              </a:rPr>
              <a:t>A</a:t>
            </a:r>
            <a:r>
              <a:rPr sz="2800" spc="-35" dirty="0">
                <a:latin typeface="Calibri"/>
                <a:cs typeface="Calibri"/>
              </a:rPr>
              <a:t> </a:t>
            </a:r>
            <a:r>
              <a:rPr sz="2800" spc="-5" dirty="0">
                <a:latin typeface="Calibri"/>
                <a:cs typeface="Calibri"/>
              </a:rPr>
              <a:t>glass</a:t>
            </a:r>
            <a:r>
              <a:rPr sz="2800" spc="-30" dirty="0">
                <a:latin typeface="Calibri"/>
                <a:cs typeface="Calibri"/>
              </a:rPr>
              <a:t> </a:t>
            </a:r>
            <a:r>
              <a:rPr sz="2800" dirty="0">
                <a:latin typeface="Calibri"/>
                <a:cs typeface="Calibri"/>
              </a:rPr>
              <a:t>electrode</a:t>
            </a:r>
            <a:r>
              <a:rPr sz="2800" spc="-45" dirty="0">
                <a:latin typeface="Calibri"/>
                <a:cs typeface="Calibri"/>
              </a:rPr>
              <a:t> </a:t>
            </a:r>
            <a:r>
              <a:rPr sz="2800" spc="-10" dirty="0">
                <a:latin typeface="Calibri"/>
                <a:cs typeface="Calibri"/>
              </a:rPr>
              <a:t>is</a:t>
            </a:r>
            <a:r>
              <a:rPr sz="2800" spc="-35" dirty="0">
                <a:latin typeface="Calibri"/>
                <a:cs typeface="Calibri"/>
              </a:rPr>
              <a:t> </a:t>
            </a:r>
            <a:r>
              <a:rPr sz="2800" spc="-5" dirty="0">
                <a:latin typeface="Calibri"/>
                <a:cs typeface="Calibri"/>
              </a:rPr>
              <a:t>couple</a:t>
            </a:r>
            <a:r>
              <a:rPr sz="2800" spc="-10" dirty="0">
                <a:latin typeface="Calibri"/>
                <a:cs typeface="Calibri"/>
              </a:rPr>
              <a:t> </a:t>
            </a:r>
            <a:r>
              <a:rPr sz="2800" dirty="0">
                <a:latin typeface="Calibri"/>
                <a:cs typeface="Calibri"/>
              </a:rPr>
              <a:t>with</a:t>
            </a:r>
            <a:r>
              <a:rPr sz="2800" spc="-45" dirty="0">
                <a:latin typeface="Calibri"/>
                <a:cs typeface="Calibri"/>
              </a:rPr>
              <a:t> </a:t>
            </a:r>
            <a:r>
              <a:rPr sz="2800" spc="-5" dirty="0">
                <a:latin typeface="Calibri"/>
                <a:cs typeface="Calibri"/>
              </a:rPr>
              <a:t>the</a:t>
            </a:r>
            <a:r>
              <a:rPr sz="2800" spc="-45" dirty="0">
                <a:latin typeface="Calibri"/>
                <a:cs typeface="Calibri"/>
              </a:rPr>
              <a:t> </a:t>
            </a:r>
            <a:r>
              <a:rPr sz="2800" dirty="0">
                <a:latin typeface="Calibri"/>
                <a:cs typeface="Calibri"/>
              </a:rPr>
              <a:t>calomel</a:t>
            </a:r>
            <a:r>
              <a:rPr sz="2800" spc="-50" dirty="0">
                <a:latin typeface="Calibri"/>
                <a:cs typeface="Calibri"/>
              </a:rPr>
              <a:t> </a:t>
            </a:r>
            <a:r>
              <a:rPr sz="2800" dirty="0">
                <a:latin typeface="Calibri"/>
                <a:cs typeface="Calibri"/>
              </a:rPr>
              <a:t>electrode </a:t>
            </a:r>
            <a:r>
              <a:rPr sz="2800" spc="-620" dirty="0">
                <a:latin typeface="Calibri"/>
                <a:cs typeface="Calibri"/>
              </a:rPr>
              <a:t> </a:t>
            </a:r>
            <a:r>
              <a:rPr sz="2800" spc="-5" dirty="0">
                <a:latin typeface="Calibri"/>
                <a:cs typeface="Calibri"/>
              </a:rPr>
              <a:t>to</a:t>
            </a:r>
            <a:r>
              <a:rPr sz="2800" spc="-30" dirty="0">
                <a:latin typeface="Calibri"/>
                <a:cs typeface="Calibri"/>
              </a:rPr>
              <a:t> </a:t>
            </a:r>
            <a:r>
              <a:rPr sz="2800" spc="-5" dirty="0">
                <a:latin typeface="Calibri"/>
                <a:cs typeface="Calibri"/>
              </a:rPr>
              <a:t>determine</a:t>
            </a:r>
            <a:r>
              <a:rPr sz="2800" spc="-15" dirty="0">
                <a:latin typeface="Calibri"/>
                <a:cs typeface="Calibri"/>
              </a:rPr>
              <a:t> </a:t>
            </a:r>
            <a:r>
              <a:rPr sz="2800" spc="-5" dirty="0">
                <a:latin typeface="Calibri"/>
                <a:cs typeface="Calibri"/>
              </a:rPr>
              <a:t>the</a:t>
            </a:r>
            <a:r>
              <a:rPr sz="2800" spc="5" dirty="0">
                <a:latin typeface="Calibri"/>
                <a:cs typeface="Calibri"/>
              </a:rPr>
              <a:t> </a:t>
            </a:r>
            <a:r>
              <a:rPr sz="2800" spc="-5" dirty="0">
                <a:latin typeface="Calibri"/>
                <a:cs typeface="Calibri"/>
              </a:rPr>
              <a:t>pH</a:t>
            </a:r>
            <a:r>
              <a:rPr sz="2800" spc="40" dirty="0">
                <a:latin typeface="Calibri"/>
                <a:cs typeface="Calibri"/>
              </a:rPr>
              <a:t> </a:t>
            </a:r>
            <a:r>
              <a:rPr sz="2800" spc="5" dirty="0">
                <a:latin typeface="Calibri"/>
                <a:cs typeface="Calibri"/>
              </a:rPr>
              <a:t>of</a:t>
            </a:r>
            <a:r>
              <a:rPr sz="2800" spc="-5" dirty="0">
                <a:latin typeface="Calibri"/>
                <a:cs typeface="Calibri"/>
              </a:rPr>
              <a:t> the</a:t>
            </a:r>
            <a:r>
              <a:rPr sz="2800" spc="-20" dirty="0">
                <a:latin typeface="Calibri"/>
                <a:cs typeface="Calibri"/>
              </a:rPr>
              <a:t> </a:t>
            </a:r>
            <a:r>
              <a:rPr sz="2800" spc="-5" dirty="0">
                <a:latin typeface="Calibri"/>
                <a:cs typeface="Calibri"/>
              </a:rPr>
              <a:t>solution</a:t>
            </a:r>
            <a:r>
              <a:rPr sz="2800" dirty="0">
                <a:latin typeface="Microsoft Sans Serif"/>
                <a:cs typeface="Microsoft Sans Serif"/>
              </a:rPr>
              <a:t> </a:t>
            </a:r>
            <a:endParaRPr sz="2800">
              <a:latin typeface="Microsoft Sans Serif"/>
              <a:cs typeface="Microsoft Sans Serif"/>
            </a:endParaRPr>
          </a:p>
        </p:txBody>
      </p:sp>
      <p:pic>
        <p:nvPicPr>
          <p:cNvPr id="4" name="object 4"/>
          <p:cNvPicPr/>
          <p:nvPr/>
        </p:nvPicPr>
        <p:blipFill>
          <a:blip r:embed="rId2" cstate="print"/>
          <a:stretch>
            <a:fillRect/>
          </a:stretch>
        </p:blipFill>
        <p:spPr>
          <a:xfrm>
            <a:off x="2012950" y="2186939"/>
            <a:ext cx="4582413" cy="892810"/>
          </a:xfrm>
          <a:prstGeom prst="rect">
            <a:avLst/>
          </a:prstGeom>
        </p:spPr>
      </p:pic>
      <p:pic>
        <p:nvPicPr>
          <p:cNvPr id="5" name="object 5"/>
          <p:cNvPicPr/>
          <p:nvPr/>
        </p:nvPicPr>
        <p:blipFill>
          <a:blip r:embed="rId3" cstate="print"/>
          <a:stretch>
            <a:fillRect/>
          </a:stretch>
        </p:blipFill>
        <p:spPr>
          <a:xfrm>
            <a:off x="2381250" y="3418840"/>
            <a:ext cx="3590925" cy="990600"/>
          </a:xfrm>
          <a:prstGeom prst="rect">
            <a:avLst/>
          </a:prstGeom>
        </p:spPr>
      </p:pic>
      <p:pic>
        <p:nvPicPr>
          <p:cNvPr id="6" name="object 6"/>
          <p:cNvPicPr/>
          <p:nvPr/>
        </p:nvPicPr>
        <p:blipFill>
          <a:blip r:embed="rId4" cstate="print"/>
          <a:stretch>
            <a:fillRect/>
          </a:stretch>
        </p:blipFill>
        <p:spPr>
          <a:xfrm>
            <a:off x="2735579" y="4765675"/>
            <a:ext cx="3197860" cy="91367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10844" y="687562"/>
            <a:ext cx="7663815" cy="4993005"/>
          </a:xfrm>
          <a:prstGeom prst="rect">
            <a:avLst/>
          </a:prstGeom>
        </p:spPr>
        <p:txBody>
          <a:bodyPr vert="horz" wrap="square" lIns="0" tIns="58419" rIns="0" bIns="0" rtlCol="0">
            <a:spAutoFit/>
          </a:bodyPr>
          <a:lstStyle/>
          <a:p>
            <a:pPr marL="379095" indent="-341630" algn="just">
              <a:lnSpc>
                <a:spcPct val="100000"/>
              </a:lnSpc>
              <a:spcBef>
                <a:spcPts val="459"/>
              </a:spcBef>
              <a:buChar char="•"/>
              <a:tabLst>
                <a:tab pos="379730" algn="l"/>
              </a:tabLst>
            </a:pPr>
            <a:r>
              <a:rPr sz="3200" spc="-5" dirty="0">
                <a:solidFill>
                  <a:srgbClr val="C00000"/>
                </a:solidFill>
                <a:latin typeface="Microsoft Sans Serif"/>
                <a:cs typeface="Microsoft Sans Serif"/>
              </a:rPr>
              <a:t>Advantages</a:t>
            </a:r>
            <a:r>
              <a:rPr sz="3200" spc="-30" dirty="0">
                <a:solidFill>
                  <a:srgbClr val="C00000"/>
                </a:solidFill>
                <a:latin typeface="Microsoft Sans Serif"/>
                <a:cs typeface="Microsoft Sans Serif"/>
              </a:rPr>
              <a:t> </a:t>
            </a:r>
            <a:r>
              <a:rPr sz="3200" spc="-5" dirty="0">
                <a:solidFill>
                  <a:srgbClr val="C00000"/>
                </a:solidFill>
                <a:latin typeface="Microsoft Sans Serif"/>
                <a:cs typeface="Microsoft Sans Serif"/>
              </a:rPr>
              <a:t>of</a:t>
            </a:r>
            <a:r>
              <a:rPr sz="3200" dirty="0">
                <a:solidFill>
                  <a:srgbClr val="C00000"/>
                </a:solidFill>
                <a:latin typeface="Microsoft Sans Serif"/>
                <a:cs typeface="Microsoft Sans Serif"/>
              </a:rPr>
              <a:t> Glass</a:t>
            </a:r>
            <a:r>
              <a:rPr sz="3200" spc="-25" dirty="0">
                <a:solidFill>
                  <a:srgbClr val="C00000"/>
                </a:solidFill>
                <a:latin typeface="Microsoft Sans Serif"/>
                <a:cs typeface="Microsoft Sans Serif"/>
              </a:rPr>
              <a:t> </a:t>
            </a:r>
            <a:r>
              <a:rPr sz="3200" dirty="0">
                <a:solidFill>
                  <a:srgbClr val="C00000"/>
                </a:solidFill>
                <a:latin typeface="Microsoft Sans Serif"/>
                <a:cs typeface="Microsoft Sans Serif"/>
              </a:rPr>
              <a:t>Electrode </a:t>
            </a:r>
            <a:endParaRPr sz="3200">
              <a:latin typeface="Microsoft Sans Serif"/>
              <a:cs typeface="Microsoft Sans Serif"/>
            </a:endParaRPr>
          </a:p>
          <a:p>
            <a:pPr marL="379095" marR="30480" indent="-341630" algn="just">
              <a:lnSpc>
                <a:spcPct val="89700"/>
              </a:lnSpc>
              <a:spcBef>
                <a:spcPts val="760"/>
              </a:spcBef>
              <a:buSzPct val="96875"/>
              <a:buAutoNum type="arabicPeriod"/>
              <a:tabLst>
                <a:tab pos="379730" algn="l"/>
              </a:tabLst>
            </a:pPr>
            <a:r>
              <a:rPr sz="3200" spc="-5" dirty="0">
                <a:latin typeface="Microsoft Sans Serif"/>
                <a:cs typeface="Microsoft Sans Serif"/>
              </a:rPr>
              <a:t>It is </a:t>
            </a:r>
            <a:r>
              <a:rPr sz="3200" dirty="0">
                <a:latin typeface="Microsoft Sans Serif"/>
                <a:cs typeface="Microsoft Sans Serif"/>
              </a:rPr>
              <a:t>stable </a:t>
            </a:r>
            <a:r>
              <a:rPr sz="3200" spc="-5" dirty="0">
                <a:latin typeface="Microsoft Sans Serif"/>
                <a:cs typeface="Microsoft Sans Serif"/>
              </a:rPr>
              <a:t>electrode </a:t>
            </a:r>
            <a:r>
              <a:rPr sz="3200" spc="5" dirty="0">
                <a:latin typeface="Microsoft Sans Serif"/>
                <a:cs typeface="Microsoft Sans Serif"/>
              </a:rPr>
              <a:t>and </a:t>
            </a:r>
            <a:r>
              <a:rPr sz="3200" spc="-5" dirty="0">
                <a:latin typeface="Microsoft Sans Serif"/>
                <a:cs typeface="Microsoft Sans Serif"/>
              </a:rPr>
              <a:t>can </a:t>
            </a:r>
            <a:r>
              <a:rPr sz="3200" spc="5" dirty="0">
                <a:latin typeface="Microsoft Sans Serif"/>
                <a:cs typeface="Microsoft Sans Serif"/>
              </a:rPr>
              <a:t>be </a:t>
            </a:r>
            <a:r>
              <a:rPr sz="3200" spc="-5" dirty="0">
                <a:latin typeface="Microsoft Sans Serif"/>
                <a:cs typeface="Microsoft Sans Serif"/>
              </a:rPr>
              <a:t>used </a:t>
            </a:r>
            <a:r>
              <a:rPr sz="3200" spc="-10" dirty="0">
                <a:latin typeface="Microsoft Sans Serif"/>
                <a:cs typeface="Microsoft Sans Serif"/>
              </a:rPr>
              <a:t>in </a:t>
            </a:r>
            <a:r>
              <a:rPr sz="3200" spc="-5" dirty="0">
                <a:latin typeface="Microsoft Sans Serif"/>
                <a:cs typeface="Microsoft Sans Serif"/>
              </a:rPr>
              <a:t> </a:t>
            </a:r>
            <a:r>
              <a:rPr sz="3200" spc="-10" dirty="0">
                <a:latin typeface="Microsoft Sans Serif"/>
                <a:cs typeface="Microsoft Sans Serif"/>
              </a:rPr>
              <a:t>presence </a:t>
            </a:r>
            <a:r>
              <a:rPr sz="3200" spc="5" dirty="0">
                <a:latin typeface="Microsoft Sans Serif"/>
                <a:cs typeface="Microsoft Sans Serif"/>
              </a:rPr>
              <a:t>of </a:t>
            </a:r>
            <a:r>
              <a:rPr sz="3200" spc="-5" dirty="0">
                <a:latin typeface="Microsoft Sans Serif"/>
                <a:cs typeface="Microsoft Sans Serif"/>
              </a:rPr>
              <a:t>strong oxidizing </a:t>
            </a:r>
            <a:r>
              <a:rPr sz="3200" spc="-10" dirty="0">
                <a:latin typeface="Microsoft Sans Serif"/>
                <a:cs typeface="Microsoft Sans Serif"/>
              </a:rPr>
              <a:t>and </a:t>
            </a:r>
            <a:r>
              <a:rPr sz="3200" spc="-5" dirty="0">
                <a:latin typeface="Microsoft Sans Serif"/>
                <a:cs typeface="Microsoft Sans Serif"/>
              </a:rPr>
              <a:t>strong </a:t>
            </a:r>
            <a:r>
              <a:rPr sz="3200" dirty="0">
                <a:latin typeface="Microsoft Sans Serif"/>
                <a:cs typeface="Microsoft Sans Serif"/>
              </a:rPr>
              <a:t> </a:t>
            </a:r>
            <a:r>
              <a:rPr sz="3200" spc="-5" dirty="0">
                <a:latin typeface="Microsoft Sans Serif"/>
                <a:cs typeface="Microsoft Sans Serif"/>
              </a:rPr>
              <a:t>reducing</a:t>
            </a:r>
            <a:r>
              <a:rPr sz="3200" spc="-15" dirty="0">
                <a:latin typeface="Microsoft Sans Serif"/>
                <a:cs typeface="Microsoft Sans Serif"/>
              </a:rPr>
              <a:t> </a:t>
            </a:r>
            <a:r>
              <a:rPr sz="3200" spc="-5" dirty="0">
                <a:latin typeface="Microsoft Sans Serif"/>
                <a:cs typeface="Microsoft Sans Serif"/>
              </a:rPr>
              <a:t>agents.</a:t>
            </a:r>
            <a:r>
              <a:rPr sz="3200" dirty="0">
                <a:latin typeface="Microsoft Sans Serif"/>
                <a:cs typeface="Microsoft Sans Serif"/>
              </a:rPr>
              <a:t> </a:t>
            </a:r>
            <a:endParaRPr sz="3200">
              <a:latin typeface="Microsoft Sans Serif"/>
              <a:cs typeface="Microsoft Sans Serif"/>
            </a:endParaRPr>
          </a:p>
          <a:p>
            <a:pPr marL="488950" indent="-451484" algn="just">
              <a:lnSpc>
                <a:spcPct val="100000"/>
              </a:lnSpc>
              <a:spcBef>
                <a:spcPts val="434"/>
              </a:spcBef>
              <a:buSzPct val="96875"/>
              <a:buAutoNum type="arabicPeriod"/>
              <a:tabLst>
                <a:tab pos="489584" algn="l"/>
              </a:tabLst>
            </a:pPr>
            <a:r>
              <a:rPr sz="3200" spc="-5" dirty="0">
                <a:latin typeface="Microsoft Sans Serif"/>
                <a:cs typeface="Microsoft Sans Serif"/>
              </a:rPr>
              <a:t>It</a:t>
            </a:r>
            <a:r>
              <a:rPr sz="3200" dirty="0">
                <a:latin typeface="Microsoft Sans Serif"/>
                <a:cs typeface="Microsoft Sans Serif"/>
              </a:rPr>
              <a:t> </a:t>
            </a:r>
            <a:r>
              <a:rPr sz="3200" spc="-5" dirty="0">
                <a:latin typeface="Microsoft Sans Serif"/>
                <a:cs typeface="Microsoft Sans Serif"/>
              </a:rPr>
              <a:t>is</a:t>
            </a:r>
            <a:r>
              <a:rPr sz="3200" dirty="0">
                <a:latin typeface="Microsoft Sans Serif"/>
                <a:cs typeface="Microsoft Sans Serif"/>
              </a:rPr>
              <a:t> compact</a:t>
            </a:r>
            <a:r>
              <a:rPr sz="3200" spc="-20" dirty="0">
                <a:latin typeface="Microsoft Sans Serif"/>
                <a:cs typeface="Microsoft Sans Serif"/>
              </a:rPr>
              <a:t> </a:t>
            </a:r>
            <a:r>
              <a:rPr sz="3200" dirty="0">
                <a:latin typeface="Microsoft Sans Serif"/>
                <a:cs typeface="Microsoft Sans Serif"/>
              </a:rPr>
              <a:t>and</a:t>
            </a:r>
            <a:r>
              <a:rPr sz="3200" spc="-25" dirty="0">
                <a:latin typeface="Microsoft Sans Serif"/>
                <a:cs typeface="Microsoft Sans Serif"/>
              </a:rPr>
              <a:t> </a:t>
            </a:r>
            <a:r>
              <a:rPr sz="3200" spc="-5" dirty="0">
                <a:latin typeface="Microsoft Sans Serif"/>
                <a:cs typeface="Microsoft Sans Serif"/>
              </a:rPr>
              <a:t>portable.</a:t>
            </a:r>
            <a:r>
              <a:rPr sz="3200" dirty="0">
                <a:latin typeface="Microsoft Sans Serif"/>
                <a:cs typeface="Microsoft Sans Serif"/>
              </a:rPr>
              <a:t> </a:t>
            </a:r>
            <a:endParaRPr sz="3200">
              <a:latin typeface="Microsoft Sans Serif"/>
              <a:cs typeface="Microsoft Sans Serif"/>
            </a:endParaRPr>
          </a:p>
          <a:p>
            <a:pPr marL="379095" marR="168275" indent="-341630">
              <a:lnSpc>
                <a:spcPts val="3429"/>
              </a:lnSpc>
              <a:spcBef>
                <a:spcPts val="815"/>
              </a:spcBef>
              <a:buSzPct val="96875"/>
              <a:buAutoNum type="arabicPeriod"/>
              <a:tabLst>
                <a:tab pos="379730" algn="l"/>
              </a:tabLst>
            </a:pPr>
            <a:r>
              <a:rPr sz="3200" spc="-5" dirty="0">
                <a:latin typeface="Microsoft Sans Serif"/>
                <a:cs typeface="Microsoft Sans Serif"/>
              </a:rPr>
              <a:t>It</a:t>
            </a:r>
            <a:r>
              <a:rPr sz="3200" spc="10" dirty="0">
                <a:latin typeface="Microsoft Sans Serif"/>
                <a:cs typeface="Microsoft Sans Serif"/>
              </a:rPr>
              <a:t> </a:t>
            </a:r>
            <a:r>
              <a:rPr sz="3200" spc="-5" dirty="0">
                <a:latin typeface="Microsoft Sans Serif"/>
                <a:cs typeface="Microsoft Sans Serif"/>
              </a:rPr>
              <a:t>can</a:t>
            </a:r>
            <a:r>
              <a:rPr sz="3200" spc="-15" dirty="0">
                <a:latin typeface="Microsoft Sans Serif"/>
                <a:cs typeface="Microsoft Sans Serif"/>
              </a:rPr>
              <a:t> </a:t>
            </a:r>
            <a:r>
              <a:rPr sz="3200" spc="-10" dirty="0">
                <a:latin typeface="Microsoft Sans Serif"/>
                <a:cs typeface="Microsoft Sans Serif"/>
              </a:rPr>
              <a:t>be </a:t>
            </a:r>
            <a:r>
              <a:rPr sz="3200" spc="-5" dirty="0">
                <a:latin typeface="Microsoft Sans Serif"/>
                <a:cs typeface="Microsoft Sans Serif"/>
              </a:rPr>
              <a:t>used</a:t>
            </a:r>
            <a:r>
              <a:rPr sz="3200" spc="10" dirty="0">
                <a:latin typeface="Microsoft Sans Serif"/>
                <a:cs typeface="Microsoft Sans Serif"/>
              </a:rPr>
              <a:t> </a:t>
            </a:r>
            <a:r>
              <a:rPr sz="3200" spc="-10" dirty="0">
                <a:latin typeface="Microsoft Sans Serif"/>
                <a:cs typeface="Microsoft Sans Serif"/>
              </a:rPr>
              <a:t>in</a:t>
            </a:r>
            <a:r>
              <a:rPr sz="3200" spc="15" dirty="0">
                <a:latin typeface="Microsoft Sans Serif"/>
                <a:cs typeface="Microsoft Sans Serif"/>
              </a:rPr>
              <a:t> </a:t>
            </a:r>
            <a:r>
              <a:rPr sz="3200" spc="-10" dirty="0">
                <a:latin typeface="Microsoft Sans Serif"/>
                <a:cs typeface="Microsoft Sans Serif"/>
              </a:rPr>
              <a:t>presence</a:t>
            </a:r>
            <a:r>
              <a:rPr sz="3200" spc="-40" dirty="0">
                <a:latin typeface="Microsoft Sans Serif"/>
                <a:cs typeface="Microsoft Sans Serif"/>
              </a:rPr>
              <a:t> </a:t>
            </a:r>
            <a:r>
              <a:rPr sz="3200" spc="5" dirty="0">
                <a:latin typeface="Microsoft Sans Serif"/>
                <a:cs typeface="Microsoft Sans Serif"/>
              </a:rPr>
              <a:t>of</a:t>
            </a:r>
            <a:r>
              <a:rPr sz="3200" spc="-10" dirty="0">
                <a:latin typeface="Microsoft Sans Serif"/>
                <a:cs typeface="Microsoft Sans Serif"/>
              </a:rPr>
              <a:t> </a:t>
            </a:r>
            <a:r>
              <a:rPr sz="3200" spc="-5" dirty="0">
                <a:latin typeface="Microsoft Sans Serif"/>
                <a:cs typeface="Microsoft Sans Serif"/>
              </a:rPr>
              <a:t>biological </a:t>
            </a:r>
            <a:r>
              <a:rPr sz="3200" dirty="0">
                <a:latin typeface="Microsoft Sans Serif"/>
                <a:cs typeface="Microsoft Sans Serif"/>
              </a:rPr>
              <a:t> </a:t>
            </a:r>
            <a:r>
              <a:rPr sz="3200" spc="-5" dirty="0">
                <a:latin typeface="Microsoft Sans Serif"/>
                <a:cs typeface="Microsoft Sans Serif"/>
              </a:rPr>
              <a:t>fluids/</a:t>
            </a:r>
            <a:r>
              <a:rPr sz="3200" spc="10" dirty="0">
                <a:latin typeface="Microsoft Sans Serif"/>
                <a:cs typeface="Microsoft Sans Serif"/>
              </a:rPr>
              <a:t> </a:t>
            </a:r>
            <a:r>
              <a:rPr sz="3200" dirty="0">
                <a:latin typeface="Microsoft Sans Serif"/>
                <a:cs typeface="Microsoft Sans Serif"/>
              </a:rPr>
              <a:t>proteins. </a:t>
            </a:r>
            <a:endParaRPr sz="3200">
              <a:latin typeface="Microsoft Sans Serif"/>
              <a:cs typeface="Microsoft Sans Serif"/>
            </a:endParaRPr>
          </a:p>
          <a:p>
            <a:pPr marL="598805" indent="-452120">
              <a:lnSpc>
                <a:spcPct val="100000"/>
              </a:lnSpc>
              <a:spcBef>
                <a:spcPts val="390"/>
              </a:spcBef>
              <a:buSzPct val="96875"/>
              <a:buAutoNum type="arabicPeriod"/>
              <a:tabLst>
                <a:tab pos="599440" algn="l"/>
              </a:tabLst>
            </a:pPr>
            <a:r>
              <a:rPr sz="3200" spc="-5" dirty="0">
                <a:latin typeface="Microsoft Sans Serif"/>
                <a:cs typeface="Microsoft Sans Serif"/>
              </a:rPr>
              <a:t>It</a:t>
            </a:r>
            <a:r>
              <a:rPr sz="3200" spc="-85" dirty="0">
                <a:latin typeface="Microsoft Sans Serif"/>
                <a:cs typeface="Microsoft Sans Serif"/>
              </a:rPr>
              <a:t> </a:t>
            </a:r>
            <a:r>
              <a:rPr sz="3200" spc="-5" dirty="0">
                <a:latin typeface="Microsoft Sans Serif"/>
                <a:cs typeface="Microsoft Sans Serif"/>
              </a:rPr>
              <a:t>attained</a:t>
            </a:r>
            <a:r>
              <a:rPr sz="3200" spc="-85" dirty="0">
                <a:latin typeface="Microsoft Sans Serif"/>
                <a:cs typeface="Microsoft Sans Serif"/>
              </a:rPr>
              <a:t> </a:t>
            </a:r>
            <a:r>
              <a:rPr sz="3200" spc="-5" dirty="0">
                <a:latin typeface="Microsoft Sans Serif"/>
                <a:cs typeface="Microsoft Sans Serif"/>
              </a:rPr>
              <a:t>equilibrium</a:t>
            </a:r>
            <a:r>
              <a:rPr sz="3200" spc="-85" dirty="0">
                <a:latin typeface="Microsoft Sans Serif"/>
                <a:cs typeface="Microsoft Sans Serif"/>
              </a:rPr>
              <a:t> </a:t>
            </a:r>
            <a:r>
              <a:rPr sz="3200" spc="-5" dirty="0">
                <a:latin typeface="Microsoft Sans Serif"/>
                <a:cs typeface="Microsoft Sans Serif"/>
              </a:rPr>
              <a:t>quickly.</a:t>
            </a:r>
            <a:r>
              <a:rPr sz="3200" dirty="0">
                <a:latin typeface="Microsoft Sans Serif"/>
                <a:cs typeface="Microsoft Sans Serif"/>
              </a:rPr>
              <a:t> </a:t>
            </a:r>
            <a:endParaRPr sz="3200">
              <a:latin typeface="Microsoft Sans Serif"/>
              <a:cs typeface="Microsoft Sans Serif"/>
            </a:endParaRPr>
          </a:p>
          <a:p>
            <a:pPr marL="379095" marR="661670" indent="-231775">
              <a:lnSpc>
                <a:spcPts val="3429"/>
              </a:lnSpc>
              <a:spcBef>
                <a:spcPts val="819"/>
              </a:spcBef>
              <a:buSzPct val="96875"/>
              <a:buAutoNum type="arabicPeriod"/>
              <a:tabLst>
                <a:tab pos="601980" algn="l"/>
              </a:tabLst>
            </a:pPr>
            <a:r>
              <a:rPr sz="3200" spc="-5" dirty="0">
                <a:latin typeface="Microsoft Sans Serif"/>
                <a:cs typeface="Microsoft Sans Serif"/>
              </a:rPr>
              <a:t>It can </a:t>
            </a:r>
            <a:r>
              <a:rPr sz="3200" dirty="0">
                <a:latin typeface="Microsoft Sans Serif"/>
                <a:cs typeface="Microsoft Sans Serif"/>
              </a:rPr>
              <a:t>detect and </a:t>
            </a:r>
            <a:r>
              <a:rPr sz="3200" spc="-5" dirty="0">
                <a:latin typeface="Microsoft Sans Serif"/>
                <a:cs typeface="Microsoft Sans Serif"/>
              </a:rPr>
              <a:t>estimate </a:t>
            </a:r>
            <a:r>
              <a:rPr sz="3200" spc="-10" dirty="0">
                <a:latin typeface="Microsoft Sans Serif"/>
                <a:cs typeface="Microsoft Sans Serif"/>
              </a:rPr>
              <a:t>H</a:t>
            </a:r>
            <a:r>
              <a:rPr sz="3150" spc="-15" baseline="25132" dirty="0">
                <a:latin typeface="Microsoft Sans Serif"/>
                <a:cs typeface="Microsoft Sans Serif"/>
              </a:rPr>
              <a:t>+</a:t>
            </a:r>
            <a:r>
              <a:rPr sz="3150" spc="-7" baseline="25132" dirty="0">
                <a:latin typeface="Microsoft Sans Serif"/>
                <a:cs typeface="Microsoft Sans Serif"/>
              </a:rPr>
              <a:t> </a:t>
            </a:r>
            <a:r>
              <a:rPr sz="3200" spc="-5" dirty="0">
                <a:latin typeface="Microsoft Sans Serif"/>
                <a:cs typeface="Microsoft Sans Serif"/>
              </a:rPr>
              <a:t>ion </a:t>
            </a:r>
            <a:r>
              <a:rPr sz="3200" dirty="0">
                <a:latin typeface="Microsoft Sans Serif"/>
                <a:cs typeface="Microsoft Sans Serif"/>
              </a:rPr>
              <a:t>in </a:t>
            </a:r>
            <a:r>
              <a:rPr sz="3200" spc="-835" dirty="0">
                <a:latin typeface="Microsoft Sans Serif"/>
                <a:cs typeface="Microsoft Sans Serif"/>
              </a:rPr>
              <a:t> </a:t>
            </a:r>
            <a:r>
              <a:rPr sz="3200" spc="-10" dirty="0">
                <a:latin typeface="Microsoft Sans Serif"/>
                <a:cs typeface="Microsoft Sans Serif"/>
              </a:rPr>
              <a:t>presence</a:t>
            </a:r>
            <a:r>
              <a:rPr sz="3200" spc="-40" dirty="0">
                <a:latin typeface="Microsoft Sans Serif"/>
                <a:cs typeface="Microsoft Sans Serif"/>
              </a:rPr>
              <a:t> </a:t>
            </a:r>
            <a:r>
              <a:rPr sz="3200" spc="5" dirty="0">
                <a:latin typeface="Microsoft Sans Serif"/>
                <a:cs typeface="Microsoft Sans Serif"/>
              </a:rPr>
              <a:t>of</a:t>
            </a:r>
            <a:r>
              <a:rPr sz="3200" spc="10" dirty="0">
                <a:latin typeface="Microsoft Sans Serif"/>
                <a:cs typeface="Microsoft Sans Serif"/>
              </a:rPr>
              <a:t> </a:t>
            </a:r>
            <a:r>
              <a:rPr sz="3200" dirty="0">
                <a:latin typeface="Microsoft Sans Serif"/>
                <a:cs typeface="Microsoft Sans Serif"/>
              </a:rPr>
              <a:t>other</a:t>
            </a:r>
            <a:r>
              <a:rPr sz="3200" spc="15" dirty="0">
                <a:latin typeface="Microsoft Sans Serif"/>
                <a:cs typeface="Microsoft Sans Serif"/>
              </a:rPr>
              <a:t> </a:t>
            </a:r>
            <a:r>
              <a:rPr sz="3200" spc="-5" dirty="0">
                <a:latin typeface="Microsoft Sans Serif"/>
                <a:cs typeface="Microsoft Sans Serif"/>
              </a:rPr>
              <a:t>ions.</a:t>
            </a:r>
            <a:r>
              <a:rPr sz="3200" dirty="0">
                <a:latin typeface="Microsoft Sans Serif"/>
                <a:cs typeface="Microsoft Sans Serif"/>
              </a:rPr>
              <a:t> </a:t>
            </a:r>
            <a:endParaRPr sz="3200">
              <a:latin typeface="Microsoft Sans Serif"/>
              <a:cs typeface="Microsoft Sans Serif"/>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23998" y="307289"/>
            <a:ext cx="5172075" cy="560070"/>
          </a:xfrm>
          <a:prstGeom prst="rect">
            <a:avLst/>
          </a:prstGeom>
        </p:spPr>
        <p:txBody>
          <a:bodyPr vert="horz" wrap="square" lIns="0" tIns="13335" rIns="0" bIns="0" rtlCol="0">
            <a:spAutoFit/>
          </a:bodyPr>
          <a:lstStyle/>
          <a:p>
            <a:pPr marL="12700">
              <a:lnSpc>
                <a:spcPct val="100000"/>
              </a:lnSpc>
              <a:spcBef>
                <a:spcPts val="105"/>
              </a:spcBef>
            </a:pPr>
            <a:r>
              <a:rPr sz="3500" b="1" spc="-5" dirty="0">
                <a:latin typeface="Calibri"/>
                <a:cs typeface="Calibri"/>
              </a:rPr>
              <a:t>Ion-Selective</a:t>
            </a:r>
            <a:r>
              <a:rPr sz="3500" b="1" spc="-40" dirty="0">
                <a:latin typeface="Calibri"/>
                <a:cs typeface="Calibri"/>
              </a:rPr>
              <a:t> </a:t>
            </a:r>
            <a:r>
              <a:rPr sz="3500" b="1" spc="-10" dirty="0">
                <a:latin typeface="Calibri"/>
                <a:cs typeface="Calibri"/>
              </a:rPr>
              <a:t>Electrode</a:t>
            </a:r>
            <a:r>
              <a:rPr sz="3500" b="1" spc="-5" dirty="0">
                <a:latin typeface="Calibri"/>
                <a:cs typeface="Calibri"/>
              </a:rPr>
              <a:t> (ISE)</a:t>
            </a:r>
            <a:endParaRPr sz="3500">
              <a:latin typeface="Calibri"/>
              <a:cs typeface="Calibri"/>
            </a:endParaRPr>
          </a:p>
        </p:txBody>
      </p:sp>
      <p:sp>
        <p:nvSpPr>
          <p:cNvPr id="3" name="object 3"/>
          <p:cNvSpPr txBox="1"/>
          <p:nvPr/>
        </p:nvSpPr>
        <p:spPr>
          <a:xfrm>
            <a:off x="536244" y="822782"/>
            <a:ext cx="8124825" cy="5135880"/>
          </a:xfrm>
          <a:prstGeom prst="rect">
            <a:avLst/>
          </a:prstGeom>
        </p:spPr>
        <p:txBody>
          <a:bodyPr vert="horz" wrap="square" lIns="0" tIns="95885" rIns="0" bIns="0" rtlCol="0">
            <a:spAutoFit/>
          </a:bodyPr>
          <a:lstStyle/>
          <a:p>
            <a:pPr marL="353695" marR="5080" indent="-341630">
              <a:lnSpc>
                <a:spcPct val="80200"/>
              </a:lnSpc>
              <a:spcBef>
                <a:spcPts val="755"/>
              </a:spcBef>
              <a:buFont typeface="Microsoft Sans Serif"/>
              <a:buChar char="•"/>
              <a:tabLst>
                <a:tab pos="353695" algn="l"/>
                <a:tab pos="354330" algn="l"/>
              </a:tabLst>
            </a:pPr>
            <a:r>
              <a:rPr sz="2700" spc="5" dirty="0">
                <a:latin typeface="Calibri"/>
                <a:cs typeface="Calibri"/>
              </a:rPr>
              <a:t>A</a:t>
            </a:r>
            <a:r>
              <a:rPr sz="2700" spc="35" dirty="0">
                <a:latin typeface="Calibri"/>
                <a:cs typeface="Calibri"/>
              </a:rPr>
              <a:t> </a:t>
            </a:r>
            <a:r>
              <a:rPr sz="2700" spc="-5" dirty="0">
                <a:latin typeface="Calibri"/>
                <a:cs typeface="Calibri"/>
              </a:rPr>
              <a:t>membrane</a:t>
            </a:r>
            <a:r>
              <a:rPr sz="2700" spc="15" dirty="0">
                <a:latin typeface="Calibri"/>
                <a:cs typeface="Calibri"/>
              </a:rPr>
              <a:t> </a:t>
            </a:r>
            <a:r>
              <a:rPr sz="2700" spc="5" dirty="0">
                <a:latin typeface="Calibri"/>
                <a:cs typeface="Calibri"/>
              </a:rPr>
              <a:t>of</a:t>
            </a:r>
            <a:r>
              <a:rPr sz="2700" spc="35" dirty="0">
                <a:latin typeface="Calibri"/>
                <a:cs typeface="Calibri"/>
              </a:rPr>
              <a:t> </a:t>
            </a:r>
            <a:r>
              <a:rPr sz="2700" spc="5" dirty="0">
                <a:latin typeface="Calibri"/>
                <a:cs typeface="Calibri"/>
              </a:rPr>
              <a:t>a</a:t>
            </a:r>
            <a:r>
              <a:rPr sz="2700" spc="70" dirty="0">
                <a:latin typeface="Calibri"/>
                <a:cs typeface="Calibri"/>
              </a:rPr>
              <a:t> </a:t>
            </a:r>
            <a:r>
              <a:rPr sz="2700" spc="-5" dirty="0">
                <a:latin typeface="Calibri"/>
                <a:cs typeface="Calibri"/>
              </a:rPr>
              <a:t>half</a:t>
            </a:r>
            <a:r>
              <a:rPr sz="2700" spc="30" dirty="0">
                <a:latin typeface="Calibri"/>
                <a:cs typeface="Calibri"/>
              </a:rPr>
              <a:t> </a:t>
            </a:r>
            <a:r>
              <a:rPr sz="2700" spc="5" dirty="0">
                <a:latin typeface="Calibri"/>
                <a:cs typeface="Calibri"/>
              </a:rPr>
              <a:t>cell</a:t>
            </a:r>
            <a:r>
              <a:rPr sz="2700" spc="45" dirty="0">
                <a:latin typeface="Calibri"/>
                <a:cs typeface="Calibri"/>
              </a:rPr>
              <a:t> </a:t>
            </a:r>
            <a:r>
              <a:rPr sz="2700" dirty="0">
                <a:latin typeface="Calibri"/>
                <a:cs typeface="Calibri"/>
              </a:rPr>
              <a:t>is</a:t>
            </a:r>
            <a:r>
              <a:rPr sz="2700" spc="40" dirty="0">
                <a:latin typeface="Calibri"/>
                <a:cs typeface="Calibri"/>
              </a:rPr>
              <a:t> </a:t>
            </a:r>
            <a:r>
              <a:rPr sz="2700" spc="-5" dirty="0">
                <a:latin typeface="Calibri"/>
                <a:cs typeface="Calibri"/>
              </a:rPr>
              <a:t>sensitive</a:t>
            </a:r>
            <a:r>
              <a:rPr sz="2700" spc="30" dirty="0">
                <a:latin typeface="Calibri"/>
                <a:cs typeface="Calibri"/>
              </a:rPr>
              <a:t> </a:t>
            </a:r>
            <a:r>
              <a:rPr sz="2700" spc="-10" dirty="0">
                <a:latin typeface="Calibri"/>
                <a:cs typeface="Calibri"/>
              </a:rPr>
              <a:t>to</a:t>
            </a:r>
            <a:r>
              <a:rPr sz="2700" spc="55" dirty="0">
                <a:latin typeface="Calibri"/>
                <a:cs typeface="Calibri"/>
              </a:rPr>
              <a:t> </a:t>
            </a:r>
            <a:r>
              <a:rPr sz="2700" spc="-5" dirty="0">
                <a:latin typeface="Calibri"/>
                <a:cs typeface="Calibri"/>
              </a:rPr>
              <a:t>particular</a:t>
            </a:r>
            <a:r>
              <a:rPr sz="2700" spc="15" dirty="0">
                <a:latin typeface="Calibri"/>
                <a:cs typeface="Calibri"/>
              </a:rPr>
              <a:t> </a:t>
            </a:r>
            <a:r>
              <a:rPr sz="2700" spc="5" dirty="0">
                <a:latin typeface="Calibri"/>
                <a:cs typeface="Calibri"/>
              </a:rPr>
              <a:t>ion </a:t>
            </a:r>
            <a:r>
              <a:rPr sz="2700" spc="10" dirty="0">
                <a:latin typeface="Calibri"/>
                <a:cs typeface="Calibri"/>
              </a:rPr>
              <a:t> </a:t>
            </a:r>
            <a:r>
              <a:rPr sz="2700" spc="5" dirty="0">
                <a:latin typeface="Calibri"/>
                <a:cs typeface="Calibri"/>
              </a:rPr>
              <a:t>in </a:t>
            </a:r>
            <a:r>
              <a:rPr sz="2700" spc="-5" dirty="0">
                <a:latin typeface="Calibri"/>
                <a:cs typeface="Calibri"/>
              </a:rPr>
              <a:t>solution </a:t>
            </a:r>
            <a:r>
              <a:rPr sz="2700" dirty="0">
                <a:latin typeface="Calibri"/>
                <a:cs typeface="Calibri"/>
              </a:rPr>
              <a:t>and </a:t>
            </a:r>
            <a:r>
              <a:rPr sz="2700" spc="5" dirty="0">
                <a:latin typeface="Calibri"/>
                <a:cs typeface="Calibri"/>
              </a:rPr>
              <a:t>ion </a:t>
            </a:r>
            <a:r>
              <a:rPr sz="2700" dirty="0">
                <a:latin typeface="Calibri"/>
                <a:cs typeface="Calibri"/>
              </a:rPr>
              <a:t>exchange takes </a:t>
            </a:r>
            <a:r>
              <a:rPr sz="2700" spc="-5" dirty="0">
                <a:latin typeface="Calibri"/>
                <a:cs typeface="Calibri"/>
              </a:rPr>
              <a:t>place between </a:t>
            </a:r>
            <a:r>
              <a:rPr sz="2700" spc="5" dirty="0">
                <a:latin typeface="Calibri"/>
                <a:cs typeface="Calibri"/>
              </a:rPr>
              <a:t>the </a:t>
            </a:r>
            <a:r>
              <a:rPr sz="2700" spc="10" dirty="0">
                <a:latin typeface="Calibri"/>
                <a:cs typeface="Calibri"/>
              </a:rPr>
              <a:t> </a:t>
            </a:r>
            <a:r>
              <a:rPr sz="2700" spc="-5" dirty="0">
                <a:latin typeface="Calibri"/>
                <a:cs typeface="Calibri"/>
              </a:rPr>
              <a:t>membrane</a:t>
            </a:r>
            <a:r>
              <a:rPr sz="2700" spc="-60" dirty="0">
                <a:latin typeface="Calibri"/>
                <a:cs typeface="Calibri"/>
              </a:rPr>
              <a:t> </a:t>
            </a:r>
            <a:r>
              <a:rPr sz="2700" dirty="0">
                <a:latin typeface="Calibri"/>
                <a:cs typeface="Calibri"/>
              </a:rPr>
              <a:t>and</a:t>
            </a:r>
            <a:r>
              <a:rPr sz="2700" spc="-40" dirty="0">
                <a:latin typeface="Calibri"/>
                <a:cs typeface="Calibri"/>
              </a:rPr>
              <a:t> </a:t>
            </a:r>
            <a:r>
              <a:rPr sz="2700" spc="5" dirty="0">
                <a:latin typeface="Calibri"/>
                <a:cs typeface="Calibri"/>
              </a:rPr>
              <a:t>the</a:t>
            </a:r>
            <a:r>
              <a:rPr sz="2700" spc="-40" dirty="0">
                <a:latin typeface="Calibri"/>
                <a:cs typeface="Calibri"/>
              </a:rPr>
              <a:t> </a:t>
            </a:r>
            <a:r>
              <a:rPr sz="2700" spc="-5" dirty="0">
                <a:latin typeface="Calibri"/>
                <a:cs typeface="Calibri"/>
              </a:rPr>
              <a:t>solution</a:t>
            </a:r>
            <a:r>
              <a:rPr sz="2700" spc="-60" dirty="0">
                <a:latin typeface="Calibri"/>
                <a:cs typeface="Calibri"/>
              </a:rPr>
              <a:t> </a:t>
            </a:r>
            <a:r>
              <a:rPr sz="2700" spc="-5" dirty="0">
                <a:latin typeface="Calibri"/>
                <a:cs typeface="Calibri"/>
              </a:rPr>
              <a:t>containing</a:t>
            </a:r>
            <a:r>
              <a:rPr sz="2700" spc="-30" dirty="0">
                <a:latin typeface="Calibri"/>
                <a:cs typeface="Calibri"/>
              </a:rPr>
              <a:t> </a:t>
            </a:r>
            <a:r>
              <a:rPr sz="2700" spc="-5" dirty="0">
                <a:latin typeface="Calibri"/>
                <a:cs typeface="Calibri"/>
              </a:rPr>
              <a:t>specific</a:t>
            </a:r>
            <a:r>
              <a:rPr sz="2700" spc="-50" dirty="0">
                <a:latin typeface="Calibri"/>
                <a:cs typeface="Calibri"/>
              </a:rPr>
              <a:t> </a:t>
            </a:r>
            <a:r>
              <a:rPr sz="2700" dirty="0">
                <a:latin typeface="Calibri"/>
                <a:cs typeface="Calibri"/>
              </a:rPr>
              <a:t>ions</a:t>
            </a:r>
            <a:r>
              <a:rPr sz="2700" spc="-30" dirty="0">
                <a:latin typeface="Calibri"/>
                <a:cs typeface="Calibri"/>
              </a:rPr>
              <a:t> </a:t>
            </a:r>
            <a:r>
              <a:rPr sz="2700" dirty="0">
                <a:latin typeface="Calibri"/>
                <a:cs typeface="Calibri"/>
              </a:rPr>
              <a:t>and </a:t>
            </a:r>
            <a:r>
              <a:rPr sz="2700" spc="-595" dirty="0">
                <a:latin typeface="Calibri"/>
                <a:cs typeface="Calibri"/>
              </a:rPr>
              <a:t> </a:t>
            </a:r>
            <a:r>
              <a:rPr sz="2700" dirty="0">
                <a:latin typeface="Calibri"/>
                <a:cs typeface="Calibri"/>
              </a:rPr>
              <a:t>develops </a:t>
            </a:r>
            <a:r>
              <a:rPr sz="2700" spc="5" dirty="0">
                <a:latin typeface="Calibri"/>
                <a:cs typeface="Calibri"/>
              </a:rPr>
              <a:t>a </a:t>
            </a:r>
            <a:r>
              <a:rPr sz="2700" spc="-5" dirty="0">
                <a:latin typeface="Calibri"/>
                <a:cs typeface="Calibri"/>
              </a:rPr>
              <a:t>potential </a:t>
            </a:r>
            <a:r>
              <a:rPr sz="2700" spc="5" dirty="0">
                <a:latin typeface="Calibri"/>
                <a:cs typeface="Calibri"/>
              </a:rPr>
              <a:t>which </a:t>
            </a:r>
            <a:r>
              <a:rPr sz="2700" spc="-5" dirty="0">
                <a:latin typeface="Calibri"/>
                <a:cs typeface="Calibri"/>
              </a:rPr>
              <a:t>depends </a:t>
            </a:r>
            <a:r>
              <a:rPr sz="2700" dirty="0">
                <a:latin typeface="Calibri"/>
                <a:cs typeface="Calibri"/>
              </a:rPr>
              <a:t>upon </a:t>
            </a:r>
            <a:r>
              <a:rPr sz="2700" spc="-10" dirty="0">
                <a:latin typeface="Calibri"/>
                <a:cs typeface="Calibri"/>
              </a:rPr>
              <a:t>the </a:t>
            </a:r>
            <a:r>
              <a:rPr sz="2700" spc="-5" dirty="0">
                <a:latin typeface="Calibri"/>
                <a:cs typeface="Calibri"/>
              </a:rPr>
              <a:t> </a:t>
            </a:r>
            <a:r>
              <a:rPr sz="2700" dirty="0">
                <a:latin typeface="Calibri"/>
                <a:cs typeface="Calibri"/>
              </a:rPr>
              <a:t>concentration</a:t>
            </a:r>
            <a:r>
              <a:rPr sz="2700" spc="-65" dirty="0">
                <a:latin typeface="Calibri"/>
                <a:cs typeface="Calibri"/>
              </a:rPr>
              <a:t> </a:t>
            </a:r>
            <a:r>
              <a:rPr sz="2700" spc="5" dirty="0">
                <a:latin typeface="Calibri"/>
                <a:cs typeface="Calibri"/>
              </a:rPr>
              <a:t>of</a:t>
            </a:r>
            <a:r>
              <a:rPr sz="2700" spc="-20" dirty="0">
                <a:latin typeface="Calibri"/>
                <a:cs typeface="Calibri"/>
              </a:rPr>
              <a:t> </a:t>
            </a:r>
            <a:r>
              <a:rPr sz="2700" dirty="0">
                <a:latin typeface="Calibri"/>
                <a:cs typeface="Calibri"/>
              </a:rPr>
              <a:t>that</a:t>
            </a:r>
            <a:r>
              <a:rPr sz="2700" spc="-35" dirty="0">
                <a:latin typeface="Calibri"/>
                <a:cs typeface="Calibri"/>
              </a:rPr>
              <a:t> </a:t>
            </a:r>
            <a:r>
              <a:rPr sz="2700" spc="-10" dirty="0">
                <a:latin typeface="Calibri"/>
                <a:cs typeface="Calibri"/>
              </a:rPr>
              <a:t>ion.</a:t>
            </a:r>
            <a:r>
              <a:rPr sz="2700" dirty="0">
                <a:latin typeface="Microsoft Sans Serif"/>
                <a:cs typeface="Microsoft Sans Serif"/>
              </a:rPr>
              <a:t> </a:t>
            </a:r>
            <a:endParaRPr sz="2700">
              <a:latin typeface="Microsoft Sans Serif"/>
              <a:cs typeface="Microsoft Sans Serif"/>
            </a:endParaRPr>
          </a:p>
          <a:p>
            <a:pPr marL="353695" marR="514350" indent="-341630">
              <a:lnSpc>
                <a:spcPts val="2590"/>
              </a:lnSpc>
              <a:spcBef>
                <a:spcPts val="580"/>
              </a:spcBef>
              <a:buFont typeface="Microsoft Sans Serif"/>
              <a:buChar char="•"/>
              <a:tabLst>
                <a:tab pos="353695" algn="l"/>
                <a:tab pos="354330" algn="l"/>
              </a:tabLst>
            </a:pPr>
            <a:r>
              <a:rPr sz="2700" dirty="0">
                <a:latin typeface="Calibri"/>
                <a:cs typeface="Calibri"/>
              </a:rPr>
              <a:t>The</a:t>
            </a:r>
            <a:r>
              <a:rPr sz="2700" spc="-40" dirty="0">
                <a:latin typeface="Calibri"/>
                <a:cs typeface="Calibri"/>
              </a:rPr>
              <a:t> </a:t>
            </a:r>
            <a:r>
              <a:rPr sz="2700" spc="-5" dirty="0">
                <a:latin typeface="Calibri"/>
                <a:cs typeface="Calibri"/>
              </a:rPr>
              <a:t>potential</a:t>
            </a:r>
            <a:r>
              <a:rPr sz="2700" spc="-30" dirty="0">
                <a:latin typeface="Calibri"/>
                <a:cs typeface="Calibri"/>
              </a:rPr>
              <a:t> </a:t>
            </a:r>
            <a:r>
              <a:rPr sz="2700" spc="-5" dirty="0">
                <a:latin typeface="Calibri"/>
                <a:cs typeface="Calibri"/>
              </a:rPr>
              <a:t>develop</a:t>
            </a:r>
            <a:r>
              <a:rPr sz="2700" spc="-85" dirty="0">
                <a:latin typeface="Calibri"/>
                <a:cs typeface="Calibri"/>
              </a:rPr>
              <a:t> </a:t>
            </a:r>
            <a:r>
              <a:rPr sz="2700" dirty="0">
                <a:latin typeface="Calibri"/>
                <a:cs typeface="Calibri"/>
              </a:rPr>
              <a:t>at</a:t>
            </a:r>
            <a:r>
              <a:rPr sz="2700" spc="-30" dirty="0">
                <a:latin typeface="Calibri"/>
                <a:cs typeface="Calibri"/>
              </a:rPr>
              <a:t> </a:t>
            </a:r>
            <a:r>
              <a:rPr sz="2700" spc="5" dirty="0">
                <a:latin typeface="Calibri"/>
                <a:cs typeface="Calibri"/>
              </a:rPr>
              <a:t>the</a:t>
            </a:r>
            <a:r>
              <a:rPr sz="2700" spc="-50" dirty="0">
                <a:latin typeface="Calibri"/>
                <a:cs typeface="Calibri"/>
              </a:rPr>
              <a:t> </a:t>
            </a:r>
            <a:r>
              <a:rPr sz="2700" spc="5" dirty="0">
                <a:latin typeface="Calibri"/>
                <a:cs typeface="Calibri"/>
              </a:rPr>
              <a:t>ion</a:t>
            </a:r>
            <a:r>
              <a:rPr sz="2700" spc="-40" dirty="0">
                <a:latin typeface="Calibri"/>
                <a:cs typeface="Calibri"/>
              </a:rPr>
              <a:t> </a:t>
            </a:r>
            <a:r>
              <a:rPr sz="2700" spc="-5" dirty="0">
                <a:latin typeface="Calibri"/>
                <a:cs typeface="Calibri"/>
              </a:rPr>
              <a:t>sensitive</a:t>
            </a:r>
            <a:r>
              <a:rPr sz="2700" spc="-60" dirty="0">
                <a:latin typeface="Calibri"/>
                <a:cs typeface="Calibri"/>
              </a:rPr>
              <a:t> </a:t>
            </a:r>
            <a:r>
              <a:rPr sz="2700" spc="-5" dirty="0">
                <a:latin typeface="Calibri"/>
                <a:cs typeface="Calibri"/>
              </a:rPr>
              <a:t>sensor</a:t>
            </a:r>
            <a:r>
              <a:rPr sz="2700" spc="-40" dirty="0">
                <a:latin typeface="Calibri"/>
                <a:cs typeface="Calibri"/>
              </a:rPr>
              <a:t> </a:t>
            </a:r>
            <a:r>
              <a:rPr sz="2700" dirty="0">
                <a:latin typeface="Calibri"/>
                <a:cs typeface="Calibri"/>
              </a:rPr>
              <a:t>is</a:t>
            </a:r>
            <a:r>
              <a:rPr sz="2700" spc="-35" dirty="0">
                <a:latin typeface="Calibri"/>
                <a:cs typeface="Calibri"/>
              </a:rPr>
              <a:t> </a:t>
            </a:r>
            <a:r>
              <a:rPr sz="2700" spc="5" dirty="0">
                <a:latin typeface="Calibri"/>
                <a:cs typeface="Calibri"/>
              </a:rPr>
              <a:t>a </a:t>
            </a:r>
            <a:r>
              <a:rPr sz="2700" spc="-595" dirty="0">
                <a:latin typeface="Calibri"/>
                <a:cs typeface="Calibri"/>
              </a:rPr>
              <a:t> </a:t>
            </a:r>
            <a:r>
              <a:rPr sz="2700" dirty="0">
                <a:latin typeface="Calibri"/>
                <a:cs typeface="Calibri"/>
              </a:rPr>
              <a:t>measure</a:t>
            </a:r>
            <a:r>
              <a:rPr sz="2700" spc="-75" dirty="0">
                <a:latin typeface="Calibri"/>
                <a:cs typeface="Calibri"/>
              </a:rPr>
              <a:t> </a:t>
            </a:r>
            <a:r>
              <a:rPr sz="2700" spc="5" dirty="0">
                <a:latin typeface="Calibri"/>
                <a:cs typeface="Calibri"/>
              </a:rPr>
              <a:t>of</a:t>
            </a:r>
            <a:r>
              <a:rPr sz="2700" spc="-45" dirty="0">
                <a:latin typeface="Calibri"/>
                <a:cs typeface="Calibri"/>
              </a:rPr>
              <a:t> </a:t>
            </a:r>
            <a:r>
              <a:rPr sz="2700" dirty="0">
                <a:latin typeface="Calibri"/>
                <a:cs typeface="Calibri"/>
              </a:rPr>
              <a:t>concentration</a:t>
            </a:r>
            <a:r>
              <a:rPr sz="2700" spc="-70" dirty="0">
                <a:latin typeface="Calibri"/>
                <a:cs typeface="Calibri"/>
              </a:rPr>
              <a:t> </a:t>
            </a:r>
            <a:r>
              <a:rPr sz="2700" spc="5" dirty="0">
                <a:latin typeface="Calibri"/>
                <a:cs typeface="Calibri"/>
              </a:rPr>
              <a:t>of</a:t>
            </a:r>
            <a:r>
              <a:rPr sz="2700" spc="-45" dirty="0">
                <a:latin typeface="Calibri"/>
                <a:cs typeface="Calibri"/>
              </a:rPr>
              <a:t> </a:t>
            </a:r>
            <a:r>
              <a:rPr sz="2700" spc="5" dirty="0">
                <a:latin typeface="Calibri"/>
                <a:cs typeface="Calibri"/>
              </a:rPr>
              <a:t>the</a:t>
            </a:r>
            <a:r>
              <a:rPr sz="2700" spc="-55" dirty="0">
                <a:latin typeface="Calibri"/>
                <a:cs typeface="Calibri"/>
              </a:rPr>
              <a:t> </a:t>
            </a:r>
            <a:r>
              <a:rPr sz="2700" spc="-5" dirty="0">
                <a:latin typeface="Calibri"/>
                <a:cs typeface="Calibri"/>
              </a:rPr>
              <a:t>ions</a:t>
            </a:r>
            <a:r>
              <a:rPr sz="2700" spc="-40" dirty="0">
                <a:latin typeface="Calibri"/>
                <a:cs typeface="Calibri"/>
              </a:rPr>
              <a:t> </a:t>
            </a:r>
            <a:r>
              <a:rPr sz="2700" spc="5" dirty="0">
                <a:latin typeface="Calibri"/>
                <a:cs typeface="Calibri"/>
              </a:rPr>
              <a:t>of</a:t>
            </a:r>
            <a:r>
              <a:rPr sz="2700" spc="-55" dirty="0">
                <a:latin typeface="Calibri"/>
                <a:cs typeface="Calibri"/>
              </a:rPr>
              <a:t> </a:t>
            </a:r>
            <a:r>
              <a:rPr sz="2700" spc="-5" dirty="0">
                <a:latin typeface="Calibri"/>
                <a:cs typeface="Calibri"/>
              </a:rPr>
              <a:t>interest.</a:t>
            </a:r>
            <a:r>
              <a:rPr sz="2700" dirty="0">
                <a:latin typeface="Microsoft Sans Serif"/>
                <a:cs typeface="Microsoft Sans Serif"/>
              </a:rPr>
              <a:t> </a:t>
            </a:r>
            <a:endParaRPr sz="2700">
              <a:latin typeface="Microsoft Sans Serif"/>
              <a:cs typeface="Microsoft Sans Serif"/>
            </a:endParaRPr>
          </a:p>
          <a:p>
            <a:pPr marL="353695" marR="124460" indent="-341630">
              <a:lnSpc>
                <a:spcPct val="80000"/>
              </a:lnSpc>
              <a:spcBef>
                <a:spcPts val="650"/>
              </a:spcBef>
              <a:buFont typeface="Microsoft Sans Serif"/>
              <a:buChar char="•"/>
              <a:tabLst>
                <a:tab pos="353695" algn="l"/>
                <a:tab pos="354330" algn="l"/>
              </a:tabLst>
            </a:pPr>
            <a:r>
              <a:rPr sz="2700" dirty="0">
                <a:latin typeface="Calibri"/>
                <a:cs typeface="Calibri"/>
              </a:rPr>
              <a:t>An </a:t>
            </a:r>
            <a:r>
              <a:rPr sz="2700" b="1" dirty="0">
                <a:latin typeface="Calibri"/>
                <a:cs typeface="Calibri"/>
              </a:rPr>
              <a:t>ion</a:t>
            </a:r>
            <a:r>
              <a:rPr sz="2700" dirty="0">
                <a:latin typeface="Calibri"/>
                <a:cs typeface="Calibri"/>
              </a:rPr>
              <a:t>-</a:t>
            </a:r>
            <a:r>
              <a:rPr sz="2700" b="1" dirty="0">
                <a:latin typeface="Calibri"/>
                <a:cs typeface="Calibri"/>
              </a:rPr>
              <a:t>selective </a:t>
            </a:r>
            <a:r>
              <a:rPr sz="2700" b="1" spc="-5" dirty="0">
                <a:latin typeface="Calibri"/>
                <a:cs typeface="Calibri"/>
              </a:rPr>
              <a:t>electrode </a:t>
            </a:r>
            <a:r>
              <a:rPr sz="2700" spc="-5" dirty="0">
                <a:latin typeface="Calibri"/>
                <a:cs typeface="Calibri"/>
              </a:rPr>
              <a:t>(</a:t>
            </a:r>
            <a:r>
              <a:rPr sz="2700" b="1" spc="-5" dirty="0">
                <a:latin typeface="Calibri"/>
                <a:cs typeface="Calibri"/>
              </a:rPr>
              <a:t>ISE</a:t>
            </a:r>
            <a:r>
              <a:rPr sz="2700" spc="-5" dirty="0">
                <a:latin typeface="Calibri"/>
                <a:cs typeface="Calibri"/>
              </a:rPr>
              <a:t>), </a:t>
            </a:r>
            <a:r>
              <a:rPr sz="2700" dirty="0">
                <a:latin typeface="Calibri"/>
                <a:cs typeface="Calibri"/>
              </a:rPr>
              <a:t>also known </a:t>
            </a:r>
            <a:r>
              <a:rPr sz="2700" spc="5" dirty="0">
                <a:latin typeface="Calibri"/>
                <a:cs typeface="Calibri"/>
              </a:rPr>
              <a:t>as a </a:t>
            </a:r>
            <a:r>
              <a:rPr sz="2700" spc="10" dirty="0">
                <a:latin typeface="Calibri"/>
                <a:cs typeface="Calibri"/>
              </a:rPr>
              <a:t> </a:t>
            </a:r>
            <a:r>
              <a:rPr sz="2700" dirty="0">
                <a:latin typeface="Calibri"/>
                <a:cs typeface="Calibri"/>
              </a:rPr>
              <a:t>specific </a:t>
            </a:r>
            <a:r>
              <a:rPr sz="2700" b="1" spc="-5" dirty="0">
                <a:latin typeface="Calibri"/>
                <a:cs typeface="Calibri"/>
              </a:rPr>
              <a:t>ion electrode </a:t>
            </a:r>
            <a:r>
              <a:rPr sz="2700" spc="-5" dirty="0">
                <a:latin typeface="Calibri"/>
                <a:cs typeface="Calibri"/>
              </a:rPr>
              <a:t>(SIE), </a:t>
            </a:r>
            <a:r>
              <a:rPr sz="2700" dirty="0">
                <a:latin typeface="Calibri"/>
                <a:cs typeface="Calibri"/>
              </a:rPr>
              <a:t>is </a:t>
            </a:r>
            <a:r>
              <a:rPr sz="2700" spc="5" dirty="0">
                <a:latin typeface="Calibri"/>
                <a:cs typeface="Calibri"/>
              </a:rPr>
              <a:t>a </a:t>
            </a:r>
            <a:r>
              <a:rPr sz="2700" dirty="0">
                <a:latin typeface="Calibri"/>
                <a:cs typeface="Calibri"/>
              </a:rPr>
              <a:t>transducer (or </a:t>
            </a:r>
            <a:r>
              <a:rPr sz="2700" spc="-5" dirty="0">
                <a:latin typeface="Calibri"/>
                <a:cs typeface="Calibri"/>
              </a:rPr>
              <a:t>sensor) </a:t>
            </a:r>
            <a:r>
              <a:rPr sz="2700" dirty="0">
                <a:latin typeface="Calibri"/>
                <a:cs typeface="Calibri"/>
              </a:rPr>
              <a:t> that</a:t>
            </a:r>
            <a:r>
              <a:rPr sz="2700" spc="-55" dirty="0">
                <a:latin typeface="Calibri"/>
                <a:cs typeface="Calibri"/>
              </a:rPr>
              <a:t> </a:t>
            </a:r>
            <a:r>
              <a:rPr sz="2700" dirty="0">
                <a:latin typeface="Calibri"/>
                <a:cs typeface="Calibri"/>
              </a:rPr>
              <a:t>converts</a:t>
            </a:r>
            <a:r>
              <a:rPr sz="2700" spc="-40" dirty="0">
                <a:latin typeface="Calibri"/>
                <a:cs typeface="Calibri"/>
              </a:rPr>
              <a:t> </a:t>
            </a:r>
            <a:r>
              <a:rPr sz="2700" spc="5" dirty="0">
                <a:latin typeface="Calibri"/>
                <a:cs typeface="Calibri"/>
              </a:rPr>
              <a:t>the</a:t>
            </a:r>
            <a:r>
              <a:rPr sz="2700" spc="-65" dirty="0">
                <a:latin typeface="Calibri"/>
                <a:cs typeface="Calibri"/>
              </a:rPr>
              <a:t> </a:t>
            </a:r>
            <a:r>
              <a:rPr sz="2700" spc="-5" dirty="0">
                <a:latin typeface="Calibri"/>
                <a:cs typeface="Calibri"/>
              </a:rPr>
              <a:t>activity</a:t>
            </a:r>
            <a:r>
              <a:rPr sz="2700" spc="-35" dirty="0">
                <a:latin typeface="Calibri"/>
                <a:cs typeface="Calibri"/>
              </a:rPr>
              <a:t> </a:t>
            </a:r>
            <a:r>
              <a:rPr sz="2700" spc="5" dirty="0">
                <a:latin typeface="Calibri"/>
                <a:cs typeface="Calibri"/>
              </a:rPr>
              <a:t>of</a:t>
            </a:r>
            <a:r>
              <a:rPr sz="2700" spc="-20" dirty="0">
                <a:latin typeface="Calibri"/>
                <a:cs typeface="Calibri"/>
              </a:rPr>
              <a:t> </a:t>
            </a:r>
            <a:r>
              <a:rPr sz="2700" spc="5" dirty="0">
                <a:latin typeface="Calibri"/>
                <a:cs typeface="Calibri"/>
              </a:rPr>
              <a:t>a</a:t>
            </a:r>
            <a:r>
              <a:rPr sz="2700" spc="-40" dirty="0">
                <a:latin typeface="Calibri"/>
                <a:cs typeface="Calibri"/>
              </a:rPr>
              <a:t> </a:t>
            </a:r>
            <a:r>
              <a:rPr sz="2700" spc="-5" dirty="0">
                <a:latin typeface="Calibri"/>
                <a:cs typeface="Calibri"/>
              </a:rPr>
              <a:t>specific</a:t>
            </a:r>
            <a:r>
              <a:rPr sz="2700" spc="-30" dirty="0">
                <a:latin typeface="Calibri"/>
                <a:cs typeface="Calibri"/>
              </a:rPr>
              <a:t> </a:t>
            </a:r>
            <a:r>
              <a:rPr sz="2700" b="1" spc="-5" dirty="0">
                <a:latin typeface="Calibri"/>
                <a:cs typeface="Calibri"/>
              </a:rPr>
              <a:t>ion</a:t>
            </a:r>
            <a:r>
              <a:rPr sz="2700" b="1" spc="-25" dirty="0">
                <a:latin typeface="Calibri"/>
                <a:cs typeface="Calibri"/>
              </a:rPr>
              <a:t> </a:t>
            </a:r>
            <a:r>
              <a:rPr sz="2700" spc="-5" dirty="0">
                <a:latin typeface="Calibri"/>
                <a:cs typeface="Calibri"/>
              </a:rPr>
              <a:t>dissolved</a:t>
            </a:r>
            <a:r>
              <a:rPr sz="2700" spc="-65" dirty="0">
                <a:latin typeface="Calibri"/>
                <a:cs typeface="Calibri"/>
              </a:rPr>
              <a:t> </a:t>
            </a:r>
            <a:r>
              <a:rPr sz="2700" spc="5" dirty="0">
                <a:latin typeface="Calibri"/>
                <a:cs typeface="Calibri"/>
              </a:rPr>
              <a:t>in</a:t>
            </a:r>
            <a:r>
              <a:rPr sz="2700" spc="-25" dirty="0">
                <a:latin typeface="Calibri"/>
                <a:cs typeface="Calibri"/>
              </a:rPr>
              <a:t> </a:t>
            </a:r>
            <a:r>
              <a:rPr sz="2700" spc="5" dirty="0">
                <a:latin typeface="Calibri"/>
                <a:cs typeface="Calibri"/>
              </a:rPr>
              <a:t>a </a:t>
            </a:r>
            <a:r>
              <a:rPr sz="2700" spc="-595" dirty="0">
                <a:latin typeface="Calibri"/>
                <a:cs typeface="Calibri"/>
              </a:rPr>
              <a:t> </a:t>
            </a:r>
            <a:r>
              <a:rPr sz="2700" spc="-5" dirty="0">
                <a:latin typeface="Calibri"/>
                <a:cs typeface="Calibri"/>
              </a:rPr>
              <a:t>solution</a:t>
            </a:r>
            <a:r>
              <a:rPr sz="2700" spc="-40" dirty="0">
                <a:latin typeface="Calibri"/>
                <a:cs typeface="Calibri"/>
              </a:rPr>
              <a:t> </a:t>
            </a:r>
            <a:r>
              <a:rPr sz="2700" spc="-5" dirty="0">
                <a:latin typeface="Calibri"/>
                <a:cs typeface="Calibri"/>
              </a:rPr>
              <a:t>into </a:t>
            </a:r>
            <a:r>
              <a:rPr sz="2700" dirty="0">
                <a:latin typeface="Calibri"/>
                <a:cs typeface="Calibri"/>
              </a:rPr>
              <a:t>an</a:t>
            </a:r>
            <a:r>
              <a:rPr sz="2700" spc="-20" dirty="0">
                <a:latin typeface="Calibri"/>
                <a:cs typeface="Calibri"/>
              </a:rPr>
              <a:t> </a:t>
            </a:r>
            <a:r>
              <a:rPr sz="2700" spc="-5" dirty="0">
                <a:latin typeface="Calibri"/>
                <a:cs typeface="Calibri"/>
              </a:rPr>
              <a:t>electrical</a:t>
            </a:r>
            <a:r>
              <a:rPr sz="2700" spc="-35" dirty="0">
                <a:latin typeface="Calibri"/>
                <a:cs typeface="Calibri"/>
              </a:rPr>
              <a:t> </a:t>
            </a:r>
            <a:r>
              <a:rPr sz="2700" spc="-5" dirty="0">
                <a:latin typeface="Calibri"/>
                <a:cs typeface="Calibri"/>
              </a:rPr>
              <a:t>potential.</a:t>
            </a:r>
            <a:r>
              <a:rPr sz="2700" dirty="0">
                <a:latin typeface="Microsoft Sans Serif"/>
                <a:cs typeface="Microsoft Sans Serif"/>
              </a:rPr>
              <a:t> </a:t>
            </a:r>
            <a:endParaRPr sz="2700">
              <a:latin typeface="Microsoft Sans Serif"/>
              <a:cs typeface="Microsoft Sans Serif"/>
            </a:endParaRPr>
          </a:p>
          <a:p>
            <a:pPr marL="399415" marR="3618229" indent="-387350">
              <a:lnSpc>
                <a:spcPts val="3220"/>
              </a:lnSpc>
              <a:spcBef>
                <a:spcPts val="125"/>
              </a:spcBef>
            </a:pPr>
            <a:r>
              <a:rPr sz="2700" spc="5" dirty="0">
                <a:solidFill>
                  <a:srgbClr val="C00000"/>
                </a:solidFill>
                <a:latin typeface="Calibri"/>
                <a:cs typeface="Calibri"/>
              </a:rPr>
              <a:t>e.g.</a:t>
            </a:r>
            <a:r>
              <a:rPr sz="2700" spc="-25" dirty="0">
                <a:solidFill>
                  <a:srgbClr val="C00000"/>
                </a:solidFill>
                <a:latin typeface="Calibri"/>
                <a:cs typeface="Calibri"/>
              </a:rPr>
              <a:t> </a:t>
            </a:r>
            <a:r>
              <a:rPr sz="2700" dirty="0">
                <a:solidFill>
                  <a:srgbClr val="C00000"/>
                </a:solidFill>
                <a:latin typeface="Calibri"/>
                <a:cs typeface="Calibri"/>
              </a:rPr>
              <a:t>H+</a:t>
            </a:r>
            <a:r>
              <a:rPr sz="2700" spc="-35" dirty="0">
                <a:solidFill>
                  <a:srgbClr val="C00000"/>
                </a:solidFill>
                <a:latin typeface="Calibri"/>
                <a:cs typeface="Calibri"/>
              </a:rPr>
              <a:t> </a:t>
            </a:r>
            <a:r>
              <a:rPr sz="2700" spc="-5" dirty="0">
                <a:solidFill>
                  <a:srgbClr val="C00000"/>
                </a:solidFill>
                <a:latin typeface="Calibri"/>
                <a:cs typeface="Calibri"/>
              </a:rPr>
              <a:t>sensor</a:t>
            </a:r>
            <a:r>
              <a:rPr sz="2700" spc="-55" dirty="0">
                <a:solidFill>
                  <a:srgbClr val="C00000"/>
                </a:solidFill>
                <a:latin typeface="Calibri"/>
                <a:cs typeface="Calibri"/>
              </a:rPr>
              <a:t> </a:t>
            </a:r>
            <a:r>
              <a:rPr sz="2700" dirty="0">
                <a:solidFill>
                  <a:srgbClr val="C00000"/>
                </a:solidFill>
                <a:latin typeface="Calibri"/>
                <a:cs typeface="Calibri"/>
              </a:rPr>
              <a:t>(glass</a:t>
            </a:r>
            <a:r>
              <a:rPr sz="2700" spc="-55" dirty="0">
                <a:solidFill>
                  <a:srgbClr val="C00000"/>
                </a:solidFill>
                <a:latin typeface="Calibri"/>
                <a:cs typeface="Calibri"/>
              </a:rPr>
              <a:t> </a:t>
            </a:r>
            <a:r>
              <a:rPr sz="2700" dirty="0">
                <a:solidFill>
                  <a:srgbClr val="C00000"/>
                </a:solidFill>
                <a:latin typeface="Calibri"/>
                <a:cs typeface="Calibri"/>
              </a:rPr>
              <a:t>electrode)</a:t>
            </a:r>
            <a:r>
              <a:rPr sz="2700" spc="-90" dirty="0">
                <a:solidFill>
                  <a:srgbClr val="C00000"/>
                </a:solidFill>
                <a:latin typeface="Calibri"/>
                <a:cs typeface="Calibri"/>
              </a:rPr>
              <a:t> </a:t>
            </a:r>
            <a:r>
              <a:rPr sz="2700" dirty="0">
                <a:solidFill>
                  <a:srgbClr val="C00000"/>
                </a:solidFill>
                <a:latin typeface="Calibri"/>
                <a:cs typeface="Calibri"/>
              </a:rPr>
              <a:t>; </a:t>
            </a:r>
            <a:r>
              <a:rPr sz="2700" spc="-595" dirty="0">
                <a:solidFill>
                  <a:srgbClr val="C00000"/>
                </a:solidFill>
                <a:latin typeface="Calibri"/>
                <a:cs typeface="Calibri"/>
              </a:rPr>
              <a:t> </a:t>
            </a:r>
            <a:r>
              <a:rPr sz="2700" dirty="0">
                <a:solidFill>
                  <a:srgbClr val="C00000"/>
                </a:solidFill>
                <a:latin typeface="Calibri"/>
                <a:cs typeface="Calibri"/>
              </a:rPr>
              <a:t>Ca++</a:t>
            </a:r>
            <a:r>
              <a:rPr sz="2700" spc="-10" dirty="0">
                <a:solidFill>
                  <a:srgbClr val="C00000"/>
                </a:solidFill>
                <a:latin typeface="Calibri"/>
                <a:cs typeface="Calibri"/>
              </a:rPr>
              <a:t> </a:t>
            </a:r>
            <a:r>
              <a:rPr sz="2700" spc="-5" dirty="0">
                <a:solidFill>
                  <a:srgbClr val="C00000"/>
                </a:solidFill>
                <a:latin typeface="Calibri"/>
                <a:cs typeface="Calibri"/>
              </a:rPr>
              <a:t>(sensor</a:t>
            </a:r>
            <a:r>
              <a:rPr sz="2700" spc="-50" dirty="0">
                <a:solidFill>
                  <a:srgbClr val="C00000"/>
                </a:solidFill>
                <a:latin typeface="Calibri"/>
                <a:cs typeface="Calibri"/>
              </a:rPr>
              <a:t> </a:t>
            </a:r>
            <a:r>
              <a:rPr sz="2700" dirty="0">
                <a:solidFill>
                  <a:srgbClr val="C00000"/>
                </a:solidFill>
                <a:latin typeface="Calibri"/>
                <a:cs typeface="Calibri"/>
              </a:rPr>
              <a:t>Calcium</a:t>
            </a:r>
            <a:r>
              <a:rPr sz="2700" spc="-55" dirty="0">
                <a:solidFill>
                  <a:srgbClr val="C00000"/>
                </a:solidFill>
                <a:latin typeface="Calibri"/>
                <a:cs typeface="Calibri"/>
              </a:rPr>
              <a:t> </a:t>
            </a:r>
            <a:r>
              <a:rPr sz="2700" spc="-5" dirty="0">
                <a:solidFill>
                  <a:srgbClr val="C00000"/>
                </a:solidFill>
                <a:latin typeface="Calibri"/>
                <a:cs typeface="Calibri"/>
              </a:rPr>
              <a:t>ISE)</a:t>
            </a:r>
            <a:endParaRPr sz="2700">
              <a:latin typeface="Calibri"/>
              <a:cs typeface="Calibri"/>
            </a:endParaRPr>
          </a:p>
          <a:p>
            <a:pPr marL="353695" indent="-341630">
              <a:lnSpc>
                <a:spcPts val="3204"/>
              </a:lnSpc>
              <a:buFont typeface="Microsoft Sans Serif"/>
              <a:buChar char="•"/>
              <a:tabLst>
                <a:tab pos="353695" algn="l"/>
                <a:tab pos="354330" algn="l"/>
              </a:tabLst>
            </a:pPr>
            <a:r>
              <a:rPr sz="2700" spc="-5" dirty="0">
                <a:latin typeface="Calibri"/>
                <a:cs typeface="Calibri"/>
              </a:rPr>
              <a:t>It</a:t>
            </a:r>
            <a:r>
              <a:rPr sz="2700" spc="-40" dirty="0">
                <a:latin typeface="Calibri"/>
                <a:cs typeface="Calibri"/>
              </a:rPr>
              <a:t> </a:t>
            </a:r>
            <a:r>
              <a:rPr sz="2700" dirty="0">
                <a:latin typeface="Calibri"/>
                <a:cs typeface="Calibri"/>
              </a:rPr>
              <a:t>is</a:t>
            </a:r>
            <a:r>
              <a:rPr sz="2700" spc="-15" dirty="0">
                <a:latin typeface="Calibri"/>
                <a:cs typeface="Calibri"/>
              </a:rPr>
              <a:t> </a:t>
            </a:r>
            <a:r>
              <a:rPr sz="2700" dirty="0">
                <a:latin typeface="Calibri"/>
                <a:cs typeface="Calibri"/>
              </a:rPr>
              <a:t>also</a:t>
            </a:r>
            <a:r>
              <a:rPr sz="2700" spc="-30" dirty="0">
                <a:latin typeface="Calibri"/>
                <a:cs typeface="Calibri"/>
              </a:rPr>
              <a:t> </a:t>
            </a:r>
            <a:r>
              <a:rPr sz="2700" dirty="0">
                <a:latin typeface="Calibri"/>
                <a:cs typeface="Calibri"/>
              </a:rPr>
              <a:t>called</a:t>
            </a:r>
            <a:r>
              <a:rPr sz="2700" spc="-55" dirty="0">
                <a:latin typeface="Calibri"/>
                <a:cs typeface="Calibri"/>
              </a:rPr>
              <a:t> </a:t>
            </a:r>
            <a:r>
              <a:rPr sz="2700" i="1" spc="-5" dirty="0">
                <a:solidFill>
                  <a:srgbClr val="C00000"/>
                </a:solidFill>
                <a:latin typeface="Calibri"/>
                <a:cs typeface="Calibri"/>
              </a:rPr>
              <a:t>chemical</a:t>
            </a:r>
            <a:r>
              <a:rPr sz="2700" i="1" spc="-15" dirty="0">
                <a:solidFill>
                  <a:srgbClr val="C00000"/>
                </a:solidFill>
                <a:latin typeface="Calibri"/>
                <a:cs typeface="Calibri"/>
              </a:rPr>
              <a:t> </a:t>
            </a:r>
            <a:r>
              <a:rPr sz="2700" i="1" spc="-10" dirty="0">
                <a:solidFill>
                  <a:srgbClr val="C00000"/>
                </a:solidFill>
                <a:latin typeface="Calibri"/>
                <a:cs typeface="Calibri"/>
              </a:rPr>
              <a:t>sensors.</a:t>
            </a:r>
            <a:r>
              <a:rPr sz="2850" i="1" spc="-75" dirty="0">
                <a:latin typeface="Arial"/>
                <a:cs typeface="Arial"/>
              </a:rPr>
              <a:t> </a:t>
            </a:r>
            <a:endParaRPr sz="2850">
              <a:latin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271017"/>
            <a:ext cx="753999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Ion </a:t>
            </a:r>
            <a:r>
              <a:rPr sz="1800" spc="-5" dirty="0">
                <a:latin typeface="Times New Roman"/>
                <a:cs typeface="Times New Roman"/>
              </a:rPr>
              <a:t>selective</a:t>
            </a:r>
            <a:r>
              <a:rPr sz="1800" spc="5" dirty="0">
                <a:latin typeface="Times New Roman"/>
                <a:cs typeface="Times New Roman"/>
              </a:rPr>
              <a:t> </a:t>
            </a:r>
            <a:r>
              <a:rPr sz="1800" spc="-5" dirty="0">
                <a:latin typeface="Times New Roman"/>
                <a:cs typeface="Times New Roman"/>
              </a:rPr>
              <a:t>electrode</a:t>
            </a:r>
            <a:r>
              <a:rPr sz="1800" spc="-10" dirty="0">
                <a:latin typeface="Times New Roman"/>
                <a:cs typeface="Times New Roman"/>
              </a:rPr>
              <a:t> </a:t>
            </a:r>
            <a:r>
              <a:rPr sz="1800" spc="-5" dirty="0">
                <a:latin typeface="Times New Roman"/>
                <a:cs typeface="Times New Roman"/>
              </a:rPr>
              <a:t>detect </a:t>
            </a:r>
            <a:r>
              <a:rPr sz="1800" spc="-10" dirty="0">
                <a:latin typeface="Times New Roman"/>
                <a:cs typeface="Times New Roman"/>
              </a:rPr>
              <a:t>and</a:t>
            </a:r>
            <a:r>
              <a:rPr sz="1800" spc="-5" dirty="0">
                <a:latin typeface="Times New Roman"/>
                <a:cs typeface="Times New Roman"/>
              </a:rPr>
              <a:t> measure</a:t>
            </a:r>
            <a:r>
              <a:rPr sz="1800" spc="15" dirty="0">
                <a:latin typeface="Times New Roman"/>
                <a:cs typeface="Times New Roman"/>
              </a:rPr>
              <a:t> </a:t>
            </a:r>
            <a:r>
              <a:rPr sz="1800" dirty="0">
                <a:latin typeface="Times New Roman"/>
                <a:cs typeface="Times New Roman"/>
              </a:rPr>
              <a:t>the </a:t>
            </a:r>
            <a:r>
              <a:rPr sz="1800" spc="-5" dirty="0">
                <a:latin typeface="Times New Roman"/>
                <a:cs typeface="Times New Roman"/>
              </a:rPr>
              <a:t>concentration</a:t>
            </a:r>
            <a:r>
              <a:rPr sz="1800" spc="-15" dirty="0">
                <a:latin typeface="Times New Roman"/>
                <a:cs typeface="Times New Roman"/>
              </a:rPr>
              <a:t> </a:t>
            </a:r>
            <a:r>
              <a:rPr sz="1800" spc="5" dirty="0">
                <a:latin typeface="Times New Roman"/>
                <a:cs typeface="Times New Roman"/>
              </a:rPr>
              <a:t>of</a:t>
            </a:r>
            <a:r>
              <a:rPr sz="1800" spc="-15" dirty="0">
                <a:latin typeface="Times New Roman"/>
                <a:cs typeface="Times New Roman"/>
              </a:rPr>
              <a:t> </a:t>
            </a:r>
            <a:r>
              <a:rPr sz="1800" dirty="0">
                <a:latin typeface="Times New Roman"/>
                <a:cs typeface="Times New Roman"/>
              </a:rPr>
              <a:t>ion</a:t>
            </a:r>
            <a:r>
              <a:rPr sz="1800" spc="25" dirty="0">
                <a:latin typeface="Times New Roman"/>
                <a:cs typeface="Times New Roman"/>
              </a:rPr>
              <a:t> </a:t>
            </a:r>
            <a:r>
              <a:rPr sz="1800" spc="-10" dirty="0">
                <a:latin typeface="Times New Roman"/>
                <a:cs typeface="Times New Roman"/>
              </a:rPr>
              <a:t>in</a:t>
            </a:r>
            <a:r>
              <a:rPr sz="1800" spc="15" dirty="0">
                <a:latin typeface="Times New Roman"/>
                <a:cs typeface="Times New Roman"/>
              </a:rPr>
              <a:t> </a:t>
            </a:r>
            <a:r>
              <a:rPr sz="1800" dirty="0">
                <a:latin typeface="Times New Roman"/>
                <a:cs typeface="Times New Roman"/>
              </a:rPr>
              <a:t>the</a:t>
            </a:r>
            <a:r>
              <a:rPr sz="1800" spc="15" dirty="0">
                <a:latin typeface="Times New Roman"/>
                <a:cs typeface="Times New Roman"/>
              </a:rPr>
              <a:t> </a:t>
            </a:r>
            <a:r>
              <a:rPr sz="1800" spc="-5" dirty="0">
                <a:latin typeface="Times New Roman"/>
                <a:cs typeface="Times New Roman"/>
              </a:rPr>
              <a:t>solution.</a:t>
            </a:r>
            <a:endParaRPr sz="1800">
              <a:latin typeface="Times New Roman"/>
              <a:cs typeface="Times New Roman"/>
            </a:endParaRPr>
          </a:p>
        </p:txBody>
      </p:sp>
      <p:sp>
        <p:nvSpPr>
          <p:cNvPr id="3" name="object 3"/>
          <p:cNvSpPr txBox="1">
            <a:spLocks noGrp="1"/>
          </p:cNvSpPr>
          <p:nvPr>
            <p:ph type="title"/>
          </p:nvPr>
        </p:nvSpPr>
        <p:spPr>
          <a:xfrm>
            <a:off x="383540" y="551433"/>
            <a:ext cx="4105275" cy="329565"/>
          </a:xfrm>
          <a:prstGeom prst="rect">
            <a:avLst/>
          </a:prstGeom>
        </p:spPr>
        <p:txBody>
          <a:bodyPr vert="horz" wrap="square" lIns="0" tIns="11430" rIns="0" bIns="0" rtlCol="0">
            <a:spAutoFit/>
          </a:bodyPr>
          <a:lstStyle/>
          <a:p>
            <a:pPr marL="12700">
              <a:lnSpc>
                <a:spcPct val="100000"/>
              </a:lnSpc>
              <a:spcBef>
                <a:spcPts val="90"/>
              </a:spcBef>
            </a:pPr>
            <a:r>
              <a:rPr sz="2000" b="1" spc="-5" dirty="0">
                <a:latin typeface="Times New Roman"/>
                <a:cs typeface="Times New Roman"/>
              </a:rPr>
              <a:t>Advantages</a:t>
            </a:r>
            <a:r>
              <a:rPr sz="2000" b="1" spc="-40" dirty="0">
                <a:latin typeface="Times New Roman"/>
                <a:cs typeface="Times New Roman"/>
              </a:rPr>
              <a:t> </a:t>
            </a:r>
            <a:r>
              <a:rPr sz="2000" b="1" dirty="0">
                <a:latin typeface="Times New Roman"/>
                <a:cs typeface="Times New Roman"/>
              </a:rPr>
              <a:t>of</a:t>
            </a:r>
            <a:r>
              <a:rPr sz="2000" b="1" spc="-15" dirty="0">
                <a:latin typeface="Times New Roman"/>
                <a:cs typeface="Times New Roman"/>
              </a:rPr>
              <a:t> </a:t>
            </a:r>
            <a:r>
              <a:rPr sz="2000" b="1" spc="-5" dirty="0">
                <a:latin typeface="Times New Roman"/>
                <a:cs typeface="Times New Roman"/>
              </a:rPr>
              <a:t>Ion selective</a:t>
            </a:r>
            <a:r>
              <a:rPr sz="2000" b="1" spc="-10" dirty="0">
                <a:latin typeface="Times New Roman"/>
                <a:cs typeface="Times New Roman"/>
              </a:rPr>
              <a:t> </a:t>
            </a:r>
            <a:r>
              <a:rPr sz="2000" b="1" spc="-5" dirty="0">
                <a:latin typeface="Times New Roman"/>
                <a:cs typeface="Times New Roman"/>
              </a:rPr>
              <a:t>electrodes</a:t>
            </a:r>
            <a:endParaRPr sz="2000">
              <a:latin typeface="Times New Roman"/>
              <a:cs typeface="Times New Roman"/>
            </a:endParaRPr>
          </a:p>
        </p:txBody>
      </p:sp>
      <p:sp>
        <p:nvSpPr>
          <p:cNvPr id="4" name="object 4"/>
          <p:cNvSpPr txBox="1"/>
          <p:nvPr/>
        </p:nvSpPr>
        <p:spPr>
          <a:xfrm>
            <a:off x="383540" y="850519"/>
            <a:ext cx="8034655" cy="4968875"/>
          </a:xfrm>
          <a:prstGeom prst="rect">
            <a:avLst/>
          </a:prstGeom>
        </p:spPr>
        <p:txBody>
          <a:bodyPr vert="horz" wrap="square" lIns="0" tIns="12700" rIns="0" bIns="0" rtlCol="0">
            <a:spAutoFit/>
          </a:bodyPr>
          <a:lstStyle/>
          <a:p>
            <a:pPr marL="527685" indent="-515620">
              <a:lnSpc>
                <a:spcPct val="100000"/>
              </a:lnSpc>
              <a:spcBef>
                <a:spcPts val="100"/>
              </a:spcBef>
              <a:buAutoNum type="arabicParenR"/>
              <a:tabLst>
                <a:tab pos="527685" algn="l"/>
                <a:tab pos="528320" algn="l"/>
              </a:tabLst>
            </a:pPr>
            <a:r>
              <a:rPr sz="1800" spc="-5" dirty="0">
                <a:latin typeface="Times New Roman"/>
                <a:cs typeface="Times New Roman"/>
              </a:rPr>
              <a:t>Relatively</a:t>
            </a:r>
            <a:r>
              <a:rPr sz="1800" spc="-80" dirty="0">
                <a:latin typeface="Times New Roman"/>
                <a:cs typeface="Times New Roman"/>
              </a:rPr>
              <a:t> </a:t>
            </a:r>
            <a:r>
              <a:rPr sz="1800" spc="-5" dirty="0">
                <a:latin typeface="Times New Roman"/>
                <a:cs typeface="Times New Roman"/>
              </a:rPr>
              <a:t>inexpensive</a:t>
            </a:r>
            <a:r>
              <a:rPr sz="1800" spc="5" dirty="0">
                <a:latin typeface="Times New Roman"/>
                <a:cs typeface="Times New Roman"/>
              </a:rPr>
              <a:t> </a:t>
            </a:r>
            <a:r>
              <a:rPr sz="1800" dirty="0">
                <a:latin typeface="Times New Roman"/>
                <a:cs typeface="Times New Roman"/>
              </a:rPr>
              <a:t>and</a:t>
            </a:r>
            <a:r>
              <a:rPr sz="1800" spc="20" dirty="0">
                <a:latin typeface="Times New Roman"/>
                <a:cs typeface="Times New Roman"/>
              </a:rPr>
              <a:t> </a:t>
            </a:r>
            <a:r>
              <a:rPr sz="1800" spc="-5" dirty="0">
                <a:latin typeface="Times New Roman"/>
                <a:cs typeface="Times New Roman"/>
              </a:rPr>
              <a:t>simple</a:t>
            </a:r>
            <a:r>
              <a:rPr sz="1800" dirty="0">
                <a:latin typeface="Times New Roman"/>
                <a:cs typeface="Times New Roman"/>
              </a:rPr>
              <a:t> to</a:t>
            </a:r>
            <a:r>
              <a:rPr sz="1800" spc="10" dirty="0">
                <a:latin typeface="Times New Roman"/>
                <a:cs typeface="Times New Roman"/>
              </a:rPr>
              <a:t> </a:t>
            </a:r>
            <a:r>
              <a:rPr sz="1800" dirty="0">
                <a:latin typeface="Times New Roman"/>
                <a:cs typeface="Times New Roman"/>
              </a:rPr>
              <a:t>use</a:t>
            </a:r>
            <a:endParaRPr sz="1800">
              <a:latin typeface="Times New Roman"/>
              <a:cs typeface="Times New Roman"/>
            </a:endParaRPr>
          </a:p>
          <a:p>
            <a:pPr marL="527685" indent="-515620">
              <a:lnSpc>
                <a:spcPct val="100000"/>
              </a:lnSpc>
              <a:buAutoNum type="arabicParenR"/>
              <a:tabLst>
                <a:tab pos="527685" algn="l"/>
                <a:tab pos="528320" algn="l"/>
              </a:tabLst>
            </a:pPr>
            <a:r>
              <a:rPr sz="1800" dirty="0">
                <a:latin typeface="Times New Roman"/>
                <a:cs typeface="Times New Roman"/>
              </a:rPr>
              <a:t>Durable</a:t>
            </a:r>
            <a:r>
              <a:rPr sz="1800" spc="-25" dirty="0">
                <a:latin typeface="Times New Roman"/>
                <a:cs typeface="Times New Roman"/>
              </a:rPr>
              <a:t> </a:t>
            </a:r>
            <a:r>
              <a:rPr sz="1800" dirty="0">
                <a:latin typeface="Times New Roman"/>
                <a:cs typeface="Times New Roman"/>
              </a:rPr>
              <a:t>in</a:t>
            </a:r>
            <a:r>
              <a:rPr sz="1800" spc="10" dirty="0">
                <a:latin typeface="Times New Roman"/>
                <a:cs typeface="Times New Roman"/>
              </a:rPr>
              <a:t> </a:t>
            </a:r>
            <a:r>
              <a:rPr sz="1800" spc="-5" dirty="0">
                <a:latin typeface="Times New Roman"/>
                <a:cs typeface="Times New Roman"/>
              </a:rPr>
              <a:t>field </a:t>
            </a:r>
            <a:r>
              <a:rPr sz="1800" dirty="0">
                <a:latin typeface="Times New Roman"/>
                <a:cs typeface="Times New Roman"/>
              </a:rPr>
              <a:t>and</a:t>
            </a:r>
            <a:r>
              <a:rPr sz="1800" spc="10" dirty="0">
                <a:latin typeface="Times New Roman"/>
                <a:cs typeface="Times New Roman"/>
              </a:rPr>
              <a:t> </a:t>
            </a:r>
            <a:r>
              <a:rPr sz="1800" spc="-5" dirty="0">
                <a:latin typeface="Times New Roman"/>
                <a:cs typeface="Times New Roman"/>
              </a:rPr>
              <a:t>laboratory</a:t>
            </a:r>
            <a:r>
              <a:rPr sz="1800" spc="-55" dirty="0">
                <a:latin typeface="Times New Roman"/>
                <a:cs typeface="Times New Roman"/>
              </a:rPr>
              <a:t> </a:t>
            </a:r>
            <a:r>
              <a:rPr sz="1800" spc="-5" dirty="0">
                <a:latin typeface="Times New Roman"/>
                <a:cs typeface="Times New Roman"/>
              </a:rPr>
              <a:t>environment.</a:t>
            </a:r>
            <a:endParaRPr sz="1800">
              <a:latin typeface="Times New Roman"/>
              <a:cs typeface="Times New Roman"/>
            </a:endParaRPr>
          </a:p>
          <a:p>
            <a:pPr marL="527685" indent="-515620">
              <a:lnSpc>
                <a:spcPct val="100000"/>
              </a:lnSpc>
              <a:buAutoNum type="arabicParenR"/>
              <a:tabLst>
                <a:tab pos="527685" algn="l"/>
                <a:tab pos="528320" algn="l"/>
              </a:tabLst>
            </a:pPr>
            <a:r>
              <a:rPr sz="1800" spc="-5" dirty="0">
                <a:latin typeface="Times New Roman"/>
                <a:cs typeface="Times New Roman"/>
              </a:rPr>
              <a:t>Can</a:t>
            </a:r>
            <a:r>
              <a:rPr sz="1800" spc="-10" dirty="0">
                <a:latin typeface="Times New Roman"/>
                <a:cs typeface="Times New Roman"/>
              </a:rPr>
              <a:t> </a:t>
            </a:r>
            <a:r>
              <a:rPr sz="1800" spc="5" dirty="0">
                <a:latin typeface="Times New Roman"/>
                <a:cs typeface="Times New Roman"/>
              </a:rPr>
              <a:t>be</a:t>
            </a:r>
            <a:r>
              <a:rPr sz="1800" spc="-5" dirty="0">
                <a:latin typeface="Times New Roman"/>
                <a:cs typeface="Times New Roman"/>
              </a:rPr>
              <a:t> </a:t>
            </a:r>
            <a:r>
              <a:rPr sz="1800" dirty="0">
                <a:latin typeface="Times New Roman"/>
                <a:cs typeface="Times New Roman"/>
              </a:rPr>
              <a:t>use</a:t>
            </a:r>
            <a:r>
              <a:rPr sz="1800" spc="-15" dirty="0">
                <a:latin typeface="Times New Roman"/>
                <a:cs typeface="Times New Roman"/>
              </a:rPr>
              <a:t> </a:t>
            </a:r>
            <a:r>
              <a:rPr sz="1800" spc="-5" dirty="0">
                <a:latin typeface="Times New Roman"/>
                <a:cs typeface="Times New Roman"/>
              </a:rPr>
              <a:t>for</a:t>
            </a:r>
            <a:r>
              <a:rPr sz="1800" spc="5" dirty="0">
                <a:latin typeface="Times New Roman"/>
                <a:cs typeface="Times New Roman"/>
              </a:rPr>
              <a:t> </a:t>
            </a:r>
            <a:r>
              <a:rPr sz="1800" spc="-5" dirty="0">
                <a:latin typeface="Times New Roman"/>
                <a:cs typeface="Times New Roman"/>
              </a:rPr>
              <a:t>coloured</a:t>
            </a:r>
            <a:r>
              <a:rPr sz="1800" spc="-15" dirty="0">
                <a:latin typeface="Times New Roman"/>
                <a:cs typeface="Times New Roman"/>
              </a:rPr>
              <a:t> </a:t>
            </a:r>
            <a:r>
              <a:rPr sz="1800" dirty="0">
                <a:latin typeface="Times New Roman"/>
                <a:cs typeface="Times New Roman"/>
              </a:rPr>
              <a:t>and</a:t>
            </a:r>
            <a:r>
              <a:rPr sz="1800" spc="-10" dirty="0">
                <a:latin typeface="Times New Roman"/>
                <a:cs typeface="Times New Roman"/>
              </a:rPr>
              <a:t> </a:t>
            </a:r>
            <a:r>
              <a:rPr sz="1800" spc="-5" dirty="0">
                <a:latin typeface="Times New Roman"/>
                <a:cs typeface="Times New Roman"/>
              </a:rPr>
              <a:t>turbid</a:t>
            </a:r>
            <a:r>
              <a:rPr sz="1800" spc="40" dirty="0">
                <a:latin typeface="Times New Roman"/>
                <a:cs typeface="Times New Roman"/>
              </a:rPr>
              <a:t> </a:t>
            </a:r>
            <a:r>
              <a:rPr sz="1800" spc="-10" dirty="0">
                <a:latin typeface="Times New Roman"/>
                <a:cs typeface="Times New Roman"/>
              </a:rPr>
              <a:t>samples.</a:t>
            </a:r>
            <a:endParaRPr sz="1800">
              <a:latin typeface="Times New Roman"/>
              <a:cs typeface="Times New Roman"/>
            </a:endParaRPr>
          </a:p>
          <a:p>
            <a:pPr marL="527685" indent="-515620">
              <a:lnSpc>
                <a:spcPct val="100000"/>
              </a:lnSpc>
              <a:buAutoNum type="arabicParenR"/>
              <a:tabLst>
                <a:tab pos="527685" algn="l"/>
                <a:tab pos="528320" algn="l"/>
              </a:tabLst>
            </a:pPr>
            <a:r>
              <a:rPr sz="1800" spc="-5" dirty="0">
                <a:latin typeface="Times New Roman"/>
                <a:cs typeface="Times New Roman"/>
              </a:rPr>
              <a:t>Can</a:t>
            </a:r>
            <a:r>
              <a:rPr sz="1800" spc="-10" dirty="0">
                <a:latin typeface="Times New Roman"/>
                <a:cs typeface="Times New Roman"/>
              </a:rPr>
              <a:t> </a:t>
            </a:r>
            <a:r>
              <a:rPr sz="1800" spc="5" dirty="0">
                <a:latin typeface="Times New Roman"/>
                <a:cs typeface="Times New Roman"/>
              </a:rPr>
              <a:t>be</a:t>
            </a:r>
            <a:r>
              <a:rPr sz="1800" spc="-5" dirty="0">
                <a:latin typeface="Times New Roman"/>
                <a:cs typeface="Times New Roman"/>
              </a:rPr>
              <a:t> </a:t>
            </a:r>
            <a:r>
              <a:rPr sz="1800" dirty="0">
                <a:latin typeface="Times New Roman"/>
                <a:cs typeface="Times New Roman"/>
              </a:rPr>
              <a:t>use</a:t>
            </a:r>
            <a:r>
              <a:rPr sz="1800" spc="-35" dirty="0">
                <a:latin typeface="Times New Roman"/>
                <a:cs typeface="Times New Roman"/>
              </a:rPr>
              <a:t> </a:t>
            </a:r>
            <a:r>
              <a:rPr sz="1800" spc="-5" dirty="0">
                <a:latin typeface="Times New Roman"/>
                <a:cs typeface="Times New Roman"/>
              </a:rPr>
              <a:t>over</a:t>
            </a:r>
            <a:r>
              <a:rPr sz="1800" spc="10" dirty="0">
                <a:latin typeface="Times New Roman"/>
                <a:cs typeface="Times New Roman"/>
              </a:rPr>
              <a:t> </a:t>
            </a:r>
            <a:r>
              <a:rPr sz="1800" spc="-10" dirty="0">
                <a:latin typeface="Times New Roman"/>
                <a:cs typeface="Times New Roman"/>
              </a:rPr>
              <a:t>wide </a:t>
            </a:r>
            <a:r>
              <a:rPr sz="1800" spc="-5" dirty="0">
                <a:latin typeface="Times New Roman"/>
                <a:cs typeface="Times New Roman"/>
              </a:rPr>
              <a:t>range </a:t>
            </a:r>
            <a:r>
              <a:rPr sz="1800" spc="5" dirty="0">
                <a:latin typeface="Times New Roman"/>
                <a:cs typeface="Times New Roman"/>
              </a:rPr>
              <a:t>of</a:t>
            </a:r>
            <a:r>
              <a:rPr sz="1800" spc="-10" dirty="0">
                <a:latin typeface="Times New Roman"/>
                <a:cs typeface="Times New Roman"/>
              </a:rPr>
              <a:t> </a:t>
            </a:r>
            <a:r>
              <a:rPr sz="1800" spc="-5" dirty="0">
                <a:latin typeface="Times New Roman"/>
                <a:cs typeface="Times New Roman"/>
              </a:rPr>
              <a:t>temperature.</a:t>
            </a:r>
            <a:endParaRPr sz="1800">
              <a:latin typeface="Times New Roman"/>
              <a:cs typeface="Times New Roman"/>
            </a:endParaRPr>
          </a:p>
          <a:p>
            <a:pPr marL="527685" indent="-515620">
              <a:lnSpc>
                <a:spcPct val="100000"/>
              </a:lnSpc>
              <a:buAutoNum type="arabicParenR"/>
              <a:tabLst>
                <a:tab pos="527685" algn="l"/>
                <a:tab pos="528320" algn="l"/>
              </a:tabLst>
            </a:pPr>
            <a:r>
              <a:rPr sz="1800" spc="-5" dirty="0">
                <a:latin typeface="Times New Roman"/>
                <a:cs typeface="Times New Roman"/>
              </a:rPr>
              <a:t>Mechanically</a:t>
            </a:r>
            <a:r>
              <a:rPr sz="1800" spc="-90" dirty="0">
                <a:latin typeface="Times New Roman"/>
                <a:cs typeface="Times New Roman"/>
              </a:rPr>
              <a:t> </a:t>
            </a:r>
            <a:r>
              <a:rPr sz="1800" dirty="0">
                <a:latin typeface="Times New Roman"/>
                <a:cs typeface="Times New Roman"/>
              </a:rPr>
              <a:t>strong.</a:t>
            </a:r>
            <a:endParaRPr sz="1800">
              <a:latin typeface="Times New Roman"/>
              <a:cs typeface="Times New Roman"/>
            </a:endParaRPr>
          </a:p>
          <a:p>
            <a:pPr marL="527685" indent="-515620">
              <a:lnSpc>
                <a:spcPct val="100000"/>
              </a:lnSpc>
              <a:spcBef>
                <a:spcPts val="5"/>
              </a:spcBef>
              <a:buAutoNum type="arabicParenR"/>
              <a:tabLst>
                <a:tab pos="527685" algn="l"/>
                <a:tab pos="528320" algn="l"/>
              </a:tabLst>
            </a:pPr>
            <a:r>
              <a:rPr sz="1800" spc="5" dirty="0">
                <a:latin typeface="Times New Roman"/>
                <a:cs typeface="Times New Roman"/>
              </a:rPr>
              <a:t>Show</a:t>
            </a:r>
            <a:r>
              <a:rPr sz="1800" spc="-40" dirty="0">
                <a:latin typeface="Times New Roman"/>
                <a:cs typeface="Times New Roman"/>
              </a:rPr>
              <a:t> </a:t>
            </a:r>
            <a:r>
              <a:rPr sz="1800" spc="-5" dirty="0">
                <a:latin typeface="Times New Roman"/>
                <a:cs typeface="Times New Roman"/>
              </a:rPr>
              <a:t>resistant</a:t>
            </a:r>
            <a:r>
              <a:rPr sz="1800" spc="15" dirty="0">
                <a:latin typeface="Times New Roman"/>
                <a:cs typeface="Times New Roman"/>
              </a:rPr>
              <a:t> </a:t>
            </a:r>
            <a:r>
              <a:rPr sz="1800" dirty="0">
                <a:latin typeface="Times New Roman"/>
                <a:cs typeface="Times New Roman"/>
              </a:rPr>
              <a:t>to</a:t>
            </a:r>
            <a:r>
              <a:rPr sz="1800" spc="-5" dirty="0">
                <a:latin typeface="Times New Roman"/>
                <a:cs typeface="Times New Roman"/>
              </a:rPr>
              <a:t> solvent</a:t>
            </a:r>
            <a:r>
              <a:rPr sz="1800" spc="20" dirty="0">
                <a:latin typeface="Times New Roman"/>
                <a:cs typeface="Times New Roman"/>
              </a:rPr>
              <a:t> </a:t>
            </a:r>
            <a:r>
              <a:rPr sz="1800" spc="-10" dirty="0">
                <a:latin typeface="Times New Roman"/>
                <a:cs typeface="Times New Roman"/>
              </a:rPr>
              <a:t>and</a:t>
            </a:r>
            <a:r>
              <a:rPr sz="1800" spc="15" dirty="0">
                <a:latin typeface="Times New Roman"/>
                <a:cs typeface="Times New Roman"/>
              </a:rPr>
              <a:t> </a:t>
            </a:r>
            <a:r>
              <a:rPr sz="1800" spc="-10" dirty="0">
                <a:latin typeface="Times New Roman"/>
                <a:cs typeface="Times New Roman"/>
              </a:rPr>
              <a:t>chemical</a:t>
            </a:r>
            <a:r>
              <a:rPr sz="1800" spc="20" dirty="0">
                <a:latin typeface="Times New Roman"/>
                <a:cs typeface="Times New Roman"/>
              </a:rPr>
              <a:t> </a:t>
            </a:r>
            <a:r>
              <a:rPr sz="1800" spc="-10" dirty="0">
                <a:latin typeface="Times New Roman"/>
                <a:cs typeface="Times New Roman"/>
              </a:rPr>
              <a:t>attack.</a:t>
            </a:r>
            <a:endParaRPr sz="1800">
              <a:latin typeface="Times New Roman"/>
              <a:cs typeface="Times New Roman"/>
            </a:endParaRPr>
          </a:p>
          <a:p>
            <a:pPr marL="12700">
              <a:lnSpc>
                <a:spcPct val="100000"/>
              </a:lnSpc>
            </a:pPr>
            <a:r>
              <a:rPr sz="1800" dirty="0">
                <a:solidFill>
                  <a:srgbClr val="C00000"/>
                </a:solidFill>
                <a:latin typeface="Times New Roman"/>
                <a:cs typeface="Times New Roman"/>
              </a:rPr>
              <a:t>ISEs</a:t>
            </a:r>
            <a:r>
              <a:rPr sz="1800" spc="20" dirty="0">
                <a:solidFill>
                  <a:srgbClr val="C00000"/>
                </a:solidFill>
                <a:latin typeface="Times New Roman"/>
                <a:cs typeface="Times New Roman"/>
              </a:rPr>
              <a:t> </a:t>
            </a:r>
            <a:r>
              <a:rPr sz="1800" spc="-5" dirty="0">
                <a:solidFill>
                  <a:srgbClr val="C00000"/>
                </a:solidFill>
                <a:latin typeface="Times New Roman"/>
                <a:cs typeface="Times New Roman"/>
              </a:rPr>
              <a:t>widely</a:t>
            </a:r>
            <a:r>
              <a:rPr sz="1800" spc="-15" dirty="0">
                <a:solidFill>
                  <a:srgbClr val="C00000"/>
                </a:solidFill>
                <a:latin typeface="Times New Roman"/>
                <a:cs typeface="Times New Roman"/>
              </a:rPr>
              <a:t> </a:t>
            </a:r>
            <a:r>
              <a:rPr sz="1800" spc="-5" dirty="0">
                <a:solidFill>
                  <a:srgbClr val="C00000"/>
                </a:solidFill>
                <a:latin typeface="Times New Roman"/>
                <a:cs typeface="Times New Roman"/>
              </a:rPr>
              <a:t>used</a:t>
            </a:r>
            <a:r>
              <a:rPr sz="1800" spc="25" dirty="0">
                <a:solidFill>
                  <a:srgbClr val="C00000"/>
                </a:solidFill>
                <a:latin typeface="Times New Roman"/>
                <a:cs typeface="Times New Roman"/>
              </a:rPr>
              <a:t> </a:t>
            </a:r>
            <a:r>
              <a:rPr sz="1800" spc="-5" dirty="0">
                <a:solidFill>
                  <a:srgbClr val="C00000"/>
                </a:solidFill>
                <a:latin typeface="Times New Roman"/>
                <a:cs typeface="Times New Roman"/>
              </a:rPr>
              <a:t>for</a:t>
            </a:r>
            <a:r>
              <a:rPr sz="1800" spc="45" dirty="0">
                <a:solidFill>
                  <a:srgbClr val="C00000"/>
                </a:solidFill>
                <a:latin typeface="Times New Roman"/>
                <a:cs typeface="Times New Roman"/>
              </a:rPr>
              <a:t> </a:t>
            </a:r>
            <a:r>
              <a:rPr sz="1800" spc="-10" dirty="0">
                <a:solidFill>
                  <a:srgbClr val="C00000"/>
                </a:solidFill>
                <a:latin typeface="Times New Roman"/>
                <a:cs typeface="Times New Roman"/>
              </a:rPr>
              <a:t>chemical,</a:t>
            </a:r>
            <a:r>
              <a:rPr sz="1800" spc="5" dirty="0">
                <a:solidFill>
                  <a:srgbClr val="C00000"/>
                </a:solidFill>
                <a:latin typeface="Times New Roman"/>
                <a:cs typeface="Times New Roman"/>
              </a:rPr>
              <a:t> </a:t>
            </a:r>
            <a:r>
              <a:rPr sz="1800" spc="-5" dirty="0">
                <a:solidFill>
                  <a:srgbClr val="C00000"/>
                </a:solidFill>
                <a:latin typeface="Times New Roman"/>
                <a:cs typeface="Times New Roman"/>
              </a:rPr>
              <a:t>environmental,</a:t>
            </a:r>
            <a:r>
              <a:rPr sz="1800" spc="30" dirty="0">
                <a:solidFill>
                  <a:srgbClr val="C00000"/>
                </a:solidFill>
                <a:latin typeface="Times New Roman"/>
                <a:cs typeface="Times New Roman"/>
              </a:rPr>
              <a:t> </a:t>
            </a:r>
            <a:r>
              <a:rPr sz="1800" spc="-5" dirty="0">
                <a:solidFill>
                  <a:srgbClr val="C00000"/>
                </a:solidFill>
                <a:latin typeface="Times New Roman"/>
                <a:cs typeface="Times New Roman"/>
              </a:rPr>
              <a:t>clinical,</a:t>
            </a:r>
            <a:r>
              <a:rPr sz="1800" spc="-15" dirty="0">
                <a:solidFill>
                  <a:srgbClr val="C00000"/>
                </a:solidFill>
                <a:latin typeface="Times New Roman"/>
                <a:cs typeface="Times New Roman"/>
              </a:rPr>
              <a:t> </a:t>
            </a:r>
            <a:r>
              <a:rPr sz="1800" spc="-5" dirty="0">
                <a:solidFill>
                  <a:srgbClr val="C00000"/>
                </a:solidFill>
                <a:latin typeface="Times New Roman"/>
                <a:cs typeface="Times New Roman"/>
              </a:rPr>
              <a:t>pharmaceutical</a:t>
            </a:r>
            <a:r>
              <a:rPr sz="1800" spc="5" dirty="0">
                <a:solidFill>
                  <a:srgbClr val="C00000"/>
                </a:solidFill>
                <a:latin typeface="Times New Roman"/>
                <a:cs typeface="Times New Roman"/>
              </a:rPr>
              <a:t> </a:t>
            </a:r>
            <a:r>
              <a:rPr sz="1800" spc="-5" dirty="0">
                <a:solidFill>
                  <a:srgbClr val="C00000"/>
                </a:solidFill>
                <a:latin typeface="Times New Roman"/>
                <a:cs typeface="Times New Roman"/>
              </a:rPr>
              <a:t>food</a:t>
            </a:r>
            <a:r>
              <a:rPr sz="1800" spc="20" dirty="0">
                <a:solidFill>
                  <a:srgbClr val="C00000"/>
                </a:solidFill>
                <a:latin typeface="Times New Roman"/>
                <a:cs typeface="Times New Roman"/>
              </a:rPr>
              <a:t> </a:t>
            </a:r>
            <a:r>
              <a:rPr sz="1800" spc="-10" dirty="0">
                <a:solidFill>
                  <a:srgbClr val="C00000"/>
                </a:solidFill>
                <a:latin typeface="Times New Roman"/>
                <a:cs typeface="Times New Roman"/>
              </a:rPr>
              <a:t>analysis.</a:t>
            </a:r>
            <a:endParaRPr sz="1800">
              <a:latin typeface="Times New Roman"/>
              <a:cs typeface="Times New Roman"/>
            </a:endParaRPr>
          </a:p>
          <a:p>
            <a:pPr>
              <a:lnSpc>
                <a:spcPct val="100000"/>
              </a:lnSpc>
            </a:pPr>
            <a:endParaRPr sz="2000">
              <a:latin typeface="Times New Roman"/>
              <a:cs typeface="Times New Roman"/>
            </a:endParaRPr>
          </a:p>
          <a:p>
            <a:pPr marL="12700" marR="5080">
              <a:lnSpc>
                <a:spcPct val="130500"/>
              </a:lnSpc>
              <a:spcBef>
                <a:spcPts val="1675"/>
              </a:spcBef>
            </a:pPr>
            <a:r>
              <a:rPr sz="2100" b="1" dirty="0">
                <a:solidFill>
                  <a:srgbClr val="C00000"/>
                </a:solidFill>
                <a:latin typeface="Times New Roman"/>
                <a:cs typeface="Times New Roman"/>
              </a:rPr>
              <a:t>Based</a:t>
            </a:r>
            <a:r>
              <a:rPr sz="2100" b="1" spc="-40" dirty="0">
                <a:solidFill>
                  <a:srgbClr val="C00000"/>
                </a:solidFill>
                <a:latin typeface="Times New Roman"/>
                <a:cs typeface="Times New Roman"/>
              </a:rPr>
              <a:t> </a:t>
            </a:r>
            <a:r>
              <a:rPr sz="2100" b="1" spc="5" dirty="0">
                <a:solidFill>
                  <a:srgbClr val="C00000"/>
                </a:solidFill>
                <a:latin typeface="Times New Roman"/>
                <a:cs typeface="Times New Roman"/>
              </a:rPr>
              <a:t>on</a:t>
            </a:r>
            <a:r>
              <a:rPr sz="2100" b="1" spc="-15" dirty="0">
                <a:solidFill>
                  <a:srgbClr val="C00000"/>
                </a:solidFill>
                <a:latin typeface="Times New Roman"/>
                <a:cs typeface="Times New Roman"/>
              </a:rPr>
              <a:t> </a:t>
            </a:r>
            <a:r>
              <a:rPr sz="2100" b="1" spc="-5" dirty="0">
                <a:solidFill>
                  <a:srgbClr val="C00000"/>
                </a:solidFill>
                <a:latin typeface="Times New Roman"/>
                <a:cs typeface="Times New Roman"/>
              </a:rPr>
              <a:t>type</a:t>
            </a:r>
            <a:r>
              <a:rPr sz="2100" b="1" spc="-20" dirty="0">
                <a:solidFill>
                  <a:srgbClr val="C00000"/>
                </a:solidFill>
                <a:latin typeface="Times New Roman"/>
                <a:cs typeface="Times New Roman"/>
              </a:rPr>
              <a:t> </a:t>
            </a:r>
            <a:r>
              <a:rPr sz="2100" b="1" spc="5" dirty="0">
                <a:solidFill>
                  <a:srgbClr val="C00000"/>
                </a:solidFill>
                <a:latin typeface="Times New Roman"/>
                <a:cs typeface="Times New Roman"/>
              </a:rPr>
              <a:t>of</a:t>
            </a:r>
            <a:r>
              <a:rPr sz="2100" b="1" dirty="0">
                <a:solidFill>
                  <a:srgbClr val="C00000"/>
                </a:solidFill>
                <a:latin typeface="Times New Roman"/>
                <a:cs typeface="Times New Roman"/>
              </a:rPr>
              <a:t> </a:t>
            </a:r>
            <a:r>
              <a:rPr sz="2100" b="1" spc="-5" dirty="0">
                <a:solidFill>
                  <a:srgbClr val="C00000"/>
                </a:solidFill>
                <a:latin typeface="Times New Roman"/>
                <a:cs typeface="Times New Roman"/>
              </a:rPr>
              <a:t>membrane,</a:t>
            </a:r>
            <a:r>
              <a:rPr sz="2100" b="1" spc="5" dirty="0">
                <a:solidFill>
                  <a:srgbClr val="C00000"/>
                </a:solidFill>
                <a:latin typeface="Times New Roman"/>
                <a:cs typeface="Times New Roman"/>
              </a:rPr>
              <a:t> Ion</a:t>
            </a:r>
            <a:r>
              <a:rPr sz="2100" b="1" spc="-20" dirty="0">
                <a:solidFill>
                  <a:srgbClr val="C00000"/>
                </a:solidFill>
                <a:latin typeface="Times New Roman"/>
                <a:cs typeface="Times New Roman"/>
              </a:rPr>
              <a:t> </a:t>
            </a:r>
            <a:r>
              <a:rPr sz="2100" b="1" spc="5" dirty="0">
                <a:solidFill>
                  <a:srgbClr val="C00000"/>
                </a:solidFill>
                <a:latin typeface="Times New Roman"/>
                <a:cs typeface="Times New Roman"/>
              </a:rPr>
              <a:t>– </a:t>
            </a:r>
            <a:r>
              <a:rPr sz="2100" b="1" spc="-5" dirty="0">
                <a:solidFill>
                  <a:srgbClr val="C00000"/>
                </a:solidFill>
                <a:latin typeface="Times New Roman"/>
                <a:cs typeface="Times New Roman"/>
              </a:rPr>
              <a:t>selective</a:t>
            </a:r>
            <a:r>
              <a:rPr sz="2100" b="1" spc="-20" dirty="0">
                <a:solidFill>
                  <a:srgbClr val="C00000"/>
                </a:solidFill>
                <a:latin typeface="Times New Roman"/>
                <a:cs typeface="Times New Roman"/>
              </a:rPr>
              <a:t> </a:t>
            </a:r>
            <a:r>
              <a:rPr sz="2100" b="1" dirty="0">
                <a:solidFill>
                  <a:srgbClr val="C00000"/>
                </a:solidFill>
                <a:latin typeface="Times New Roman"/>
                <a:cs typeface="Times New Roman"/>
              </a:rPr>
              <a:t>electrodes</a:t>
            </a:r>
            <a:r>
              <a:rPr sz="2100" b="1" spc="-30" dirty="0">
                <a:solidFill>
                  <a:srgbClr val="C00000"/>
                </a:solidFill>
                <a:latin typeface="Times New Roman"/>
                <a:cs typeface="Times New Roman"/>
              </a:rPr>
              <a:t> </a:t>
            </a:r>
            <a:r>
              <a:rPr sz="2100" b="1" spc="5" dirty="0">
                <a:solidFill>
                  <a:srgbClr val="C00000"/>
                </a:solidFill>
                <a:latin typeface="Times New Roman"/>
                <a:cs typeface="Times New Roman"/>
              </a:rPr>
              <a:t>can</a:t>
            </a:r>
            <a:r>
              <a:rPr sz="2100" b="1" spc="-15" dirty="0">
                <a:solidFill>
                  <a:srgbClr val="C00000"/>
                </a:solidFill>
                <a:latin typeface="Times New Roman"/>
                <a:cs typeface="Times New Roman"/>
              </a:rPr>
              <a:t> </a:t>
            </a:r>
            <a:r>
              <a:rPr sz="2100" b="1" spc="5" dirty="0">
                <a:solidFill>
                  <a:srgbClr val="C00000"/>
                </a:solidFill>
                <a:latin typeface="Times New Roman"/>
                <a:cs typeface="Times New Roman"/>
              </a:rPr>
              <a:t>be </a:t>
            </a:r>
            <a:r>
              <a:rPr sz="2100" b="1" spc="-5" dirty="0">
                <a:solidFill>
                  <a:srgbClr val="C00000"/>
                </a:solidFill>
                <a:latin typeface="Times New Roman"/>
                <a:cs typeface="Times New Roman"/>
              </a:rPr>
              <a:t>classified </a:t>
            </a:r>
            <a:r>
              <a:rPr sz="2100" b="1" spc="-509" dirty="0">
                <a:solidFill>
                  <a:srgbClr val="C00000"/>
                </a:solidFill>
                <a:latin typeface="Times New Roman"/>
                <a:cs typeface="Times New Roman"/>
              </a:rPr>
              <a:t> </a:t>
            </a:r>
            <a:r>
              <a:rPr sz="2100" b="1" dirty="0">
                <a:solidFill>
                  <a:srgbClr val="C00000"/>
                </a:solidFill>
                <a:latin typeface="Times New Roman"/>
                <a:cs typeface="Times New Roman"/>
              </a:rPr>
              <a:t>into</a:t>
            </a:r>
            <a:r>
              <a:rPr sz="2100" b="1" spc="-30" dirty="0">
                <a:solidFill>
                  <a:srgbClr val="C00000"/>
                </a:solidFill>
                <a:latin typeface="Times New Roman"/>
                <a:cs typeface="Times New Roman"/>
              </a:rPr>
              <a:t> </a:t>
            </a:r>
            <a:r>
              <a:rPr sz="2100" b="1" dirty="0">
                <a:solidFill>
                  <a:srgbClr val="C00000"/>
                </a:solidFill>
                <a:latin typeface="Times New Roman"/>
                <a:cs typeface="Times New Roman"/>
              </a:rPr>
              <a:t>various</a:t>
            </a:r>
            <a:r>
              <a:rPr sz="2100" b="1" spc="-25" dirty="0">
                <a:solidFill>
                  <a:srgbClr val="C00000"/>
                </a:solidFill>
                <a:latin typeface="Times New Roman"/>
                <a:cs typeface="Times New Roman"/>
              </a:rPr>
              <a:t> </a:t>
            </a:r>
            <a:r>
              <a:rPr sz="2100" b="1" spc="-5" dirty="0">
                <a:solidFill>
                  <a:srgbClr val="C00000"/>
                </a:solidFill>
                <a:latin typeface="Times New Roman"/>
                <a:cs typeface="Times New Roman"/>
              </a:rPr>
              <a:t>types</a:t>
            </a:r>
            <a:endParaRPr sz="2100">
              <a:latin typeface="Times New Roman"/>
              <a:cs typeface="Times New Roman"/>
            </a:endParaRPr>
          </a:p>
          <a:p>
            <a:pPr marL="527685" indent="-515620">
              <a:lnSpc>
                <a:spcPct val="100000"/>
              </a:lnSpc>
              <a:spcBef>
                <a:spcPts val="710"/>
              </a:spcBef>
              <a:buAutoNum type="arabicParenR"/>
              <a:tabLst>
                <a:tab pos="527685" algn="l"/>
                <a:tab pos="528320" algn="l"/>
              </a:tabLst>
            </a:pPr>
            <a:r>
              <a:rPr sz="1800" spc="-5" dirty="0">
                <a:latin typeface="Times New Roman"/>
                <a:cs typeface="Times New Roman"/>
              </a:rPr>
              <a:t>Glass</a:t>
            </a:r>
            <a:r>
              <a:rPr sz="1800" spc="-15" dirty="0">
                <a:latin typeface="Times New Roman"/>
                <a:cs typeface="Times New Roman"/>
              </a:rPr>
              <a:t> </a:t>
            </a:r>
            <a:r>
              <a:rPr sz="1800" spc="-10" dirty="0">
                <a:latin typeface="Times New Roman"/>
                <a:cs typeface="Times New Roman"/>
              </a:rPr>
              <a:t>membrane </a:t>
            </a:r>
            <a:r>
              <a:rPr sz="1800" dirty="0">
                <a:latin typeface="Times New Roman"/>
                <a:cs typeface="Times New Roman"/>
              </a:rPr>
              <a:t>electrode</a:t>
            </a:r>
            <a:endParaRPr sz="1800">
              <a:latin typeface="Times New Roman"/>
              <a:cs typeface="Times New Roman"/>
            </a:endParaRPr>
          </a:p>
          <a:p>
            <a:pPr marL="527685" indent="-515620">
              <a:lnSpc>
                <a:spcPct val="100000"/>
              </a:lnSpc>
              <a:spcBef>
                <a:spcPts val="430"/>
              </a:spcBef>
              <a:buAutoNum type="arabicParenR"/>
              <a:tabLst>
                <a:tab pos="527685" algn="l"/>
                <a:tab pos="528320" algn="l"/>
              </a:tabLst>
            </a:pPr>
            <a:r>
              <a:rPr sz="1800" spc="-5" dirty="0">
                <a:latin typeface="Times New Roman"/>
                <a:cs typeface="Times New Roman"/>
              </a:rPr>
              <a:t>Solid</a:t>
            </a:r>
            <a:r>
              <a:rPr sz="1800" spc="-15" dirty="0">
                <a:latin typeface="Times New Roman"/>
                <a:cs typeface="Times New Roman"/>
              </a:rPr>
              <a:t> </a:t>
            </a:r>
            <a:r>
              <a:rPr sz="1800" dirty="0">
                <a:latin typeface="Times New Roman"/>
                <a:cs typeface="Times New Roman"/>
              </a:rPr>
              <a:t>–</a:t>
            </a:r>
            <a:r>
              <a:rPr sz="1800" spc="10" dirty="0">
                <a:latin typeface="Times New Roman"/>
                <a:cs typeface="Times New Roman"/>
              </a:rPr>
              <a:t> </a:t>
            </a:r>
            <a:r>
              <a:rPr sz="1800" spc="-5" dirty="0">
                <a:latin typeface="Times New Roman"/>
                <a:cs typeface="Times New Roman"/>
              </a:rPr>
              <a:t>State</a:t>
            </a:r>
            <a:r>
              <a:rPr sz="1800" spc="-35" dirty="0">
                <a:latin typeface="Times New Roman"/>
                <a:cs typeface="Times New Roman"/>
              </a:rPr>
              <a:t> </a:t>
            </a:r>
            <a:r>
              <a:rPr sz="1800" spc="-5" dirty="0">
                <a:latin typeface="Times New Roman"/>
                <a:cs typeface="Times New Roman"/>
              </a:rPr>
              <a:t>membrane</a:t>
            </a:r>
            <a:r>
              <a:rPr sz="1800" dirty="0">
                <a:latin typeface="Times New Roman"/>
                <a:cs typeface="Times New Roman"/>
              </a:rPr>
              <a:t> </a:t>
            </a:r>
            <a:r>
              <a:rPr sz="1800" spc="-5" dirty="0">
                <a:latin typeface="Times New Roman"/>
                <a:cs typeface="Times New Roman"/>
              </a:rPr>
              <a:t>Electrode</a:t>
            </a:r>
            <a:endParaRPr sz="1800">
              <a:latin typeface="Times New Roman"/>
              <a:cs typeface="Times New Roman"/>
            </a:endParaRPr>
          </a:p>
          <a:p>
            <a:pPr marL="527685" indent="-515620">
              <a:lnSpc>
                <a:spcPct val="100000"/>
              </a:lnSpc>
              <a:spcBef>
                <a:spcPts val="434"/>
              </a:spcBef>
              <a:buAutoNum type="arabicParenR"/>
              <a:tabLst>
                <a:tab pos="527685" algn="l"/>
                <a:tab pos="528320" algn="l"/>
              </a:tabLst>
            </a:pPr>
            <a:r>
              <a:rPr sz="1800" spc="-5" dirty="0">
                <a:latin typeface="Times New Roman"/>
                <a:cs typeface="Times New Roman"/>
              </a:rPr>
              <a:t>Enzyme</a:t>
            </a:r>
            <a:r>
              <a:rPr sz="1800" spc="-50" dirty="0">
                <a:latin typeface="Times New Roman"/>
                <a:cs typeface="Times New Roman"/>
              </a:rPr>
              <a:t> </a:t>
            </a:r>
            <a:r>
              <a:rPr sz="1800" spc="-5" dirty="0">
                <a:latin typeface="Times New Roman"/>
                <a:cs typeface="Times New Roman"/>
              </a:rPr>
              <a:t>based</a:t>
            </a:r>
            <a:r>
              <a:rPr sz="1800" spc="15" dirty="0">
                <a:latin typeface="Times New Roman"/>
                <a:cs typeface="Times New Roman"/>
              </a:rPr>
              <a:t> </a:t>
            </a:r>
            <a:r>
              <a:rPr sz="1800" spc="-5" dirty="0">
                <a:latin typeface="Times New Roman"/>
                <a:cs typeface="Times New Roman"/>
              </a:rPr>
              <a:t>membrane</a:t>
            </a:r>
            <a:r>
              <a:rPr sz="1800" dirty="0">
                <a:latin typeface="Times New Roman"/>
                <a:cs typeface="Times New Roman"/>
              </a:rPr>
              <a:t> / </a:t>
            </a:r>
            <a:r>
              <a:rPr sz="1800" spc="-5" dirty="0">
                <a:latin typeface="Times New Roman"/>
                <a:cs typeface="Times New Roman"/>
              </a:rPr>
              <a:t>Biochemical</a:t>
            </a:r>
            <a:r>
              <a:rPr sz="1800" spc="10" dirty="0">
                <a:latin typeface="Times New Roman"/>
                <a:cs typeface="Times New Roman"/>
              </a:rPr>
              <a:t> </a:t>
            </a:r>
            <a:r>
              <a:rPr sz="1800" spc="-5" dirty="0">
                <a:latin typeface="Times New Roman"/>
                <a:cs typeface="Times New Roman"/>
              </a:rPr>
              <a:t>electrode</a:t>
            </a:r>
            <a:endParaRPr sz="1800">
              <a:latin typeface="Times New Roman"/>
              <a:cs typeface="Times New Roman"/>
            </a:endParaRPr>
          </a:p>
          <a:p>
            <a:pPr marL="524510" indent="-512445">
              <a:lnSpc>
                <a:spcPct val="100000"/>
              </a:lnSpc>
              <a:spcBef>
                <a:spcPts val="434"/>
              </a:spcBef>
              <a:buAutoNum type="arabicParenR"/>
              <a:tabLst>
                <a:tab pos="524510" algn="l"/>
                <a:tab pos="525145" algn="l"/>
              </a:tabLst>
            </a:pPr>
            <a:r>
              <a:rPr sz="1800" spc="-10" dirty="0">
                <a:latin typeface="Times New Roman"/>
                <a:cs typeface="Times New Roman"/>
              </a:rPr>
              <a:t>Gas</a:t>
            </a:r>
            <a:r>
              <a:rPr sz="1800" spc="-15" dirty="0">
                <a:latin typeface="Times New Roman"/>
                <a:cs typeface="Times New Roman"/>
              </a:rPr>
              <a:t> </a:t>
            </a:r>
            <a:r>
              <a:rPr sz="1800" dirty="0">
                <a:latin typeface="Times New Roman"/>
                <a:cs typeface="Times New Roman"/>
              </a:rPr>
              <a:t>Sensing</a:t>
            </a:r>
            <a:r>
              <a:rPr sz="1800" spc="-10" dirty="0">
                <a:latin typeface="Times New Roman"/>
                <a:cs typeface="Times New Roman"/>
              </a:rPr>
              <a:t> </a:t>
            </a:r>
            <a:r>
              <a:rPr sz="1800" spc="-5" dirty="0">
                <a:latin typeface="Times New Roman"/>
                <a:cs typeface="Times New Roman"/>
              </a:rPr>
              <a:t>electrode</a:t>
            </a:r>
            <a:endParaRPr sz="1800">
              <a:latin typeface="Times New Roman"/>
              <a:cs typeface="Times New Roman"/>
            </a:endParaRPr>
          </a:p>
          <a:p>
            <a:pPr marL="582930" indent="-570865">
              <a:lnSpc>
                <a:spcPct val="100000"/>
              </a:lnSpc>
              <a:spcBef>
                <a:spcPts val="434"/>
              </a:spcBef>
              <a:buAutoNum type="arabicParenR"/>
              <a:tabLst>
                <a:tab pos="582295" algn="l"/>
                <a:tab pos="583565" algn="l"/>
              </a:tabLst>
            </a:pPr>
            <a:r>
              <a:rPr sz="1800" spc="-5" dirty="0">
                <a:latin typeface="Times New Roman"/>
                <a:cs typeface="Times New Roman"/>
              </a:rPr>
              <a:t>Liquid-liquid</a:t>
            </a:r>
            <a:r>
              <a:rPr sz="1800" spc="5" dirty="0">
                <a:latin typeface="Times New Roman"/>
                <a:cs typeface="Times New Roman"/>
              </a:rPr>
              <a:t> </a:t>
            </a:r>
            <a:r>
              <a:rPr sz="1800" spc="-10" dirty="0">
                <a:latin typeface="Times New Roman"/>
                <a:cs typeface="Times New Roman"/>
              </a:rPr>
              <a:t>membrane</a:t>
            </a:r>
            <a:r>
              <a:rPr sz="1800" spc="15" dirty="0">
                <a:latin typeface="Times New Roman"/>
                <a:cs typeface="Times New Roman"/>
              </a:rPr>
              <a:t> </a:t>
            </a:r>
            <a:r>
              <a:rPr sz="1800" spc="-5" dirty="0">
                <a:latin typeface="Times New Roman"/>
                <a:cs typeface="Times New Roman"/>
              </a:rPr>
              <a:t>electrode</a:t>
            </a:r>
            <a:endParaRPr sz="1800">
              <a:latin typeface="Times New Roman"/>
              <a:cs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09244" y="271018"/>
            <a:ext cx="8238490" cy="5089525"/>
          </a:xfrm>
          <a:prstGeom prst="rect">
            <a:avLst/>
          </a:prstGeom>
        </p:spPr>
        <p:txBody>
          <a:bodyPr vert="horz" wrap="square" lIns="0" tIns="11430" rIns="0" bIns="0" rtlCol="0">
            <a:spAutoFit/>
          </a:bodyPr>
          <a:lstStyle/>
          <a:p>
            <a:pPr marL="404495" indent="-341630">
              <a:lnSpc>
                <a:spcPts val="2305"/>
              </a:lnSpc>
              <a:spcBef>
                <a:spcPts val="90"/>
              </a:spcBef>
              <a:buFont typeface="Microsoft Sans Serif"/>
              <a:buChar char="•"/>
              <a:tabLst>
                <a:tab pos="404495" algn="l"/>
                <a:tab pos="405130" algn="l"/>
              </a:tabLst>
            </a:pPr>
            <a:r>
              <a:rPr sz="2000" spc="-5" dirty="0">
                <a:latin typeface="Calibri"/>
                <a:cs typeface="Calibri"/>
              </a:rPr>
              <a:t>Pollution</a:t>
            </a:r>
            <a:r>
              <a:rPr sz="2000" spc="-50" dirty="0">
                <a:latin typeface="Calibri"/>
                <a:cs typeface="Calibri"/>
              </a:rPr>
              <a:t> </a:t>
            </a:r>
            <a:r>
              <a:rPr sz="2000" spc="-5" dirty="0">
                <a:latin typeface="Calibri"/>
                <a:cs typeface="Calibri"/>
              </a:rPr>
              <a:t>Monitoring:</a:t>
            </a:r>
            <a:r>
              <a:rPr sz="2000" spc="-40" dirty="0">
                <a:latin typeface="Calibri"/>
                <a:cs typeface="Calibri"/>
              </a:rPr>
              <a:t> </a:t>
            </a:r>
            <a:r>
              <a:rPr sz="2000" spc="-10" dirty="0">
                <a:latin typeface="Calibri"/>
                <a:cs typeface="Calibri"/>
              </a:rPr>
              <a:t>CN,</a:t>
            </a:r>
            <a:r>
              <a:rPr sz="2000" spc="-20" dirty="0">
                <a:latin typeface="Calibri"/>
                <a:cs typeface="Calibri"/>
              </a:rPr>
              <a:t> </a:t>
            </a:r>
            <a:r>
              <a:rPr sz="2000" spc="-10" dirty="0">
                <a:latin typeface="Calibri"/>
                <a:cs typeface="Calibri"/>
              </a:rPr>
              <a:t>F,</a:t>
            </a:r>
            <a:r>
              <a:rPr sz="2000" spc="-35" dirty="0">
                <a:latin typeface="Calibri"/>
                <a:cs typeface="Calibri"/>
              </a:rPr>
              <a:t> </a:t>
            </a:r>
            <a:r>
              <a:rPr sz="2000" spc="-10" dirty="0">
                <a:latin typeface="Calibri"/>
                <a:cs typeface="Calibri"/>
              </a:rPr>
              <a:t>S,</a:t>
            </a:r>
            <a:r>
              <a:rPr sz="2000" spc="-5" dirty="0">
                <a:latin typeface="Calibri"/>
                <a:cs typeface="Calibri"/>
              </a:rPr>
              <a:t> </a:t>
            </a:r>
            <a:r>
              <a:rPr sz="2000" spc="-10" dirty="0">
                <a:latin typeface="Calibri"/>
                <a:cs typeface="Calibri"/>
              </a:rPr>
              <a:t>Cl,</a:t>
            </a:r>
            <a:r>
              <a:rPr sz="2000" spc="-25" dirty="0">
                <a:latin typeface="Calibri"/>
                <a:cs typeface="Calibri"/>
              </a:rPr>
              <a:t> </a:t>
            </a:r>
            <a:r>
              <a:rPr sz="2000" spc="-5" dirty="0">
                <a:latin typeface="Calibri"/>
                <a:cs typeface="Calibri"/>
              </a:rPr>
              <a:t>NO</a:t>
            </a:r>
            <a:r>
              <a:rPr sz="1950" spc="-7" baseline="-8547" dirty="0">
                <a:latin typeface="Calibri"/>
                <a:cs typeface="Calibri"/>
              </a:rPr>
              <a:t>3</a:t>
            </a:r>
            <a:r>
              <a:rPr sz="1950" spc="127" baseline="-8547" dirty="0">
                <a:latin typeface="Calibri"/>
                <a:cs typeface="Calibri"/>
              </a:rPr>
              <a:t> </a:t>
            </a:r>
            <a:r>
              <a:rPr sz="2000" dirty="0">
                <a:latin typeface="Calibri"/>
                <a:cs typeface="Calibri"/>
              </a:rPr>
              <a:t>etc.,</a:t>
            </a:r>
            <a:r>
              <a:rPr sz="2000" spc="-25" dirty="0">
                <a:latin typeface="Calibri"/>
                <a:cs typeface="Calibri"/>
              </a:rPr>
              <a:t> </a:t>
            </a:r>
            <a:r>
              <a:rPr sz="2000" spc="-10" dirty="0">
                <a:latin typeface="Calibri"/>
                <a:cs typeface="Calibri"/>
              </a:rPr>
              <a:t>in</a:t>
            </a:r>
            <a:r>
              <a:rPr sz="2000" spc="-25" dirty="0">
                <a:latin typeface="Calibri"/>
                <a:cs typeface="Calibri"/>
              </a:rPr>
              <a:t> </a:t>
            </a:r>
            <a:r>
              <a:rPr sz="2000" spc="-10" dirty="0">
                <a:latin typeface="Calibri"/>
                <a:cs typeface="Calibri"/>
              </a:rPr>
              <a:t>effluents,</a:t>
            </a:r>
            <a:r>
              <a:rPr sz="2000" dirty="0">
                <a:latin typeface="Calibri"/>
                <a:cs typeface="Calibri"/>
              </a:rPr>
              <a:t> </a:t>
            </a:r>
            <a:r>
              <a:rPr sz="2000" spc="-5" dirty="0">
                <a:latin typeface="Calibri"/>
                <a:cs typeface="Calibri"/>
              </a:rPr>
              <a:t>and</a:t>
            </a:r>
            <a:r>
              <a:rPr sz="2000" spc="-25" dirty="0">
                <a:latin typeface="Calibri"/>
                <a:cs typeface="Calibri"/>
              </a:rPr>
              <a:t> </a:t>
            </a:r>
            <a:r>
              <a:rPr sz="2000" spc="-5" dirty="0">
                <a:latin typeface="Calibri"/>
                <a:cs typeface="Calibri"/>
              </a:rPr>
              <a:t>natural</a:t>
            </a:r>
            <a:r>
              <a:rPr sz="2000" spc="-30" dirty="0">
                <a:latin typeface="Calibri"/>
                <a:cs typeface="Calibri"/>
              </a:rPr>
              <a:t> </a:t>
            </a:r>
            <a:r>
              <a:rPr sz="2000" spc="-5" dirty="0">
                <a:latin typeface="Calibri"/>
                <a:cs typeface="Calibri"/>
              </a:rPr>
              <a:t>waters.</a:t>
            </a:r>
            <a:r>
              <a:rPr sz="2000" dirty="0">
                <a:latin typeface="Microsoft Sans Serif"/>
                <a:cs typeface="Microsoft Sans Serif"/>
              </a:rPr>
              <a:t> </a:t>
            </a:r>
            <a:endParaRPr sz="2000">
              <a:latin typeface="Microsoft Sans Serif"/>
              <a:cs typeface="Microsoft Sans Serif"/>
            </a:endParaRPr>
          </a:p>
          <a:p>
            <a:pPr marL="404495" marR="151130" indent="-341630">
              <a:lnSpc>
                <a:spcPts val="2160"/>
              </a:lnSpc>
              <a:spcBef>
                <a:spcPts val="175"/>
              </a:spcBef>
              <a:buFont typeface="Microsoft Sans Serif"/>
              <a:buChar char="•"/>
              <a:tabLst>
                <a:tab pos="404495" algn="l"/>
                <a:tab pos="405130" algn="l"/>
              </a:tabLst>
            </a:pPr>
            <a:r>
              <a:rPr sz="2000" spc="-5" dirty="0">
                <a:latin typeface="Calibri"/>
                <a:cs typeface="Calibri"/>
              </a:rPr>
              <a:t>Agriculture:</a:t>
            </a:r>
            <a:r>
              <a:rPr sz="2000" spc="-20" dirty="0">
                <a:latin typeface="Calibri"/>
                <a:cs typeface="Calibri"/>
              </a:rPr>
              <a:t> </a:t>
            </a:r>
            <a:r>
              <a:rPr sz="2000" spc="-5" dirty="0">
                <a:latin typeface="Calibri"/>
                <a:cs typeface="Calibri"/>
              </a:rPr>
              <a:t>NO</a:t>
            </a:r>
            <a:r>
              <a:rPr sz="1950" spc="-7" baseline="-8547" dirty="0">
                <a:latin typeface="Calibri"/>
                <a:cs typeface="Calibri"/>
              </a:rPr>
              <a:t>3</a:t>
            </a:r>
            <a:r>
              <a:rPr sz="2000" spc="-5" dirty="0">
                <a:latin typeface="Calibri"/>
                <a:cs typeface="Calibri"/>
              </a:rPr>
              <a:t>,</a:t>
            </a:r>
            <a:r>
              <a:rPr sz="2000" spc="-10" dirty="0">
                <a:latin typeface="Calibri"/>
                <a:cs typeface="Calibri"/>
              </a:rPr>
              <a:t> Cl,</a:t>
            </a:r>
            <a:r>
              <a:rPr sz="2000" spc="10" dirty="0">
                <a:latin typeface="Calibri"/>
                <a:cs typeface="Calibri"/>
              </a:rPr>
              <a:t> </a:t>
            </a:r>
            <a:r>
              <a:rPr sz="2000" spc="-5" dirty="0">
                <a:latin typeface="Calibri"/>
                <a:cs typeface="Calibri"/>
              </a:rPr>
              <a:t>NH</a:t>
            </a:r>
            <a:r>
              <a:rPr sz="1950" spc="-7" baseline="-8547" dirty="0">
                <a:latin typeface="Calibri"/>
                <a:cs typeface="Calibri"/>
              </a:rPr>
              <a:t>4</a:t>
            </a:r>
            <a:r>
              <a:rPr sz="2000" spc="-5" dirty="0">
                <a:latin typeface="Calibri"/>
                <a:cs typeface="Calibri"/>
              </a:rPr>
              <a:t>,</a:t>
            </a:r>
            <a:r>
              <a:rPr sz="2000" spc="-10" dirty="0">
                <a:latin typeface="Calibri"/>
                <a:cs typeface="Calibri"/>
              </a:rPr>
              <a:t> K,</a:t>
            </a:r>
            <a:r>
              <a:rPr sz="2000" spc="-15" dirty="0">
                <a:latin typeface="Calibri"/>
                <a:cs typeface="Calibri"/>
              </a:rPr>
              <a:t> </a:t>
            </a:r>
            <a:r>
              <a:rPr sz="2000" dirty="0">
                <a:latin typeface="Calibri"/>
                <a:cs typeface="Calibri"/>
              </a:rPr>
              <a:t>Ca, </a:t>
            </a:r>
            <a:r>
              <a:rPr sz="2000" spc="-5" dirty="0">
                <a:latin typeface="Calibri"/>
                <a:cs typeface="Calibri"/>
              </a:rPr>
              <a:t>I,</a:t>
            </a:r>
            <a:r>
              <a:rPr sz="2000" spc="-15" dirty="0">
                <a:latin typeface="Calibri"/>
                <a:cs typeface="Calibri"/>
              </a:rPr>
              <a:t> </a:t>
            </a:r>
            <a:r>
              <a:rPr sz="2000" spc="-10" dirty="0">
                <a:latin typeface="Calibri"/>
                <a:cs typeface="Calibri"/>
              </a:rPr>
              <a:t>CN</a:t>
            </a:r>
            <a:r>
              <a:rPr sz="2000" spc="-5" dirty="0">
                <a:latin typeface="Calibri"/>
                <a:cs typeface="Calibri"/>
              </a:rPr>
              <a:t> </a:t>
            </a:r>
            <a:r>
              <a:rPr sz="2000" spc="-10" dirty="0">
                <a:latin typeface="Calibri"/>
                <a:cs typeface="Calibri"/>
              </a:rPr>
              <a:t>in</a:t>
            </a:r>
            <a:r>
              <a:rPr sz="2000" spc="-15" dirty="0">
                <a:latin typeface="Calibri"/>
                <a:cs typeface="Calibri"/>
              </a:rPr>
              <a:t> </a:t>
            </a:r>
            <a:r>
              <a:rPr sz="2000" spc="-10" dirty="0">
                <a:latin typeface="Calibri"/>
                <a:cs typeface="Calibri"/>
              </a:rPr>
              <a:t>soils,</a:t>
            </a:r>
            <a:r>
              <a:rPr sz="2000" spc="15" dirty="0">
                <a:latin typeface="Calibri"/>
                <a:cs typeface="Calibri"/>
              </a:rPr>
              <a:t> </a:t>
            </a:r>
            <a:r>
              <a:rPr sz="2000" spc="-5" dirty="0">
                <a:latin typeface="Calibri"/>
                <a:cs typeface="Calibri"/>
              </a:rPr>
              <a:t>plant</a:t>
            </a:r>
            <a:r>
              <a:rPr sz="2000" spc="10" dirty="0">
                <a:latin typeface="Calibri"/>
                <a:cs typeface="Calibri"/>
              </a:rPr>
              <a:t> </a:t>
            </a:r>
            <a:r>
              <a:rPr sz="2000" spc="-5" dirty="0">
                <a:latin typeface="Calibri"/>
                <a:cs typeface="Calibri"/>
              </a:rPr>
              <a:t>material,</a:t>
            </a:r>
            <a:r>
              <a:rPr sz="2000" spc="45" dirty="0">
                <a:latin typeface="Calibri"/>
                <a:cs typeface="Calibri"/>
              </a:rPr>
              <a:t> </a:t>
            </a:r>
            <a:r>
              <a:rPr sz="2000" spc="-5" dirty="0">
                <a:latin typeface="Calibri"/>
                <a:cs typeface="Calibri"/>
              </a:rPr>
              <a:t>fertilizers</a:t>
            </a:r>
            <a:r>
              <a:rPr sz="2000" spc="25" dirty="0">
                <a:latin typeface="Calibri"/>
                <a:cs typeface="Calibri"/>
              </a:rPr>
              <a:t> </a:t>
            </a:r>
            <a:r>
              <a:rPr sz="2000" dirty="0">
                <a:latin typeface="Calibri"/>
                <a:cs typeface="Calibri"/>
              </a:rPr>
              <a:t>and </a:t>
            </a:r>
            <a:r>
              <a:rPr sz="2000" spc="5" dirty="0">
                <a:latin typeface="Calibri"/>
                <a:cs typeface="Calibri"/>
              </a:rPr>
              <a:t> </a:t>
            </a:r>
            <a:r>
              <a:rPr sz="2000" spc="-5" dirty="0">
                <a:latin typeface="Calibri"/>
                <a:cs typeface="Calibri"/>
              </a:rPr>
              <a:t>feedstuffs.</a:t>
            </a:r>
            <a:endParaRPr sz="2000">
              <a:latin typeface="Calibri"/>
              <a:cs typeface="Calibri"/>
            </a:endParaRPr>
          </a:p>
          <a:p>
            <a:pPr marL="404495" indent="-341630">
              <a:lnSpc>
                <a:spcPts val="2325"/>
              </a:lnSpc>
              <a:buFont typeface="Microsoft Sans Serif"/>
              <a:buChar char="•"/>
              <a:tabLst>
                <a:tab pos="404495" algn="l"/>
                <a:tab pos="405130" algn="l"/>
              </a:tabLst>
            </a:pPr>
            <a:r>
              <a:rPr sz="2000" spc="-10" dirty="0">
                <a:latin typeface="Calibri"/>
                <a:cs typeface="Calibri"/>
              </a:rPr>
              <a:t>Food</a:t>
            </a:r>
            <a:r>
              <a:rPr sz="2000" spc="-30" dirty="0">
                <a:latin typeface="Calibri"/>
                <a:cs typeface="Calibri"/>
              </a:rPr>
              <a:t> </a:t>
            </a:r>
            <a:r>
              <a:rPr sz="2000" spc="-5" dirty="0">
                <a:latin typeface="Calibri"/>
                <a:cs typeface="Calibri"/>
              </a:rPr>
              <a:t>Processing:</a:t>
            </a:r>
            <a:r>
              <a:rPr sz="2000" dirty="0">
                <a:latin typeface="Calibri"/>
                <a:cs typeface="Calibri"/>
              </a:rPr>
              <a:t> </a:t>
            </a:r>
            <a:r>
              <a:rPr sz="2000" spc="-5" dirty="0">
                <a:latin typeface="Calibri"/>
                <a:cs typeface="Calibri"/>
              </a:rPr>
              <a:t>NO</a:t>
            </a:r>
            <a:r>
              <a:rPr sz="1950" spc="-7" baseline="-8547" dirty="0">
                <a:latin typeface="Calibri"/>
                <a:cs typeface="Calibri"/>
              </a:rPr>
              <a:t>3</a:t>
            </a:r>
            <a:r>
              <a:rPr sz="2000" spc="-5" dirty="0">
                <a:latin typeface="Calibri"/>
                <a:cs typeface="Calibri"/>
              </a:rPr>
              <a:t>,</a:t>
            </a:r>
            <a:r>
              <a:rPr sz="2000" spc="-10" dirty="0">
                <a:latin typeface="Calibri"/>
                <a:cs typeface="Calibri"/>
              </a:rPr>
              <a:t> </a:t>
            </a:r>
            <a:r>
              <a:rPr sz="2000" spc="-5" dirty="0">
                <a:latin typeface="Calibri"/>
                <a:cs typeface="Calibri"/>
              </a:rPr>
              <a:t>NO</a:t>
            </a:r>
            <a:r>
              <a:rPr sz="1950" spc="-7" baseline="-8547" dirty="0">
                <a:latin typeface="Calibri"/>
                <a:cs typeface="Calibri"/>
              </a:rPr>
              <a:t>2</a:t>
            </a:r>
            <a:r>
              <a:rPr sz="1950" spc="187" baseline="-8547" dirty="0">
                <a:latin typeface="Calibri"/>
                <a:cs typeface="Calibri"/>
              </a:rPr>
              <a:t> </a:t>
            </a:r>
            <a:r>
              <a:rPr sz="2000" spc="-10" dirty="0">
                <a:latin typeface="Calibri"/>
                <a:cs typeface="Calibri"/>
              </a:rPr>
              <a:t>in meat</a:t>
            </a:r>
            <a:r>
              <a:rPr sz="2000" spc="20" dirty="0">
                <a:latin typeface="Calibri"/>
                <a:cs typeface="Calibri"/>
              </a:rPr>
              <a:t> </a:t>
            </a:r>
            <a:r>
              <a:rPr sz="2000" spc="-5" dirty="0">
                <a:latin typeface="Calibri"/>
                <a:cs typeface="Calibri"/>
              </a:rPr>
              <a:t>preservatives.</a:t>
            </a:r>
            <a:r>
              <a:rPr sz="2000" dirty="0">
                <a:latin typeface="Microsoft Sans Serif"/>
                <a:cs typeface="Microsoft Sans Serif"/>
              </a:rPr>
              <a:t> </a:t>
            </a:r>
            <a:endParaRPr sz="2000">
              <a:latin typeface="Microsoft Sans Serif"/>
              <a:cs typeface="Microsoft Sans Serif"/>
            </a:endParaRPr>
          </a:p>
          <a:p>
            <a:pPr marL="404495" indent="-341630">
              <a:lnSpc>
                <a:spcPct val="100000"/>
              </a:lnSpc>
              <a:spcBef>
                <a:spcPts val="5"/>
              </a:spcBef>
              <a:buFont typeface="Microsoft Sans Serif"/>
              <a:buChar char="•"/>
              <a:tabLst>
                <a:tab pos="404495" algn="l"/>
                <a:tab pos="405130" algn="l"/>
              </a:tabLst>
            </a:pPr>
            <a:r>
              <a:rPr sz="2000" spc="-10" dirty="0">
                <a:latin typeface="Calibri"/>
                <a:cs typeface="Calibri"/>
              </a:rPr>
              <a:t>Salt </a:t>
            </a:r>
            <a:r>
              <a:rPr sz="2000" spc="-5" dirty="0">
                <a:latin typeface="Calibri"/>
                <a:cs typeface="Calibri"/>
              </a:rPr>
              <a:t>content</a:t>
            </a:r>
            <a:r>
              <a:rPr sz="2000" spc="-10" dirty="0">
                <a:latin typeface="Calibri"/>
                <a:cs typeface="Calibri"/>
              </a:rPr>
              <a:t> </a:t>
            </a:r>
            <a:r>
              <a:rPr sz="2000" spc="-5" dirty="0">
                <a:latin typeface="Calibri"/>
                <a:cs typeface="Calibri"/>
              </a:rPr>
              <a:t>of</a:t>
            </a:r>
            <a:r>
              <a:rPr sz="2000" spc="-20" dirty="0">
                <a:latin typeface="Calibri"/>
                <a:cs typeface="Calibri"/>
              </a:rPr>
              <a:t> </a:t>
            </a:r>
            <a:r>
              <a:rPr sz="2000" spc="-10" dirty="0">
                <a:latin typeface="Calibri"/>
                <a:cs typeface="Calibri"/>
              </a:rPr>
              <a:t>meat,</a:t>
            </a:r>
            <a:r>
              <a:rPr sz="2000" spc="15" dirty="0">
                <a:latin typeface="Calibri"/>
                <a:cs typeface="Calibri"/>
              </a:rPr>
              <a:t> </a:t>
            </a:r>
            <a:r>
              <a:rPr sz="2000" spc="-10" dirty="0">
                <a:latin typeface="Calibri"/>
                <a:cs typeface="Calibri"/>
              </a:rPr>
              <a:t>fish,</a:t>
            </a:r>
            <a:r>
              <a:rPr sz="2000" spc="-5" dirty="0">
                <a:latin typeface="Calibri"/>
                <a:cs typeface="Calibri"/>
              </a:rPr>
              <a:t> dairy</a:t>
            </a:r>
            <a:r>
              <a:rPr sz="2000" spc="10" dirty="0">
                <a:latin typeface="Calibri"/>
                <a:cs typeface="Calibri"/>
              </a:rPr>
              <a:t> </a:t>
            </a:r>
            <a:r>
              <a:rPr sz="2000" spc="-5" dirty="0">
                <a:latin typeface="Calibri"/>
                <a:cs typeface="Calibri"/>
              </a:rPr>
              <a:t>products,</a:t>
            </a:r>
            <a:r>
              <a:rPr sz="2000" spc="-30" dirty="0">
                <a:latin typeface="Calibri"/>
                <a:cs typeface="Calibri"/>
              </a:rPr>
              <a:t> </a:t>
            </a:r>
            <a:r>
              <a:rPr sz="2000" spc="-5" dirty="0">
                <a:latin typeface="Calibri"/>
                <a:cs typeface="Calibri"/>
              </a:rPr>
              <a:t>fruit</a:t>
            </a:r>
            <a:r>
              <a:rPr sz="2000" spc="-15" dirty="0">
                <a:latin typeface="Calibri"/>
                <a:cs typeface="Calibri"/>
              </a:rPr>
              <a:t> </a:t>
            </a:r>
            <a:r>
              <a:rPr sz="2000" spc="-10" dirty="0">
                <a:latin typeface="Calibri"/>
                <a:cs typeface="Calibri"/>
              </a:rPr>
              <a:t>juices,</a:t>
            </a:r>
            <a:r>
              <a:rPr sz="2000" spc="-5" dirty="0">
                <a:latin typeface="Calibri"/>
                <a:cs typeface="Calibri"/>
              </a:rPr>
              <a:t> brewing</a:t>
            </a:r>
            <a:r>
              <a:rPr sz="2000" spc="-10" dirty="0">
                <a:latin typeface="Calibri"/>
                <a:cs typeface="Calibri"/>
              </a:rPr>
              <a:t> </a:t>
            </a:r>
            <a:r>
              <a:rPr sz="2000" spc="-5" dirty="0">
                <a:latin typeface="Calibri"/>
                <a:cs typeface="Calibri"/>
              </a:rPr>
              <a:t>solutions.</a:t>
            </a:r>
            <a:r>
              <a:rPr sz="2000" dirty="0">
                <a:latin typeface="Microsoft Sans Serif"/>
                <a:cs typeface="Microsoft Sans Serif"/>
              </a:rPr>
              <a:t> </a:t>
            </a:r>
            <a:endParaRPr sz="2000">
              <a:latin typeface="Microsoft Sans Serif"/>
              <a:cs typeface="Microsoft Sans Serif"/>
            </a:endParaRPr>
          </a:p>
          <a:p>
            <a:pPr marL="404495" indent="-341630">
              <a:lnSpc>
                <a:spcPct val="100000"/>
              </a:lnSpc>
              <a:buFont typeface="Microsoft Sans Serif"/>
              <a:buChar char="•"/>
              <a:tabLst>
                <a:tab pos="404495" algn="l"/>
                <a:tab pos="405130" algn="l"/>
              </a:tabLst>
            </a:pPr>
            <a:r>
              <a:rPr sz="2000" spc="-5" dirty="0">
                <a:latin typeface="Calibri"/>
                <a:cs typeface="Calibri"/>
              </a:rPr>
              <a:t>F</a:t>
            </a:r>
            <a:r>
              <a:rPr sz="2000" spc="-25" dirty="0">
                <a:latin typeface="Calibri"/>
                <a:cs typeface="Calibri"/>
              </a:rPr>
              <a:t> </a:t>
            </a:r>
            <a:r>
              <a:rPr sz="2000" spc="-10" dirty="0">
                <a:latin typeface="Calibri"/>
                <a:cs typeface="Calibri"/>
              </a:rPr>
              <a:t>in</a:t>
            </a:r>
            <a:r>
              <a:rPr sz="2000" spc="-15" dirty="0">
                <a:latin typeface="Calibri"/>
                <a:cs typeface="Calibri"/>
              </a:rPr>
              <a:t> </a:t>
            </a:r>
            <a:r>
              <a:rPr sz="2000" spc="-5" dirty="0">
                <a:latin typeface="Calibri"/>
                <a:cs typeface="Calibri"/>
              </a:rPr>
              <a:t>drinking</a:t>
            </a:r>
            <a:r>
              <a:rPr sz="2000" spc="-15" dirty="0">
                <a:latin typeface="Calibri"/>
                <a:cs typeface="Calibri"/>
              </a:rPr>
              <a:t> </a:t>
            </a:r>
            <a:r>
              <a:rPr sz="2000" spc="-10" dirty="0">
                <a:latin typeface="Calibri"/>
                <a:cs typeface="Calibri"/>
              </a:rPr>
              <a:t>water</a:t>
            </a:r>
            <a:r>
              <a:rPr sz="2000" spc="5" dirty="0">
                <a:latin typeface="Calibri"/>
                <a:cs typeface="Calibri"/>
              </a:rPr>
              <a:t> </a:t>
            </a:r>
            <a:r>
              <a:rPr sz="2000" spc="-5" dirty="0">
                <a:latin typeface="Calibri"/>
                <a:cs typeface="Calibri"/>
              </a:rPr>
              <a:t>and </a:t>
            </a:r>
            <a:r>
              <a:rPr sz="2000" spc="-10" dirty="0">
                <a:latin typeface="Calibri"/>
                <a:cs typeface="Calibri"/>
              </a:rPr>
              <a:t>other</a:t>
            </a:r>
            <a:r>
              <a:rPr sz="2000" spc="-45" dirty="0">
                <a:latin typeface="Calibri"/>
                <a:cs typeface="Calibri"/>
              </a:rPr>
              <a:t> </a:t>
            </a:r>
            <a:r>
              <a:rPr sz="2000" spc="-5" dirty="0">
                <a:latin typeface="Calibri"/>
                <a:cs typeface="Calibri"/>
              </a:rPr>
              <a:t>drinks.</a:t>
            </a:r>
            <a:r>
              <a:rPr sz="2000" spc="-5" dirty="0">
                <a:latin typeface="Microsoft Sans Serif"/>
                <a:cs typeface="Microsoft Sans Serif"/>
              </a:rPr>
              <a:t> </a:t>
            </a:r>
            <a:endParaRPr sz="2000">
              <a:latin typeface="Microsoft Sans Serif"/>
              <a:cs typeface="Microsoft Sans Serif"/>
            </a:endParaRPr>
          </a:p>
          <a:p>
            <a:pPr marL="404495" indent="-341630">
              <a:lnSpc>
                <a:spcPct val="100000"/>
              </a:lnSpc>
              <a:buFont typeface="Microsoft Sans Serif"/>
              <a:buChar char="•"/>
              <a:tabLst>
                <a:tab pos="404495" algn="l"/>
                <a:tab pos="405130" algn="l"/>
              </a:tabLst>
            </a:pPr>
            <a:r>
              <a:rPr sz="2000" spc="-10" dirty="0">
                <a:latin typeface="Calibri"/>
                <a:cs typeface="Calibri"/>
              </a:rPr>
              <a:t>Ca</a:t>
            </a:r>
            <a:r>
              <a:rPr sz="2000" spc="-70" dirty="0">
                <a:latin typeface="Calibri"/>
                <a:cs typeface="Calibri"/>
              </a:rPr>
              <a:t> </a:t>
            </a:r>
            <a:r>
              <a:rPr sz="2000" spc="-10" dirty="0">
                <a:latin typeface="Calibri"/>
                <a:cs typeface="Calibri"/>
              </a:rPr>
              <a:t>in </a:t>
            </a:r>
            <a:r>
              <a:rPr sz="2000" spc="-5" dirty="0">
                <a:latin typeface="Calibri"/>
                <a:cs typeface="Calibri"/>
              </a:rPr>
              <a:t>dairy</a:t>
            </a:r>
            <a:r>
              <a:rPr sz="2000" spc="-35" dirty="0">
                <a:latin typeface="Calibri"/>
                <a:cs typeface="Calibri"/>
              </a:rPr>
              <a:t> </a:t>
            </a:r>
            <a:r>
              <a:rPr sz="2000" spc="-5" dirty="0">
                <a:latin typeface="Calibri"/>
                <a:cs typeface="Calibri"/>
              </a:rPr>
              <a:t>products</a:t>
            </a:r>
            <a:r>
              <a:rPr sz="2000" spc="-50" dirty="0">
                <a:latin typeface="Calibri"/>
                <a:cs typeface="Calibri"/>
              </a:rPr>
              <a:t> </a:t>
            </a:r>
            <a:r>
              <a:rPr sz="2000" spc="-5" dirty="0">
                <a:latin typeface="Calibri"/>
                <a:cs typeface="Calibri"/>
              </a:rPr>
              <a:t>and</a:t>
            </a:r>
            <a:r>
              <a:rPr sz="2000" spc="-60" dirty="0">
                <a:latin typeface="Calibri"/>
                <a:cs typeface="Calibri"/>
              </a:rPr>
              <a:t> </a:t>
            </a:r>
            <a:r>
              <a:rPr sz="2000" spc="-10" dirty="0">
                <a:latin typeface="Calibri"/>
                <a:cs typeface="Calibri"/>
              </a:rPr>
              <a:t>beer.</a:t>
            </a:r>
            <a:r>
              <a:rPr sz="2000" spc="-10" dirty="0">
                <a:latin typeface="Microsoft Sans Serif"/>
                <a:cs typeface="Microsoft Sans Serif"/>
              </a:rPr>
              <a:t> </a:t>
            </a:r>
            <a:endParaRPr sz="2000">
              <a:latin typeface="Microsoft Sans Serif"/>
              <a:cs typeface="Microsoft Sans Serif"/>
            </a:endParaRPr>
          </a:p>
          <a:p>
            <a:pPr marL="404495" indent="-341630">
              <a:lnSpc>
                <a:spcPct val="100000"/>
              </a:lnSpc>
              <a:buFont typeface="Microsoft Sans Serif"/>
              <a:buChar char="•"/>
              <a:tabLst>
                <a:tab pos="404495" algn="l"/>
                <a:tab pos="405130" algn="l"/>
              </a:tabLst>
            </a:pPr>
            <a:r>
              <a:rPr sz="2000" spc="-5" dirty="0">
                <a:latin typeface="Calibri"/>
                <a:cs typeface="Calibri"/>
              </a:rPr>
              <a:t>K</a:t>
            </a:r>
            <a:r>
              <a:rPr sz="2000" spc="-35" dirty="0">
                <a:latin typeface="Calibri"/>
                <a:cs typeface="Calibri"/>
              </a:rPr>
              <a:t> </a:t>
            </a:r>
            <a:r>
              <a:rPr sz="2000" spc="-10" dirty="0">
                <a:latin typeface="Calibri"/>
                <a:cs typeface="Calibri"/>
              </a:rPr>
              <a:t>in</a:t>
            </a:r>
            <a:r>
              <a:rPr sz="2000" spc="5" dirty="0">
                <a:latin typeface="Calibri"/>
                <a:cs typeface="Calibri"/>
              </a:rPr>
              <a:t> </a:t>
            </a:r>
            <a:r>
              <a:rPr sz="2000" spc="-5" dirty="0">
                <a:latin typeface="Calibri"/>
                <a:cs typeface="Calibri"/>
              </a:rPr>
              <a:t>fruit</a:t>
            </a:r>
            <a:r>
              <a:rPr sz="2000" dirty="0">
                <a:latin typeface="Calibri"/>
                <a:cs typeface="Calibri"/>
              </a:rPr>
              <a:t> </a:t>
            </a:r>
            <a:r>
              <a:rPr sz="2000" spc="-5" dirty="0">
                <a:latin typeface="Calibri"/>
                <a:cs typeface="Calibri"/>
              </a:rPr>
              <a:t>juices</a:t>
            </a:r>
            <a:r>
              <a:rPr sz="2000" spc="-10" dirty="0">
                <a:latin typeface="Calibri"/>
                <a:cs typeface="Calibri"/>
              </a:rPr>
              <a:t> </a:t>
            </a:r>
            <a:r>
              <a:rPr sz="2000" spc="-5" dirty="0">
                <a:latin typeface="Calibri"/>
                <a:cs typeface="Calibri"/>
              </a:rPr>
              <a:t>and</a:t>
            </a:r>
            <a:r>
              <a:rPr sz="2000" spc="-15" dirty="0">
                <a:latin typeface="Calibri"/>
                <a:cs typeface="Calibri"/>
              </a:rPr>
              <a:t> </a:t>
            </a:r>
            <a:r>
              <a:rPr sz="2000" spc="-10" dirty="0">
                <a:latin typeface="Calibri"/>
                <a:cs typeface="Calibri"/>
              </a:rPr>
              <a:t>wine </a:t>
            </a:r>
            <a:r>
              <a:rPr sz="2000" dirty="0">
                <a:latin typeface="Calibri"/>
                <a:cs typeface="Calibri"/>
              </a:rPr>
              <a:t>making.</a:t>
            </a:r>
            <a:r>
              <a:rPr sz="2000" dirty="0">
                <a:latin typeface="Microsoft Sans Serif"/>
                <a:cs typeface="Microsoft Sans Serif"/>
              </a:rPr>
              <a:t> </a:t>
            </a:r>
            <a:endParaRPr sz="2000">
              <a:latin typeface="Microsoft Sans Serif"/>
              <a:cs typeface="Microsoft Sans Serif"/>
            </a:endParaRPr>
          </a:p>
          <a:p>
            <a:pPr marL="337820" indent="-274320">
              <a:lnSpc>
                <a:spcPct val="100000"/>
              </a:lnSpc>
              <a:buClr>
                <a:srgbClr val="9BB957"/>
              </a:buClr>
              <a:buFont typeface="Microsoft Sans Serif"/>
              <a:buChar char="•"/>
              <a:tabLst>
                <a:tab pos="337185" algn="l"/>
                <a:tab pos="337820" algn="l"/>
              </a:tabLst>
            </a:pPr>
            <a:r>
              <a:rPr sz="2000" spc="-10" dirty="0">
                <a:latin typeface="Calibri"/>
                <a:cs typeface="Calibri"/>
              </a:rPr>
              <a:t>Corrosive</a:t>
            </a:r>
            <a:r>
              <a:rPr sz="2000" spc="-25" dirty="0">
                <a:latin typeface="Calibri"/>
                <a:cs typeface="Calibri"/>
              </a:rPr>
              <a:t> </a:t>
            </a:r>
            <a:r>
              <a:rPr sz="2000" spc="-5" dirty="0">
                <a:latin typeface="Calibri"/>
                <a:cs typeface="Calibri"/>
              </a:rPr>
              <a:t>effect</a:t>
            </a:r>
            <a:r>
              <a:rPr sz="2000" spc="-15" dirty="0">
                <a:latin typeface="Calibri"/>
                <a:cs typeface="Calibri"/>
              </a:rPr>
              <a:t> </a:t>
            </a:r>
            <a:r>
              <a:rPr sz="2000" spc="-5" dirty="0">
                <a:latin typeface="Calibri"/>
                <a:cs typeface="Calibri"/>
              </a:rPr>
              <a:t>of</a:t>
            </a:r>
            <a:r>
              <a:rPr sz="2000" spc="-30" dirty="0">
                <a:latin typeface="Calibri"/>
                <a:cs typeface="Calibri"/>
              </a:rPr>
              <a:t> </a:t>
            </a:r>
            <a:r>
              <a:rPr sz="2000" spc="-5" dirty="0">
                <a:latin typeface="Calibri"/>
                <a:cs typeface="Calibri"/>
              </a:rPr>
              <a:t>NO</a:t>
            </a:r>
            <a:r>
              <a:rPr sz="1950" spc="-7" baseline="-8547" dirty="0">
                <a:latin typeface="Calibri"/>
                <a:cs typeface="Calibri"/>
              </a:rPr>
              <a:t>3</a:t>
            </a:r>
            <a:r>
              <a:rPr sz="1950" spc="195" baseline="-8547" dirty="0">
                <a:latin typeface="Calibri"/>
                <a:cs typeface="Calibri"/>
              </a:rPr>
              <a:t> </a:t>
            </a:r>
            <a:r>
              <a:rPr sz="2000" spc="-10" dirty="0">
                <a:latin typeface="Calibri"/>
                <a:cs typeface="Calibri"/>
              </a:rPr>
              <a:t>in</a:t>
            </a:r>
            <a:r>
              <a:rPr sz="2000" spc="-15" dirty="0">
                <a:latin typeface="Calibri"/>
                <a:cs typeface="Calibri"/>
              </a:rPr>
              <a:t> </a:t>
            </a:r>
            <a:r>
              <a:rPr sz="2000" spc="-5" dirty="0">
                <a:latin typeface="Calibri"/>
                <a:cs typeface="Calibri"/>
              </a:rPr>
              <a:t>canned</a:t>
            </a:r>
            <a:r>
              <a:rPr sz="2000" spc="-35" dirty="0">
                <a:latin typeface="Calibri"/>
                <a:cs typeface="Calibri"/>
              </a:rPr>
              <a:t> </a:t>
            </a:r>
            <a:r>
              <a:rPr sz="2000" spc="-5" dirty="0">
                <a:latin typeface="Calibri"/>
                <a:cs typeface="Calibri"/>
              </a:rPr>
              <a:t>foods.</a:t>
            </a:r>
            <a:r>
              <a:rPr sz="2000" dirty="0">
                <a:solidFill>
                  <a:srgbClr val="9BB957"/>
                </a:solidFill>
                <a:latin typeface="Microsoft Sans Serif"/>
                <a:cs typeface="Microsoft Sans Serif"/>
              </a:rPr>
              <a:t> </a:t>
            </a:r>
            <a:endParaRPr sz="2000">
              <a:latin typeface="Microsoft Sans Serif"/>
              <a:cs typeface="Microsoft Sans Serif"/>
            </a:endParaRPr>
          </a:p>
          <a:p>
            <a:pPr marL="337820" indent="-274320">
              <a:lnSpc>
                <a:spcPct val="100000"/>
              </a:lnSpc>
              <a:spcBef>
                <a:spcPts val="5"/>
              </a:spcBef>
              <a:buClr>
                <a:srgbClr val="9BB957"/>
              </a:buClr>
              <a:buFont typeface="Microsoft Sans Serif"/>
              <a:buChar char="•"/>
              <a:tabLst>
                <a:tab pos="337185" algn="l"/>
                <a:tab pos="337820" algn="l"/>
              </a:tabLst>
            </a:pPr>
            <a:r>
              <a:rPr sz="2000" spc="-5" dirty="0">
                <a:latin typeface="Calibri"/>
                <a:cs typeface="Calibri"/>
              </a:rPr>
              <a:t>Detergent</a:t>
            </a:r>
            <a:r>
              <a:rPr sz="2000" spc="-55" dirty="0">
                <a:latin typeface="Calibri"/>
                <a:cs typeface="Calibri"/>
              </a:rPr>
              <a:t> </a:t>
            </a:r>
            <a:r>
              <a:rPr sz="2000" spc="-5" dirty="0">
                <a:latin typeface="Calibri"/>
                <a:cs typeface="Calibri"/>
              </a:rPr>
              <a:t>Manufacture:</a:t>
            </a:r>
            <a:r>
              <a:rPr sz="2000" spc="-50" dirty="0">
                <a:latin typeface="Calibri"/>
                <a:cs typeface="Calibri"/>
              </a:rPr>
              <a:t> </a:t>
            </a:r>
            <a:r>
              <a:rPr sz="2000" spc="-10" dirty="0">
                <a:latin typeface="Calibri"/>
                <a:cs typeface="Calibri"/>
              </a:rPr>
              <a:t>Ca, </a:t>
            </a:r>
            <a:r>
              <a:rPr sz="2000" dirty="0">
                <a:latin typeface="Calibri"/>
                <a:cs typeface="Calibri"/>
              </a:rPr>
              <a:t>Ba,</a:t>
            </a:r>
            <a:r>
              <a:rPr sz="2000" spc="-30" dirty="0">
                <a:latin typeface="Calibri"/>
                <a:cs typeface="Calibri"/>
              </a:rPr>
              <a:t> </a:t>
            </a:r>
            <a:r>
              <a:rPr sz="2000" spc="-5" dirty="0">
                <a:latin typeface="Calibri"/>
                <a:cs typeface="Calibri"/>
              </a:rPr>
              <a:t>F</a:t>
            </a:r>
            <a:r>
              <a:rPr sz="2000" spc="-45" dirty="0">
                <a:latin typeface="Calibri"/>
                <a:cs typeface="Calibri"/>
              </a:rPr>
              <a:t> </a:t>
            </a:r>
            <a:r>
              <a:rPr sz="2000" spc="-10" dirty="0">
                <a:latin typeface="Calibri"/>
                <a:cs typeface="Calibri"/>
              </a:rPr>
              <a:t>for</a:t>
            </a:r>
            <a:r>
              <a:rPr sz="2000" spc="-35" dirty="0">
                <a:latin typeface="Calibri"/>
                <a:cs typeface="Calibri"/>
              </a:rPr>
              <a:t> </a:t>
            </a:r>
            <a:r>
              <a:rPr sz="2000" spc="-5" dirty="0">
                <a:latin typeface="Calibri"/>
                <a:cs typeface="Calibri"/>
              </a:rPr>
              <a:t>studying</a:t>
            </a:r>
            <a:r>
              <a:rPr sz="2000" spc="-60" dirty="0">
                <a:latin typeface="Calibri"/>
                <a:cs typeface="Calibri"/>
              </a:rPr>
              <a:t> </a:t>
            </a:r>
            <a:r>
              <a:rPr sz="2000" spc="-5" dirty="0">
                <a:latin typeface="Calibri"/>
                <a:cs typeface="Calibri"/>
              </a:rPr>
              <a:t>effects</a:t>
            </a:r>
            <a:r>
              <a:rPr sz="2000" spc="-25" dirty="0">
                <a:latin typeface="Calibri"/>
                <a:cs typeface="Calibri"/>
              </a:rPr>
              <a:t> </a:t>
            </a:r>
            <a:r>
              <a:rPr sz="2000" spc="-5" dirty="0">
                <a:latin typeface="Calibri"/>
                <a:cs typeface="Calibri"/>
              </a:rPr>
              <a:t>on</a:t>
            </a:r>
            <a:r>
              <a:rPr sz="2000" spc="-30" dirty="0">
                <a:latin typeface="Calibri"/>
                <a:cs typeface="Calibri"/>
              </a:rPr>
              <a:t> </a:t>
            </a:r>
            <a:r>
              <a:rPr sz="2000" spc="-10" dirty="0">
                <a:latin typeface="Calibri"/>
                <a:cs typeface="Calibri"/>
              </a:rPr>
              <a:t>water </a:t>
            </a:r>
            <a:r>
              <a:rPr sz="2000" spc="-5" dirty="0">
                <a:latin typeface="Calibri"/>
                <a:cs typeface="Calibri"/>
              </a:rPr>
              <a:t>quality.</a:t>
            </a:r>
            <a:r>
              <a:rPr sz="2000" dirty="0">
                <a:solidFill>
                  <a:srgbClr val="9BB957"/>
                </a:solidFill>
                <a:latin typeface="Microsoft Sans Serif"/>
                <a:cs typeface="Microsoft Sans Serif"/>
              </a:rPr>
              <a:t> </a:t>
            </a:r>
            <a:endParaRPr sz="2000">
              <a:latin typeface="Microsoft Sans Serif"/>
              <a:cs typeface="Microsoft Sans Serif"/>
            </a:endParaRPr>
          </a:p>
          <a:p>
            <a:pPr marL="337820" indent="-274320">
              <a:lnSpc>
                <a:spcPct val="100000"/>
              </a:lnSpc>
              <a:buClr>
                <a:srgbClr val="9BB957"/>
              </a:buClr>
              <a:buFont typeface="Microsoft Sans Serif"/>
              <a:buChar char="•"/>
              <a:tabLst>
                <a:tab pos="337185" algn="l"/>
                <a:tab pos="337820" algn="l"/>
              </a:tabLst>
            </a:pPr>
            <a:r>
              <a:rPr sz="2000" spc="-5" dirty="0">
                <a:latin typeface="Calibri"/>
                <a:cs typeface="Calibri"/>
              </a:rPr>
              <a:t>Paper</a:t>
            </a:r>
            <a:r>
              <a:rPr sz="2000" spc="-15" dirty="0">
                <a:latin typeface="Calibri"/>
                <a:cs typeface="Calibri"/>
              </a:rPr>
              <a:t> </a:t>
            </a:r>
            <a:r>
              <a:rPr sz="2000" spc="-5" dirty="0">
                <a:latin typeface="Calibri"/>
                <a:cs typeface="Calibri"/>
              </a:rPr>
              <a:t>Manufacture:</a:t>
            </a:r>
            <a:r>
              <a:rPr sz="2000" spc="-30" dirty="0">
                <a:latin typeface="Calibri"/>
                <a:cs typeface="Calibri"/>
              </a:rPr>
              <a:t> </a:t>
            </a:r>
            <a:r>
              <a:rPr sz="2000" spc="-5" dirty="0">
                <a:latin typeface="Calibri"/>
                <a:cs typeface="Calibri"/>
              </a:rPr>
              <a:t>S</a:t>
            </a:r>
            <a:r>
              <a:rPr sz="2000" spc="-20" dirty="0">
                <a:latin typeface="Calibri"/>
                <a:cs typeface="Calibri"/>
              </a:rPr>
              <a:t> </a:t>
            </a:r>
            <a:r>
              <a:rPr sz="2000" spc="-5" dirty="0">
                <a:latin typeface="Calibri"/>
                <a:cs typeface="Calibri"/>
              </a:rPr>
              <a:t>and </a:t>
            </a:r>
            <a:r>
              <a:rPr sz="2000" spc="-10" dirty="0">
                <a:latin typeface="Calibri"/>
                <a:cs typeface="Calibri"/>
              </a:rPr>
              <a:t>Cl</a:t>
            </a:r>
            <a:r>
              <a:rPr sz="2000" spc="-25" dirty="0">
                <a:latin typeface="Calibri"/>
                <a:cs typeface="Calibri"/>
              </a:rPr>
              <a:t> </a:t>
            </a:r>
            <a:r>
              <a:rPr sz="2000" spc="5" dirty="0">
                <a:latin typeface="Calibri"/>
                <a:cs typeface="Calibri"/>
              </a:rPr>
              <a:t>in</a:t>
            </a:r>
            <a:r>
              <a:rPr sz="2000" spc="-10" dirty="0">
                <a:latin typeface="Calibri"/>
                <a:cs typeface="Calibri"/>
              </a:rPr>
              <a:t> </a:t>
            </a:r>
            <a:r>
              <a:rPr sz="2000" spc="-5" dirty="0">
                <a:latin typeface="Calibri"/>
                <a:cs typeface="Calibri"/>
              </a:rPr>
              <a:t>pulping</a:t>
            </a:r>
            <a:r>
              <a:rPr sz="2000" spc="-35" dirty="0">
                <a:latin typeface="Calibri"/>
                <a:cs typeface="Calibri"/>
              </a:rPr>
              <a:t> </a:t>
            </a:r>
            <a:r>
              <a:rPr sz="2000" spc="-5" dirty="0">
                <a:latin typeface="Calibri"/>
                <a:cs typeface="Calibri"/>
              </a:rPr>
              <a:t>and</a:t>
            </a:r>
            <a:r>
              <a:rPr sz="2000" spc="-30" dirty="0">
                <a:latin typeface="Calibri"/>
                <a:cs typeface="Calibri"/>
              </a:rPr>
              <a:t> </a:t>
            </a:r>
            <a:r>
              <a:rPr sz="2000" spc="-5" dirty="0">
                <a:latin typeface="Calibri"/>
                <a:cs typeface="Calibri"/>
              </a:rPr>
              <a:t>recovery-cycle</a:t>
            </a:r>
            <a:r>
              <a:rPr sz="2000" spc="-55" dirty="0">
                <a:latin typeface="Calibri"/>
                <a:cs typeface="Calibri"/>
              </a:rPr>
              <a:t> </a:t>
            </a:r>
            <a:r>
              <a:rPr sz="2000" spc="-5" dirty="0">
                <a:latin typeface="Calibri"/>
                <a:cs typeface="Calibri"/>
              </a:rPr>
              <a:t>liquors.</a:t>
            </a:r>
            <a:r>
              <a:rPr sz="2000" dirty="0">
                <a:solidFill>
                  <a:srgbClr val="9BB957"/>
                </a:solidFill>
                <a:latin typeface="Microsoft Sans Serif"/>
                <a:cs typeface="Microsoft Sans Serif"/>
              </a:rPr>
              <a:t> </a:t>
            </a:r>
            <a:endParaRPr sz="2000">
              <a:latin typeface="Microsoft Sans Serif"/>
              <a:cs typeface="Microsoft Sans Serif"/>
            </a:endParaRPr>
          </a:p>
          <a:p>
            <a:pPr marL="337820" indent="-274320">
              <a:lnSpc>
                <a:spcPct val="100000"/>
              </a:lnSpc>
              <a:buClr>
                <a:srgbClr val="9BB957"/>
              </a:buClr>
              <a:buFont typeface="Microsoft Sans Serif"/>
              <a:buChar char="•"/>
              <a:tabLst>
                <a:tab pos="337185" algn="l"/>
                <a:tab pos="337820" algn="l"/>
              </a:tabLst>
            </a:pPr>
            <a:r>
              <a:rPr sz="2000" spc="-5" dirty="0">
                <a:latin typeface="Calibri"/>
                <a:cs typeface="Calibri"/>
              </a:rPr>
              <a:t>Explosives:</a:t>
            </a:r>
            <a:r>
              <a:rPr sz="2000" spc="-50" dirty="0">
                <a:latin typeface="Calibri"/>
                <a:cs typeface="Calibri"/>
              </a:rPr>
              <a:t> </a:t>
            </a:r>
            <a:r>
              <a:rPr sz="2000" spc="-10" dirty="0">
                <a:latin typeface="Calibri"/>
                <a:cs typeface="Calibri"/>
              </a:rPr>
              <a:t>F,</a:t>
            </a:r>
            <a:r>
              <a:rPr sz="2000" spc="-15" dirty="0">
                <a:latin typeface="Calibri"/>
                <a:cs typeface="Calibri"/>
              </a:rPr>
              <a:t> </a:t>
            </a:r>
            <a:r>
              <a:rPr sz="2000" spc="-10" dirty="0">
                <a:latin typeface="Calibri"/>
                <a:cs typeface="Calibri"/>
              </a:rPr>
              <a:t>Cl,</a:t>
            </a:r>
            <a:r>
              <a:rPr sz="2000" spc="-35" dirty="0">
                <a:latin typeface="Calibri"/>
                <a:cs typeface="Calibri"/>
              </a:rPr>
              <a:t> </a:t>
            </a:r>
            <a:r>
              <a:rPr sz="2000" spc="-5" dirty="0">
                <a:latin typeface="Calibri"/>
                <a:cs typeface="Calibri"/>
              </a:rPr>
              <a:t>NO</a:t>
            </a:r>
            <a:r>
              <a:rPr sz="1950" spc="-7" baseline="-8547" dirty="0">
                <a:latin typeface="Calibri"/>
                <a:cs typeface="Calibri"/>
              </a:rPr>
              <a:t>3</a:t>
            </a:r>
            <a:r>
              <a:rPr sz="1950" spc="157" baseline="-8547" dirty="0">
                <a:latin typeface="Calibri"/>
                <a:cs typeface="Calibri"/>
              </a:rPr>
              <a:t> </a:t>
            </a:r>
            <a:r>
              <a:rPr sz="2000" spc="-10" dirty="0">
                <a:latin typeface="Calibri"/>
                <a:cs typeface="Calibri"/>
              </a:rPr>
              <a:t>in</a:t>
            </a:r>
            <a:r>
              <a:rPr sz="2000" spc="-35" dirty="0">
                <a:latin typeface="Calibri"/>
                <a:cs typeface="Calibri"/>
              </a:rPr>
              <a:t> </a:t>
            </a:r>
            <a:r>
              <a:rPr sz="2000" spc="-5" dirty="0">
                <a:latin typeface="Calibri"/>
                <a:cs typeface="Calibri"/>
              </a:rPr>
              <a:t>explosive</a:t>
            </a:r>
            <a:r>
              <a:rPr sz="2000" dirty="0">
                <a:latin typeface="Calibri"/>
                <a:cs typeface="Calibri"/>
              </a:rPr>
              <a:t> </a:t>
            </a:r>
            <a:r>
              <a:rPr sz="2000" spc="-5" dirty="0">
                <a:latin typeface="Calibri"/>
                <a:cs typeface="Calibri"/>
              </a:rPr>
              <a:t>materials and</a:t>
            </a:r>
            <a:r>
              <a:rPr sz="2000" spc="-35" dirty="0">
                <a:latin typeface="Calibri"/>
                <a:cs typeface="Calibri"/>
              </a:rPr>
              <a:t> </a:t>
            </a:r>
            <a:r>
              <a:rPr sz="2000" spc="-5" dirty="0">
                <a:latin typeface="Calibri"/>
                <a:cs typeface="Calibri"/>
              </a:rPr>
              <a:t>combustion</a:t>
            </a:r>
            <a:r>
              <a:rPr sz="2000" spc="-30" dirty="0">
                <a:latin typeface="Calibri"/>
                <a:cs typeface="Calibri"/>
              </a:rPr>
              <a:t> </a:t>
            </a:r>
            <a:r>
              <a:rPr sz="2000" spc="-5" dirty="0">
                <a:latin typeface="Calibri"/>
                <a:cs typeface="Calibri"/>
              </a:rPr>
              <a:t>products.</a:t>
            </a:r>
            <a:r>
              <a:rPr sz="2000" dirty="0">
                <a:solidFill>
                  <a:srgbClr val="9BB957"/>
                </a:solidFill>
                <a:latin typeface="Microsoft Sans Serif"/>
                <a:cs typeface="Microsoft Sans Serif"/>
              </a:rPr>
              <a:t> </a:t>
            </a:r>
            <a:endParaRPr sz="2000">
              <a:latin typeface="Microsoft Sans Serif"/>
              <a:cs typeface="Microsoft Sans Serif"/>
            </a:endParaRPr>
          </a:p>
          <a:p>
            <a:pPr marL="337820" indent="-274320">
              <a:lnSpc>
                <a:spcPts val="2390"/>
              </a:lnSpc>
              <a:buClr>
                <a:srgbClr val="9BB957"/>
              </a:buClr>
              <a:buFont typeface="Microsoft Sans Serif"/>
              <a:buChar char="•"/>
              <a:tabLst>
                <a:tab pos="337185" algn="l"/>
                <a:tab pos="337820" algn="l"/>
              </a:tabLst>
            </a:pPr>
            <a:r>
              <a:rPr sz="2000" spc="-5" dirty="0">
                <a:latin typeface="Calibri"/>
                <a:cs typeface="Calibri"/>
              </a:rPr>
              <a:t>Electroplating:</a:t>
            </a:r>
            <a:r>
              <a:rPr sz="2000" spc="-15" dirty="0">
                <a:latin typeface="Calibri"/>
                <a:cs typeface="Calibri"/>
              </a:rPr>
              <a:t> </a:t>
            </a:r>
            <a:r>
              <a:rPr sz="2000" spc="-5" dirty="0">
                <a:latin typeface="Calibri"/>
                <a:cs typeface="Calibri"/>
              </a:rPr>
              <a:t>F</a:t>
            </a:r>
            <a:r>
              <a:rPr sz="2000" spc="-15" dirty="0">
                <a:latin typeface="Calibri"/>
                <a:cs typeface="Calibri"/>
              </a:rPr>
              <a:t> </a:t>
            </a:r>
            <a:r>
              <a:rPr sz="2000" spc="-5" dirty="0">
                <a:latin typeface="Calibri"/>
                <a:cs typeface="Calibri"/>
              </a:rPr>
              <a:t>and</a:t>
            </a:r>
            <a:r>
              <a:rPr sz="2000" spc="15" dirty="0">
                <a:latin typeface="Calibri"/>
                <a:cs typeface="Calibri"/>
              </a:rPr>
              <a:t> </a:t>
            </a:r>
            <a:r>
              <a:rPr sz="2000" spc="-10" dirty="0">
                <a:latin typeface="Calibri"/>
                <a:cs typeface="Calibri"/>
              </a:rPr>
              <a:t>Cl</a:t>
            </a:r>
            <a:r>
              <a:rPr sz="2000" spc="15" dirty="0">
                <a:latin typeface="Calibri"/>
                <a:cs typeface="Calibri"/>
              </a:rPr>
              <a:t> </a:t>
            </a:r>
            <a:r>
              <a:rPr sz="2000" spc="-10" dirty="0">
                <a:latin typeface="Calibri"/>
                <a:cs typeface="Calibri"/>
              </a:rPr>
              <a:t>in </a:t>
            </a:r>
            <a:r>
              <a:rPr sz="2000" spc="-5" dirty="0">
                <a:latin typeface="Calibri"/>
                <a:cs typeface="Calibri"/>
              </a:rPr>
              <a:t>etching</a:t>
            </a:r>
            <a:r>
              <a:rPr sz="2000" spc="15" dirty="0">
                <a:latin typeface="Calibri"/>
                <a:cs typeface="Calibri"/>
              </a:rPr>
              <a:t> </a:t>
            </a:r>
            <a:r>
              <a:rPr sz="2000" spc="-5" dirty="0">
                <a:latin typeface="Calibri"/>
                <a:cs typeface="Calibri"/>
              </a:rPr>
              <a:t>baths;</a:t>
            </a:r>
            <a:r>
              <a:rPr sz="2000" spc="10" dirty="0">
                <a:latin typeface="Calibri"/>
                <a:cs typeface="Calibri"/>
              </a:rPr>
              <a:t> </a:t>
            </a:r>
            <a:r>
              <a:rPr sz="2000" spc="-5" dirty="0">
                <a:latin typeface="Calibri"/>
                <a:cs typeface="Calibri"/>
              </a:rPr>
              <a:t>S</a:t>
            </a:r>
            <a:r>
              <a:rPr sz="2000" spc="-15" dirty="0">
                <a:latin typeface="Calibri"/>
                <a:cs typeface="Calibri"/>
              </a:rPr>
              <a:t> </a:t>
            </a:r>
            <a:r>
              <a:rPr sz="2000" spc="-10" dirty="0">
                <a:latin typeface="Calibri"/>
                <a:cs typeface="Calibri"/>
              </a:rPr>
              <a:t>in</a:t>
            </a:r>
            <a:r>
              <a:rPr sz="2000" spc="20" dirty="0">
                <a:latin typeface="Calibri"/>
                <a:cs typeface="Calibri"/>
              </a:rPr>
              <a:t> </a:t>
            </a:r>
            <a:r>
              <a:rPr sz="2000" spc="-10" dirty="0">
                <a:latin typeface="Calibri"/>
                <a:cs typeface="Calibri"/>
              </a:rPr>
              <a:t>anodising</a:t>
            </a:r>
            <a:r>
              <a:rPr sz="2000" spc="-15" dirty="0">
                <a:latin typeface="Calibri"/>
                <a:cs typeface="Calibri"/>
              </a:rPr>
              <a:t> </a:t>
            </a:r>
            <a:r>
              <a:rPr sz="2000" spc="-10" dirty="0">
                <a:latin typeface="Calibri"/>
                <a:cs typeface="Calibri"/>
              </a:rPr>
              <a:t>baths.</a:t>
            </a:r>
            <a:r>
              <a:rPr sz="2000" dirty="0">
                <a:solidFill>
                  <a:srgbClr val="9BB957"/>
                </a:solidFill>
                <a:latin typeface="Microsoft Sans Serif"/>
                <a:cs typeface="Microsoft Sans Serif"/>
              </a:rPr>
              <a:t> </a:t>
            </a:r>
            <a:endParaRPr sz="2000">
              <a:latin typeface="Microsoft Sans Serif"/>
              <a:cs typeface="Microsoft Sans Serif"/>
            </a:endParaRPr>
          </a:p>
          <a:p>
            <a:pPr marL="337820" marR="621665" indent="-274320">
              <a:lnSpc>
                <a:spcPts val="1920"/>
              </a:lnSpc>
              <a:spcBef>
                <a:spcPts val="455"/>
              </a:spcBef>
              <a:buClr>
                <a:srgbClr val="9BB957"/>
              </a:buClr>
              <a:buFont typeface="Microsoft Sans Serif"/>
              <a:buChar char="•"/>
              <a:tabLst>
                <a:tab pos="337185" algn="l"/>
                <a:tab pos="337820" algn="l"/>
              </a:tabLst>
            </a:pPr>
            <a:r>
              <a:rPr sz="2000" spc="-5" dirty="0">
                <a:latin typeface="Calibri"/>
                <a:cs typeface="Calibri"/>
              </a:rPr>
              <a:t>Biomedical Laboratories: </a:t>
            </a:r>
            <a:r>
              <a:rPr sz="2000" spc="-10" dirty="0">
                <a:latin typeface="Calibri"/>
                <a:cs typeface="Calibri"/>
              </a:rPr>
              <a:t>Ca, K, Cl in </a:t>
            </a:r>
            <a:r>
              <a:rPr sz="2000" spc="-5" dirty="0">
                <a:latin typeface="Calibri"/>
                <a:cs typeface="Calibri"/>
              </a:rPr>
              <a:t>body fluids (blood, </a:t>
            </a:r>
            <a:r>
              <a:rPr sz="2000" spc="-10" dirty="0">
                <a:latin typeface="Calibri"/>
                <a:cs typeface="Calibri"/>
              </a:rPr>
              <a:t>plasma, serum, </a:t>
            </a:r>
            <a:r>
              <a:rPr sz="2000" spc="-440" dirty="0">
                <a:latin typeface="Calibri"/>
                <a:cs typeface="Calibri"/>
              </a:rPr>
              <a:t> </a:t>
            </a:r>
            <a:r>
              <a:rPr sz="2000" spc="-5" dirty="0">
                <a:latin typeface="Calibri"/>
                <a:cs typeface="Calibri"/>
              </a:rPr>
              <a:t>sweat).</a:t>
            </a:r>
            <a:r>
              <a:rPr sz="2000" dirty="0">
                <a:solidFill>
                  <a:srgbClr val="9BB957"/>
                </a:solidFill>
                <a:latin typeface="Microsoft Sans Serif"/>
                <a:cs typeface="Microsoft Sans Serif"/>
              </a:rPr>
              <a:t> </a:t>
            </a:r>
            <a:endParaRPr sz="2000">
              <a:latin typeface="Microsoft Sans Serif"/>
              <a:cs typeface="Microsoft Sans Serif"/>
            </a:endParaRPr>
          </a:p>
          <a:p>
            <a:pPr marL="337820" indent="-274320">
              <a:lnSpc>
                <a:spcPct val="100000"/>
              </a:lnSpc>
              <a:spcBef>
                <a:spcPts val="40"/>
              </a:spcBef>
              <a:buClr>
                <a:srgbClr val="9BB957"/>
              </a:buClr>
              <a:buFont typeface="Microsoft Sans Serif"/>
              <a:buChar char="•"/>
              <a:tabLst>
                <a:tab pos="337185" algn="l"/>
                <a:tab pos="337820" algn="l"/>
              </a:tabLst>
            </a:pPr>
            <a:r>
              <a:rPr sz="2000" spc="-5" dirty="0">
                <a:latin typeface="Calibri"/>
                <a:cs typeface="Calibri"/>
              </a:rPr>
              <a:t>F</a:t>
            </a:r>
            <a:r>
              <a:rPr sz="2000" spc="-30" dirty="0">
                <a:latin typeface="Calibri"/>
                <a:cs typeface="Calibri"/>
              </a:rPr>
              <a:t> </a:t>
            </a:r>
            <a:r>
              <a:rPr sz="2000" spc="-10" dirty="0">
                <a:latin typeface="Calibri"/>
                <a:cs typeface="Calibri"/>
              </a:rPr>
              <a:t>in</a:t>
            </a:r>
            <a:r>
              <a:rPr sz="2000" spc="-20" dirty="0">
                <a:latin typeface="Calibri"/>
                <a:cs typeface="Calibri"/>
              </a:rPr>
              <a:t> </a:t>
            </a:r>
            <a:r>
              <a:rPr sz="2000" spc="-10" dirty="0">
                <a:latin typeface="Calibri"/>
                <a:cs typeface="Calibri"/>
              </a:rPr>
              <a:t>skeletal</a:t>
            </a:r>
            <a:r>
              <a:rPr sz="2000" spc="5" dirty="0">
                <a:latin typeface="Calibri"/>
                <a:cs typeface="Calibri"/>
              </a:rPr>
              <a:t> </a:t>
            </a:r>
            <a:r>
              <a:rPr sz="2000" spc="-5" dirty="0">
                <a:latin typeface="Calibri"/>
                <a:cs typeface="Calibri"/>
              </a:rPr>
              <a:t>and</a:t>
            </a:r>
            <a:r>
              <a:rPr sz="2000" spc="-15" dirty="0">
                <a:latin typeface="Calibri"/>
                <a:cs typeface="Calibri"/>
              </a:rPr>
              <a:t> </a:t>
            </a:r>
            <a:r>
              <a:rPr sz="2000" spc="-5" dirty="0">
                <a:latin typeface="Calibri"/>
                <a:cs typeface="Calibri"/>
              </a:rPr>
              <a:t>dental</a:t>
            </a:r>
            <a:r>
              <a:rPr sz="2000" spc="-40" dirty="0">
                <a:latin typeface="Calibri"/>
                <a:cs typeface="Calibri"/>
              </a:rPr>
              <a:t> </a:t>
            </a:r>
            <a:r>
              <a:rPr sz="2000" spc="-5" dirty="0">
                <a:latin typeface="Calibri"/>
                <a:cs typeface="Calibri"/>
              </a:rPr>
              <a:t>studies.</a:t>
            </a:r>
            <a:r>
              <a:rPr sz="2000" dirty="0">
                <a:solidFill>
                  <a:srgbClr val="9BB957"/>
                </a:solidFill>
                <a:latin typeface="Microsoft Sans Serif"/>
                <a:cs typeface="Microsoft Sans Serif"/>
              </a:rPr>
              <a:t> </a:t>
            </a:r>
            <a:endParaRPr sz="2000">
              <a:latin typeface="Microsoft Sans Serif"/>
              <a:cs typeface="Microsoft Sans Serif"/>
            </a:endParaRPr>
          </a:p>
          <a:p>
            <a:pPr marL="337820" indent="-274320">
              <a:lnSpc>
                <a:spcPct val="100000"/>
              </a:lnSpc>
              <a:spcBef>
                <a:spcPts val="25"/>
              </a:spcBef>
              <a:buClr>
                <a:srgbClr val="9BB957"/>
              </a:buClr>
              <a:buFont typeface="Microsoft Sans Serif"/>
              <a:buChar char="•"/>
              <a:tabLst>
                <a:tab pos="337185" algn="l"/>
                <a:tab pos="337820" algn="l"/>
              </a:tabLst>
            </a:pPr>
            <a:r>
              <a:rPr sz="2000" spc="-5" dirty="0">
                <a:latin typeface="Calibri"/>
                <a:cs typeface="Calibri"/>
              </a:rPr>
              <a:t>Education</a:t>
            </a:r>
            <a:r>
              <a:rPr sz="2000" spc="-45" dirty="0">
                <a:latin typeface="Calibri"/>
                <a:cs typeface="Calibri"/>
              </a:rPr>
              <a:t> </a:t>
            </a:r>
            <a:r>
              <a:rPr sz="2000" spc="-5" dirty="0">
                <a:latin typeface="Calibri"/>
                <a:cs typeface="Calibri"/>
              </a:rPr>
              <a:t>and </a:t>
            </a:r>
            <a:r>
              <a:rPr sz="2000" spc="-10" dirty="0">
                <a:latin typeface="Calibri"/>
                <a:cs typeface="Calibri"/>
              </a:rPr>
              <a:t>Research:</a:t>
            </a:r>
            <a:r>
              <a:rPr sz="2000" spc="-15" dirty="0">
                <a:latin typeface="Calibri"/>
                <a:cs typeface="Calibri"/>
              </a:rPr>
              <a:t> </a:t>
            </a:r>
            <a:r>
              <a:rPr sz="2000" dirty="0">
                <a:latin typeface="Calibri"/>
                <a:cs typeface="Calibri"/>
              </a:rPr>
              <a:t>Wide</a:t>
            </a:r>
            <a:r>
              <a:rPr sz="2000" spc="-25" dirty="0">
                <a:latin typeface="Calibri"/>
                <a:cs typeface="Calibri"/>
              </a:rPr>
              <a:t> </a:t>
            </a:r>
            <a:r>
              <a:rPr sz="2000" spc="-5" dirty="0">
                <a:latin typeface="Calibri"/>
                <a:cs typeface="Calibri"/>
              </a:rPr>
              <a:t>range</a:t>
            </a:r>
            <a:r>
              <a:rPr sz="2000" spc="-20" dirty="0">
                <a:latin typeface="Calibri"/>
                <a:cs typeface="Calibri"/>
              </a:rPr>
              <a:t> </a:t>
            </a:r>
            <a:r>
              <a:rPr sz="2000" spc="-5" dirty="0">
                <a:latin typeface="Calibri"/>
                <a:cs typeface="Calibri"/>
              </a:rPr>
              <a:t>of</a:t>
            </a:r>
            <a:r>
              <a:rPr sz="2000" spc="-20" dirty="0">
                <a:latin typeface="Calibri"/>
                <a:cs typeface="Calibri"/>
              </a:rPr>
              <a:t> </a:t>
            </a:r>
            <a:r>
              <a:rPr sz="2000" spc="-5" dirty="0">
                <a:latin typeface="Calibri"/>
                <a:cs typeface="Calibri"/>
              </a:rPr>
              <a:t>applications.</a:t>
            </a:r>
            <a:r>
              <a:rPr sz="2000" dirty="0">
                <a:solidFill>
                  <a:srgbClr val="9BB957"/>
                </a:solidFill>
                <a:latin typeface="Microsoft Sans Serif"/>
                <a:cs typeface="Microsoft Sans Serif"/>
              </a:rPr>
              <a:t> </a:t>
            </a:r>
            <a:endParaRPr sz="2000">
              <a:latin typeface="Microsoft Sans Serif"/>
              <a:cs typeface="Microsoft Sans Serif"/>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99157" y="179273"/>
            <a:ext cx="4204970" cy="512445"/>
          </a:xfrm>
          <a:prstGeom prst="rect">
            <a:avLst/>
          </a:prstGeom>
        </p:spPr>
        <p:txBody>
          <a:bodyPr vert="horz" wrap="square" lIns="0" tIns="12065" rIns="0" bIns="0" rtlCol="0">
            <a:spAutoFit/>
          </a:bodyPr>
          <a:lstStyle/>
          <a:p>
            <a:pPr marL="12700">
              <a:lnSpc>
                <a:spcPct val="100000"/>
              </a:lnSpc>
              <a:spcBef>
                <a:spcPts val="95"/>
              </a:spcBef>
            </a:pPr>
            <a:r>
              <a:rPr sz="3200" b="1" spc="-10" dirty="0">
                <a:latin typeface="Calibri"/>
                <a:cs typeface="Calibri"/>
              </a:rPr>
              <a:t>2.</a:t>
            </a:r>
            <a:r>
              <a:rPr sz="3200" b="1" spc="15" dirty="0">
                <a:latin typeface="Calibri"/>
                <a:cs typeface="Calibri"/>
              </a:rPr>
              <a:t> </a:t>
            </a:r>
            <a:r>
              <a:rPr sz="3200" b="1" dirty="0">
                <a:latin typeface="Calibri"/>
                <a:cs typeface="Calibri"/>
              </a:rPr>
              <a:t>Solid</a:t>
            </a:r>
            <a:r>
              <a:rPr sz="3200" b="1" spc="-45" dirty="0">
                <a:latin typeface="Calibri"/>
                <a:cs typeface="Calibri"/>
              </a:rPr>
              <a:t> </a:t>
            </a:r>
            <a:r>
              <a:rPr sz="3200" b="1" spc="-5" dirty="0">
                <a:latin typeface="Calibri"/>
                <a:cs typeface="Calibri"/>
              </a:rPr>
              <a:t>–</a:t>
            </a:r>
            <a:r>
              <a:rPr sz="3200" b="1" spc="-50" dirty="0">
                <a:latin typeface="Calibri"/>
                <a:cs typeface="Calibri"/>
              </a:rPr>
              <a:t> </a:t>
            </a:r>
            <a:r>
              <a:rPr sz="3200" b="1" spc="-5" dirty="0">
                <a:latin typeface="Calibri"/>
                <a:cs typeface="Calibri"/>
              </a:rPr>
              <a:t>State</a:t>
            </a:r>
            <a:r>
              <a:rPr sz="3200" b="1" spc="-65" dirty="0">
                <a:latin typeface="Calibri"/>
                <a:cs typeface="Calibri"/>
              </a:rPr>
              <a:t> </a:t>
            </a:r>
            <a:r>
              <a:rPr sz="3200" b="1" spc="-5" dirty="0">
                <a:latin typeface="Calibri"/>
                <a:cs typeface="Calibri"/>
              </a:rPr>
              <a:t>Electrode</a:t>
            </a:r>
            <a:endParaRPr sz="3200">
              <a:latin typeface="Calibri"/>
              <a:cs typeface="Calibri"/>
            </a:endParaRPr>
          </a:p>
        </p:txBody>
      </p:sp>
      <p:sp>
        <p:nvSpPr>
          <p:cNvPr id="3" name="object 3"/>
          <p:cNvSpPr txBox="1"/>
          <p:nvPr/>
        </p:nvSpPr>
        <p:spPr>
          <a:xfrm>
            <a:off x="218440" y="777366"/>
            <a:ext cx="8203565" cy="5140960"/>
          </a:xfrm>
          <a:prstGeom prst="rect">
            <a:avLst/>
          </a:prstGeom>
        </p:spPr>
        <p:txBody>
          <a:bodyPr vert="horz" wrap="square" lIns="0" tIns="26670" rIns="0" bIns="0" rtlCol="0">
            <a:spAutoFit/>
          </a:bodyPr>
          <a:lstStyle/>
          <a:p>
            <a:pPr marL="25400" marR="17780">
              <a:lnSpc>
                <a:spcPts val="2860"/>
              </a:lnSpc>
              <a:spcBef>
                <a:spcPts val="210"/>
              </a:spcBef>
            </a:pPr>
            <a:r>
              <a:rPr sz="2400" dirty="0">
                <a:latin typeface="Calibri"/>
                <a:cs typeface="Calibri"/>
              </a:rPr>
              <a:t>This</a:t>
            </a:r>
            <a:r>
              <a:rPr sz="2400" spc="-40" dirty="0">
                <a:latin typeface="Calibri"/>
                <a:cs typeface="Calibri"/>
              </a:rPr>
              <a:t> </a:t>
            </a:r>
            <a:r>
              <a:rPr sz="2400" dirty="0">
                <a:latin typeface="Calibri"/>
                <a:cs typeface="Calibri"/>
              </a:rPr>
              <a:t>is</a:t>
            </a:r>
            <a:r>
              <a:rPr sz="2400" spc="-20" dirty="0">
                <a:latin typeface="Calibri"/>
                <a:cs typeface="Calibri"/>
              </a:rPr>
              <a:t> </a:t>
            </a:r>
            <a:r>
              <a:rPr sz="2400" spc="-5" dirty="0">
                <a:latin typeface="Calibri"/>
                <a:cs typeface="Calibri"/>
              </a:rPr>
              <a:t>based</a:t>
            </a:r>
            <a:r>
              <a:rPr sz="2400" spc="-20" dirty="0">
                <a:latin typeface="Calibri"/>
                <a:cs typeface="Calibri"/>
              </a:rPr>
              <a:t> </a:t>
            </a:r>
            <a:r>
              <a:rPr sz="2400" dirty="0">
                <a:latin typeface="Calibri"/>
                <a:cs typeface="Calibri"/>
              </a:rPr>
              <a:t>on</a:t>
            </a:r>
            <a:r>
              <a:rPr sz="2400" spc="-30" dirty="0">
                <a:latin typeface="Calibri"/>
                <a:cs typeface="Calibri"/>
              </a:rPr>
              <a:t> </a:t>
            </a:r>
            <a:r>
              <a:rPr sz="2400" spc="-15" dirty="0">
                <a:latin typeface="Calibri"/>
                <a:cs typeface="Calibri"/>
              </a:rPr>
              <a:t>an</a:t>
            </a:r>
            <a:r>
              <a:rPr sz="2400" spc="-5" dirty="0">
                <a:latin typeface="Calibri"/>
                <a:cs typeface="Calibri"/>
              </a:rPr>
              <a:t> inorganic</a:t>
            </a:r>
            <a:r>
              <a:rPr sz="2400" spc="-15" dirty="0">
                <a:latin typeface="Calibri"/>
                <a:cs typeface="Calibri"/>
              </a:rPr>
              <a:t> </a:t>
            </a:r>
            <a:r>
              <a:rPr sz="2400" spc="-5" dirty="0">
                <a:latin typeface="Calibri"/>
                <a:cs typeface="Calibri"/>
              </a:rPr>
              <a:t>crystal</a:t>
            </a:r>
            <a:r>
              <a:rPr sz="2400" spc="-60" dirty="0">
                <a:latin typeface="Calibri"/>
                <a:cs typeface="Calibri"/>
              </a:rPr>
              <a:t> </a:t>
            </a:r>
            <a:r>
              <a:rPr sz="2400" spc="-10" dirty="0">
                <a:latin typeface="Calibri"/>
                <a:cs typeface="Calibri"/>
              </a:rPr>
              <a:t>doped</a:t>
            </a:r>
            <a:r>
              <a:rPr sz="2400" dirty="0">
                <a:latin typeface="Calibri"/>
                <a:cs typeface="Calibri"/>
              </a:rPr>
              <a:t> </a:t>
            </a:r>
            <a:r>
              <a:rPr sz="2400" spc="-10" dirty="0">
                <a:latin typeface="Calibri"/>
                <a:cs typeface="Calibri"/>
              </a:rPr>
              <a:t>with</a:t>
            </a:r>
            <a:r>
              <a:rPr sz="2400" spc="-30" dirty="0">
                <a:latin typeface="Calibri"/>
                <a:cs typeface="Calibri"/>
              </a:rPr>
              <a:t> </a:t>
            </a:r>
            <a:r>
              <a:rPr sz="2400" dirty="0">
                <a:latin typeface="Calibri"/>
                <a:cs typeface="Calibri"/>
              </a:rPr>
              <a:t>a</a:t>
            </a:r>
            <a:r>
              <a:rPr sz="2400" spc="-40" dirty="0">
                <a:latin typeface="Calibri"/>
                <a:cs typeface="Calibri"/>
              </a:rPr>
              <a:t> </a:t>
            </a:r>
            <a:r>
              <a:rPr sz="2400" spc="-5" dirty="0">
                <a:latin typeface="Calibri"/>
                <a:cs typeface="Calibri"/>
              </a:rPr>
              <a:t>small</a:t>
            </a:r>
            <a:r>
              <a:rPr sz="2400" spc="-35" dirty="0">
                <a:latin typeface="Calibri"/>
                <a:cs typeface="Calibri"/>
              </a:rPr>
              <a:t> </a:t>
            </a:r>
            <a:r>
              <a:rPr sz="2400" spc="-5" dirty="0">
                <a:latin typeface="Calibri"/>
                <a:cs typeface="Calibri"/>
              </a:rPr>
              <a:t>amount</a:t>
            </a:r>
            <a:r>
              <a:rPr sz="2400" spc="-25" dirty="0">
                <a:latin typeface="Calibri"/>
                <a:cs typeface="Calibri"/>
              </a:rPr>
              <a:t> </a:t>
            </a:r>
            <a:r>
              <a:rPr sz="2400" spc="5" dirty="0">
                <a:latin typeface="Calibri"/>
                <a:cs typeface="Calibri"/>
              </a:rPr>
              <a:t>of </a:t>
            </a:r>
            <a:r>
              <a:rPr sz="2400" spc="-530" dirty="0">
                <a:latin typeface="Calibri"/>
                <a:cs typeface="Calibri"/>
              </a:rPr>
              <a:t> </a:t>
            </a:r>
            <a:r>
              <a:rPr sz="2400" dirty="0">
                <a:latin typeface="Calibri"/>
                <a:cs typeface="Calibri"/>
              </a:rPr>
              <a:t>ions</a:t>
            </a:r>
            <a:r>
              <a:rPr sz="2400" spc="-50" dirty="0">
                <a:latin typeface="Calibri"/>
                <a:cs typeface="Calibri"/>
              </a:rPr>
              <a:t> </a:t>
            </a:r>
            <a:r>
              <a:rPr sz="2400" spc="-10" dirty="0">
                <a:latin typeface="Calibri"/>
                <a:cs typeface="Calibri"/>
              </a:rPr>
              <a:t>of</a:t>
            </a:r>
            <a:r>
              <a:rPr sz="2400" spc="-5" dirty="0">
                <a:latin typeface="Calibri"/>
                <a:cs typeface="Calibri"/>
              </a:rPr>
              <a:t> </a:t>
            </a:r>
            <a:r>
              <a:rPr sz="2400" dirty="0">
                <a:latin typeface="Calibri"/>
                <a:cs typeface="Calibri"/>
              </a:rPr>
              <a:t>a</a:t>
            </a:r>
            <a:r>
              <a:rPr sz="2400" spc="-10" dirty="0">
                <a:latin typeface="Calibri"/>
                <a:cs typeface="Calibri"/>
              </a:rPr>
              <a:t> </a:t>
            </a:r>
            <a:r>
              <a:rPr sz="2400" spc="-5" dirty="0">
                <a:latin typeface="Calibri"/>
                <a:cs typeface="Calibri"/>
              </a:rPr>
              <a:t>different</a:t>
            </a:r>
            <a:r>
              <a:rPr sz="2400" spc="15" dirty="0">
                <a:latin typeface="Calibri"/>
                <a:cs typeface="Calibri"/>
              </a:rPr>
              <a:t> </a:t>
            </a:r>
            <a:r>
              <a:rPr sz="2400" spc="-10" dirty="0">
                <a:latin typeface="Calibri"/>
                <a:cs typeface="Calibri"/>
              </a:rPr>
              <a:t>vacancy</a:t>
            </a:r>
            <a:r>
              <a:rPr sz="2400" spc="-5" dirty="0">
                <a:latin typeface="Calibri"/>
                <a:cs typeface="Calibri"/>
              </a:rPr>
              <a:t> </a:t>
            </a:r>
            <a:r>
              <a:rPr sz="2400" spc="5" dirty="0">
                <a:latin typeface="Calibri"/>
                <a:cs typeface="Calibri"/>
              </a:rPr>
              <a:t>to</a:t>
            </a:r>
            <a:r>
              <a:rPr sz="2400" spc="-10" dirty="0">
                <a:latin typeface="Calibri"/>
                <a:cs typeface="Calibri"/>
              </a:rPr>
              <a:t> </a:t>
            </a:r>
            <a:r>
              <a:rPr sz="2400" spc="-5" dirty="0">
                <a:latin typeface="Calibri"/>
                <a:cs typeface="Calibri"/>
              </a:rPr>
              <a:t>create vacant sites.</a:t>
            </a:r>
            <a:endParaRPr sz="2400">
              <a:latin typeface="Calibri"/>
              <a:cs typeface="Calibri"/>
            </a:endParaRPr>
          </a:p>
          <a:p>
            <a:pPr marL="25400">
              <a:lnSpc>
                <a:spcPts val="2860"/>
              </a:lnSpc>
            </a:pPr>
            <a:r>
              <a:rPr sz="2400" spc="-5" dirty="0">
                <a:latin typeface="Calibri"/>
                <a:cs typeface="Calibri"/>
              </a:rPr>
              <a:t>Examples</a:t>
            </a:r>
            <a:r>
              <a:rPr sz="2400" spc="-35" dirty="0">
                <a:latin typeface="Calibri"/>
                <a:cs typeface="Calibri"/>
              </a:rPr>
              <a:t> </a:t>
            </a:r>
            <a:r>
              <a:rPr sz="2400" dirty="0">
                <a:latin typeface="Calibri"/>
                <a:cs typeface="Calibri"/>
              </a:rPr>
              <a:t>1)</a:t>
            </a:r>
            <a:r>
              <a:rPr sz="2400" spc="-50" dirty="0">
                <a:latin typeface="Calibri"/>
                <a:cs typeface="Calibri"/>
              </a:rPr>
              <a:t> </a:t>
            </a:r>
            <a:r>
              <a:rPr sz="2400" spc="-5" dirty="0">
                <a:latin typeface="Calibri"/>
                <a:cs typeface="Calibri"/>
              </a:rPr>
              <a:t>Fluoride</a:t>
            </a:r>
            <a:r>
              <a:rPr sz="2400" spc="-30" dirty="0">
                <a:latin typeface="Calibri"/>
                <a:cs typeface="Calibri"/>
              </a:rPr>
              <a:t> </a:t>
            </a:r>
            <a:r>
              <a:rPr sz="2400" dirty="0">
                <a:latin typeface="Calibri"/>
                <a:cs typeface="Calibri"/>
              </a:rPr>
              <a:t>ISE</a:t>
            </a:r>
            <a:r>
              <a:rPr sz="2400" spc="-40" dirty="0">
                <a:latin typeface="Calibri"/>
                <a:cs typeface="Calibri"/>
              </a:rPr>
              <a:t> </a:t>
            </a:r>
            <a:r>
              <a:rPr sz="2400" dirty="0">
                <a:latin typeface="Calibri"/>
                <a:cs typeface="Calibri"/>
              </a:rPr>
              <a:t>2)</a:t>
            </a:r>
            <a:r>
              <a:rPr sz="2400" spc="-25" dirty="0">
                <a:latin typeface="Calibri"/>
                <a:cs typeface="Calibri"/>
              </a:rPr>
              <a:t> </a:t>
            </a:r>
            <a:r>
              <a:rPr sz="2400" spc="-5" dirty="0">
                <a:latin typeface="Calibri"/>
                <a:cs typeface="Calibri"/>
              </a:rPr>
              <a:t>Chloride</a:t>
            </a:r>
            <a:r>
              <a:rPr sz="2400" spc="-35" dirty="0">
                <a:latin typeface="Calibri"/>
                <a:cs typeface="Calibri"/>
              </a:rPr>
              <a:t> </a:t>
            </a:r>
            <a:r>
              <a:rPr sz="2400" dirty="0">
                <a:latin typeface="Calibri"/>
                <a:cs typeface="Calibri"/>
              </a:rPr>
              <a:t>ISE</a:t>
            </a:r>
            <a:endParaRPr sz="2400">
              <a:latin typeface="Calibri"/>
              <a:cs typeface="Calibri"/>
            </a:endParaRPr>
          </a:p>
          <a:p>
            <a:pPr marL="101600" marR="4085590">
              <a:lnSpc>
                <a:spcPct val="99700"/>
              </a:lnSpc>
              <a:spcBef>
                <a:spcPts val="335"/>
              </a:spcBef>
            </a:pPr>
            <a:r>
              <a:rPr sz="2000" b="1" spc="-10" dirty="0">
                <a:latin typeface="Calibri"/>
                <a:cs typeface="Calibri"/>
              </a:rPr>
              <a:t>1) </a:t>
            </a:r>
            <a:r>
              <a:rPr sz="2000" b="1" spc="-5" dirty="0">
                <a:latin typeface="Calibri"/>
                <a:cs typeface="Calibri"/>
              </a:rPr>
              <a:t>Fluoride </a:t>
            </a:r>
            <a:r>
              <a:rPr sz="2000" b="1" spc="-10" dirty="0">
                <a:latin typeface="Calibri"/>
                <a:cs typeface="Calibri"/>
              </a:rPr>
              <a:t>ISE -</a:t>
            </a:r>
            <a:r>
              <a:rPr sz="2000" spc="-10" dirty="0">
                <a:latin typeface="Calibri"/>
                <a:cs typeface="Calibri"/>
              </a:rPr>
              <a:t>For </a:t>
            </a:r>
            <a:r>
              <a:rPr sz="2000" spc="-5" dirty="0">
                <a:latin typeface="Calibri"/>
                <a:cs typeface="Calibri"/>
              </a:rPr>
              <a:t>instance, in a </a:t>
            </a:r>
            <a:r>
              <a:rPr sz="2000" spc="-10" dirty="0">
                <a:latin typeface="Calibri"/>
                <a:cs typeface="Calibri"/>
              </a:rPr>
              <a:t>F</a:t>
            </a:r>
            <a:r>
              <a:rPr sz="1950" spc="-15" baseline="29914" dirty="0">
                <a:latin typeface="Calibri"/>
                <a:cs typeface="Calibri"/>
              </a:rPr>
              <a:t>¯</a:t>
            </a:r>
            <a:r>
              <a:rPr sz="1950" spc="-7" baseline="29914" dirty="0">
                <a:latin typeface="Calibri"/>
                <a:cs typeface="Calibri"/>
              </a:rPr>
              <a:t> </a:t>
            </a:r>
            <a:r>
              <a:rPr sz="2000" spc="-5" dirty="0">
                <a:latin typeface="Calibri"/>
                <a:cs typeface="Calibri"/>
              </a:rPr>
              <a:t>ion </a:t>
            </a:r>
            <a:r>
              <a:rPr sz="2000" spc="-440" dirty="0">
                <a:latin typeface="Calibri"/>
                <a:cs typeface="Calibri"/>
              </a:rPr>
              <a:t> </a:t>
            </a:r>
            <a:r>
              <a:rPr sz="2000" spc="-10" dirty="0">
                <a:latin typeface="Calibri"/>
                <a:cs typeface="Calibri"/>
              </a:rPr>
              <a:t>electrode, </a:t>
            </a:r>
            <a:r>
              <a:rPr sz="2000" spc="-5" dirty="0">
                <a:latin typeface="Calibri"/>
                <a:cs typeface="Calibri"/>
              </a:rPr>
              <a:t>a </a:t>
            </a:r>
            <a:r>
              <a:rPr sz="2000" dirty="0">
                <a:latin typeface="Calibri"/>
                <a:cs typeface="Calibri"/>
              </a:rPr>
              <a:t>LaF</a:t>
            </a:r>
            <a:r>
              <a:rPr sz="1950" baseline="-8547" dirty="0">
                <a:latin typeface="Calibri"/>
                <a:cs typeface="Calibri"/>
              </a:rPr>
              <a:t>3</a:t>
            </a:r>
            <a:r>
              <a:rPr sz="1950" spc="7" baseline="-8547" dirty="0">
                <a:latin typeface="Calibri"/>
                <a:cs typeface="Calibri"/>
              </a:rPr>
              <a:t> </a:t>
            </a:r>
            <a:r>
              <a:rPr sz="2000" spc="-5" dirty="0">
                <a:latin typeface="Calibri"/>
                <a:cs typeface="Calibri"/>
              </a:rPr>
              <a:t>(Lanthanum fluoride) </a:t>
            </a:r>
            <a:r>
              <a:rPr sz="2000" spc="-440" dirty="0">
                <a:latin typeface="Calibri"/>
                <a:cs typeface="Calibri"/>
              </a:rPr>
              <a:t> </a:t>
            </a:r>
            <a:r>
              <a:rPr sz="2000" spc="-5" dirty="0">
                <a:latin typeface="Calibri"/>
                <a:cs typeface="Calibri"/>
              </a:rPr>
              <a:t>crystal is doped with </a:t>
            </a:r>
            <a:r>
              <a:rPr sz="2000" spc="5" dirty="0">
                <a:latin typeface="Calibri"/>
                <a:cs typeface="Calibri"/>
              </a:rPr>
              <a:t>EuF</a:t>
            </a:r>
            <a:r>
              <a:rPr sz="1950" spc="7" baseline="-8547" dirty="0">
                <a:latin typeface="Calibri"/>
                <a:cs typeface="Calibri"/>
              </a:rPr>
              <a:t>2</a:t>
            </a:r>
            <a:r>
              <a:rPr sz="1950" spc="15" baseline="-8547" dirty="0">
                <a:latin typeface="Calibri"/>
                <a:cs typeface="Calibri"/>
              </a:rPr>
              <a:t> </a:t>
            </a:r>
            <a:r>
              <a:rPr sz="2000" spc="-5" dirty="0">
                <a:latin typeface="Calibri"/>
                <a:cs typeface="Calibri"/>
              </a:rPr>
              <a:t>Europium </a:t>
            </a:r>
            <a:r>
              <a:rPr sz="2000" dirty="0">
                <a:latin typeface="Calibri"/>
                <a:cs typeface="Calibri"/>
              </a:rPr>
              <a:t> </a:t>
            </a:r>
            <a:r>
              <a:rPr sz="2000" spc="-5" dirty="0">
                <a:latin typeface="Calibri"/>
                <a:cs typeface="Calibri"/>
              </a:rPr>
              <a:t>fluoride) </a:t>
            </a:r>
            <a:r>
              <a:rPr sz="2000" spc="-10" dirty="0">
                <a:latin typeface="Calibri"/>
                <a:cs typeface="Calibri"/>
              </a:rPr>
              <a:t>so </a:t>
            </a:r>
            <a:r>
              <a:rPr sz="2000" spc="-5" dirty="0">
                <a:latin typeface="Calibri"/>
                <a:cs typeface="Calibri"/>
              </a:rPr>
              <a:t>that there are </a:t>
            </a:r>
            <a:r>
              <a:rPr sz="2000" dirty="0">
                <a:latin typeface="Calibri"/>
                <a:cs typeface="Calibri"/>
              </a:rPr>
              <a:t>anion </a:t>
            </a:r>
            <a:r>
              <a:rPr sz="2000" spc="5" dirty="0">
                <a:latin typeface="Calibri"/>
                <a:cs typeface="Calibri"/>
              </a:rPr>
              <a:t> </a:t>
            </a:r>
            <a:r>
              <a:rPr sz="2000" spc="-5" dirty="0">
                <a:latin typeface="Calibri"/>
                <a:cs typeface="Calibri"/>
              </a:rPr>
              <a:t>vacancies</a:t>
            </a:r>
            <a:r>
              <a:rPr sz="2000" spc="-15" dirty="0">
                <a:latin typeface="Calibri"/>
                <a:cs typeface="Calibri"/>
              </a:rPr>
              <a:t> </a:t>
            </a:r>
            <a:r>
              <a:rPr sz="2000" spc="-10" dirty="0">
                <a:latin typeface="Calibri"/>
                <a:cs typeface="Calibri"/>
              </a:rPr>
              <a:t>for</a:t>
            </a:r>
            <a:r>
              <a:rPr sz="2000" spc="5" dirty="0">
                <a:latin typeface="Calibri"/>
                <a:cs typeface="Calibri"/>
              </a:rPr>
              <a:t> </a:t>
            </a:r>
            <a:r>
              <a:rPr sz="2000" spc="-5" dirty="0">
                <a:latin typeface="Calibri"/>
                <a:cs typeface="Calibri"/>
              </a:rPr>
              <a:t>the</a:t>
            </a:r>
            <a:r>
              <a:rPr sz="2000" spc="-10" dirty="0">
                <a:latin typeface="Calibri"/>
                <a:cs typeface="Calibri"/>
              </a:rPr>
              <a:t> </a:t>
            </a:r>
            <a:r>
              <a:rPr sz="2000" spc="-5" dirty="0">
                <a:latin typeface="Calibri"/>
                <a:cs typeface="Calibri"/>
              </a:rPr>
              <a:t>migration</a:t>
            </a:r>
            <a:r>
              <a:rPr sz="2000" spc="10" dirty="0">
                <a:latin typeface="Calibri"/>
                <a:cs typeface="Calibri"/>
              </a:rPr>
              <a:t> </a:t>
            </a:r>
            <a:r>
              <a:rPr sz="2000" spc="-5" dirty="0">
                <a:latin typeface="Calibri"/>
                <a:cs typeface="Calibri"/>
              </a:rPr>
              <a:t>of</a:t>
            </a:r>
            <a:r>
              <a:rPr sz="2000" spc="40" dirty="0">
                <a:latin typeface="Calibri"/>
                <a:cs typeface="Calibri"/>
              </a:rPr>
              <a:t> </a:t>
            </a:r>
            <a:r>
              <a:rPr sz="2000" spc="-10" dirty="0">
                <a:latin typeface="Calibri"/>
                <a:cs typeface="Calibri"/>
              </a:rPr>
              <a:t>F</a:t>
            </a:r>
            <a:r>
              <a:rPr sz="1950" spc="-15" baseline="29914" dirty="0">
                <a:latin typeface="Calibri"/>
                <a:cs typeface="Calibri"/>
              </a:rPr>
              <a:t>¯ </a:t>
            </a:r>
            <a:r>
              <a:rPr sz="1950" spc="-7" baseline="29914" dirty="0">
                <a:latin typeface="Calibri"/>
                <a:cs typeface="Calibri"/>
              </a:rPr>
              <a:t> </a:t>
            </a:r>
            <a:r>
              <a:rPr sz="2000" spc="-5" dirty="0">
                <a:latin typeface="Calibri"/>
                <a:cs typeface="Calibri"/>
              </a:rPr>
              <a:t>through</a:t>
            </a:r>
            <a:r>
              <a:rPr sz="2000" spc="-15" dirty="0">
                <a:latin typeface="Calibri"/>
                <a:cs typeface="Calibri"/>
              </a:rPr>
              <a:t> </a:t>
            </a:r>
            <a:r>
              <a:rPr sz="2000" spc="-5" dirty="0">
                <a:latin typeface="Calibri"/>
                <a:cs typeface="Calibri"/>
              </a:rPr>
              <a:t>the</a:t>
            </a:r>
            <a:r>
              <a:rPr sz="2000" spc="-25" dirty="0">
                <a:latin typeface="Calibri"/>
                <a:cs typeface="Calibri"/>
              </a:rPr>
              <a:t> </a:t>
            </a:r>
            <a:r>
              <a:rPr sz="2000" spc="-5" dirty="0">
                <a:latin typeface="Calibri"/>
                <a:cs typeface="Calibri"/>
              </a:rPr>
              <a:t>LaF</a:t>
            </a:r>
            <a:r>
              <a:rPr sz="1950" spc="-7" baseline="-8547" dirty="0">
                <a:latin typeface="Calibri"/>
                <a:cs typeface="Calibri"/>
              </a:rPr>
              <a:t>3</a:t>
            </a:r>
            <a:r>
              <a:rPr sz="1950" spc="217" baseline="-8547" dirty="0">
                <a:latin typeface="Calibri"/>
                <a:cs typeface="Calibri"/>
              </a:rPr>
              <a:t> </a:t>
            </a:r>
            <a:r>
              <a:rPr sz="2000" spc="-5" dirty="0">
                <a:latin typeface="Calibri"/>
                <a:cs typeface="Calibri"/>
              </a:rPr>
              <a:t>crystal.</a:t>
            </a:r>
            <a:endParaRPr sz="2000">
              <a:latin typeface="Calibri"/>
              <a:cs typeface="Calibri"/>
            </a:endParaRPr>
          </a:p>
          <a:p>
            <a:pPr marL="101600" marR="4045585">
              <a:lnSpc>
                <a:spcPct val="99800"/>
              </a:lnSpc>
              <a:spcBef>
                <a:spcPts val="30"/>
              </a:spcBef>
            </a:pPr>
            <a:r>
              <a:rPr sz="2000" spc="-10" dirty="0">
                <a:latin typeface="Calibri"/>
                <a:cs typeface="Calibri"/>
              </a:rPr>
              <a:t>Crystal</a:t>
            </a:r>
            <a:r>
              <a:rPr sz="2000" dirty="0">
                <a:latin typeface="Calibri"/>
                <a:cs typeface="Calibri"/>
              </a:rPr>
              <a:t> </a:t>
            </a:r>
            <a:r>
              <a:rPr sz="2000" spc="-5" dirty="0">
                <a:latin typeface="Calibri"/>
                <a:cs typeface="Calibri"/>
              </a:rPr>
              <a:t>is</a:t>
            </a:r>
            <a:r>
              <a:rPr sz="2000" spc="15" dirty="0">
                <a:latin typeface="Calibri"/>
                <a:cs typeface="Calibri"/>
              </a:rPr>
              <a:t> </a:t>
            </a:r>
            <a:r>
              <a:rPr sz="2000" spc="-10" dirty="0">
                <a:latin typeface="Calibri"/>
                <a:cs typeface="Calibri"/>
              </a:rPr>
              <a:t>sealed</a:t>
            </a:r>
            <a:r>
              <a:rPr sz="2000" spc="5" dirty="0">
                <a:latin typeface="Calibri"/>
                <a:cs typeface="Calibri"/>
              </a:rPr>
              <a:t> </a:t>
            </a:r>
            <a:r>
              <a:rPr sz="2000" dirty="0">
                <a:latin typeface="Calibri"/>
                <a:cs typeface="Calibri"/>
              </a:rPr>
              <a:t>at</a:t>
            </a:r>
            <a:r>
              <a:rPr sz="2000" spc="5" dirty="0">
                <a:latin typeface="Calibri"/>
                <a:cs typeface="Calibri"/>
              </a:rPr>
              <a:t> </a:t>
            </a:r>
            <a:r>
              <a:rPr sz="2000" spc="-5" dirty="0">
                <a:latin typeface="Calibri"/>
                <a:cs typeface="Calibri"/>
              </a:rPr>
              <a:t>the</a:t>
            </a:r>
            <a:r>
              <a:rPr sz="2000" spc="-10" dirty="0">
                <a:latin typeface="Calibri"/>
                <a:cs typeface="Calibri"/>
              </a:rPr>
              <a:t> </a:t>
            </a:r>
            <a:r>
              <a:rPr sz="2000" spc="-5" dirty="0">
                <a:latin typeface="Calibri"/>
                <a:cs typeface="Calibri"/>
              </a:rPr>
              <a:t>bottom</a:t>
            </a:r>
            <a:r>
              <a:rPr sz="2000" spc="-10" dirty="0">
                <a:latin typeface="Calibri"/>
                <a:cs typeface="Calibri"/>
              </a:rPr>
              <a:t> </a:t>
            </a:r>
            <a:r>
              <a:rPr sz="2000" spc="-5" dirty="0">
                <a:latin typeface="Calibri"/>
                <a:cs typeface="Calibri"/>
              </a:rPr>
              <a:t>of</a:t>
            </a:r>
            <a:r>
              <a:rPr sz="2000" spc="-15" dirty="0">
                <a:latin typeface="Calibri"/>
                <a:cs typeface="Calibri"/>
              </a:rPr>
              <a:t> </a:t>
            </a:r>
            <a:r>
              <a:rPr sz="2000" spc="-5" dirty="0">
                <a:latin typeface="Calibri"/>
                <a:cs typeface="Calibri"/>
              </a:rPr>
              <a:t>the </a:t>
            </a:r>
            <a:r>
              <a:rPr sz="2000" dirty="0">
                <a:latin typeface="Calibri"/>
                <a:cs typeface="Calibri"/>
              </a:rPr>
              <a:t> </a:t>
            </a:r>
            <a:r>
              <a:rPr sz="2000" spc="-5" dirty="0">
                <a:latin typeface="Calibri"/>
                <a:cs typeface="Calibri"/>
              </a:rPr>
              <a:t>polymeric</a:t>
            </a:r>
            <a:r>
              <a:rPr sz="2000" spc="-70" dirty="0">
                <a:latin typeface="Calibri"/>
                <a:cs typeface="Calibri"/>
              </a:rPr>
              <a:t> </a:t>
            </a:r>
            <a:r>
              <a:rPr sz="2000" spc="-5" dirty="0">
                <a:latin typeface="Calibri"/>
                <a:cs typeface="Calibri"/>
              </a:rPr>
              <a:t>container</a:t>
            </a:r>
            <a:r>
              <a:rPr sz="2000" spc="-40" dirty="0">
                <a:latin typeface="Calibri"/>
                <a:cs typeface="Calibri"/>
              </a:rPr>
              <a:t> </a:t>
            </a:r>
            <a:r>
              <a:rPr sz="2000" spc="-5" dirty="0">
                <a:latin typeface="Calibri"/>
                <a:cs typeface="Calibri"/>
              </a:rPr>
              <a:t>containing</a:t>
            </a:r>
            <a:r>
              <a:rPr sz="2000" spc="-70" dirty="0">
                <a:latin typeface="Calibri"/>
                <a:cs typeface="Calibri"/>
              </a:rPr>
              <a:t> </a:t>
            </a:r>
            <a:r>
              <a:rPr sz="2000" spc="-5" dirty="0">
                <a:latin typeface="Calibri"/>
                <a:cs typeface="Calibri"/>
              </a:rPr>
              <a:t>internal </a:t>
            </a:r>
            <a:r>
              <a:rPr sz="2000" spc="-434" dirty="0">
                <a:latin typeface="Calibri"/>
                <a:cs typeface="Calibri"/>
              </a:rPr>
              <a:t> </a:t>
            </a:r>
            <a:r>
              <a:rPr sz="2000" spc="-10" dirty="0">
                <a:latin typeface="Calibri"/>
                <a:cs typeface="Calibri"/>
              </a:rPr>
              <a:t>reference</a:t>
            </a:r>
            <a:r>
              <a:rPr sz="2000" spc="10" dirty="0">
                <a:latin typeface="Calibri"/>
                <a:cs typeface="Calibri"/>
              </a:rPr>
              <a:t> </a:t>
            </a:r>
            <a:r>
              <a:rPr sz="2000" spc="-5" dirty="0">
                <a:latin typeface="Calibri"/>
                <a:cs typeface="Calibri"/>
              </a:rPr>
              <a:t>solution</a:t>
            </a:r>
            <a:r>
              <a:rPr sz="2000" spc="5" dirty="0">
                <a:latin typeface="Calibri"/>
                <a:cs typeface="Calibri"/>
              </a:rPr>
              <a:t> </a:t>
            </a:r>
            <a:r>
              <a:rPr sz="2000" spc="-5" dirty="0">
                <a:latin typeface="Calibri"/>
                <a:cs typeface="Calibri"/>
              </a:rPr>
              <a:t>(NaF</a:t>
            </a:r>
            <a:r>
              <a:rPr sz="2000" dirty="0">
                <a:latin typeface="Calibri"/>
                <a:cs typeface="Calibri"/>
              </a:rPr>
              <a:t> </a:t>
            </a:r>
            <a:r>
              <a:rPr sz="2000" spc="-5" dirty="0">
                <a:latin typeface="Calibri"/>
                <a:cs typeface="Calibri"/>
              </a:rPr>
              <a:t>+</a:t>
            </a:r>
            <a:r>
              <a:rPr sz="2000" spc="-10" dirty="0">
                <a:latin typeface="Calibri"/>
                <a:cs typeface="Calibri"/>
              </a:rPr>
              <a:t> </a:t>
            </a:r>
            <a:r>
              <a:rPr sz="2000" dirty="0">
                <a:latin typeface="Calibri"/>
                <a:cs typeface="Calibri"/>
              </a:rPr>
              <a:t>NaCl </a:t>
            </a:r>
            <a:r>
              <a:rPr sz="2000" spc="-5" dirty="0">
                <a:latin typeface="Calibri"/>
                <a:cs typeface="Calibri"/>
              </a:rPr>
              <a:t>or KF</a:t>
            </a:r>
            <a:r>
              <a:rPr sz="2000" spc="-10" dirty="0">
                <a:latin typeface="Calibri"/>
                <a:cs typeface="Calibri"/>
              </a:rPr>
              <a:t> </a:t>
            </a:r>
            <a:r>
              <a:rPr sz="2000" spc="-5" dirty="0">
                <a:latin typeface="Calibri"/>
                <a:cs typeface="Calibri"/>
              </a:rPr>
              <a:t>+ </a:t>
            </a:r>
            <a:r>
              <a:rPr sz="2000" dirty="0">
                <a:latin typeface="Calibri"/>
                <a:cs typeface="Calibri"/>
              </a:rPr>
              <a:t> </a:t>
            </a:r>
            <a:r>
              <a:rPr sz="2000" spc="-10" dirty="0">
                <a:latin typeface="Calibri"/>
                <a:cs typeface="Calibri"/>
              </a:rPr>
              <a:t>KCl)</a:t>
            </a:r>
            <a:r>
              <a:rPr sz="2000" spc="-5" dirty="0">
                <a:latin typeface="Calibri"/>
                <a:cs typeface="Calibri"/>
              </a:rPr>
              <a:t> and</a:t>
            </a:r>
            <a:r>
              <a:rPr sz="2000" spc="5" dirty="0">
                <a:latin typeface="Calibri"/>
                <a:cs typeface="Calibri"/>
              </a:rPr>
              <a:t> </a:t>
            </a:r>
            <a:r>
              <a:rPr sz="2000" spc="-5" dirty="0">
                <a:latin typeface="Calibri"/>
                <a:cs typeface="Calibri"/>
              </a:rPr>
              <a:t>consisting of</a:t>
            </a:r>
            <a:r>
              <a:rPr sz="2000" spc="-15" dirty="0">
                <a:latin typeface="Calibri"/>
                <a:cs typeface="Calibri"/>
              </a:rPr>
              <a:t> </a:t>
            </a:r>
            <a:r>
              <a:rPr sz="2000" spc="-5" dirty="0">
                <a:latin typeface="Calibri"/>
                <a:cs typeface="Calibri"/>
              </a:rPr>
              <a:t>reference </a:t>
            </a:r>
            <a:r>
              <a:rPr sz="2000" dirty="0">
                <a:latin typeface="Calibri"/>
                <a:cs typeface="Calibri"/>
              </a:rPr>
              <a:t> </a:t>
            </a:r>
            <a:r>
              <a:rPr sz="2000" spc="-5" dirty="0">
                <a:latin typeface="Calibri"/>
                <a:cs typeface="Calibri"/>
              </a:rPr>
              <a:t>electrode</a:t>
            </a:r>
            <a:endParaRPr sz="2000">
              <a:latin typeface="Calibri"/>
              <a:cs typeface="Calibri"/>
            </a:endParaRPr>
          </a:p>
          <a:p>
            <a:pPr marL="101600" marR="4655820">
              <a:lnSpc>
                <a:spcPct val="101099"/>
              </a:lnSpc>
              <a:spcBef>
                <a:spcPts val="45"/>
              </a:spcBef>
            </a:pPr>
            <a:r>
              <a:rPr sz="2000" spc="-5" dirty="0">
                <a:latin typeface="Calibri"/>
                <a:cs typeface="Calibri"/>
              </a:rPr>
              <a:t>Use</a:t>
            </a:r>
            <a:r>
              <a:rPr sz="2000" spc="-10" dirty="0">
                <a:latin typeface="Calibri"/>
                <a:cs typeface="Calibri"/>
              </a:rPr>
              <a:t> for</a:t>
            </a:r>
            <a:r>
              <a:rPr sz="2000" spc="-25" dirty="0">
                <a:latin typeface="Calibri"/>
                <a:cs typeface="Calibri"/>
              </a:rPr>
              <a:t> </a:t>
            </a:r>
            <a:r>
              <a:rPr sz="2000" spc="-5" dirty="0">
                <a:latin typeface="Calibri"/>
                <a:cs typeface="Calibri"/>
              </a:rPr>
              <a:t>the</a:t>
            </a:r>
            <a:r>
              <a:rPr sz="2000" spc="-25" dirty="0">
                <a:latin typeface="Calibri"/>
                <a:cs typeface="Calibri"/>
              </a:rPr>
              <a:t> </a:t>
            </a:r>
            <a:r>
              <a:rPr sz="2000" spc="-5" dirty="0">
                <a:latin typeface="Calibri"/>
                <a:cs typeface="Calibri"/>
              </a:rPr>
              <a:t>determination</a:t>
            </a:r>
            <a:r>
              <a:rPr sz="2000" spc="45" dirty="0">
                <a:latin typeface="Calibri"/>
                <a:cs typeface="Calibri"/>
              </a:rPr>
              <a:t> </a:t>
            </a:r>
            <a:r>
              <a:rPr sz="2000" spc="-5" dirty="0">
                <a:latin typeface="Calibri"/>
                <a:cs typeface="Calibri"/>
              </a:rPr>
              <a:t>of</a:t>
            </a:r>
            <a:r>
              <a:rPr sz="2000" spc="-30" dirty="0">
                <a:latin typeface="Calibri"/>
                <a:cs typeface="Calibri"/>
              </a:rPr>
              <a:t> </a:t>
            </a:r>
            <a:r>
              <a:rPr sz="2000" spc="-10" dirty="0">
                <a:latin typeface="Calibri"/>
                <a:cs typeface="Calibri"/>
              </a:rPr>
              <a:t>F</a:t>
            </a:r>
            <a:r>
              <a:rPr sz="1950" spc="-15" baseline="29914" dirty="0">
                <a:latin typeface="Calibri"/>
                <a:cs typeface="Calibri"/>
              </a:rPr>
              <a:t>¯</a:t>
            </a:r>
            <a:r>
              <a:rPr sz="1950" spc="187" baseline="29914" dirty="0">
                <a:latin typeface="Calibri"/>
                <a:cs typeface="Calibri"/>
              </a:rPr>
              <a:t> </a:t>
            </a:r>
            <a:r>
              <a:rPr sz="2000" spc="-10" dirty="0">
                <a:latin typeface="Calibri"/>
                <a:cs typeface="Calibri"/>
              </a:rPr>
              <a:t>in </a:t>
            </a:r>
            <a:r>
              <a:rPr sz="2000" spc="-434" dirty="0">
                <a:latin typeface="Calibri"/>
                <a:cs typeface="Calibri"/>
              </a:rPr>
              <a:t> </a:t>
            </a:r>
            <a:r>
              <a:rPr sz="2000" spc="-10" dirty="0">
                <a:latin typeface="Calibri"/>
                <a:cs typeface="Calibri"/>
              </a:rPr>
              <a:t>water.</a:t>
            </a:r>
            <a:endParaRPr sz="2000">
              <a:latin typeface="Calibri"/>
              <a:cs typeface="Calibri"/>
            </a:endParaRPr>
          </a:p>
        </p:txBody>
      </p:sp>
      <p:pic>
        <p:nvPicPr>
          <p:cNvPr id="4" name="object 4"/>
          <p:cNvPicPr/>
          <p:nvPr/>
        </p:nvPicPr>
        <p:blipFill>
          <a:blip r:embed="rId2" cstate="print"/>
          <a:stretch>
            <a:fillRect/>
          </a:stretch>
        </p:blipFill>
        <p:spPr>
          <a:xfrm>
            <a:off x="4969509" y="2302167"/>
            <a:ext cx="3917695" cy="352932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6244" y="334721"/>
            <a:ext cx="4447540" cy="406400"/>
          </a:xfrm>
          <a:prstGeom prst="rect">
            <a:avLst/>
          </a:prstGeom>
        </p:spPr>
        <p:txBody>
          <a:bodyPr vert="horz" wrap="square" lIns="0" tIns="12065" rIns="0" bIns="0" rtlCol="0">
            <a:spAutoFit/>
          </a:bodyPr>
          <a:lstStyle/>
          <a:p>
            <a:pPr marL="12700">
              <a:lnSpc>
                <a:spcPct val="100000"/>
              </a:lnSpc>
              <a:spcBef>
                <a:spcPts val="95"/>
              </a:spcBef>
            </a:pPr>
            <a:r>
              <a:rPr sz="2500" b="1" spc="-5" dirty="0">
                <a:latin typeface="Calibri"/>
                <a:cs typeface="Calibri"/>
              </a:rPr>
              <a:t>Working</a:t>
            </a:r>
            <a:r>
              <a:rPr sz="2500" b="1" spc="-50" dirty="0">
                <a:latin typeface="Calibri"/>
                <a:cs typeface="Calibri"/>
              </a:rPr>
              <a:t> </a:t>
            </a:r>
            <a:r>
              <a:rPr sz="2500" b="1" spc="-5" dirty="0">
                <a:latin typeface="Calibri"/>
                <a:cs typeface="Calibri"/>
              </a:rPr>
              <a:t>of</a:t>
            </a:r>
            <a:r>
              <a:rPr sz="2500" b="1" spc="-40" dirty="0">
                <a:latin typeface="Calibri"/>
                <a:cs typeface="Calibri"/>
              </a:rPr>
              <a:t> </a:t>
            </a:r>
            <a:r>
              <a:rPr sz="2500" b="1" spc="-5" dirty="0">
                <a:latin typeface="Calibri"/>
                <a:cs typeface="Calibri"/>
              </a:rPr>
              <a:t>Fluoride</a:t>
            </a:r>
            <a:r>
              <a:rPr sz="2500" b="1" spc="-15" dirty="0">
                <a:latin typeface="Calibri"/>
                <a:cs typeface="Calibri"/>
              </a:rPr>
              <a:t> </a:t>
            </a:r>
            <a:r>
              <a:rPr sz="2500" b="1" dirty="0">
                <a:latin typeface="Calibri"/>
                <a:cs typeface="Calibri"/>
              </a:rPr>
              <a:t>ion</a:t>
            </a:r>
            <a:r>
              <a:rPr sz="2500" b="1" spc="-65" dirty="0">
                <a:latin typeface="Calibri"/>
                <a:cs typeface="Calibri"/>
              </a:rPr>
              <a:t> </a:t>
            </a:r>
            <a:r>
              <a:rPr sz="2500" b="1" spc="-5" dirty="0">
                <a:latin typeface="Calibri"/>
                <a:cs typeface="Calibri"/>
              </a:rPr>
              <a:t>electrode</a:t>
            </a:r>
            <a:endParaRPr sz="2500">
              <a:latin typeface="Calibri"/>
              <a:cs typeface="Calibri"/>
            </a:endParaRPr>
          </a:p>
        </p:txBody>
      </p:sp>
      <p:sp>
        <p:nvSpPr>
          <p:cNvPr id="3" name="object 3"/>
          <p:cNvSpPr txBox="1"/>
          <p:nvPr/>
        </p:nvSpPr>
        <p:spPr>
          <a:xfrm>
            <a:off x="447344" y="706958"/>
            <a:ext cx="8212455" cy="5492115"/>
          </a:xfrm>
          <a:prstGeom prst="rect">
            <a:avLst/>
          </a:prstGeom>
        </p:spPr>
        <p:txBody>
          <a:bodyPr vert="horz" wrap="square" lIns="0" tIns="85725" rIns="0" bIns="0" rtlCol="0">
            <a:spAutoFit/>
          </a:bodyPr>
          <a:lstStyle/>
          <a:p>
            <a:pPr marL="442595" marR="560705" indent="-341630">
              <a:lnSpc>
                <a:spcPts val="2400"/>
              </a:lnSpc>
              <a:spcBef>
                <a:spcPts val="675"/>
              </a:spcBef>
              <a:buFont typeface="Microsoft Sans Serif"/>
              <a:buChar char="•"/>
              <a:tabLst>
                <a:tab pos="442595" algn="l"/>
                <a:tab pos="443230" algn="l"/>
              </a:tabLst>
            </a:pPr>
            <a:r>
              <a:rPr sz="2500" spc="-5" dirty="0">
                <a:latin typeface="Calibri"/>
                <a:cs typeface="Calibri"/>
              </a:rPr>
              <a:t>EuF2</a:t>
            </a:r>
            <a:r>
              <a:rPr sz="2500" spc="-40" dirty="0">
                <a:latin typeface="Calibri"/>
                <a:cs typeface="Calibri"/>
              </a:rPr>
              <a:t> </a:t>
            </a:r>
            <a:r>
              <a:rPr sz="2500" spc="-5" dirty="0">
                <a:latin typeface="Calibri"/>
                <a:cs typeface="Calibri"/>
              </a:rPr>
              <a:t>produce</a:t>
            </a:r>
            <a:r>
              <a:rPr sz="2500" spc="-20" dirty="0">
                <a:latin typeface="Calibri"/>
                <a:cs typeface="Calibri"/>
              </a:rPr>
              <a:t> </a:t>
            </a:r>
            <a:r>
              <a:rPr sz="2500" spc="-10" dirty="0">
                <a:latin typeface="Calibri"/>
                <a:cs typeface="Calibri"/>
              </a:rPr>
              <a:t>holes</a:t>
            </a:r>
            <a:r>
              <a:rPr sz="2500" spc="-40" dirty="0">
                <a:latin typeface="Calibri"/>
                <a:cs typeface="Calibri"/>
              </a:rPr>
              <a:t> </a:t>
            </a:r>
            <a:r>
              <a:rPr sz="2500" spc="-5" dirty="0">
                <a:latin typeface="Calibri"/>
                <a:cs typeface="Calibri"/>
              </a:rPr>
              <a:t>in</a:t>
            </a:r>
            <a:r>
              <a:rPr sz="2500" spc="-25" dirty="0">
                <a:latin typeface="Calibri"/>
                <a:cs typeface="Calibri"/>
              </a:rPr>
              <a:t> </a:t>
            </a:r>
            <a:r>
              <a:rPr sz="2500" spc="-10" dirty="0">
                <a:latin typeface="Calibri"/>
                <a:cs typeface="Calibri"/>
              </a:rPr>
              <a:t>the</a:t>
            </a:r>
            <a:r>
              <a:rPr sz="2500" spc="-25" dirty="0">
                <a:latin typeface="Calibri"/>
                <a:cs typeface="Calibri"/>
              </a:rPr>
              <a:t> </a:t>
            </a:r>
            <a:r>
              <a:rPr sz="2500" spc="-5" dirty="0">
                <a:latin typeface="Calibri"/>
                <a:cs typeface="Calibri"/>
              </a:rPr>
              <a:t>crystal lattice</a:t>
            </a:r>
            <a:r>
              <a:rPr sz="2500" spc="-25" dirty="0">
                <a:latin typeface="Calibri"/>
                <a:cs typeface="Calibri"/>
              </a:rPr>
              <a:t> </a:t>
            </a:r>
            <a:r>
              <a:rPr sz="2500" spc="-5" dirty="0">
                <a:latin typeface="Calibri"/>
                <a:cs typeface="Calibri"/>
              </a:rPr>
              <a:t>of</a:t>
            </a:r>
            <a:r>
              <a:rPr sz="2500" spc="-25" dirty="0">
                <a:latin typeface="Calibri"/>
                <a:cs typeface="Calibri"/>
              </a:rPr>
              <a:t> </a:t>
            </a:r>
            <a:r>
              <a:rPr sz="2500" spc="-10" dirty="0">
                <a:latin typeface="Calibri"/>
                <a:cs typeface="Calibri"/>
              </a:rPr>
              <a:t>LaF3</a:t>
            </a:r>
            <a:r>
              <a:rPr sz="2500" spc="-45" dirty="0">
                <a:latin typeface="Calibri"/>
                <a:cs typeface="Calibri"/>
              </a:rPr>
              <a:t> </a:t>
            </a:r>
            <a:r>
              <a:rPr sz="2500" spc="-5" dirty="0">
                <a:latin typeface="Calibri"/>
                <a:cs typeface="Calibri"/>
              </a:rPr>
              <a:t>through </a:t>
            </a:r>
            <a:r>
              <a:rPr sz="2500" spc="-550" dirty="0">
                <a:latin typeface="Calibri"/>
                <a:cs typeface="Calibri"/>
              </a:rPr>
              <a:t> </a:t>
            </a:r>
            <a:r>
              <a:rPr sz="2500" spc="-5" dirty="0">
                <a:latin typeface="Calibri"/>
                <a:cs typeface="Calibri"/>
              </a:rPr>
              <a:t>which</a:t>
            </a:r>
            <a:r>
              <a:rPr sz="2500" spc="15" dirty="0">
                <a:latin typeface="Calibri"/>
                <a:cs typeface="Calibri"/>
              </a:rPr>
              <a:t> </a:t>
            </a:r>
            <a:r>
              <a:rPr sz="2500" spc="-5" dirty="0">
                <a:latin typeface="Calibri"/>
                <a:cs typeface="Calibri"/>
              </a:rPr>
              <a:t>F¯</a:t>
            </a:r>
            <a:r>
              <a:rPr sz="2500" spc="-15" dirty="0">
                <a:latin typeface="Calibri"/>
                <a:cs typeface="Calibri"/>
              </a:rPr>
              <a:t> </a:t>
            </a:r>
            <a:r>
              <a:rPr sz="2500" spc="-5" dirty="0">
                <a:latin typeface="Calibri"/>
                <a:cs typeface="Calibri"/>
              </a:rPr>
              <a:t>ion</a:t>
            </a:r>
            <a:r>
              <a:rPr sz="2500" dirty="0">
                <a:latin typeface="Calibri"/>
                <a:cs typeface="Calibri"/>
              </a:rPr>
              <a:t> </a:t>
            </a:r>
            <a:r>
              <a:rPr sz="2500" spc="-5" dirty="0">
                <a:latin typeface="Calibri"/>
                <a:cs typeface="Calibri"/>
              </a:rPr>
              <a:t>can</a:t>
            </a:r>
            <a:r>
              <a:rPr sz="2500" spc="20" dirty="0">
                <a:latin typeface="Calibri"/>
                <a:cs typeface="Calibri"/>
              </a:rPr>
              <a:t> </a:t>
            </a:r>
            <a:r>
              <a:rPr sz="2500" spc="-5" dirty="0">
                <a:latin typeface="Calibri"/>
                <a:cs typeface="Calibri"/>
              </a:rPr>
              <a:t>pass.</a:t>
            </a:r>
            <a:endParaRPr sz="2500">
              <a:latin typeface="Calibri"/>
              <a:cs typeface="Calibri"/>
            </a:endParaRPr>
          </a:p>
          <a:p>
            <a:pPr marL="442595" marR="93980" indent="-341630">
              <a:lnSpc>
                <a:spcPct val="80000"/>
              </a:lnSpc>
              <a:spcBef>
                <a:spcPts val="600"/>
              </a:spcBef>
              <a:buFont typeface="Microsoft Sans Serif"/>
              <a:buChar char="•"/>
              <a:tabLst>
                <a:tab pos="442595" algn="l"/>
                <a:tab pos="443230" algn="l"/>
              </a:tabLst>
            </a:pPr>
            <a:r>
              <a:rPr sz="2500" dirty="0">
                <a:latin typeface="Calibri"/>
                <a:cs typeface="Calibri"/>
              </a:rPr>
              <a:t>When the </a:t>
            </a:r>
            <a:r>
              <a:rPr sz="2500" spc="-5" dirty="0">
                <a:latin typeface="Calibri"/>
                <a:cs typeface="Calibri"/>
              </a:rPr>
              <a:t>electrode </a:t>
            </a:r>
            <a:r>
              <a:rPr sz="2500" spc="-15" dirty="0">
                <a:latin typeface="Calibri"/>
                <a:cs typeface="Calibri"/>
              </a:rPr>
              <a:t>is in </a:t>
            </a:r>
            <a:r>
              <a:rPr sz="2500" dirty="0">
                <a:latin typeface="Calibri"/>
                <a:cs typeface="Calibri"/>
              </a:rPr>
              <a:t>contact </a:t>
            </a:r>
            <a:r>
              <a:rPr sz="2500" spc="-10" dirty="0">
                <a:latin typeface="Calibri"/>
                <a:cs typeface="Calibri"/>
              </a:rPr>
              <a:t>with the </a:t>
            </a:r>
            <a:r>
              <a:rPr sz="2500" spc="-5" dirty="0">
                <a:latin typeface="Calibri"/>
                <a:cs typeface="Calibri"/>
              </a:rPr>
              <a:t>sample solution a </a:t>
            </a:r>
            <a:r>
              <a:rPr sz="2500" spc="-555" dirty="0">
                <a:latin typeface="Calibri"/>
                <a:cs typeface="Calibri"/>
              </a:rPr>
              <a:t> </a:t>
            </a:r>
            <a:r>
              <a:rPr sz="2500" spc="-5" dirty="0">
                <a:latin typeface="Calibri"/>
                <a:cs typeface="Calibri"/>
              </a:rPr>
              <a:t>potential</a:t>
            </a:r>
            <a:r>
              <a:rPr sz="2500" spc="-60" dirty="0">
                <a:latin typeface="Calibri"/>
                <a:cs typeface="Calibri"/>
              </a:rPr>
              <a:t> </a:t>
            </a:r>
            <a:r>
              <a:rPr sz="2500" spc="-5" dirty="0">
                <a:latin typeface="Calibri"/>
                <a:cs typeface="Calibri"/>
              </a:rPr>
              <a:t>develops</a:t>
            </a:r>
            <a:r>
              <a:rPr sz="2500" spc="-15" dirty="0">
                <a:latin typeface="Calibri"/>
                <a:cs typeface="Calibri"/>
              </a:rPr>
              <a:t> </a:t>
            </a:r>
            <a:r>
              <a:rPr sz="2500" spc="-10" dirty="0">
                <a:latin typeface="Calibri"/>
                <a:cs typeface="Calibri"/>
              </a:rPr>
              <a:t>across</a:t>
            </a:r>
            <a:r>
              <a:rPr sz="2500" spc="-45" dirty="0">
                <a:latin typeface="Calibri"/>
                <a:cs typeface="Calibri"/>
              </a:rPr>
              <a:t> </a:t>
            </a:r>
            <a:r>
              <a:rPr sz="2500" dirty="0">
                <a:latin typeface="Calibri"/>
                <a:cs typeface="Calibri"/>
              </a:rPr>
              <a:t>the</a:t>
            </a:r>
            <a:r>
              <a:rPr sz="2500" spc="-30" dirty="0">
                <a:latin typeface="Calibri"/>
                <a:cs typeface="Calibri"/>
              </a:rPr>
              <a:t> </a:t>
            </a:r>
            <a:r>
              <a:rPr sz="2500" spc="-5" dirty="0">
                <a:latin typeface="Calibri"/>
                <a:cs typeface="Calibri"/>
              </a:rPr>
              <a:t>membrane</a:t>
            </a:r>
            <a:r>
              <a:rPr sz="2500" spc="5" dirty="0">
                <a:latin typeface="Calibri"/>
                <a:cs typeface="Calibri"/>
              </a:rPr>
              <a:t> </a:t>
            </a:r>
            <a:r>
              <a:rPr sz="2500" spc="-5" dirty="0">
                <a:latin typeface="Calibri"/>
                <a:cs typeface="Calibri"/>
              </a:rPr>
              <a:t>which</a:t>
            </a:r>
            <a:r>
              <a:rPr sz="2500" spc="-45" dirty="0">
                <a:latin typeface="Calibri"/>
                <a:cs typeface="Calibri"/>
              </a:rPr>
              <a:t> </a:t>
            </a:r>
            <a:r>
              <a:rPr sz="2500" spc="-5" dirty="0">
                <a:latin typeface="Calibri"/>
                <a:cs typeface="Calibri"/>
              </a:rPr>
              <a:t>depends</a:t>
            </a:r>
            <a:r>
              <a:rPr sz="2500" spc="-20" dirty="0">
                <a:latin typeface="Calibri"/>
                <a:cs typeface="Calibri"/>
              </a:rPr>
              <a:t> </a:t>
            </a:r>
            <a:r>
              <a:rPr sz="2500" spc="-5" dirty="0">
                <a:latin typeface="Calibri"/>
                <a:cs typeface="Calibri"/>
              </a:rPr>
              <a:t>on </a:t>
            </a:r>
            <a:r>
              <a:rPr sz="2500" spc="-550" dirty="0">
                <a:latin typeface="Calibri"/>
                <a:cs typeface="Calibri"/>
              </a:rPr>
              <a:t> </a:t>
            </a:r>
            <a:r>
              <a:rPr sz="2500" dirty="0">
                <a:latin typeface="Calibri"/>
                <a:cs typeface="Calibri"/>
              </a:rPr>
              <a:t>the</a:t>
            </a:r>
            <a:r>
              <a:rPr sz="2500" spc="5" dirty="0">
                <a:latin typeface="Calibri"/>
                <a:cs typeface="Calibri"/>
              </a:rPr>
              <a:t> </a:t>
            </a:r>
            <a:r>
              <a:rPr sz="2500" spc="-5" dirty="0">
                <a:latin typeface="Calibri"/>
                <a:cs typeface="Calibri"/>
              </a:rPr>
              <a:t>differences</a:t>
            </a:r>
            <a:r>
              <a:rPr sz="2500" spc="10" dirty="0">
                <a:latin typeface="Calibri"/>
                <a:cs typeface="Calibri"/>
              </a:rPr>
              <a:t> </a:t>
            </a:r>
            <a:r>
              <a:rPr sz="2500" spc="-5" dirty="0">
                <a:latin typeface="Calibri"/>
                <a:cs typeface="Calibri"/>
              </a:rPr>
              <a:t>of</a:t>
            </a:r>
            <a:r>
              <a:rPr sz="2500" spc="-10" dirty="0">
                <a:latin typeface="Calibri"/>
                <a:cs typeface="Calibri"/>
              </a:rPr>
              <a:t> </a:t>
            </a:r>
            <a:r>
              <a:rPr sz="2500" spc="-5" dirty="0">
                <a:latin typeface="Calibri"/>
                <a:cs typeface="Calibri"/>
              </a:rPr>
              <a:t>F¯</a:t>
            </a:r>
            <a:r>
              <a:rPr sz="2500" spc="5" dirty="0">
                <a:latin typeface="Calibri"/>
                <a:cs typeface="Calibri"/>
              </a:rPr>
              <a:t> </a:t>
            </a:r>
            <a:r>
              <a:rPr sz="2500" spc="-5" dirty="0">
                <a:latin typeface="Calibri"/>
                <a:cs typeface="Calibri"/>
              </a:rPr>
              <a:t>concentration on </a:t>
            </a:r>
            <a:r>
              <a:rPr sz="2500" dirty="0">
                <a:latin typeface="Calibri"/>
                <a:cs typeface="Calibri"/>
              </a:rPr>
              <a:t>either</a:t>
            </a:r>
            <a:r>
              <a:rPr sz="2500" spc="-20" dirty="0">
                <a:latin typeface="Calibri"/>
                <a:cs typeface="Calibri"/>
              </a:rPr>
              <a:t> </a:t>
            </a:r>
            <a:r>
              <a:rPr sz="2500" spc="-10" dirty="0">
                <a:latin typeface="Calibri"/>
                <a:cs typeface="Calibri"/>
              </a:rPr>
              <a:t>side</a:t>
            </a:r>
            <a:r>
              <a:rPr sz="2500" spc="10" dirty="0">
                <a:latin typeface="Calibri"/>
                <a:cs typeface="Calibri"/>
              </a:rPr>
              <a:t> </a:t>
            </a:r>
            <a:r>
              <a:rPr sz="2500" spc="-5" dirty="0">
                <a:latin typeface="Calibri"/>
                <a:cs typeface="Calibri"/>
              </a:rPr>
              <a:t>of</a:t>
            </a:r>
            <a:r>
              <a:rPr sz="2500" spc="-10" dirty="0">
                <a:latin typeface="Calibri"/>
                <a:cs typeface="Calibri"/>
              </a:rPr>
              <a:t> </a:t>
            </a:r>
            <a:r>
              <a:rPr sz="2500" dirty="0">
                <a:latin typeface="Calibri"/>
                <a:cs typeface="Calibri"/>
              </a:rPr>
              <a:t>the </a:t>
            </a:r>
            <a:r>
              <a:rPr sz="2500" spc="5" dirty="0">
                <a:latin typeface="Calibri"/>
                <a:cs typeface="Calibri"/>
              </a:rPr>
              <a:t> </a:t>
            </a:r>
            <a:r>
              <a:rPr sz="2500" spc="-5" dirty="0">
                <a:latin typeface="Calibri"/>
                <a:cs typeface="Calibri"/>
              </a:rPr>
              <a:t>membrane.</a:t>
            </a:r>
            <a:endParaRPr sz="2500">
              <a:latin typeface="Calibri"/>
              <a:cs typeface="Calibri"/>
            </a:endParaRPr>
          </a:p>
          <a:p>
            <a:pPr marL="442595" marR="554355" indent="-341630">
              <a:lnSpc>
                <a:spcPct val="80400"/>
              </a:lnSpc>
              <a:spcBef>
                <a:spcPts val="540"/>
              </a:spcBef>
              <a:buFont typeface="Microsoft Sans Serif"/>
              <a:buChar char="•"/>
              <a:tabLst>
                <a:tab pos="442595" algn="l"/>
                <a:tab pos="443230" algn="l"/>
                <a:tab pos="5074285" algn="l"/>
              </a:tabLst>
            </a:pPr>
            <a:r>
              <a:rPr sz="2500" spc="-5" dirty="0">
                <a:latin typeface="Calibri"/>
                <a:cs typeface="Calibri"/>
              </a:rPr>
              <a:t>Since</a:t>
            </a:r>
            <a:r>
              <a:rPr sz="2500" spc="20" dirty="0">
                <a:latin typeface="Calibri"/>
                <a:cs typeface="Calibri"/>
              </a:rPr>
              <a:t> </a:t>
            </a:r>
            <a:r>
              <a:rPr sz="2500" dirty="0">
                <a:latin typeface="Calibri"/>
                <a:cs typeface="Calibri"/>
              </a:rPr>
              <a:t>the</a:t>
            </a:r>
            <a:r>
              <a:rPr sz="2500" spc="-10" dirty="0">
                <a:latin typeface="Calibri"/>
                <a:cs typeface="Calibri"/>
              </a:rPr>
              <a:t> </a:t>
            </a:r>
            <a:r>
              <a:rPr sz="2500" spc="-5" dirty="0">
                <a:latin typeface="Calibri"/>
                <a:cs typeface="Calibri"/>
              </a:rPr>
              <a:t>internal</a:t>
            </a:r>
            <a:r>
              <a:rPr sz="2500" spc="15" dirty="0">
                <a:latin typeface="Calibri"/>
                <a:cs typeface="Calibri"/>
              </a:rPr>
              <a:t> </a:t>
            </a:r>
            <a:r>
              <a:rPr sz="2500" spc="-5" dirty="0">
                <a:latin typeface="Calibri"/>
                <a:cs typeface="Calibri"/>
              </a:rPr>
              <a:t>F¯</a:t>
            </a:r>
            <a:r>
              <a:rPr sz="2500" spc="-15" dirty="0">
                <a:latin typeface="Calibri"/>
                <a:cs typeface="Calibri"/>
              </a:rPr>
              <a:t> </a:t>
            </a:r>
            <a:r>
              <a:rPr sz="2500" spc="-5" dirty="0">
                <a:latin typeface="Calibri"/>
                <a:cs typeface="Calibri"/>
              </a:rPr>
              <a:t>ion</a:t>
            </a:r>
            <a:r>
              <a:rPr sz="2500" dirty="0">
                <a:latin typeface="Calibri"/>
                <a:cs typeface="Calibri"/>
              </a:rPr>
              <a:t> conc. </a:t>
            </a:r>
            <a:r>
              <a:rPr sz="2500" spc="-5" dirty="0">
                <a:latin typeface="Calibri"/>
                <a:cs typeface="Calibri"/>
              </a:rPr>
              <a:t>Is fixed,</a:t>
            </a:r>
            <a:r>
              <a:rPr sz="2500" spc="-15" dirty="0">
                <a:latin typeface="Calibri"/>
                <a:cs typeface="Calibri"/>
              </a:rPr>
              <a:t> </a:t>
            </a:r>
            <a:r>
              <a:rPr sz="2500" dirty="0">
                <a:latin typeface="Calibri"/>
                <a:cs typeface="Calibri"/>
              </a:rPr>
              <a:t>the</a:t>
            </a:r>
            <a:r>
              <a:rPr sz="2500" spc="-5" dirty="0">
                <a:latin typeface="Calibri"/>
                <a:cs typeface="Calibri"/>
              </a:rPr>
              <a:t> potential </a:t>
            </a:r>
            <a:r>
              <a:rPr sz="2500" dirty="0">
                <a:latin typeface="Calibri"/>
                <a:cs typeface="Calibri"/>
              </a:rPr>
              <a:t> </a:t>
            </a:r>
            <a:r>
              <a:rPr sz="2500" spc="-5" dirty="0">
                <a:latin typeface="Calibri"/>
                <a:cs typeface="Calibri"/>
              </a:rPr>
              <a:t>developed</a:t>
            </a:r>
            <a:r>
              <a:rPr sz="2500" spc="-10" dirty="0">
                <a:latin typeface="Calibri"/>
                <a:cs typeface="Calibri"/>
              </a:rPr>
              <a:t> </a:t>
            </a:r>
            <a:r>
              <a:rPr sz="2500" spc="-5" dirty="0">
                <a:latin typeface="Calibri"/>
                <a:cs typeface="Calibri"/>
              </a:rPr>
              <a:t>across</a:t>
            </a:r>
            <a:r>
              <a:rPr sz="2500" spc="-10" dirty="0">
                <a:latin typeface="Calibri"/>
                <a:cs typeface="Calibri"/>
              </a:rPr>
              <a:t> the</a:t>
            </a:r>
            <a:r>
              <a:rPr sz="2500" spc="5" dirty="0">
                <a:latin typeface="Calibri"/>
                <a:cs typeface="Calibri"/>
              </a:rPr>
              <a:t> </a:t>
            </a:r>
            <a:r>
              <a:rPr sz="2500" spc="-5" dirty="0">
                <a:latin typeface="Calibri"/>
                <a:cs typeface="Calibri"/>
              </a:rPr>
              <a:t>membrane</a:t>
            </a:r>
            <a:r>
              <a:rPr sz="2500" spc="10" dirty="0">
                <a:latin typeface="Calibri"/>
                <a:cs typeface="Calibri"/>
              </a:rPr>
              <a:t> </a:t>
            </a:r>
            <a:r>
              <a:rPr sz="2500" spc="-5" dirty="0">
                <a:latin typeface="Calibri"/>
                <a:cs typeface="Calibri"/>
              </a:rPr>
              <a:t>is	related</a:t>
            </a:r>
            <a:r>
              <a:rPr sz="2500" spc="-20" dirty="0">
                <a:latin typeface="Calibri"/>
                <a:cs typeface="Calibri"/>
              </a:rPr>
              <a:t> </a:t>
            </a:r>
            <a:r>
              <a:rPr sz="2500" spc="-15" dirty="0">
                <a:latin typeface="Calibri"/>
                <a:cs typeface="Calibri"/>
              </a:rPr>
              <a:t>to</a:t>
            </a:r>
            <a:r>
              <a:rPr sz="2500" spc="-50" dirty="0">
                <a:latin typeface="Calibri"/>
                <a:cs typeface="Calibri"/>
              </a:rPr>
              <a:t> </a:t>
            </a:r>
            <a:r>
              <a:rPr sz="2500" spc="-10" dirty="0">
                <a:latin typeface="Calibri"/>
                <a:cs typeface="Calibri"/>
              </a:rPr>
              <a:t>the</a:t>
            </a:r>
            <a:r>
              <a:rPr sz="2500" spc="-25" dirty="0">
                <a:latin typeface="Calibri"/>
                <a:cs typeface="Calibri"/>
              </a:rPr>
              <a:t> </a:t>
            </a:r>
            <a:r>
              <a:rPr sz="2500" spc="-5" dirty="0">
                <a:latin typeface="Calibri"/>
                <a:cs typeface="Calibri"/>
              </a:rPr>
              <a:t>F¯</a:t>
            </a:r>
            <a:r>
              <a:rPr sz="2500" spc="-55" dirty="0">
                <a:latin typeface="Calibri"/>
                <a:cs typeface="Calibri"/>
              </a:rPr>
              <a:t> </a:t>
            </a:r>
            <a:r>
              <a:rPr sz="2500" spc="-10" dirty="0">
                <a:latin typeface="Calibri"/>
                <a:cs typeface="Calibri"/>
              </a:rPr>
              <a:t>ion </a:t>
            </a:r>
            <a:r>
              <a:rPr sz="2500" spc="-550" dirty="0">
                <a:latin typeface="Calibri"/>
                <a:cs typeface="Calibri"/>
              </a:rPr>
              <a:t> </a:t>
            </a:r>
            <a:r>
              <a:rPr sz="2500" dirty="0">
                <a:latin typeface="Calibri"/>
                <a:cs typeface="Calibri"/>
              </a:rPr>
              <a:t>conc</a:t>
            </a:r>
            <a:r>
              <a:rPr sz="2500" spc="5" dirty="0">
                <a:latin typeface="Calibri"/>
                <a:cs typeface="Calibri"/>
              </a:rPr>
              <a:t> </a:t>
            </a:r>
            <a:r>
              <a:rPr sz="2500" spc="-5" dirty="0">
                <a:latin typeface="Calibri"/>
                <a:cs typeface="Calibri"/>
              </a:rPr>
              <a:t>in </a:t>
            </a:r>
            <a:r>
              <a:rPr sz="2500" dirty="0">
                <a:latin typeface="Calibri"/>
                <a:cs typeface="Calibri"/>
              </a:rPr>
              <a:t>the</a:t>
            </a:r>
            <a:r>
              <a:rPr sz="2500" spc="-10" dirty="0">
                <a:latin typeface="Calibri"/>
                <a:cs typeface="Calibri"/>
              </a:rPr>
              <a:t> </a:t>
            </a:r>
            <a:r>
              <a:rPr sz="2500" spc="-5" dirty="0">
                <a:latin typeface="Calibri"/>
                <a:cs typeface="Calibri"/>
              </a:rPr>
              <a:t>sample</a:t>
            </a:r>
            <a:r>
              <a:rPr sz="2500" spc="20" dirty="0">
                <a:latin typeface="Calibri"/>
                <a:cs typeface="Calibri"/>
              </a:rPr>
              <a:t> </a:t>
            </a:r>
            <a:r>
              <a:rPr sz="2500" spc="-5" dirty="0">
                <a:latin typeface="Calibri"/>
                <a:cs typeface="Calibri"/>
              </a:rPr>
              <a:t>solution</a:t>
            </a:r>
            <a:endParaRPr sz="2500">
              <a:latin typeface="Calibri"/>
              <a:cs typeface="Calibri"/>
            </a:endParaRPr>
          </a:p>
          <a:p>
            <a:pPr marL="442595" indent="-341630">
              <a:lnSpc>
                <a:spcPts val="2950"/>
              </a:lnSpc>
              <a:buFont typeface="Microsoft Sans Serif"/>
              <a:buChar char="•"/>
              <a:tabLst>
                <a:tab pos="442595" algn="l"/>
                <a:tab pos="443230" algn="l"/>
              </a:tabLst>
            </a:pPr>
            <a:r>
              <a:rPr sz="2500" dirty="0">
                <a:latin typeface="Calibri"/>
                <a:cs typeface="Calibri"/>
              </a:rPr>
              <a:t>LaF</a:t>
            </a:r>
            <a:r>
              <a:rPr sz="2475" baseline="-18518" dirty="0">
                <a:latin typeface="Calibri"/>
                <a:cs typeface="Calibri"/>
              </a:rPr>
              <a:t>3</a:t>
            </a:r>
            <a:r>
              <a:rPr sz="2475" spc="277" baseline="-18518" dirty="0">
                <a:latin typeface="Calibri"/>
                <a:cs typeface="Calibri"/>
              </a:rPr>
              <a:t> </a:t>
            </a:r>
            <a:r>
              <a:rPr sz="2500" spc="-5" dirty="0">
                <a:latin typeface="Calibri"/>
                <a:cs typeface="Calibri"/>
              </a:rPr>
              <a:t>↔</a:t>
            </a:r>
            <a:r>
              <a:rPr sz="2500" spc="-15" dirty="0">
                <a:latin typeface="Calibri"/>
                <a:cs typeface="Calibri"/>
              </a:rPr>
              <a:t> </a:t>
            </a:r>
            <a:r>
              <a:rPr sz="2500" spc="-30" dirty="0">
                <a:latin typeface="Calibri"/>
                <a:cs typeface="Calibri"/>
              </a:rPr>
              <a:t>LaF</a:t>
            </a:r>
            <a:r>
              <a:rPr sz="2400" spc="-44" baseline="29513" dirty="0">
                <a:latin typeface="Calibri"/>
                <a:cs typeface="Calibri"/>
              </a:rPr>
              <a:t>+</a:t>
            </a:r>
            <a:r>
              <a:rPr sz="2475" spc="-44" baseline="-23569" dirty="0">
                <a:latin typeface="Calibri"/>
                <a:cs typeface="Calibri"/>
              </a:rPr>
              <a:t>2</a:t>
            </a:r>
            <a:r>
              <a:rPr sz="2500" spc="-30" dirty="0">
                <a:latin typeface="Calibri"/>
                <a:cs typeface="Calibri"/>
              </a:rPr>
              <a:t>+</a:t>
            </a:r>
            <a:r>
              <a:rPr sz="2500" spc="-25" dirty="0">
                <a:latin typeface="Calibri"/>
                <a:cs typeface="Calibri"/>
              </a:rPr>
              <a:t> </a:t>
            </a:r>
            <a:r>
              <a:rPr sz="2500" dirty="0">
                <a:latin typeface="Calibri"/>
                <a:cs typeface="Calibri"/>
              </a:rPr>
              <a:t>F</a:t>
            </a:r>
            <a:r>
              <a:rPr sz="2400" baseline="29513" dirty="0">
                <a:latin typeface="Calibri"/>
                <a:cs typeface="Calibri"/>
              </a:rPr>
              <a:t>-</a:t>
            </a:r>
            <a:endParaRPr sz="2400" baseline="29513">
              <a:latin typeface="Calibri"/>
              <a:cs typeface="Calibri"/>
            </a:endParaRPr>
          </a:p>
          <a:p>
            <a:pPr marL="25400">
              <a:lnSpc>
                <a:spcPts val="2375"/>
              </a:lnSpc>
              <a:spcBef>
                <a:spcPts val="2400"/>
              </a:spcBef>
            </a:pPr>
            <a:r>
              <a:rPr sz="2000" spc="-5" dirty="0">
                <a:solidFill>
                  <a:srgbClr val="C00000"/>
                </a:solidFill>
                <a:latin typeface="Calibri"/>
                <a:cs typeface="Calibri"/>
              </a:rPr>
              <a:t>Fluoride</a:t>
            </a:r>
            <a:r>
              <a:rPr sz="2000" spc="-35" dirty="0">
                <a:solidFill>
                  <a:srgbClr val="C00000"/>
                </a:solidFill>
                <a:latin typeface="Calibri"/>
                <a:cs typeface="Calibri"/>
              </a:rPr>
              <a:t> </a:t>
            </a:r>
            <a:r>
              <a:rPr sz="2000" spc="-5" dirty="0">
                <a:solidFill>
                  <a:srgbClr val="C00000"/>
                </a:solidFill>
                <a:latin typeface="Calibri"/>
                <a:cs typeface="Calibri"/>
              </a:rPr>
              <a:t>ion</a:t>
            </a:r>
            <a:r>
              <a:rPr sz="2000" spc="-25" dirty="0">
                <a:solidFill>
                  <a:srgbClr val="C00000"/>
                </a:solidFill>
                <a:latin typeface="Calibri"/>
                <a:cs typeface="Calibri"/>
              </a:rPr>
              <a:t> </a:t>
            </a:r>
            <a:r>
              <a:rPr sz="2000" spc="-5" dirty="0">
                <a:solidFill>
                  <a:srgbClr val="C00000"/>
                </a:solidFill>
                <a:latin typeface="Calibri"/>
                <a:cs typeface="Calibri"/>
              </a:rPr>
              <a:t>electrode:</a:t>
            </a:r>
            <a:r>
              <a:rPr sz="2000" spc="-15" dirty="0">
                <a:solidFill>
                  <a:srgbClr val="C00000"/>
                </a:solidFill>
                <a:latin typeface="Calibri"/>
                <a:cs typeface="Calibri"/>
              </a:rPr>
              <a:t> </a:t>
            </a:r>
            <a:r>
              <a:rPr sz="2000" spc="-10" dirty="0">
                <a:solidFill>
                  <a:srgbClr val="C00000"/>
                </a:solidFill>
                <a:latin typeface="Calibri"/>
                <a:cs typeface="Calibri"/>
              </a:rPr>
              <a:t>e.g.</a:t>
            </a:r>
            <a:endParaRPr sz="2000">
              <a:latin typeface="Calibri"/>
              <a:cs typeface="Calibri"/>
            </a:endParaRPr>
          </a:p>
          <a:p>
            <a:pPr marL="25400" marR="4211955">
              <a:lnSpc>
                <a:spcPts val="2400"/>
              </a:lnSpc>
              <a:spcBef>
                <a:spcPts val="60"/>
              </a:spcBef>
            </a:pPr>
            <a:r>
              <a:rPr sz="2000" spc="-5" dirty="0">
                <a:latin typeface="Calibri"/>
                <a:cs typeface="Calibri"/>
              </a:rPr>
              <a:t>Internal</a:t>
            </a:r>
            <a:r>
              <a:rPr sz="2000" dirty="0">
                <a:latin typeface="Calibri"/>
                <a:cs typeface="Calibri"/>
              </a:rPr>
              <a:t> </a:t>
            </a:r>
            <a:r>
              <a:rPr sz="2000" spc="-5" dirty="0">
                <a:latin typeface="Calibri"/>
                <a:cs typeface="Calibri"/>
              </a:rPr>
              <a:t>electrode-</a:t>
            </a:r>
            <a:r>
              <a:rPr sz="2000" spc="-10" dirty="0">
                <a:latin typeface="Calibri"/>
                <a:cs typeface="Calibri"/>
              </a:rPr>
              <a:t> </a:t>
            </a:r>
            <a:r>
              <a:rPr sz="2000" spc="-5" dirty="0">
                <a:latin typeface="Calibri"/>
                <a:cs typeface="Calibri"/>
              </a:rPr>
              <a:t>Ag-AgCl</a:t>
            </a:r>
            <a:r>
              <a:rPr sz="2000" spc="20" dirty="0">
                <a:latin typeface="Calibri"/>
                <a:cs typeface="Calibri"/>
              </a:rPr>
              <a:t> </a:t>
            </a:r>
            <a:r>
              <a:rPr sz="2000" spc="-5" dirty="0">
                <a:latin typeface="Calibri"/>
                <a:cs typeface="Calibri"/>
              </a:rPr>
              <a:t>electrode </a:t>
            </a:r>
            <a:r>
              <a:rPr sz="2000" dirty="0">
                <a:latin typeface="Calibri"/>
                <a:cs typeface="Calibri"/>
              </a:rPr>
              <a:t> </a:t>
            </a:r>
            <a:r>
              <a:rPr sz="2000" spc="-10" dirty="0">
                <a:latin typeface="Calibri"/>
                <a:cs typeface="Calibri"/>
              </a:rPr>
              <a:t>Filling</a:t>
            </a:r>
            <a:r>
              <a:rPr sz="2000" dirty="0">
                <a:latin typeface="Calibri"/>
                <a:cs typeface="Calibri"/>
              </a:rPr>
              <a:t> </a:t>
            </a:r>
            <a:r>
              <a:rPr sz="2000" spc="-5" dirty="0">
                <a:latin typeface="Calibri"/>
                <a:cs typeface="Calibri"/>
              </a:rPr>
              <a:t>Solution</a:t>
            </a:r>
            <a:r>
              <a:rPr sz="2000" spc="20" dirty="0">
                <a:latin typeface="Calibri"/>
                <a:cs typeface="Calibri"/>
              </a:rPr>
              <a:t> </a:t>
            </a:r>
            <a:r>
              <a:rPr sz="2000" spc="-5" dirty="0">
                <a:latin typeface="Calibri"/>
                <a:cs typeface="Calibri"/>
              </a:rPr>
              <a:t>– </a:t>
            </a:r>
            <a:r>
              <a:rPr sz="2000" spc="-10" dirty="0">
                <a:latin typeface="Calibri"/>
                <a:cs typeface="Calibri"/>
              </a:rPr>
              <a:t>(NaCl</a:t>
            </a:r>
            <a:r>
              <a:rPr sz="2000" spc="-25" dirty="0">
                <a:latin typeface="Calibri"/>
                <a:cs typeface="Calibri"/>
              </a:rPr>
              <a:t> </a:t>
            </a:r>
            <a:r>
              <a:rPr sz="2000" spc="-5" dirty="0">
                <a:latin typeface="Calibri"/>
                <a:cs typeface="Calibri"/>
              </a:rPr>
              <a:t>+ </a:t>
            </a:r>
            <a:r>
              <a:rPr sz="2000" dirty="0">
                <a:latin typeface="Calibri"/>
                <a:cs typeface="Calibri"/>
              </a:rPr>
              <a:t>NaF) </a:t>
            </a:r>
            <a:r>
              <a:rPr sz="2000" spc="-5" dirty="0">
                <a:latin typeface="Calibri"/>
                <a:cs typeface="Calibri"/>
              </a:rPr>
              <a:t>aqueous</a:t>
            </a:r>
            <a:endParaRPr sz="2000">
              <a:latin typeface="Calibri"/>
              <a:cs typeface="Calibri"/>
            </a:endParaRPr>
          </a:p>
          <a:p>
            <a:pPr marL="25400">
              <a:lnSpc>
                <a:spcPts val="2320"/>
              </a:lnSpc>
            </a:pPr>
            <a:r>
              <a:rPr sz="2000" spc="-10" dirty="0">
                <a:latin typeface="Calibri"/>
                <a:cs typeface="Calibri"/>
              </a:rPr>
              <a:t>Membrane</a:t>
            </a:r>
            <a:r>
              <a:rPr sz="2000" spc="-25" dirty="0">
                <a:latin typeface="Calibri"/>
                <a:cs typeface="Calibri"/>
              </a:rPr>
              <a:t> </a:t>
            </a:r>
            <a:r>
              <a:rPr sz="2000" spc="-5" dirty="0">
                <a:latin typeface="Calibri"/>
                <a:cs typeface="Calibri"/>
              </a:rPr>
              <a:t>– LaF3</a:t>
            </a:r>
            <a:r>
              <a:rPr sz="2000" spc="-25" dirty="0">
                <a:latin typeface="Calibri"/>
                <a:cs typeface="Calibri"/>
              </a:rPr>
              <a:t> </a:t>
            </a:r>
            <a:r>
              <a:rPr sz="2000" spc="-5" dirty="0">
                <a:latin typeface="Calibri"/>
                <a:cs typeface="Calibri"/>
              </a:rPr>
              <a:t>doped </a:t>
            </a:r>
            <a:r>
              <a:rPr sz="2000" spc="-10" dirty="0">
                <a:latin typeface="Calibri"/>
                <a:cs typeface="Calibri"/>
              </a:rPr>
              <a:t>with</a:t>
            </a:r>
            <a:r>
              <a:rPr sz="2000" spc="35" dirty="0">
                <a:latin typeface="Calibri"/>
                <a:cs typeface="Calibri"/>
              </a:rPr>
              <a:t> </a:t>
            </a:r>
            <a:r>
              <a:rPr sz="2000" spc="-5" dirty="0">
                <a:latin typeface="Calibri"/>
                <a:cs typeface="Calibri"/>
              </a:rPr>
              <a:t>EuF2</a:t>
            </a:r>
            <a:r>
              <a:rPr sz="2000" spc="-45" dirty="0">
                <a:latin typeface="Calibri"/>
                <a:cs typeface="Calibri"/>
              </a:rPr>
              <a:t> </a:t>
            </a:r>
            <a:r>
              <a:rPr sz="2000" spc="-5" dirty="0">
                <a:latin typeface="Calibri"/>
                <a:cs typeface="Calibri"/>
              </a:rPr>
              <a:t>crystal</a:t>
            </a:r>
            <a:r>
              <a:rPr sz="2000" spc="5" dirty="0">
                <a:latin typeface="Calibri"/>
                <a:cs typeface="Calibri"/>
              </a:rPr>
              <a:t> </a:t>
            </a:r>
            <a:r>
              <a:rPr sz="2000" spc="-10" dirty="0">
                <a:latin typeface="Calibri"/>
                <a:cs typeface="Calibri"/>
              </a:rPr>
              <a:t>disc</a:t>
            </a:r>
            <a:endParaRPr sz="2000">
              <a:latin typeface="Calibri"/>
              <a:cs typeface="Calibri"/>
            </a:endParaRPr>
          </a:p>
          <a:p>
            <a:pPr marL="25400" marR="3767454">
              <a:lnSpc>
                <a:spcPts val="2380"/>
              </a:lnSpc>
              <a:spcBef>
                <a:spcPts val="95"/>
              </a:spcBef>
            </a:pPr>
            <a:r>
              <a:rPr sz="2000" spc="-5" dirty="0">
                <a:latin typeface="Calibri"/>
                <a:cs typeface="Calibri"/>
              </a:rPr>
              <a:t>Application</a:t>
            </a:r>
            <a:r>
              <a:rPr sz="2000" spc="10" dirty="0">
                <a:latin typeface="Calibri"/>
                <a:cs typeface="Calibri"/>
              </a:rPr>
              <a:t> </a:t>
            </a:r>
            <a:r>
              <a:rPr sz="2000" spc="-5" dirty="0">
                <a:latin typeface="Calibri"/>
                <a:cs typeface="Calibri"/>
              </a:rPr>
              <a:t>:</a:t>
            </a:r>
            <a:r>
              <a:rPr sz="2000" dirty="0">
                <a:latin typeface="Calibri"/>
                <a:cs typeface="Calibri"/>
              </a:rPr>
              <a:t> </a:t>
            </a:r>
            <a:r>
              <a:rPr sz="2000" spc="-5" dirty="0">
                <a:latin typeface="Calibri"/>
                <a:cs typeface="Calibri"/>
              </a:rPr>
              <a:t>Electroplating industry,</a:t>
            </a:r>
            <a:r>
              <a:rPr sz="2000" spc="5" dirty="0">
                <a:latin typeface="Calibri"/>
                <a:cs typeface="Calibri"/>
              </a:rPr>
              <a:t> </a:t>
            </a:r>
            <a:r>
              <a:rPr sz="2000" spc="-5" dirty="0">
                <a:latin typeface="Calibri"/>
                <a:cs typeface="Calibri"/>
              </a:rPr>
              <a:t>water </a:t>
            </a:r>
            <a:r>
              <a:rPr sz="2000" spc="-434" dirty="0">
                <a:latin typeface="Calibri"/>
                <a:cs typeface="Calibri"/>
              </a:rPr>
              <a:t> </a:t>
            </a:r>
            <a:r>
              <a:rPr sz="2000" spc="-5" dirty="0">
                <a:latin typeface="Calibri"/>
                <a:cs typeface="Calibri"/>
              </a:rPr>
              <a:t>treatment,</a:t>
            </a:r>
            <a:r>
              <a:rPr sz="2000" spc="15" dirty="0">
                <a:latin typeface="Calibri"/>
                <a:cs typeface="Calibri"/>
              </a:rPr>
              <a:t> </a:t>
            </a:r>
            <a:r>
              <a:rPr sz="2000" spc="-5" dirty="0">
                <a:latin typeface="Calibri"/>
                <a:cs typeface="Calibri"/>
              </a:rPr>
              <a:t>Toothpaste</a:t>
            </a:r>
            <a:endParaRPr sz="2000">
              <a:latin typeface="Calibri"/>
              <a:cs typeface="Calibri"/>
            </a:endParaRPr>
          </a:p>
        </p:txBody>
      </p:sp>
      <p:pic>
        <p:nvPicPr>
          <p:cNvPr id="4" name="object 4"/>
          <p:cNvPicPr/>
          <p:nvPr/>
        </p:nvPicPr>
        <p:blipFill>
          <a:blip r:embed="rId2" cstate="print"/>
          <a:stretch>
            <a:fillRect/>
          </a:stretch>
        </p:blipFill>
        <p:spPr>
          <a:xfrm>
            <a:off x="5701029" y="4212501"/>
            <a:ext cx="2967989" cy="194627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42950" y="634974"/>
            <a:ext cx="7230745" cy="535724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481025"/>
            <a:ext cx="7305040" cy="876935"/>
          </a:xfrm>
          <a:prstGeom prst="rect">
            <a:avLst/>
          </a:prstGeom>
        </p:spPr>
        <p:txBody>
          <a:bodyPr vert="horz" wrap="square" lIns="0" tIns="13970" rIns="0" bIns="0" rtlCol="0">
            <a:spAutoFit/>
          </a:bodyPr>
          <a:lstStyle/>
          <a:p>
            <a:pPr marL="354330" marR="5080" indent="-342265">
              <a:lnSpc>
                <a:spcPct val="99600"/>
              </a:lnSpc>
              <a:spcBef>
                <a:spcPts val="110"/>
              </a:spcBef>
            </a:pPr>
            <a:r>
              <a:rPr sz="3200" b="1" spc="-10" dirty="0">
                <a:latin typeface="Calibri"/>
                <a:cs typeface="Calibri"/>
              </a:rPr>
              <a:t>2)</a:t>
            </a:r>
            <a:r>
              <a:rPr sz="3200" b="1" spc="-20" dirty="0">
                <a:latin typeface="Calibri"/>
                <a:cs typeface="Calibri"/>
              </a:rPr>
              <a:t> </a:t>
            </a:r>
            <a:r>
              <a:rPr sz="3200" spc="-5" dirty="0"/>
              <a:t>Chloride</a:t>
            </a:r>
            <a:r>
              <a:rPr sz="3200" spc="-25" dirty="0"/>
              <a:t> </a:t>
            </a:r>
            <a:r>
              <a:rPr sz="3200" spc="-5" dirty="0"/>
              <a:t>ion</a:t>
            </a:r>
            <a:r>
              <a:rPr sz="3200" spc="-30" dirty="0"/>
              <a:t> </a:t>
            </a:r>
            <a:r>
              <a:rPr sz="3200" spc="-5" dirty="0"/>
              <a:t>selective</a:t>
            </a:r>
            <a:r>
              <a:rPr sz="3200" spc="-15" dirty="0"/>
              <a:t> </a:t>
            </a:r>
            <a:r>
              <a:rPr sz="3200" spc="-10" dirty="0"/>
              <a:t>electrode</a:t>
            </a:r>
            <a:r>
              <a:rPr sz="3200" spc="-55" dirty="0"/>
              <a:t> </a:t>
            </a:r>
            <a:r>
              <a:rPr sz="3200" spc="-5" dirty="0">
                <a:solidFill>
                  <a:srgbClr val="000000"/>
                </a:solidFill>
              </a:rPr>
              <a:t>–</a:t>
            </a:r>
            <a:r>
              <a:rPr sz="3200" spc="-35" dirty="0">
                <a:solidFill>
                  <a:srgbClr val="000000"/>
                </a:solidFill>
              </a:rPr>
              <a:t> </a:t>
            </a:r>
            <a:r>
              <a:rPr sz="2400" dirty="0">
                <a:solidFill>
                  <a:srgbClr val="000000"/>
                </a:solidFill>
              </a:rPr>
              <a:t>Solid</a:t>
            </a:r>
            <a:r>
              <a:rPr sz="2400" spc="-25" dirty="0">
                <a:solidFill>
                  <a:srgbClr val="000000"/>
                </a:solidFill>
              </a:rPr>
              <a:t> </a:t>
            </a:r>
            <a:r>
              <a:rPr sz="2400" dirty="0">
                <a:solidFill>
                  <a:srgbClr val="000000"/>
                </a:solidFill>
              </a:rPr>
              <a:t>state </a:t>
            </a:r>
            <a:r>
              <a:rPr sz="2400" spc="-530" dirty="0">
                <a:solidFill>
                  <a:srgbClr val="000000"/>
                </a:solidFill>
              </a:rPr>
              <a:t> </a:t>
            </a:r>
            <a:r>
              <a:rPr sz="2400" spc="-5" dirty="0">
                <a:solidFill>
                  <a:srgbClr val="000000"/>
                </a:solidFill>
              </a:rPr>
              <a:t>electrode</a:t>
            </a:r>
            <a:endParaRPr sz="2400">
              <a:latin typeface="Calibri"/>
              <a:cs typeface="Calibri"/>
            </a:endParaRPr>
          </a:p>
        </p:txBody>
      </p:sp>
      <p:sp>
        <p:nvSpPr>
          <p:cNvPr id="3" name="object 3"/>
          <p:cNvSpPr txBox="1"/>
          <p:nvPr/>
        </p:nvSpPr>
        <p:spPr>
          <a:xfrm>
            <a:off x="307340" y="1396365"/>
            <a:ext cx="8261350" cy="1928495"/>
          </a:xfrm>
          <a:prstGeom prst="rect">
            <a:avLst/>
          </a:prstGeom>
        </p:spPr>
        <p:txBody>
          <a:bodyPr vert="horz" wrap="square" lIns="0" tIns="12700" rIns="0" bIns="0" rtlCol="0">
            <a:spAutoFit/>
          </a:bodyPr>
          <a:lstStyle/>
          <a:p>
            <a:pPr marL="354330" marR="5080" indent="-342265">
              <a:lnSpc>
                <a:spcPct val="100000"/>
              </a:lnSpc>
              <a:spcBef>
                <a:spcPts val="100"/>
              </a:spcBef>
              <a:buFont typeface="Microsoft Sans Serif"/>
              <a:buChar char="•"/>
              <a:tabLst>
                <a:tab pos="353695" algn="l"/>
                <a:tab pos="354965" algn="l"/>
              </a:tabLst>
            </a:pPr>
            <a:r>
              <a:rPr sz="2400" spc="-5" dirty="0">
                <a:latin typeface="Calibri"/>
                <a:cs typeface="Calibri"/>
              </a:rPr>
              <a:t>Electrode</a:t>
            </a:r>
            <a:r>
              <a:rPr sz="2400" spc="-25" dirty="0">
                <a:latin typeface="Calibri"/>
                <a:cs typeface="Calibri"/>
              </a:rPr>
              <a:t> </a:t>
            </a:r>
            <a:r>
              <a:rPr sz="2400" dirty="0">
                <a:latin typeface="Calibri"/>
                <a:cs typeface="Calibri"/>
              </a:rPr>
              <a:t>is</a:t>
            </a:r>
            <a:r>
              <a:rPr sz="2400" spc="-45" dirty="0">
                <a:latin typeface="Calibri"/>
                <a:cs typeface="Calibri"/>
              </a:rPr>
              <a:t> </a:t>
            </a:r>
            <a:r>
              <a:rPr sz="2400" spc="-5" dirty="0">
                <a:latin typeface="Calibri"/>
                <a:cs typeface="Calibri"/>
              </a:rPr>
              <a:t>made</a:t>
            </a:r>
            <a:r>
              <a:rPr sz="2400" spc="-10" dirty="0">
                <a:latin typeface="Calibri"/>
                <a:cs typeface="Calibri"/>
              </a:rPr>
              <a:t> </a:t>
            </a:r>
            <a:r>
              <a:rPr sz="2400" spc="5" dirty="0">
                <a:latin typeface="Calibri"/>
                <a:cs typeface="Calibri"/>
              </a:rPr>
              <a:t>up</a:t>
            </a:r>
            <a:r>
              <a:rPr sz="2400" spc="-20" dirty="0">
                <a:latin typeface="Calibri"/>
                <a:cs typeface="Calibri"/>
              </a:rPr>
              <a:t> </a:t>
            </a:r>
            <a:r>
              <a:rPr sz="2400" dirty="0">
                <a:latin typeface="Calibri"/>
                <a:cs typeface="Calibri"/>
              </a:rPr>
              <a:t>of</a:t>
            </a:r>
            <a:r>
              <a:rPr sz="2400" spc="-30" dirty="0">
                <a:latin typeface="Calibri"/>
                <a:cs typeface="Calibri"/>
              </a:rPr>
              <a:t> </a:t>
            </a:r>
            <a:r>
              <a:rPr sz="2400" spc="-5" dirty="0">
                <a:latin typeface="Calibri"/>
                <a:cs typeface="Calibri"/>
              </a:rPr>
              <a:t>teflon </a:t>
            </a:r>
            <a:r>
              <a:rPr sz="2400" spc="-10" dirty="0">
                <a:latin typeface="Calibri"/>
                <a:cs typeface="Calibri"/>
              </a:rPr>
              <a:t>and</a:t>
            </a:r>
            <a:r>
              <a:rPr sz="2400" spc="5" dirty="0">
                <a:latin typeface="Calibri"/>
                <a:cs typeface="Calibri"/>
              </a:rPr>
              <a:t> </a:t>
            </a:r>
            <a:r>
              <a:rPr sz="2400" spc="-5" dirty="0">
                <a:latin typeface="Calibri"/>
                <a:cs typeface="Calibri"/>
              </a:rPr>
              <a:t>the</a:t>
            </a:r>
            <a:r>
              <a:rPr sz="2400" spc="-35" dirty="0">
                <a:latin typeface="Calibri"/>
                <a:cs typeface="Calibri"/>
              </a:rPr>
              <a:t> </a:t>
            </a:r>
            <a:r>
              <a:rPr sz="2400" spc="-5" dirty="0">
                <a:latin typeface="Calibri"/>
                <a:cs typeface="Calibri"/>
              </a:rPr>
              <a:t>Pallet</a:t>
            </a:r>
            <a:r>
              <a:rPr sz="2400" spc="-25" dirty="0">
                <a:latin typeface="Calibri"/>
                <a:cs typeface="Calibri"/>
              </a:rPr>
              <a:t> </a:t>
            </a:r>
            <a:r>
              <a:rPr sz="2400" dirty="0">
                <a:latin typeface="Calibri"/>
                <a:cs typeface="Calibri"/>
              </a:rPr>
              <a:t>of</a:t>
            </a:r>
            <a:r>
              <a:rPr sz="2400" spc="-25" dirty="0">
                <a:latin typeface="Calibri"/>
                <a:cs typeface="Calibri"/>
              </a:rPr>
              <a:t> </a:t>
            </a:r>
            <a:r>
              <a:rPr sz="2400" spc="-10" dirty="0">
                <a:latin typeface="Calibri"/>
                <a:cs typeface="Calibri"/>
              </a:rPr>
              <a:t>Ag2S</a:t>
            </a:r>
            <a:r>
              <a:rPr sz="2400" spc="-5" dirty="0">
                <a:latin typeface="Calibri"/>
                <a:cs typeface="Calibri"/>
              </a:rPr>
              <a:t> </a:t>
            </a:r>
            <a:r>
              <a:rPr sz="2400" spc="-10" dirty="0">
                <a:latin typeface="Calibri"/>
                <a:cs typeface="Calibri"/>
              </a:rPr>
              <a:t>and</a:t>
            </a:r>
            <a:r>
              <a:rPr sz="2400" dirty="0">
                <a:latin typeface="Calibri"/>
                <a:cs typeface="Calibri"/>
              </a:rPr>
              <a:t> </a:t>
            </a:r>
            <a:r>
              <a:rPr sz="2400" spc="-5" dirty="0">
                <a:latin typeface="Calibri"/>
                <a:cs typeface="Calibri"/>
              </a:rPr>
              <a:t>AgCl</a:t>
            </a:r>
            <a:r>
              <a:rPr sz="2400" spc="-40" dirty="0">
                <a:latin typeface="Calibri"/>
                <a:cs typeface="Calibri"/>
              </a:rPr>
              <a:t> </a:t>
            </a:r>
            <a:r>
              <a:rPr sz="2400" dirty="0">
                <a:latin typeface="Calibri"/>
                <a:cs typeface="Calibri"/>
              </a:rPr>
              <a:t>is </a:t>
            </a:r>
            <a:r>
              <a:rPr sz="2400" spc="-525" dirty="0">
                <a:latin typeface="Calibri"/>
                <a:cs typeface="Calibri"/>
              </a:rPr>
              <a:t> </a:t>
            </a:r>
            <a:r>
              <a:rPr sz="2400" spc="-5" dirty="0">
                <a:latin typeface="Calibri"/>
                <a:cs typeface="Calibri"/>
              </a:rPr>
              <a:t>attached</a:t>
            </a:r>
            <a:r>
              <a:rPr sz="2400" spc="-45" dirty="0">
                <a:latin typeface="Calibri"/>
                <a:cs typeface="Calibri"/>
              </a:rPr>
              <a:t> </a:t>
            </a:r>
            <a:r>
              <a:rPr sz="2400" dirty="0">
                <a:latin typeface="Calibri"/>
                <a:cs typeface="Calibri"/>
              </a:rPr>
              <a:t>using</a:t>
            </a:r>
            <a:r>
              <a:rPr sz="2400" spc="-35" dirty="0">
                <a:latin typeface="Calibri"/>
                <a:cs typeface="Calibri"/>
              </a:rPr>
              <a:t> </a:t>
            </a:r>
            <a:r>
              <a:rPr sz="2400" dirty="0">
                <a:latin typeface="Calibri"/>
                <a:cs typeface="Calibri"/>
              </a:rPr>
              <a:t>epoxy</a:t>
            </a:r>
            <a:r>
              <a:rPr sz="2400" spc="5" dirty="0">
                <a:latin typeface="Calibri"/>
                <a:cs typeface="Calibri"/>
              </a:rPr>
              <a:t> </a:t>
            </a:r>
            <a:r>
              <a:rPr sz="2400" spc="-5" dirty="0">
                <a:latin typeface="Calibri"/>
                <a:cs typeface="Calibri"/>
              </a:rPr>
              <a:t>resin.</a:t>
            </a:r>
            <a:r>
              <a:rPr sz="2400" dirty="0">
                <a:latin typeface="Microsoft Sans Serif"/>
                <a:cs typeface="Microsoft Sans Serif"/>
              </a:rPr>
              <a:t> </a:t>
            </a:r>
            <a:endParaRPr sz="2400">
              <a:latin typeface="Microsoft Sans Serif"/>
              <a:cs typeface="Microsoft Sans Serif"/>
            </a:endParaRPr>
          </a:p>
          <a:p>
            <a:pPr marL="354330" marR="264160" indent="-342265">
              <a:lnSpc>
                <a:spcPct val="100000"/>
              </a:lnSpc>
              <a:spcBef>
                <a:spcPts val="575"/>
              </a:spcBef>
              <a:buFont typeface="Microsoft Sans Serif"/>
              <a:buChar char="•"/>
              <a:tabLst>
                <a:tab pos="353695" algn="l"/>
                <a:tab pos="354965" algn="l"/>
              </a:tabLst>
            </a:pPr>
            <a:r>
              <a:rPr sz="2400" dirty="0">
                <a:latin typeface="Calibri"/>
                <a:cs typeface="Calibri"/>
              </a:rPr>
              <a:t>When</a:t>
            </a:r>
            <a:r>
              <a:rPr sz="2400" spc="-5" dirty="0">
                <a:latin typeface="Calibri"/>
                <a:cs typeface="Calibri"/>
              </a:rPr>
              <a:t> electrode</a:t>
            </a:r>
            <a:r>
              <a:rPr sz="2400" spc="10" dirty="0">
                <a:latin typeface="Calibri"/>
                <a:cs typeface="Calibri"/>
              </a:rPr>
              <a:t> </a:t>
            </a:r>
            <a:r>
              <a:rPr sz="2400" spc="-5" dirty="0">
                <a:latin typeface="Calibri"/>
                <a:cs typeface="Calibri"/>
              </a:rPr>
              <a:t>membrane</a:t>
            </a:r>
            <a:r>
              <a:rPr sz="2400" spc="10" dirty="0">
                <a:latin typeface="Calibri"/>
                <a:cs typeface="Calibri"/>
              </a:rPr>
              <a:t> </a:t>
            </a:r>
            <a:r>
              <a:rPr sz="2400" dirty="0">
                <a:latin typeface="Calibri"/>
                <a:cs typeface="Calibri"/>
              </a:rPr>
              <a:t>is</a:t>
            </a:r>
            <a:r>
              <a:rPr sz="2400" spc="-20" dirty="0">
                <a:latin typeface="Calibri"/>
                <a:cs typeface="Calibri"/>
              </a:rPr>
              <a:t> </a:t>
            </a:r>
            <a:r>
              <a:rPr sz="2400" dirty="0">
                <a:latin typeface="Calibri"/>
                <a:cs typeface="Calibri"/>
              </a:rPr>
              <a:t>in</a:t>
            </a:r>
            <a:r>
              <a:rPr sz="2400" spc="15" dirty="0">
                <a:latin typeface="Calibri"/>
                <a:cs typeface="Calibri"/>
              </a:rPr>
              <a:t> </a:t>
            </a:r>
            <a:r>
              <a:rPr sz="2400" spc="-10" dirty="0">
                <a:latin typeface="Calibri"/>
                <a:cs typeface="Calibri"/>
              </a:rPr>
              <a:t>contact</a:t>
            </a:r>
            <a:r>
              <a:rPr sz="2400" spc="15" dirty="0">
                <a:latin typeface="Calibri"/>
                <a:cs typeface="Calibri"/>
              </a:rPr>
              <a:t> </a:t>
            </a:r>
            <a:r>
              <a:rPr sz="2400" spc="-10" dirty="0">
                <a:latin typeface="Calibri"/>
                <a:cs typeface="Calibri"/>
              </a:rPr>
              <a:t>with</a:t>
            </a:r>
            <a:r>
              <a:rPr sz="2400" spc="10" dirty="0">
                <a:latin typeface="Calibri"/>
                <a:cs typeface="Calibri"/>
              </a:rPr>
              <a:t> </a:t>
            </a:r>
            <a:r>
              <a:rPr sz="2400" dirty="0">
                <a:latin typeface="Calibri"/>
                <a:cs typeface="Calibri"/>
              </a:rPr>
              <a:t>a</a:t>
            </a:r>
            <a:r>
              <a:rPr sz="2400" spc="-15" dirty="0">
                <a:latin typeface="Calibri"/>
                <a:cs typeface="Calibri"/>
              </a:rPr>
              <a:t> </a:t>
            </a:r>
            <a:r>
              <a:rPr sz="2400" spc="-5" dirty="0">
                <a:latin typeface="Calibri"/>
                <a:cs typeface="Calibri"/>
              </a:rPr>
              <a:t>solution </a:t>
            </a:r>
            <a:r>
              <a:rPr sz="2400" dirty="0">
                <a:latin typeface="Calibri"/>
                <a:cs typeface="Calibri"/>
              </a:rPr>
              <a:t> </a:t>
            </a:r>
            <a:r>
              <a:rPr sz="2400" spc="-5" dirty="0">
                <a:latin typeface="Calibri"/>
                <a:cs typeface="Calibri"/>
              </a:rPr>
              <a:t>containing</a:t>
            </a:r>
            <a:r>
              <a:rPr sz="2400" spc="-50" dirty="0">
                <a:latin typeface="Calibri"/>
                <a:cs typeface="Calibri"/>
              </a:rPr>
              <a:t> </a:t>
            </a:r>
            <a:r>
              <a:rPr sz="2400" spc="-10" dirty="0">
                <a:latin typeface="Calibri"/>
                <a:cs typeface="Calibri"/>
              </a:rPr>
              <a:t>chloride</a:t>
            </a:r>
            <a:r>
              <a:rPr sz="2400" spc="-20" dirty="0">
                <a:latin typeface="Calibri"/>
                <a:cs typeface="Calibri"/>
              </a:rPr>
              <a:t> </a:t>
            </a:r>
            <a:r>
              <a:rPr sz="2400" spc="-5" dirty="0">
                <a:latin typeface="Calibri"/>
                <a:cs typeface="Calibri"/>
              </a:rPr>
              <a:t>ions,</a:t>
            </a:r>
            <a:r>
              <a:rPr sz="2400" spc="-55" dirty="0">
                <a:latin typeface="Calibri"/>
                <a:cs typeface="Calibri"/>
              </a:rPr>
              <a:t> </a:t>
            </a:r>
            <a:r>
              <a:rPr sz="2400" dirty="0">
                <a:latin typeface="Calibri"/>
                <a:cs typeface="Calibri"/>
              </a:rPr>
              <a:t>an</a:t>
            </a:r>
            <a:r>
              <a:rPr sz="2400" spc="-20" dirty="0">
                <a:latin typeface="Calibri"/>
                <a:cs typeface="Calibri"/>
              </a:rPr>
              <a:t> </a:t>
            </a:r>
            <a:r>
              <a:rPr sz="2400" spc="-5" dirty="0">
                <a:latin typeface="Calibri"/>
                <a:cs typeface="Calibri"/>
              </a:rPr>
              <a:t>electrode</a:t>
            </a:r>
            <a:r>
              <a:rPr sz="2400" spc="-45" dirty="0">
                <a:latin typeface="Calibri"/>
                <a:cs typeface="Calibri"/>
              </a:rPr>
              <a:t> </a:t>
            </a:r>
            <a:r>
              <a:rPr sz="2400" spc="-5" dirty="0">
                <a:latin typeface="Calibri"/>
                <a:cs typeface="Calibri"/>
              </a:rPr>
              <a:t>potential</a:t>
            </a:r>
            <a:r>
              <a:rPr sz="2400" spc="-45" dirty="0">
                <a:latin typeface="Calibri"/>
                <a:cs typeface="Calibri"/>
              </a:rPr>
              <a:t> </a:t>
            </a:r>
            <a:r>
              <a:rPr sz="2400" spc="-5" dirty="0">
                <a:latin typeface="Calibri"/>
                <a:cs typeface="Calibri"/>
              </a:rPr>
              <a:t>develops.</a:t>
            </a:r>
            <a:r>
              <a:rPr sz="2400" spc="-30" dirty="0">
                <a:latin typeface="Calibri"/>
                <a:cs typeface="Calibri"/>
              </a:rPr>
              <a:t> </a:t>
            </a:r>
            <a:r>
              <a:rPr sz="2400" spc="-5" dirty="0">
                <a:latin typeface="Calibri"/>
                <a:cs typeface="Calibri"/>
              </a:rPr>
              <a:t>This </a:t>
            </a:r>
            <a:r>
              <a:rPr sz="2400" spc="-530" dirty="0">
                <a:latin typeface="Calibri"/>
                <a:cs typeface="Calibri"/>
              </a:rPr>
              <a:t> </a:t>
            </a:r>
            <a:r>
              <a:rPr sz="2400" spc="-5" dirty="0">
                <a:latin typeface="Calibri"/>
                <a:cs typeface="Calibri"/>
              </a:rPr>
              <a:t>potential</a:t>
            </a:r>
            <a:r>
              <a:rPr sz="2400" spc="-35" dirty="0">
                <a:latin typeface="Calibri"/>
                <a:cs typeface="Calibri"/>
              </a:rPr>
              <a:t> </a:t>
            </a:r>
            <a:r>
              <a:rPr sz="2400" dirty="0">
                <a:latin typeface="Calibri"/>
                <a:cs typeface="Calibri"/>
              </a:rPr>
              <a:t>is</a:t>
            </a:r>
            <a:r>
              <a:rPr sz="2400" spc="-20" dirty="0">
                <a:latin typeface="Calibri"/>
                <a:cs typeface="Calibri"/>
              </a:rPr>
              <a:t> </a:t>
            </a:r>
            <a:r>
              <a:rPr sz="2400" spc="-5" dirty="0">
                <a:latin typeface="Calibri"/>
                <a:cs typeface="Calibri"/>
              </a:rPr>
              <a:t>measured</a:t>
            </a:r>
            <a:r>
              <a:rPr sz="2400" spc="-20" dirty="0">
                <a:latin typeface="Calibri"/>
                <a:cs typeface="Calibri"/>
              </a:rPr>
              <a:t> </a:t>
            </a:r>
            <a:r>
              <a:rPr sz="2400" dirty="0">
                <a:latin typeface="Calibri"/>
                <a:cs typeface="Calibri"/>
              </a:rPr>
              <a:t>using</a:t>
            </a:r>
            <a:r>
              <a:rPr sz="2400" spc="-15" dirty="0">
                <a:latin typeface="Calibri"/>
                <a:cs typeface="Calibri"/>
              </a:rPr>
              <a:t> </a:t>
            </a:r>
            <a:r>
              <a:rPr sz="2400" dirty="0">
                <a:latin typeface="Calibri"/>
                <a:cs typeface="Calibri"/>
              </a:rPr>
              <a:t>reference</a:t>
            </a:r>
            <a:r>
              <a:rPr sz="2400" spc="-5" dirty="0">
                <a:latin typeface="Calibri"/>
                <a:cs typeface="Calibri"/>
              </a:rPr>
              <a:t> electrode.</a:t>
            </a:r>
            <a:r>
              <a:rPr sz="2400" dirty="0">
                <a:latin typeface="Microsoft Sans Serif"/>
                <a:cs typeface="Microsoft Sans Serif"/>
              </a:rPr>
              <a:t> </a:t>
            </a:r>
            <a:endParaRPr sz="2400">
              <a:latin typeface="Microsoft Sans Serif"/>
              <a:cs typeface="Microsoft Sans Serif"/>
            </a:endParaRPr>
          </a:p>
        </p:txBody>
      </p:sp>
      <p:pic>
        <p:nvPicPr>
          <p:cNvPr id="4" name="object 4"/>
          <p:cNvPicPr/>
          <p:nvPr/>
        </p:nvPicPr>
        <p:blipFill>
          <a:blip r:embed="rId2" cstate="print"/>
          <a:stretch>
            <a:fillRect/>
          </a:stretch>
        </p:blipFill>
        <p:spPr>
          <a:xfrm>
            <a:off x="2228850" y="3569970"/>
            <a:ext cx="4095750" cy="257174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47797" y="115265"/>
            <a:ext cx="3252470" cy="636905"/>
          </a:xfrm>
          <a:prstGeom prst="rect">
            <a:avLst/>
          </a:prstGeom>
        </p:spPr>
        <p:txBody>
          <a:bodyPr vert="horz" wrap="square" lIns="0" tIns="13970" rIns="0" bIns="0" rtlCol="0">
            <a:spAutoFit/>
          </a:bodyPr>
          <a:lstStyle/>
          <a:p>
            <a:pPr marL="12700">
              <a:lnSpc>
                <a:spcPct val="100000"/>
              </a:lnSpc>
              <a:spcBef>
                <a:spcPts val="110"/>
              </a:spcBef>
            </a:pPr>
            <a:r>
              <a:rPr sz="4000" spc="-5" dirty="0"/>
              <a:t>Conductometry</a:t>
            </a:r>
            <a:endParaRPr sz="4000"/>
          </a:p>
        </p:txBody>
      </p:sp>
      <p:sp>
        <p:nvSpPr>
          <p:cNvPr id="3" name="object 3"/>
          <p:cNvSpPr txBox="1"/>
          <p:nvPr/>
        </p:nvSpPr>
        <p:spPr>
          <a:xfrm>
            <a:off x="536244" y="941958"/>
            <a:ext cx="7919084" cy="2326640"/>
          </a:xfrm>
          <a:prstGeom prst="rect">
            <a:avLst/>
          </a:prstGeom>
        </p:spPr>
        <p:txBody>
          <a:bodyPr vert="horz" wrap="square" lIns="0" tIns="83820" rIns="0" bIns="0" rtlCol="0">
            <a:spAutoFit/>
          </a:bodyPr>
          <a:lstStyle/>
          <a:p>
            <a:pPr marL="353695" marR="5080" indent="-341630">
              <a:lnSpc>
                <a:spcPct val="79100"/>
              </a:lnSpc>
              <a:spcBef>
                <a:spcPts val="660"/>
              </a:spcBef>
              <a:buFont typeface="Microsoft Sans Serif"/>
              <a:buChar char="•"/>
              <a:tabLst>
                <a:tab pos="353695" algn="l"/>
                <a:tab pos="354330" algn="l"/>
              </a:tabLst>
            </a:pPr>
            <a:r>
              <a:rPr sz="2200" dirty="0">
                <a:latin typeface="Times New Roman"/>
                <a:cs typeface="Times New Roman"/>
              </a:rPr>
              <a:t>The </a:t>
            </a:r>
            <a:r>
              <a:rPr sz="2200" spc="-5" dirty="0">
                <a:latin typeface="Times New Roman"/>
                <a:cs typeface="Times New Roman"/>
              </a:rPr>
              <a:t>ability </a:t>
            </a:r>
            <a:r>
              <a:rPr sz="2200" dirty="0">
                <a:latin typeface="Times New Roman"/>
                <a:cs typeface="Times New Roman"/>
              </a:rPr>
              <a:t>of any </a:t>
            </a:r>
            <a:r>
              <a:rPr sz="2200" spc="5" dirty="0">
                <a:latin typeface="Times New Roman"/>
                <a:cs typeface="Times New Roman"/>
              </a:rPr>
              <a:t>ion </a:t>
            </a:r>
            <a:r>
              <a:rPr sz="2200" spc="-5" dirty="0">
                <a:latin typeface="Times New Roman"/>
                <a:cs typeface="Times New Roman"/>
              </a:rPr>
              <a:t>to transport charge </a:t>
            </a:r>
            <a:r>
              <a:rPr sz="2200" dirty="0">
                <a:latin typeface="Times New Roman"/>
                <a:cs typeface="Times New Roman"/>
              </a:rPr>
              <a:t>depends on </a:t>
            </a:r>
            <a:r>
              <a:rPr sz="2200" spc="-5" dirty="0">
                <a:latin typeface="Times New Roman"/>
                <a:cs typeface="Times New Roman"/>
              </a:rPr>
              <a:t>the mobility </a:t>
            </a:r>
            <a:r>
              <a:rPr sz="2200" dirty="0">
                <a:latin typeface="Times New Roman"/>
                <a:cs typeface="Times New Roman"/>
              </a:rPr>
              <a:t> of</a:t>
            </a:r>
            <a:r>
              <a:rPr sz="2200" spc="-15" dirty="0">
                <a:latin typeface="Times New Roman"/>
                <a:cs typeface="Times New Roman"/>
              </a:rPr>
              <a:t> </a:t>
            </a:r>
            <a:r>
              <a:rPr sz="2200" spc="-5" dirty="0">
                <a:latin typeface="Times New Roman"/>
                <a:cs typeface="Times New Roman"/>
              </a:rPr>
              <a:t>the</a:t>
            </a:r>
            <a:r>
              <a:rPr sz="2200" spc="-15" dirty="0">
                <a:latin typeface="Times New Roman"/>
                <a:cs typeface="Times New Roman"/>
              </a:rPr>
              <a:t> </a:t>
            </a:r>
            <a:r>
              <a:rPr sz="2200" dirty="0">
                <a:latin typeface="Times New Roman"/>
                <a:cs typeface="Times New Roman"/>
              </a:rPr>
              <a:t>ion.</a:t>
            </a:r>
            <a:r>
              <a:rPr sz="2200" spc="-45" dirty="0">
                <a:latin typeface="Times New Roman"/>
                <a:cs typeface="Times New Roman"/>
              </a:rPr>
              <a:t> </a:t>
            </a:r>
            <a:r>
              <a:rPr sz="2200" dirty="0">
                <a:latin typeface="Times New Roman"/>
                <a:cs typeface="Times New Roman"/>
              </a:rPr>
              <a:t>Mobility</a:t>
            </a:r>
            <a:r>
              <a:rPr sz="2200" spc="-35" dirty="0">
                <a:latin typeface="Times New Roman"/>
                <a:cs typeface="Times New Roman"/>
              </a:rPr>
              <a:t> </a:t>
            </a:r>
            <a:r>
              <a:rPr sz="2200" dirty="0">
                <a:latin typeface="Times New Roman"/>
                <a:cs typeface="Times New Roman"/>
              </a:rPr>
              <a:t>of</a:t>
            </a:r>
            <a:r>
              <a:rPr sz="2200" spc="-15" dirty="0">
                <a:latin typeface="Times New Roman"/>
                <a:cs typeface="Times New Roman"/>
              </a:rPr>
              <a:t> </a:t>
            </a:r>
            <a:r>
              <a:rPr sz="2200" spc="5" dirty="0">
                <a:latin typeface="Times New Roman"/>
                <a:cs typeface="Times New Roman"/>
              </a:rPr>
              <a:t>ion</a:t>
            </a:r>
            <a:r>
              <a:rPr sz="2200" spc="-25" dirty="0">
                <a:latin typeface="Times New Roman"/>
                <a:cs typeface="Times New Roman"/>
              </a:rPr>
              <a:t> </a:t>
            </a:r>
            <a:r>
              <a:rPr sz="2200" spc="-5" dirty="0">
                <a:latin typeface="Times New Roman"/>
                <a:cs typeface="Times New Roman"/>
              </a:rPr>
              <a:t>is</a:t>
            </a:r>
            <a:r>
              <a:rPr sz="2200" spc="-10" dirty="0">
                <a:latin typeface="Times New Roman"/>
                <a:cs typeface="Times New Roman"/>
              </a:rPr>
              <a:t> </a:t>
            </a:r>
            <a:r>
              <a:rPr sz="2200" dirty="0">
                <a:latin typeface="Times New Roman"/>
                <a:cs typeface="Times New Roman"/>
              </a:rPr>
              <a:t>affected</a:t>
            </a:r>
            <a:r>
              <a:rPr sz="2200" spc="10" dirty="0">
                <a:latin typeface="Times New Roman"/>
                <a:cs typeface="Times New Roman"/>
              </a:rPr>
              <a:t> </a:t>
            </a:r>
            <a:r>
              <a:rPr sz="2200" dirty="0">
                <a:latin typeface="Times New Roman"/>
                <a:cs typeface="Times New Roman"/>
              </a:rPr>
              <a:t>by</a:t>
            </a:r>
            <a:r>
              <a:rPr sz="2200" spc="-25" dirty="0">
                <a:latin typeface="Times New Roman"/>
                <a:cs typeface="Times New Roman"/>
              </a:rPr>
              <a:t> </a:t>
            </a:r>
            <a:r>
              <a:rPr sz="2200" spc="-5" dirty="0">
                <a:latin typeface="Times New Roman"/>
                <a:cs typeface="Times New Roman"/>
              </a:rPr>
              <a:t>factors</a:t>
            </a:r>
            <a:r>
              <a:rPr sz="2200" spc="-10" dirty="0">
                <a:latin typeface="Times New Roman"/>
                <a:cs typeface="Times New Roman"/>
              </a:rPr>
              <a:t> </a:t>
            </a:r>
            <a:r>
              <a:rPr sz="2200" spc="-5" dirty="0">
                <a:latin typeface="Times New Roman"/>
                <a:cs typeface="Times New Roman"/>
              </a:rPr>
              <a:t>like-</a:t>
            </a:r>
            <a:r>
              <a:rPr sz="2200" spc="-35" dirty="0">
                <a:latin typeface="Times New Roman"/>
                <a:cs typeface="Times New Roman"/>
              </a:rPr>
              <a:t> </a:t>
            </a:r>
            <a:r>
              <a:rPr sz="2200" spc="5" dirty="0">
                <a:latin typeface="Times New Roman"/>
                <a:cs typeface="Times New Roman"/>
              </a:rPr>
              <a:t>charge</a:t>
            </a:r>
            <a:r>
              <a:rPr sz="2200" spc="-15" dirty="0">
                <a:latin typeface="Times New Roman"/>
                <a:cs typeface="Times New Roman"/>
              </a:rPr>
              <a:t> </a:t>
            </a:r>
            <a:r>
              <a:rPr sz="2200" dirty="0">
                <a:latin typeface="Times New Roman"/>
                <a:cs typeface="Times New Roman"/>
              </a:rPr>
              <a:t>on</a:t>
            </a:r>
            <a:r>
              <a:rPr sz="2200" spc="-25" dirty="0">
                <a:latin typeface="Times New Roman"/>
                <a:cs typeface="Times New Roman"/>
              </a:rPr>
              <a:t> </a:t>
            </a:r>
            <a:r>
              <a:rPr sz="2200" dirty="0">
                <a:latin typeface="Times New Roman"/>
                <a:cs typeface="Times New Roman"/>
              </a:rPr>
              <a:t>ion, </a:t>
            </a:r>
            <a:r>
              <a:rPr sz="2200" spc="-535" dirty="0">
                <a:latin typeface="Times New Roman"/>
                <a:cs typeface="Times New Roman"/>
              </a:rPr>
              <a:t> </a:t>
            </a:r>
            <a:r>
              <a:rPr sz="2200" dirty="0">
                <a:latin typeface="Times New Roman"/>
                <a:cs typeface="Times New Roman"/>
              </a:rPr>
              <a:t>size</a:t>
            </a:r>
            <a:r>
              <a:rPr sz="2200" spc="-20" dirty="0">
                <a:latin typeface="Times New Roman"/>
                <a:cs typeface="Times New Roman"/>
              </a:rPr>
              <a:t> </a:t>
            </a:r>
            <a:r>
              <a:rPr sz="2200" dirty="0">
                <a:latin typeface="Times New Roman"/>
                <a:cs typeface="Times New Roman"/>
              </a:rPr>
              <a:t>and</a:t>
            </a:r>
            <a:r>
              <a:rPr sz="2200" spc="5" dirty="0">
                <a:latin typeface="Times New Roman"/>
                <a:cs typeface="Times New Roman"/>
              </a:rPr>
              <a:t> </a:t>
            </a:r>
            <a:r>
              <a:rPr sz="2200" spc="-5" dirty="0">
                <a:latin typeface="Times New Roman"/>
                <a:cs typeface="Times New Roman"/>
              </a:rPr>
              <a:t>mass</a:t>
            </a:r>
            <a:r>
              <a:rPr sz="2200" spc="10" dirty="0">
                <a:latin typeface="Times New Roman"/>
                <a:cs typeface="Times New Roman"/>
              </a:rPr>
              <a:t> </a:t>
            </a:r>
            <a:r>
              <a:rPr sz="2200" dirty="0">
                <a:latin typeface="Times New Roman"/>
                <a:cs typeface="Times New Roman"/>
              </a:rPr>
              <a:t>of</a:t>
            </a:r>
            <a:r>
              <a:rPr sz="2200" spc="-20" dirty="0">
                <a:latin typeface="Times New Roman"/>
                <a:cs typeface="Times New Roman"/>
              </a:rPr>
              <a:t> </a:t>
            </a:r>
            <a:r>
              <a:rPr sz="2200" spc="5" dirty="0">
                <a:latin typeface="Times New Roman"/>
                <a:cs typeface="Times New Roman"/>
              </a:rPr>
              <a:t>ion</a:t>
            </a:r>
            <a:r>
              <a:rPr sz="2200" spc="-20" dirty="0">
                <a:latin typeface="Times New Roman"/>
                <a:cs typeface="Times New Roman"/>
              </a:rPr>
              <a:t> </a:t>
            </a:r>
            <a:r>
              <a:rPr sz="2200" dirty="0">
                <a:latin typeface="Times New Roman"/>
                <a:cs typeface="Times New Roman"/>
              </a:rPr>
              <a:t>,</a:t>
            </a:r>
            <a:r>
              <a:rPr sz="2200" spc="-25" dirty="0">
                <a:latin typeface="Times New Roman"/>
                <a:cs typeface="Times New Roman"/>
              </a:rPr>
              <a:t> </a:t>
            </a:r>
            <a:r>
              <a:rPr sz="2200" spc="-5" dirty="0">
                <a:latin typeface="Times New Roman"/>
                <a:cs typeface="Times New Roman"/>
              </a:rPr>
              <a:t>extent</a:t>
            </a:r>
            <a:r>
              <a:rPr sz="2200" spc="10" dirty="0">
                <a:latin typeface="Times New Roman"/>
                <a:cs typeface="Times New Roman"/>
              </a:rPr>
              <a:t> </a:t>
            </a:r>
            <a:r>
              <a:rPr sz="2200" dirty="0">
                <a:latin typeface="Times New Roman"/>
                <a:cs typeface="Times New Roman"/>
              </a:rPr>
              <a:t>of</a:t>
            </a:r>
            <a:r>
              <a:rPr sz="2200" spc="10" dirty="0">
                <a:latin typeface="Times New Roman"/>
                <a:cs typeface="Times New Roman"/>
              </a:rPr>
              <a:t> </a:t>
            </a:r>
            <a:r>
              <a:rPr sz="2200" spc="-5" dirty="0">
                <a:latin typeface="Times New Roman"/>
                <a:cs typeface="Times New Roman"/>
              </a:rPr>
              <a:t>solvation</a:t>
            </a:r>
            <a:r>
              <a:rPr sz="2200" dirty="0">
                <a:latin typeface="Microsoft Sans Serif"/>
                <a:cs typeface="Microsoft Sans Serif"/>
              </a:rPr>
              <a:t> </a:t>
            </a:r>
            <a:endParaRPr sz="2200">
              <a:latin typeface="Microsoft Sans Serif"/>
              <a:cs typeface="Microsoft Sans Serif"/>
            </a:endParaRPr>
          </a:p>
          <a:p>
            <a:pPr marL="353695" indent="-341630">
              <a:lnSpc>
                <a:spcPct val="100000"/>
              </a:lnSpc>
              <a:spcBef>
                <a:spcPts val="20"/>
              </a:spcBef>
              <a:buFont typeface="Microsoft Sans Serif"/>
              <a:buChar char="•"/>
              <a:tabLst>
                <a:tab pos="353695" algn="l"/>
                <a:tab pos="354330" algn="l"/>
              </a:tabLst>
            </a:pPr>
            <a:r>
              <a:rPr sz="2200" spc="-10" dirty="0">
                <a:solidFill>
                  <a:srgbClr val="C00000"/>
                </a:solidFill>
                <a:latin typeface="Times New Roman"/>
                <a:cs typeface="Times New Roman"/>
              </a:rPr>
              <a:t>Ohm’s</a:t>
            </a:r>
            <a:r>
              <a:rPr sz="2200" spc="-90" dirty="0">
                <a:solidFill>
                  <a:srgbClr val="C00000"/>
                </a:solidFill>
                <a:latin typeface="Times New Roman"/>
                <a:cs typeface="Times New Roman"/>
              </a:rPr>
              <a:t> </a:t>
            </a:r>
            <a:r>
              <a:rPr sz="2200" dirty="0">
                <a:solidFill>
                  <a:srgbClr val="C00000"/>
                </a:solidFill>
                <a:latin typeface="Times New Roman"/>
                <a:cs typeface="Times New Roman"/>
              </a:rPr>
              <a:t>Law:</a:t>
            </a:r>
            <a:r>
              <a:rPr sz="2200" dirty="0">
                <a:solidFill>
                  <a:srgbClr val="C00000"/>
                </a:solidFill>
                <a:latin typeface="Microsoft Sans Serif"/>
                <a:cs typeface="Microsoft Sans Serif"/>
              </a:rPr>
              <a:t> </a:t>
            </a:r>
            <a:endParaRPr sz="2200">
              <a:latin typeface="Microsoft Sans Serif"/>
              <a:cs typeface="Microsoft Sans Serif"/>
            </a:endParaRPr>
          </a:p>
          <a:p>
            <a:pPr>
              <a:lnSpc>
                <a:spcPct val="100000"/>
              </a:lnSpc>
              <a:spcBef>
                <a:spcPts val="20"/>
              </a:spcBef>
            </a:pPr>
            <a:endParaRPr sz="2550">
              <a:latin typeface="Microsoft Sans Serif"/>
              <a:cs typeface="Microsoft Sans Serif"/>
            </a:endParaRPr>
          </a:p>
          <a:p>
            <a:pPr marL="353695" marR="93345" indent="-341630">
              <a:lnSpc>
                <a:spcPct val="79500"/>
              </a:lnSpc>
            </a:pPr>
            <a:r>
              <a:rPr sz="2000" spc="-10" dirty="0">
                <a:latin typeface="Times New Roman"/>
                <a:cs typeface="Times New Roman"/>
              </a:rPr>
              <a:t>Ohm’s</a:t>
            </a:r>
            <a:r>
              <a:rPr sz="2000" dirty="0">
                <a:latin typeface="Times New Roman"/>
                <a:cs typeface="Times New Roman"/>
              </a:rPr>
              <a:t> law</a:t>
            </a:r>
            <a:r>
              <a:rPr sz="2000" spc="-20" dirty="0">
                <a:latin typeface="Times New Roman"/>
                <a:cs typeface="Times New Roman"/>
              </a:rPr>
              <a:t> </a:t>
            </a:r>
            <a:r>
              <a:rPr sz="2000" spc="-5" dirty="0">
                <a:latin typeface="Times New Roman"/>
                <a:cs typeface="Times New Roman"/>
              </a:rPr>
              <a:t>state</a:t>
            </a:r>
            <a:r>
              <a:rPr sz="2000" spc="10" dirty="0">
                <a:latin typeface="Times New Roman"/>
                <a:cs typeface="Times New Roman"/>
              </a:rPr>
              <a:t> </a:t>
            </a:r>
            <a:r>
              <a:rPr sz="2000" spc="-5" dirty="0">
                <a:latin typeface="Times New Roman"/>
                <a:cs typeface="Times New Roman"/>
              </a:rPr>
              <a:t>that</a:t>
            </a:r>
            <a:r>
              <a:rPr sz="2000" spc="5" dirty="0">
                <a:latin typeface="Times New Roman"/>
                <a:cs typeface="Times New Roman"/>
              </a:rPr>
              <a:t> </a:t>
            </a:r>
            <a:r>
              <a:rPr sz="2000" spc="-5" dirty="0">
                <a:latin typeface="Times New Roman"/>
                <a:cs typeface="Times New Roman"/>
              </a:rPr>
              <a:t>the</a:t>
            </a:r>
            <a:r>
              <a:rPr sz="2000" spc="10" dirty="0">
                <a:latin typeface="Times New Roman"/>
                <a:cs typeface="Times New Roman"/>
              </a:rPr>
              <a:t> </a:t>
            </a:r>
            <a:r>
              <a:rPr sz="2000" spc="-5" dirty="0">
                <a:latin typeface="Times New Roman"/>
                <a:cs typeface="Times New Roman"/>
              </a:rPr>
              <a:t>current</a:t>
            </a:r>
            <a:r>
              <a:rPr sz="2000" dirty="0">
                <a:latin typeface="Times New Roman"/>
                <a:cs typeface="Times New Roman"/>
              </a:rPr>
              <a:t> (I)</a:t>
            </a:r>
            <a:r>
              <a:rPr sz="2000" spc="10" dirty="0">
                <a:latin typeface="Times New Roman"/>
                <a:cs typeface="Times New Roman"/>
              </a:rPr>
              <a:t> </a:t>
            </a:r>
            <a:r>
              <a:rPr sz="2000" spc="-5" dirty="0">
                <a:latin typeface="Times New Roman"/>
                <a:cs typeface="Times New Roman"/>
              </a:rPr>
              <a:t>flowing through the</a:t>
            </a:r>
            <a:r>
              <a:rPr sz="2000" spc="10" dirty="0">
                <a:latin typeface="Times New Roman"/>
                <a:cs typeface="Times New Roman"/>
              </a:rPr>
              <a:t> </a:t>
            </a:r>
            <a:r>
              <a:rPr sz="2000" spc="-5" dirty="0">
                <a:latin typeface="Times New Roman"/>
                <a:cs typeface="Times New Roman"/>
              </a:rPr>
              <a:t>conductor</a:t>
            </a:r>
            <a:r>
              <a:rPr sz="2000" spc="10" dirty="0">
                <a:latin typeface="Times New Roman"/>
                <a:cs typeface="Times New Roman"/>
              </a:rPr>
              <a:t> </a:t>
            </a:r>
            <a:r>
              <a:rPr sz="2000" spc="-5" dirty="0">
                <a:latin typeface="Times New Roman"/>
                <a:cs typeface="Times New Roman"/>
              </a:rPr>
              <a:t>is </a:t>
            </a:r>
            <a:r>
              <a:rPr sz="2000" dirty="0">
                <a:latin typeface="Times New Roman"/>
                <a:cs typeface="Times New Roman"/>
              </a:rPr>
              <a:t>directly </a:t>
            </a:r>
            <a:r>
              <a:rPr sz="2000" spc="-484" dirty="0">
                <a:latin typeface="Times New Roman"/>
                <a:cs typeface="Times New Roman"/>
              </a:rPr>
              <a:t> </a:t>
            </a:r>
            <a:r>
              <a:rPr sz="2000" spc="-5" dirty="0">
                <a:latin typeface="Times New Roman"/>
                <a:cs typeface="Times New Roman"/>
              </a:rPr>
              <a:t>proportional</a:t>
            </a:r>
            <a:r>
              <a:rPr sz="2000" dirty="0">
                <a:latin typeface="Times New Roman"/>
                <a:cs typeface="Times New Roman"/>
              </a:rPr>
              <a:t> </a:t>
            </a:r>
            <a:r>
              <a:rPr sz="2000" spc="-5" dirty="0">
                <a:latin typeface="Times New Roman"/>
                <a:cs typeface="Times New Roman"/>
              </a:rPr>
              <a:t>to</a:t>
            </a:r>
            <a:r>
              <a:rPr sz="2000" spc="15" dirty="0">
                <a:latin typeface="Times New Roman"/>
                <a:cs typeface="Times New Roman"/>
              </a:rPr>
              <a:t> </a:t>
            </a:r>
            <a:r>
              <a:rPr sz="2000" spc="-10" dirty="0">
                <a:latin typeface="Times New Roman"/>
                <a:cs typeface="Times New Roman"/>
              </a:rPr>
              <a:t>the</a:t>
            </a:r>
            <a:r>
              <a:rPr sz="2000" spc="35" dirty="0">
                <a:latin typeface="Times New Roman"/>
                <a:cs typeface="Times New Roman"/>
              </a:rPr>
              <a:t> </a:t>
            </a:r>
            <a:r>
              <a:rPr sz="2000" spc="-5" dirty="0">
                <a:latin typeface="Times New Roman"/>
                <a:cs typeface="Times New Roman"/>
              </a:rPr>
              <a:t>potential</a:t>
            </a:r>
            <a:r>
              <a:rPr sz="2000" dirty="0">
                <a:latin typeface="Times New Roman"/>
                <a:cs typeface="Times New Roman"/>
              </a:rPr>
              <a:t> </a:t>
            </a:r>
            <a:r>
              <a:rPr sz="2000" spc="-5" dirty="0">
                <a:latin typeface="Times New Roman"/>
                <a:cs typeface="Times New Roman"/>
              </a:rPr>
              <a:t>difference</a:t>
            </a:r>
            <a:r>
              <a:rPr sz="2000" spc="10" dirty="0">
                <a:latin typeface="Times New Roman"/>
                <a:cs typeface="Times New Roman"/>
              </a:rPr>
              <a:t> </a:t>
            </a:r>
            <a:r>
              <a:rPr sz="2000" spc="-5" dirty="0">
                <a:latin typeface="Times New Roman"/>
                <a:cs typeface="Times New Roman"/>
              </a:rPr>
              <a:t>(V)</a:t>
            </a:r>
            <a:r>
              <a:rPr sz="2000" spc="15" dirty="0">
                <a:latin typeface="Times New Roman"/>
                <a:cs typeface="Times New Roman"/>
              </a:rPr>
              <a:t> </a:t>
            </a:r>
            <a:r>
              <a:rPr sz="2000" spc="-5" dirty="0">
                <a:latin typeface="Times New Roman"/>
                <a:cs typeface="Times New Roman"/>
              </a:rPr>
              <a:t>applied</a:t>
            </a:r>
            <a:r>
              <a:rPr sz="2000" spc="15" dirty="0">
                <a:latin typeface="Times New Roman"/>
                <a:cs typeface="Times New Roman"/>
              </a:rPr>
              <a:t> </a:t>
            </a:r>
            <a:r>
              <a:rPr sz="2000" spc="-5" dirty="0">
                <a:latin typeface="Times New Roman"/>
                <a:cs typeface="Times New Roman"/>
              </a:rPr>
              <a:t>across</a:t>
            </a:r>
            <a:r>
              <a:rPr sz="2000" spc="45" dirty="0">
                <a:latin typeface="Times New Roman"/>
                <a:cs typeface="Times New Roman"/>
              </a:rPr>
              <a:t> </a:t>
            </a:r>
            <a:r>
              <a:rPr sz="2000" spc="-10" dirty="0">
                <a:latin typeface="Times New Roman"/>
                <a:cs typeface="Times New Roman"/>
              </a:rPr>
              <a:t>the</a:t>
            </a:r>
            <a:r>
              <a:rPr sz="2000" spc="10" dirty="0">
                <a:latin typeface="Times New Roman"/>
                <a:cs typeface="Times New Roman"/>
              </a:rPr>
              <a:t> </a:t>
            </a:r>
            <a:r>
              <a:rPr sz="2000" spc="-5" dirty="0">
                <a:latin typeface="Times New Roman"/>
                <a:cs typeface="Times New Roman"/>
              </a:rPr>
              <a:t>conductor </a:t>
            </a:r>
            <a:r>
              <a:rPr sz="2000" dirty="0">
                <a:latin typeface="Times New Roman"/>
                <a:cs typeface="Times New Roman"/>
              </a:rPr>
              <a:t> </a:t>
            </a:r>
            <a:r>
              <a:rPr sz="2000" spc="-10" dirty="0">
                <a:latin typeface="Times New Roman"/>
                <a:cs typeface="Times New Roman"/>
              </a:rPr>
              <a:t>and</a:t>
            </a:r>
            <a:r>
              <a:rPr sz="2000" spc="-5" dirty="0">
                <a:latin typeface="Times New Roman"/>
                <a:cs typeface="Times New Roman"/>
              </a:rPr>
              <a:t> inversely</a:t>
            </a:r>
            <a:r>
              <a:rPr sz="2000" spc="-45" dirty="0">
                <a:latin typeface="Times New Roman"/>
                <a:cs typeface="Times New Roman"/>
              </a:rPr>
              <a:t> </a:t>
            </a:r>
            <a:r>
              <a:rPr sz="2000" dirty="0">
                <a:latin typeface="Times New Roman"/>
                <a:cs typeface="Times New Roman"/>
              </a:rPr>
              <a:t>proportional</a:t>
            </a:r>
            <a:r>
              <a:rPr sz="2000" spc="-15" dirty="0">
                <a:latin typeface="Times New Roman"/>
                <a:cs typeface="Times New Roman"/>
              </a:rPr>
              <a:t> </a:t>
            </a:r>
            <a:r>
              <a:rPr sz="2000" spc="-10" dirty="0">
                <a:latin typeface="Times New Roman"/>
                <a:cs typeface="Times New Roman"/>
              </a:rPr>
              <a:t>to</a:t>
            </a:r>
            <a:r>
              <a:rPr sz="2000" spc="20" dirty="0">
                <a:latin typeface="Times New Roman"/>
                <a:cs typeface="Times New Roman"/>
              </a:rPr>
              <a:t> </a:t>
            </a:r>
            <a:r>
              <a:rPr sz="2000" spc="-10" dirty="0">
                <a:latin typeface="Times New Roman"/>
                <a:cs typeface="Times New Roman"/>
              </a:rPr>
              <a:t>the</a:t>
            </a:r>
            <a:r>
              <a:rPr sz="2000" spc="20" dirty="0">
                <a:latin typeface="Times New Roman"/>
                <a:cs typeface="Times New Roman"/>
              </a:rPr>
              <a:t> </a:t>
            </a:r>
            <a:r>
              <a:rPr sz="2000" spc="-5" dirty="0">
                <a:latin typeface="Times New Roman"/>
                <a:cs typeface="Times New Roman"/>
              </a:rPr>
              <a:t>electrode</a:t>
            </a:r>
            <a:r>
              <a:rPr sz="2000" spc="-25" dirty="0">
                <a:latin typeface="Times New Roman"/>
                <a:cs typeface="Times New Roman"/>
              </a:rPr>
              <a:t> </a:t>
            </a:r>
            <a:r>
              <a:rPr sz="2000" spc="-5" dirty="0">
                <a:latin typeface="Times New Roman"/>
                <a:cs typeface="Times New Roman"/>
              </a:rPr>
              <a:t>resistance</a:t>
            </a:r>
            <a:r>
              <a:rPr sz="2000" dirty="0">
                <a:latin typeface="Times New Roman"/>
                <a:cs typeface="Times New Roman"/>
              </a:rPr>
              <a:t> </a:t>
            </a:r>
            <a:r>
              <a:rPr sz="2000" spc="-10" dirty="0">
                <a:latin typeface="Times New Roman"/>
                <a:cs typeface="Times New Roman"/>
              </a:rPr>
              <a:t>(R)</a:t>
            </a:r>
            <a:r>
              <a:rPr sz="2000" spc="25" dirty="0">
                <a:latin typeface="Times New Roman"/>
                <a:cs typeface="Times New Roman"/>
              </a:rPr>
              <a:t> </a:t>
            </a:r>
            <a:r>
              <a:rPr sz="2000" dirty="0">
                <a:latin typeface="Times New Roman"/>
                <a:cs typeface="Times New Roman"/>
              </a:rPr>
              <a:t>of</a:t>
            </a:r>
            <a:r>
              <a:rPr sz="2000" spc="-10" dirty="0">
                <a:latin typeface="Times New Roman"/>
                <a:cs typeface="Times New Roman"/>
              </a:rPr>
              <a:t> </a:t>
            </a:r>
            <a:r>
              <a:rPr sz="2000" spc="-5" dirty="0">
                <a:latin typeface="Times New Roman"/>
                <a:cs typeface="Times New Roman"/>
              </a:rPr>
              <a:t>the</a:t>
            </a:r>
            <a:r>
              <a:rPr sz="2000" spc="15" dirty="0">
                <a:latin typeface="Times New Roman"/>
                <a:cs typeface="Times New Roman"/>
              </a:rPr>
              <a:t> </a:t>
            </a:r>
            <a:r>
              <a:rPr sz="2000" spc="-5" dirty="0">
                <a:latin typeface="Times New Roman"/>
                <a:cs typeface="Times New Roman"/>
              </a:rPr>
              <a:t>electrode.</a:t>
            </a:r>
            <a:endParaRPr sz="2000">
              <a:latin typeface="Times New Roman"/>
              <a:cs typeface="Times New Roman"/>
            </a:endParaRPr>
          </a:p>
        </p:txBody>
      </p:sp>
      <p:sp>
        <p:nvSpPr>
          <p:cNvPr id="4" name="object 4"/>
          <p:cNvSpPr txBox="1"/>
          <p:nvPr/>
        </p:nvSpPr>
        <p:spPr>
          <a:xfrm>
            <a:off x="536244" y="4140834"/>
            <a:ext cx="6868159" cy="1548765"/>
          </a:xfrm>
          <a:prstGeom prst="rect">
            <a:avLst/>
          </a:prstGeom>
        </p:spPr>
        <p:txBody>
          <a:bodyPr vert="horz" wrap="square" lIns="0" tIns="13335" rIns="0" bIns="0" rtlCol="0">
            <a:spAutoFit/>
          </a:bodyPr>
          <a:lstStyle/>
          <a:p>
            <a:pPr marL="12700" marR="3568700" algn="just">
              <a:lnSpc>
                <a:spcPct val="99500"/>
              </a:lnSpc>
              <a:spcBef>
                <a:spcPts val="105"/>
              </a:spcBef>
            </a:pPr>
            <a:r>
              <a:rPr sz="2000" spc="-5" dirty="0">
                <a:latin typeface="Times New Roman"/>
                <a:cs typeface="Times New Roman"/>
              </a:rPr>
              <a:t>Where I </a:t>
            </a:r>
            <a:r>
              <a:rPr sz="2000" spc="-10" dirty="0">
                <a:latin typeface="Times New Roman"/>
                <a:cs typeface="Times New Roman"/>
              </a:rPr>
              <a:t>is the </a:t>
            </a:r>
            <a:r>
              <a:rPr sz="2000" spc="-5" dirty="0">
                <a:latin typeface="Times New Roman"/>
                <a:cs typeface="Times New Roman"/>
              </a:rPr>
              <a:t>current </a:t>
            </a:r>
            <a:r>
              <a:rPr sz="2000" spc="-10" dirty="0">
                <a:latin typeface="Times New Roman"/>
                <a:cs typeface="Times New Roman"/>
              </a:rPr>
              <a:t>in </a:t>
            </a:r>
            <a:r>
              <a:rPr sz="2000" dirty="0">
                <a:latin typeface="Times New Roman"/>
                <a:cs typeface="Times New Roman"/>
              </a:rPr>
              <a:t>ampere </a:t>
            </a:r>
            <a:r>
              <a:rPr sz="2000" spc="-484" dirty="0">
                <a:latin typeface="Times New Roman"/>
                <a:cs typeface="Times New Roman"/>
              </a:rPr>
              <a:t> </a:t>
            </a:r>
            <a:r>
              <a:rPr sz="2000" spc="-10" dirty="0">
                <a:latin typeface="Times New Roman"/>
                <a:cs typeface="Times New Roman"/>
              </a:rPr>
              <a:t>V </a:t>
            </a:r>
            <a:r>
              <a:rPr sz="2000" spc="-5" dirty="0">
                <a:latin typeface="Times New Roman"/>
                <a:cs typeface="Times New Roman"/>
              </a:rPr>
              <a:t>– potential difference in volts </a:t>
            </a:r>
            <a:r>
              <a:rPr sz="2000" spc="-484" dirty="0">
                <a:latin typeface="Times New Roman"/>
                <a:cs typeface="Times New Roman"/>
              </a:rPr>
              <a:t> </a:t>
            </a:r>
            <a:r>
              <a:rPr sz="2000" spc="-10" dirty="0">
                <a:latin typeface="Times New Roman"/>
                <a:cs typeface="Times New Roman"/>
              </a:rPr>
              <a:t>R</a:t>
            </a:r>
            <a:r>
              <a:rPr sz="2000" spc="-35" dirty="0">
                <a:latin typeface="Times New Roman"/>
                <a:cs typeface="Times New Roman"/>
              </a:rPr>
              <a:t> </a:t>
            </a:r>
            <a:r>
              <a:rPr sz="2000" spc="-5" dirty="0">
                <a:latin typeface="Times New Roman"/>
                <a:cs typeface="Times New Roman"/>
              </a:rPr>
              <a:t>–</a:t>
            </a:r>
            <a:r>
              <a:rPr sz="2000" spc="10" dirty="0">
                <a:latin typeface="Times New Roman"/>
                <a:cs typeface="Times New Roman"/>
              </a:rPr>
              <a:t> </a:t>
            </a:r>
            <a:r>
              <a:rPr sz="2000" spc="-5" dirty="0">
                <a:latin typeface="Times New Roman"/>
                <a:cs typeface="Times New Roman"/>
              </a:rPr>
              <a:t>Resistance</a:t>
            </a:r>
            <a:r>
              <a:rPr sz="2000" spc="10" dirty="0">
                <a:latin typeface="Times New Roman"/>
                <a:cs typeface="Times New Roman"/>
              </a:rPr>
              <a:t> </a:t>
            </a:r>
            <a:r>
              <a:rPr sz="2000" spc="-10" dirty="0">
                <a:latin typeface="Times New Roman"/>
                <a:cs typeface="Times New Roman"/>
              </a:rPr>
              <a:t>in</a:t>
            </a:r>
            <a:r>
              <a:rPr sz="2000" spc="-15" dirty="0">
                <a:latin typeface="Times New Roman"/>
                <a:cs typeface="Times New Roman"/>
              </a:rPr>
              <a:t> </a:t>
            </a:r>
            <a:r>
              <a:rPr sz="2000" spc="5" dirty="0">
                <a:latin typeface="Times New Roman"/>
                <a:cs typeface="Times New Roman"/>
              </a:rPr>
              <a:t>ohm</a:t>
            </a:r>
            <a:endParaRPr sz="2000">
              <a:latin typeface="Times New Roman"/>
              <a:cs typeface="Times New Roman"/>
            </a:endParaRPr>
          </a:p>
          <a:p>
            <a:pPr>
              <a:lnSpc>
                <a:spcPct val="100000"/>
              </a:lnSpc>
              <a:spcBef>
                <a:spcPts val="10"/>
              </a:spcBef>
            </a:pPr>
            <a:endParaRPr sz="2100">
              <a:latin typeface="Times New Roman"/>
              <a:cs typeface="Times New Roman"/>
            </a:endParaRPr>
          </a:p>
          <a:p>
            <a:pPr marL="12700">
              <a:lnSpc>
                <a:spcPct val="100000"/>
              </a:lnSpc>
            </a:pPr>
            <a:r>
              <a:rPr sz="2000" spc="-10" dirty="0">
                <a:latin typeface="Times New Roman"/>
                <a:cs typeface="Times New Roman"/>
              </a:rPr>
              <a:t>Ohm’s</a:t>
            </a:r>
            <a:r>
              <a:rPr sz="2000" spc="-25" dirty="0">
                <a:latin typeface="Times New Roman"/>
                <a:cs typeface="Times New Roman"/>
              </a:rPr>
              <a:t> </a:t>
            </a:r>
            <a:r>
              <a:rPr sz="2000" dirty="0">
                <a:latin typeface="Times New Roman"/>
                <a:cs typeface="Times New Roman"/>
              </a:rPr>
              <a:t>law</a:t>
            </a:r>
            <a:r>
              <a:rPr sz="2000" spc="-35" dirty="0">
                <a:latin typeface="Times New Roman"/>
                <a:cs typeface="Times New Roman"/>
              </a:rPr>
              <a:t> </a:t>
            </a:r>
            <a:r>
              <a:rPr sz="2000" spc="-10" dirty="0">
                <a:latin typeface="Times New Roman"/>
                <a:cs typeface="Times New Roman"/>
              </a:rPr>
              <a:t>is</a:t>
            </a:r>
            <a:r>
              <a:rPr sz="2000" spc="-25" dirty="0">
                <a:latin typeface="Times New Roman"/>
                <a:cs typeface="Times New Roman"/>
              </a:rPr>
              <a:t> </a:t>
            </a:r>
            <a:r>
              <a:rPr sz="2000" spc="-5" dirty="0">
                <a:latin typeface="Times New Roman"/>
                <a:cs typeface="Times New Roman"/>
              </a:rPr>
              <a:t>obeyed</a:t>
            </a:r>
            <a:r>
              <a:rPr sz="2000" spc="5" dirty="0">
                <a:latin typeface="Times New Roman"/>
                <a:cs typeface="Times New Roman"/>
              </a:rPr>
              <a:t> </a:t>
            </a:r>
            <a:r>
              <a:rPr sz="2000" spc="10" dirty="0">
                <a:latin typeface="Times New Roman"/>
                <a:cs typeface="Times New Roman"/>
              </a:rPr>
              <a:t>by</a:t>
            </a:r>
            <a:r>
              <a:rPr sz="2000" spc="-30" dirty="0">
                <a:latin typeface="Times New Roman"/>
                <a:cs typeface="Times New Roman"/>
              </a:rPr>
              <a:t> </a:t>
            </a:r>
            <a:r>
              <a:rPr sz="2000" spc="-5" dirty="0">
                <a:latin typeface="Times New Roman"/>
                <a:cs typeface="Times New Roman"/>
              </a:rPr>
              <a:t>metallic</a:t>
            </a:r>
            <a:r>
              <a:rPr sz="2000" spc="-10" dirty="0">
                <a:latin typeface="Times New Roman"/>
                <a:cs typeface="Times New Roman"/>
              </a:rPr>
              <a:t> </a:t>
            </a:r>
            <a:r>
              <a:rPr sz="2000" spc="-5" dirty="0">
                <a:latin typeface="Times New Roman"/>
                <a:cs typeface="Times New Roman"/>
              </a:rPr>
              <a:t>conductor</a:t>
            </a:r>
            <a:r>
              <a:rPr sz="2000" spc="-25" dirty="0">
                <a:latin typeface="Times New Roman"/>
                <a:cs typeface="Times New Roman"/>
              </a:rPr>
              <a:t> </a:t>
            </a:r>
            <a:r>
              <a:rPr sz="2000" spc="-10" dirty="0">
                <a:latin typeface="Times New Roman"/>
                <a:cs typeface="Times New Roman"/>
              </a:rPr>
              <a:t>and</a:t>
            </a:r>
            <a:r>
              <a:rPr sz="2000" spc="-5" dirty="0">
                <a:latin typeface="Times New Roman"/>
                <a:cs typeface="Times New Roman"/>
              </a:rPr>
              <a:t> electrolyte</a:t>
            </a:r>
            <a:r>
              <a:rPr sz="2000" spc="-25" dirty="0">
                <a:latin typeface="Times New Roman"/>
                <a:cs typeface="Times New Roman"/>
              </a:rPr>
              <a:t> </a:t>
            </a:r>
            <a:r>
              <a:rPr sz="2000" spc="-5" dirty="0">
                <a:latin typeface="Times New Roman"/>
                <a:cs typeface="Times New Roman"/>
              </a:rPr>
              <a:t>solution</a:t>
            </a:r>
            <a:endParaRPr sz="2000">
              <a:latin typeface="Times New Roman"/>
              <a:cs typeface="Times New Roman"/>
            </a:endParaRPr>
          </a:p>
        </p:txBody>
      </p:sp>
      <p:pic>
        <p:nvPicPr>
          <p:cNvPr id="5" name="object 5"/>
          <p:cNvPicPr/>
          <p:nvPr/>
        </p:nvPicPr>
        <p:blipFill>
          <a:blip r:embed="rId2" cstate="print"/>
          <a:stretch>
            <a:fillRect/>
          </a:stretch>
        </p:blipFill>
        <p:spPr>
          <a:xfrm>
            <a:off x="4201795" y="3481666"/>
            <a:ext cx="1027429" cy="694601"/>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60044" y="694766"/>
            <a:ext cx="8063230" cy="5450840"/>
          </a:xfrm>
          <a:prstGeom prst="rect">
            <a:avLst/>
          </a:prstGeom>
        </p:spPr>
        <p:txBody>
          <a:bodyPr vert="horz" wrap="square" lIns="0" tIns="12700" rIns="0" bIns="0" rtlCol="0">
            <a:spAutoFit/>
          </a:bodyPr>
          <a:lstStyle/>
          <a:p>
            <a:pPr marL="353695" indent="-341630">
              <a:lnSpc>
                <a:spcPct val="100000"/>
              </a:lnSpc>
              <a:spcBef>
                <a:spcPts val="100"/>
              </a:spcBef>
              <a:buFont typeface="Microsoft Sans Serif"/>
              <a:buChar char="•"/>
              <a:tabLst>
                <a:tab pos="353695" algn="l"/>
                <a:tab pos="354330" algn="l"/>
              </a:tabLst>
            </a:pPr>
            <a:r>
              <a:rPr sz="3000" b="1" spc="-5" dirty="0">
                <a:solidFill>
                  <a:srgbClr val="C00000"/>
                </a:solidFill>
                <a:latin typeface="Calibri"/>
                <a:cs typeface="Calibri"/>
              </a:rPr>
              <a:t>Electrolytes-</a:t>
            </a:r>
            <a:r>
              <a:rPr sz="3000" b="1" spc="-40" dirty="0">
                <a:solidFill>
                  <a:srgbClr val="C00000"/>
                </a:solidFill>
                <a:latin typeface="Arial"/>
                <a:cs typeface="Arial"/>
              </a:rPr>
              <a:t> </a:t>
            </a:r>
            <a:endParaRPr sz="3000">
              <a:latin typeface="Arial"/>
              <a:cs typeface="Arial"/>
            </a:endParaRPr>
          </a:p>
          <a:p>
            <a:pPr marL="353695" indent="-341630">
              <a:lnSpc>
                <a:spcPts val="3565"/>
              </a:lnSpc>
              <a:buFont typeface="Microsoft Sans Serif"/>
              <a:buChar char="•"/>
              <a:tabLst>
                <a:tab pos="353695" algn="l"/>
                <a:tab pos="354330" algn="l"/>
              </a:tabLst>
            </a:pPr>
            <a:r>
              <a:rPr sz="3000" spc="-5" dirty="0">
                <a:latin typeface="Calibri"/>
                <a:cs typeface="Calibri"/>
              </a:rPr>
              <a:t>substances</a:t>
            </a:r>
            <a:r>
              <a:rPr sz="3000" spc="-75" dirty="0">
                <a:latin typeface="Calibri"/>
                <a:cs typeface="Calibri"/>
              </a:rPr>
              <a:t> </a:t>
            </a:r>
            <a:r>
              <a:rPr sz="3000" dirty="0">
                <a:latin typeface="Calibri"/>
                <a:cs typeface="Calibri"/>
              </a:rPr>
              <a:t>on</a:t>
            </a:r>
            <a:r>
              <a:rPr sz="3000" spc="-25" dirty="0">
                <a:latin typeface="Calibri"/>
                <a:cs typeface="Calibri"/>
              </a:rPr>
              <a:t> </a:t>
            </a:r>
            <a:r>
              <a:rPr sz="3000" spc="-5" dirty="0">
                <a:latin typeface="Calibri"/>
                <a:cs typeface="Calibri"/>
              </a:rPr>
              <a:t>dissolution</a:t>
            </a:r>
            <a:r>
              <a:rPr sz="3000" spc="-15" dirty="0">
                <a:latin typeface="Calibri"/>
                <a:cs typeface="Calibri"/>
              </a:rPr>
              <a:t> </a:t>
            </a:r>
            <a:r>
              <a:rPr sz="3000" spc="-5" dirty="0">
                <a:latin typeface="Calibri"/>
                <a:cs typeface="Calibri"/>
              </a:rPr>
              <a:t>forms</a:t>
            </a:r>
            <a:r>
              <a:rPr sz="3000" spc="-15" dirty="0">
                <a:latin typeface="Calibri"/>
                <a:cs typeface="Calibri"/>
              </a:rPr>
              <a:t> </a:t>
            </a:r>
            <a:r>
              <a:rPr sz="3000" spc="-10" dirty="0">
                <a:latin typeface="Calibri"/>
                <a:cs typeface="Calibri"/>
              </a:rPr>
              <a:t>+ve</a:t>
            </a:r>
            <a:r>
              <a:rPr sz="3000" spc="-60" dirty="0">
                <a:latin typeface="Calibri"/>
                <a:cs typeface="Calibri"/>
              </a:rPr>
              <a:t> </a:t>
            </a:r>
            <a:r>
              <a:rPr sz="3000" spc="-5" dirty="0">
                <a:latin typeface="Calibri"/>
                <a:cs typeface="Calibri"/>
              </a:rPr>
              <a:t>and</a:t>
            </a:r>
            <a:r>
              <a:rPr sz="3000" spc="-25" dirty="0">
                <a:latin typeface="Calibri"/>
                <a:cs typeface="Calibri"/>
              </a:rPr>
              <a:t> </a:t>
            </a:r>
            <a:r>
              <a:rPr sz="3000" spc="-10" dirty="0">
                <a:latin typeface="Calibri"/>
                <a:cs typeface="Calibri"/>
              </a:rPr>
              <a:t>–ve</a:t>
            </a:r>
            <a:r>
              <a:rPr sz="3000" spc="-60" dirty="0">
                <a:latin typeface="Calibri"/>
                <a:cs typeface="Calibri"/>
              </a:rPr>
              <a:t> </a:t>
            </a:r>
            <a:r>
              <a:rPr sz="3000" dirty="0">
                <a:latin typeface="Calibri"/>
                <a:cs typeface="Calibri"/>
              </a:rPr>
              <a:t>ions</a:t>
            </a:r>
            <a:r>
              <a:rPr sz="3000" dirty="0">
                <a:latin typeface="Microsoft Sans Serif"/>
                <a:cs typeface="Microsoft Sans Serif"/>
              </a:rPr>
              <a:t> </a:t>
            </a:r>
            <a:endParaRPr sz="3000">
              <a:latin typeface="Microsoft Sans Serif"/>
              <a:cs typeface="Microsoft Sans Serif"/>
            </a:endParaRPr>
          </a:p>
          <a:p>
            <a:pPr marL="353695" marR="716915" indent="-341630">
              <a:lnSpc>
                <a:spcPts val="2880"/>
              </a:lnSpc>
              <a:spcBef>
                <a:spcPts val="660"/>
              </a:spcBef>
              <a:buFont typeface="Microsoft Sans Serif"/>
              <a:buChar char="•"/>
              <a:tabLst>
                <a:tab pos="353695" algn="l"/>
                <a:tab pos="354330" algn="l"/>
              </a:tabLst>
            </a:pPr>
            <a:r>
              <a:rPr sz="3000" spc="-5" dirty="0">
                <a:latin typeface="Calibri"/>
                <a:cs typeface="Calibri"/>
              </a:rPr>
              <a:t>Substances</a:t>
            </a:r>
            <a:r>
              <a:rPr sz="3000" spc="-100" dirty="0">
                <a:latin typeface="Calibri"/>
                <a:cs typeface="Calibri"/>
              </a:rPr>
              <a:t> </a:t>
            </a:r>
            <a:r>
              <a:rPr sz="3000" spc="-5" dirty="0">
                <a:latin typeface="Calibri"/>
                <a:cs typeface="Calibri"/>
              </a:rPr>
              <a:t>whose</a:t>
            </a:r>
            <a:r>
              <a:rPr sz="3000" spc="-50" dirty="0">
                <a:latin typeface="Calibri"/>
                <a:cs typeface="Calibri"/>
              </a:rPr>
              <a:t> </a:t>
            </a:r>
            <a:r>
              <a:rPr sz="3000" spc="-5" dirty="0">
                <a:latin typeface="Calibri"/>
                <a:cs typeface="Calibri"/>
              </a:rPr>
              <a:t>solution</a:t>
            </a:r>
            <a:r>
              <a:rPr sz="3000" spc="-35" dirty="0">
                <a:latin typeface="Calibri"/>
                <a:cs typeface="Calibri"/>
              </a:rPr>
              <a:t> </a:t>
            </a:r>
            <a:r>
              <a:rPr sz="3000" dirty="0">
                <a:latin typeface="Calibri"/>
                <a:cs typeface="Calibri"/>
              </a:rPr>
              <a:t>in</a:t>
            </a:r>
            <a:r>
              <a:rPr sz="3000" spc="-70" dirty="0">
                <a:latin typeface="Calibri"/>
                <a:cs typeface="Calibri"/>
              </a:rPr>
              <a:t> </a:t>
            </a:r>
            <a:r>
              <a:rPr sz="3000" spc="-5" dirty="0">
                <a:latin typeface="Calibri"/>
                <a:cs typeface="Calibri"/>
              </a:rPr>
              <a:t>water</a:t>
            </a:r>
            <a:r>
              <a:rPr sz="3000" spc="-65" dirty="0">
                <a:latin typeface="Calibri"/>
                <a:cs typeface="Calibri"/>
              </a:rPr>
              <a:t> </a:t>
            </a:r>
            <a:r>
              <a:rPr sz="3000" spc="-5" dirty="0">
                <a:latin typeface="Calibri"/>
                <a:cs typeface="Calibri"/>
              </a:rPr>
              <a:t>conducts </a:t>
            </a:r>
            <a:r>
              <a:rPr sz="3000" spc="-665" dirty="0">
                <a:latin typeface="Calibri"/>
                <a:cs typeface="Calibri"/>
              </a:rPr>
              <a:t> </a:t>
            </a:r>
            <a:r>
              <a:rPr sz="3000" dirty="0">
                <a:latin typeface="Calibri"/>
                <a:cs typeface="Calibri"/>
              </a:rPr>
              <a:t>electric</a:t>
            </a:r>
            <a:r>
              <a:rPr sz="3000" spc="-25" dirty="0">
                <a:latin typeface="Calibri"/>
                <a:cs typeface="Calibri"/>
              </a:rPr>
              <a:t> </a:t>
            </a:r>
            <a:r>
              <a:rPr sz="3000" spc="-10" dirty="0">
                <a:latin typeface="Calibri"/>
                <a:cs typeface="Calibri"/>
              </a:rPr>
              <a:t>current.</a:t>
            </a:r>
            <a:r>
              <a:rPr sz="3000" spc="-10" dirty="0">
                <a:latin typeface="Microsoft Sans Serif"/>
                <a:cs typeface="Microsoft Sans Serif"/>
              </a:rPr>
              <a:t> </a:t>
            </a:r>
            <a:endParaRPr sz="3000">
              <a:latin typeface="Microsoft Sans Serif"/>
              <a:cs typeface="Microsoft Sans Serif"/>
            </a:endParaRPr>
          </a:p>
          <a:p>
            <a:pPr marL="353695" marR="92075" indent="-341630">
              <a:lnSpc>
                <a:spcPts val="2880"/>
              </a:lnSpc>
              <a:spcBef>
                <a:spcPts val="700"/>
              </a:spcBef>
              <a:buFont typeface="Microsoft Sans Serif"/>
              <a:buChar char="•"/>
              <a:tabLst>
                <a:tab pos="353695" algn="l"/>
                <a:tab pos="354330" algn="l"/>
              </a:tabLst>
            </a:pPr>
            <a:r>
              <a:rPr sz="3000" spc="-5" dirty="0">
                <a:latin typeface="Calibri"/>
                <a:cs typeface="Calibri"/>
              </a:rPr>
              <a:t>Conduction</a:t>
            </a:r>
            <a:r>
              <a:rPr sz="3000" spc="-65" dirty="0">
                <a:latin typeface="Calibri"/>
                <a:cs typeface="Calibri"/>
              </a:rPr>
              <a:t> </a:t>
            </a:r>
            <a:r>
              <a:rPr sz="3000" dirty="0">
                <a:latin typeface="Calibri"/>
                <a:cs typeface="Calibri"/>
              </a:rPr>
              <a:t>takes</a:t>
            </a:r>
            <a:r>
              <a:rPr sz="3000" spc="-75" dirty="0">
                <a:latin typeface="Calibri"/>
                <a:cs typeface="Calibri"/>
              </a:rPr>
              <a:t> </a:t>
            </a:r>
            <a:r>
              <a:rPr sz="3000" spc="-5" dirty="0">
                <a:latin typeface="Calibri"/>
                <a:cs typeface="Calibri"/>
              </a:rPr>
              <a:t>place</a:t>
            </a:r>
            <a:r>
              <a:rPr sz="3000" spc="-75" dirty="0">
                <a:latin typeface="Calibri"/>
                <a:cs typeface="Calibri"/>
              </a:rPr>
              <a:t> </a:t>
            </a:r>
            <a:r>
              <a:rPr sz="3000" dirty="0">
                <a:latin typeface="Calibri"/>
                <a:cs typeface="Calibri"/>
              </a:rPr>
              <a:t>by</a:t>
            </a:r>
            <a:r>
              <a:rPr sz="3000" spc="-50" dirty="0">
                <a:latin typeface="Calibri"/>
                <a:cs typeface="Calibri"/>
              </a:rPr>
              <a:t> </a:t>
            </a:r>
            <a:r>
              <a:rPr sz="3000" dirty="0">
                <a:latin typeface="Calibri"/>
                <a:cs typeface="Calibri"/>
              </a:rPr>
              <a:t>the</a:t>
            </a:r>
            <a:r>
              <a:rPr sz="3000" spc="-85" dirty="0">
                <a:latin typeface="Calibri"/>
                <a:cs typeface="Calibri"/>
              </a:rPr>
              <a:t> </a:t>
            </a:r>
            <a:r>
              <a:rPr sz="3000" dirty="0">
                <a:latin typeface="Calibri"/>
                <a:cs typeface="Calibri"/>
              </a:rPr>
              <a:t>movement</a:t>
            </a:r>
            <a:r>
              <a:rPr sz="3000" spc="-65" dirty="0">
                <a:latin typeface="Calibri"/>
                <a:cs typeface="Calibri"/>
              </a:rPr>
              <a:t> </a:t>
            </a:r>
            <a:r>
              <a:rPr sz="3000" dirty="0">
                <a:latin typeface="Calibri"/>
                <a:cs typeface="Calibri"/>
              </a:rPr>
              <a:t>of</a:t>
            </a:r>
            <a:r>
              <a:rPr sz="3000" spc="-65" dirty="0">
                <a:latin typeface="Calibri"/>
                <a:cs typeface="Calibri"/>
              </a:rPr>
              <a:t> </a:t>
            </a:r>
            <a:r>
              <a:rPr sz="3000" dirty="0">
                <a:latin typeface="Calibri"/>
                <a:cs typeface="Calibri"/>
              </a:rPr>
              <a:t>ions. </a:t>
            </a:r>
            <a:r>
              <a:rPr sz="3000" spc="-660" dirty="0">
                <a:latin typeface="Calibri"/>
                <a:cs typeface="Calibri"/>
              </a:rPr>
              <a:t> </a:t>
            </a:r>
            <a:r>
              <a:rPr sz="3000" spc="-5" dirty="0">
                <a:solidFill>
                  <a:srgbClr val="A3001F"/>
                </a:solidFill>
                <a:latin typeface="Calibri"/>
                <a:cs typeface="Calibri"/>
              </a:rPr>
              <a:t>Examples</a:t>
            </a:r>
            <a:r>
              <a:rPr sz="3000" spc="-30" dirty="0">
                <a:solidFill>
                  <a:srgbClr val="A3001F"/>
                </a:solidFill>
                <a:latin typeface="Calibri"/>
                <a:cs typeface="Calibri"/>
              </a:rPr>
              <a:t> </a:t>
            </a:r>
            <a:r>
              <a:rPr sz="3000" dirty="0">
                <a:solidFill>
                  <a:srgbClr val="A3001F"/>
                </a:solidFill>
                <a:latin typeface="Calibri"/>
                <a:cs typeface="Calibri"/>
              </a:rPr>
              <a:t>are</a:t>
            </a:r>
            <a:r>
              <a:rPr sz="3000" spc="-35" dirty="0">
                <a:solidFill>
                  <a:srgbClr val="A3001F"/>
                </a:solidFill>
                <a:latin typeface="Calibri"/>
                <a:cs typeface="Calibri"/>
              </a:rPr>
              <a:t> </a:t>
            </a:r>
            <a:r>
              <a:rPr sz="3000" spc="-5" dirty="0">
                <a:solidFill>
                  <a:srgbClr val="A3001F"/>
                </a:solidFill>
                <a:latin typeface="Calibri"/>
                <a:cs typeface="Calibri"/>
              </a:rPr>
              <a:t>salts, </a:t>
            </a:r>
            <a:r>
              <a:rPr sz="3000" dirty="0">
                <a:solidFill>
                  <a:srgbClr val="A3001F"/>
                </a:solidFill>
                <a:latin typeface="Calibri"/>
                <a:cs typeface="Calibri"/>
              </a:rPr>
              <a:t>acids</a:t>
            </a:r>
            <a:r>
              <a:rPr sz="3000" spc="5" dirty="0">
                <a:solidFill>
                  <a:srgbClr val="A3001F"/>
                </a:solidFill>
                <a:latin typeface="Calibri"/>
                <a:cs typeface="Calibri"/>
              </a:rPr>
              <a:t> </a:t>
            </a:r>
            <a:r>
              <a:rPr sz="3000" spc="-10" dirty="0">
                <a:solidFill>
                  <a:srgbClr val="A3001F"/>
                </a:solidFill>
                <a:latin typeface="Calibri"/>
                <a:cs typeface="Calibri"/>
              </a:rPr>
              <a:t>and</a:t>
            </a:r>
            <a:r>
              <a:rPr sz="3000" spc="-15" dirty="0">
                <a:solidFill>
                  <a:srgbClr val="A3001F"/>
                </a:solidFill>
                <a:latin typeface="Calibri"/>
                <a:cs typeface="Calibri"/>
              </a:rPr>
              <a:t> </a:t>
            </a:r>
            <a:r>
              <a:rPr sz="3000" spc="-5" dirty="0">
                <a:solidFill>
                  <a:srgbClr val="A3001F"/>
                </a:solidFill>
                <a:latin typeface="Calibri"/>
                <a:cs typeface="Calibri"/>
              </a:rPr>
              <a:t>bases.</a:t>
            </a:r>
            <a:r>
              <a:rPr sz="3000" dirty="0">
                <a:latin typeface="Microsoft Sans Serif"/>
                <a:cs typeface="Microsoft Sans Serif"/>
              </a:rPr>
              <a:t> </a:t>
            </a:r>
            <a:endParaRPr sz="3000">
              <a:latin typeface="Microsoft Sans Serif"/>
              <a:cs typeface="Microsoft Sans Serif"/>
            </a:endParaRPr>
          </a:p>
          <a:p>
            <a:pPr marL="353695" marR="44450" indent="-341630">
              <a:lnSpc>
                <a:spcPts val="2880"/>
              </a:lnSpc>
              <a:spcBef>
                <a:spcPts val="1805"/>
              </a:spcBef>
              <a:buFont typeface="Microsoft Sans Serif"/>
              <a:buChar char="•"/>
              <a:tabLst>
                <a:tab pos="353695" algn="l"/>
                <a:tab pos="354330" algn="l"/>
                <a:tab pos="1052195" algn="l"/>
                <a:tab pos="1170940" algn="l"/>
              </a:tabLst>
            </a:pPr>
            <a:r>
              <a:rPr sz="3000" b="1" spc="-5" dirty="0">
                <a:solidFill>
                  <a:srgbClr val="A3001F"/>
                </a:solidFill>
                <a:latin typeface="Calibri"/>
                <a:cs typeface="Calibri"/>
              </a:rPr>
              <a:t>Non		electrolytes-</a:t>
            </a:r>
            <a:r>
              <a:rPr sz="3000" b="1" spc="-90" dirty="0">
                <a:solidFill>
                  <a:srgbClr val="A3001F"/>
                </a:solidFill>
                <a:latin typeface="Calibri"/>
                <a:cs typeface="Calibri"/>
              </a:rPr>
              <a:t> </a:t>
            </a:r>
            <a:r>
              <a:rPr sz="3000" dirty="0">
                <a:latin typeface="Calibri"/>
                <a:cs typeface="Calibri"/>
              </a:rPr>
              <a:t>substances</a:t>
            </a:r>
            <a:r>
              <a:rPr sz="3000" spc="-75" dirty="0">
                <a:latin typeface="Calibri"/>
                <a:cs typeface="Calibri"/>
              </a:rPr>
              <a:t> </a:t>
            </a:r>
            <a:r>
              <a:rPr sz="3000" dirty="0">
                <a:latin typeface="Calibri"/>
                <a:cs typeface="Calibri"/>
              </a:rPr>
              <a:t>on</a:t>
            </a:r>
            <a:r>
              <a:rPr sz="3000" spc="-45" dirty="0">
                <a:latin typeface="Calibri"/>
                <a:cs typeface="Calibri"/>
              </a:rPr>
              <a:t> </a:t>
            </a:r>
            <a:r>
              <a:rPr sz="3000" spc="-5" dirty="0">
                <a:latin typeface="Calibri"/>
                <a:cs typeface="Calibri"/>
              </a:rPr>
              <a:t>dissolution</a:t>
            </a:r>
            <a:r>
              <a:rPr sz="3000" spc="-25" dirty="0">
                <a:latin typeface="Calibri"/>
                <a:cs typeface="Calibri"/>
              </a:rPr>
              <a:t> </a:t>
            </a:r>
            <a:r>
              <a:rPr sz="3000" spc="-5" dirty="0">
                <a:latin typeface="Calibri"/>
                <a:cs typeface="Calibri"/>
              </a:rPr>
              <a:t>does </a:t>
            </a:r>
            <a:r>
              <a:rPr sz="3000" spc="-665" dirty="0">
                <a:latin typeface="Calibri"/>
                <a:cs typeface="Calibri"/>
              </a:rPr>
              <a:t> </a:t>
            </a:r>
            <a:r>
              <a:rPr sz="3000" spc="-5" dirty="0">
                <a:latin typeface="Calibri"/>
                <a:cs typeface="Calibri"/>
              </a:rPr>
              <a:t>not	forms</a:t>
            </a:r>
            <a:r>
              <a:rPr sz="3000" dirty="0">
                <a:latin typeface="Calibri"/>
                <a:cs typeface="Calibri"/>
              </a:rPr>
              <a:t> </a:t>
            </a:r>
            <a:r>
              <a:rPr sz="3000" spc="-10" dirty="0">
                <a:latin typeface="Calibri"/>
                <a:cs typeface="Calibri"/>
              </a:rPr>
              <a:t>+ve</a:t>
            </a:r>
            <a:r>
              <a:rPr sz="3000" spc="-35" dirty="0">
                <a:latin typeface="Calibri"/>
                <a:cs typeface="Calibri"/>
              </a:rPr>
              <a:t> </a:t>
            </a:r>
            <a:r>
              <a:rPr sz="3000" dirty="0">
                <a:latin typeface="Calibri"/>
                <a:cs typeface="Calibri"/>
              </a:rPr>
              <a:t>and </a:t>
            </a:r>
            <a:r>
              <a:rPr sz="3000" spc="-10" dirty="0">
                <a:latin typeface="Calibri"/>
                <a:cs typeface="Calibri"/>
              </a:rPr>
              <a:t>–ve</a:t>
            </a:r>
            <a:r>
              <a:rPr sz="3000" spc="-35" dirty="0">
                <a:latin typeface="Calibri"/>
                <a:cs typeface="Calibri"/>
              </a:rPr>
              <a:t> </a:t>
            </a:r>
            <a:r>
              <a:rPr sz="3000" dirty="0">
                <a:latin typeface="Calibri"/>
                <a:cs typeface="Calibri"/>
              </a:rPr>
              <a:t>ions</a:t>
            </a:r>
            <a:r>
              <a:rPr sz="3000" dirty="0">
                <a:solidFill>
                  <a:srgbClr val="A3001F"/>
                </a:solidFill>
                <a:latin typeface="Microsoft Sans Serif"/>
                <a:cs typeface="Microsoft Sans Serif"/>
              </a:rPr>
              <a:t> </a:t>
            </a:r>
            <a:endParaRPr sz="3000">
              <a:latin typeface="Microsoft Sans Serif"/>
              <a:cs typeface="Microsoft Sans Serif"/>
            </a:endParaRPr>
          </a:p>
          <a:p>
            <a:pPr marL="353695" marR="358140" indent="-341630">
              <a:lnSpc>
                <a:spcPts val="2880"/>
              </a:lnSpc>
              <a:spcBef>
                <a:spcPts val="1780"/>
              </a:spcBef>
              <a:buFont typeface="Microsoft Sans Serif"/>
              <a:buChar char="•"/>
              <a:tabLst>
                <a:tab pos="353695" algn="l"/>
                <a:tab pos="354330" algn="l"/>
                <a:tab pos="5634990" algn="l"/>
              </a:tabLst>
            </a:pPr>
            <a:r>
              <a:rPr sz="3000" spc="-5" dirty="0">
                <a:latin typeface="Calibri"/>
                <a:cs typeface="Calibri"/>
              </a:rPr>
              <a:t>Substances</a:t>
            </a:r>
            <a:r>
              <a:rPr sz="3000" spc="-10" dirty="0">
                <a:latin typeface="Calibri"/>
                <a:cs typeface="Calibri"/>
              </a:rPr>
              <a:t> </a:t>
            </a:r>
            <a:r>
              <a:rPr sz="3000" spc="-5" dirty="0">
                <a:latin typeface="Calibri"/>
                <a:cs typeface="Calibri"/>
              </a:rPr>
              <a:t>whose</a:t>
            </a:r>
            <a:r>
              <a:rPr sz="3000" spc="-10" dirty="0">
                <a:latin typeface="Calibri"/>
                <a:cs typeface="Calibri"/>
              </a:rPr>
              <a:t> </a:t>
            </a:r>
            <a:r>
              <a:rPr sz="3000" spc="-5" dirty="0">
                <a:latin typeface="Calibri"/>
                <a:cs typeface="Calibri"/>
              </a:rPr>
              <a:t>aqueous</a:t>
            </a:r>
            <a:r>
              <a:rPr sz="3000" dirty="0">
                <a:latin typeface="Calibri"/>
                <a:cs typeface="Calibri"/>
              </a:rPr>
              <a:t> </a:t>
            </a:r>
            <a:r>
              <a:rPr sz="3000" spc="-10" dirty="0">
                <a:latin typeface="Calibri"/>
                <a:cs typeface="Calibri"/>
              </a:rPr>
              <a:t>solution</a:t>
            </a:r>
            <a:r>
              <a:rPr sz="3000" dirty="0">
                <a:latin typeface="Calibri"/>
                <a:cs typeface="Calibri"/>
              </a:rPr>
              <a:t> </a:t>
            </a:r>
            <a:r>
              <a:rPr sz="3000" spc="-5" dirty="0">
                <a:latin typeface="Calibri"/>
                <a:cs typeface="Calibri"/>
              </a:rPr>
              <a:t>does</a:t>
            </a:r>
            <a:r>
              <a:rPr sz="3000" spc="-10" dirty="0">
                <a:latin typeface="Calibri"/>
                <a:cs typeface="Calibri"/>
              </a:rPr>
              <a:t> </a:t>
            </a:r>
            <a:r>
              <a:rPr sz="3000" spc="-5" dirty="0">
                <a:latin typeface="Calibri"/>
                <a:cs typeface="Calibri"/>
              </a:rPr>
              <a:t>not </a:t>
            </a:r>
            <a:r>
              <a:rPr sz="3000" dirty="0">
                <a:latin typeface="Calibri"/>
                <a:cs typeface="Calibri"/>
              </a:rPr>
              <a:t> </a:t>
            </a:r>
            <a:r>
              <a:rPr sz="3000" spc="-5" dirty="0">
                <a:latin typeface="Calibri"/>
                <a:cs typeface="Calibri"/>
              </a:rPr>
              <a:t>conduct</a:t>
            </a:r>
            <a:r>
              <a:rPr sz="3000" spc="-60" dirty="0">
                <a:latin typeface="Calibri"/>
                <a:cs typeface="Calibri"/>
              </a:rPr>
              <a:t> </a:t>
            </a:r>
            <a:r>
              <a:rPr sz="3000" spc="-5" dirty="0">
                <a:latin typeface="Calibri"/>
                <a:cs typeface="Calibri"/>
              </a:rPr>
              <a:t>electricity</a:t>
            </a:r>
            <a:r>
              <a:rPr sz="3000" spc="-50" dirty="0">
                <a:latin typeface="Calibri"/>
                <a:cs typeface="Calibri"/>
              </a:rPr>
              <a:t> </a:t>
            </a:r>
            <a:r>
              <a:rPr sz="3000" dirty="0">
                <a:latin typeface="Calibri"/>
                <a:cs typeface="Calibri"/>
              </a:rPr>
              <a:t>are</a:t>
            </a:r>
            <a:r>
              <a:rPr sz="3000" spc="-40" dirty="0">
                <a:latin typeface="Calibri"/>
                <a:cs typeface="Calibri"/>
              </a:rPr>
              <a:t> </a:t>
            </a:r>
            <a:r>
              <a:rPr sz="3000" dirty="0">
                <a:latin typeface="Calibri"/>
                <a:cs typeface="Calibri"/>
              </a:rPr>
              <a:t>called</a:t>
            </a:r>
            <a:r>
              <a:rPr sz="3000" spc="-30" dirty="0">
                <a:latin typeface="Calibri"/>
                <a:cs typeface="Calibri"/>
              </a:rPr>
              <a:t> </a:t>
            </a:r>
            <a:r>
              <a:rPr sz="3000" b="1" spc="-5" dirty="0">
                <a:solidFill>
                  <a:srgbClr val="A3001F"/>
                </a:solidFill>
                <a:latin typeface="Calibri"/>
                <a:cs typeface="Calibri"/>
              </a:rPr>
              <a:t>non	electrolytes.</a:t>
            </a:r>
            <a:r>
              <a:rPr sz="3000" b="1" spc="-40" dirty="0">
                <a:latin typeface="Arial"/>
                <a:cs typeface="Arial"/>
              </a:rPr>
              <a:t> </a:t>
            </a:r>
            <a:endParaRPr sz="3000">
              <a:latin typeface="Arial"/>
              <a:cs typeface="Arial"/>
            </a:endParaRPr>
          </a:p>
          <a:p>
            <a:pPr marL="353695" marR="633095" indent="-341630">
              <a:lnSpc>
                <a:spcPct val="80000"/>
              </a:lnSpc>
              <a:spcBef>
                <a:spcPts val="1805"/>
              </a:spcBef>
              <a:buFont typeface="Microsoft Sans Serif"/>
              <a:buChar char="•"/>
              <a:tabLst>
                <a:tab pos="353695" algn="l"/>
                <a:tab pos="354330" algn="l"/>
              </a:tabLst>
            </a:pPr>
            <a:r>
              <a:rPr sz="3000" spc="-5" dirty="0">
                <a:solidFill>
                  <a:srgbClr val="A3001F"/>
                </a:solidFill>
                <a:latin typeface="Calibri"/>
                <a:cs typeface="Calibri"/>
              </a:rPr>
              <a:t>Examples</a:t>
            </a:r>
            <a:r>
              <a:rPr sz="3000" spc="-130" dirty="0">
                <a:solidFill>
                  <a:srgbClr val="A3001F"/>
                </a:solidFill>
                <a:latin typeface="Calibri"/>
                <a:cs typeface="Calibri"/>
              </a:rPr>
              <a:t> </a:t>
            </a:r>
            <a:r>
              <a:rPr sz="3000" dirty="0">
                <a:solidFill>
                  <a:srgbClr val="A3001F"/>
                </a:solidFill>
                <a:latin typeface="Calibri"/>
                <a:cs typeface="Calibri"/>
              </a:rPr>
              <a:t>are</a:t>
            </a:r>
            <a:r>
              <a:rPr sz="3000" spc="-110" dirty="0">
                <a:solidFill>
                  <a:srgbClr val="A3001F"/>
                </a:solidFill>
                <a:latin typeface="Calibri"/>
                <a:cs typeface="Calibri"/>
              </a:rPr>
              <a:t> </a:t>
            </a:r>
            <a:r>
              <a:rPr sz="3000" spc="-5" dirty="0">
                <a:solidFill>
                  <a:srgbClr val="A3001F"/>
                </a:solidFill>
                <a:latin typeface="Calibri"/>
                <a:cs typeface="Calibri"/>
              </a:rPr>
              <a:t>solutions</a:t>
            </a:r>
            <a:r>
              <a:rPr sz="3000" spc="-90" dirty="0">
                <a:solidFill>
                  <a:srgbClr val="A3001F"/>
                </a:solidFill>
                <a:latin typeface="Calibri"/>
                <a:cs typeface="Calibri"/>
              </a:rPr>
              <a:t> </a:t>
            </a:r>
            <a:r>
              <a:rPr sz="3000" dirty="0">
                <a:solidFill>
                  <a:srgbClr val="A3001F"/>
                </a:solidFill>
                <a:latin typeface="Calibri"/>
                <a:cs typeface="Calibri"/>
              </a:rPr>
              <a:t>of</a:t>
            </a:r>
            <a:r>
              <a:rPr sz="3000" spc="-114" dirty="0">
                <a:solidFill>
                  <a:srgbClr val="A3001F"/>
                </a:solidFill>
                <a:latin typeface="Calibri"/>
                <a:cs typeface="Calibri"/>
              </a:rPr>
              <a:t> </a:t>
            </a:r>
            <a:r>
              <a:rPr sz="3000" dirty="0">
                <a:solidFill>
                  <a:srgbClr val="A3001F"/>
                </a:solidFill>
                <a:latin typeface="Calibri"/>
                <a:cs typeface="Calibri"/>
              </a:rPr>
              <a:t>cane</a:t>
            </a:r>
            <a:r>
              <a:rPr sz="3000" spc="-130" dirty="0">
                <a:solidFill>
                  <a:srgbClr val="A3001F"/>
                </a:solidFill>
                <a:latin typeface="Calibri"/>
                <a:cs typeface="Calibri"/>
              </a:rPr>
              <a:t> </a:t>
            </a:r>
            <a:r>
              <a:rPr sz="3000" dirty="0">
                <a:solidFill>
                  <a:srgbClr val="A3001F"/>
                </a:solidFill>
                <a:latin typeface="Calibri"/>
                <a:cs typeface="Calibri"/>
              </a:rPr>
              <a:t>sugar,</a:t>
            </a:r>
            <a:r>
              <a:rPr sz="3000" spc="-105" dirty="0">
                <a:solidFill>
                  <a:srgbClr val="A3001F"/>
                </a:solidFill>
                <a:latin typeface="Calibri"/>
                <a:cs typeface="Calibri"/>
              </a:rPr>
              <a:t> </a:t>
            </a:r>
            <a:r>
              <a:rPr sz="3000" dirty="0">
                <a:solidFill>
                  <a:srgbClr val="A3001F"/>
                </a:solidFill>
                <a:latin typeface="Calibri"/>
                <a:cs typeface="Calibri"/>
              </a:rPr>
              <a:t>glucose, </a:t>
            </a:r>
            <a:r>
              <a:rPr sz="3000" spc="-665" dirty="0">
                <a:solidFill>
                  <a:srgbClr val="A3001F"/>
                </a:solidFill>
                <a:latin typeface="Calibri"/>
                <a:cs typeface="Calibri"/>
              </a:rPr>
              <a:t> </a:t>
            </a:r>
            <a:r>
              <a:rPr sz="3000" dirty="0">
                <a:solidFill>
                  <a:srgbClr val="A3001F"/>
                </a:solidFill>
                <a:latin typeface="Calibri"/>
                <a:cs typeface="Calibri"/>
              </a:rPr>
              <a:t>urea</a:t>
            </a:r>
            <a:r>
              <a:rPr sz="3000" spc="-35" dirty="0">
                <a:solidFill>
                  <a:srgbClr val="A3001F"/>
                </a:solidFill>
                <a:latin typeface="Calibri"/>
                <a:cs typeface="Calibri"/>
              </a:rPr>
              <a:t> </a:t>
            </a:r>
            <a:r>
              <a:rPr sz="3000" spc="-5" dirty="0">
                <a:solidFill>
                  <a:srgbClr val="A3001F"/>
                </a:solidFill>
                <a:latin typeface="Calibri"/>
                <a:cs typeface="Calibri"/>
              </a:rPr>
              <a:t>etc.</a:t>
            </a:r>
            <a:r>
              <a:rPr sz="3000" dirty="0">
                <a:solidFill>
                  <a:srgbClr val="A3001F"/>
                </a:solidFill>
                <a:latin typeface="Microsoft Sans Serif"/>
                <a:cs typeface="Microsoft Sans Serif"/>
              </a:rPr>
              <a:t> </a:t>
            </a:r>
            <a:endParaRPr sz="3000">
              <a:latin typeface="Microsoft Sans Serif"/>
              <a:cs typeface="Microsoft Sans Serif"/>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83536" y="1365250"/>
            <a:ext cx="822769" cy="588517"/>
          </a:xfrm>
          <a:prstGeom prst="rect">
            <a:avLst/>
          </a:prstGeom>
        </p:spPr>
      </p:pic>
      <p:pic>
        <p:nvPicPr>
          <p:cNvPr id="3" name="object 3"/>
          <p:cNvPicPr/>
          <p:nvPr/>
        </p:nvPicPr>
        <p:blipFill>
          <a:blip r:embed="rId3" cstate="print"/>
          <a:stretch>
            <a:fillRect/>
          </a:stretch>
        </p:blipFill>
        <p:spPr>
          <a:xfrm>
            <a:off x="2971800" y="4594225"/>
            <a:ext cx="1296035" cy="796290"/>
          </a:xfrm>
          <a:prstGeom prst="rect">
            <a:avLst/>
          </a:prstGeom>
        </p:spPr>
      </p:pic>
      <p:pic>
        <p:nvPicPr>
          <p:cNvPr id="4" name="object 4"/>
          <p:cNvPicPr/>
          <p:nvPr/>
        </p:nvPicPr>
        <p:blipFill>
          <a:blip r:embed="rId4" cstate="print"/>
          <a:stretch>
            <a:fillRect/>
          </a:stretch>
        </p:blipFill>
        <p:spPr>
          <a:xfrm>
            <a:off x="6096000" y="4562475"/>
            <a:ext cx="2133600" cy="762000"/>
          </a:xfrm>
          <a:prstGeom prst="rect">
            <a:avLst/>
          </a:prstGeom>
        </p:spPr>
      </p:pic>
      <p:sp>
        <p:nvSpPr>
          <p:cNvPr id="5" name="object 5"/>
          <p:cNvSpPr txBox="1"/>
          <p:nvPr/>
        </p:nvSpPr>
        <p:spPr>
          <a:xfrm>
            <a:off x="396544" y="237185"/>
            <a:ext cx="8508365" cy="5787390"/>
          </a:xfrm>
          <a:prstGeom prst="rect">
            <a:avLst/>
          </a:prstGeom>
        </p:spPr>
        <p:txBody>
          <a:bodyPr vert="horz" wrap="square" lIns="0" tIns="4445" rIns="0" bIns="0" rtlCol="0">
            <a:spAutoFit/>
          </a:bodyPr>
          <a:lstStyle/>
          <a:p>
            <a:pPr marL="417195" marR="68580" indent="-341630">
              <a:lnSpc>
                <a:spcPct val="101499"/>
              </a:lnSpc>
              <a:spcBef>
                <a:spcPts val="35"/>
              </a:spcBef>
              <a:buFont typeface="Microsoft Sans Serif"/>
              <a:buChar char="•"/>
              <a:tabLst>
                <a:tab pos="417195" algn="l"/>
                <a:tab pos="417830" algn="l"/>
              </a:tabLst>
            </a:pPr>
            <a:r>
              <a:rPr sz="3200" b="1" spc="-10" dirty="0">
                <a:solidFill>
                  <a:srgbClr val="C00000"/>
                </a:solidFill>
                <a:latin typeface="Calibri"/>
                <a:cs typeface="Calibri"/>
              </a:rPr>
              <a:t>Conductance</a:t>
            </a:r>
            <a:r>
              <a:rPr sz="3200" b="1" spc="20" dirty="0">
                <a:solidFill>
                  <a:srgbClr val="C00000"/>
                </a:solidFill>
                <a:latin typeface="Calibri"/>
                <a:cs typeface="Calibri"/>
              </a:rPr>
              <a:t> </a:t>
            </a:r>
            <a:r>
              <a:rPr sz="3200" b="1" spc="-10" dirty="0">
                <a:solidFill>
                  <a:srgbClr val="C00000"/>
                </a:solidFill>
                <a:latin typeface="Calibri"/>
                <a:cs typeface="Calibri"/>
              </a:rPr>
              <a:t>(C)</a:t>
            </a:r>
            <a:r>
              <a:rPr sz="3200" b="1" spc="15" dirty="0">
                <a:solidFill>
                  <a:srgbClr val="C00000"/>
                </a:solidFill>
                <a:latin typeface="Calibri"/>
                <a:cs typeface="Calibri"/>
              </a:rPr>
              <a:t> </a:t>
            </a:r>
            <a:r>
              <a:rPr sz="3200" spc="-5" dirty="0">
                <a:latin typeface="Calibri"/>
                <a:cs typeface="Calibri"/>
              </a:rPr>
              <a:t>–</a:t>
            </a:r>
            <a:r>
              <a:rPr sz="3200" spc="10" dirty="0">
                <a:latin typeface="Calibri"/>
                <a:cs typeface="Calibri"/>
              </a:rPr>
              <a:t> </a:t>
            </a:r>
            <a:r>
              <a:rPr sz="2400" dirty="0">
                <a:latin typeface="Calibri"/>
                <a:cs typeface="Calibri"/>
              </a:rPr>
              <a:t>is</a:t>
            </a:r>
            <a:r>
              <a:rPr sz="2400" spc="5" dirty="0">
                <a:latin typeface="Calibri"/>
                <a:cs typeface="Calibri"/>
              </a:rPr>
              <a:t> </a:t>
            </a:r>
            <a:r>
              <a:rPr sz="2400" dirty="0">
                <a:latin typeface="Calibri"/>
                <a:cs typeface="Calibri"/>
              </a:rPr>
              <a:t>the</a:t>
            </a:r>
            <a:r>
              <a:rPr sz="2400" spc="-15" dirty="0">
                <a:latin typeface="Calibri"/>
                <a:cs typeface="Calibri"/>
              </a:rPr>
              <a:t> </a:t>
            </a:r>
            <a:r>
              <a:rPr sz="2400" dirty="0">
                <a:latin typeface="Calibri"/>
                <a:cs typeface="Calibri"/>
              </a:rPr>
              <a:t>ease</a:t>
            </a:r>
            <a:r>
              <a:rPr sz="2400" spc="-5" dirty="0">
                <a:latin typeface="Calibri"/>
                <a:cs typeface="Calibri"/>
              </a:rPr>
              <a:t> with</a:t>
            </a:r>
            <a:r>
              <a:rPr sz="2400" spc="-10" dirty="0">
                <a:latin typeface="Calibri"/>
                <a:cs typeface="Calibri"/>
              </a:rPr>
              <a:t> </a:t>
            </a:r>
            <a:r>
              <a:rPr sz="2400" spc="-5" dirty="0">
                <a:latin typeface="Calibri"/>
                <a:cs typeface="Calibri"/>
              </a:rPr>
              <a:t>which</a:t>
            </a:r>
            <a:r>
              <a:rPr sz="2400" spc="15" dirty="0">
                <a:latin typeface="Calibri"/>
                <a:cs typeface="Calibri"/>
              </a:rPr>
              <a:t> </a:t>
            </a:r>
            <a:r>
              <a:rPr sz="2400" spc="-10" dirty="0">
                <a:latin typeface="Calibri"/>
                <a:cs typeface="Calibri"/>
              </a:rPr>
              <a:t>current</a:t>
            </a:r>
            <a:r>
              <a:rPr sz="2400" spc="-5" dirty="0">
                <a:latin typeface="Calibri"/>
                <a:cs typeface="Calibri"/>
              </a:rPr>
              <a:t> </a:t>
            </a:r>
            <a:r>
              <a:rPr sz="2400" dirty="0">
                <a:latin typeface="Calibri"/>
                <a:cs typeface="Calibri"/>
              </a:rPr>
              <a:t>flows </a:t>
            </a:r>
            <a:r>
              <a:rPr sz="2400" spc="5" dirty="0">
                <a:latin typeface="Calibri"/>
                <a:cs typeface="Calibri"/>
              </a:rPr>
              <a:t> </a:t>
            </a:r>
            <a:r>
              <a:rPr sz="2400" dirty="0">
                <a:latin typeface="Calibri"/>
                <a:cs typeface="Calibri"/>
              </a:rPr>
              <a:t>through</a:t>
            </a:r>
            <a:r>
              <a:rPr sz="2400" spc="-70" dirty="0">
                <a:latin typeface="Calibri"/>
                <a:cs typeface="Calibri"/>
              </a:rPr>
              <a:t> </a:t>
            </a:r>
            <a:r>
              <a:rPr sz="2400" spc="-5" dirty="0">
                <a:latin typeface="Calibri"/>
                <a:cs typeface="Calibri"/>
              </a:rPr>
              <a:t>the</a:t>
            </a:r>
            <a:r>
              <a:rPr sz="2400" spc="-30" dirty="0">
                <a:latin typeface="Calibri"/>
                <a:cs typeface="Calibri"/>
              </a:rPr>
              <a:t> </a:t>
            </a:r>
            <a:r>
              <a:rPr sz="2400" spc="-5" dirty="0">
                <a:latin typeface="Calibri"/>
                <a:cs typeface="Calibri"/>
              </a:rPr>
              <a:t>conductor</a:t>
            </a:r>
            <a:r>
              <a:rPr sz="2400" spc="-25" dirty="0">
                <a:latin typeface="Calibri"/>
                <a:cs typeface="Calibri"/>
              </a:rPr>
              <a:t> </a:t>
            </a:r>
            <a:r>
              <a:rPr sz="2400" spc="-10" dirty="0">
                <a:latin typeface="Calibri"/>
                <a:cs typeface="Calibri"/>
              </a:rPr>
              <a:t>or solution</a:t>
            </a:r>
            <a:r>
              <a:rPr sz="2400" spc="-15" dirty="0">
                <a:latin typeface="Calibri"/>
                <a:cs typeface="Calibri"/>
              </a:rPr>
              <a:t> </a:t>
            </a:r>
            <a:r>
              <a:rPr sz="2400" spc="-10" dirty="0">
                <a:latin typeface="Calibri"/>
                <a:cs typeface="Calibri"/>
              </a:rPr>
              <a:t>and</a:t>
            </a:r>
            <a:r>
              <a:rPr sz="2400" spc="-30" dirty="0">
                <a:latin typeface="Calibri"/>
                <a:cs typeface="Calibri"/>
              </a:rPr>
              <a:t> </a:t>
            </a:r>
            <a:r>
              <a:rPr sz="2400" dirty="0">
                <a:latin typeface="Calibri"/>
                <a:cs typeface="Calibri"/>
              </a:rPr>
              <a:t>is</a:t>
            </a:r>
            <a:r>
              <a:rPr sz="2400" spc="-65" dirty="0">
                <a:latin typeface="Calibri"/>
                <a:cs typeface="Calibri"/>
              </a:rPr>
              <a:t> </a:t>
            </a:r>
            <a:r>
              <a:rPr sz="2400" spc="-10" dirty="0">
                <a:latin typeface="Calibri"/>
                <a:cs typeface="Calibri"/>
              </a:rPr>
              <a:t>reciprocal</a:t>
            </a:r>
            <a:r>
              <a:rPr sz="2400" spc="-30" dirty="0">
                <a:latin typeface="Calibri"/>
                <a:cs typeface="Calibri"/>
              </a:rPr>
              <a:t> </a:t>
            </a:r>
            <a:r>
              <a:rPr sz="2400" dirty="0">
                <a:latin typeface="Calibri"/>
                <a:cs typeface="Calibri"/>
              </a:rPr>
              <a:t>of</a:t>
            </a:r>
            <a:r>
              <a:rPr sz="2400" spc="-55" dirty="0">
                <a:latin typeface="Calibri"/>
                <a:cs typeface="Calibri"/>
              </a:rPr>
              <a:t> </a:t>
            </a:r>
            <a:r>
              <a:rPr sz="2400" spc="-5" dirty="0">
                <a:latin typeface="Calibri"/>
                <a:cs typeface="Calibri"/>
              </a:rPr>
              <a:t>resistance</a:t>
            </a:r>
            <a:r>
              <a:rPr sz="3200" spc="-5" dirty="0">
                <a:solidFill>
                  <a:srgbClr val="C00000"/>
                </a:solidFill>
                <a:latin typeface="Microsoft Sans Serif"/>
                <a:cs typeface="Microsoft Sans Serif"/>
              </a:rPr>
              <a:t> </a:t>
            </a:r>
            <a:endParaRPr sz="3200">
              <a:latin typeface="Microsoft Sans Serif"/>
              <a:cs typeface="Microsoft Sans Serif"/>
            </a:endParaRPr>
          </a:p>
          <a:p>
            <a:pPr marL="4698365">
              <a:lnSpc>
                <a:spcPct val="100000"/>
              </a:lnSpc>
              <a:spcBef>
                <a:spcPts val="690"/>
              </a:spcBef>
              <a:tabLst>
                <a:tab pos="5097145" algn="l"/>
                <a:tab pos="5481955" algn="l"/>
                <a:tab pos="6609715" algn="l"/>
              </a:tabLst>
            </a:pPr>
            <a:r>
              <a:rPr sz="3200" spc="-5" dirty="0">
                <a:latin typeface="Calibri"/>
                <a:cs typeface="Calibri"/>
              </a:rPr>
              <a:t>C	-	ohm</a:t>
            </a:r>
            <a:r>
              <a:rPr sz="3150" spc="-7" baseline="27777" dirty="0">
                <a:latin typeface="Calibri"/>
                <a:cs typeface="Calibri"/>
              </a:rPr>
              <a:t>-1	</a:t>
            </a:r>
            <a:r>
              <a:rPr sz="3200" spc="-5" dirty="0">
                <a:latin typeface="Calibri"/>
                <a:cs typeface="Calibri"/>
              </a:rPr>
              <a:t>or</a:t>
            </a:r>
            <a:r>
              <a:rPr sz="3200" spc="-30" dirty="0">
                <a:latin typeface="Calibri"/>
                <a:cs typeface="Calibri"/>
              </a:rPr>
              <a:t> </a:t>
            </a:r>
            <a:r>
              <a:rPr sz="3200" spc="-5" dirty="0">
                <a:latin typeface="Calibri"/>
                <a:cs typeface="Calibri"/>
              </a:rPr>
              <a:t>mho</a:t>
            </a:r>
            <a:endParaRPr sz="3200">
              <a:latin typeface="Calibri"/>
              <a:cs typeface="Calibri"/>
            </a:endParaRPr>
          </a:p>
          <a:p>
            <a:pPr>
              <a:lnSpc>
                <a:spcPct val="100000"/>
              </a:lnSpc>
              <a:spcBef>
                <a:spcPts val="10"/>
              </a:spcBef>
            </a:pPr>
            <a:endParaRPr sz="4350">
              <a:latin typeface="Calibri"/>
              <a:cs typeface="Calibri"/>
            </a:endParaRPr>
          </a:p>
          <a:p>
            <a:pPr marL="417195" marR="168275" indent="-341630">
              <a:lnSpc>
                <a:spcPct val="100299"/>
              </a:lnSpc>
              <a:buFont typeface="Microsoft Sans Serif"/>
              <a:buChar char="•"/>
              <a:tabLst>
                <a:tab pos="417195" algn="l"/>
                <a:tab pos="417830" algn="l"/>
              </a:tabLst>
            </a:pPr>
            <a:r>
              <a:rPr sz="3200" b="1" spc="-5" dirty="0">
                <a:solidFill>
                  <a:srgbClr val="C00000"/>
                </a:solidFill>
                <a:latin typeface="Calibri"/>
                <a:cs typeface="Calibri"/>
              </a:rPr>
              <a:t>Specific </a:t>
            </a:r>
            <a:r>
              <a:rPr sz="3200" b="1" spc="-10" dirty="0">
                <a:solidFill>
                  <a:srgbClr val="C00000"/>
                </a:solidFill>
                <a:latin typeface="Calibri"/>
                <a:cs typeface="Calibri"/>
              </a:rPr>
              <a:t>resistance</a:t>
            </a:r>
            <a:r>
              <a:rPr sz="3200" b="1" spc="15" dirty="0">
                <a:solidFill>
                  <a:srgbClr val="C00000"/>
                </a:solidFill>
                <a:latin typeface="Calibri"/>
                <a:cs typeface="Calibri"/>
              </a:rPr>
              <a:t> </a:t>
            </a:r>
            <a:r>
              <a:rPr sz="3200" b="1" dirty="0">
                <a:solidFill>
                  <a:srgbClr val="C00000"/>
                </a:solidFill>
                <a:latin typeface="Calibri"/>
                <a:cs typeface="Calibri"/>
              </a:rPr>
              <a:t>(ρ)-</a:t>
            </a:r>
            <a:r>
              <a:rPr sz="3200" b="1" spc="5" dirty="0">
                <a:solidFill>
                  <a:srgbClr val="C00000"/>
                </a:solidFill>
                <a:latin typeface="Calibri"/>
                <a:cs typeface="Calibri"/>
              </a:rPr>
              <a:t> </a:t>
            </a:r>
            <a:r>
              <a:rPr sz="2400" dirty="0">
                <a:latin typeface="Calibri"/>
                <a:cs typeface="Calibri"/>
              </a:rPr>
              <a:t>The</a:t>
            </a:r>
            <a:r>
              <a:rPr sz="2400" spc="10" dirty="0">
                <a:latin typeface="Calibri"/>
                <a:cs typeface="Calibri"/>
              </a:rPr>
              <a:t> </a:t>
            </a:r>
            <a:r>
              <a:rPr sz="2400" spc="-5" dirty="0">
                <a:latin typeface="Calibri"/>
                <a:cs typeface="Calibri"/>
              </a:rPr>
              <a:t>resistance</a:t>
            </a:r>
            <a:r>
              <a:rPr sz="2400" spc="15" dirty="0">
                <a:latin typeface="Calibri"/>
                <a:cs typeface="Calibri"/>
              </a:rPr>
              <a:t> </a:t>
            </a:r>
            <a:r>
              <a:rPr sz="2400" dirty="0">
                <a:latin typeface="Calibri"/>
                <a:cs typeface="Calibri"/>
              </a:rPr>
              <a:t>R</a:t>
            </a:r>
            <a:r>
              <a:rPr sz="2400" spc="-25" dirty="0">
                <a:latin typeface="Calibri"/>
                <a:cs typeface="Calibri"/>
              </a:rPr>
              <a:t> </a:t>
            </a:r>
            <a:r>
              <a:rPr sz="2400" spc="-5" dirty="0">
                <a:latin typeface="Calibri"/>
                <a:cs typeface="Calibri"/>
              </a:rPr>
              <a:t>of </a:t>
            </a:r>
            <a:r>
              <a:rPr sz="2400" dirty="0">
                <a:latin typeface="Calibri"/>
                <a:cs typeface="Calibri"/>
              </a:rPr>
              <a:t>a</a:t>
            </a:r>
            <a:r>
              <a:rPr sz="2400" spc="15" dirty="0">
                <a:latin typeface="Calibri"/>
                <a:cs typeface="Calibri"/>
              </a:rPr>
              <a:t> </a:t>
            </a:r>
            <a:r>
              <a:rPr sz="2400" spc="-10" dirty="0">
                <a:latin typeface="Calibri"/>
                <a:cs typeface="Calibri"/>
              </a:rPr>
              <a:t>conductor </a:t>
            </a:r>
            <a:r>
              <a:rPr sz="2400" spc="-5" dirty="0">
                <a:latin typeface="Calibri"/>
                <a:cs typeface="Calibri"/>
              </a:rPr>
              <a:t> </a:t>
            </a:r>
            <a:r>
              <a:rPr sz="2400" dirty="0">
                <a:latin typeface="Calibri"/>
                <a:cs typeface="Calibri"/>
              </a:rPr>
              <a:t>at</a:t>
            </a:r>
            <a:r>
              <a:rPr sz="2400" spc="-50" dirty="0">
                <a:latin typeface="Calibri"/>
                <a:cs typeface="Calibri"/>
              </a:rPr>
              <a:t> </a:t>
            </a:r>
            <a:r>
              <a:rPr sz="2400" dirty="0">
                <a:latin typeface="Calibri"/>
                <a:cs typeface="Calibri"/>
              </a:rPr>
              <a:t>a</a:t>
            </a:r>
            <a:r>
              <a:rPr sz="2400" spc="-55" dirty="0">
                <a:latin typeface="Calibri"/>
                <a:cs typeface="Calibri"/>
              </a:rPr>
              <a:t> </a:t>
            </a:r>
            <a:r>
              <a:rPr sz="2400" spc="-5" dirty="0">
                <a:latin typeface="Calibri"/>
                <a:cs typeface="Calibri"/>
              </a:rPr>
              <a:t>definite</a:t>
            </a:r>
            <a:r>
              <a:rPr sz="2400" spc="-45" dirty="0">
                <a:latin typeface="Calibri"/>
                <a:cs typeface="Calibri"/>
              </a:rPr>
              <a:t> </a:t>
            </a:r>
            <a:r>
              <a:rPr sz="2400" spc="-5" dirty="0">
                <a:latin typeface="Calibri"/>
                <a:cs typeface="Calibri"/>
              </a:rPr>
              <a:t>temperature,</a:t>
            </a:r>
            <a:r>
              <a:rPr sz="2400" spc="-25" dirty="0">
                <a:latin typeface="Calibri"/>
                <a:cs typeface="Calibri"/>
              </a:rPr>
              <a:t> </a:t>
            </a:r>
            <a:r>
              <a:rPr sz="2400" dirty="0">
                <a:latin typeface="Calibri"/>
                <a:cs typeface="Calibri"/>
              </a:rPr>
              <a:t>is</a:t>
            </a:r>
            <a:r>
              <a:rPr sz="2400" spc="-65" dirty="0">
                <a:latin typeface="Calibri"/>
                <a:cs typeface="Calibri"/>
              </a:rPr>
              <a:t> </a:t>
            </a:r>
            <a:r>
              <a:rPr sz="2400" spc="-5" dirty="0">
                <a:latin typeface="Calibri"/>
                <a:cs typeface="Calibri"/>
              </a:rPr>
              <a:t>directly</a:t>
            </a:r>
            <a:r>
              <a:rPr sz="2400" spc="-60" dirty="0">
                <a:latin typeface="Calibri"/>
                <a:cs typeface="Calibri"/>
              </a:rPr>
              <a:t> </a:t>
            </a:r>
            <a:r>
              <a:rPr sz="2400" spc="-5" dirty="0">
                <a:latin typeface="Calibri"/>
                <a:cs typeface="Calibri"/>
              </a:rPr>
              <a:t>proportional</a:t>
            </a:r>
            <a:r>
              <a:rPr sz="2400" spc="-40" dirty="0">
                <a:latin typeface="Calibri"/>
                <a:cs typeface="Calibri"/>
              </a:rPr>
              <a:t> </a:t>
            </a:r>
            <a:r>
              <a:rPr sz="2400" spc="5" dirty="0">
                <a:latin typeface="Calibri"/>
                <a:cs typeface="Calibri"/>
              </a:rPr>
              <a:t>to</a:t>
            </a:r>
            <a:r>
              <a:rPr sz="2400" spc="-55" dirty="0">
                <a:latin typeface="Calibri"/>
                <a:cs typeface="Calibri"/>
              </a:rPr>
              <a:t> </a:t>
            </a:r>
            <a:r>
              <a:rPr sz="2400" spc="-10" dirty="0">
                <a:latin typeface="Calibri"/>
                <a:cs typeface="Calibri"/>
              </a:rPr>
              <a:t>its</a:t>
            </a:r>
            <a:r>
              <a:rPr sz="2400" spc="-35" dirty="0">
                <a:latin typeface="Calibri"/>
                <a:cs typeface="Calibri"/>
              </a:rPr>
              <a:t> </a:t>
            </a:r>
            <a:r>
              <a:rPr sz="2400" spc="-5" dirty="0">
                <a:latin typeface="Calibri"/>
                <a:cs typeface="Calibri"/>
              </a:rPr>
              <a:t>length</a:t>
            </a:r>
            <a:r>
              <a:rPr sz="2400" spc="-45" dirty="0">
                <a:latin typeface="Calibri"/>
                <a:cs typeface="Calibri"/>
              </a:rPr>
              <a:t> </a:t>
            </a:r>
            <a:r>
              <a:rPr sz="2400" spc="-5" dirty="0">
                <a:latin typeface="Calibri"/>
                <a:cs typeface="Calibri"/>
              </a:rPr>
              <a:t>(l) </a:t>
            </a:r>
            <a:r>
              <a:rPr sz="2400" spc="-525" dirty="0">
                <a:latin typeface="Calibri"/>
                <a:cs typeface="Calibri"/>
              </a:rPr>
              <a:t> </a:t>
            </a:r>
            <a:r>
              <a:rPr sz="2400" dirty="0">
                <a:latin typeface="Calibri"/>
                <a:cs typeface="Calibri"/>
              </a:rPr>
              <a:t>and</a:t>
            </a:r>
            <a:r>
              <a:rPr sz="2400" spc="-30" dirty="0">
                <a:latin typeface="Calibri"/>
                <a:cs typeface="Calibri"/>
              </a:rPr>
              <a:t> </a:t>
            </a:r>
            <a:r>
              <a:rPr sz="2400" spc="-5" dirty="0">
                <a:latin typeface="Calibri"/>
                <a:cs typeface="Calibri"/>
              </a:rPr>
              <a:t>inversely</a:t>
            </a:r>
            <a:r>
              <a:rPr sz="2400" spc="-40" dirty="0">
                <a:latin typeface="Calibri"/>
                <a:cs typeface="Calibri"/>
              </a:rPr>
              <a:t> </a:t>
            </a:r>
            <a:r>
              <a:rPr sz="2400" spc="-5" dirty="0">
                <a:latin typeface="Calibri"/>
                <a:cs typeface="Calibri"/>
              </a:rPr>
              <a:t>proportional </a:t>
            </a:r>
            <a:r>
              <a:rPr sz="2400" spc="5" dirty="0">
                <a:latin typeface="Calibri"/>
                <a:cs typeface="Calibri"/>
              </a:rPr>
              <a:t>to</a:t>
            </a:r>
            <a:r>
              <a:rPr sz="2400" spc="-60" dirty="0">
                <a:latin typeface="Calibri"/>
                <a:cs typeface="Calibri"/>
              </a:rPr>
              <a:t> </a:t>
            </a:r>
            <a:r>
              <a:rPr sz="2400" spc="5" dirty="0">
                <a:latin typeface="Calibri"/>
                <a:cs typeface="Calibri"/>
              </a:rPr>
              <a:t>the</a:t>
            </a:r>
            <a:r>
              <a:rPr sz="2400" spc="-10" dirty="0">
                <a:latin typeface="Calibri"/>
                <a:cs typeface="Calibri"/>
              </a:rPr>
              <a:t> </a:t>
            </a:r>
            <a:r>
              <a:rPr sz="2400" spc="-5" dirty="0">
                <a:latin typeface="Calibri"/>
                <a:cs typeface="Calibri"/>
              </a:rPr>
              <a:t>area</a:t>
            </a:r>
            <a:r>
              <a:rPr sz="2400" spc="-15" dirty="0">
                <a:latin typeface="Calibri"/>
                <a:cs typeface="Calibri"/>
              </a:rPr>
              <a:t> </a:t>
            </a:r>
            <a:r>
              <a:rPr sz="2400" spc="-10" dirty="0">
                <a:latin typeface="Calibri"/>
                <a:cs typeface="Calibri"/>
              </a:rPr>
              <a:t>of</a:t>
            </a:r>
            <a:r>
              <a:rPr sz="2400" dirty="0">
                <a:latin typeface="Calibri"/>
                <a:cs typeface="Calibri"/>
              </a:rPr>
              <a:t> </a:t>
            </a:r>
            <a:r>
              <a:rPr sz="2400" spc="-5" dirty="0">
                <a:latin typeface="Calibri"/>
                <a:cs typeface="Calibri"/>
              </a:rPr>
              <a:t>cross</a:t>
            </a:r>
            <a:r>
              <a:rPr sz="2400" spc="-45" dirty="0">
                <a:latin typeface="Calibri"/>
                <a:cs typeface="Calibri"/>
              </a:rPr>
              <a:t> </a:t>
            </a:r>
            <a:r>
              <a:rPr sz="2400" spc="-5" dirty="0">
                <a:latin typeface="Calibri"/>
                <a:cs typeface="Calibri"/>
              </a:rPr>
              <a:t>section</a:t>
            </a:r>
            <a:r>
              <a:rPr sz="2400" spc="5" dirty="0">
                <a:latin typeface="Calibri"/>
                <a:cs typeface="Calibri"/>
              </a:rPr>
              <a:t> </a:t>
            </a:r>
            <a:r>
              <a:rPr sz="2400" spc="-15" dirty="0">
                <a:latin typeface="Calibri"/>
                <a:cs typeface="Calibri"/>
              </a:rPr>
              <a:t>(A)</a:t>
            </a:r>
            <a:r>
              <a:rPr sz="3200" spc="-5" dirty="0">
                <a:solidFill>
                  <a:srgbClr val="C00000"/>
                </a:solidFill>
                <a:latin typeface="Microsoft Sans Serif"/>
                <a:cs typeface="Microsoft Sans Serif"/>
              </a:rPr>
              <a:t> </a:t>
            </a:r>
            <a:endParaRPr sz="3200">
              <a:latin typeface="Microsoft Sans Serif"/>
              <a:cs typeface="Microsoft Sans Serif"/>
            </a:endParaRPr>
          </a:p>
          <a:p>
            <a:pPr marL="417195" indent="-341630">
              <a:lnSpc>
                <a:spcPct val="100000"/>
              </a:lnSpc>
              <a:spcBef>
                <a:spcPts val="740"/>
              </a:spcBef>
              <a:buFont typeface="Microsoft Sans Serif"/>
              <a:buChar char="•"/>
              <a:tabLst>
                <a:tab pos="417195" algn="l"/>
                <a:tab pos="417830" algn="l"/>
              </a:tabLst>
            </a:pPr>
            <a:r>
              <a:rPr sz="3200" spc="-5" dirty="0">
                <a:latin typeface="Calibri"/>
                <a:cs typeface="Calibri"/>
              </a:rPr>
              <a:t>Resistance</a:t>
            </a:r>
            <a:r>
              <a:rPr sz="3200" spc="-80" dirty="0">
                <a:latin typeface="Calibri"/>
                <a:cs typeface="Calibri"/>
              </a:rPr>
              <a:t> </a:t>
            </a:r>
            <a:r>
              <a:rPr sz="3200" spc="-5" dirty="0">
                <a:latin typeface="Calibri"/>
                <a:cs typeface="Calibri"/>
              </a:rPr>
              <a:t>of</a:t>
            </a:r>
            <a:r>
              <a:rPr sz="3200" spc="-80" dirty="0">
                <a:latin typeface="Calibri"/>
                <a:cs typeface="Calibri"/>
              </a:rPr>
              <a:t> </a:t>
            </a:r>
            <a:r>
              <a:rPr sz="3200" spc="-5" dirty="0">
                <a:latin typeface="Calibri"/>
                <a:cs typeface="Calibri"/>
              </a:rPr>
              <a:t>any</a:t>
            </a:r>
            <a:r>
              <a:rPr sz="3200" spc="-35" dirty="0">
                <a:latin typeface="Calibri"/>
                <a:cs typeface="Calibri"/>
              </a:rPr>
              <a:t> </a:t>
            </a:r>
            <a:r>
              <a:rPr sz="3200" spc="-5" dirty="0">
                <a:latin typeface="Calibri"/>
                <a:cs typeface="Calibri"/>
              </a:rPr>
              <a:t>uniform</a:t>
            </a:r>
            <a:r>
              <a:rPr sz="3200" spc="-55" dirty="0">
                <a:latin typeface="Calibri"/>
                <a:cs typeface="Calibri"/>
              </a:rPr>
              <a:t> </a:t>
            </a:r>
            <a:r>
              <a:rPr sz="3200" spc="-5" dirty="0">
                <a:latin typeface="Calibri"/>
                <a:cs typeface="Calibri"/>
              </a:rPr>
              <a:t>conductor</a:t>
            </a:r>
            <a:r>
              <a:rPr sz="3200" spc="-70" dirty="0">
                <a:latin typeface="Calibri"/>
                <a:cs typeface="Calibri"/>
              </a:rPr>
              <a:t> </a:t>
            </a:r>
            <a:r>
              <a:rPr sz="3200" dirty="0">
                <a:latin typeface="Calibri"/>
                <a:cs typeface="Calibri"/>
              </a:rPr>
              <a:t>is</a:t>
            </a:r>
            <a:r>
              <a:rPr sz="3200" dirty="0">
                <a:latin typeface="Microsoft Sans Serif"/>
                <a:cs typeface="Microsoft Sans Serif"/>
              </a:rPr>
              <a:t> </a:t>
            </a:r>
            <a:endParaRPr sz="3200">
              <a:latin typeface="Microsoft Sans Serif"/>
              <a:cs typeface="Microsoft Sans Serif"/>
            </a:endParaRPr>
          </a:p>
          <a:p>
            <a:pPr>
              <a:lnSpc>
                <a:spcPct val="100000"/>
              </a:lnSpc>
              <a:spcBef>
                <a:spcPts val="50"/>
              </a:spcBef>
            </a:pPr>
            <a:endParaRPr sz="4000">
              <a:latin typeface="Microsoft Sans Serif"/>
              <a:cs typeface="Microsoft Sans Serif"/>
            </a:endParaRPr>
          </a:p>
          <a:p>
            <a:pPr marR="2445385" algn="r">
              <a:lnSpc>
                <a:spcPct val="100000"/>
              </a:lnSpc>
            </a:pPr>
            <a:r>
              <a:rPr sz="2200" spc="-25" dirty="0">
                <a:latin typeface="Constantia"/>
                <a:cs typeface="Constantia"/>
              </a:rPr>
              <a:t>A</a:t>
            </a:r>
            <a:endParaRPr sz="2200">
              <a:latin typeface="Constantia"/>
              <a:cs typeface="Constantia"/>
            </a:endParaRPr>
          </a:p>
          <a:p>
            <a:pPr>
              <a:lnSpc>
                <a:spcPct val="100000"/>
              </a:lnSpc>
            </a:pPr>
            <a:endParaRPr sz="2200">
              <a:latin typeface="Constantia"/>
              <a:cs typeface="Constantia"/>
            </a:endParaRPr>
          </a:p>
          <a:p>
            <a:pPr marR="1711960" algn="r">
              <a:lnSpc>
                <a:spcPct val="100000"/>
              </a:lnSpc>
              <a:spcBef>
                <a:spcPts val="1975"/>
              </a:spcBef>
            </a:pPr>
            <a:r>
              <a:rPr sz="2200" spc="-15" dirty="0">
                <a:latin typeface="Constantia"/>
                <a:cs typeface="Constantia"/>
              </a:rPr>
              <a:t>l</a:t>
            </a:r>
            <a:endParaRPr sz="2200">
              <a:latin typeface="Constantia"/>
              <a:cs typeface="Constantia"/>
            </a:endParaRPr>
          </a:p>
        </p:txBody>
      </p:sp>
      <p:grpSp>
        <p:nvGrpSpPr>
          <p:cNvPr id="6" name="object 6"/>
          <p:cNvGrpSpPr/>
          <p:nvPr/>
        </p:nvGrpSpPr>
        <p:grpSpPr>
          <a:xfrm>
            <a:off x="6395402" y="5400675"/>
            <a:ext cx="1685925" cy="304800"/>
            <a:chOff x="6395402" y="5400675"/>
            <a:chExt cx="1685925" cy="304800"/>
          </a:xfrm>
        </p:grpSpPr>
        <p:sp>
          <p:nvSpPr>
            <p:cNvPr id="7" name="object 7"/>
            <p:cNvSpPr/>
            <p:nvPr/>
          </p:nvSpPr>
          <p:spPr>
            <a:xfrm>
              <a:off x="6400165" y="5514975"/>
              <a:ext cx="1676400" cy="76200"/>
            </a:xfrm>
            <a:custGeom>
              <a:avLst/>
              <a:gdLst/>
              <a:ahLst/>
              <a:cxnLst/>
              <a:rect l="l" t="t" r="r" b="b"/>
              <a:pathLst>
                <a:path w="1676400" h="76200">
                  <a:moveTo>
                    <a:pt x="76200" y="0"/>
                  </a:moveTo>
                  <a:lnTo>
                    <a:pt x="0" y="38100"/>
                  </a:lnTo>
                  <a:lnTo>
                    <a:pt x="76200" y="76200"/>
                  </a:lnTo>
                  <a:lnTo>
                    <a:pt x="76200" y="44450"/>
                  </a:lnTo>
                  <a:lnTo>
                    <a:pt x="63500" y="44450"/>
                  </a:lnTo>
                  <a:lnTo>
                    <a:pt x="63500" y="31750"/>
                  </a:lnTo>
                  <a:lnTo>
                    <a:pt x="76200" y="31750"/>
                  </a:lnTo>
                  <a:lnTo>
                    <a:pt x="76200" y="0"/>
                  </a:lnTo>
                  <a:close/>
                </a:path>
                <a:path w="1676400" h="76200">
                  <a:moveTo>
                    <a:pt x="1600200" y="0"/>
                  </a:moveTo>
                  <a:lnTo>
                    <a:pt x="1600200" y="76200"/>
                  </a:lnTo>
                  <a:lnTo>
                    <a:pt x="1663700" y="44450"/>
                  </a:lnTo>
                  <a:lnTo>
                    <a:pt x="1612900" y="44450"/>
                  </a:lnTo>
                  <a:lnTo>
                    <a:pt x="1612900" y="31750"/>
                  </a:lnTo>
                  <a:lnTo>
                    <a:pt x="1663700" y="31750"/>
                  </a:lnTo>
                  <a:lnTo>
                    <a:pt x="1600200" y="0"/>
                  </a:lnTo>
                  <a:close/>
                </a:path>
                <a:path w="1676400" h="76200">
                  <a:moveTo>
                    <a:pt x="76200" y="31750"/>
                  </a:moveTo>
                  <a:lnTo>
                    <a:pt x="63500" y="31750"/>
                  </a:lnTo>
                  <a:lnTo>
                    <a:pt x="63500" y="44450"/>
                  </a:lnTo>
                  <a:lnTo>
                    <a:pt x="76200" y="44450"/>
                  </a:lnTo>
                  <a:lnTo>
                    <a:pt x="76200" y="31750"/>
                  </a:lnTo>
                  <a:close/>
                </a:path>
                <a:path w="1676400" h="76200">
                  <a:moveTo>
                    <a:pt x="1600200" y="31750"/>
                  </a:moveTo>
                  <a:lnTo>
                    <a:pt x="76200" y="31750"/>
                  </a:lnTo>
                  <a:lnTo>
                    <a:pt x="76200" y="44450"/>
                  </a:lnTo>
                  <a:lnTo>
                    <a:pt x="1600200" y="44450"/>
                  </a:lnTo>
                  <a:lnTo>
                    <a:pt x="1600200" y="31750"/>
                  </a:lnTo>
                  <a:close/>
                </a:path>
                <a:path w="1676400" h="76200">
                  <a:moveTo>
                    <a:pt x="1663700" y="31750"/>
                  </a:moveTo>
                  <a:lnTo>
                    <a:pt x="1612900" y="31750"/>
                  </a:lnTo>
                  <a:lnTo>
                    <a:pt x="1612900" y="44450"/>
                  </a:lnTo>
                  <a:lnTo>
                    <a:pt x="1663700" y="44450"/>
                  </a:lnTo>
                  <a:lnTo>
                    <a:pt x="1676400" y="38100"/>
                  </a:lnTo>
                  <a:lnTo>
                    <a:pt x="1663700" y="31750"/>
                  </a:lnTo>
                  <a:close/>
                </a:path>
              </a:pathLst>
            </a:custGeom>
            <a:solidFill>
              <a:srgbClr val="000000"/>
            </a:solidFill>
          </p:spPr>
          <p:txBody>
            <a:bodyPr wrap="square" lIns="0" tIns="0" rIns="0" bIns="0" rtlCol="0"/>
            <a:lstStyle/>
            <a:p>
              <a:endParaRPr/>
            </a:p>
          </p:txBody>
        </p:sp>
        <p:sp>
          <p:nvSpPr>
            <p:cNvPr id="8" name="object 8"/>
            <p:cNvSpPr/>
            <p:nvPr/>
          </p:nvSpPr>
          <p:spPr>
            <a:xfrm>
              <a:off x="6400165" y="5400675"/>
              <a:ext cx="1676400" cy="304800"/>
            </a:xfrm>
            <a:custGeom>
              <a:avLst/>
              <a:gdLst/>
              <a:ahLst/>
              <a:cxnLst/>
              <a:rect l="l" t="t" r="r" b="b"/>
              <a:pathLst>
                <a:path w="1676400" h="304800">
                  <a:moveTo>
                    <a:pt x="0" y="0"/>
                  </a:moveTo>
                  <a:lnTo>
                    <a:pt x="0" y="304800"/>
                  </a:lnTo>
                </a:path>
                <a:path w="1676400" h="304800">
                  <a:moveTo>
                    <a:pt x="1676400" y="0"/>
                  </a:moveTo>
                  <a:lnTo>
                    <a:pt x="1676400" y="304800"/>
                  </a:lnTo>
                </a:path>
              </a:pathLst>
            </a:custGeom>
            <a:ln w="9525">
              <a:solidFill>
                <a:srgbClr val="000000"/>
              </a:solidFill>
            </a:ln>
          </p:spPr>
          <p:txBody>
            <a:bodyPr wrap="square" lIns="0" tIns="0" rIns="0" bIns="0" rtlCol="0"/>
            <a:lstStyle/>
            <a:p>
              <a:endParaRPr/>
            </a:p>
          </p:txBody>
        </p:sp>
      </p:grpSp>
      <p:pic>
        <p:nvPicPr>
          <p:cNvPr id="9" name="object 9"/>
          <p:cNvPicPr/>
          <p:nvPr/>
        </p:nvPicPr>
        <p:blipFill>
          <a:blip r:embed="rId5" cstate="print"/>
          <a:stretch>
            <a:fillRect/>
          </a:stretch>
        </p:blipFill>
        <p:spPr>
          <a:xfrm>
            <a:off x="1089660" y="4713592"/>
            <a:ext cx="953135" cy="71794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844116"/>
            <a:ext cx="167640" cy="512445"/>
          </a:xfrm>
          <a:prstGeom prst="rect">
            <a:avLst/>
          </a:prstGeom>
        </p:spPr>
        <p:txBody>
          <a:bodyPr vert="horz" wrap="square" lIns="0" tIns="12065" rIns="0" bIns="0" rtlCol="0">
            <a:spAutoFit/>
          </a:bodyPr>
          <a:lstStyle/>
          <a:p>
            <a:pPr marL="12700">
              <a:lnSpc>
                <a:spcPct val="100000"/>
              </a:lnSpc>
              <a:spcBef>
                <a:spcPts val="95"/>
              </a:spcBef>
            </a:pPr>
            <a:r>
              <a:rPr sz="3200" spc="-5" dirty="0">
                <a:latin typeface="Microsoft Sans Serif"/>
                <a:cs typeface="Microsoft Sans Serif"/>
              </a:rPr>
              <a:t>•</a:t>
            </a:r>
            <a:endParaRPr sz="3200">
              <a:latin typeface="Microsoft Sans Serif"/>
              <a:cs typeface="Microsoft Sans Serif"/>
            </a:endParaRPr>
          </a:p>
        </p:txBody>
      </p:sp>
      <p:sp>
        <p:nvSpPr>
          <p:cNvPr id="3" name="object 3"/>
          <p:cNvSpPr txBox="1"/>
          <p:nvPr/>
        </p:nvSpPr>
        <p:spPr>
          <a:xfrm>
            <a:off x="358140" y="780110"/>
            <a:ext cx="7775575" cy="1576705"/>
          </a:xfrm>
          <a:prstGeom prst="rect">
            <a:avLst/>
          </a:prstGeom>
        </p:spPr>
        <p:txBody>
          <a:bodyPr vert="horz" wrap="square" lIns="0" tIns="12065" rIns="0" bIns="0" rtlCol="0">
            <a:spAutoFit/>
          </a:bodyPr>
          <a:lstStyle/>
          <a:p>
            <a:pPr marL="379730" marR="43180" indent="-342265">
              <a:lnSpc>
                <a:spcPct val="100000"/>
              </a:lnSpc>
              <a:spcBef>
                <a:spcPts val="95"/>
              </a:spcBef>
              <a:buFont typeface="Microsoft Sans Serif"/>
              <a:buChar char="•"/>
              <a:tabLst>
                <a:tab pos="480059" algn="l"/>
                <a:tab pos="480695" algn="l"/>
              </a:tabLst>
            </a:pPr>
            <a:r>
              <a:rPr dirty="0"/>
              <a:t>	</a:t>
            </a:r>
            <a:r>
              <a:rPr sz="3200" b="1" spc="-5" dirty="0">
                <a:latin typeface="Times New Roman"/>
                <a:cs typeface="Times New Roman"/>
              </a:rPr>
              <a:t>ρ</a:t>
            </a:r>
            <a:r>
              <a:rPr sz="3200" b="1" spc="-15" dirty="0">
                <a:latin typeface="Times New Roman"/>
                <a:cs typeface="Times New Roman"/>
              </a:rPr>
              <a:t> </a:t>
            </a:r>
            <a:r>
              <a:rPr sz="3200" b="1" spc="-5" dirty="0">
                <a:latin typeface="Times New Roman"/>
                <a:cs typeface="Times New Roman"/>
              </a:rPr>
              <a:t>is</a:t>
            </a:r>
            <a:r>
              <a:rPr sz="3200" b="1" dirty="0">
                <a:latin typeface="Times New Roman"/>
                <a:cs typeface="Times New Roman"/>
              </a:rPr>
              <a:t> </a:t>
            </a:r>
            <a:r>
              <a:rPr sz="3200" b="1" spc="-5" dirty="0">
                <a:latin typeface="Times New Roman"/>
                <a:cs typeface="Times New Roman"/>
              </a:rPr>
              <a:t>specific</a:t>
            </a:r>
            <a:r>
              <a:rPr sz="3200" b="1" spc="-15" dirty="0">
                <a:latin typeface="Times New Roman"/>
                <a:cs typeface="Times New Roman"/>
              </a:rPr>
              <a:t> </a:t>
            </a:r>
            <a:r>
              <a:rPr sz="3200" b="1" spc="-5" dirty="0">
                <a:latin typeface="Times New Roman"/>
                <a:cs typeface="Times New Roman"/>
              </a:rPr>
              <a:t>resistance,</a:t>
            </a:r>
            <a:r>
              <a:rPr sz="3200" b="1" spc="-30" dirty="0">
                <a:latin typeface="Times New Roman"/>
                <a:cs typeface="Times New Roman"/>
              </a:rPr>
              <a:t> </a:t>
            </a:r>
            <a:r>
              <a:rPr sz="3200" b="1" spc="5" dirty="0">
                <a:latin typeface="Times New Roman"/>
                <a:cs typeface="Times New Roman"/>
              </a:rPr>
              <a:t>if</a:t>
            </a:r>
            <a:r>
              <a:rPr sz="3200" b="1" spc="-35" dirty="0">
                <a:latin typeface="Times New Roman"/>
                <a:cs typeface="Times New Roman"/>
              </a:rPr>
              <a:t> </a:t>
            </a:r>
            <a:r>
              <a:rPr sz="3200" b="1" spc="-5" dirty="0">
                <a:latin typeface="Times New Roman"/>
                <a:cs typeface="Times New Roman"/>
              </a:rPr>
              <a:t>l</a:t>
            </a:r>
            <a:r>
              <a:rPr sz="3200" b="1" spc="-10" dirty="0">
                <a:latin typeface="Times New Roman"/>
                <a:cs typeface="Times New Roman"/>
              </a:rPr>
              <a:t> </a:t>
            </a:r>
            <a:r>
              <a:rPr sz="3200" b="1" spc="-5" dirty="0">
                <a:latin typeface="Times New Roman"/>
                <a:cs typeface="Times New Roman"/>
              </a:rPr>
              <a:t>= </a:t>
            </a:r>
            <a:r>
              <a:rPr sz="3200" b="1" dirty="0">
                <a:latin typeface="Times New Roman"/>
                <a:cs typeface="Times New Roman"/>
              </a:rPr>
              <a:t>1cm</a:t>
            </a:r>
            <a:r>
              <a:rPr sz="3200" b="1" spc="-20" dirty="0">
                <a:latin typeface="Times New Roman"/>
                <a:cs typeface="Times New Roman"/>
              </a:rPr>
              <a:t> </a:t>
            </a:r>
            <a:r>
              <a:rPr sz="3200" b="1" spc="-5" dirty="0">
                <a:latin typeface="Times New Roman"/>
                <a:cs typeface="Times New Roman"/>
              </a:rPr>
              <a:t>,</a:t>
            </a:r>
            <a:r>
              <a:rPr sz="3200" b="1" spc="-15" dirty="0">
                <a:latin typeface="Times New Roman"/>
                <a:cs typeface="Times New Roman"/>
              </a:rPr>
              <a:t> </a:t>
            </a:r>
            <a:r>
              <a:rPr sz="3200" b="1" spc="5" dirty="0">
                <a:latin typeface="Times New Roman"/>
                <a:cs typeface="Times New Roman"/>
              </a:rPr>
              <a:t>and</a:t>
            </a:r>
            <a:r>
              <a:rPr sz="3200" b="1" spc="-200" dirty="0">
                <a:latin typeface="Times New Roman"/>
                <a:cs typeface="Times New Roman"/>
              </a:rPr>
              <a:t> </a:t>
            </a:r>
            <a:r>
              <a:rPr sz="3200" b="1" spc="-5" dirty="0">
                <a:latin typeface="Times New Roman"/>
                <a:cs typeface="Times New Roman"/>
              </a:rPr>
              <a:t>A</a:t>
            </a:r>
            <a:r>
              <a:rPr sz="3200" b="1" spc="-175" dirty="0">
                <a:latin typeface="Times New Roman"/>
                <a:cs typeface="Times New Roman"/>
              </a:rPr>
              <a:t> </a:t>
            </a:r>
            <a:r>
              <a:rPr sz="3200" b="1" spc="-5" dirty="0">
                <a:latin typeface="Times New Roman"/>
                <a:cs typeface="Times New Roman"/>
              </a:rPr>
              <a:t>= </a:t>
            </a:r>
            <a:r>
              <a:rPr sz="3200" b="1" spc="-785" dirty="0">
                <a:latin typeface="Times New Roman"/>
                <a:cs typeface="Times New Roman"/>
              </a:rPr>
              <a:t> </a:t>
            </a:r>
            <a:r>
              <a:rPr sz="3200" b="1" spc="-10" dirty="0">
                <a:latin typeface="Times New Roman"/>
                <a:cs typeface="Times New Roman"/>
              </a:rPr>
              <a:t>1cm</a:t>
            </a:r>
            <a:r>
              <a:rPr sz="3150" b="1" spc="-15" baseline="25132" dirty="0">
                <a:latin typeface="Times New Roman"/>
                <a:cs typeface="Times New Roman"/>
              </a:rPr>
              <a:t>2</a:t>
            </a:r>
            <a:r>
              <a:rPr sz="3150" b="1" spc="352" baseline="25132" dirty="0">
                <a:latin typeface="Times New Roman"/>
                <a:cs typeface="Times New Roman"/>
              </a:rPr>
              <a:t> </a:t>
            </a:r>
            <a:r>
              <a:rPr sz="3200" b="1" dirty="0">
                <a:latin typeface="Times New Roman"/>
                <a:cs typeface="Times New Roman"/>
              </a:rPr>
              <a:t>then</a:t>
            </a:r>
            <a:r>
              <a:rPr sz="3200" b="1" spc="-45" dirty="0">
                <a:latin typeface="Arial"/>
                <a:cs typeface="Arial"/>
              </a:rPr>
              <a:t> </a:t>
            </a:r>
            <a:endParaRPr sz="3200">
              <a:latin typeface="Arial"/>
              <a:cs typeface="Arial"/>
            </a:endParaRPr>
          </a:p>
          <a:p>
            <a:pPr marL="1803400">
              <a:lnSpc>
                <a:spcPct val="100000"/>
              </a:lnSpc>
              <a:spcBef>
                <a:spcPts val="695"/>
              </a:spcBef>
            </a:pPr>
            <a:r>
              <a:rPr sz="3200" b="1" spc="-5" dirty="0">
                <a:latin typeface="Times New Roman"/>
                <a:cs typeface="Times New Roman"/>
              </a:rPr>
              <a:t>R</a:t>
            </a:r>
            <a:r>
              <a:rPr sz="3200" b="1" spc="-35" dirty="0">
                <a:latin typeface="Times New Roman"/>
                <a:cs typeface="Times New Roman"/>
              </a:rPr>
              <a:t> </a:t>
            </a:r>
            <a:r>
              <a:rPr sz="3200" b="1" spc="-5" dirty="0">
                <a:latin typeface="Times New Roman"/>
                <a:cs typeface="Times New Roman"/>
              </a:rPr>
              <a:t>=</a:t>
            </a:r>
            <a:r>
              <a:rPr sz="3200" b="1" spc="-45" dirty="0">
                <a:latin typeface="Times New Roman"/>
                <a:cs typeface="Times New Roman"/>
              </a:rPr>
              <a:t> </a:t>
            </a:r>
            <a:r>
              <a:rPr sz="3200" b="1" spc="15" dirty="0">
                <a:latin typeface="Times New Roman"/>
                <a:cs typeface="Times New Roman"/>
              </a:rPr>
              <a:t>ρ</a:t>
            </a:r>
            <a:r>
              <a:rPr sz="3200" b="1" spc="-45" dirty="0">
                <a:latin typeface="Arial"/>
                <a:cs typeface="Arial"/>
              </a:rPr>
              <a:t> </a:t>
            </a:r>
            <a:endParaRPr sz="3200">
              <a:latin typeface="Arial"/>
              <a:cs typeface="Arial"/>
            </a:endParaRPr>
          </a:p>
        </p:txBody>
      </p:sp>
      <p:pic>
        <p:nvPicPr>
          <p:cNvPr id="4" name="object 4"/>
          <p:cNvPicPr/>
          <p:nvPr/>
        </p:nvPicPr>
        <p:blipFill>
          <a:blip r:embed="rId2" cstate="print"/>
          <a:stretch>
            <a:fillRect/>
          </a:stretch>
        </p:blipFill>
        <p:spPr>
          <a:xfrm>
            <a:off x="838200" y="2550795"/>
            <a:ext cx="6087236" cy="861060"/>
          </a:xfrm>
          <a:prstGeom prst="rect">
            <a:avLst/>
          </a:prstGeom>
        </p:spPr>
      </p:pic>
      <p:pic>
        <p:nvPicPr>
          <p:cNvPr id="5" name="object 5"/>
          <p:cNvPicPr/>
          <p:nvPr/>
        </p:nvPicPr>
        <p:blipFill>
          <a:blip r:embed="rId3" cstate="print"/>
          <a:stretch>
            <a:fillRect/>
          </a:stretch>
        </p:blipFill>
        <p:spPr>
          <a:xfrm>
            <a:off x="990600" y="3728084"/>
            <a:ext cx="6314440" cy="668019"/>
          </a:xfrm>
          <a:prstGeom prst="rect">
            <a:avLst/>
          </a:prstGeom>
        </p:spPr>
      </p:pic>
      <p:pic>
        <p:nvPicPr>
          <p:cNvPr id="6" name="object 6"/>
          <p:cNvPicPr/>
          <p:nvPr/>
        </p:nvPicPr>
        <p:blipFill>
          <a:blip r:embed="rId4" cstate="print"/>
          <a:stretch>
            <a:fillRect/>
          </a:stretch>
        </p:blipFill>
        <p:spPr>
          <a:xfrm>
            <a:off x="457200" y="5180965"/>
            <a:ext cx="6330823" cy="33528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88644" y="367014"/>
            <a:ext cx="7988300" cy="2081338"/>
          </a:xfrm>
          <a:prstGeom prst="rect">
            <a:avLst/>
          </a:prstGeom>
        </p:spPr>
        <p:txBody>
          <a:bodyPr vert="horz" wrap="square" lIns="0" tIns="110489" rIns="0" bIns="0" rtlCol="0">
            <a:spAutoFit/>
          </a:bodyPr>
          <a:lstStyle/>
          <a:p>
            <a:pPr marL="353695" marR="5080" indent="-341630">
              <a:lnSpc>
                <a:spcPct val="99600"/>
              </a:lnSpc>
              <a:spcBef>
                <a:spcPts val="785"/>
              </a:spcBef>
              <a:buFont typeface="Microsoft Sans Serif"/>
              <a:buChar char="•"/>
              <a:tabLst>
                <a:tab pos="353695" algn="l"/>
                <a:tab pos="354330" algn="l"/>
              </a:tabLst>
            </a:pPr>
            <a:r>
              <a:rPr sz="3200" spc="-5" smtClean="0">
                <a:solidFill>
                  <a:srgbClr val="C00000"/>
                </a:solidFill>
                <a:latin typeface="Calibri"/>
                <a:cs typeface="Calibri"/>
              </a:rPr>
              <a:t>Specific</a:t>
            </a:r>
            <a:r>
              <a:rPr sz="3200" spc="-50" smtClean="0">
                <a:solidFill>
                  <a:srgbClr val="C00000"/>
                </a:solidFill>
                <a:latin typeface="Calibri"/>
                <a:cs typeface="Calibri"/>
              </a:rPr>
              <a:t> </a:t>
            </a:r>
            <a:r>
              <a:rPr sz="3200" spc="-5" dirty="0">
                <a:solidFill>
                  <a:srgbClr val="C00000"/>
                </a:solidFill>
                <a:latin typeface="Calibri"/>
                <a:cs typeface="Calibri"/>
              </a:rPr>
              <a:t>resistance</a:t>
            </a:r>
            <a:r>
              <a:rPr sz="3200" spc="-10" dirty="0">
                <a:solidFill>
                  <a:srgbClr val="C00000"/>
                </a:solidFill>
                <a:latin typeface="Calibri"/>
                <a:cs typeface="Calibri"/>
              </a:rPr>
              <a:t> </a:t>
            </a:r>
            <a:r>
              <a:rPr sz="3200" spc="-5" dirty="0">
                <a:latin typeface="Calibri"/>
                <a:cs typeface="Calibri"/>
              </a:rPr>
              <a:t>of</a:t>
            </a:r>
            <a:r>
              <a:rPr sz="3200" spc="-50" dirty="0">
                <a:latin typeface="Calibri"/>
                <a:cs typeface="Calibri"/>
              </a:rPr>
              <a:t> </a:t>
            </a:r>
            <a:r>
              <a:rPr sz="3200" spc="-5" dirty="0">
                <a:latin typeface="Calibri"/>
                <a:cs typeface="Calibri"/>
              </a:rPr>
              <a:t>a</a:t>
            </a:r>
            <a:r>
              <a:rPr sz="3200" spc="-60" dirty="0">
                <a:latin typeface="Calibri"/>
                <a:cs typeface="Calibri"/>
              </a:rPr>
              <a:t> </a:t>
            </a:r>
            <a:r>
              <a:rPr sz="3200" spc="-5" dirty="0">
                <a:latin typeface="Calibri"/>
                <a:cs typeface="Calibri"/>
              </a:rPr>
              <a:t>substance</a:t>
            </a:r>
            <a:r>
              <a:rPr sz="3200" spc="-30" dirty="0">
                <a:latin typeface="Calibri"/>
                <a:cs typeface="Calibri"/>
              </a:rPr>
              <a:t> </a:t>
            </a:r>
            <a:r>
              <a:rPr sz="3200" dirty="0">
                <a:latin typeface="Calibri"/>
                <a:cs typeface="Calibri"/>
              </a:rPr>
              <a:t>is</a:t>
            </a:r>
            <a:r>
              <a:rPr sz="3200" spc="-60" dirty="0">
                <a:latin typeface="Calibri"/>
                <a:cs typeface="Calibri"/>
              </a:rPr>
              <a:t> </a:t>
            </a:r>
            <a:r>
              <a:rPr sz="3200" dirty="0">
                <a:latin typeface="Calibri"/>
                <a:cs typeface="Calibri"/>
              </a:rPr>
              <a:t>defined</a:t>
            </a:r>
            <a:r>
              <a:rPr sz="3200" spc="-25" dirty="0">
                <a:latin typeface="Calibri"/>
                <a:cs typeface="Calibri"/>
              </a:rPr>
              <a:t> </a:t>
            </a:r>
            <a:r>
              <a:rPr sz="3200" dirty="0">
                <a:latin typeface="Calibri"/>
                <a:cs typeface="Calibri"/>
              </a:rPr>
              <a:t>as </a:t>
            </a:r>
            <a:r>
              <a:rPr sz="3200" spc="-710" dirty="0">
                <a:latin typeface="Calibri"/>
                <a:cs typeface="Calibri"/>
              </a:rPr>
              <a:t> </a:t>
            </a:r>
            <a:r>
              <a:rPr sz="3200" spc="-5" dirty="0">
                <a:latin typeface="Calibri"/>
                <a:cs typeface="Calibri"/>
              </a:rPr>
              <a:t>the</a:t>
            </a:r>
            <a:r>
              <a:rPr sz="3200" spc="-55" dirty="0">
                <a:latin typeface="Calibri"/>
                <a:cs typeface="Calibri"/>
              </a:rPr>
              <a:t> </a:t>
            </a:r>
            <a:r>
              <a:rPr sz="3200" spc="-5" dirty="0">
                <a:latin typeface="Calibri"/>
                <a:cs typeface="Calibri"/>
              </a:rPr>
              <a:t>resistance</a:t>
            </a:r>
            <a:r>
              <a:rPr sz="3200" spc="-30" dirty="0">
                <a:latin typeface="Calibri"/>
                <a:cs typeface="Calibri"/>
              </a:rPr>
              <a:t> </a:t>
            </a:r>
            <a:r>
              <a:rPr sz="3200" spc="-10" dirty="0">
                <a:latin typeface="Calibri"/>
                <a:cs typeface="Calibri"/>
              </a:rPr>
              <a:t>offered</a:t>
            </a:r>
            <a:r>
              <a:rPr sz="3200" spc="-50" dirty="0">
                <a:latin typeface="Calibri"/>
                <a:cs typeface="Calibri"/>
              </a:rPr>
              <a:t> </a:t>
            </a:r>
            <a:r>
              <a:rPr sz="3200" spc="-5" dirty="0">
                <a:latin typeface="Calibri"/>
                <a:cs typeface="Calibri"/>
              </a:rPr>
              <a:t>by</a:t>
            </a:r>
            <a:r>
              <a:rPr sz="3200" spc="-60" dirty="0">
                <a:latin typeface="Calibri"/>
                <a:cs typeface="Calibri"/>
              </a:rPr>
              <a:t> </a:t>
            </a:r>
            <a:r>
              <a:rPr sz="3200" spc="-5" dirty="0">
                <a:latin typeface="Calibri"/>
                <a:cs typeface="Calibri"/>
              </a:rPr>
              <a:t>a</a:t>
            </a:r>
            <a:r>
              <a:rPr sz="3200" spc="-25" dirty="0">
                <a:latin typeface="Calibri"/>
                <a:cs typeface="Calibri"/>
              </a:rPr>
              <a:t> </a:t>
            </a:r>
            <a:r>
              <a:rPr sz="3200" spc="-5" dirty="0">
                <a:latin typeface="Calibri"/>
                <a:cs typeface="Calibri"/>
              </a:rPr>
              <a:t>cube</a:t>
            </a:r>
            <a:r>
              <a:rPr sz="3200" spc="-35" dirty="0">
                <a:latin typeface="Calibri"/>
                <a:cs typeface="Calibri"/>
              </a:rPr>
              <a:t> </a:t>
            </a:r>
            <a:r>
              <a:rPr sz="3200" spc="-5" dirty="0">
                <a:latin typeface="Calibri"/>
                <a:cs typeface="Calibri"/>
              </a:rPr>
              <a:t>of</a:t>
            </a:r>
            <a:r>
              <a:rPr sz="3200" spc="-45" dirty="0">
                <a:latin typeface="Calibri"/>
                <a:cs typeface="Calibri"/>
              </a:rPr>
              <a:t> </a:t>
            </a:r>
            <a:r>
              <a:rPr sz="3200" dirty="0">
                <a:latin typeface="Calibri"/>
                <a:cs typeface="Calibri"/>
              </a:rPr>
              <a:t>length</a:t>
            </a:r>
            <a:r>
              <a:rPr sz="3200" spc="-15" dirty="0">
                <a:latin typeface="Calibri"/>
                <a:cs typeface="Calibri"/>
              </a:rPr>
              <a:t> </a:t>
            </a:r>
            <a:r>
              <a:rPr sz="3200" spc="-10" dirty="0">
                <a:latin typeface="Calibri"/>
                <a:cs typeface="Calibri"/>
              </a:rPr>
              <a:t>1cm </a:t>
            </a:r>
            <a:r>
              <a:rPr sz="3200" spc="-705" dirty="0">
                <a:latin typeface="Calibri"/>
                <a:cs typeface="Calibri"/>
              </a:rPr>
              <a:t> </a:t>
            </a:r>
            <a:r>
              <a:rPr sz="3200" spc="-5" dirty="0">
                <a:latin typeface="Calibri"/>
                <a:cs typeface="Calibri"/>
              </a:rPr>
              <a:t>and</a:t>
            </a:r>
            <a:r>
              <a:rPr sz="3200" dirty="0">
                <a:latin typeface="Calibri"/>
                <a:cs typeface="Calibri"/>
              </a:rPr>
              <a:t> </a:t>
            </a:r>
            <a:r>
              <a:rPr sz="3200" spc="-10" dirty="0">
                <a:latin typeface="Calibri"/>
                <a:cs typeface="Calibri"/>
              </a:rPr>
              <a:t>area</a:t>
            </a:r>
            <a:r>
              <a:rPr sz="3200" spc="-5" dirty="0">
                <a:latin typeface="Calibri"/>
                <a:cs typeface="Calibri"/>
              </a:rPr>
              <a:t> of cross</a:t>
            </a:r>
            <a:r>
              <a:rPr sz="3200" spc="5" dirty="0">
                <a:latin typeface="Calibri"/>
                <a:cs typeface="Calibri"/>
              </a:rPr>
              <a:t> </a:t>
            </a:r>
            <a:r>
              <a:rPr sz="3200" spc="-5" dirty="0">
                <a:latin typeface="Calibri"/>
                <a:cs typeface="Calibri"/>
              </a:rPr>
              <a:t>section</a:t>
            </a:r>
            <a:r>
              <a:rPr sz="3200" dirty="0">
                <a:latin typeface="Calibri"/>
                <a:cs typeface="Calibri"/>
              </a:rPr>
              <a:t> </a:t>
            </a:r>
            <a:r>
              <a:rPr sz="3200" spc="-5" dirty="0">
                <a:latin typeface="Calibri"/>
                <a:cs typeface="Calibri"/>
              </a:rPr>
              <a:t>A,</a:t>
            </a:r>
            <a:r>
              <a:rPr sz="3200" spc="10" dirty="0">
                <a:latin typeface="Calibri"/>
                <a:cs typeface="Calibri"/>
              </a:rPr>
              <a:t> </a:t>
            </a:r>
            <a:r>
              <a:rPr sz="3200" spc="-10" dirty="0">
                <a:latin typeface="Calibri"/>
                <a:cs typeface="Calibri"/>
              </a:rPr>
              <a:t>1cm2,</a:t>
            </a:r>
            <a:r>
              <a:rPr sz="3200" spc="-15" dirty="0">
                <a:latin typeface="Calibri"/>
                <a:cs typeface="Calibri"/>
              </a:rPr>
              <a:t> </a:t>
            </a:r>
            <a:r>
              <a:rPr sz="3200" spc="-5" dirty="0">
                <a:latin typeface="Calibri"/>
                <a:cs typeface="Calibri"/>
              </a:rPr>
              <a:t>to</a:t>
            </a:r>
            <a:r>
              <a:rPr sz="3200" spc="20" dirty="0">
                <a:latin typeface="Calibri"/>
                <a:cs typeface="Calibri"/>
              </a:rPr>
              <a:t> </a:t>
            </a:r>
            <a:r>
              <a:rPr sz="3200" spc="-5" dirty="0">
                <a:latin typeface="Calibri"/>
                <a:cs typeface="Calibri"/>
              </a:rPr>
              <a:t>passage </a:t>
            </a:r>
            <a:r>
              <a:rPr sz="3200" dirty="0">
                <a:latin typeface="Calibri"/>
                <a:cs typeface="Calibri"/>
              </a:rPr>
              <a:t> </a:t>
            </a:r>
            <a:r>
              <a:rPr sz="3200" spc="-5" dirty="0">
                <a:latin typeface="Calibri"/>
                <a:cs typeface="Calibri"/>
              </a:rPr>
              <a:t>of</a:t>
            </a:r>
            <a:r>
              <a:rPr sz="3200" spc="-25" dirty="0">
                <a:latin typeface="Calibri"/>
                <a:cs typeface="Calibri"/>
              </a:rPr>
              <a:t> </a:t>
            </a:r>
            <a:r>
              <a:rPr sz="3200" spc="-5" dirty="0">
                <a:latin typeface="Calibri"/>
                <a:cs typeface="Calibri"/>
              </a:rPr>
              <a:t>electricity</a:t>
            </a:r>
            <a:r>
              <a:rPr sz="3200" dirty="0">
                <a:latin typeface="Calibri"/>
                <a:cs typeface="Calibri"/>
              </a:rPr>
              <a:t> </a:t>
            </a:r>
            <a:r>
              <a:rPr sz="3200" spc="-5" dirty="0">
                <a:latin typeface="Calibri"/>
                <a:cs typeface="Calibri"/>
              </a:rPr>
              <a:t>through</a:t>
            </a:r>
            <a:r>
              <a:rPr sz="3200" spc="20" dirty="0">
                <a:latin typeface="Calibri"/>
                <a:cs typeface="Calibri"/>
              </a:rPr>
              <a:t> </a:t>
            </a:r>
            <a:r>
              <a:rPr sz="3200" dirty="0">
                <a:latin typeface="Calibri"/>
                <a:cs typeface="Calibri"/>
              </a:rPr>
              <a:t>it.</a:t>
            </a:r>
            <a:r>
              <a:rPr sz="3200" dirty="0">
                <a:solidFill>
                  <a:srgbClr val="C00000"/>
                </a:solidFill>
                <a:latin typeface="Microsoft Sans Serif"/>
                <a:cs typeface="Microsoft Sans Serif"/>
              </a:rPr>
              <a:t> </a:t>
            </a:r>
            <a:endParaRPr sz="3200">
              <a:latin typeface="Microsoft Sans Serif"/>
              <a:cs typeface="Microsoft Sans Serif"/>
            </a:endParaRPr>
          </a:p>
        </p:txBody>
      </p:sp>
      <p:sp>
        <p:nvSpPr>
          <p:cNvPr id="3" name="object 3"/>
          <p:cNvSpPr txBox="1"/>
          <p:nvPr/>
        </p:nvSpPr>
        <p:spPr>
          <a:xfrm>
            <a:off x="688644" y="4835728"/>
            <a:ext cx="4777105" cy="512445"/>
          </a:xfrm>
          <a:prstGeom prst="rect">
            <a:avLst/>
          </a:prstGeom>
        </p:spPr>
        <p:txBody>
          <a:bodyPr vert="horz" wrap="square" lIns="0" tIns="12065" rIns="0" bIns="0" rtlCol="0">
            <a:spAutoFit/>
          </a:bodyPr>
          <a:lstStyle/>
          <a:p>
            <a:pPr marL="353695" indent="-341630">
              <a:lnSpc>
                <a:spcPct val="100000"/>
              </a:lnSpc>
              <a:spcBef>
                <a:spcPts val="95"/>
              </a:spcBef>
              <a:buFont typeface="Microsoft Sans Serif"/>
              <a:buChar char="•"/>
              <a:tabLst>
                <a:tab pos="353695" algn="l"/>
                <a:tab pos="354330" algn="l"/>
              </a:tabLst>
            </a:pPr>
            <a:r>
              <a:rPr sz="3200" spc="-10" dirty="0">
                <a:latin typeface="Calibri"/>
                <a:cs typeface="Calibri"/>
              </a:rPr>
              <a:t>Hence</a:t>
            </a:r>
            <a:r>
              <a:rPr sz="3200" spc="-50" dirty="0">
                <a:latin typeface="Calibri"/>
                <a:cs typeface="Calibri"/>
              </a:rPr>
              <a:t> </a:t>
            </a:r>
            <a:r>
              <a:rPr sz="3200" spc="-5" dirty="0">
                <a:latin typeface="Calibri"/>
                <a:cs typeface="Calibri"/>
              </a:rPr>
              <a:t>unit</a:t>
            </a:r>
            <a:r>
              <a:rPr sz="3200" dirty="0">
                <a:latin typeface="Calibri"/>
                <a:cs typeface="Calibri"/>
              </a:rPr>
              <a:t> </a:t>
            </a:r>
            <a:r>
              <a:rPr sz="3200" spc="-5" dirty="0">
                <a:latin typeface="Calibri"/>
                <a:cs typeface="Calibri"/>
              </a:rPr>
              <a:t>of ρ</a:t>
            </a:r>
            <a:r>
              <a:rPr sz="3200" spc="-10" dirty="0">
                <a:latin typeface="Calibri"/>
                <a:cs typeface="Calibri"/>
              </a:rPr>
              <a:t> </a:t>
            </a:r>
            <a:r>
              <a:rPr sz="3200" dirty="0">
                <a:latin typeface="Calibri"/>
                <a:cs typeface="Calibri"/>
              </a:rPr>
              <a:t>is</a:t>
            </a:r>
            <a:r>
              <a:rPr sz="3200" spc="-15" dirty="0">
                <a:latin typeface="Calibri"/>
                <a:cs typeface="Calibri"/>
              </a:rPr>
              <a:t> </a:t>
            </a:r>
            <a:r>
              <a:rPr sz="3200" spc="-5" dirty="0">
                <a:latin typeface="Calibri"/>
                <a:cs typeface="Calibri"/>
              </a:rPr>
              <a:t>ohm.cm</a:t>
            </a:r>
            <a:r>
              <a:rPr sz="3200" dirty="0">
                <a:latin typeface="Microsoft Sans Serif"/>
                <a:cs typeface="Microsoft Sans Serif"/>
              </a:rPr>
              <a:t> </a:t>
            </a:r>
            <a:endParaRPr sz="3200">
              <a:latin typeface="Microsoft Sans Serif"/>
              <a:cs typeface="Microsoft Sans Serif"/>
            </a:endParaRPr>
          </a:p>
        </p:txBody>
      </p:sp>
      <p:pic>
        <p:nvPicPr>
          <p:cNvPr id="4" name="object 4"/>
          <p:cNvPicPr/>
          <p:nvPr/>
        </p:nvPicPr>
        <p:blipFill>
          <a:blip r:embed="rId2" cstate="print"/>
          <a:stretch>
            <a:fillRect/>
          </a:stretch>
        </p:blipFill>
        <p:spPr>
          <a:xfrm>
            <a:off x="1476375" y="3774465"/>
            <a:ext cx="1570989" cy="685520"/>
          </a:xfrm>
          <a:prstGeom prst="rect">
            <a:avLst/>
          </a:prstGeom>
        </p:spPr>
      </p:pic>
      <p:pic>
        <p:nvPicPr>
          <p:cNvPr id="5" name="object 5"/>
          <p:cNvPicPr/>
          <p:nvPr/>
        </p:nvPicPr>
        <p:blipFill>
          <a:blip r:embed="rId3" cstate="print"/>
          <a:stretch>
            <a:fillRect/>
          </a:stretch>
        </p:blipFill>
        <p:spPr>
          <a:xfrm>
            <a:off x="4542790" y="3800475"/>
            <a:ext cx="3962400" cy="67183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1350" y="3409696"/>
            <a:ext cx="1123950" cy="476249"/>
          </a:xfrm>
          <a:prstGeom prst="rect">
            <a:avLst/>
          </a:prstGeom>
        </p:spPr>
      </p:pic>
      <p:pic>
        <p:nvPicPr>
          <p:cNvPr id="3" name="object 3"/>
          <p:cNvPicPr/>
          <p:nvPr/>
        </p:nvPicPr>
        <p:blipFill>
          <a:blip r:embed="rId3" cstate="print"/>
          <a:stretch>
            <a:fillRect/>
          </a:stretch>
        </p:blipFill>
        <p:spPr>
          <a:xfrm>
            <a:off x="6569075" y="3352165"/>
            <a:ext cx="1606550" cy="1358265"/>
          </a:xfrm>
          <a:prstGeom prst="rect">
            <a:avLst/>
          </a:prstGeom>
        </p:spPr>
      </p:pic>
      <p:sp>
        <p:nvSpPr>
          <p:cNvPr id="4" name="object 4"/>
          <p:cNvSpPr txBox="1"/>
          <p:nvPr/>
        </p:nvSpPr>
        <p:spPr>
          <a:xfrm>
            <a:off x="7192136" y="3338576"/>
            <a:ext cx="52705" cy="132080"/>
          </a:xfrm>
          <a:prstGeom prst="rect">
            <a:avLst/>
          </a:prstGeom>
        </p:spPr>
        <p:txBody>
          <a:bodyPr vert="horz" wrap="square" lIns="0" tIns="12065" rIns="0" bIns="0" rtlCol="0">
            <a:spAutoFit/>
          </a:bodyPr>
          <a:lstStyle/>
          <a:p>
            <a:pPr marL="12700">
              <a:lnSpc>
                <a:spcPct val="100000"/>
              </a:lnSpc>
              <a:spcBef>
                <a:spcPts val="95"/>
              </a:spcBef>
            </a:pPr>
            <a:r>
              <a:rPr sz="700" spc="-5" dirty="0">
                <a:latin typeface="Calibri"/>
                <a:cs typeface="Calibri"/>
              </a:rPr>
              <a:t>-</a:t>
            </a:r>
            <a:endParaRPr sz="700">
              <a:latin typeface="Calibri"/>
              <a:cs typeface="Calibri"/>
            </a:endParaRPr>
          </a:p>
        </p:txBody>
      </p:sp>
      <p:sp>
        <p:nvSpPr>
          <p:cNvPr id="5" name="object 5"/>
          <p:cNvSpPr txBox="1"/>
          <p:nvPr/>
        </p:nvSpPr>
        <p:spPr>
          <a:xfrm>
            <a:off x="6667627" y="3677158"/>
            <a:ext cx="69850" cy="132080"/>
          </a:xfrm>
          <a:prstGeom prst="rect">
            <a:avLst/>
          </a:prstGeom>
        </p:spPr>
        <p:txBody>
          <a:bodyPr vert="horz" wrap="square" lIns="0" tIns="12065" rIns="0" bIns="0" rtlCol="0">
            <a:spAutoFit/>
          </a:bodyPr>
          <a:lstStyle/>
          <a:p>
            <a:pPr marL="12700">
              <a:lnSpc>
                <a:spcPct val="100000"/>
              </a:lnSpc>
              <a:spcBef>
                <a:spcPts val="95"/>
              </a:spcBef>
            </a:pPr>
            <a:r>
              <a:rPr sz="700" spc="-5" dirty="0">
                <a:latin typeface="Calibri"/>
                <a:cs typeface="Calibri"/>
              </a:rPr>
              <a:t>+</a:t>
            </a:r>
            <a:endParaRPr sz="700">
              <a:latin typeface="Calibri"/>
              <a:cs typeface="Calibri"/>
            </a:endParaRPr>
          </a:p>
        </p:txBody>
      </p:sp>
      <p:sp>
        <p:nvSpPr>
          <p:cNvPr id="6" name="object 6"/>
          <p:cNvSpPr txBox="1"/>
          <p:nvPr/>
        </p:nvSpPr>
        <p:spPr>
          <a:xfrm>
            <a:off x="7591806" y="3924046"/>
            <a:ext cx="52705" cy="132080"/>
          </a:xfrm>
          <a:prstGeom prst="rect">
            <a:avLst/>
          </a:prstGeom>
        </p:spPr>
        <p:txBody>
          <a:bodyPr vert="horz" wrap="square" lIns="0" tIns="12065" rIns="0" bIns="0" rtlCol="0">
            <a:spAutoFit/>
          </a:bodyPr>
          <a:lstStyle/>
          <a:p>
            <a:pPr marL="12700">
              <a:lnSpc>
                <a:spcPct val="100000"/>
              </a:lnSpc>
              <a:spcBef>
                <a:spcPts val="95"/>
              </a:spcBef>
            </a:pPr>
            <a:r>
              <a:rPr sz="700" spc="-5" dirty="0">
                <a:latin typeface="Calibri"/>
                <a:cs typeface="Calibri"/>
              </a:rPr>
              <a:t>-</a:t>
            </a:r>
            <a:endParaRPr sz="700">
              <a:latin typeface="Calibri"/>
              <a:cs typeface="Calibri"/>
            </a:endParaRPr>
          </a:p>
        </p:txBody>
      </p:sp>
      <p:sp>
        <p:nvSpPr>
          <p:cNvPr id="7" name="object 7"/>
          <p:cNvSpPr txBox="1"/>
          <p:nvPr/>
        </p:nvSpPr>
        <p:spPr>
          <a:xfrm>
            <a:off x="7984997" y="3856990"/>
            <a:ext cx="244475" cy="132080"/>
          </a:xfrm>
          <a:prstGeom prst="rect">
            <a:avLst/>
          </a:prstGeom>
        </p:spPr>
        <p:txBody>
          <a:bodyPr vert="horz" wrap="square" lIns="0" tIns="12065" rIns="0" bIns="0" rtlCol="0">
            <a:spAutoFit/>
          </a:bodyPr>
          <a:lstStyle/>
          <a:p>
            <a:pPr marL="12700">
              <a:lnSpc>
                <a:spcPct val="100000"/>
              </a:lnSpc>
              <a:spcBef>
                <a:spcPts val="95"/>
              </a:spcBef>
            </a:pPr>
            <a:r>
              <a:rPr sz="700" spc="-5" dirty="0">
                <a:latin typeface="Times New Roman"/>
                <a:cs typeface="Times New Roman"/>
              </a:rPr>
              <a:t>a</a:t>
            </a:r>
            <a:r>
              <a:rPr sz="700" spc="5" dirty="0">
                <a:latin typeface="Times New Roman"/>
                <a:cs typeface="Times New Roman"/>
              </a:rPr>
              <a:t>n</a:t>
            </a:r>
            <a:r>
              <a:rPr sz="700" spc="30" dirty="0">
                <a:latin typeface="Times New Roman"/>
                <a:cs typeface="Times New Roman"/>
              </a:rPr>
              <a:t>o</a:t>
            </a:r>
            <a:r>
              <a:rPr sz="700" spc="5" dirty="0">
                <a:latin typeface="Times New Roman"/>
                <a:cs typeface="Times New Roman"/>
              </a:rPr>
              <a:t>d</a:t>
            </a:r>
            <a:r>
              <a:rPr sz="700" spc="-5" dirty="0">
                <a:latin typeface="Times New Roman"/>
                <a:cs typeface="Times New Roman"/>
              </a:rPr>
              <a:t>e</a:t>
            </a:r>
            <a:endParaRPr sz="700">
              <a:latin typeface="Times New Roman"/>
              <a:cs typeface="Times New Roman"/>
            </a:endParaRPr>
          </a:p>
        </p:txBody>
      </p:sp>
      <p:sp>
        <p:nvSpPr>
          <p:cNvPr id="8" name="object 8"/>
          <p:cNvSpPr txBox="1"/>
          <p:nvPr/>
        </p:nvSpPr>
        <p:spPr>
          <a:xfrm>
            <a:off x="7067168" y="4262754"/>
            <a:ext cx="69850" cy="132080"/>
          </a:xfrm>
          <a:prstGeom prst="rect">
            <a:avLst/>
          </a:prstGeom>
        </p:spPr>
        <p:txBody>
          <a:bodyPr vert="horz" wrap="square" lIns="0" tIns="12065" rIns="0" bIns="0" rtlCol="0">
            <a:spAutoFit/>
          </a:bodyPr>
          <a:lstStyle/>
          <a:p>
            <a:pPr marL="12700">
              <a:lnSpc>
                <a:spcPct val="100000"/>
              </a:lnSpc>
              <a:spcBef>
                <a:spcPts val="95"/>
              </a:spcBef>
            </a:pPr>
            <a:r>
              <a:rPr sz="700" spc="-5" dirty="0">
                <a:latin typeface="Calibri"/>
                <a:cs typeface="Calibri"/>
              </a:rPr>
              <a:t>+</a:t>
            </a:r>
            <a:endParaRPr sz="700">
              <a:latin typeface="Calibri"/>
              <a:cs typeface="Calibri"/>
            </a:endParaRPr>
          </a:p>
        </p:txBody>
      </p:sp>
      <p:sp>
        <p:nvSpPr>
          <p:cNvPr id="9" name="object 9"/>
          <p:cNvSpPr txBox="1"/>
          <p:nvPr/>
        </p:nvSpPr>
        <p:spPr>
          <a:xfrm>
            <a:off x="460044" y="237108"/>
            <a:ext cx="8042909" cy="3249295"/>
          </a:xfrm>
          <a:prstGeom prst="rect">
            <a:avLst/>
          </a:prstGeom>
        </p:spPr>
        <p:txBody>
          <a:bodyPr vert="horz" wrap="square" lIns="0" tIns="92075" rIns="0" bIns="0" rtlCol="0">
            <a:spAutoFit/>
          </a:bodyPr>
          <a:lstStyle/>
          <a:p>
            <a:pPr marL="353695" indent="-341630">
              <a:lnSpc>
                <a:spcPct val="100000"/>
              </a:lnSpc>
              <a:spcBef>
                <a:spcPts val="725"/>
              </a:spcBef>
              <a:buFont typeface="Microsoft Sans Serif"/>
              <a:buChar char="•"/>
              <a:tabLst>
                <a:tab pos="353695" algn="l"/>
                <a:tab pos="354330" algn="l"/>
              </a:tabLst>
            </a:pPr>
            <a:r>
              <a:rPr sz="2400" dirty="0">
                <a:solidFill>
                  <a:srgbClr val="C00000"/>
                </a:solidFill>
                <a:latin typeface="Calibri"/>
                <a:cs typeface="Calibri"/>
              </a:rPr>
              <a:t>Specific</a:t>
            </a:r>
            <a:r>
              <a:rPr sz="2400" spc="-60" dirty="0">
                <a:solidFill>
                  <a:srgbClr val="C00000"/>
                </a:solidFill>
                <a:latin typeface="Calibri"/>
                <a:cs typeface="Calibri"/>
              </a:rPr>
              <a:t> </a:t>
            </a:r>
            <a:r>
              <a:rPr sz="2400" spc="-5" dirty="0">
                <a:solidFill>
                  <a:srgbClr val="C00000"/>
                </a:solidFill>
                <a:latin typeface="Calibri"/>
                <a:cs typeface="Calibri"/>
              </a:rPr>
              <a:t>Conductance</a:t>
            </a:r>
            <a:r>
              <a:rPr sz="2400" spc="-70" dirty="0">
                <a:solidFill>
                  <a:srgbClr val="C00000"/>
                </a:solidFill>
                <a:latin typeface="Calibri"/>
                <a:cs typeface="Calibri"/>
              </a:rPr>
              <a:t> </a:t>
            </a:r>
            <a:r>
              <a:rPr sz="2400" spc="-5" dirty="0">
                <a:solidFill>
                  <a:srgbClr val="C00000"/>
                </a:solidFill>
                <a:latin typeface="Calibri"/>
                <a:cs typeface="Calibri"/>
              </a:rPr>
              <a:t>(K):</a:t>
            </a:r>
            <a:r>
              <a:rPr sz="2400" dirty="0">
                <a:solidFill>
                  <a:srgbClr val="C00000"/>
                </a:solidFill>
                <a:latin typeface="Microsoft Sans Serif"/>
                <a:cs typeface="Microsoft Sans Serif"/>
              </a:rPr>
              <a:t> </a:t>
            </a:r>
            <a:endParaRPr sz="2400">
              <a:latin typeface="Microsoft Sans Serif"/>
              <a:cs typeface="Microsoft Sans Serif"/>
            </a:endParaRPr>
          </a:p>
          <a:p>
            <a:pPr marL="353695" marR="5080" indent="-341630">
              <a:lnSpc>
                <a:spcPct val="100800"/>
              </a:lnSpc>
              <a:spcBef>
                <a:spcPts val="605"/>
              </a:spcBef>
              <a:buFont typeface="Microsoft Sans Serif"/>
              <a:buChar char="•"/>
              <a:tabLst>
                <a:tab pos="353695" algn="l"/>
                <a:tab pos="354330" algn="l"/>
              </a:tabLst>
            </a:pPr>
            <a:r>
              <a:rPr sz="2400" dirty="0">
                <a:latin typeface="Calibri"/>
                <a:cs typeface="Calibri"/>
              </a:rPr>
              <a:t>The </a:t>
            </a:r>
            <a:r>
              <a:rPr sz="2400" spc="-5" dirty="0">
                <a:latin typeface="Calibri"/>
                <a:cs typeface="Calibri"/>
              </a:rPr>
              <a:t>specific conductance </a:t>
            </a:r>
            <a:r>
              <a:rPr sz="2400" dirty="0">
                <a:latin typeface="Calibri"/>
                <a:cs typeface="Calibri"/>
              </a:rPr>
              <a:t>of any </a:t>
            </a:r>
            <a:r>
              <a:rPr sz="2400" spc="-5" dirty="0">
                <a:latin typeface="Calibri"/>
                <a:cs typeface="Calibri"/>
              </a:rPr>
              <a:t>conductor </a:t>
            </a:r>
            <a:r>
              <a:rPr sz="2400" dirty="0">
                <a:latin typeface="Calibri"/>
                <a:cs typeface="Calibri"/>
              </a:rPr>
              <a:t>is </a:t>
            </a:r>
            <a:r>
              <a:rPr sz="2400" spc="-5" dirty="0">
                <a:latin typeface="Calibri"/>
                <a:cs typeface="Calibri"/>
              </a:rPr>
              <a:t>the reciprocal </a:t>
            </a:r>
            <a:r>
              <a:rPr sz="2400" spc="-20" dirty="0">
                <a:latin typeface="Calibri"/>
                <a:cs typeface="Calibri"/>
              </a:rPr>
              <a:t>of </a:t>
            </a:r>
            <a:r>
              <a:rPr sz="2400" spc="-530" dirty="0">
                <a:latin typeface="Calibri"/>
                <a:cs typeface="Calibri"/>
              </a:rPr>
              <a:t> </a:t>
            </a:r>
            <a:r>
              <a:rPr sz="2400" dirty="0">
                <a:latin typeface="Calibri"/>
                <a:cs typeface="Calibri"/>
              </a:rPr>
              <a:t>sp.</a:t>
            </a:r>
            <a:r>
              <a:rPr sz="2400" spc="-75" dirty="0">
                <a:latin typeface="Calibri"/>
                <a:cs typeface="Calibri"/>
              </a:rPr>
              <a:t> </a:t>
            </a:r>
            <a:r>
              <a:rPr sz="2400" spc="-5" dirty="0">
                <a:latin typeface="Calibri"/>
                <a:cs typeface="Calibri"/>
              </a:rPr>
              <a:t>Resistance.</a:t>
            </a:r>
            <a:endParaRPr sz="2400">
              <a:latin typeface="Calibri"/>
              <a:cs typeface="Calibri"/>
            </a:endParaRPr>
          </a:p>
          <a:p>
            <a:pPr>
              <a:lnSpc>
                <a:spcPct val="100000"/>
              </a:lnSpc>
              <a:spcBef>
                <a:spcPts val="35"/>
              </a:spcBef>
              <a:buChar char="•"/>
            </a:pPr>
            <a:endParaRPr sz="3250">
              <a:latin typeface="Calibri"/>
              <a:cs typeface="Calibri"/>
            </a:endParaRPr>
          </a:p>
          <a:p>
            <a:pPr marL="353695" marR="339090" indent="-341630">
              <a:lnSpc>
                <a:spcPct val="99500"/>
              </a:lnSpc>
              <a:buFont typeface="Microsoft Sans Serif"/>
              <a:buChar char="•"/>
              <a:tabLst>
                <a:tab pos="353695" algn="l"/>
                <a:tab pos="354330" algn="l"/>
              </a:tabLst>
            </a:pPr>
            <a:r>
              <a:rPr sz="2400" dirty="0">
                <a:latin typeface="Calibri"/>
                <a:cs typeface="Calibri"/>
              </a:rPr>
              <a:t>Sp.</a:t>
            </a:r>
            <a:r>
              <a:rPr sz="2400" spc="-10" dirty="0">
                <a:latin typeface="Calibri"/>
                <a:cs typeface="Calibri"/>
              </a:rPr>
              <a:t> </a:t>
            </a:r>
            <a:r>
              <a:rPr sz="2400" spc="-5" dirty="0">
                <a:latin typeface="Calibri"/>
                <a:cs typeface="Calibri"/>
              </a:rPr>
              <a:t>Conductance</a:t>
            </a:r>
            <a:r>
              <a:rPr sz="2400" spc="-10" dirty="0">
                <a:latin typeface="Calibri"/>
                <a:cs typeface="Calibri"/>
              </a:rPr>
              <a:t> </a:t>
            </a:r>
            <a:r>
              <a:rPr sz="2400" spc="-5" dirty="0">
                <a:latin typeface="Calibri"/>
                <a:cs typeface="Calibri"/>
              </a:rPr>
              <a:t>of</a:t>
            </a:r>
            <a:r>
              <a:rPr sz="2400" spc="15" dirty="0">
                <a:latin typeface="Calibri"/>
                <a:cs typeface="Calibri"/>
              </a:rPr>
              <a:t> </a:t>
            </a:r>
            <a:r>
              <a:rPr sz="2400" dirty="0">
                <a:latin typeface="Calibri"/>
                <a:cs typeface="Calibri"/>
              </a:rPr>
              <a:t>a</a:t>
            </a:r>
            <a:r>
              <a:rPr sz="2400" spc="-15" dirty="0">
                <a:latin typeface="Calibri"/>
                <a:cs typeface="Calibri"/>
              </a:rPr>
              <a:t> </a:t>
            </a:r>
            <a:r>
              <a:rPr sz="2400" spc="-5" dirty="0">
                <a:latin typeface="Calibri"/>
                <a:cs typeface="Calibri"/>
              </a:rPr>
              <a:t>solution</a:t>
            </a:r>
            <a:r>
              <a:rPr sz="2400" spc="10" dirty="0">
                <a:latin typeface="Calibri"/>
                <a:cs typeface="Calibri"/>
              </a:rPr>
              <a:t> </a:t>
            </a:r>
            <a:r>
              <a:rPr sz="2400" spc="-5" dirty="0">
                <a:latin typeface="Calibri"/>
                <a:cs typeface="Calibri"/>
              </a:rPr>
              <a:t>can </a:t>
            </a:r>
            <a:r>
              <a:rPr sz="2400" spc="-10" dirty="0">
                <a:latin typeface="Calibri"/>
                <a:cs typeface="Calibri"/>
              </a:rPr>
              <a:t>be</a:t>
            </a:r>
            <a:r>
              <a:rPr sz="2400" spc="5" dirty="0">
                <a:latin typeface="Calibri"/>
                <a:cs typeface="Calibri"/>
              </a:rPr>
              <a:t> </a:t>
            </a:r>
            <a:r>
              <a:rPr sz="2400" spc="-5" dirty="0">
                <a:latin typeface="Calibri"/>
                <a:cs typeface="Calibri"/>
              </a:rPr>
              <a:t>defined</a:t>
            </a:r>
            <a:r>
              <a:rPr sz="2400" dirty="0">
                <a:latin typeface="Calibri"/>
                <a:cs typeface="Calibri"/>
              </a:rPr>
              <a:t> as</a:t>
            </a:r>
            <a:r>
              <a:rPr sz="2400" spc="-15" dirty="0">
                <a:latin typeface="Calibri"/>
                <a:cs typeface="Calibri"/>
              </a:rPr>
              <a:t> </a:t>
            </a:r>
            <a:r>
              <a:rPr sz="2400" spc="-5" dirty="0">
                <a:latin typeface="Calibri"/>
                <a:cs typeface="Calibri"/>
              </a:rPr>
              <a:t>the </a:t>
            </a:r>
            <a:r>
              <a:rPr sz="2400" dirty="0">
                <a:latin typeface="Calibri"/>
                <a:cs typeface="Calibri"/>
              </a:rPr>
              <a:t> </a:t>
            </a:r>
            <a:r>
              <a:rPr sz="2400" spc="-5" dirty="0">
                <a:latin typeface="Calibri"/>
                <a:cs typeface="Calibri"/>
              </a:rPr>
              <a:t>conductance</a:t>
            </a:r>
            <a:r>
              <a:rPr sz="2400" spc="-15" dirty="0">
                <a:latin typeface="Calibri"/>
                <a:cs typeface="Calibri"/>
              </a:rPr>
              <a:t> </a:t>
            </a:r>
            <a:r>
              <a:rPr sz="2400" spc="-5" dirty="0">
                <a:latin typeface="Calibri"/>
                <a:cs typeface="Calibri"/>
              </a:rPr>
              <a:t>of</a:t>
            </a:r>
            <a:r>
              <a:rPr sz="2400" dirty="0">
                <a:latin typeface="Calibri"/>
                <a:cs typeface="Calibri"/>
              </a:rPr>
              <a:t> </a:t>
            </a:r>
            <a:r>
              <a:rPr sz="2400" spc="-5" dirty="0">
                <a:latin typeface="Calibri"/>
                <a:cs typeface="Calibri"/>
              </a:rPr>
              <a:t>solution between two</a:t>
            </a:r>
            <a:r>
              <a:rPr sz="2400" spc="15" dirty="0">
                <a:latin typeface="Calibri"/>
                <a:cs typeface="Calibri"/>
              </a:rPr>
              <a:t> </a:t>
            </a:r>
            <a:r>
              <a:rPr sz="2400" spc="-5" dirty="0">
                <a:latin typeface="Calibri"/>
                <a:cs typeface="Calibri"/>
              </a:rPr>
              <a:t>parallel</a:t>
            </a:r>
            <a:r>
              <a:rPr sz="2400" spc="-10" dirty="0">
                <a:latin typeface="Calibri"/>
                <a:cs typeface="Calibri"/>
              </a:rPr>
              <a:t> </a:t>
            </a:r>
            <a:r>
              <a:rPr sz="2400" spc="-5" dirty="0">
                <a:latin typeface="Calibri"/>
                <a:cs typeface="Calibri"/>
              </a:rPr>
              <a:t>electrodes </a:t>
            </a:r>
            <a:r>
              <a:rPr sz="2400" dirty="0">
                <a:latin typeface="Calibri"/>
                <a:cs typeface="Calibri"/>
              </a:rPr>
              <a:t> </a:t>
            </a:r>
            <a:r>
              <a:rPr sz="2400" spc="-5" dirty="0">
                <a:latin typeface="Calibri"/>
                <a:cs typeface="Calibri"/>
              </a:rPr>
              <a:t>which</a:t>
            </a:r>
            <a:r>
              <a:rPr sz="2400" spc="-30" dirty="0">
                <a:latin typeface="Calibri"/>
                <a:cs typeface="Calibri"/>
              </a:rPr>
              <a:t> </a:t>
            </a:r>
            <a:r>
              <a:rPr sz="2400" dirty="0">
                <a:latin typeface="Calibri"/>
                <a:cs typeface="Calibri"/>
              </a:rPr>
              <a:t>have</a:t>
            </a:r>
            <a:r>
              <a:rPr sz="2400" spc="-30" dirty="0">
                <a:latin typeface="Calibri"/>
                <a:cs typeface="Calibri"/>
              </a:rPr>
              <a:t> </a:t>
            </a:r>
            <a:r>
              <a:rPr sz="2400" spc="-5" dirty="0">
                <a:latin typeface="Calibri"/>
                <a:cs typeface="Calibri"/>
              </a:rPr>
              <a:t>cross</a:t>
            </a:r>
            <a:r>
              <a:rPr sz="2400" spc="-50" dirty="0">
                <a:latin typeface="Calibri"/>
                <a:cs typeface="Calibri"/>
              </a:rPr>
              <a:t> </a:t>
            </a:r>
            <a:r>
              <a:rPr sz="2400" spc="-10" dirty="0">
                <a:latin typeface="Calibri"/>
                <a:cs typeface="Calibri"/>
              </a:rPr>
              <a:t>section</a:t>
            </a:r>
            <a:r>
              <a:rPr sz="2400" spc="-40" dirty="0">
                <a:latin typeface="Calibri"/>
                <a:cs typeface="Calibri"/>
              </a:rPr>
              <a:t> </a:t>
            </a:r>
            <a:r>
              <a:rPr sz="2400" dirty="0">
                <a:latin typeface="Calibri"/>
                <a:cs typeface="Calibri"/>
              </a:rPr>
              <a:t>area</a:t>
            </a:r>
            <a:r>
              <a:rPr sz="2400" spc="-35" dirty="0">
                <a:latin typeface="Calibri"/>
                <a:cs typeface="Calibri"/>
              </a:rPr>
              <a:t> </a:t>
            </a:r>
            <a:r>
              <a:rPr sz="2400" dirty="0">
                <a:latin typeface="Calibri"/>
                <a:cs typeface="Calibri"/>
              </a:rPr>
              <a:t>1</a:t>
            </a:r>
            <a:r>
              <a:rPr sz="2400" spc="-35" dirty="0">
                <a:latin typeface="Calibri"/>
                <a:cs typeface="Calibri"/>
              </a:rPr>
              <a:t> </a:t>
            </a:r>
            <a:r>
              <a:rPr sz="2400" spc="-5" dirty="0">
                <a:latin typeface="Calibri"/>
                <a:cs typeface="Calibri"/>
              </a:rPr>
              <a:t>cm2</a:t>
            </a:r>
            <a:r>
              <a:rPr sz="2400" spc="-35" dirty="0">
                <a:latin typeface="Calibri"/>
                <a:cs typeface="Calibri"/>
              </a:rPr>
              <a:t> </a:t>
            </a:r>
            <a:r>
              <a:rPr sz="2400" spc="-10" dirty="0">
                <a:latin typeface="Calibri"/>
                <a:cs typeface="Calibri"/>
              </a:rPr>
              <a:t>and</a:t>
            </a:r>
            <a:r>
              <a:rPr sz="2400" spc="-25" dirty="0">
                <a:latin typeface="Calibri"/>
                <a:cs typeface="Calibri"/>
              </a:rPr>
              <a:t> </a:t>
            </a:r>
            <a:r>
              <a:rPr sz="2400" spc="-5" dirty="0">
                <a:latin typeface="Calibri"/>
                <a:cs typeface="Calibri"/>
              </a:rPr>
              <a:t>which</a:t>
            </a:r>
            <a:r>
              <a:rPr sz="2400" spc="-30" dirty="0">
                <a:latin typeface="Calibri"/>
                <a:cs typeface="Calibri"/>
              </a:rPr>
              <a:t> </a:t>
            </a:r>
            <a:r>
              <a:rPr sz="2400" dirty="0">
                <a:latin typeface="Calibri"/>
                <a:cs typeface="Calibri"/>
              </a:rPr>
              <a:t>re</a:t>
            </a:r>
            <a:r>
              <a:rPr sz="2400" spc="-60" dirty="0">
                <a:latin typeface="Calibri"/>
                <a:cs typeface="Calibri"/>
              </a:rPr>
              <a:t> </a:t>
            </a:r>
            <a:r>
              <a:rPr sz="2400" dirty="0">
                <a:latin typeface="Calibri"/>
                <a:cs typeface="Calibri"/>
              </a:rPr>
              <a:t>kept</a:t>
            </a:r>
            <a:r>
              <a:rPr sz="2400" spc="-25" dirty="0">
                <a:latin typeface="Calibri"/>
                <a:cs typeface="Calibri"/>
              </a:rPr>
              <a:t> </a:t>
            </a:r>
            <a:r>
              <a:rPr sz="2400" dirty="0">
                <a:latin typeface="Calibri"/>
                <a:cs typeface="Calibri"/>
              </a:rPr>
              <a:t>1cm </a:t>
            </a:r>
            <a:r>
              <a:rPr sz="2400" spc="-530" dirty="0">
                <a:latin typeface="Calibri"/>
                <a:cs typeface="Calibri"/>
              </a:rPr>
              <a:t> </a:t>
            </a:r>
            <a:r>
              <a:rPr sz="2400" spc="-5" dirty="0">
                <a:latin typeface="Calibri"/>
                <a:cs typeface="Calibri"/>
              </a:rPr>
              <a:t>apart.</a:t>
            </a:r>
            <a:r>
              <a:rPr sz="2400" dirty="0">
                <a:latin typeface="Microsoft Sans Serif"/>
                <a:cs typeface="Microsoft Sans Serif"/>
              </a:rPr>
              <a:t> </a:t>
            </a:r>
            <a:endParaRPr sz="2400">
              <a:latin typeface="Microsoft Sans Serif"/>
              <a:cs typeface="Microsoft Sans Serif"/>
            </a:endParaRPr>
          </a:p>
        </p:txBody>
      </p:sp>
      <p:sp>
        <p:nvSpPr>
          <p:cNvPr id="10" name="object 10"/>
          <p:cNvSpPr txBox="1"/>
          <p:nvPr/>
        </p:nvSpPr>
        <p:spPr>
          <a:xfrm>
            <a:off x="434644" y="4131386"/>
            <a:ext cx="5645150" cy="454025"/>
          </a:xfrm>
          <a:prstGeom prst="rect">
            <a:avLst/>
          </a:prstGeom>
        </p:spPr>
        <p:txBody>
          <a:bodyPr vert="horz" wrap="square" lIns="0" tIns="13970" rIns="0" bIns="0" rtlCol="0">
            <a:spAutoFit/>
          </a:bodyPr>
          <a:lstStyle/>
          <a:p>
            <a:pPr marL="379095" indent="-341630">
              <a:lnSpc>
                <a:spcPct val="100000"/>
              </a:lnSpc>
              <a:spcBef>
                <a:spcPts val="110"/>
              </a:spcBef>
              <a:buFont typeface="Microsoft Sans Serif"/>
              <a:buChar char="•"/>
              <a:tabLst>
                <a:tab pos="379095" algn="l"/>
                <a:tab pos="379730" algn="l"/>
              </a:tabLst>
            </a:pPr>
            <a:r>
              <a:rPr sz="2800" spc="-5" dirty="0">
                <a:latin typeface="Calibri"/>
                <a:cs typeface="Calibri"/>
              </a:rPr>
              <a:t>Unit</a:t>
            </a:r>
            <a:r>
              <a:rPr sz="2800" spc="-55" dirty="0">
                <a:latin typeface="Calibri"/>
                <a:cs typeface="Calibri"/>
              </a:rPr>
              <a:t> </a:t>
            </a:r>
            <a:r>
              <a:rPr sz="2800" spc="5" dirty="0">
                <a:latin typeface="Calibri"/>
                <a:cs typeface="Calibri"/>
              </a:rPr>
              <a:t>of</a:t>
            </a:r>
            <a:r>
              <a:rPr sz="2800" spc="-40" dirty="0">
                <a:latin typeface="Calibri"/>
                <a:cs typeface="Calibri"/>
              </a:rPr>
              <a:t> </a:t>
            </a:r>
            <a:r>
              <a:rPr sz="2800" dirty="0">
                <a:latin typeface="Calibri"/>
                <a:cs typeface="Calibri"/>
              </a:rPr>
              <a:t>Sp.</a:t>
            </a:r>
            <a:r>
              <a:rPr sz="2800" spc="-15" dirty="0">
                <a:latin typeface="Calibri"/>
                <a:cs typeface="Calibri"/>
              </a:rPr>
              <a:t> </a:t>
            </a:r>
            <a:r>
              <a:rPr sz="2800" spc="-5" dirty="0">
                <a:latin typeface="Calibri"/>
                <a:cs typeface="Calibri"/>
              </a:rPr>
              <a:t>Conductance</a:t>
            </a:r>
            <a:r>
              <a:rPr sz="2800" spc="5" dirty="0">
                <a:latin typeface="Calibri"/>
                <a:cs typeface="Calibri"/>
              </a:rPr>
              <a:t> </a:t>
            </a:r>
            <a:r>
              <a:rPr sz="2800" dirty="0">
                <a:solidFill>
                  <a:srgbClr val="C00000"/>
                </a:solidFill>
                <a:latin typeface="Calibri"/>
                <a:cs typeface="Calibri"/>
              </a:rPr>
              <a:t>ohm</a:t>
            </a:r>
            <a:r>
              <a:rPr sz="2700" baseline="29320" dirty="0">
                <a:solidFill>
                  <a:srgbClr val="C00000"/>
                </a:solidFill>
                <a:latin typeface="Calibri"/>
                <a:cs typeface="Calibri"/>
              </a:rPr>
              <a:t>-1</a:t>
            </a:r>
            <a:r>
              <a:rPr sz="2800" dirty="0">
                <a:solidFill>
                  <a:srgbClr val="C00000"/>
                </a:solidFill>
                <a:latin typeface="Calibri"/>
                <a:cs typeface="Calibri"/>
              </a:rPr>
              <a:t>.cm</a:t>
            </a:r>
            <a:r>
              <a:rPr sz="2700" baseline="29320" dirty="0">
                <a:solidFill>
                  <a:srgbClr val="C00000"/>
                </a:solidFill>
                <a:latin typeface="Calibri"/>
                <a:cs typeface="Calibri"/>
              </a:rPr>
              <a:t>-1</a:t>
            </a:r>
            <a:r>
              <a:rPr sz="2800" dirty="0">
                <a:latin typeface="Microsoft Sans Serif"/>
                <a:cs typeface="Microsoft Sans Serif"/>
              </a:rPr>
              <a:t> </a:t>
            </a:r>
            <a:endParaRPr sz="2800">
              <a:latin typeface="Microsoft Sans Serif"/>
              <a:cs typeface="Microsoft Sans Serif"/>
            </a:endParaRPr>
          </a:p>
        </p:txBody>
      </p:sp>
      <p:sp>
        <p:nvSpPr>
          <p:cNvPr id="11" name="object 11"/>
          <p:cNvSpPr txBox="1"/>
          <p:nvPr/>
        </p:nvSpPr>
        <p:spPr>
          <a:xfrm>
            <a:off x="6198234" y="4162171"/>
            <a:ext cx="329565" cy="132080"/>
          </a:xfrm>
          <a:prstGeom prst="rect">
            <a:avLst/>
          </a:prstGeom>
        </p:spPr>
        <p:txBody>
          <a:bodyPr vert="horz" wrap="square" lIns="0" tIns="12065" rIns="0" bIns="0" rtlCol="0">
            <a:spAutoFit/>
          </a:bodyPr>
          <a:lstStyle/>
          <a:p>
            <a:pPr marL="12700">
              <a:lnSpc>
                <a:spcPct val="100000"/>
              </a:lnSpc>
              <a:spcBef>
                <a:spcPts val="95"/>
              </a:spcBef>
            </a:pPr>
            <a:r>
              <a:rPr sz="700" spc="10" dirty="0">
                <a:latin typeface="Times New Roman"/>
                <a:cs typeface="Times New Roman"/>
              </a:rPr>
              <a:t>C</a:t>
            </a:r>
            <a:r>
              <a:rPr sz="700" spc="-5" dirty="0">
                <a:latin typeface="Times New Roman"/>
                <a:cs typeface="Times New Roman"/>
              </a:rPr>
              <a:t>a</a:t>
            </a:r>
            <a:r>
              <a:rPr sz="700" spc="15" dirty="0">
                <a:latin typeface="Times New Roman"/>
                <a:cs typeface="Times New Roman"/>
              </a:rPr>
              <a:t>t</a:t>
            </a:r>
            <a:r>
              <a:rPr sz="700" spc="5" dirty="0">
                <a:latin typeface="Times New Roman"/>
                <a:cs typeface="Times New Roman"/>
              </a:rPr>
              <a:t>hod</a:t>
            </a:r>
            <a:r>
              <a:rPr sz="700" spc="-5" dirty="0">
                <a:latin typeface="Times New Roman"/>
                <a:cs typeface="Times New Roman"/>
              </a:rPr>
              <a:t>e</a:t>
            </a:r>
            <a:endParaRPr sz="700">
              <a:latin typeface="Times New Roman"/>
              <a:cs typeface="Times New Roman"/>
            </a:endParaRPr>
          </a:p>
        </p:txBody>
      </p:sp>
      <p:sp>
        <p:nvSpPr>
          <p:cNvPr id="12" name="object 12"/>
          <p:cNvSpPr txBox="1"/>
          <p:nvPr/>
        </p:nvSpPr>
        <p:spPr>
          <a:xfrm>
            <a:off x="8201406" y="4100829"/>
            <a:ext cx="337185" cy="132080"/>
          </a:xfrm>
          <a:prstGeom prst="rect">
            <a:avLst/>
          </a:prstGeom>
        </p:spPr>
        <p:txBody>
          <a:bodyPr vert="horz" wrap="square" lIns="0" tIns="12065" rIns="0" bIns="0" rtlCol="0">
            <a:spAutoFit/>
          </a:bodyPr>
          <a:lstStyle/>
          <a:p>
            <a:pPr marL="12700">
              <a:lnSpc>
                <a:spcPct val="100000"/>
              </a:lnSpc>
              <a:spcBef>
                <a:spcPts val="95"/>
              </a:spcBef>
            </a:pPr>
            <a:r>
              <a:rPr sz="700" spc="5" dirty="0">
                <a:latin typeface="Times New Roman"/>
                <a:cs typeface="Times New Roman"/>
              </a:rPr>
              <a:t>Solution</a:t>
            </a:r>
            <a:endParaRPr sz="700">
              <a:latin typeface="Times New Roman"/>
              <a:cs typeface="Times New Roman"/>
            </a:endParaRPr>
          </a:p>
        </p:txBody>
      </p:sp>
      <p:sp>
        <p:nvSpPr>
          <p:cNvPr id="13" name="object 13"/>
          <p:cNvSpPr txBox="1"/>
          <p:nvPr/>
        </p:nvSpPr>
        <p:spPr>
          <a:xfrm>
            <a:off x="460044" y="4985080"/>
            <a:ext cx="7795895" cy="881380"/>
          </a:xfrm>
          <a:prstGeom prst="rect">
            <a:avLst/>
          </a:prstGeom>
        </p:spPr>
        <p:txBody>
          <a:bodyPr vert="horz" wrap="square" lIns="0" tIns="13970" rIns="0" bIns="0" rtlCol="0">
            <a:spAutoFit/>
          </a:bodyPr>
          <a:lstStyle/>
          <a:p>
            <a:pPr marL="353695" marR="5080" indent="-341630">
              <a:lnSpc>
                <a:spcPct val="100000"/>
              </a:lnSpc>
              <a:spcBef>
                <a:spcPts val="110"/>
              </a:spcBef>
              <a:buFont typeface="Microsoft Sans Serif"/>
              <a:buChar char="•"/>
              <a:tabLst>
                <a:tab pos="353695" algn="l"/>
                <a:tab pos="354330" algn="l"/>
                <a:tab pos="5631815" algn="l"/>
              </a:tabLst>
            </a:pPr>
            <a:r>
              <a:rPr sz="2800" dirty="0">
                <a:solidFill>
                  <a:srgbClr val="FF0000"/>
                </a:solidFill>
                <a:latin typeface="Times New Roman"/>
                <a:cs typeface="Times New Roman"/>
              </a:rPr>
              <a:t>Specific</a:t>
            </a:r>
            <a:r>
              <a:rPr sz="2800" spc="-20" dirty="0">
                <a:solidFill>
                  <a:srgbClr val="FF0000"/>
                </a:solidFill>
                <a:latin typeface="Times New Roman"/>
                <a:cs typeface="Times New Roman"/>
              </a:rPr>
              <a:t> </a:t>
            </a:r>
            <a:r>
              <a:rPr sz="2800" spc="-5" dirty="0">
                <a:solidFill>
                  <a:srgbClr val="FF0000"/>
                </a:solidFill>
                <a:latin typeface="Times New Roman"/>
                <a:cs typeface="Times New Roman"/>
              </a:rPr>
              <a:t>conductance</a:t>
            </a:r>
            <a:r>
              <a:rPr sz="2800" spc="-60" dirty="0">
                <a:solidFill>
                  <a:srgbClr val="FF0000"/>
                </a:solidFill>
                <a:latin typeface="Times New Roman"/>
                <a:cs typeface="Times New Roman"/>
              </a:rPr>
              <a:t> </a:t>
            </a:r>
            <a:r>
              <a:rPr sz="2800" dirty="0">
                <a:solidFill>
                  <a:srgbClr val="FF0000"/>
                </a:solidFill>
                <a:latin typeface="Times New Roman"/>
                <a:cs typeface="Times New Roman"/>
              </a:rPr>
              <a:t>depend</a:t>
            </a:r>
            <a:r>
              <a:rPr sz="2800" spc="-5" dirty="0">
                <a:solidFill>
                  <a:srgbClr val="FF0000"/>
                </a:solidFill>
                <a:latin typeface="Times New Roman"/>
                <a:cs typeface="Times New Roman"/>
              </a:rPr>
              <a:t> on</a:t>
            </a:r>
            <a:r>
              <a:rPr sz="2800" spc="-15" dirty="0">
                <a:solidFill>
                  <a:srgbClr val="FF0000"/>
                </a:solidFill>
                <a:latin typeface="Times New Roman"/>
                <a:cs typeface="Times New Roman"/>
              </a:rPr>
              <a:t> </a:t>
            </a:r>
            <a:r>
              <a:rPr sz="2800" dirty="0">
                <a:solidFill>
                  <a:srgbClr val="FF0000"/>
                </a:solidFill>
                <a:latin typeface="Times New Roman"/>
                <a:cs typeface="Times New Roman"/>
              </a:rPr>
              <a:t>the	</a:t>
            </a:r>
            <a:r>
              <a:rPr sz="2800" spc="-5" dirty="0">
                <a:solidFill>
                  <a:srgbClr val="FF0000"/>
                </a:solidFill>
                <a:latin typeface="Times New Roman"/>
                <a:cs typeface="Times New Roman"/>
              </a:rPr>
              <a:t>number</a:t>
            </a:r>
            <a:r>
              <a:rPr sz="2800" spc="-40" dirty="0">
                <a:solidFill>
                  <a:srgbClr val="FF0000"/>
                </a:solidFill>
                <a:latin typeface="Times New Roman"/>
                <a:cs typeface="Times New Roman"/>
              </a:rPr>
              <a:t> </a:t>
            </a:r>
            <a:r>
              <a:rPr sz="2800" dirty="0">
                <a:solidFill>
                  <a:srgbClr val="FF0000"/>
                </a:solidFill>
                <a:latin typeface="Times New Roman"/>
                <a:cs typeface="Times New Roman"/>
              </a:rPr>
              <a:t>of</a:t>
            </a:r>
            <a:r>
              <a:rPr sz="2800" spc="-50" dirty="0">
                <a:solidFill>
                  <a:srgbClr val="FF0000"/>
                </a:solidFill>
                <a:latin typeface="Times New Roman"/>
                <a:cs typeface="Times New Roman"/>
              </a:rPr>
              <a:t> </a:t>
            </a:r>
            <a:r>
              <a:rPr sz="2800" spc="-5" dirty="0">
                <a:solidFill>
                  <a:srgbClr val="FF0000"/>
                </a:solidFill>
                <a:latin typeface="Times New Roman"/>
                <a:cs typeface="Times New Roman"/>
              </a:rPr>
              <a:t>ions </a:t>
            </a:r>
            <a:r>
              <a:rPr sz="2800" spc="-685" dirty="0">
                <a:solidFill>
                  <a:srgbClr val="FF0000"/>
                </a:solidFill>
                <a:latin typeface="Times New Roman"/>
                <a:cs typeface="Times New Roman"/>
              </a:rPr>
              <a:t> </a:t>
            </a:r>
            <a:r>
              <a:rPr sz="2800" spc="-5" dirty="0">
                <a:solidFill>
                  <a:srgbClr val="FF0000"/>
                </a:solidFill>
                <a:latin typeface="Times New Roman"/>
                <a:cs typeface="Times New Roman"/>
              </a:rPr>
              <a:t>present</a:t>
            </a:r>
            <a:r>
              <a:rPr sz="2800" spc="-35" dirty="0">
                <a:solidFill>
                  <a:srgbClr val="FF0000"/>
                </a:solidFill>
                <a:latin typeface="Times New Roman"/>
                <a:cs typeface="Times New Roman"/>
              </a:rPr>
              <a:t> </a:t>
            </a:r>
            <a:r>
              <a:rPr sz="2800" spc="-5" dirty="0">
                <a:solidFill>
                  <a:srgbClr val="FF0000"/>
                </a:solidFill>
                <a:latin typeface="Times New Roman"/>
                <a:cs typeface="Times New Roman"/>
              </a:rPr>
              <a:t>in</a:t>
            </a:r>
            <a:r>
              <a:rPr sz="2800" spc="10" dirty="0">
                <a:solidFill>
                  <a:srgbClr val="FF0000"/>
                </a:solidFill>
                <a:latin typeface="Times New Roman"/>
                <a:cs typeface="Times New Roman"/>
              </a:rPr>
              <a:t> </a:t>
            </a:r>
            <a:r>
              <a:rPr sz="2800" spc="-5" dirty="0">
                <a:solidFill>
                  <a:srgbClr val="FF0000"/>
                </a:solidFill>
                <a:latin typeface="Times New Roman"/>
                <a:cs typeface="Times New Roman"/>
              </a:rPr>
              <a:t>unit</a:t>
            </a:r>
            <a:r>
              <a:rPr sz="2800" spc="-10" dirty="0">
                <a:solidFill>
                  <a:srgbClr val="FF0000"/>
                </a:solidFill>
                <a:latin typeface="Times New Roman"/>
                <a:cs typeface="Times New Roman"/>
              </a:rPr>
              <a:t> </a:t>
            </a:r>
            <a:r>
              <a:rPr sz="2800" spc="-5" dirty="0">
                <a:solidFill>
                  <a:srgbClr val="FF0000"/>
                </a:solidFill>
                <a:latin typeface="Times New Roman"/>
                <a:cs typeface="Times New Roman"/>
              </a:rPr>
              <a:t>volume</a:t>
            </a:r>
            <a:r>
              <a:rPr sz="2800" dirty="0">
                <a:solidFill>
                  <a:srgbClr val="FF0000"/>
                </a:solidFill>
                <a:latin typeface="Times New Roman"/>
                <a:cs typeface="Times New Roman"/>
              </a:rPr>
              <a:t> (1</a:t>
            </a:r>
            <a:r>
              <a:rPr sz="2800" spc="10" dirty="0">
                <a:solidFill>
                  <a:srgbClr val="FF0000"/>
                </a:solidFill>
                <a:latin typeface="Times New Roman"/>
                <a:cs typeface="Times New Roman"/>
              </a:rPr>
              <a:t> </a:t>
            </a:r>
            <a:r>
              <a:rPr sz="2800" spc="-25" dirty="0">
                <a:solidFill>
                  <a:srgbClr val="FF0000"/>
                </a:solidFill>
                <a:latin typeface="Times New Roman"/>
                <a:cs typeface="Times New Roman"/>
              </a:rPr>
              <a:t>ml</a:t>
            </a:r>
            <a:r>
              <a:rPr sz="2800" spc="10" dirty="0">
                <a:solidFill>
                  <a:srgbClr val="FF0000"/>
                </a:solidFill>
                <a:latin typeface="Times New Roman"/>
                <a:cs typeface="Times New Roman"/>
              </a:rPr>
              <a:t> </a:t>
            </a:r>
            <a:r>
              <a:rPr sz="2800" dirty="0">
                <a:solidFill>
                  <a:srgbClr val="FF0000"/>
                </a:solidFill>
                <a:latin typeface="Times New Roman"/>
                <a:cs typeface="Times New Roman"/>
              </a:rPr>
              <a:t>)</a:t>
            </a:r>
            <a:r>
              <a:rPr sz="2800" spc="-5" dirty="0">
                <a:solidFill>
                  <a:srgbClr val="FF0000"/>
                </a:solidFill>
                <a:latin typeface="Times New Roman"/>
                <a:cs typeface="Times New Roman"/>
              </a:rPr>
              <a:t> </a:t>
            </a:r>
            <a:r>
              <a:rPr sz="2800" spc="5" dirty="0">
                <a:solidFill>
                  <a:srgbClr val="FF0000"/>
                </a:solidFill>
                <a:latin typeface="Times New Roman"/>
                <a:cs typeface="Times New Roman"/>
              </a:rPr>
              <a:t>of</a:t>
            </a:r>
            <a:r>
              <a:rPr sz="2800" spc="-5" dirty="0">
                <a:solidFill>
                  <a:srgbClr val="FF0000"/>
                </a:solidFill>
                <a:latin typeface="Times New Roman"/>
                <a:cs typeface="Times New Roman"/>
              </a:rPr>
              <a:t> solution</a:t>
            </a:r>
            <a:r>
              <a:rPr sz="2800" spc="-5" dirty="0">
                <a:solidFill>
                  <a:srgbClr val="FF0000"/>
                </a:solidFill>
                <a:latin typeface="Microsoft Sans Serif"/>
                <a:cs typeface="Microsoft Sans Serif"/>
              </a:rPr>
              <a:t> </a:t>
            </a:r>
            <a:endParaRPr sz="2800">
              <a:latin typeface="Microsoft Sans Serif"/>
              <a:cs typeface="Microsoft Sans Serif"/>
            </a:endParaRPr>
          </a:p>
        </p:txBody>
      </p:sp>
      <p:pic>
        <p:nvPicPr>
          <p:cNvPr id="14" name="object 14"/>
          <p:cNvPicPr/>
          <p:nvPr/>
        </p:nvPicPr>
        <p:blipFill>
          <a:blip r:embed="rId4" cstate="print"/>
          <a:stretch>
            <a:fillRect/>
          </a:stretch>
        </p:blipFill>
        <p:spPr>
          <a:xfrm>
            <a:off x="3092450" y="1290955"/>
            <a:ext cx="989329" cy="699770"/>
          </a:xfrm>
          <a:prstGeom prst="rect">
            <a:avLst/>
          </a:prstGeom>
        </p:spPr>
      </p:pic>
      <p:grpSp>
        <p:nvGrpSpPr>
          <p:cNvPr id="15" name="object 15"/>
          <p:cNvGrpSpPr/>
          <p:nvPr/>
        </p:nvGrpSpPr>
        <p:grpSpPr>
          <a:xfrm>
            <a:off x="6905879" y="4493259"/>
            <a:ext cx="760095" cy="228600"/>
            <a:chOff x="6905879" y="4493259"/>
            <a:chExt cx="760095" cy="228600"/>
          </a:xfrm>
        </p:grpSpPr>
        <p:pic>
          <p:nvPicPr>
            <p:cNvPr id="16" name="object 16"/>
            <p:cNvPicPr/>
            <p:nvPr/>
          </p:nvPicPr>
          <p:blipFill>
            <a:blip r:embed="rId5" cstate="print"/>
            <a:stretch>
              <a:fillRect/>
            </a:stretch>
          </p:blipFill>
          <p:spPr>
            <a:xfrm>
              <a:off x="6905879" y="4593208"/>
              <a:ext cx="160654" cy="128651"/>
            </a:xfrm>
            <a:prstGeom prst="rect">
              <a:avLst/>
            </a:prstGeom>
          </p:spPr>
        </p:pic>
        <p:pic>
          <p:nvPicPr>
            <p:cNvPr id="17" name="object 17"/>
            <p:cNvPicPr/>
            <p:nvPr/>
          </p:nvPicPr>
          <p:blipFill>
            <a:blip r:embed="rId6" cstate="print"/>
            <a:stretch>
              <a:fillRect/>
            </a:stretch>
          </p:blipFill>
          <p:spPr>
            <a:xfrm>
              <a:off x="7505065" y="4493259"/>
              <a:ext cx="160908" cy="131190"/>
            </a:xfrm>
            <a:prstGeom prst="rect">
              <a:avLst/>
            </a:prstGeom>
          </p:spPr>
        </p:pic>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4052" y="412415"/>
            <a:ext cx="7681595" cy="2023110"/>
          </a:xfrm>
          <a:prstGeom prst="rect">
            <a:avLst/>
          </a:prstGeom>
        </p:spPr>
        <p:txBody>
          <a:bodyPr vert="horz" wrap="square" lIns="0" tIns="21590" rIns="0" bIns="0" rtlCol="0">
            <a:spAutoFit/>
          </a:bodyPr>
          <a:lstStyle/>
          <a:p>
            <a:pPr marL="12700" marR="5080" indent="-106045" algn="ctr">
              <a:lnSpc>
                <a:spcPct val="108900"/>
              </a:lnSpc>
              <a:spcBef>
                <a:spcPts val="170"/>
              </a:spcBef>
            </a:pPr>
            <a:r>
              <a:rPr sz="3200" spc="-5" dirty="0">
                <a:latin typeface="Times New Roman"/>
                <a:cs typeface="Times New Roman"/>
              </a:rPr>
              <a:t>Cell</a:t>
            </a:r>
            <a:r>
              <a:rPr sz="3200" spc="5" dirty="0">
                <a:latin typeface="Times New Roman"/>
                <a:cs typeface="Times New Roman"/>
              </a:rPr>
              <a:t> </a:t>
            </a:r>
            <a:r>
              <a:rPr sz="3200" spc="-5" dirty="0">
                <a:latin typeface="Times New Roman"/>
                <a:cs typeface="Times New Roman"/>
              </a:rPr>
              <a:t>Constant:</a:t>
            </a:r>
            <a:r>
              <a:rPr sz="3200" spc="40" dirty="0">
                <a:latin typeface="Times New Roman"/>
                <a:cs typeface="Times New Roman"/>
              </a:rPr>
              <a:t> </a:t>
            </a:r>
            <a:r>
              <a:rPr sz="2400" dirty="0">
                <a:solidFill>
                  <a:srgbClr val="000000"/>
                </a:solidFill>
                <a:latin typeface="Times New Roman"/>
                <a:cs typeface="Times New Roman"/>
              </a:rPr>
              <a:t>The</a:t>
            </a:r>
            <a:r>
              <a:rPr sz="2400" spc="30" dirty="0">
                <a:solidFill>
                  <a:srgbClr val="000000"/>
                </a:solidFill>
                <a:latin typeface="Times New Roman"/>
                <a:cs typeface="Times New Roman"/>
              </a:rPr>
              <a:t> </a:t>
            </a:r>
            <a:r>
              <a:rPr sz="2400" spc="-5" dirty="0">
                <a:solidFill>
                  <a:srgbClr val="000000"/>
                </a:solidFill>
                <a:latin typeface="Times New Roman"/>
                <a:cs typeface="Times New Roman"/>
              </a:rPr>
              <a:t>ratio</a:t>
            </a:r>
            <a:r>
              <a:rPr sz="2400" spc="15" dirty="0">
                <a:solidFill>
                  <a:srgbClr val="000000"/>
                </a:solidFill>
                <a:latin typeface="Times New Roman"/>
                <a:cs typeface="Times New Roman"/>
              </a:rPr>
              <a:t> </a:t>
            </a:r>
            <a:r>
              <a:rPr sz="2400" dirty="0">
                <a:solidFill>
                  <a:srgbClr val="000000"/>
                </a:solidFill>
                <a:latin typeface="Times New Roman"/>
                <a:cs typeface="Times New Roman"/>
              </a:rPr>
              <a:t>of</a:t>
            </a:r>
            <a:r>
              <a:rPr sz="2400" spc="25" dirty="0">
                <a:solidFill>
                  <a:srgbClr val="000000"/>
                </a:solidFill>
                <a:latin typeface="Times New Roman"/>
                <a:cs typeface="Times New Roman"/>
              </a:rPr>
              <a:t> </a:t>
            </a:r>
            <a:r>
              <a:rPr sz="2400" dirty="0">
                <a:solidFill>
                  <a:srgbClr val="000000"/>
                </a:solidFill>
                <a:latin typeface="Times New Roman"/>
                <a:cs typeface="Times New Roman"/>
              </a:rPr>
              <a:t>l/A</a:t>
            </a:r>
            <a:r>
              <a:rPr sz="2400" spc="-110" dirty="0">
                <a:solidFill>
                  <a:srgbClr val="000000"/>
                </a:solidFill>
                <a:latin typeface="Times New Roman"/>
                <a:cs typeface="Times New Roman"/>
              </a:rPr>
              <a:t> </a:t>
            </a:r>
            <a:r>
              <a:rPr sz="2400" dirty="0">
                <a:solidFill>
                  <a:srgbClr val="000000"/>
                </a:solidFill>
                <a:latin typeface="Times New Roman"/>
                <a:cs typeface="Times New Roman"/>
              </a:rPr>
              <a:t>is</a:t>
            </a:r>
            <a:r>
              <a:rPr sz="2400" spc="35" dirty="0">
                <a:solidFill>
                  <a:srgbClr val="000000"/>
                </a:solidFill>
                <a:latin typeface="Times New Roman"/>
                <a:cs typeface="Times New Roman"/>
              </a:rPr>
              <a:t> </a:t>
            </a:r>
            <a:r>
              <a:rPr sz="2400" dirty="0">
                <a:solidFill>
                  <a:srgbClr val="000000"/>
                </a:solidFill>
                <a:latin typeface="Times New Roman"/>
                <a:cs typeface="Times New Roman"/>
              </a:rPr>
              <a:t>known</a:t>
            </a:r>
            <a:r>
              <a:rPr sz="2400" spc="55" dirty="0">
                <a:solidFill>
                  <a:srgbClr val="000000"/>
                </a:solidFill>
                <a:latin typeface="Times New Roman"/>
                <a:cs typeface="Times New Roman"/>
              </a:rPr>
              <a:t> </a:t>
            </a:r>
            <a:r>
              <a:rPr sz="2400" spc="-10" dirty="0">
                <a:solidFill>
                  <a:srgbClr val="000000"/>
                </a:solidFill>
                <a:latin typeface="Times New Roman"/>
                <a:cs typeface="Times New Roman"/>
              </a:rPr>
              <a:t>as</a:t>
            </a:r>
            <a:r>
              <a:rPr sz="2400" spc="65" dirty="0">
                <a:solidFill>
                  <a:srgbClr val="000000"/>
                </a:solidFill>
                <a:latin typeface="Times New Roman"/>
                <a:cs typeface="Times New Roman"/>
              </a:rPr>
              <a:t> </a:t>
            </a:r>
            <a:r>
              <a:rPr sz="2400" dirty="0">
                <a:solidFill>
                  <a:srgbClr val="000000"/>
                </a:solidFill>
                <a:latin typeface="Times New Roman"/>
                <a:cs typeface="Times New Roman"/>
              </a:rPr>
              <a:t>cell</a:t>
            </a:r>
            <a:r>
              <a:rPr sz="2400" spc="15" dirty="0">
                <a:solidFill>
                  <a:srgbClr val="000000"/>
                </a:solidFill>
                <a:latin typeface="Times New Roman"/>
                <a:cs typeface="Times New Roman"/>
              </a:rPr>
              <a:t> </a:t>
            </a:r>
            <a:r>
              <a:rPr sz="2400" spc="-5" dirty="0">
                <a:solidFill>
                  <a:srgbClr val="000000"/>
                </a:solidFill>
                <a:latin typeface="Times New Roman"/>
                <a:cs typeface="Times New Roman"/>
              </a:rPr>
              <a:t>constant. </a:t>
            </a:r>
            <a:r>
              <a:rPr sz="2400" dirty="0">
                <a:solidFill>
                  <a:srgbClr val="000000"/>
                </a:solidFill>
                <a:latin typeface="Times New Roman"/>
                <a:cs typeface="Times New Roman"/>
              </a:rPr>
              <a:t> </a:t>
            </a:r>
            <a:r>
              <a:rPr sz="2800" dirty="0">
                <a:solidFill>
                  <a:srgbClr val="000000"/>
                </a:solidFill>
                <a:latin typeface="Times New Roman"/>
                <a:cs typeface="Times New Roman"/>
              </a:rPr>
              <a:t>It </a:t>
            </a:r>
            <a:r>
              <a:rPr sz="2800" spc="-5" dirty="0">
                <a:solidFill>
                  <a:srgbClr val="000000"/>
                </a:solidFill>
                <a:latin typeface="Times New Roman"/>
                <a:cs typeface="Times New Roman"/>
              </a:rPr>
              <a:t>depends upon </a:t>
            </a:r>
            <a:r>
              <a:rPr sz="2800" dirty="0">
                <a:solidFill>
                  <a:srgbClr val="000000"/>
                </a:solidFill>
                <a:latin typeface="Times New Roman"/>
                <a:cs typeface="Times New Roman"/>
              </a:rPr>
              <a:t>the </a:t>
            </a:r>
            <a:r>
              <a:rPr sz="2800" spc="-5" dirty="0">
                <a:solidFill>
                  <a:srgbClr val="000000"/>
                </a:solidFill>
                <a:latin typeface="Times New Roman"/>
                <a:cs typeface="Times New Roman"/>
              </a:rPr>
              <a:t>distance </a:t>
            </a:r>
            <a:r>
              <a:rPr sz="2800" dirty="0">
                <a:solidFill>
                  <a:srgbClr val="000000"/>
                </a:solidFill>
                <a:latin typeface="Times New Roman"/>
                <a:cs typeface="Times New Roman"/>
              </a:rPr>
              <a:t>between the </a:t>
            </a:r>
            <a:r>
              <a:rPr sz="2800" spc="-5" dirty="0">
                <a:solidFill>
                  <a:srgbClr val="000000"/>
                </a:solidFill>
                <a:latin typeface="Times New Roman"/>
                <a:cs typeface="Times New Roman"/>
              </a:rPr>
              <a:t>electrode (l) </a:t>
            </a:r>
            <a:r>
              <a:rPr sz="2800" spc="-685" dirty="0">
                <a:solidFill>
                  <a:srgbClr val="000000"/>
                </a:solidFill>
                <a:latin typeface="Times New Roman"/>
                <a:cs typeface="Times New Roman"/>
              </a:rPr>
              <a:t> </a:t>
            </a:r>
            <a:r>
              <a:rPr sz="2800" dirty="0">
                <a:solidFill>
                  <a:srgbClr val="000000"/>
                </a:solidFill>
                <a:latin typeface="Times New Roman"/>
                <a:cs typeface="Times New Roman"/>
              </a:rPr>
              <a:t>and</a:t>
            </a:r>
            <a:r>
              <a:rPr sz="2800" spc="-20" dirty="0">
                <a:solidFill>
                  <a:srgbClr val="000000"/>
                </a:solidFill>
                <a:latin typeface="Times New Roman"/>
                <a:cs typeface="Times New Roman"/>
              </a:rPr>
              <a:t> </a:t>
            </a:r>
            <a:r>
              <a:rPr sz="2800" dirty="0">
                <a:solidFill>
                  <a:srgbClr val="000000"/>
                </a:solidFill>
                <a:latin typeface="Times New Roman"/>
                <a:cs typeface="Times New Roman"/>
              </a:rPr>
              <a:t>the</a:t>
            </a:r>
            <a:r>
              <a:rPr sz="2800" spc="-25" dirty="0">
                <a:solidFill>
                  <a:srgbClr val="000000"/>
                </a:solidFill>
                <a:latin typeface="Times New Roman"/>
                <a:cs typeface="Times New Roman"/>
              </a:rPr>
              <a:t> </a:t>
            </a:r>
            <a:r>
              <a:rPr sz="2800" dirty="0">
                <a:solidFill>
                  <a:srgbClr val="000000"/>
                </a:solidFill>
                <a:latin typeface="Times New Roman"/>
                <a:cs typeface="Times New Roman"/>
              </a:rPr>
              <a:t>area</a:t>
            </a:r>
            <a:r>
              <a:rPr sz="2800" spc="-50" dirty="0">
                <a:solidFill>
                  <a:srgbClr val="000000"/>
                </a:solidFill>
                <a:latin typeface="Times New Roman"/>
                <a:cs typeface="Times New Roman"/>
              </a:rPr>
              <a:t> </a:t>
            </a:r>
            <a:r>
              <a:rPr sz="2800" spc="5" dirty="0">
                <a:solidFill>
                  <a:srgbClr val="000000"/>
                </a:solidFill>
                <a:latin typeface="Times New Roman"/>
                <a:cs typeface="Times New Roman"/>
              </a:rPr>
              <a:t>of</a:t>
            </a:r>
            <a:r>
              <a:rPr sz="2800" dirty="0">
                <a:solidFill>
                  <a:srgbClr val="000000"/>
                </a:solidFill>
                <a:latin typeface="Times New Roman"/>
                <a:cs typeface="Times New Roman"/>
              </a:rPr>
              <a:t> </a:t>
            </a:r>
            <a:r>
              <a:rPr sz="2800" spc="-5" dirty="0">
                <a:solidFill>
                  <a:srgbClr val="000000"/>
                </a:solidFill>
                <a:latin typeface="Times New Roman"/>
                <a:cs typeface="Times New Roman"/>
              </a:rPr>
              <a:t>cross</a:t>
            </a:r>
            <a:r>
              <a:rPr sz="2800" spc="-10" dirty="0">
                <a:solidFill>
                  <a:srgbClr val="000000"/>
                </a:solidFill>
                <a:latin typeface="Times New Roman"/>
                <a:cs typeface="Times New Roman"/>
              </a:rPr>
              <a:t> </a:t>
            </a:r>
            <a:r>
              <a:rPr sz="2800" spc="-5" dirty="0">
                <a:solidFill>
                  <a:srgbClr val="000000"/>
                </a:solidFill>
                <a:latin typeface="Times New Roman"/>
                <a:cs typeface="Times New Roman"/>
              </a:rPr>
              <a:t>section</a:t>
            </a:r>
            <a:r>
              <a:rPr sz="2800" spc="-10" dirty="0">
                <a:solidFill>
                  <a:srgbClr val="000000"/>
                </a:solidFill>
                <a:latin typeface="Times New Roman"/>
                <a:cs typeface="Times New Roman"/>
              </a:rPr>
              <a:t> </a:t>
            </a:r>
            <a:r>
              <a:rPr sz="2800" spc="-5" dirty="0">
                <a:solidFill>
                  <a:srgbClr val="000000"/>
                </a:solidFill>
                <a:latin typeface="Times New Roman"/>
                <a:cs typeface="Times New Roman"/>
              </a:rPr>
              <a:t>(A) </a:t>
            </a:r>
            <a:r>
              <a:rPr sz="2800" spc="5" dirty="0">
                <a:solidFill>
                  <a:srgbClr val="000000"/>
                </a:solidFill>
                <a:latin typeface="Times New Roman"/>
                <a:cs typeface="Times New Roman"/>
              </a:rPr>
              <a:t>of</a:t>
            </a:r>
            <a:r>
              <a:rPr sz="2800" spc="-5" dirty="0">
                <a:solidFill>
                  <a:srgbClr val="000000"/>
                </a:solidFill>
                <a:latin typeface="Times New Roman"/>
                <a:cs typeface="Times New Roman"/>
              </a:rPr>
              <a:t> the</a:t>
            </a:r>
            <a:r>
              <a:rPr sz="2800" dirty="0">
                <a:solidFill>
                  <a:srgbClr val="000000"/>
                </a:solidFill>
                <a:latin typeface="Times New Roman"/>
                <a:cs typeface="Times New Roman"/>
              </a:rPr>
              <a:t> </a:t>
            </a:r>
            <a:r>
              <a:rPr sz="2800" spc="-5" dirty="0">
                <a:solidFill>
                  <a:srgbClr val="000000"/>
                </a:solidFill>
                <a:latin typeface="Times New Roman"/>
                <a:cs typeface="Times New Roman"/>
              </a:rPr>
              <a:t>electrode.</a:t>
            </a:r>
            <a:endParaRPr sz="2800">
              <a:latin typeface="Times New Roman"/>
              <a:cs typeface="Times New Roman"/>
            </a:endParaRPr>
          </a:p>
          <a:p>
            <a:pPr marR="5541010" algn="ctr">
              <a:lnSpc>
                <a:spcPct val="100000"/>
              </a:lnSpc>
              <a:spcBef>
                <a:spcPts val="750"/>
              </a:spcBef>
            </a:pPr>
            <a:r>
              <a:rPr sz="2800" spc="5" dirty="0">
                <a:solidFill>
                  <a:srgbClr val="000000"/>
                </a:solidFill>
                <a:latin typeface="Times New Roman"/>
                <a:cs typeface="Times New Roman"/>
              </a:rPr>
              <a:t>From</a:t>
            </a:r>
            <a:r>
              <a:rPr sz="2800" spc="-120" dirty="0">
                <a:solidFill>
                  <a:srgbClr val="000000"/>
                </a:solidFill>
                <a:latin typeface="Times New Roman"/>
                <a:cs typeface="Times New Roman"/>
              </a:rPr>
              <a:t> </a:t>
            </a:r>
            <a:r>
              <a:rPr sz="2800" dirty="0">
                <a:solidFill>
                  <a:srgbClr val="000000"/>
                </a:solidFill>
                <a:latin typeface="Times New Roman"/>
                <a:cs typeface="Times New Roman"/>
              </a:rPr>
              <a:t>equation</a:t>
            </a:r>
            <a:endParaRPr sz="2800">
              <a:latin typeface="Times New Roman"/>
              <a:cs typeface="Times New Roman"/>
            </a:endParaRPr>
          </a:p>
        </p:txBody>
      </p:sp>
      <p:pic>
        <p:nvPicPr>
          <p:cNvPr id="3" name="object 3"/>
          <p:cNvPicPr/>
          <p:nvPr/>
        </p:nvPicPr>
        <p:blipFill>
          <a:blip r:embed="rId2" cstate="print"/>
          <a:stretch>
            <a:fillRect/>
          </a:stretch>
        </p:blipFill>
        <p:spPr>
          <a:xfrm>
            <a:off x="3439795" y="3460115"/>
            <a:ext cx="1574164" cy="564515"/>
          </a:xfrm>
          <a:prstGeom prst="rect">
            <a:avLst/>
          </a:prstGeom>
        </p:spPr>
      </p:pic>
      <p:pic>
        <p:nvPicPr>
          <p:cNvPr id="4" name="object 4"/>
          <p:cNvPicPr/>
          <p:nvPr/>
        </p:nvPicPr>
        <p:blipFill>
          <a:blip r:embed="rId3" cstate="print"/>
          <a:stretch>
            <a:fillRect/>
          </a:stretch>
        </p:blipFill>
        <p:spPr>
          <a:xfrm>
            <a:off x="3552825" y="4275454"/>
            <a:ext cx="1104900" cy="409575"/>
          </a:xfrm>
          <a:prstGeom prst="rect">
            <a:avLst/>
          </a:prstGeom>
        </p:spPr>
      </p:pic>
      <p:pic>
        <p:nvPicPr>
          <p:cNvPr id="5" name="object 5"/>
          <p:cNvPicPr/>
          <p:nvPr/>
        </p:nvPicPr>
        <p:blipFill>
          <a:blip r:embed="rId4" cstate="print"/>
          <a:stretch>
            <a:fillRect/>
          </a:stretch>
        </p:blipFill>
        <p:spPr>
          <a:xfrm>
            <a:off x="2600325" y="5427979"/>
            <a:ext cx="3867150" cy="685799"/>
          </a:xfrm>
          <a:prstGeom prst="rect">
            <a:avLst/>
          </a:prstGeom>
        </p:spPr>
      </p:pic>
      <p:grpSp>
        <p:nvGrpSpPr>
          <p:cNvPr id="6" name="object 6"/>
          <p:cNvGrpSpPr/>
          <p:nvPr/>
        </p:nvGrpSpPr>
        <p:grpSpPr>
          <a:xfrm>
            <a:off x="2580957" y="4846637"/>
            <a:ext cx="5067300" cy="342900"/>
            <a:chOff x="2580957" y="4846637"/>
            <a:chExt cx="5067300" cy="342900"/>
          </a:xfrm>
        </p:grpSpPr>
        <p:pic>
          <p:nvPicPr>
            <p:cNvPr id="7" name="object 7"/>
            <p:cNvPicPr/>
            <p:nvPr/>
          </p:nvPicPr>
          <p:blipFill>
            <a:blip r:embed="rId5" cstate="print"/>
            <a:stretch>
              <a:fillRect/>
            </a:stretch>
          </p:blipFill>
          <p:spPr>
            <a:xfrm>
              <a:off x="2600325" y="4923155"/>
              <a:ext cx="4991100" cy="200025"/>
            </a:xfrm>
            <a:prstGeom prst="rect">
              <a:avLst/>
            </a:prstGeom>
          </p:spPr>
        </p:pic>
        <p:sp>
          <p:nvSpPr>
            <p:cNvPr id="8" name="object 8"/>
            <p:cNvSpPr/>
            <p:nvPr/>
          </p:nvSpPr>
          <p:spPr>
            <a:xfrm>
              <a:off x="2585720" y="4851400"/>
              <a:ext cx="5057775" cy="333375"/>
            </a:xfrm>
            <a:custGeom>
              <a:avLst/>
              <a:gdLst/>
              <a:ahLst/>
              <a:cxnLst/>
              <a:rect l="l" t="t" r="r" b="b"/>
              <a:pathLst>
                <a:path w="5057775" h="333375">
                  <a:moveTo>
                    <a:pt x="0" y="333375"/>
                  </a:moveTo>
                  <a:lnTo>
                    <a:pt x="5057775" y="333375"/>
                  </a:lnTo>
                  <a:lnTo>
                    <a:pt x="5057775" y="0"/>
                  </a:lnTo>
                  <a:lnTo>
                    <a:pt x="0" y="0"/>
                  </a:lnTo>
                  <a:lnTo>
                    <a:pt x="0" y="333375"/>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60044" y="362314"/>
            <a:ext cx="7966709" cy="3108960"/>
          </a:xfrm>
          <a:prstGeom prst="rect">
            <a:avLst/>
          </a:prstGeom>
        </p:spPr>
        <p:txBody>
          <a:bodyPr vert="horz" wrap="square" lIns="0" tIns="115570" rIns="0" bIns="0" rtlCol="0">
            <a:spAutoFit/>
          </a:bodyPr>
          <a:lstStyle/>
          <a:p>
            <a:pPr marL="353695" indent="-341630">
              <a:lnSpc>
                <a:spcPct val="100000"/>
              </a:lnSpc>
              <a:spcBef>
                <a:spcPts val="910"/>
              </a:spcBef>
              <a:buFont typeface="Microsoft Sans Serif"/>
              <a:buChar char="•"/>
              <a:tabLst>
                <a:tab pos="353695" algn="l"/>
                <a:tab pos="354330" algn="l"/>
              </a:tabLst>
            </a:pPr>
            <a:r>
              <a:rPr sz="3200" spc="-5" dirty="0">
                <a:solidFill>
                  <a:srgbClr val="C00000"/>
                </a:solidFill>
                <a:latin typeface="Calibri"/>
                <a:cs typeface="Calibri"/>
              </a:rPr>
              <a:t>Conductivity</a:t>
            </a:r>
            <a:r>
              <a:rPr sz="3200" spc="-35" dirty="0">
                <a:solidFill>
                  <a:srgbClr val="C00000"/>
                </a:solidFill>
                <a:latin typeface="Calibri"/>
                <a:cs typeface="Calibri"/>
              </a:rPr>
              <a:t> </a:t>
            </a:r>
            <a:r>
              <a:rPr sz="3200" dirty="0">
                <a:solidFill>
                  <a:srgbClr val="C00000"/>
                </a:solidFill>
                <a:latin typeface="Calibri"/>
                <a:cs typeface="Calibri"/>
              </a:rPr>
              <a:t>Cell:</a:t>
            </a:r>
            <a:r>
              <a:rPr sz="3200" dirty="0">
                <a:solidFill>
                  <a:srgbClr val="C00000"/>
                </a:solidFill>
                <a:latin typeface="Microsoft Sans Serif"/>
                <a:cs typeface="Microsoft Sans Serif"/>
              </a:rPr>
              <a:t> </a:t>
            </a:r>
            <a:endParaRPr sz="3200">
              <a:latin typeface="Microsoft Sans Serif"/>
              <a:cs typeface="Microsoft Sans Serif"/>
            </a:endParaRPr>
          </a:p>
          <a:p>
            <a:pPr marL="353695" indent="-341630">
              <a:lnSpc>
                <a:spcPct val="100000"/>
              </a:lnSpc>
              <a:spcBef>
                <a:spcPts val="610"/>
              </a:spcBef>
              <a:buFont typeface="Microsoft Sans Serif"/>
              <a:buChar char="•"/>
              <a:tabLst>
                <a:tab pos="353695" algn="l"/>
                <a:tab pos="354330" algn="l"/>
              </a:tabLst>
            </a:pPr>
            <a:r>
              <a:rPr sz="2400" spc="-5" dirty="0">
                <a:latin typeface="Calibri"/>
                <a:cs typeface="Calibri"/>
              </a:rPr>
              <a:t>In</a:t>
            </a:r>
            <a:r>
              <a:rPr sz="2400" spc="-30" dirty="0">
                <a:latin typeface="Calibri"/>
                <a:cs typeface="Calibri"/>
              </a:rPr>
              <a:t> </a:t>
            </a:r>
            <a:r>
              <a:rPr sz="2400" spc="-5" dirty="0">
                <a:latin typeface="Calibri"/>
                <a:cs typeface="Calibri"/>
              </a:rPr>
              <a:t>conductance</a:t>
            </a:r>
            <a:r>
              <a:rPr sz="2400" spc="-50" dirty="0">
                <a:latin typeface="Calibri"/>
                <a:cs typeface="Calibri"/>
              </a:rPr>
              <a:t> </a:t>
            </a:r>
            <a:r>
              <a:rPr sz="2400" spc="-5" dirty="0">
                <a:latin typeface="Calibri"/>
                <a:cs typeface="Calibri"/>
              </a:rPr>
              <a:t>measurement</a:t>
            </a:r>
            <a:r>
              <a:rPr sz="2400" spc="-15" dirty="0">
                <a:latin typeface="Calibri"/>
                <a:cs typeface="Calibri"/>
              </a:rPr>
              <a:t> </a:t>
            </a:r>
            <a:r>
              <a:rPr sz="2400" spc="-10" dirty="0">
                <a:latin typeface="Calibri"/>
                <a:cs typeface="Calibri"/>
              </a:rPr>
              <a:t>conductivity</a:t>
            </a:r>
            <a:r>
              <a:rPr sz="2400" spc="-35" dirty="0">
                <a:latin typeface="Calibri"/>
                <a:cs typeface="Calibri"/>
              </a:rPr>
              <a:t> </a:t>
            </a:r>
            <a:r>
              <a:rPr sz="2400" spc="-5" dirty="0">
                <a:latin typeface="Calibri"/>
                <a:cs typeface="Calibri"/>
              </a:rPr>
              <a:t>cell</a:t>
            </a:r>
            <a:r>
              <a:rPr sz="2400" spc="-35" dirty="0">
                <a:latin typeface="Calibri"/>
                <a:cs typeface="Calibri"/>
              </a:rPr>
              <a:t> </a:t>
            </a:r>
            <a:r>
              <a:rPr sz="2400" dirty="0">
                <a:latin typeface="Calibri"/>
                <a:cs typeface="Calibri"/>
              </a:rPr>
              <a:t>is</a:t>
            </a:r>
            <a:r>
              <a:rPr sz="2400" spc="-35" dirty="0">
                <a:latin typeface="Calibri"/>
                <a:cs typeface="Calibri"/>
              </a:rPr>
              <a:t> </a:t>
            </a:r>
            <a:r>
              <a:rPr sz="2400" spc="-5" dirty="0">
                <a:latin typeface="Calibri"/>
                <a:cs typeface="Calibri"/>
              </a:rPr>
              <a:t>used</a:t>
            </a:r>
            <a:r>
              <a:rPr sz="2400" dirty="0">
                <a:latin typeface="Microsoft Sans Serif"/>
                <a:cs typeface="Microsoft Sans Serif"/>
              </a:rPr>
              <a:t> </a:t>
            </a:r>
            <a:endParaRPr sz="2400">
              <a:latin typeface="Microsoft Sans Serif"/>
              <a:cs typeface="Microsoft Sans Serif"/>
            </a:endParaRPr>
          </a:p>
          <a:p>
            <a:pPr marL="353695" indent="-341630">
              <a:lnSpc>
                <a:spcPct val="100000"/>
              </a:lnSpc>
              <a:spcBef>
                <a:spcPts val="575"/>
              </a:spcBef>
              <a:buFont typeface="Microsoft Sans Serif"/>
              <a:buChar char="•"/>
              <a:tabLst>
                <a:tab pos="353695" algn="l"/>
                <a:tab pos="354330" algn="l"/>
                <a:tab pos="4338955" algn="l"/>
              </a:tabLst>
            </a:pPr>
            <a:r>
              <a:rPr sz="2400" dirty="0">
                <a:latin typeface="Calibri"/>
                <a:cs typeface="Calibri"/>
              </a:rPr>
              <a:t>For</a:t>
            </a:r>
            <a:r>
              <a:rPr sz="2400" spc="-30" dirty="0">
                <a:latin typeface="Calibri"/>
                <a:cs typeface="Calibri"/>
              </a:rPr>
              <a:t> </a:t>
            </a:r>
            <a:r>
              <a:rPr sz="2400" spc="-5" dirty="0">
                <a:latin typeface="Calibri"/>
                <a:cs typeface="Calibri"/>
              </a:rPr>
              <a:t>conductance</a:t>
            </a:r>
            <a:r>
              <a:rPr sz="2400" spc="-45" dirty="0">
                <a:latin typeface="Calibri"/>
                <a:cs typeface="Calibri"/>
              </a:rPr>
              <a:t> </a:t>
            </a:r>
            <a:r>
              <a:rPr sz="2400" spc="-5" dirty="0">
                <a:latin typeface="Calibri"/>
                <a:cs typeface="Calibri"/>
              </a:rPr>
              <a:t>measurement	</a:t>
            </a:r>
            <a:r>
              <a:rPr sz="2400" dirty="0">
                <a:latin typeface="Calibri"/>
                <a:cs typeface="Calibri"/>
              </a:rPr>
              <a:t>AC</a:t>
            </a:r>
            <a:r>
              <a:rPr sz="2400" spc="-65" dirty="0">
                <a:latin typeface="Calibri"/>
                <a:cs typeface="Calibri"/>
              </a:rPr>
              <a:t> </a:t>
            </a:r>
            <a:r>
              <a:rPr sz="2400" spc="-5" dirty="0">
                <a:latin typeface="Calibri"/>
                <a:cs typeface="Calibri"/>
              </a:rPr>
              <a:t>current</a:t>
            </a:r>
            <a:r>
              <a:rPr sz="2400" spc="-45" dirty="0">
                <a:latin typeface="Calibri"/>
                <a:cs typeface="Calibri"/>
              </a:rPr>
              <a:t> </a:t>
            </a:r>
            <a:r>
              <a:rPr sz="2400" dirty="0">
                <a:latin typeface="Calibri"/>
                <a:cs typeface="Calibri"/>
              </a:rPr>
              <a:t>is</a:t>
            </a:r>
            <a:r>
              <a:rPr sz="2400" spc="-70" dirty="0">
                <a:latin typeface="Calibri"/>
                <a:cs typeface="Calibri"/>
              </a:rPr>
              <a:t> </a:t>
            </a:r>
            <a:r>
              <a:rPr sz="2400" spc="-5" dirty="0">
                <a:latin typeface="Calibri"/>
                <a:cs typeface="Calibri"/>
              </a:rPr>
              <a:t>used.</a:t>
            </a:r>
            <a:r>
              <a:rPr sz="2400" spc="-5" dirty="0">
                <a:latin typeface="Microsoft Sans Serif"/>
                <a:cs typeface="Microsoft Sans Serif"/>
              </a:rPr>
              <a:t> </a:t>
            </a:r>
            <a:endParaRPr sz="2400">
              <a:latin typeface="Microsoft Sans Serif"/>
              <a:cs typeface="Microsoft Sans Serif"/>
            </a:endParaRPr>
          </a:p>
          <a:p>
            <a:pPr marL="353695" marR="123825" indent="-341630">
              <a:lnSpc>
                <a:spcPct val="100000"/>
              </a:lnSpc>
              <a:spcBef>
                <a:spcPts val="580"/>
              </a:spcBef>
              <a:buFont typeface="Microsoft Sans Serif"/>
              <a:buChar char="•"/>
              <a:tabLst>
                <a:tab pos="353695" algn="l"/>
                <a:tab pos="354330" algn="l"/>
              </a:tabLst>
            </a:pPr>
            <a:r>
              <a:rPr sz="2400" spc="-5" dirty="0">
                <a:latin typeface="Calibri"/>
                <a:cs typeface="Calibri"/>
              </a:rPr>
              <a:t>Conductance</a:t>
            </a:r>
            <a:r>
              <a:rPr sz="2400" spc="-45" dirty="0">
                <a:latin typeface="Calibri"/>
                <a:cs typeface="Calibri"/>
              </a:rPr>
              <a:t> </a:t>
            </a:r>
            <a:r>
              <a:rPr sz="2400" dirty="0">
                <a:latin typeface="Calibri"/>
                <a:cs typeface="Calibri"/>
              </a:rPr>
              <a:t>is</a:t>
            </a:r>
            <a:r>
              <a:rPr sz="2400" spc="-40" dirty="0">
                <a:latin typeface="Calibri"/>
                <a:cs typeface="Calibri"/>
              </a:rPr>
              <a:t> </a:t>
            </a:r>
            <a:r>
              <a:rPr sz="2400" spc="-5" dirty="0">
                <a:latin typeface="Calibri"/>
                <a:cs typeface="Calibri"/>
              </a:rPr>
              <a:t>measure</a:t>
            </a:r>
            <a:r>
              <a:rPr sz="2400" spc="-45" dirty="0">
                <a:latin typeface="Calibri"/>
                <a:cs typeface="Calibri"/>
              </a:rPr>
              <a:t> </a:t>
            </a:r>
            <a:r>
              <a:rPr sz="2400" spc="-5" dirty="0">
                <a:latin typeface="Calibri"/>
                <a:cs typeface="Calibri"/>
              </a:rPr>
              <a:t>with</a:t>
            </a:r>
            <a:r>
              <a:rPr sz="2400" spc="-25" dirty="0">
                <a:latin typeface="Calibri"/>
                <a:cs typeface="Calibri"/>
              </a:rPr>
              <a:t> </a:t>
            </a:r>
            <a:r>
              <a:rPr sz="2400" spc="-5" dirty="0">
                <a:latin typeface="Calibri"/>
                <a:cs typeface="Calibri"/>
              </a:rPr>
              <a:t>the</a:t>
            </a:r>
            <a:r>
              <a:rPr sz="2400" spc="-25" dirty="0">
                <a:latin typeface="Calibri"/>
                <a:cs typeface="Calibri"/>
              </a:rPr>
              <a:t> </a:t>
            </a:r>
            <a:r>
              <a:rPr sz="2400" spc="-5" dirty="0">
                <a:latin typeface="Calibri"/>
                <a:cs typeface="Calibri"/>
              </a:rPr>
              <a:t>help</a:t>
            </a:r>
            <a:r>
              <a:rPr sz="2400" spc="-20" dirty="0">
                <a:latin typeface="Calibri"/>
                <a:cs typeface="Calibri"/>
              </a:rPr>
              <a:t> </a:t>
            </a:r>
            <a:r>
              <a:rPr sz="2400" dirty="0">
                <a:latin typeface="Calibri"/>
                <a:cs typeface="Calibri"/>
              </a:rPr>
              <a:t>of</a:t>
            </a:r>
            <a:r>
              <a:rPr sz="2400" spc="-20" dirty="0">
                <a:latin typeface="Calibri"/>
                <a:cs typeface="Calibri"/>
              </a:rPr>
              <a:t> </a:t>
            </a:r>
            <a:r>
              <a:rPr sz="2400" spc="-5" dirty="0">
                <a:latin typeface="Calibri"/>
                <a:cs typeface="Calibri"/>
              </a:rPr>
              <a:t>Wheatstone</a:t>
            </a:r>
            <a:r>
              <a:rPr sz="2400" spc="-55" dirty="0">
                <a:latin typeface="Calibri"/>
                <a:cs typeface="Calibri"/>
              </a:rPr>
              <a:t> </a:t>
            </a:r>
            <a:r>
              <a:rPr sz="2400" spc="-5" dirty="0">
                <a:latin typeface="Calibri"/>
                <a:cs typeface="Calibri"/>
              </a:rPr>
              <a:t>bridge </a:t>
            </a:r>
            <a:r>
              <a:rPr sz="2400" spc="-525" dirty="0">
                <a:latin typeface="Calibri"/>
                <a:cs typeface="Calibri"/>
              </a:rPr>
              <a:t> </a:t>
            </a:r>
            <a:r>
              <a:rPr sz="2400" dirty="0">
                <a:latin typeface="Calibri"/>
                <a:cs typeface="Calibri"/>
              </a:rPr>
              <a:t>circuit.</a:t>
            </a:r>
            <a:r>
              <a:rPr sz="2400" dirty="0">
                <a:latin typeface="Microsoft Sans Serif"/>
                <a:cs typeface="Microsoft Sans Serif"/>
              </a:rPr>
              <a:t> </a:t>
            </a:r>
            <a:endParaRPr sz="2400">
              <a:latin typeface="Microsoft Sans Serif"/>
              <a:cs typeface="Microsoft Sans Serif"/>
            </a:endParaRPr>
          </a:p>
          <a:p>
            <a:pPr marL="353695" marR="5080" indent="-341630">
              <a:lnSpc>
                <a:spcPts val="2860"/>
              </a:lnSpc>
              <a:spcBef>
                <a:spcPts val="715"/>
              </a:spcBef>
              <a:buFont typeface="Microsoft Sans Serif"/>
              <a:buChar char="•"/>
              <a:tabLst>
                <a:tab pos="353695" algn="l"/>
                <a:tab pos="354330" algn="l"/>
                <a:tab pos="4250055" algn="l"/>
              </a:tabLst>
            </a:pPr>
            <a:r>
              <a:rPr sz="2400" spc="-5" dirty="0">
                <a:latin typeface="Calibri"/>
                <a:cs typeface="Calibri"/>
              </a:rPr>
              <a:t>Conductivity</a:t>
            </a:r>
            <a:r>
              <a:rPr sz="2400" spc="-20" dirty="0">
                <a:latin typeface="Calibri"/>
                <a:cs typeface="Calibri"/>
              </a:rPr>
              <a:t> </a:t>
            </a:r>
            <a:r>
              <a:rPr sz="2400" spc="-5" dirty="0">
                <a:latin typeface="Calibri"/>
                <a:cs typeface="Calibri"/>
              </a:rPr>
              <a:t>cell</a:t>
            </a:r>
            <a:r>
              <a:rPr sz="2400" spc="-25" dirty="0">
                <a:latin typeface="Calibri"/>
                <a:cs typeface="Calibri"/>
              </a:rPr>
              <a:t> </a:t>
            </a:r>
            <a:r>
              <a:rPr sz="2400" dirty="0">
                <a:latin typeface="Calibri"/>
                <a:cs typeface="Calibri"/>
              </a:rPr>
              <a:t>is</a:t>
            </a:r>
            <a:r>
              <a:rPr sz="2400" spc="-30" dirty="0">
                <a:latin typeface="Calibri"/>
                <a:cs typeface="Calibri"/>
              </a:rPr>
              <a:t> </a:t>
            </a:r>
            <a:r>
              <a:rPr sz="2400" dirty="0">
                <a:latin typeface="Calibri"/>
                <a:cs typeface="Calibri"/>
              </a:rPr>
              <a:t>made</a:t>
            </a:r>
            <a:r>
              <a:rPr sz="2400" spc="-25" dirty="0">
                <a:latin typeface="Calibri"/>
                <a:cs typeface="Calibri"/>
              </a:rPr>
              <a:t> </a:t>
            </a:r>
            <a:r>
              <a:rPr sz="2400" spc="-10" dirty="0">
                <a:latin typeface="Calibri"/>
                <a:cs typeface="Calibri"/>
              </a:rPr>
              <a:t>up</a:t>
            </a:r>
            <a:r>
              <a:rPr sz="2400" spc="5" dirty="0">
                <a:latin typeface="Calibri"/>
                <a:cs typeface="Calibri"/>
              </a:rPr>
              <a:t> </a:t>
            </a:r>
            <a:r>
              <a:rPr sz="2400" dirty="0">
                <a:latin typeface="Calibri"/>
                <a:cs typeface="Calibri"/>
              </a:rPr>
              <a:t>of	</a:t>
            </a:r>
            <a:r>
              <a:rPr sz="2400" spc="-5" dirty="0">
                <a:latin typeface="Calibri"/>
                <a:cs typeface="Calibri"/>
              </a:rPr>
              <a:t>two</a:t>
            </a:r>
            <a:r>
              <a:rPr sz="2400" spc="-40" dirty="0">
                <a:latin typeface="Calibri"/>
                <a:cs typeface="Calibri"/>
              </a:rPr>
              <a:t> </a:t>
            </a:r>
            <a:r>
              <a:rPr sz="2400" spc="-10" dirty="0">
                <a:latin typeface="Calibri"/>
                <a:cs typeface="Calibri"/>
              </a:rPr>
              <a:t>Pt</a:t>
            </a:r>
            <a:r>
              <a:rPr sz="2400" spc="-15" dirty="0">
                <a:latin typeface="Calibri"/>
                <a:cs typeface="Calibri"/>
              </a:rPr>
              <a:t> </a:t>
            </a:r>
            <a:r>
              <a:rPr sz="2400" spc="-5" dirty="0">
                <a:latin typeface="Calibri"/>
                <a:cs typeface="Calibri"/>
              </a:rPr>
              <a:t>electrodes</a:t>
            </a:r>
            <a:r>
              <a:rPr sz="2400" spc="-40" dirty="0">
                <a:latin typeface="Calibri"/>
                <a:cs typeface="Calibri"/>
              </a:rPr>
              <a:t> </a:t>
            </a:r>
            <a:r>
              <a:rPr sz="2400" spc="-5" dirty="0">
                <a:latin typeface="Calibri"/>
                <a:cs typeface="Calibri"/>
              </a:rPr>
              <a:t>coated</a:t>
            </a:r>
            <a:r>
              <a:rPr sz="2400" spc="-30" dirty="0">
                <a:latin typeface="Calibri"/>
                <a:cs typeface="Calibri"/>
              </a:rPr>
              <a:t> </a:t>
            </a:r>
            <a:r>
              <a:rPr sz="2400" spc="-10" dirty="0">
                <a:latin typeface="Calibri"/>
                <a:cs typeface="Calibri"/>
              </a:rPr>
              <a:t>with </a:t>
            </a:r>
            <a:r>
              <a:rPr sz="2400" spc="-525" dirty="0">
                <a:latin typeface="Calibri"/>
                <a:cs typeface="Calibri"/>
              </a:rPr>
              <a:t> </a:t>
            </a:r>
            <a:r>
              <a:rPr sz="2400" spc="-5" dirty="0">
                <a:latin typeface="Calibri"/>
                <a:cs typeface="Calibri"/>
              </a:rPr>
              <a:t>Platinum</a:t>
            </a:r>
            <a:r>
              <a:rPr sz="2400" spc="-55" dirty="0">
                <a:latin typeface="Calibri"/>
                <a:cs typeface="Calibri"/>
              </a:rPr>
              <a:t> </a:t>
            </a:r>
            <a:r>
              <a:rPr sz="2400" dirty="0">
                <a:latin typeface="Calibri"/>
                <a:cs typeface="Calibri"/>
              </a:rPr>
              <a:t>black</a:t>
            </a:r>
            <a:r>
              <a:rPr sz="2400" spc="-30" dirty="0">
                <a:latin typeface="Calibri"/>
                <a:cs typeface="Calibri"/>
              </a:rPr>
              <a:t> </a:t>
            </a:r>
            <a:r>
              <a:rPr sz="2400" spc="5" dirty="0">
                <a:latin typeface="Calibri"/>
                <a:cs typeface="Calibri"/>
              </a:rPr>
              <a:t>to</a:t>
            </a:r>
            <a:r>
              <a:rPr sz="2400" spc="-35" dirty="0">
                <a:latin typeface="Calibri"/>
                <a:cs typeface="Calibri"/>
              </a:rPr>
              <a:t> </a:t>
            </a:r>
            <a:r>
              <a:rPr sz="2400" spc="-5" dirty="0">
                <a:latin typeface="Calibri"/>
                <a:cs typeface="Calibri"/>
              </a:rPr>
              <a:t>avoid</a:t>
            </a:r>
            <a:r>
              <a:rPr sz="2400" dirty="0">
                <a:latin typeface="Calibri"/>
                <a:cs typeface="Calibri"/>
              </a:rPr>
              <a:t> </a:t>
            </a:r>
            <a:r>
              <a:rPr sz="2400" spc="-5" dirty="0">
                <a:latin typeface="Calibri"/>
                <a:cs typeface="Calibri"/>
              </a:rPr>
              <a:t>the</a:t>
            </a:r>
            <a:r>
              <a:rPr sz="2400" spc="-10" dirty="0">
                <a:latin typeface="Calibri"/>
                <a:cs typeface="Calibri"/>
              </a:rPr>
              <a:t> </a:t>
            </a:r>
            <a:r>
              <a:rPr sz="2400" spc="-5" dirty="0">
                <a:latin typeface="Calibri"/>
                <a:cs typeface="Calibri"/>
              </a:rPr>
              <a:t>polarization</a:t>
            </a:r>
            <a:r>
              <a:rPr sz="2400" spc="5" dirty="0">
                <a:latin typeface="Calibri"/>
                <a:cs typeface="Calibri"/>
              </a:rPr>
              <a:t> </a:t>
            </a:r>
            <a:r>
              <a:rPr sz="2400" spc="-5" dirty="0">
                <a:latin typeface="Calibri"/>
                <a:cs typeface="Calibri"/>
              </a:rPr>
              <a:t>effect.</a:t>
            </a:r>
            <a:r>
              <a:rPr sz="2400" dirty="0">
                <a:latin typeface="Microsoft Sans Serif"/>
                <a:cs typeface="Microsoft Sans Serif"/>
              </a:rPr>
              <a:t> </a:t>
            </a:r>
            <a:endParaRPr sz="2400">
              <a:latin typeface="Microsoft Sans Serif"/>
              <a:cs typeface="Microsoft Sans Serif"/>
            </a:endParaRPr>
          </a:p>
        </p:txBody>
      </p:sp>
      <p:pic>
        <p:nvPicPr>
          <p:cNvPr id="3" name="object 3"/>
          <p:cNvPicPr/>
          <p:nvPr/>
        </p:nvPicPr>
        <p:blipFill>
          <a:blip r:embed="rId2" cstate="print"/>
          <a:stretch>
            <a:fillRect/>
          </a:stretch>
        </p:blipFill>
        <p:spPr>
          <a:xfrm>
            <a:off x="3391534" y="3560432"/>
            <a:ext cx="2553969" cy="286385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60044" y="417017"/>
            <a:ext cx="8126095" cy="5273040"/>
          </a:xfrm>
          <a:prstGeom prst="rect">
            <a:avLst/>
          </a:prstGeom>
        </p:spPr>
        <p:txBody>
          <a:bodyPr vert="horz" wrap="square" lIns="0" tIns="12065" rIns="0" bIns="0" rtlCol="0">
            <a:spAutoFit/>
          </a:bodyPr>
          <a:lstStyle/>
          <a:p>
            <a:pPr marL="353695" indent="-341630">
              <a:lnSpc>
                <a:spcPct val="100000"/>
              </a:lnSpc>
              <a:spcBef>
                <a:spcPts val="95"/>
              </a:spcBef>
              <a:buFont typeface="Microsoft Sans Serif"/>
              <a:buChar char="•"/>
              <a:tabLst>
                <a:tab pos="353695" algn="l"/>
                <a:tab pos="354330" algn="l"/>
              </a:tabLst>
            </a:pPr>
            <a:r>
              <a:rPr sz="3200" spc="-5" dirty="0">
                <a:solidFill>
                  <a:srgbClr val="C00000"/>
                </a:solidFill>
                <a:latin typeface="Calibri"/>
                <a:cs typeface="Calibri"/>
              </a:rPr>
              <a:t>Determination</a:t>
            </a:r>
            <a:r>
              <a:rPr sz="3200" spc="-40" dirty="0">
                <a:solidFill>
                  <a:srgbClr val="C00000"/>
                </a:solidFill>
                <a:latin typeface="Calibri"/>
                <a:cs typeface="Calibri"/>
              </a:rPr>
              <a:t> </a:t>
            </a:r>
            <a:r>
              <a:rPr sz="3200" spc="-5" dirty="0">
                <a:solidFill>
                  <a:srgbClr val="C00000"/>
                </a:solidFill>
                <a:latin typeface="Calibri"/>
                <a:cs typeface="Calibri"/>
              </a:rPr>
              <a:t>of</a:t>
            </a:r>
            <a:r>
              <a:rPr sz="3200" spc="-55" dirty="0">
                <a:solidFill>
                  <a:srgbClr val="C00000"/>
                </a:solidFill>
                <a:latin typeface="Calibri"/>
                <a:cs typeface="Calibri"/>
              </a:rPr>
              <a:t> </a:t>
            </a:r>
            <a:r>
              <a:rPr sz="3200" spc="-10" dirty="0">
                <a:solidFill>
                  <a:srgbClr val="C00000"/>
                </a:solidFill>
                <a:latin typeface="Calibri"/>
                <a:cs typeface="Calibri"/>
              </a:rPr>
              <a:t>cell</a:t>
            </a:r>
            <a:r>
              <a:rPr sz="3200" spc="-60" dirty="0">
                <a:solidFill>
                  <a:srgbClr val="C00000"/>
                </a:solidFill>
                <a:latin typeface="Calibri"/>
                <a:cs typeface="Calibri"/>
              </a:rPr>
              <a:t> </a:t>
            </a:r>
            <a:r>
              <a:rPr sz="3200" spc="-5" dirty="0">
                <a:solidFill>
                  <a:srgbClr val="C00000"/>
                </a:solidFill>
                <a:latin typeface="Calibri"/>
                <a:cs typeface="Calibri"/>
              </a:rPr>
              <a:t>constant:</a:t>
            </a:r>
            <a:r>
              <a:rPr sz="3200" dirty="0">
                <a:solidFill>
                  <a:srgbClr val="C00000"/>
                </a:solidFill>
                <a:latin typeface="Microsoft Sans Serif"/>
                <a:cs typeface="Microsoft Sans Serif"/>
              </a:rPr>
              <a:t> </a:t>
            </a:r>
            <a:endParaRPr sz="3200">
              <a:latin typeface="Microsoft Sans Serif"/>
              <a:cs typeface="Microsoft Sans Serif"/>
            </a:endParaRPr>
          </a:p>
          <a:p>
            <a:pPr>
              <a:lnSpc>
                <a:spcPct val="100000"/>
              </a:lnSpc>
              <a:buChar char="•"/>
            </a:pPr>
            <a:endParaRPr sz="3700">
              <a:latin typeface="Microsoft Sans Serif"/>
              <a:cs typeface="Microsoft Sans Serif"/>
            </a:endParaRPr>
          </a:p>
          <a:p>
            <a:pPr>
              <a:lnSpc>
                <a:spcPct val="100000"/>
              </a:lnSpc>
              <a:spcBef>
                <a:spcPts val="15"/>
              </a:spcBef>
              <a:buChar char="•"/>
            </a:pPr>
            <a:endParaRPr sz="4300">
              <a:latin typeface="Microsoft Sans Serif"/>
              <a:cs typeface="Microsoft Sans Serif"/>
            </a:endParaRPr>
          </a:p>
          <a:p>
            <a:pPr marL="353695" marR="5080" indent="-341630">
              <a:lnSpc>
                <a:spcPct val="89500"/>
              </a:lnSpc>
              <a:spcBef>
                <a:spcPts val="5"/>
              </a:spcBef>
              <a:buFont typeface="Microsoft Sans Serif"/>
              <a:buChar char="•"/>
              <a:tabLst>
                <a:tab pos="353695" algn="l"/>
                <a:tab pos="354330" algn="l"/>
              </a:tabLst>
            </a:pPr>
            <a:r>
              <a:rPr sz="3200" spc="-10" dirty="0">
                <a:latin typeface="Calibri"/>
                <a:cs typeface="Calibri"/>
              </a:rPr>
              <a:t>To </a:t>
            </a:r>
            <a:r>
              <a:rPr sz="3200" spc="-5" dirty="0">
                <a:latin typeface="Calibri"/>
                <a:cs typeface="Calibri"/>
              </a:rPr>
              <a:t>determine</a:t>
            </a:r>
            <a:r>
              <a:rPr sz="3200" spc="-10" dirty="0">
                <a:latin typeface="Calibri"/>
                <a:cs typeface="Calibri"/>
              </a:rPr>
              <a:t> </a:t>
            </a:r>
            <a:r>
              <a:rPr sz="3200" spc="-5" dirty="0">
                <a:latin typeface="Calibri"/>
                <a:cs typeface="Calibri"/>
              </a:rPr>
              <a:t>the</a:t>
            </a:r>
            <a:r>
              <a:rPr sz="3200" spc="15" dirty="0">
                <a:latin typeface="Calibri"/>
                <a:cs typeface="Calibri"/>
              </a:rPr>
              <a:t> </a:t>
            </a:r>
            <a:r>
              <a:rPr sz="3200" spc="-10" dirty="0">
                <a:latin typeface="Calibri"/>
                <a:cs typeface="Calibri"/>
              </a:rPr>
              <a:t>cell</a:t>
            </a:r>
            <a:r>
              <a:rPr sz="3200" spc="10" dirty="0">
                <a:latin typeface="Calibri"/>
                <a:cs typeface="Calibri"/>
              </a:rPr>
              <a:t> </a:t>
            </a:r>
            <a:r>
              <a:rPr sz="3200" spc="-5" dirty="0">
                <a:latin typeface="Calibri"/>
                <a:cs typeface="Calibri"/>
              </a:rPr>
              <a:t>constant,</a:t>
            </a:r>
            <a:r>
              <a:rPr sz="3200" dirty="0">
                <a:latin typeface="Calibri"/>
                <a:cs typeface="Calibri"/>
              </a:rPr>
              <a:t> </a:t>
            </a:r>
            <a:r>
              <a:rPr sz="3200" spc="-5" dirty="0">
                <a:latin typeface="Calibri"/>
                <a:cs typeface="Calibri"/>
              </a:rPr>
              <a:t>a</a:t>
            </a:r>
            <a:r>
              <a:rPr sz="3200" spc="-10" dirty="0">
                <a:latin typeface="Calibri"/>
                <a:cs typeface="Calibri"/>
              </a:rPr>
              <a:t> </a:t>
            </a:r>
            <a:r>
              <a:rPr sz="3200" spc="-5" dirty="0">
                <a:latin typeface="Calibri"/>
                <a:cs typeface="Calibri"/>
              </a:rPr>
              <a:t>standard </a:t>
            </a:r>
            <a:r>
              <a:rPr sz="3200" dirty="0">
                <a:latin typeface="Calibri"/>
                <a:cs typeface="Calibri"/>
              </a:rPr>
              <a:t> </a:t>
            </a:r>
            <a:r>
              <a:rPr sz="3200" spc="-5" dirty="0">
                <a:latin typeface="Calibri"/>
                <a:cs typeface="Calibri"/>
              </a:rPr>
              <a:t>solution</a:t>
            </a:r>
            <a:r>
              <a:rPr sz="3200" spc="-20" dirty="0">
                <a:latin typeface="Calibri"/>
                <a:cs typeface="Calibri"/>
              </a:rPr>
              <a:t> </a:t>
            </a:r>
            <a:r>
              <a:rPr sz="3200" spc="-5" dirty="0">
                <a:latin typeface="Calibri"/>
                <a:cs typeface="Calibri"/>
              </a:rPr>
              <a:t>of</a:t>
            </a:r>
            <a:r>
              <a:rPr sz="3200" spc="-45" dirty="0">
                <a:latin typeface="Calibri"/>
                <a:cs typeface="Calibri"/>
              </a:rPr>
              <a:t> </a:t>
            </a:r>
            <a:r>
              <a:rPr sz="3200" spc="-5" dirty="0">
                <a:latin typeface="Calibri"/>
                <a:cs typeface="Calibri"/>
              </a:rPr>
              <a:t>KCl</a:t>
            </a:r>
            <a:r>
              <a:rPr sz="3200" spc="-15" dirty="0">
                <a:latin typeface="Calibri"/>
                <a:cs typeface="Calibri"/>
              </a:rPr>
              <a:t> </a:t>
            </a:r>
            <a:r>
              <a:rPr sz="3200" spc="-5" dirty="0">
                <a:latin typeface="Calibri"/>
                <a:cs typeface="Calibri"/>
              </a:rPr>
              <a:t>whose</a:t>
            </a:r>
            <a:r>
              <a:rPr sz="3200" spc="-65" dirty="0">
                <a:latin typeface="Calibri"/>
                <a:cs typeface="Calibri"/>
              </a:rPr>
              <a:t> </a:t>
            </a:r>
            <a:r>
              <a:rPr sz="3200" spc="-5" dirty="0">
                <a:latin typeface="Calibri"/>
                <a:cs typeface="Calibri"/>
              </a:rPr>
              <a:t>specific</a:t>
            </a:r>
            <a:r>
              <a:rPr sz="3200" spc="-20" dirty="0">
                <a:latin typeface="Calibri"/>
                <a:cs typeface="Calibri"/>
              </a:rPr>
              <a:t> </a:t>
            </a:r>
            <a:r>
              <a:rPr sz="3200" spc="-5" dirty="0">
                <a:latin typeface="Calibri"/>
                <a:cs typeface="Calibri"/>
              </a:rPr>
              <a:t>conductance</a:t>
            </a:r>
            <a:r>
              <a:rPr sz="3200" spc="-60" dirty="0">
                <a:latin typeface="Calibri"/>
                <a:cs typeface="Calibri"/>
              </a:rPr>
              <a:t> </a:t>
            </a:r>
            <a:r>
              <a:rPr sz="3200" dirty="0">
                <a:latin typeface="Calibri"/>
                <a:cs typeface="Calibri"/>
              </a:rPr>
              <a:t>at</a:t>
            </a:r>
            <a:r>
              <a:rPr sz="3200" spc="-15" dirty="0">
                <a:latin typeface="Calibri"/>
                <a:cs typeface="Calibri"/>
              </a:rPr>
              <a:t> </a:t>
            </a:r>
            <a:r>
              <a:rPr sz="3200" spc="-5" dirty="0">
                <a:latin typeface="Calibri"/>
                <a:cs typeface="Calibri"/>
              </a:rPr>
              <a:t>a </a:t>
            </a:r>
            <a:r>
              <a:rPr sz="3200" spc="-710" dirty="0">
                <a:latin typeface="Calibri"/>
                <a:cs typeface="Calibri"/>
              </a:rPr>
              <a:t> </a:t>
            </a:r>
            <a:r>
              <a:rPr sz="3200" spc="-5" dirty="0">
                <a:latin typeface="Calibri"/>
                <a:cs typeface="Calibri"/>
              </a:rPr>
              <a:t>given</a:t>
            </a:r>
            <a:r>
              <a:rPr sz="3200" spc="-10" dirty="0">
                <a:latin typeface="Calibri"/>
                <a:cs typeface="Calibri"/>
              </a:rPr>
              <a:t> </a:t>
            </a:r>
            <a:r>
              <a:rPr sz="3200" spc="-5" dirty="0">
                <a:latin typeface="Calibri"/>
                <a:cs typeface="Calibri"/>
              </a:rPr>
              <a:t>temperature</a:t>
            </a:r>
            <a:r>
              <a:rPr sz="3200" spc="10" dirty="0">
                <a:latin typeface="Calibri"/>
                <a:cs typeface="Calibri"/>
              </a:rPr>
              <a:t> </a:t>
            </a:r>
            <a:r>
              <a:rPr sz="3200" spc="-5" dirty="0">
                <a:latin typeface="Calibri"/>
                <a:cs typeface="Calibri"/>
              </a:rPr>
              <a:t>is </a:t>
            </a:r>
            <a:r>
              <a:rPr sz="3200" spc="-10" dirty="0">
                <a:latin typeface="Calibri"/>
                <a:cs typeface="Calibri"/>
              </a:rPr>
              <a:t>known</a:t>
            </a:r>
            <a:r>
              <a:rPr sz="3200" spc="-5" dirty="0">
                <a:latin typeface="Calibri"/>
                <a:cs typeface="Calibri"/>
              </a:rPr>
              <a:t> </a:t>
            </a:r>
            <a:r>
              <a:rPr sz="3200" dirty="0">
                <a:latin typeface="Calibri"/>
                <a:cs typeface="Calibri"/>
              </a:rPr>
              <a:t>is</a:t>
            </a:r>
            <a:r>
              <a:rPr sz="3200" spc="-10" dirty="0">
                <a:latin typeface="Calibri"/>
                <a:cs typeface="Calibri"/>
              </a:rPr>
              <a:t> </a:t>
            </a:r>
            <a:r>
              <a:rPr sz="3200" spc="-5" dirty="0">
                <a:latin typeface="Calibri"/>
                <a:cs typeface="Calibri"/>
              </a:rPr>
              <a:t>used.</a:t>
            </a:r>
            <a:r>
              <a:rPr sz="3200" spc="25" dirty="0">
                <a:latin typeface="Calibri"/>
                <a:cs typeface="Calibri"/>
              </a:rPr>
              <a:t> </a:t>
            </a:r>
            <a:r>
              <a:rPr sz="3200" spc="-10" dirty="0">
                <a:latin typeface="Calibri"/>
                <a:cs typeface="Calibri"/>
              </a:rPr>
              <a:t>Then</a:t>
            </a:r>
            <a:r>
              <a:rPr sz="3200" spc="-5" dirty="0">
                <a:latin typeface="Calibri"/>
                <a:cs typeface="Calibri"/>
              </a:rPr>
              <a:t> the </a:t>
            </a:r>
            <a:r>
              <a:rPr sz="3200" dirty="0">
                <a:latin typeface="Calibri"/>
                <a:cs typeface="Calibri"/>
              </a:rPr>
              <a:t> </a:t>
            </a:r>
            <a:r>
              <a:rPr sz="3200" spc="-5" dirty="0">
                <a:latin typeface="Calibri"/>
                <a:cs typeface="Calibri"/>
              </a:rPr>
              <a:t>standard</a:t>
            </a:r>
            <a:r>
              <a:rPr sz="3200" spc="-10" dirty="0">
                <a:latin typeface="Calibri"/>
                <a:cs typeface="Calibri"/>
              </a:rPr>
              <a:t> </a:t>
            </a:r>
            <a:r>
              <a:rPr sz="3200" spc="-5" dirty="0">
                <a:latin typeface="Calibri"/>
                <a:cs typeface="Calibri"/>
              </a:rPr>
              <a:t>KCl</a:t>
            </a:r>
            <a:r>
              <a:rPr sz="3200" dirty="0">
                <a:latin typeface="Calibri"/>
                <a:cs typeface="Calibri"/>
              </a:rPr>
              <a:t> </a:t>
            </a:r>
            <a:r>
              <a:rPr sz="3200" spc="-5" dirty="0">
                <a:latin typeface="Calibri"/>
                <a:cs typeface="Calibri"/>
              </a:rPr>
              <a:t>of</a:t>
            </a:r>
            <a:r>
              <a:rPr sz="3200" dirty="0">
                <a:latin typeface="Calibri"/>
                <a:cs typeface="Calibri"/>
              </a:rPr>
              <a:t> </a:t>
            </a:r>
            <a:r>
              <a:rPr sz="3200" spc="-10" dirty="0">
                <a:latin typeface="Calibri"/>
                <a:cs typeface="Calibri"/>
              </a:rPr>
              <a:t>same</a:t>
            </a:r>
            <a:r>
              <a:rPr sz="3200" spc="-15" dirty="0">
                <a:latin typeface="Calibri"/>
                <a:cs typeface="Calibri"/>
              </a:rPr>
              <a:t> </a:t>
            </a:r>
            <a:r>
              <a:rPr sz="3200" spc="-5" dirty="0">
                <a:latin typeface="Calibri"/>
                <a:cs typeface="Calibri"/>
              </a:rPr>
              <a:t>concentration</a:t>
            </a:r>
            <a:r>
              <a:rPr sz="3200" dirty="0">
                <a:latin typeface="Calibri"/>
                <a:cs typeface="Calibri"/>
              </a:rPr>
              <a:t> is</a:t>
            </a:r>
            <a:r>
              <a:rPr sz="3200" spc="-5" dirty="0">
                <a:latin typeface="Calibri"/>
                <a:cs typeface="Calibri"/>
              </a:rPr>
              <a:t> </a:t>
            </a:r>
            <a:r>
              <a:rPr sz="3200" spc="-10" dirty="0">
                <a:latin typeface="Calibri"/>
                <a:cs typeface="Calibri"/>
              </a:rPr>
              <a:t>prepare </a:t>
            </a:r>
            <a:r>
              <a:rPr sz="3200" spc="-5" dirty="0">
                <a:latin typeface="Calibri"/>
                <a:cs typeface="Calibri"/>
              </a:rPr>
              <a:t> and</a:t>
            </a:r>
            <a:r>
              <a:rPr sz="3200" dirty="0">
                <a:latin typeface="Calibri"/>
                <a:cs typeface="Calibri"/>
              </a:rPr>
              <a:t> its</a:t>
            </a:r>
            <a:r>
              <a:rPr sz="3200" spc="-5" dirty="0">
                <a:latin typeface="Calibri"/>
                <a:cs typeface="Calibri"/>
              </a:rPr>
              <a:t> </a:t>
            </a:r>
            <a:r>
              <a:rPr sz="3200" spc="-10" dirty="0">
                <a:latin typeface="Calibri"/>
                <a:cs typeface="Calibri"/>
              </a:rPr>
              <a:t>conductance</a:t>
            </a:r>
            <a:r>
              <a:rPr sz="3200" dirty="0">
                <a:latin typeface="Calibri"/>
                <a:cs typeface="Calibri"/>
              </a:rPr>
              <a:t> </a:t>
            </a:r>
            <a:r>
              <a:rPr sz="3200" spc="-5" dirty="0">
                <a:latin typeface="Calibri"/>
                <a:cs typeface="Calibri"/>
              </a:rPr>
              <a:t>is</a:t>
            </a:r>
            <a:r>
              <a:rPr sz="3200" dirty="0">
                <a:latin typeface="Calibri"/>
                <a:cs typeface="Calibri"/>
              </a:rPr>
              <a:t> </a:t>
            </a:r>
            <a:r>
              <a:rPr sz="3200" spc="-5" dirty="0">
                <a:latin typeface="Calibri"/>
                <a:cs typeface="Calibri"/>
              </a:rPr>
              <a:t>measured</a:t>
            </a:r>
            <a:r>
              <a:rPr sz="3200" dirty="0">
                <a:latin typeface="Calibri"/>
                <a:cs typeface="Calibri"/>
              </a:rPr>
              <a:t> </a:t>
            </a:r>
            <a:r>
              <a:rPr sz="3200" spc="-5" dirty="0">
                <a:latin typeface="Calibri"/>
                <a:cs typeface="Calibri"/>
              </a:rPr>
              <a:t>at</a:t>
            </a:r>
            <a:r>
              <a:rPr sz="3200" dirty="0">
                <a:latin typeface="Calibri"/>
                <a:cs typeface="Calibri"/>
              </a:rPr>
              <a:t> same </a:t>
            </a:r>
            <a:r>
              <a:rPr sz="3200" spc="5" dirty="0">
                <a:latin typeface="Calibri"/>
                <a:cs typeface="Calibri"/>
              </a:rPr>
              <a:t> </a:t>
            </a:r>
            <a:r>
              <a:rPr sz="3200" spc="-5" dirty="0">
                <a:latin typeface="Calibri"/>
                <a:cs typeface="Calibri"/>
              </a:rPr>
              <a:t>temperature.</a:t>
            </a:r>
            <a:r>
              <a:rPr sz="3200" dirty="0">
                <a:latin typeface="Microsoft Sans Serif"/>
                <a:cs typeface="Microsoft Sans Serif"/>
              </a:rPr>
              <a:t> </a:t>
            </a:r>
            <a:endParaRPr sz="3200">
              <a:latin typeface="Microsoft Sans Serif"/>
              <a:cs typeface="Microsoft Sans Serif"/>
            </a:endParaRPr>
          </a:p>
          <a:p>
            <a:pPr marL="353695" marR="100330" indent="-341630">
              <a:lnSpc>
                <a:spcPts val="3460"/>
              </a:lnSpc>
              <a:spcBef>
                <a:spcPts val="910"/>
              </a:spcBef>
              <a:buFont typeface="Microsoft Sans Serif"/>
              <a:buChar char="•"/>
              <a:tabLst>
                <a:tab pos="353695" algn="l"/>
                <a:tab pos="354330" algn="l"/>
              </a:tabLst>
            </a:pPr>
            <a:r>
              <a:rPr sz="3200" spc="-5" dirty="0">
                <a:solidFill>
                  <a:srgbClr val="C00000"/>
                </a:solidFill>
                <a:latin typeface="Calibri"/>
                <a:cs typeface="Calibri"/>
              </a:rPr>
              <a:t>N/50 KCl </a:t>
            </a:r>
            <a:r>
              <a:rPr sz="3200" dirty="0">
                <a:latin typeface="Calibri"/>
                <a:cs typeface="Calibri"/>
              </a:rPr>
              <a:t>-0.372 </a:t>
            </a:r>
            <a:r>
              <a:rPr sz="3200" spc="5" dirty="0">
                <a:latin typeface="Calibri"/>
                <a:cs typeface="Calibri"/>
              </a:rPr>
              <a:t>gm </a:t>
            </a:r>
            <a:r>
              <a:rPr sz="3200" spc="-5" dirty="0">
                <a:latin typeface="Calibri"/>
                <a:cs typeface="Calibri"/>
              </a:rPr>
              <a:t>KCl </a:t>
            </a:r>
            <a:r>
              <a:rPr sz="3200" dirty="0">
                <a:latin typeface="Calibri"/>
                <a:cs typeface="Calibri"/>
              </a:rPr>
              <a:t>in </a:t>
            </a:r>
            <a:r>
              <a:rPr sz="3200" spc="-5" dirty="0">
                <a:latin typeface="Calibri"/>
                <a:cs typeface="Calibri"/>
              </a:rPr>
              <a:t>250 ml conductivity </a:t>
            </a:r>
            <a:r>
              <a:rPr sz="3200" dirty="0">
                <a:latin typeface="Calibri"/>
                <a:cs typeface="Calibri"/>
              </a:rPr>
              <a:t> </a:t>
            </a:r>
            <a:r>
              <a:rPr sz="3200" spc="-5" dirty="0">
                <a:latin typeface="Calibri"/>
                <a:cs typeface="Calibri"/>
              </a:rPr>
              <a:t>water</a:t>
            </a:r>
            <a:r>
              <a:rPr sz="3200" spc="-70" dirty="0">
                <a:latin typeface="Calibri"/>
                <a:cs typeface="Calibri"/>
              </a:rPr>
              <a:t> </a:t>
            </a:r>
            <a:r>
              <a:rPr sz="3200" spc="-5" dirty="0">
                <a:latin typeface="Calibri"/>
                <a:cs typeface="Calibri"/>
              </a:rPr>
              <a:t>,</a:t>
            </a:r>
            <a:r>
              <a:rPr sz="3200" spc="-35" dirty="0">
                <a:latin typeface="Calibri"/>
                <a:cs typeface="Calibri"/>
              </a:rPr>
              <a:t> </a:t>
            </a:r>
            <a:r>
              <a:rPr sz="3200" spc="-5" dirty="0">
                <a:latin typeface="Calibri"/>
                <a:cs typeface="Calibri"/>
              </a:rPr>
              <a:t>conductance</a:t>
            </a:r>
            <a:r>
              <a:rPr sz="3200" spc="-25" dirty="0">
                <a:latin typeface="Calibri"/>
                <a:cs typeface="Calibri"/>
              </a:rPr>
              <a:t> </a:t>
            </a:r>
            <a:r>
              <a:rPr sz="3200" dirty="0">
                <a:latin typeface="Calibri"/>
                <a:cs typeface="Calibri"/>
              </a:rPr>
              <a:t>at</a:t>
            </a:r>
            <a:r>
              <a:rPr sz="3200" spc="-20" dirty="0">
                <a:latin typeface="Calibri"/>
                <a:cs typeface="Calibri"/>
              </a:rPr>
              <a:t> </a:t>
            </a:r>
            <a:r>
              <a:rPr sz="3200" spc="-5" dirty="0">
                <a:latin typeface="Calibri"/>
                <a:cs typeface="Calibri"/>
              </a:rPr>
              <a:t>25°C</a:t>
            </a:r>
            <a:r>
              <a:rPr sz="3200" spc="-25" dirty="0">
                <a:latin typeface="Calibri"/>
                <a:cs typeface="Calibri"/>
              </a:rPr>
              <a:t> </a:t>
            </a:r>
            <a:r>
              <a:rPr sz="3200" dirty="0">
                <a:latin typeface="Calibri"/>
                <a:cs typeface="Calibri"/>
              </a:rPr>
              <a:t>is</a:t>
            </a:r>
            <a:r>
              <a:rPr sz="3200" spc="-30" dirty="0">
                <a:latin typeface="Calibri"/>
                <a:cs typeface="Calibri"/>
              </a:rPr>
              <a:t> </a:t>
            </a:r>
            <a:r>
              <a:rPr sz="3200" spc="-5" dirty="0">
                <a:latin typeface="Calibri"/>
                <a:cs typeface="Calibri"/>
              </a:rPr>
              <a:t>0.002765</a:t>
            </a:r>
            <a:r>
              <a:rPr sz="3200" spc="25" dirty="0">
                <a:latin typeface="Calibri"/>
                <a:cs typeface="Calibri"/>
              </a:rPr>
              <a:t> </a:t>
            </a:r>
            <a:r>
              <a:rPr sz="3200" dirty="0">
                <a:latin typeface="Calibri"/>
                <a:cs typeface="Calibri"/>
              </a:rPr>
              <a:t>mho.</a:t>
            </a:r>
            <a:r>
              <a:rPr sz="3200" dirty="0">
                <a:solidFill>
                  <a:srgbClr val="C00000"/>
                </a:solidFill>
                <a:latin typeface="Microsoft Sans Serif"/>
                <a:cs typeface="Microsoft Sans Serif"/>
              </a:rPr>
              <a:t> </a:t>
            </a:r>
            <a:endParaRPr sz="3200">
              <a:latin typeface="Microsoft Sans Serif"/>
              <a:cs typeface="Microsoft Sans Serif"/>
            </a:endParaRPr>
          </a:p>
        </p:txBody>
      </p:sp>
      <p:pic>
        <p:nvPicPr>
          <p:cNvPr id="3" name="object 3"/>
          <p:cNvPicPr/>
          <p:nvPr/>
        </p:nvPicPr>
        <p:blipFill>
          <a:blip r:embed="rId2" cstate="print"/>
          <a:stretch>
            <a:fillRect/>
          </a:stretch>
        </p:blipFill>
        <p:spPr>
          <a:xfrm>
            <a:off x="1678304" y="1188072"/>
            <a:ext cx="4639945" cy="82284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60044" y="395986"/>
            <a:ext cx="8017509" cy="1029969"/>
          </a:xfrm>
          <a:prstGeom prst="rect">
            <a:avLst/>
          </a:prstGeom>
        </p:spPr>
        <p:txBody>
          <a:bodyPr vert="horz" wrap="square" lIns="0" tIns="14604" rIns="0" bIns="0" rtlCol="0">
            <a:spAutoFit/>
          </a:bodyPr>
          <a:lstStyle/>
          <a:p>
            <a:pPr marL="353695" marR="5080" indent="-341630">
              <a:lnSpc>
                <a:spcPct val="99600"/>
              </a:lnSpc>
              <a:spcBef>
                <a:spcPts val="114"/>
              </a:spcBef>
              <a:buFont typeface="Microsoft Sans Serif"/>
              <a:buChar char="•"/>
              <a:tabLst>
                <a:tab pos="353695" algn="l"/>
                <a:tab pos="354330" algn="l"/>
              </a:tabLst>
            </a:pPr>
            <a:r>
              <a:rPr sz="2200" dirty="0">
                <a:solidFill>
                  <a:srgbClr val="C00000"/>
                </a:solidFill>
                <a:latin typeface="Calibri"/>
                <a:cs typeface="Calibri"/>
              </a:rPr>
              <a:t>Equivalent</a:t>
            </a:r>
            <a:r>
              <a:rPr sz="2200" spc="-70" dirty="0">
                <a:solidFill>
                  <a:srgbClr val="C00000"/>
                </a:solidFill>
                <a:latin typeface="Calibri"/>
                <a:cs typeface="Calibri"/>
              </a:rPr>
              <a:t> </a:t>
            </a:r>
            <a:r>
              <a:rPr sz="2200" spc="-5" dirty="0">
                <a:solidFill>
                  <a:srgbClr val="C00000"/>
                </a:solidFill>
                <a:latin typeface="Calibri"/>
                <a:cs typeface="Calibri"/>
              </a:rPr>
              <a:t>conductance:</a:t>
            </a:r>
            <a:r>
              <a:rPr sz="2200" spc="-25" dirty="0">
                <a:solidFill>
                  <a:srgbClr val="C00000"/>
                </a:solidFill>
                <a:latin typeface="Calibri"/>
                <a:cs typeface="Calibri"/>
              </a:rPr>
              <a:t> </a:t>
            </a:r>
            <a:r>
              <a:rPr sz="2200" dirty="0">
                <a:latin typeface="Calibri"/>
                <a:cs typeface="Calibri"/>
              </a:rPr>
              <a:t>is</a:t>
            </a:r>
            <a:r>
              <a:rPr sz="2200" spc="-65" dirty="0">
                <a:latin typeface="Calibri"/>
                <a:cs typeface="Calibri"/>
              </a:rPr>
              <a:t> </a:t>
            </a:r>
            <a:r>
              <a:rPr sz="2200" dirty="0">
                <a:latin typeface="Calibri"/>
                <a:cs typeface="Calibri"/>
              </a:rPr>
              <a:t>defined</a:t>
            </a:r>
            <a:r>
              <a:rPr sz="2200" spc="-45" dirty="0">
                <a:latin typeface="Calibri"/>
                <a:cs typeface="Calibri"/>
              </a:rPr>
              <a:t> </a:t>
            </a:r>
            <a:r>
              <a:rPr sz="2200" dirty="0">
                <a:latin typeface="Calibri"/>
                <a:cs typeface="Calibri"/>
              </a:rPr>
              <a:t>as</a:t>
            </a:r>
            <a:r>
              <a:rPr sz="2200" spc="-35" dirty="0">
                <a:latin typeface="Calibri"/>
                <a:cs typeface="Calibri"/>
              </a:rPr>
              <a:t> </a:t>
            </a:r>
            <a:r>
              <a:rPr sz="2200" dirty="0">
                <a:latin typeface="Calibri"/>
                <a:cs typeface="Calibri"/>
              </a:rPr>
              <a:t>the</a:t>
            </a:r>
            <a:r>
              <a:rPr sz="2200" spc="-65" dirty="0">
                <a:latin typeface="Calibri"/>
                <a:cs typeface="Calibri"/>
              </a:rPr>
              <a:t> </a:t>
            </a:r>
            <a:r>
              <a:rPr sz="2200" spc="-5" dirty="0">
                <a:latin typeface="Calibri"/>
                <a:cs typeface="Calibri"/>
              </a:rPr>
              <a:t>conductance</a:t>
            </a:r>
            <a:r>
              <a:rPr sz="2200" spc="-55" dirty="0">
                <a:latin typeface="Calibri"/>
                <a:cs typeface="Calibri"/>
              </a:rPr>
              <a:t> </a:t>
            </a:r>
            <a:r>
              <a:rPr sz="2200" spc="5" dirty="0">
                <a:latin typeface="Calibri"/>
                <a:cs typeface="Calibri"/>
              </a:rPr>
              <a:t>of</a:t>
            </a:r>
            <a:r>
              <a:rPr sz="2200" spc="-65" dirty="0">
                <a:latin typeface="Calibri"/>
                <a:cs typeface="Calibri"/>
              </a:rPr>
              <a:t> </a:t>
            </a:r>
            <a:r>
              <a:rPr sz="2200" dirty="0">
                <a:latin typeface="Calibri"/>
                <a:cs typeface="Calibri"/>
              </a:rPr>
              <a:t>a</a:t>
            </a:r>
            <a:r>
              <a:rPr sz="2200" spc="-70" dirty="0">
                <a:latin typeface="Calibri"/>
                <a:cs typeface="Calibri"/>
              </a:rPr>
              <a:t> </a:t>
            </a:r>
            <a:r>
              <a:rPr sz="2200" dirty="0">
                <a:latin typeface="Calibri"/>
                <a:cs typeface="Calibri"/>
              </a:rPr>
              <a:t>solution </a:t>
            </a:r>
            <a:r>
              <a:rPr sz="2200" spc="-480" dirty="0">
                <a:latin typeface="Calibri"/>
                <a:cs typeface="Calibri"/>
              </a:rPr>
              <a:t> </a:t>
            </a:r>
            <a:r>
              <a:rPr sz="2200" dirty="0">
                <a:latin typeface="Calibri"/>
                <a:cs typeface="Calibri"/>
              </a:rPr>
              <a:t>containing</a:t>
            </a:r>
            <a:r>
              <a:rPr sz="2200" spc="-30" dirty="0">
                <a:latin typeface="Calibri"/>
                <a:cs typeface="Calibri"/>
              </a:rPr>
              <a:t> </a:t>
            </a:r>
            <a:r>
              <a:rPr sz="2200" dirty="0">
                <a:latin typeface="Calibri"/>
                <a:cs typeface="Calibri"/>
              </a:rPr>
              <a:t>one</a:t>
            </a:r>
            <a:r>
              <a:rPr sz="2200" spc="15" dirty="0">
                <a:latin typeface="Calibri"/>
                <a:cs typeface="Calibri"/>
              </a:rPr>
              <a:t> </a:t>
            </a:r>
            <a:r>
              <a:rPr sz="2200" spc="-10" dirty="0">
                <a:latin typeface="Calibri"/>
                <a:cs typeface="Calibri"/>
              </a:rPr>
              <a:t>gram</a:t>
            </a:r>
            <a:r>
              <a:rPr sz="2200" spc="-5" dirty="0">
                <a:latin typeface="Calibri"/>
                <a:cs typeface="Calibri"/>
              </a:rPr>
              <a:t> equivalent</a:t>
            </a:r>
            <a:r>
              <a:rPr sz="2200" spc="-10" dirty="0">
                <a:latin typeface="Calibri"/>
                <a:cs typeface="Calibri"/>
              </a:rPr>
              <a:t> </a:t>
            </a:r>
            <a:r>
              <a:rPr sz="2200" spc="5" dirty="0">
                <a:latin typeface="Calibri"/>
                <a:cs typeface="Calibri"/>
              </a:rPr>
              <a:t>of </a:t>
            </a:r>
            <a:r>
              <a:rPr sz="2200" dirty="0">
                <a:latin typeface="Calibri"/>
                <a:cs typeface="Calibri"/>
              </a:rPr>
              <a:t>an</a:t>
            </a:r>
            <a:r>
              <a:rPr sz="2200" spc="5" dirty="0">
                <a:latin typeface="Calibri"/>
                <a:cs typeface="Calibri"/>
              </a:rPr>
              <a:t> </a:t>
            </a:r>
            <a:r>
              <a:rPr sz="2200" spc="-5" dirty="0">
                <a:latin typeface="Calibri"/>
                <a:cs typeface="Calibri"/>
              </a:rPr>
              <a:t>electrolyte</a:t>
            </a:r>
            <a:r>
              <a:rPr sz="2200" spc="-15" dirty="0">
                <a:latin typeface="Calibri"/>
                <a:cs typeface="Calibri"/>
              </a:rPr>
              <a:t> </a:t>
            </a:r>
            <a:r>
              <a:rPr sz="2200" dirty="0">
                <a:latin typeface="Calibri"/>
                <a:cs typeface="Calibri"/>
              </a:rPr>
              <a:t>at</a:t>
            </a:r>
            <a:r>
              <a:rPr sz="2200" spc="10" dirty="0">
                <a:latin typeface="Calibri"/>
                <a:cs typeface="Calibri"/>
              </a:rPr>
              <a:t> </a:t>
            </a:r>
            <a:r>
              <a:rPr sz="2200" spc="-10" dirty="0">
                <a:latin typeface="Calibri"/>
                <a:cs typeface="Calibri"/>
              </a:rPr>
              <a:t>any</a:t>
            </a:r>
            <a:r>
              <a:rPr sz="2200" spc="50" dirty="0">
                <a:latin typeface="Calibri"/>
                <a:cs typeface="Calibri"/>
              </a:rPr>
              <a:t> </a:t>
            </a:r>
            <a:r>
              <a:rPr sz="2200" dirty="0">
                <a:latin typeface="Calibri"/>
                <a:cs typeface="Calibri"/>
              </a:rPr>
              <a:t>particular </a:t>
            </a:r>
            <a:r>
              <a:rPr sz="2200" spc="5" dirty="0">
                <a:latin typeface="Calibri"/>
                <a:cs typeface="Calibri"/>
              </a:rPr>
              <a:t> </a:t>
            </a:r>
            <a:r>
              <a:rPr sz="2200" spc="-5" dirty="0">
                <a:latin typeface="Calibri"/>
                <a:cs typeface="Calibri"/>
              </a:rPr>
              <a:t>concentration,</a:t>
            </a:r>
            <a:r>
              <a:rPr sz="2200" spc="-10" dirty="0">
                <a:latin typeface="Calibri"/>
                <a:cs typeface="Calibri"/>
              </a:rPr>
              <a:t> </a:t>
            </a:r>
            <a:r>
              <a:rPr sz="2200" spc="-5" dirty="0">
                <a:latin typeface="Calibri"/>
                <a:cs typeface="Calibri"/>
              </a:rPr>
              <a:t>when</a:t>
            </a:r>
            <a:r>
              <a:rPr sz="2200" spc="-15" dirty="0">
                <a:latin typeface="Calibri"/>
                <a:cs typeface="Calibri"/>
              </a:rPr>
              <a:t> </a:t>
            </a:r>
            <a:r>
              <a:rPr sz="2200" spc="-10" dirty="0">
                <a:latin typeface="Calibri"/>
                <a:cs typeface="Calibri"/>
              </a:rPr>
              <a:t>placed</a:t>
            </a:r>
            <a:r>
              <a:rPr sz="2200" spc="-50" dirty="0">
                <a:latin typeface="Calibri"/>
                <a:cs typeface="Calibri"/>
              </a:rPr>
              <a:t> </a:t>
            </a:r>
            <a:r>
              <a:rPr sz="2200" dirty="0">
                <a:latin typeface="Calibri"/>
                <a:cs typeface="Calibri"/>
              </a:rPr>
              <a:t>between</a:t>
            </a:r>
            <a:r>
              <a:rPr sz="2200" spc="10" dirty="0">
                <a:latin typeface="Calibri"/>
                <a:cs typeface="Calibri"/>
              </a:rPr>
              <a:t> </a:t>
            </a:r>
            <a:r>
              <a:rPr sz="2200" spc="-5" dirty="0">
                <a:latin typeface="Calibri"/>
                <a:cs typeface="Calibri"/>
              </a:rPr>
              <a:t>two electrodes </a:t>
            </a:r>
            <a:r>
              <a:rPr sz="2200" dirty="0">
                <a:latin typeface="Calibri"/>
                <a:cs typeface="Calibri"/>
              </a:rPr>
              <a:t>1</a:t>
            </a:r>
            <a:r>
              <a:rPr sz="2200" spc="-30" dirty="0">
                <a:latin typeface="Calibri"/>
                <a:cs typeface="Calibri"/>
              </a:rPr>
              <a:t> </a:t>
            </a:r>
            <a:r>
              <a:rPr sz="2200" dirty="0">
                <a:latin typeface="Calibri"/>
                <a:cs typeface="Calibri"/>
              </a:rPr>
              <a:t>cm</a:t>
            </a:r>
            <a:r>
              <a:rPr sz="2200" spc="-25" dirty="0">
                <a:latin typeface="Calibri"/>
                <a:cs typeface="Calibri"/>
              </a:rPr>
              <a:t> </a:t>
            </a:r>
            <a:r>
              <a:rPr sz="2200" spc="-5" dirty="0">
                <a:latin typeface="Calibri"/>
                <a:cs typeface="Calibri"/>
              </a:rPr>
              <a:t>apart.</a:t>
            </a:r>
            <a:r>
              <a:rPr sz="2200" dirty="0">
                <a:solidFill>
                  <a:srgbClr val="C00000"/>
                </a:solidFill>
                <a:latin typeface="Microsoft Sans Serif"/>
                <a:cs typeface="Microsoft Sans Serif"/>
              </a:rPr>
              <a:t> </a:t>
            </a:r>
            <a:endParaRPr sz="2200">
              <a:latin typeface="Microsoft Sans Serif"/>
              <a:cs typeface="Microsoft Sans Serif"/>
            </a:endParaRPr>
          </a:p>
        </p:txBody>
      </p:sp>
      <p:sp>
        <p:nvSpPr>
          <p:cNvPr id="3" name="object 3"/>
          <p:cNvSpPr txBox="1"/>
          <p:nvPr/>
        </p:nvSpPr>
        <p:spPr>
          <a:xfrm>
            <a:off x="460044" y="2674112"/>
            <a:ext cx="8036559" cy="1429385"/>
          </a:xfrm>
          <a:prstGeom prst="rect">
            <a:avLst/>
          </a:prstGeom>
        </p:spPr>
        <p:txBody>
          <a:bodyPr vert="horz" wrap="square" lIns="0" tIns="13335" rIns="0" bIns="0" rtlCol="0">
            <a:spAutoFit/>
          </a:bodyPr>
          <a:lstStyle/>
          <a:p>
            <a:pPr marL="353695" marR="234315" indent="-341630">
              <a:lnSpc>
                <a:spcPct val="100000"/>
              </a:lnSpc>
              <a:spcBef>
                <a:spcPts val="105"/>
              </a:spcBef>
              <a:buFont typeface="Microsoft Sans Serif"/>
              <a:buChar char="•"/>
              <a:tabLst>
                <a:tab pos="353695" algn="l"/>
                <a:tab pos="354330" algn="l"/>
              </a:tabLst>
            </a:pPr>
            <a:r>
              <a:rPr sz="2200" dirty="0">
                <a:latin typeface="Calibri"/>
                <a:cs typeface="Calibri"/>
              </a:rPr>
              <a:t>The</a:t>
            </a:r>
            <a:r>
              <a:rPr sz="2200" spc="-40" dirty="0">
                <a:latin typeface="Calibri"/>
                <a:cs typeface="Calibri"/>
              </a:rPr>
              <a:t> </a:t>
            </a:r>
            <a:r>
              <a:rPr sz="2200" spc="-5" dirty="0">
                <a:latin typeface="Calibri"/>
                <a:cs typeface="Calibri"/>
              </a:rPr>
              <a:t>volume</a:t>
            </a:r>
            <a:r>
              <a:rPr sz="2200" spc="-30" dirty="0">
                <a:latin typeface="Calibri"/>
                <a:cs typeface="Calibri"/>
              </a:rPr>
              <a:t> </a:t>
            </a:r>
            <a:r>
              <a:rPr sz="2200" dirty="0">
                <a:latin typeface="Calibri"/>
                <a:cs typeface="Calibri"/>
              </a:rPr>
              <a:t>per</a:t>
            </a:r>
            <a:r>
              <a:rPr sz="2200" spc="-35" dirty="0">
                <a:latin typeface="Calibri"/>
                <a:cs typeface="Calibri"/>
              </a:rPr>
              <a:t> </a:t>
            </a:r>
            <a:r>
              <a:rPr sz="2200" spc="-10" dirty="0">
                <a:latin typeface="Calibri"/>
                <a:cs typeface="Calibri"/>
              </a:rPr>
              <a:t>gram</a:t>
            </a:r>
            <a:r>
              <a:rPr sz="2200" spc="-30" dirty="0">
                <a:latin typeface="Calibri"/>
                <a:cs typeface="Calibri"/>
              </a:rPr>
              <a:t> </a:t>
            </a:r>
            <a:r>
              <a:rPr sz="2200" spc="-5" dirty="0">
                <a:latin typeface="Calibri"/>
                <a:cs typeface="Calibri"/>
              </a:rPr>
              <a:t>equivalent</a:t>
            </a:r>
            <a:r>
              <a:rPr sz="2200" spc="-35" dirty="0">
                <a:latin typeface="Calibri"/>
                <a:cs typeface="Calibri"/>
              </a:rPr>
              <a:t> </a:t>
            </a:r>
            <a:r>
              <a:rPr sz="2200" spc="5" dirty="0">
                <a:latin typeface="Calibri"/>
                <a:cs typeface="Calibri"/>
              </a:rPr>
              <a:t>of</a:t>
            </a:r>
            <a:r>
              <a:rPr sz="2200" spc="-65" dirty="0">
                <a:latin typeface="Calibri"/>
                <a:cs typeface="Calibri"/>
              </a:rPr>
              <a:t> </a:t>
            </a:r>
            <a:r>
              <a:rPr sz="2200" spc="-5" dirty="0">
                <a:latin typeface="Calibri"/>
                <a:cs typeface="Calibri"/>
              </a:rPr>
              <a:t>electrolyte </a:t>
            </a:r>
            <a:r>
              <a:rPr sz="2200" dirty="0">
                <a:latin typeface="Calibri"/>
                <a:cs typeface="Calibri"/>
              </a:rPr>
              <a:t>is</a:t>
            </a:r>
            <a:r>
              <a:rPr sz="2200" spc="-40" dirty="0">
                <a:latin typeface="Calibri"/>
                <a:cs typeface="Calibri"/>
              </a:rPr>
              <a:t> </a:t>
            </a:r>
            <a:r>
              <a:rPr sz="2200" dirty="0">
                <a:latin typeface="Calibri"/>
                <a:cs typeface="Calibri"/>
              </a:rPr>
              <a:t>called</a:t>
            </a:r>
            <a:r>
              <a:rPr sz="2200" spc="-65" dirty="0">
                <a:latin typeface="Calibri"/>
                <a:cs typeface="Calibri"/>
              </a:rPr>
              <a:t> </a:t>
            </a:r>
            <a:r>
              <a:rPr sz="2200" dirty="0">
                <a:latin typeface="Calibri"/>
                <a:cs typeface="Calibri"/>
              </a:rPr>
              <a:t>as</a:t>
            </a:r>
            <a:r>
              <a:rPr sz="2200" spc="-15" dirty="0">
                <a:latin typeface="Calibri"/>
                <a:cs typeface="Calibri"/>
              </a:rPr>
              <a:t> </a:t>
            </a:r>
            <a:r>
              <a:rPr sz="2200" dirty="0">
                <a:latin typeface="Calibri"/>
                <a:cs typeface="Calibri"/>
              </a:rPr>
              <a:t>dilution </a:t>
            </a:r>
            <a:r>
              <a:rPr sz="2200" spc="-484" dirty="0">
                <a:latin typeface="Calibri"/>
                <a:cs typeface="Calibri"/>
              </a:rPr>
              <a:t> </a:t>
            </a:r>
            <a:r>
              <a:rPr sz="2200" dirty="0">
                <a:latin typeface="Calibri"/>
                <a:cs typeface="Calibri"/>
              </a:rPr>
              <a:t>factor</a:t>
            </a:r>
            <a:r>
              <a:rPr sz="2200" spc="-45" dirty="0">
                <a:latin typeface="Calibri"/>
                <a:cs typeface="Calibri"/>
              </a:rPr>
              <a:t> </a:t>
            </a:r>
            <a:r>
              <a:rPr sz="2200" spc="5" dirty="0">
                <a:latin typeface="Calibri"/>
                <a:cs typeface="Calibri"/>
              </a:rPr>
              <a:t>of</a:t>
            </a:r>
            <a:r>
              <a:rPr sz="2200" dirty="0">
                <a:latin typeface="Calibri"/>
                <a:cs typeface="Calibri"/>
              </a:rPr>
              <a:t> the</a:t>
            </a:r>
            <a:r>
              <a:rPr sz="2200" spc="-15" dirty="0">
                <a:latin typeface="Calibri"/>
                <a:cs typeface="Calibri"/>
              </a:rPr>
              <a:t> </a:t>
            </a:r>
            <a:r>
              <a:rPr sz="2200" spc="-5" dirty="0">
                <a:latin typeface="Calibri"/>
                <a:cs typeface="Calibri"/>
              </a:rPr>
              <a:t>solution.</a:t>
            </a:r>
            <a:r>
              <a:rPr sz="2200" dirty="0">
                <a:latin typeface="Microsoft Sans Serif"/>
                <a:cs typeface="Microsoft Sans Serif"/>
              </a:rPr>
              <a:t> </a:t>
            </a:r>
            <a:endParaRPr sz="2200">
              <a:latin typeface="Microsoft Sans Serif"/>
              <a:cs typeface="Microsoft Sans Serif"/>
            </a:endParaRPr>
          </a:p>
          <a:p>
            <a:pPr marL="353695" marR="5080" indent="-341630">
              <a:lnSpc>
                <a:spcPct val="100899"/>
              </a:lnSpc>
              <a:spcBef>
                <a:spcPts val="434"/>
              </a:spcBef>
              <a:buFont typeface="Microsoft Sans Serif"/>
              <a:buChar char="•"/>
              <a:tabLst>
                <a:tab pos="353695" algn="l"/>
                <a:tab pos="354330" algn="l"/>
              </a:tabLst>
            </a:pPr>
            <a:r>
              <a:rPr sz="2200" spc="-5" dirty="0">
                <a:latin typeface="Calibri"/>
                <a:cs typeface="Calibri"/>
              </a:rPr>
              <a:t>If </a:t>
            </a:r>
            <a:r>
              <a:rPr sz="2200" dirty="0">
                <a:latin typeface="Calibri"/>
                <a:cs typeface="Calibri"/>
              </a:rPr>
              <a:t>concentration </a:t>
            </a:r>
            <a:r>
              <a:rPr sz="2200" spc="5" dirty="0">
                <a:latin typeface="Calibri"/>
                <a:cs typeface="Calibri"/>
              </a:rPr>
              <a:t>of </a:t>
            </a:r>
            <a:r>
              <a:rPr sz="2200" dirty="0">
                <a:latin typeface="Calibri"/>
                <a:cs typeface="Calibri"/>
              </a:rPr>
              <a:t>the </a:t>
            </a:r>
            <a:r>
              <a:rPr sz="2200" spc="-5" dirty="0">
                <a:latin typeface="Calibri"/>
                <a:cs typeface="Calibri"/>
              </a:rPr>
              <a:t>solution </a:t>
            </a:r>
            <a:r>
              <a:rPr sz="2200" dirty="0">
                <a:latin typeface="Calibri"/>
                <a:cs typeface="Calibri"/>
              </a:rPr>
              <a:t>is </a:t>
            </a:r>
            <a:r>
              <a:rPr sz="2200" spc="-10" dirty="0">
                <a:latin typeface="Calibri"/>
                <a:cs typeface="Calibri"/>
              </a:rPr>
              <a:t>‘C’ </a:t>
            </a:r>
            <a:r>
              <a:rPr sz="2200" spc="-5" dirty="0">
                <a:latin typeface="Calibri"/>
                <a:cs typeface="Calibri"/>
              </a:rPr>
              <a:t>grams </a:t>
            </a:r>
            <a:r>
              <a:rPr sz="2200" dirty="0">
                <a:latin typeface="Calibri"/>
                <a:cs typeface="Calibri"/>
              </a:rPr>
              <a:t>per </a:t>
            </a:r>
            <a:r>
              <a:rPr sz="2200" spc="-5" dirty="0">
                <a:latin typeface="Calibri"/>
                <a:cs typeface="Calibri"/>
              </a:rPr>
              <a:t>lit, then </a:t>
            </a:r>
            <a:r>
              <a:rPr sz="2200" dirty="0">
                <a:latin typeface="Calibri"/>
                <a:cs typeface="Calibri"/>
              </a:rPr>
              <a:t>the </a:t>
            </a:r>
            <a:r>
              <a:rPr sz="2200" spc="-5" dirty="0">
                <a:latin typeface="Calibri"/>
                <a:cs typeface="Calibri"/>
              </a:rPr>
              <a:t>volume </a:t>
            </a:r>
            <a:r>
              <a:rPr sz="2200" spc="-484" dirty="0">
                <a:latin typeface="Calibri"/>
                <a:cs typeface="Calibri"/>
              </a:rPr>
              <a:t> </a:t>
            </a:r>
            <a:r>
              <a:rPr sz="2200" dirty="0">
                <a:latin typeface="Calibri"/>
                <a:cs typeface="Calibri"/>
              </a:rPr>
              <a:t>containing</a:t>
            </a:r>
            <a:r>
              <a:rPr sz="2200" spc="-75" dirty="0">
                <a:latin typeface="Calibri"/>
                <a:cs typeface="Calibri"/>
              </a:rPr>
              <a:t> </a:t>
            </a:r>
            <a:r>
              <a:rPr sz="2200" dirty="0">
                <a:latin typeface="Calibri"/>
                <a:cs typeface="Calibri"/>
              </a:rPr>
              <a:t>1</a:t>
            </a:r>
            <a:r>
              <a:rPr sz="2200" spc="-35" dirty="0">
                <a:latin typeface="Calibri"/>
                <a:cs typeface="Calibri"/>
              </a:rPr>
              <a:t> </a:t>
            </a:r>
            <a:r>
              <a:rPr sz="2200" spc="-10" dirty="0">
                <a:latin typeface="Calibri"/>
                <a:cs typeface="Calibri"/>
              </a:rPr>
              <a:t>gram</a:t>
            </a:r>
            <a:r>
              <a:rPr sz="2200" spc="-30" dirty="0">
                <a:latin typeface="Calibri"/>
                <a:cs typeface="Calibri"/>
              </a:rPr>
              <a:t> </a:t>
            </a:r>
            <a:r>
              <a:rPr sz="2200" spc="-5" dirty="0">
                <a:latin typeface="Calibri"/>
                <a:cs typeface="Calibri"/>
              </a:rPr>
              <a:t>equivalent</a:t>
            </a:r>
            <a:r>
              <a:rPr sz="2200" spc="-35" dirty="0">
                <a:latin typeface="Calibri"/>
                <a:cs typeface="Calibri"/>
              </a:rPr>
              <a:t> </a:t>
            </a:r>
            <a:r>
              <a:rPr sz="2200" spc="5" dirty="0">
                <a:latin typeface="Calibri"/>
                <a:cs typeface="Calibri"/>
              </a:rPr>
              <a:t>of</a:t>
            </a:r>
            <a:r>
              <a:rPr sz="2200" spc="-45" dirty="0">
                <a:latin typeface="Calibri"/>
                <a:cs typeface="Calibri"/>
              </a:rPr>
              <a:t> </a:t>
            </a:r>
            <a:r>
              <a:rPr sz="2200" spc="-5" dirty="0">
                <a:latin typeface="Calibri"/>
                <a:cs typeface="Calibri"/>
              </a:rPr>
              <a:t>electrolyte</a:t>
            </a:r>
            <a:r>
              <a:rPr sz="2200" spc="-30" dirty="0">
                <a:latin typeface="Calibri"/>
                <a:cs typeface="Calibri"/>
              </a:rPr>
              <a:t> </a:t>
            </a:r>
            <a:r>
              <a:rPr sz="2200" dirty="0">
                <a:latin typeface="Calibri"/>
                <a:cs typeface="Calibri"/>
              </a:rPr>
              <a:t>will</a:t>
            </a:r>
            <a:r>
              <a:rPr sz="2200" spc="-45" dirty="0">
                <a:latin typeface="Calibri"/>
                <a:cs typeface="Calibri"/>
              </a:rPr>
              <a:t> </a:t>
            </a:r>
            <a:r>
              <a:rPr sz="2200" spc="-35" dirty="0">
                <a:latin typeface="Calibri"/>
                <a:cs typeface="Calibri"/>
              </a:rPr>
              <a:t>be</a:t>
            </a:r>
            <a:endParaRPr sz="2200">
              <a:latin typeface="Calibri"/>
              <a:cs typeface="Calibri"/>
            </a:endParaRPr>
          </a:p>
        </p:txBody>
      </p:sp>
      <p:pic>
        <p:nvPicPr>
          <p:cNvPr id="4" name="object 4"/>
          <p:cNvPicPr/>
          <p:nvPr/>
        </p:nvPicPr>
        <p:blipFill>
          <a:blip r:embed="rId2" cstate="print"/>
          <a:stretch>
            <a:fillRect/>
          </a:stretch>
        </p:blipFill>
        <p:spPr>
          <a:xfrm>
            <a:off x="4186554" y="4618990"/>
            <a:ext cx="3360420" cy="720090"/>
          </a:xfrm>
          <a:prstGeom prst="rect">
            <a:avLst/>
          </a:prstGeom>
        </p:spPr>
      </p:pic>
      <p:grpSp>
        <p:nvGrpSpPr>
          <p:cNvPr id="5" name="object 5"/>
          <p:cNvGrpSpPr/>
          <p:nvPr/>
        </p:nvGrpSpPr>
        <p:grpSpPr>
          <a:xfrm>
            <a:off x="1904047" y="4719637"/>
            <a:ext cx="1771650" cy="518795"/>
            <a:chOff x="1904047" y="4719637"/>
            <a:chExt cx="1771650" cy="518795"/>
          </a:xfrm>
        </p:grpSpPr>
        <p:pic>
          <p:nvPicPr>
            <p:cNvPr id="6" name="object 6"/>
            <p:cNvPicPr/>
            <p:nvPr/>
          </p:nvPicPr>
          <p:blipFill>
            <a:blip r:embed="rId3" cstate="print"/>
            <a:stretch>
              <a:fillRect/>
            </a:stretch>
          </p:blipFill>
          <p:spPr>
            <a:xfrm>
              <a:off x="2010410" y="4758690"/>
              <a:ext cx="1574164" cy="433069"/>
            </a:xfrm>
            <a:prstGeom prst="rect">
              <a:avLst/>
            </a:prstGeom>
          </p:spPr>
        </p:pic>
        <p:sp>
          <p:nvSpPr>
            <p:cNvPr id="7" name="object 7"/>
            <p:cNvSpPr/>
            <p:nvPr/>
          </p:nvSpPr>
          <p:spPr>
            <a:xfrm>
              <a:off x="1908810" y="4724400"/>
              <a:ext cx="1762125" cy="509270"/>
            </a:xfrm>
            <a:custGeom>
              <a:avLst/>
              <a:gdLst/>
              <a:ahLst/>
              <a:cxnLst/>
              <a:rect l="l" t="t" r="r" b="b"/>
              <a:pathLst>
                <a:path w="1762125" h="509270">
                  <a:moveTo>
                    <a:pt x="0" y="509269"/>
                  </a:moveTo>
                  <a:lnTo>
                    <a:pt x="1762125" y="509269"/>
                  </a:lnTo>
                  <a:lnTo>
                    <a:pt x="1762125" y="0"/>
                  </a:lnTo>
                  <a:lnTo>
                    <a:pt x="0" y="0"/>
                  </a:lnTo>
                  <a:lnTo>
                    <a:pt x="0" y="509269"/>
                  </a:lnTo>
                  <a:close/>
                </a:path>
              </a:pathLst>
            </a:custGeom>
            <a:ln w="9525">
              <a:solidFill>
                <a:srgbClr val="C00000"/>
              </a:solidFill>
            </a:ln>
          </p:spPr>
          <p:txBody>
            <a:bodyPr wrap="square" lIns="0" tIns="0" rIns="0" bIns="0" rtlCol="0"/>
            <a:lstStyle/>
            <a:p>
              <a:endParaRPr/>
            </a:p>
          </p:txBody>
        </p:sp>
      </p:grpSp>
      <p:pic>
        <p:nvPicPr>
          <p:cNvPr id="8" name="object 8"/>
          <p:cNvPicPr/>
          <p:nvPr/>
        </p:nvPicPr>
        <p:blipFill>
          <a:blip r:embed="rId4" cstate="print"/>
          <a:stretch>
            <a:fillRect/>
          </a:stretch>
        </p:blipFill>
        <p:spPr>
          <a:xfrm>
            <a:off x="1762125" y="1490344"/>
            <a:ext cx="5164963" cy="625475"/>
          </a:xfrm>
          <a:prstGeom prst="rect">
            <a:avLst/>
          </a:prstGeom>
        </p:spPr>
      </p:pic>
      <p:pic>
        <p:nvPicPr>
          <p:cNvPr id="9" name="object 9"/>
          <p:cNvPicPr/>
          <p:nvPr/>
        </p:nvPicPr>
        <p:blipFill>
          <a:blip r:embed="rId5" cstate="print"/>
          <a:stretch>
            <a:fillRect/>
          </a:stretch>
        </p:blipFill>
        <p:spPr>
          <a:xfrm>
            <a:off x="2238375" y="4157992"/>
            <a:ext cx="1057910" cy="460870"/>
          </a:xfrm>
          <a:prstGeom prst="rect">
            <a:avLst/>
          </a:prstGeom>
        </p:spPr>
      </p:pic>
      <p:pic>
        <p:nvPicPr>
          <p:cNvPr id="10" name="object 10"/>
          <p:cNvPicPr/>
          <p:nvPr/>
        </p:nvPicPr>
        <p:blipFill>
          <a:blip r:embed="rId6" cstate="print"/>
          <a:stretch>
            <a:fillRect/>
          </a:stretch>
        </p:blipFill>
        <p:spPr>
          <a:xfrm>
            <a:off x="4215765" y="5654040"/>
            <a:ext cx="3601719" cy="527685"/>
          </a:xfrm>
          <a:prstGeom prst="rect">
            <a:avLst/>
          </a:prstGeom>
        </p:spPr>
      </p:pic>
      <p:grpSp>
        <p:nvGrpSpPr>
          <p:cNvPr id="11" name="object 11"/>
          <p:cNvGrpSpPr/>
          <p:nvPr/>
        </p:nvGrpSpPr>
        <p:grpSpPr>
          <a:xfrm>
            <a:off x="3571557" y="2276157"/>
            <a:ext cx="1476375" cy="428625"/>
            <a:chOff x="3571557" y="2276157"/>
            <a:chExt cx="1476375" cy="428625"/>
          </a:xfrm>
        </p:grpSpPr>
        <p:pic>
          <p:nvPicPr>
            <p:cNvPr id="12" name="object 12"/>
            <p:cNvPicPr/>
            <p:nvPr/>
          </p:nvPicPr>
          <p:blipFill>
            <a:blip r:embed="rId7" cstate="print"/>
            <a:stretch>
              <a:fillRect/>
            </a:stretch>
          </p:blipFill>
          <p:spPr>
            <a:xfrm>
              <a:off x="3657600" y="2371090"/>
              <a:ext cx="1314450" cy="266700"/>
            </a:xfrm>
            <a:prstGeom prst="rect">
              <a:avLst/>
            </a:prstGeom>
          </p:spPr>
        </p:pic>
        <p:sp>
          <p:nvSpPr>
            <p:cNvPr id="13" name="object 13"/>
            <p:cNvSpPr/>
            <p:nvPr/>
          </p:nvSpPr>
          <p:spPr>
            <a:xfrm>
              <a:off x="3576320" y="2280920"/>
              <a:ext cx="1466850" cy="419100"/>
            </a:xfrm>
            <a:custGeom>
              <a:avLst/>
              <a:gdLst/>
              <a:ahLst/>
              <a:cxnLst/>
              <a:rect l="l" t="t" r="r" b="b"/>
              <a:pathLst>
                <a:path w="1466850" h="419100">
                  <a:moveTo>
                    <a:pt x="0" y="419100"/>
                  </a:moveTo>
                  <a:lnTo>
                    <a:pt x="1466850" y="419100"/>
                  </a:lnTo>
                  <a:lnTo>
                    <a:pt x="1466850" y="0"/>
                  </a:lnTo>
                  <a:lnTo>
                    <a:pt x="0" y="0"/>
                  </a:lnTo>
                  <a:lnTo>
                    <a:pt x="0" y="419100"/>
                  </a:lnTo>
                  <a:close/>
                </a:path>
              </a:pathLst>
            </a:custGeom>
            <a:ln w="9525">
              <a:solidFill>
                <a:srgbClr val="C00000"/>
              </a:solidFill>
            </a:ln>
          </p:spPr>
          <p:txBody>
            <a:bodyPr wrap="square" lIns="0" tIns="0" rIns="0" bIns="0" rtlCol="0"/>
            <a:lstStyle/>
            <a:p>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60044" y="135312"/>
            <a:ext cx="8113395" cy="1979930"/>
          </a:xfrm>
          <a:prstGeom prst="rect">
            <a:avLst/>
          </a:prstGeom>
        </p:spPr>
        <p:txBody>
          <a:bodyPr vert="horz" wrap="square" lIns="0" tIns="113664" rIns="0" bIns="0" rtlCol="0">
            <a:spAutoFit/>
          </a:bodyPr>
          <a:lstStyle/>
          <a:p>
            <a:pPr marL="353695" indent="-341630">
              <a:lnSpc>
                <a:spcPct val="100000"/>
              </a:lnSpc>
              <a:spcBef>
                <a:spcPts val="894"/>
              </a:spcBef>
              <a:buClr>
                <a:srgbClr val="C00000"/>
              </a:buClr>
              <a:buFont typeface="Microsoft Sans Serif"/>
              <a:buChar char="•"/>
              <a:tabLst>
                <a:tab pos="353695" algn="l"/>
                <a:tab pos="354330" algn="l"/>
              </a:tabLst>
            </a:pPr>
            <a:r>
              <a:rPr sz="3200" b="1" spc="-5" dirty="0">
                <a:solidFill>
                  <a:srgbClr val="C00000"/>
                </a:solidFill>
                <a:latin typeface="Calibri"/>
                <a:cs typeface="Calibri"/>
              </a:rPr>
              <a:t>Molar</a:t>
            </a:r>
            <a:r>
              <a:rPr sz="3200" b="1" spc="-120" dirty="0">
                <a:solidFill>
                  <a:srgbClr val="C00000"/>
                </a:solidFill>
                <a:latin typeface="Calibri"/>
                <a:cs typeface="Calibri"/>
              </a:rPr>
              <a:t> </a:t>
            </a:r>
            <a:r>
              <a:rPr sz="3200" b="1" spc="-5" dirty="0">
                <a:solidFill>
                  <a:srgbClr val="C00000"/>
                </a:solidFill>
                <a:latin typeface="Calibri"/>
                <a:cs typeface="Calibri"/>
              </a:rPr>
              <a:t>Conductance:</a:t>
            </a:r>
            <a:r>
              <a:rPr sz="3200" b="1" spc="-45" dirty="0">
                <a:solidFill>
                  <a:srgbClr val="C00000"/>
                </a:solidFill>
                <a:latin typeface="Arial"/>
                <a:cs typeface="Arial"/>
              </a:rPr>
              <a:t> </a:t>
            </a:r>
            <a:endParaRPr sz="3200">
              <a:latin typeface="Arial"/>
              <a:cs typeface="Arial"/>
            </a:endParaRPr>
          </a:p>
          <a:p>
            <a:pPr marL="353695" marR="5080" indent="-341630" algn="just">
              <a:lnSpc>
                <a:spcPct val="99300"/>
              </a:lnSpc>
              <a:spcBef>
                <a:spcPts val="740"/>
              </a:spcBef>
            </a:pPr>
            <a:r>
              <a:rPr sz="2800" spc="5" dirty="0">
                <a:latin typeface="Calibri"/>
                <a:cs typeface="Calibri"/>
              </a:rPr>
              <a:t>Molar </a:t>
            </a:r>
            <a:r>
              <a:rPr sz="2800" spc="-10" dirty="0">
                <a:latin typeface="Calibri"/>
                <a:cs typeface="Calibri"/>
              </a:rPr>
              <a:t>conductance </a:t>
            </a:r>
            <a:r>
              <a:rPr sz="2800" spc="15" dirty="0">
                <a:latin typeface="Calibri"/>
                <a:cs typeface="Calibri"/>
              </a:rPr>
              <a:t>of </a:t>
            </a:r>
            <a:r>
              <a:rPr sz="2800" spc="5" dirty="0">
                <a:latin typeface="Calibri"/>
                <a:cs typeface="Calibri"/>
              </a:rPr>
              <a:t>an </a:t>
            </a:r>
            <a:r>
              <a:rPr sz="2800" dirty="0">
                <a:latin typeface="Calibri"/>
                <a:cs typeface="Calibri"/>
              </a:rPr>
              <a:t>electrolyte is </a:t>
            </a:r>
            <a:r>
              <a:rPr sz="2800" spc="-5" dirty="0">
                <a:latin typeface="Calibri"/>
                <a:cs typeface="Calibri"/>
              </a:rPr>
              <a:t>the conductance </a:t>
            </a:r>
            <a:r>
              <a:rPr sz="2800" spc="-620" dirty="0">
                <a:latin typeface="Calibri"/>
                <a:cs typeface="Calibri"/>
              </a:rPr>
              <a:t> </a:t>
            </a:r>
            <a:r>
              <a:rPr sz="2800" spc="5" dirty="0">
                <a:latin typeface="Calibri"/>
                <a:cs typeface="Calibri"/>
              </a:rPr>
              <a:t>of</a:t>
            </a:r>
            <a:r>
              <a:rPr sz="2800" spc="-25" dirty="0">
                <a:latin typeface="Calibri"/>
                <a:cs typeface="Calibri"/>
              </a:rPr>
              <a:t> </a:t>
            </a:r>
            <a:r>
              <a:rPr sz="2800" spc="-10" dirty="0">
                <a:latin typeface="Calibri"/>
                <a:cs typeface="Calibri"/>
              </a:rPr>
              <a:t>solution</a:t>
            </a:r>
            <a:r>
              <a:rPr sz="2800" dirty="0">
                <a:latin typeface="Calibri"/>
                <a:cs typeface="Calibri"/>
              </a:rPr>
              <a:t> </a:t>
            </a:r>
            <a:r>
              <a:rPr sz="2800" spc="-5" dirty="0">
                <a:latin typeface="Calibri"/>
                <a:cs typeface="Calibri"/>
              </a:rPr>
              <a:t>containing</a:t>
            </a:r>
            <a:r>
              <a:rPr sz="2800" dirty="0">
                <a:latin typeface="Calibri"/>
                <a:cs typeface="Calibri"/>
              </a:rPr>
              <a:t> </a:t>
            </a:r>
            <a:r>
              <a:rPr sz="2800" spc="5" dirty="0">
                <a:latin typeface="Calibri"/>
                <a:cs typeface="Calibri"/>
              </a:rPr>
              <a:t>1</a:t>
            </a:r>
            <a:r>
              <a:rPr sz="2800" spc="-10" dirty="0">
                <a:latin typeface="Calibri"/>
                <a:cs typeface="Calibri"/>
              </a:rPr>
              <a:t> </a:t>
            </a:r>
            <a:r>
              <a:rPr sz="2800" dirty="0">
                <a:latin typeface="Calibri"/>
                <a:cs typeface="Calibri"/>
              </a:rPr>
              <a:t>mole</a:t>
            </a:r>
            <a:r>
              <a:rPr sz="2800" spc="-55" dirty="0">
                <a:latin typeface="Calibri"/>
                <a:cs typeface="Calibri"/>
              </a:rPr>
              <a:t> </a:t>
            </a:r>
            <a:r>
              <a:rPr sz="2800" spc="5" dirty="0">
                <a:latin typeface="Calibri"/>
                <a:cs typeface="Calibri"/>
              </a:rPr>
              <a:t>of</a:t>
            </a:r>
            <a:r>
              <a:rPr sz="2800" spc="-25" dirty="0">
                <a:latin typeface="Calibri"/>
                <a:cs typeface="Calibri"/>
              </a:rPr>
              <a:t> </a:t>
            </a:r>
            <a:r>
              <a:rPr sz="2800" spc="-5" dirty="0">
                <a:latin typeface="Calibri"/>
                <a:cs typeface="Calibri"/>
              </a:rPr>
              <a:t>the electrolyte,</a:t>
            </a:r>
            <a:r>
              <a:rPr sz="2800" spc="-35" dirty="0">
                <a:latin typeface="Calibri"/>
                <a:cs typeface="Calibri"/>
              </a:rPr>
              <a:t> </a:t>
            </a:r>
            <a:r>
              <a:rPr sz="2800" dirty="0">
                <a:latin typeface="Calibri"/>
                <a:cs typeface="Calibri"/>
              </a:rPr>
              <a:t>when </a:t>
            </a:r>
            <a:r>
              <a:rPr sz="2800" spc="-620" dirty="0">
                <a:latin typeface="Calibri"/>
                <a:cs typeface="Calibri"/>
              </a:rPr>
              <a:t> </a:t>
            </a:r>
            <a:r>
              <a:rPr sz="2800" spc="-5" dirty="0">
                <a:latin typeface="Calibri"/>
                <a:cs typeface="Calibri"/>
              </a:rPr>
              <a:t>placed</a:t>
            </a:r>
            <a:r>
              <a:rPr sz="2800" spc="-35" dirty="0">
                <a:latin typeface="Calibri"/>
                <a:cs typeface="Calibri"/>
              </a:rPr>
              <a:t> </a:t>
            </a:r>
            <a:r>
              <a:rPr sz="2800" spc="-5" dirty="0">
                <a:latin typeface="Calibri"/>
                <a:cs typeface="Calibri"/>
              </a:rPr>
              <a:t>between</a:t>
            </a:r>
            <a:r>
              <a:rPr sz="2800" spc="-20" dirty="0">
                <a:latin typeface="Calibri"/>
                <a:cs typeface="Calibri"/>
              </a:rPr>
              <a:t> </a:t>
            </a:r>
            <a:r>
              <a:rPr sz="2800" spc="5" dirty="0">
                <a:latin typeface="Calibri"/>
                <a:cs typeface="Calibri"/>
              </a:rPr>
              <a:t>two</a:t>
            </a:r>
            <a:r>
              <a:rPr sz="2800" spc="-30" dirty="0">
                <a:latin typeface="Calibri"/>
                <a:cs typeface="Calibri"/>
              </a:rPr>
              <a:t> </a:t>
            </a:r>
            <a:r>
              <a:rPr sz="2800" dirty="0">
                <a:latin typeface="Calibri"/>
                <a:cs typeface="Calibri"/>
              </a:rPr>
              <a:t>electrode</a:t>
            </a:r>
            <a:r>
              <a:rPr sz="2800" spc="-25" dirty="0">
                <a:latin typeface="Calibri"/>
                <a:cs typeface="Calibri"/>
              </a:rPr>
              <a:t> </a:t>
            </a:r>
            <a:r>
              <a:rPr sz="2800" spc="5" dirty="0">
                <a:latin typeface="Calibri"/>
                <a:cs typeface="Calibri"/>
              </a:rPr>
              <a:t>1</a:t>
            </a:r>
            <a:r>
              <a:rPr sz="2800" spc="-20" dirty="0">
                <a:latin typeface="Calibri"/>
                <a:cs typeface="Calibri"/>
              </a:rPr>
              <a:t> </a:t>
            </a:r>
            <a:r>
              <a:rPr sz="2800" spc="-5" dirty="0">
                <a:latin typeface="Calibri"/>
                <a:cs typeface="Calibri"/>
              </a:rPr>
              <a:t>cm</a:t>
            </a:r>
            <a:r>
              <a:rPr sz="2800" spc="-15" dirty="0">
                <a:latin typeface="Calibri"/>
                <a:cs typeface="Calibri"/>
              </a:rPr>
              <a:t> </a:t>
            </a:r>
            <a:r>
              <a:rPr sz="2800" dirty="0">
                <a:latin typeface="Calibri"/>
                <a:cs typeface="Calibri"/>
              </a:rPr>
              <a:t>apart.</a:t>
            </a:r>
            <a:endParaRPr sz="2800">
              <a:latin typeface="Calibri"/>
              <a:cs typeface="Calibri"/>
            </a:endParaRPr>
          </a:p>
        </p:txBody>
      </p:sp>
      <p:pic>
        <p:nvPicPr>
          <p:cNvPr id="3" name="object 3"/>
          <p:cNvPicPr/>
          <p:nvPr/>
        </p:nvPicPr>
        <p:blipFill>
          <a:blip r:embed="rId2" cstate="print"/>
          <a:stretch>
            <a:fillRect/>
          </a:stretch>
        </p:blipFill>
        <p:spPr>
          <a:xfrm>
            <a:off x="1847850" y="2274570"/>
            <a:ext cx="5181600" cy="695325"/>
          </a:xfrm>
          <a:prstGeom prst="rect">
            <a:avLst/>
          </a:prstGeom>
        </p:spPr>
      </p:pic>
      <p:pic>
        <p:nvPicPr>
          <p:cNvPr id="4" name="object 4"/>
          <p:cNvPicPr/>
          <p:nvPr/>
        </p:nvPicPr>
        <p:blipFill>
          <a:blip r:embed="rId3" cstate="print"/>
          <a:stretch>
            <a:fillRect/>
          </a:stretch>
        </p:blipFill>
        <p:spPr>
          <a:xfrm>
            <a:off x="3676650" y="3084195"/>
            <a:ext cx="1447800" cy="514350"/>
          </a:xfrm>
          <a:prstGeom prst="rect">
            <a:avLst/>
          </a:prstGeom>
        </p:spPr>
      </p:pic>
      <p:pic>
        <p:nvPicPr>
          <p:cNvPr id="5" name="object 5"/>
          <p:cNvPicPr/>
          <p:nvPr/>
        </p:nvPicPr>
        <p:blipFill>
          <a:blip r:embed="rId4" cstate="print"/>
          <a:stretch>
            <a:fillRect/>
          </a:stretch>
        </p:blipFill>
        <p:spPr>
          <a:xfrm>
            <a:off x="3533775" y="3769995"/>
            <a:ext cx="1781175" cy="647700"/>
          </a:xfrm>
          <a:prstGeom prst="rect">
            <a:avLst/>
          </a:prstGeom>
        </p:spPr>
      </p:pic>
      <p:pic>
        <p:nvPicPr>
          <p:cNvPr id="6" name="object 6"/>
          <p:cNvPicPr/>
          <p:nvPr/>
        </p:nvPicPr>
        <p:blipFill>
          <a:blip r:embed="rId5" cstate="print"/>
          <a:stretch>
            <a:fillRect/>
          </a:stretch>
        </p:blipFill>
        <p:spPr>
          <a:xfrm>
            <a:off x="1628775" y="4531995"/>
            <a:ext cx="5457825" cy="800100"/>
          </a:xfrm>
          <a:prstGeom prst="rect">
            <a:avLst/>
          </a:prstGeom>
        </p:spPr>
      </p:pic>
      <p:pic>
        <p:nvPicPr>
          <p:cNvPr id="7" name="object 7"/>
          <p:cNvPicPr/>
          <p:nvPr/>
        </p:nvPicPr>
        <p:blipFill>
          <a:blip r:embed="rId6" cstate="print"/>
          <a:stretch>
            <a:fillRect/>
          </a:stretch>
        </p:blipFill>
        <p:spPr>
          <a:xfrm>
            <a:off x="1762125" y="5427345"/>
            <a:ext cx="4943475" cy="762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1078" y="54305"/>
            <a:ext cx="6070600" cy="636905"/>
          </a:xfrm>
          <a:prstGeom prst="rect">
            <a:avLst/>
          </a:prstGeom>
        </p:spPr>
        <p:txBody>
          <a:bodyPr vert="horz" wrap="square" lIns="0" tIns="13970" rIns="0" bIns="0" rtlCol="0">
            <a:spAutoFit/>
          </a:bodyPr>
          <a:lstStyle/>
          <a:p>
            <a:pPr marL="12700">
              <a:lnSpc>
                <a:spcPct val="100000"/>
              </a:lnSpc>
              <a:spcBef>
                <a:spcPts val="110"/>
              </a:spcBef>
            </a:pPr>
            <a:r>
              <a:rPr sz="4000" dirty="0"/>
              <a:t>Factors</a:t>
            </a:r>
            <a:r>
              <a:rPr sz="4000" spc="-155" dirty="0"/>
              <a:t> </a:t>
            </a:r>
            <a:r>
              <a:rPr sz="4000" spc="-5" dirty="0"/>
              <a:t>affecting</a:t>
            </a:r>
            <a:r>
              <a:rPr sz="4000" spc="-150" dirty="0"/>
              <a:t> </a:t>
            </a:r>
            <a:r>
              <a:rPr sz="4000" spc="-5" dirty="0"/>
              <a:t>conductivity</a:t>
            </a:r>
            <a:endParaRPr sz="4000"/>
          </a:p>
        </p:txBody>
      </p:sp>
      <p:sp>
        <p:nvSpPr>
          <p:cNvPr id="3" name="object 3"/>
          <p:cNvSpPr txBox="1"/>
          <p:nvPr/>
        </p:nvSpPr>
        <p:spPr>
          <a:xfrm>
            <a:off x="447344" y="774014"/>
            <a:ext cx="8207375" cy="5367020"/>
          </a:xfrm>
          <a:prstGeom prst="rect">
            <a:avLst/>
          </a:prstGeom>
        </p:spPr>
        <p:txBody>
          <a:bodyPr vert="horz" wrap="square" lIns="0" tIns="96520" rIns="0" bIns="0" rtlCol="0">
            <a:spAutoFit/>
          </a:bodyPr>
          <a:lstStyle/>
          <a:p>
            <a:pPr marL="366395" marR="17780" indent="-341630">
              <a:lnSpc>
                <a:spcPct val="80000"/>
              </a:lnSpc>
              <a:spcBef>
                <a:spcPts val="760"/>
              </a:spcBef>
              <a:buAutoNum type="arabicParenR"/>
              <a:tabLst>
                <a:tab pos="367030" algn="l"/>
              </a:tabLst>
            </a:pPr>
            <a:r>
              <a:rPr sz="2700" b="1" dirty="0">
                <a:solidFill>
                  <a:srgbClr val="C00000"/>
                </a:solidFill>
                <a:latin typeface="Calibri"/>
                <a:cs typeface="Calibri"/>
              </a:rPr>
              <a:t>Number </a:t>
            </a:r>
            <a:r>
              <a:rPr sz="2700" b="1" spc="-5" dirty="0">
                <a:solidFill>
                  <a:srgbClr val="C00000"/>
                </a:solidFill>
                <a:latin typeface="Calibri"/>
                <a:cs typeface="Calibri"/>
              </a:rPr>
              <a:t>of ions </a:t>
            </a:r>
            <a:r>
              <a:rPr sz="2700" b="1" spc="5" dirty="0">
                <a:solidFill>
                  <a:srgbClr val="C00000"/>
                </a:solidFill>
                <a:latin typeface="Calibri"/>
                <a:cs typeface="Calibri"/>
              </a:rPr>
              <a:t>per </a:t>
            </a:r>
            <a:r>
              <a:rPr sz="2700" b="1" dirty="0">
                <a:solidFill>
                  <a:srgbClr val="C00000"/>
                </a:solidFill>
                <a:latin typeface="Calibri"/>
                <a:cs typeface="Calibri"/>
              </a:rPr>
              <a:t>ml- </a:t>
            </a:r>
            <a:r>
              <a:rPr sz="2700" dirty="0">
                <a:latin typeface="Calibri"/>
                <a:cs typeface="Calibri"/>
              </a:rPr>
              <a:t>greater </a:t>
            </a:r>
            <a:r>
              <a:rPr sz="2700" spc="5" dirty="0">
                <a:latin typeface="Calibri"/>
                <a:cs typeface="Calibri"/>
              </a:rPr>
              <a:t>the </a:t>
            </a:r>
            <a:r>
              <a:rPr sz="2700" dirty="0">
                <a:latin typeface="Calibri"/>
                <a:cs typeface="Calibri"/>
              </a:rPr>
              <a:t>number </a:t>
            </a:r>
            <a:r>
              <a:rPr sz="2700" spc="5" dirty="0">
                <a:latin typeface="Calibri"/>
                <a:cs typeface="Calibri"/>
              </a:rPr>
              <a:t>of </a:t>
            </a:r>
            <a:r>
              <a:rPr sz="2700" spc="-5" dirty="0">
                <a:latin typeface="Calibri"/>
                <a:cs typeface="Calibri"/>
              </a:rPr>
              <a:t>ions per </a:t>
            </a:r>
            <a:r>
              <a:rPr sz="2700" dirty="0">
                <a:latin typeface="Calibri"/>
                <a:cs typeface="Calibri"/>
              </a:rPr>
              <a:t> ml</a:t>
            </a:r>
            <a:r>
              <a:rPr sz="2700" spc="15" dirty="0">
                <a:latin typeface="Calibri"/>
                <a:cs typeface="Calibri"/>
              </a:rPr>
              <a:t> </a:t>
            </a:r>
            <a:r>
              <a:rPr sz="2700" spc="5" dirty="0">
                <a:latin typeface="Calibri"/>
                <a:cs typeface="Calibri"/>
              </a:rPr>
              <a:t>in</a:t>
            </a:r>
            <a:r>
              <a:rPr sz="2700" spc="-15" dirty="0">
                <a:latin typeface="Calibri"/>
                <a:cs typeface="Calibri"/>
              </a:rPr>
              <a:t> </a:t>
            </a:r>
            <a:r>
              <a:rPr sz="2700" spc="5" dirty="0">
                <a:latin typeface="Calibri"/>
                <a:cs typeface="Calibri"/>
              </a:rPr>
              <a:t>a </a:t>
            </a:r>
            <a:r>
              <a:rPr sz="2700" spc="-5" dirty="0">
                <a:latin typeface="Calibri"/>
                <a:cs typeface="Calibri"/>
              </a:rPr>
              <a:t>solution,</a:t>
            </a:r>
            <a:r>
              <a:rPr sz="2700" spc="-15" dirty="0">
                <a:latin typeface="Calibri"/>
                <a:cs typeface="Calibri"/>
              </a:rPr>
              <a:t> </a:t>
            </a:r>
            <a:r>
              <a:rPr sz="2700" spc="-5" dirty="0">
                <a:latin typeface="Calibri"/>
                <a:cs typeface="Calibri"/>
              </a:rPr>
              <a:t>greater </a:t>
            </a:r>
            <a:r>
              <a:rPr sz="2700" dirty="0">
                <a:latin typeface="Calibri"/>
                <a:cs typeface="Calibri"/>
              </a:rPr>
              <a:t>is</a:t>
            </a:r>
            <a:r>
              <a:rPr sz="2700" spc="15" dirty="0">
                <a:latin typeface="Calibri"/>
                <a:cs typeface="Calibri"/>
              </a:rPr>
              <a:t> </a:t>
            </a:r>
            <a:r>
              <a:rPr sz="2700" spc="5" dirty="0">
                <a:latin typeface="Calibri"/>
                <a:cs typeface="Calibri"/>
              </a:rPr>
              <a:t>the</a:t>
            </a:r>
            <a:r>
              <a:rPr sz="2700" spc="-20" dirty="0">
                <a:latin typeface="Calibri"/>
                <a:cs typeface="Calibri"/>
              </a:rPr>
              <a:t> </a:t>
            </a:r>
            <a:r>
              <a:rPr sz="2700" spc="-5" dirty="0">
                <a:latin typeface="Calibri"/>
                <a:cs typeface="Calibri"/>
              </a:rPr>
              <a:t>specific</a:t>
            </a:r>
            <a:r>
              <a:rPr sz="2700" dirty="0">
                <a:latin typeface="Calibri"/>
                <a:cs typeface="Calibri"/>
              </a:rPr>
              <a:t> </a:t>
            </a:r>
            <a:r>
              <a:rPr sz="2700" spc="-5" dirty="0">
                <a:latin typeface="Calibri"/>
                <a:cs typeface="Calibri"/>
              </a:rPr>
              <a:t>conductance.</a:t>
            </a:r>
            <a:r>
              <a:rPr sz="2700" spc="20" dirty="0">
                <a:latin typeface="Calibri"/>
                <a:cs typeface="Calibri"/>
              </a:rPr>
              <a:t> </a:t>
            </a:r>
            <a:r>
              <a:rPr sz="2700" spc="-15" dirty="0">
                <a:latin typeface="Calibri"/>
                <a:cs typeface="Calibri"/>
              </a:rPr>
              <a:t>At </a:t>
            </a:r>
            <a:r>
              <a:rPr sz="2700" spc="-10" dirty="0">
                <a:latin typeface="Calibri"/>
                <a:cs typeface="Calibri"/>
              </a:rPr>
              <a:t> </a:t>
            </a:r>
            <a:r>
              <a:rPr sz="2700" dirty="0">
                <a:latin typeface="Calibri"/>
                <a:cs typeface="Calibri"/>
              </a:rPr>
              <a:t>higher</a:t>
            </a:r>
            <a:r>
              <a:rPr sz="2700" spc="-85" dirty="0">
                <a:latin typeface="Calibri"/>
                <a:cs typeface="Calibri"/>
              </a:rPr>
              <a:t> </a:t>
            </a:r>
            <a:r>
              <a:rPr sz="2700" dirty="0">
                <a:latin typeface="Calibri"/>
                <a:cs typeface="Calibri"/>
              </a:rPr>
              <a:t>concentration</a:t>
            </a:r>
            <a:r>
              <a:rPr sz="2700" spc="-85" dirty="0">
                <a:latin typeface="Calibri"/>
                <a:cs typeface="Calibri"/>
              </a:rPr>
              <a:t> </a:t>
            </a:r>
            <a:r>
              <a:rPr sz="2700" spc="5" dirty="0">
                <a:latin typeface="Calibri"/>
                <a:cs typeface="Calibri"/>
              </a:rPr>
              <a:t>of</a:t>
            </a:r>
            <a:r>
              <a:rPr sz="2700" spc="-45" dirty="0">
                <a:latin typeface="Calibri"/>
                <a:cs typeface="Calibri"/>
              </a:rPr>
              <a:t> </a:t>
            </a:r>
            <a:r>
              <a:rPr sz="2700" spc="5" dirty="0">
                <a:latin typeface="Calibri"/>
                <a:cs typeface="Calibri"/>
              </a:rPr>
              <a:t>the</a:t>
            </a:r>
            <a:r>
              <a:rPr sz="2700" spc="-50" dirty="0">
                <a:latin typeface="Calibri"/>
                <a:cs typeface="Calibri"/>
              </a:rPr>
              <a:t> </a:t>
            </a:r>
            <a:r>
              <a:rPr sz="2700" spc="-5" dirty="0">
                <a:latin typeface="Calibri"/>
                <a:cs typeface="Calibri"/>
              </a:rPr>
              <a:t>solution,</a:t>
            </a:r>
            <a:r>
              <a:rPr sz="2700" spc="-35" dirty="0">
                <a:latin typeface="Calibri"/>
                <a:cs typeface="Calibri"/>
              </a:rPr>
              <a:t> </a:t>
            </a:r>
            <a:r>
              <a:rPr sz="2700" spc="5" dirty="0">
                <a:latin typeface="Calibri"/>
                <a:cs typeface="Calibri"/>
              </a:rPr>
              <a:t>the</a:t>
            </a:r>
            <a:r>
              <a:rPr sz="2700" spc="-75" dirty="0">
                <a:latin typeface="Calibri"/>
                <a:cs typeface="Calibri"/>
              </a:rPr>
              <a:t> </a:t>
            </a:r>
            <a:r>
              <a:rPr sz="2700" spc="-5" dirty="0">
                <a:latin typeface="Calibri"/>
                <a:cs typeface="Calibri"/>
              </a:rPr>
              <a:t>number</a:t>
            </a:r>
            <a:r>
              <a:rPr sz="2700" spc="-75" dirty="0">
                <a:latin typeface="Calibri"/>
                <a:cs typeface="Calibri"/>
              </a:rPr>
              <a:t> </a:t>
            </a:r>
            <a:r>
              <a:rPr sz="2700" spc="5" dirty="0">
                <a:latin typeface="Calibri"/>
                <a:cs typeface="Calibri"/>
              </a:rPr>
              <a:t>of</a:t>
            </a:r>
            <a:r>
              <a:rPr sz="2700" spc="-50" dirty="0">
                <a:latin typeface="Calibri"/>
                <a:cs typeface="Calibri"/>
              </a:rPr>
              <a:t> </a:t>
            </a:r>
            <a:r>
              <a:rPr sz="2700" dirty="0">
                <a:latin typeface="Calibri"/>
                <a:cs typeface="Calibri"/>
              </a:rPr>
              <a:t>ions </a:t>
            </a:r>
            <a:r>
              <a:rPr sz="2700" spc="-595" dirty="0">
                <a:latin typeface="Calibri"/>
                <a:cs typeface="Calibri"/>
              </a:rPr>
              <a:t> </a:t>
            </a:r>
            <a:r>
              <a:rPr sz="2700" dirty="0">
                <a:latin typeface="Calibri"/>
                <a:cs typeface="Calibri"/>
              </a:rPr>
              <a:t>per</a:t>
            </a:r>
            <a:r>
              <a:rPr sz="2700" spc="-60" dirty="0">
                <a:latin typeface="Calibri"/>
                <a:cs typeface="Calibri"/>
              </a:rPr>
              <a:t> </a:t>
            </a:r>
            <a:r>
              <a:rPr sz="2700" dirty="0">
                <a:latin typeface="Calibri"/>
                <a:cs typeface="Calibri"/>
              </a:rPr>
              <a:t>ml</a:t>
            </a:r>
            <a:r>
              <a:rPr sz="2700" spc="10" dirty="0">
                <a:latin typeface="Calibri"/>
                <a:cs typeface="Calibri"/>
              </a:rPr>
              <a:t> </a:t>
            </a:r>
            <a:r>
              <a:rPr sz="2700" dirty="0">
                <a:latin typeface="Calibri"/>
                <a:cs typeface="Calibri"/>
              </a:rPr>
              <a:t>is</a:t>
            </a:r>
            <a:r>
              <a:rPr sz="2700" spc="5" dirty="0">
                <a:latin typeface="Calibri"/>
                <a:cs typeface="Calibri"/>
              </a:rPr>
              <a:t> </a:t>
            </a:r>
            <a:r>
              <a:rPr sz="2700" spc="-5" dirty="0">
                <a:latin typeface="Calibri"/>
                <a:cs typeface="Calibri"/>
              </a:rPr>
              <a:t>higher.</a:t>
            </a:r>
            <a:endParaRPr sz="2700">
              <a:latin typeface="Calibri"/>
              <a:cs typeface="Calibri"/>
            </a:endParaRPr>
          </a:p>
          <a:p>
            <a:pPr marL="366395" marR="361315" indent="-341630">
              <a:lnSpc>
                <a:spcPct val="80300"/>
              </a:lnSpc>
              <a:spcBef>
                <a:spcPts val="595"/>
              </a:spcBef>
              <a:buAutoNum type="arabicParenR"/>
              <a:tabLst>
                <a:tab pos="367030" algn="l"/>
              </a:tabLst>
            </a:pPr>
            <a:r>
              <a:rPr sz="2700" b="1" spc="-5" dirty="0">
                <a:solidFill>
                  <a:srgbClr val="C00000"/>
                </a:solidFill>
                <a:latin typeface="Calibri"/>
                <a:cs typeface="Calibri"/>
              </a:rPr>
              <a:t>Concentration </a:t>
            </a:r>
            <a:r>
              <a:rPr sz="2700" spc="5" dirty="0">
                <a:latin typeface="Calibri"/>
                <a:cs typeface="Calibri"/>
              </a:rPr>
              <a:t>– in </a:t>
            </a:r>
            <a:r>
              <a:rPr sz="2700" spc="-5" dirty="0">
                <a:latin typeface="Calibri"/>
                <a:cs typeface="Calibri"/>
              </a:rPr>
              <a:t>case </a:t>
            </a:r>
            <a:r>
              <a:rPr sz="2700" spc="5" dirty="0">
                <a:latin typeface="Calibri"/>
                <a:cs typeface="Calibri"/>
              </a:rPr>
              <a:t>of weak </a:t>
            </a:r>
            <a:r>
              <a:rPr sz="2700" spc="-5" dirty="0">
                <a:latin typeface="Calibri"/>
                <a:cs typeface="Calibri"/>
              </a:rPr>
              <a:t>electrolytes </a:t>
            </a:r>
            <a:r>
              <a:rPr sz="2700" spc="5" dirty="0">
                <a:latin typeface="Calibri"/>
                <a:cs typeface="Calibri"/>
              </a:rPr>
              <a:t>as </a:t>
            </a:r>
            <a:r>
              <a:rPr sz="2700" spc="10" dirty="0">
                <a:latin typeface="Calibri"/>
                <a:cs typeface="Calibri"/>
              </a:rPr>
              <a:t> </a:t>
            </a:r>
            <a:r>
              <a:rPr sz="2700" dirty="0">
                <a:latin typeface="Calibri"/>
                <a:cs typeface="Calibri"/>
              </a:rPr>
              <a:t>concentration </a:t>
            </a:r>
            <a:r>
              <a:rPr sz="2700" spc="-5" dirty="0">
                <a:latin typeface="Calibri"/>
                <a:cs typeface="Calibri"/>
              </a:rPr>
              <a:t>decreases i.e. </a:t>
            </a:r>
            <a:r>
              <a:rPr sz="2700" dirty="0">
                <a:latin typeface="Calibri"/>
                <a:cs typeface="Calibri"/>
              </a:rPr>
              <a:t>is </a:t>
            </a:r>
            <a:r>
              <a:rPr sz="2700" spc="-5" dirty="0">
                <a:latin typeface="Calibri"/>
                <a:cs typeface="Calibri"/>
              </a:rPr>
              <a:t>dilution increases </a:t>
            </a:r>
            <a:r>
              <a:rPr sz="2700" spc="5" dirty="0">
                <a:latin typeface="Calibri"/>
                <a:cs typeface="Calibri"/>
              </a:rPr>
              <a:t>the </a:t>
            </a:r>
            <a:r>
              <a:rPr sz="2700" spc="10" dirty="0">
                <a:latin typeface="Calibri"/>
                <a:cs typeface="Calibri"/>
              </a:rPr>
              <a:t> </a:t>
            </a:r>
            <a:r>
              <a:rPr sz="2700" dirty="0">
                <a:latin typeface="Calibri"/>
                <a:cs typeface="Calibri"/>
              </a:rPr>
              <a:t>number</a:t>
            </a:r>
            <a:r>
              <a:rPr sz="2700" spc="-80" dirty="0">
                <a:latin typeface="Calibri"/>
                <a:cs typeface="Calibri"/>
              </a:rPr>
              <a:t> </a:t>
            </a:r>
            <a:r>
              <a:rPr sz="2700" spc="5" dirty="0">
                <a:latin typeface="Calibri"/>
                <a:cs typeface="Calibri"/>
              </a:rPr>
              <a:t>of</a:t>
            </a:r>
            <a:r>
              <a:rPr sz="2700" spc="-45" dirty="0">
                <a:latin typeface="Calibri"/>
                <a:cs typeface="Calibri"/>
              </a:rPr>
              <a:t> </a:t>
            </a:r>
            <a:r>
              <a:rPr sz="2700" spc="-5" dirty="0">
                <a:latin typeface="Calibri"/>
                <a:cs typeface="Calibri"/>
              </a:rPr>
              <a:t>ions</a:t>
            </a:r>
            <a:r>
              <a:rPr sz="2700" spc="-40" dirty="0">
                <a:latin typeface="Calibri"/>
                <a:cs typeface="Calibri"/>
              </a:rPr>
              <a:t> </a:t>
            </a:r>
            <a:r>
              <a:rPr sz="2700" spc="-5" dirty="0">
                <a:latin typeface="Calibri"/>
                <a:cs typeface="Calibri"/>
              </a:rPr>
              <a:t>increases</a:t>
            </a:r>
            <a:r>
              <a:rPr sz="2700" spc="-70" dirty="0">
                <a:latin typeface="Calibri"/>
                <a:cs typeface="Calibri"/>
              </a:rPr>
              <a:t> </a:t>
            </a:r>
            <a:r>
              <a:rPr sz="2700" dirty="0">
                <a:latin typeface="Calibri"/>
                <a:cs typeface="Calibri"/>
              </a:rPr>
              <a:t>and</a:t>
            </a:r>
            <a:r>
              <a:rPr sz="2700" spc="-70" dirty="0">
                <a:latin typeface="Calibri"/>
                <a:cs typeface="Calibri"/>
              </a:rPr>
              <a:t> </a:t>
            </a:r>
            <a:r>
              <a:rPr sz="2700" spc="-5" dirty="0">
                <a:latin typeface="Calibri"/>
                <a:cs typeface="Calibri"/>
              </a:rPr>
              <a:t>equivalent</a:t>
            </a:r>
            <a:r>
              <a:rPr sz="2700" spc="-55" dirty="0">
                <a:latin typeface="Calibri"/>
                <a:cs typeface="Calibri"/>
              </a:rPr>
              <a:t> </a:t>
            </a:r>
            <a:r>
              <a:rPr sz="2700" dirty="0">
                <a:latin typeface="Calibri"/>
                <a:cs typeface="Calibri"/>
              </a:rPr>
              <a:t>conductance </a:t>
            </a:r>
            <a:r>
              <a:rPr sz="2700" spc="-595" dirty="0">
                <a:latin typeface="Calibri"/>
                <a:cs typeface="Calibri"/>
              </a:rPr>
              <a:t> </a:t>
            </a:r>
            <a:r>
              <a:rPr sz="2700" spc="-5" dirty="0">
                <a:latin typeface="Calibri"/>
                <a:cs typeface="Calibri"/>
              </a:rPr>
              <a:t>increases,</a:t>
            </a:r>
            <a:r>
              <a:rPr sz="2700" spc="-65" dirty="0">
                <a:latin typeface="Calibri"/>
                <a:cs typeface="Calibri"/>
              </a:rPr>
              <a:t> </a:t>
            </a:r>
            <a:r>
              <a:rPr sz="2700" dirty="0">
                <a:latin typeface="Calibri"/>
                <a:cs typeface="Calibri"/>
              </a:rPr>
              <a:t>although</a:t>
            </a:r>
            <a:r>
              <a:rPr sz="2700" spc="-40" dirty="0">
                <a:latin typeface="Calibri"/>
                <a:cs typeface="Calibri"/>
              </a:rPr>
              <a:t> </a:t>
            </a:r>
            <a:r>
              <a:rPr sz="2700" spc="-5" dirty="0">
                <a:latin typeface="Calibri"/>
                <a:cs typeface="Calibri"/>
              </a:rPr>
              <a:t>specific</a:t>
            </a:r>
            <a:r>
              <a:rPr sz="2700" spc="-60" dirty="0">
                <a:latin typeface="Calibri"/>
                <a:cs typeface="Calibri"/>
              </a:rPr>
              <a:t> </a:t>
            </a:r>
            <a:r>
              <a:rPr sz="2700" dirty="0">
                <a:latin typeface="Calibri"/>
                <a:cs typeface="Calibri"/>
              </a:rPr>
              <a:t>conductance</a:t>
            </a:r>
            <a:r>
              <a:rPr sz="2700" spc="-90" dirty="0">
                <a:latin typeface="Calibri"/>
                <a:cs typeface="Calibri"/>
              </a:rPr>
              <a:t> </a:t>
            </a:r>
            <a:r>
              <a:rPr sz="2700" spc="-5" dirty="0">
                <a:latin typeface="Calibri"/>
                <a:cs typeface="Calibri"/>
              </a:rPr>
              <a:t>decreases.</a:t>
            </a:r>
            <a:endParaRPr sz="2700">
              <a:latin typeface="Calibri"/>
              <a:cs typeface="Calibri"/>
            </a:endParaRPr>
          </a:p>
          <a:p>
            <a:pPr marL="366395" marR="468630" indent="-341630">
              <a:lnSpc>
                <a:spcPct val="80000"/>
              </a:lnSpc>
              <a:spcBef>
                <a:spcPts val="600"/>
              </a:spcBef>
              <a:buAutoNum type="arabicParenR"/>
              <a:tabLst>
                <a:tab pos="367030" algn="l"/>
              </a:tabLst>
            </a:pPr>
            <a:r>
              <a:rPr sz="2700" b="1" spc="-5" dirty="0">
                <a:solidFill>
                  <a:srgbClr val="C00000"/>
                </a:solidFill>
                <a:latin typeface="Calibri"/>
                <a:cs typeface="Calibri"/>
              </a:rPr>
              <a:t>Mobility</a:t>
            </a:r>
            <a:r>
              <a:rPr sz="2700" b="1" spc="-20" dirty="0">
                <a:solidFill>
                  <a:srgbClr val="C00000"/>
                </a:solidFill>
                <a:latin typeface="Calibri"/>
                <a:cs typeface="Calibri"/>
              </a:rPr>
              <a:t> </a:t>
            </a:r>
            <a:r>
              <a:rPr sz="2700" b="1" spc="5" dirty="0">
                <a:solidFill>
                  <a:srgbClr val="C00000"/>
                </a:solidFill>
                <a:latin typeface="Calibri"/>
                <a:cs typeface="Calibri"/>
              </a:rPr>
              <a:t>of</a:t>
            </a:r>
            <a:r>
              <a:rPr sz="2700" b="1" spc="-25" dirty="0">
                <a:solidFill>
                  <a:srgbClr val="C00000"/>
                </a:solidFill>
                <a:latin typeface="Calibri"/>
                <a:cs typeface="Calibri"/>
              </a:rPr>
              <a:t> </a:t>
            </a:r>
            <a:r>
              <a:rPr sz="2700" b="1" dirty="0">
                <a:solidFill>
                  <a:srgbClr val="C00000"/>
                </a:solidFill>
                <a:latin typeface="Calibri"/>
                <a:cs typeface="Calibri"/>
              </a:rPr>
              <a:t>ions</a:t>
            </a:r>
            <a:r>
              <a:rPr sz="2700" b="1" spc="-30" dirty="0">
                <a:solidFill>
                  <a:srgbClr val="C00000"/>
                </a:solidFill>
                <a:latin typeface="Calibri"/>
                <a:cs typeface="Calibri"/>
              </a:rPr>
              <a:t> </a:t>
            </a:r>
            <a:r>
              <a:rPr sz="2700" spc="5" dirty="0">
                <a:latin typeface="Calibri"/>
                <a:cs typeface="Calibri"/>
              </a:rPr>
              <a:t>–</a:t>
            </a:r>
            <a:r>
              <a:rPr sz="2700" spc="-15" dirty="0">
                <a:latin typeface="Calibri"/>
                <a:cs typeface="Calibri"/>
              </a:rPr>
              <a:t> </a:t>
            </a:r>
            <a:r>
              <a:rPr sz="2700" spc="-5" dirty="0">
                <a:latin typeface="Calibri"/>
                <a:cs typeface="Calibri"/>
              </a:rPr>
              <a:t>smaller</a:t>
            </a:r>
            <a:r>
              <a:rPr sz="2700" spc="-15" dirty="0">
                <a:latin typeface="Calibri"/>
                <a:cs typeface="Calibri"/>
              </a:rPr>
              <a:t> </a:t>
            </a:r>
            <a:r>
              <a:rPr sz="2700" spc="5" dirty="0">
                <a:latin typeface="Calibri"/>
                <a:cs typeface="Calibri"/>
              </a:rPr>
              <a:t>the</a:t>
            </a:r>
            <a:r>
              <a:rPr sz="2700" spc="-70" dirty="0">
                <a:latin typeface="Calibri"/>
                <a:cs typeface="Calibri"/>
              </a:rPr>
              <a:t> </a:t>
            </a:r>
            <a:r>
              <a:rPr sz="2700" spc="-10" dirty="0">
                <a:latin typeface="Calibri"/>
                <a:cs typeface="Calibri"/>
              </a:rPr>
              <a:t>size</a:t>
            </a:r>
            <a:r>
              <a:rPr sz="2700" spc="-60" dirty="0">
                <a:latin typeface="Calibri"/>
                <a:cs typeface="Calibri"/>
              </a:rPr>
              <a:t> </a:t>
            </a:r>
            <a:r>
              <a:rPr sz="2700" spc="5" dirty="0">
                <a:latin typeface="Calibri"/>
                <a:cs typeface="Calibri"/>
              </a:rPr>
              <a:t>of</a:t>
            </a:r>
            <a:r>
              <a:rPr sz="2700" spc="-15" dirty="0">
                <a:latin typeface="Calibri"/>
                <a:cs typeface="Calibri"/>
              </a:rPr>
              <a:t> </a:t>
            </a:r>
            <a:r>
              <a:rPr sz="2700" spc="5" dirty="0">
                <a:latin typeface="Calibri"/>
                <a:cs typeface="Calibri"/>
              </a:rPr>
              <a:t>ion</a:t>
            </a:r>
            <a:r>
              <a:rPr sz="2700" spc="-45" dirty="0">
                <a:latin typeface="Calibri"/>
                <a:cs typeface="Calibri"/>
              </a:rPr>
              <a:t> </a:t>
            </a:r>
            <a:r>
              <a:rPr sz="2700" spc="-5" dirty="0">
                <a:latin typeface="Calibri"/>
                <a:cs typeface="Calibri"/>
              </a:rPr>
              <a:t>greater</a:t>
            </a:r>
            <a:r>
              <a:rPr sz="2700" spc="-45" dirty="0">
                <a:latin typeface="Calibri"/>
                <a:cs typeface="Calibri"/>
              </a:rPr>
              <a:t> </a:t>
            </a:r>
            <a:r>
              <a:rPr sz="2700" dirty="0">
                <a:latin typeface="Calibri"/>
                <a:cs typeface="Calibri"/>
              </a:rPr>
              <a:t>is</a:t>
            </a:r>
            <a:r>
              <a:rPr sz="2700" spc="-15" dirty="0">
                <a:latin typeface="Calibri"/>
                <a:cs typeface="Calibri"/>
              </a:rPr>
              <a:t> </a:t>
            </a:r>
            <a:r>
              <a:rPr sz="2700" spc="-5" dirty="0">
                <a:latin typeface="Calibri"/>
                <a:cs typeface="Calibri"/>
              </a:rPr>
              <a:t>its </a:t>
            </a:r>
            <a:r>
              <a:rPr sz="2700" spc="-595" dirty="0">
                <a:latin typeface="Calibri"/>
                <a:cs typeface="Calibri"/>
              </a:rPr>
              <a:t> </a:t>
            </a:r>
            <a:r>
              <a:rPr sz="2700" dirty="0">
                <a:latin typeface="Calibri"/>
                <a:cs typeface="Calibri"/>
              </a:rPr>
              <a:t>mobility</a:t>
            </a:r>
            <a:r>
              <a:rPr sz="2700" spc="-5" dirty="0">
                <a:latin typeface="Calibri"/>
                <a:cs typeface="Calibri"/>
              </a:rPr>
              <a:t> </a:t>
            </a:r>
            <a:r>
              <a:rPr sz="2700" spc="-10" dirty="0">
                <a:latin typeface="Calibri"/>
                <a:cs typeface="Calibri"/>
              </a:rPr>
              <a:t>e.g.</a:t>
            </a:r>
            <a:r>
              <a:rPr sz="2700" spc="30" dirty="0">
                <a:latin typeface="Calibri"/>
                <a:cs typeface="Calibri"/>
              </a:rPr>
              <a:t> </a:t>
            </a:r>
            <a:r>
              <a:rPr sz="2700" dirty="0">
                <a:latin typeface="Calibri"/>
                <a:cs typeface="Calibri"/>
              </a:rPr>
              <a:t>H+</a:t>
            </a:r>
            <a:r>
              <a:rPr sz="2700" spc="5" dirty="0">
                <a:latin typeface="Calibri"/>
                <a:cs typeface="Calibri"/>
              </a:rPr>
              <a:t> </a:t>
            </a:r>
            <a:r>
              <a:rPr sz="2700" spc="-5" dirty="0">
                <a:latin typeface="Calibri"/>
                <a:cs typeface="Calibri"/>
              </a:rPr>
              <a:t>ion.</a:t>
            </a:r>
            <a:endParaRPr sz="2700">
              <a:latin typeface="Calibri"/>
              <a:cs typeface="Calibri"/>
            </a:endParaRPr>
          </a:p>
          <a:p>
            <a:pPr marL="366395" marR="84455" indent="-341630">
              <a:lnSpc>
                <a:spcPts val="2590"/>
              </a:lnSpc>
              <a:spcBef>
                <a:spcPts val="610"/>
              </a:spcBef>
              <a:buAutoNum type="arabicParenR"/>
              <a:tabLst>
                <a:tab pos="367030" algn="l"/>
              </a:tabLst>
            </a:pPr>
            <a:r>
              <a:rPr sz="2700" b="1" dirty="0">
                <a:solidFill>
                  <a:srgbClr val="C00000"/>
                </a:solidFill>
                <a:latin typeface="Calibri"/>
                <a:cs typeface="Calibri"/>
              </a:rPr>
              <a:t>Charge</a:t>
            </a:r>
            <a:r>
              <a:rPr sz="2700" b="1" spc="-35" dirty="0">
                <a:solidFill>
                  <a:srgbClr val="C00000"/>
                </a:solidFill>
                <a:latin typeface="Calibri"/>
                <a:cs typeface="Calibri"/>
              </a:rPr>
              <a:t> </a:t>
            </a:r>
            <a:r>
              <a:rPr sz="2700" b="1" spc="-5" dirty="0">
                <a:solidFill>
                  <a:srgbClr val="C00000"/>
                </a:solidFill>
                <a:latin typeface="Calibri"/>
                <a:cs typeface="Calibri"/>
              </a:rPr>
              <a:t>on </a:t>
            </a:r>
            <a:r>
              <a:rPr sz="2700" b="1" spc="-10" dirty="0">
                <a:solidFill>
                  <a:srgbClr val="C00000"/>
                </a:solidFill>
                <a:latin typeface="Calibri"/>
                <a:cs typeface="Calibri"/>
              </a:rPr>
              <a:t>ion</a:t>
            </a:r>
            <a:r>
              <a:rPr sz="2700" b="1" spc="-5" dirty="0">
                <a:solidFill>
                  <a:srgbClr val="C00000"/>
                </a:solidFill>
                <a:latin typeface="Calibri"/>
                <a:cs typeface="Calibri"/>
              </a:rPr>
              <a:t> </a:t>
            </a:r>
            <a:r>
              <a:rPr sz="2700" spc="5" dirty="0">
                <a:latin typeface="Calibri"/>
                <a:cs typeface="Calibri"/>
              </a:rPr>
              <a:t>–</a:t>
            </a:r>
            <a:r>
              <a:rPr sz="2700" spc="-20" dirty="0">
                <a:latin typeface="Calibri"/>
                <a:cs typeface="Calibri"/>
              </a:rPr>
              <a:t> </a:t>
            </a:r>
            <a:r>
              <a:rPr sz="2700" spc="-5" dirty="0">
                <a:latin typeface="Calibri"/>
                <a:cs typeface="Calibri"/>
              </a:rPr>
              <a:t>higher</a:t>
            </a:r>
            <a:r>
              <a:rPr sz="2700" spc="-45" dirty="0">
                <a:latin typeface="Calibri"/>
                <a:cs typeface="Calibri"/>
              </a:rPr>
              <a:t> </a:t>
            </a:r>
            <a:r>
              <a:rPr sz="2700" dirty="0">
                <a:latin typeface="Calibri"/>
                <a:cs typeface="Calibri"/>
              </a:rPr>
              <a:t>is</a:t>
            </a:r>
            <a:r>
              <a:rPr sz="2700" spc="-20" dirty="0">
                <a:latin typeface="Calibri"/>
                <a:cs typeface="Calibri"/>
              </a:rPr>
              <a:t> </a:t>
            </a:r>
            <a:r>
              <a:rPr sz="2700" spc="5" dirty="0">
                <a:latin typeface="Calibri"/>
                <a:cs typeface="Calibri"/>
              </a:rPr>
              <a:t>the</a:t>
            </a:r>
            <a:r>
              <a:rPr sz="2700" spc="-75" dirty="0">
                <a:latin typeface="Calibri"/>
                <a:cs typeface="Calibri"/>
              </a:rPr>
              <a:t> </a:t>
            </a:r>
            <a:r>
              <a:rPr sz="2700" dirty="0">
                <a:latin typeface="Calibri"/>
                <a:cs typeface="Calibri"/>
              </a:rPr>
              <a:t>charge</a:t>
            </a:r>
            <a:r>
              <a:rPr sz="2700" spc="-45" dirty="0">
                <a:latin typeface="Calibri"/>
                <a:cs typeface="Calibri"/>
              </a:rPr>
              <a:t> </a:t>
            </a:r>
            <a:r>
              <a:rPr sz="2700" spc="10" dirty="0">
                <a:latin typeface="Calibri"/>
                <a:cs typeface="Calibri"/>
              </a:rPr>
              <a:t>on</a:t>
            </a:r>
            <a:r>
              <a:rPr sz="2700" spc="-45" dirty="0">
                <a:latin typeface="Calibri"/>
                <a:cs typeface="Calibri"/>
              </a:rPr>
              <a:t> </a:t>
            </a:r>
            <a:r>
              <a:rPr sz="2700" spc="-5" dirty="0">
                <a:latin typeface="Calibri"/>
                <a:cs typeface="Calibri"/>
              </a:rPr>
              <a:t>ion</a:t>
            </a:r>
            <a:r>
              <a:rPr sz="2700" spc="-45" dirty="0">
                <a:latin typeface="Calibri"/>
                <a:cs typeface="Calibri"/>
              </a:rPr>
              <a:t> </a:t>
            </a:r>
            <a:r>
              <a:rPr sz="2700" dirty="0">
                <a:latin typeface="Calibri"/>
                <a:cs typeface="Calibri"/>
              </a:rPr>
              <a:t>greater</a:t>
            </a:r>
            <a:r>
              <a:rPr sz="2700" spc="-50" dirty="0">
                <a:latin typeface="Calibri"/>
                <a:cs typeface="Calibri"/>
              </a:rPr>
              <a:t> </a:t>
            </a:r>
            <a:r>
              <a:rPr sz="2700" dirty="0">
                <a:latin typeface="Calibri"/>
                <a:cs typeface="Calibri"/>
              </a:rPr>
              <a:t>is</a:t>
            </a:r>
            <a:r>
              <a:rPr sz="2700" spc="-40" dirty="0">
                <a:latin typeface="Calibri"/>
                <a:cs typeface="Calibri"/>
              </a:rPr>
              <a:t> </a:t>
            </a:r>
            <a:r>
              <a:rPr sz="2700" dirty="0">
                <a:latin typeface="Calibri"/>
                <a:cs typeface="Calibri"/>
              </a:rPr>
              <a:t>its </a:t>
            </a:r>
            <a:r>
              <a:rPr sz="2700" spc="-595" dirty="0">
                <a:latin typeface="Calibri"/>
                <a:cs typeface="Calibri"/>
              </a:rPr>
              <a:t> </a:t>
            </a:r>
            <a:r>
              <a:rPr sz="2700" dirty="0">
                <a:latin typeface="Calibri"/>
                <a:cs typeface="Calibri"/>
              </a:rPr>
              <a:t>mobility.</a:t>
            </a:r>
            <a:r>
              <a:rPr sz="2700" spc="-5" dirty="0">
                <a:latin typeface="Calibri"/>
                <a:cs typeface="Calibri"/>
              </a:rPr>
              <a:t> </a:t>
            </a:r>
            <a:r>
              <a:rPr sz="2700" spc="-10" dirty="0">
                <a:latin typeface="Calibri"/>
                <a:cs typeface="Calibri"/>
              </a:rPr>
              <a:t>e.g.</a:t>
            </a:r>
            <a:r>
              <a:rPr sz="2700" spc="30" dirty="0">
                <a:latin typeface="Calibri"/>
                <a:cs typeface="Calibri"/>
              </a:rPr>
              <a:t> </a:t>
            </a:r>
            <a:r>
              <a:rPr sz="2700" dirty="0">
                <a:latin typeface="Calibri"/>
                <a:cs typeface="Calibri"/>
              </a:rPr>
              <a:t>Mg</a:t>
            </a:r>
            <a:r>
              <a:rPr sz="2625" baseline="28571" dirty="0">
                <a:latin typeface="Calibri"/>
                <a:cs typeface="Calibri"/>
              </a:rPr>
              <a:t>++</a:t>
            </a:r>
            <a:r>
              <a:rPr sz="2625" spc="322" baseline="28571" dirty="0">
                <a:latin typeface="Calibri"/>
                <a:cs typeface="Calibri"/>
              </a:rPr>
              <a:t> </a:t>
            </a:r>
            <a:r>
              <a:rPr sz="2700" spc="5" dirty="0">
                <a:latin typeface="Calibri"/>
                <a:cs typeface="Calibri"/>
              </a:rPr>
              <a:t>&gt; </a:t>
            </a:r>
            <a:r>
              <a:rPr sz="2700" spc="-5" dirty="0">
                <a:latin typeface="Calibri"/>
                <a:cs typeface="Calibri"/>
              </a:rPr>
              <a:t>Na</a:t>
            </a:r>
            <a:r>
              <a:rPr sz="2625" spc="-7" baseline="28571" dirty="0">
                <a:latin typeface="Calibri"/>
                <a:cs typeface="Calibri"/>
              </a:rPr>
              <a:t>+</a:t>
            </a:r>
            <a:r>
              <a:rPr sz="2625" spc="322" baseline="28571" dirty="0">
                <a:latin typeface="Calibri"/>
                <a:cs typeface="Calibri"/>
              </a:rPr>
              <a:t> </a:t>
            </a:r>
            <a:r>
              <a:rPr sz="2700" dirty="0">
                <a:latin typeface="Calibri"/>
                <a:cs typeface="Calibri"/>
              </a:rPr>
              <a:t>;</a:t>
            </a:r>
            <a:r>
              <a:rPr sz="2700" spc="-25" dirty="0">
                <a:latin typeface="Calibri"/>
                <a:cs typeface="Calibri"/>
              </a:rPr>
              <a:t> </a:t>
            </a:r>
            <a:r>
              <a:rPr sz="2700" dirty="0">
                <a:latin typeface="Calibri"/>
                <a:cs typeface="Calibri"/>
              </a:rPr>
              <a:t>SO4</a:t>
            </a:r>
            <a:r>
              <a:rPr sz="2625" baseline="28571" dirty="0">
                <a:latin typeface="Calibri"/>
                <a:cs typeface="Calibri"/>
              </a:rPr>
              <a:t>-2</a:t>
            </a:r>
            <a:r>
              <a:rPr sz="2625" spc="300" baseline="28571" dirty="0">
                <a:latin typeface="Calibri"/>
                <a:cs typeface="Calibri"/>
              </a:rPr>
              <a:t> </a:t>
            </a:r>
            <a:r>
              <a:rPr sz="2700" spc="5" dirty="0">
                <a:latin typeface="Calibri"/>
                <a:cs typeface="Calibri"/>
              </a:rPr>
              <a:t>&gt; </a:t>
            </a:r>
            <a:r>
              <a:rPr sz="2700" spc="-5" dirty="0">
                <a:latin typeface="Calibri"/>
                <a:cs typeface="Calibri"/>
              </a:rPr>
              <a:t>NO3</a:t>
            </a:r>
            <a:r>
              <a:rPr sz="2625" spc="-7" baseline="28571" dirty="0">
                <a:latin typeface="Calibri"/>
                <a:cs typeface="Calibri"/>
              </a:rPr>
              <a:t>-</a:t>
            </a:r>
            <a:endParaRPr sz="2625" baseline="28571">
              <a:latin typeface="Calibri"/>
              <a:cs typeface="Calibri"/>
            </a:endParaRPr>
          </a:p>
          <a:p>
            <a:pPr marL="366395" marR="112395" indent="-341630">
              <a:lnSpc>
                <a:spcPct val="80400"/>
              </a:lnSpc>
              <a:spcBef>
                <a:spcPts val="635"/>
              </a:spcBef>
              <a:buAutoNum type="arabicParenR"/>
              <a:tabLst>
                <a:tab pos="367030" algn="l"/>
              </a:tabLst>
            </a:pPr>
            <a:r>
              <a:rPr sz="2700" b="1" spc="-5" dirty="0">
                <a:solidFill>
                  <a:srgbClr val="C00000"/>
                </a:solidFill>
                <a:latin typeface="Calibri"/>
                <a:cs typeface="Calibri"/>
              </a:rPr>
              <a:t>Temperature </a:t>
            </a:r>
            <a:r>
              <a:rPr sz="2700" spc="5" dirty="0">
                <a:latin typeface="Calibri"/>
                <a:cs typeface="Calibri"/>
              </a:rPr>
              <a:t>– at </a:t>
            </a:r>
            <a:r>
              <a:rPr sz="2700" spc="-5" dirty="0">
                <a:latin typeface="Calibri"/>
                <a:cs typeface="Calibri"/>
              </a:rPr>
              <a:t>higher </a:t>
            </a:r>
            <a:r>
              <a:rPr sz="2700" dirty="0">
                <a:latin typeface="Calibri"/>
                <a:cs typeface="Calibri"/>
              </a:rPr>
              <a:t>temperature </a:t>
            </a:r>
            <a:r>
              <a:rPr sz="2700" spc="-5" dirty="0">
                <a:latin typeface="Calibri"/>
                <a:cs typeface="Calibri"/>
              </a:rPr>
              <a:t>K.E. increases, </a:t>
            </a:r>
            <a:r>
              <a:rPr sz="2700" dirty="0">
                <a:latin typeface="Calibri"/>
                <a:cs typeface="Calibri"/>
              </a:rPr>
              <a:t> viscocity</a:t>
            </a:r>
            <a:r>
              <a:rPr sz="2700" spc="-70" dirty="0">
                <a:latin typeface="Calibri"/>
                <a:cs typeface="Calibri"/>
              </a:rPr>
              <a:t> </a:t>
            </a:r>
            <a:r>
              <a:rPr sz="2700" spc="-5" dirty="0">
                <a:latin typeface="Calibri"/>
                <a:cs typeface="Calibri"/>
              </a:rPr>
              <a:t>decreases,</a:t>
            </a:r>
            <a:r>
              <a:rPr sz="2700" spc="-100" dirty="0">
                <a:latin typeface="Calibri"/>
                <a:cs typeface="Calibri"/>
              </a:rPr>
              <a:t> </a:t>
            </a:r>
            <a:r>
              <a:rPr sz="2700" spc="-5" dirty="0">
                <a:latin typeface="Calibri"/>
                <a:cs typeface="Calibri"/>
              </a:rPr>
              <a:t>interaction</a:t>
            </a:r>
            <a:r>
              <a:rPr sz="2700" spc="-75" dirty="0">
                <a:latin typeface="Calibri"/>
                <a:cs typeface="Calibri"/>
              </a:rPr>
              <a:t> </a:t>
            </a:r>
            <a:r>
              <a:rPr sz="2700" spc="-5" dirty="0">
                <a:latin typeface="Calibri"/>
                <a:cs typeface="Calibri"/>
              </a:rPr>
              <a:t>between</a:t>
            </a:r>
            <a:r>
              <a:rPr sz="2700" spc="-100" dirty="0">
                <a:latin typeface="Calibri"/>
                <a:cs typeface="Calibri"/>
              </a:rPr>
              <a:t> </a:t>
            </a:r>
            <a:r>
              <a:rPr sz="2700" spc="-5" dirty="0">
                <a:latin typeface="Calibri"/>
                <a:cs typeface="Calibri"/>
              </a:rPr>
              <a:t>ions</a:t>
            </a:r>
            <a:r>
              <a:rPr sz="2700" spc="-45" dirty="0">
                <a:latin typeface="Calibri"/>
                <a:cs typeface="Calibri"/>
              </a:rPr>
              <a:t> </a:t>
            </a:r>
            <a:r>
              <a:rPr sz="2700" spc="-5" dirty="0">
                <a:latin typeface="Calibri"/>
                <a:cs typeface="Calibri"/>
              </a:rPr>
              <a:t>decreases </a:t>
            </a:r>
            <a:r>
              <a:rPr sz="2700" spc="-595" dirty="0">
                <a:latin typeface="Calibri"/>
                <a:cs typeface="Calibri"/>
              </a:rPr>
              <a:t> </a:t>
            </a:r>
            <a:r>
              <a:rPr sz="2700" dirty="0">
                <a:latin typeface="Calibri"/>
                <a:cs typeface="Calibri"/>
              </a:rPr>
              <a:t>therefore</a:t>
            </a:r>
            <a:r>
              <a:rPr sz="2700" spc="-45" dirty="0">
                <a:latin typeface="Calibri"/>
                <a:cs typeface="Calibri"/>
              </a:rPr>
              <a:t> </a:t>
            </a:r>
            <a:r>
              <a:rPr sz="2700" spc="-5" dirty="0">
                <a:latin typeface="Calibri"/>
                <a:cs typeface="Calibri"/>
              </a:rPr>
              <a:t>conductance</a:t>
            </a:r>
            <a:r>
              <a:rPr sz="2700" spc="-45" dirty="0">
                <a:latin typeface="Calibri"/>
                <a:cs typeface="Calibri"/>
              </a:rPr>
              <a:t> </a:t>
            </a:r>
            <a:r>
              <a:rPr sz="2700" dirty="0">
                <a:latin typeface="Calibri"/>
                <a:cs typeface="Calibri"/>
              </a:rPr>
              <a:t>increases</a:t>
            </a:r>
            <a:endParaRPr sz="2700">
              <a:latin typeface="Calibri"/>
              <a:cs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1127556" y="136601"/>
            <a:ext cx="6354445" cy="381515"/>
          </a:xfrm>
          <a:prstGeom prst="rect">
            <a:avLst/>
          </a:prstGeom>
        </p:spPr>
        <p:txBody>
          <a:bodyPr vert="horz" wrap="square" lIns="0" tIns="12065" rIns="0" bIns="0" rtlCol="0">
            <a:spAutoFit/>
          </a:bodyPr>
          <a:lstStyle/>
          <a:p>
            <a:pPr marL="12700">
              <a:lnSpc>
                <a:spcPct val="100000"/>
              </a:lnSpc>
              <a:spcBef>
                <a:spcPts val="95"/>
              </a:spcBef>
            </a:pPr>
            <a:r>
              <a:rPr sz="2400" b="1" u="heavy" spc="-5" dirty="0">
                <a:solidFill>
                  <a:srgbClr val="FF0000"/>
                </a:solidFill>
                <a:uFill>
                  <a:solidFill>
                    <a:srgbClr val="FF0000"/>
                  </a:solidFill>
                </a:uFill>
                <a:latin typeface="Arial"/>
                <a:cs typeface="Arial"/>
              </a:rPr>
              <a:t>Conductometric</a:t>
            </a:r>
            <a:r>
              <a:rPr sz="2400" b="1" u="heavy" spc="-55" dirty="0">
                <a:solidFill>
                  <a:srgbClr val="FF0000"/>
                </a:solidFill>
                <a:uFill>
                  <a:solidFill>
                    <a:srgbClr val="FF0000"/>
                  </a:solidFill>
                </a:uFill>
                <a:latin typeface="Arial"/>
                <a:cs typeface="Arial"/>
              </a:rPr>
              <a:t> </a:t>
            </a:r>
            <a:r>
              <a:rPr sz="2400" b="1" u="heavy" spc="-5" dirty="0">
                <a:solidFill>
                  <a:srgbClr val="FF0000"/>
                </a:solidFill>
                <a:uFill>
                  <a:solidFill>
                    <a:srgbClr val="FF0000"/>
                  </a:solidFill>
                </a:uFill>
                <a:latin typeface="Arial"/>
                <a:cs typeface="Arial"/>
              </a:rPr>
              <a:t>Titration</a:t>
            </a:r>
            <a:r>
              <a:rPr sz="2400" b="1" u="heavy" spc="-60" dirty="0">
                <a:solidFill>
                  <a:srgbClr val="FF0000"/>
                </a:solidFill>
                <a:uFill>
                  <a:solidFill>
                    <a:srgbClr val="FF0000"/>
                  </a:solidFill>
                </a:uFill>
                <a:latin typeface="Arial"/>
                <a:cs typeface="Arial"/>
              </a:rPr>
              <a:t> </a:t>
            </a:r>
            <a:r>
              <a:rPr sz="2400" b="1" u="heavy" spc="-5" dirty="0">
                <a:solidFill>
                  <a:srgbClr val="FF0000"/>
                </a:solidFill>
                <a:uFill>
                  <a:solidFill>
                    <a:srgbClr val="FF0000"/>
                  </a:solidFill>
                </a:uFill>
                <a:latin typeface="Arial"/>
                <a:cs typeface="Arial"/>
              </a:rPr>
              <a:t>Curves</a:t>
            </a:r>
            <a:endParaRPr sz="2400">
              <a:latin typeface="Arial"/>
              <a:cs typeface="Arial"/>
            </a:endParaRPr>
          </a:p>
        </p:txBody>
      </p:sp>
      <p:sp>
        <p:nvSpPr>
          <p:cNvPr id="5" name="object 5"/>
          <p:cNvSpPr txBox="1"/>
          <p:nvPr/>
        </p:nvSpPr>
        <p:spPr>
          <a:xfrm>
            <a:off x="838200" y="2438400"/>
            <a:ext cx="7162800" cy="1202252"/>
          </a:xfrm>
          <a:prstGeom prst="rect">
            <a:avLst/>
          </a:prstGeom>
        </p:spPr>
        <p:txBody>
          <a:bodyPr vert="horz" wrap="square" lIns="0" tIns="75565" rIns="0" bIns="0" rtlCol="0">
            <a:spAutoFit/>
          </a:bodyPr>
          <a:lstStyle/>
          <a:p>
            <a:pPr marL="354330" indent="-342265">
              <a:lnSpc>
                <a:spcPct val="100000"/>
              </a:lnSpc>
              <a:spcBef>
                <a:spcPts val="595"/>
              </a:spcBef>
              <a:buFont typeface="Microsoft Sans Serif"/>
              <a:buChar char="•"/>
              <a:tabLst>
                <a:tab pos="353695" algn="l"/>
                <a:tab pos="354965" algn="l"/>
              </a:tabLst>
            </a:pPr>
            <a:r>
              <a:rPr sz="2000" b="1" spc="-10" smtClean="0">
                <a:solidFill>
                  <a:srgbClr val="C00000"/>
                </a:solidFill>
                <a:latin typeface="Arial"/>
                <a:cs typeface="Arial"/>
              </a:rPr>
              <a:t>1</a:t>
            </a:r>
            <a:r>
              <a:rPr sz="2000" b="1" spc="-10" dirty="0">
                <a:solidFill>
                  <a:srgbClr val="C00000"/>
                </a:solidFill>
                <a:latin typeface="Arial"/>
                <a:cs typeface="Arial"/>
              </a:rPr>
              <a:t>)</a:t>
            </a:r>
            <a:r>
              <a:rPr sz="2000" b="1" spc="-35" dirty="0">
                <a:solidFill>
                  <a:srgbClr val="C00000"/>
                </a:solidFill>
                <a:latin typeface="Arial"/>
                <a:cs typeface="Arial"/>
              </a:rPr>
              <a:t> </a:t>
            </a:r>
            <a:r>
              <a:rPr sz="1800" b="1" dirty="0">
                <a:solidFill>
                  <a:srgbClr val="C00000"/>
                </a:solidFill>
                <a:latin typeface="Arial"/>
                <a:cs typeface="Arial"/>
              </a:rPr>
              <a:t>Strong</a:t>
            </a:r>
            <a:r>
              <a:rPr sz="1800" b="1" spc="-65" dirty="0">
                <a:solidFill>
                  <a:srgbClr val="C00000"/>
                </a:solidFill>
                <a:latin typeface="Arial"/>
                <a:cs typeface="Arial"/>
              </a:rPr>
              <a:t> </a:t>
            </a:r>
            <a:r>
              <a:rPr sz="1800" b="1" spc="-10" dirty="0">
                <a:solidFill>
                  <a:srgbClr val="C00000"/>
                </a:solidFill>
                <a:latin typeface="Arial"/>
                <a:cs typeface="Arial"/>
              </a:rPr>
              <a:t>Acid</a:t>
            </a:r>
            <a:r>
              <a:rPr sz="1800" b="1" spc="25" dirty="0">
                <a:solidFill>
                  <a:srgbClr val="C00000"/>
                </a:solidFill>
                <a:latin typeface="Arial"/>
                <a:cs typeface="Arial"/>
              </a:rPr>
              <a:t> </a:t>
            </a:r>
            <a:r>
              <a:rPr sz="1800" b="1" dirty="0">
                <a:solidFill>
                  <a:srgbClr val="C00000"/>
                </a:solidFill>
                <a:latin typeface="Arial"/>
                <a:cs typeface="Arial"/>
              </a:rPr>
              <a:t>with</a:t>
            </a:r>
            <a:r>
              <a:rPr sz="1800" b="1" spc="-45" dirty="0">
                <a:solidFill>
                  <a:srgbClr val="C00000"/>
                </a:solidFill>
                <a:latin typeface="Arial"/>
                <a:cs typeface="Arial"/>
              </a:rPr>
              <a:t> </a:t>
            </a:r>
            <a:r>
              <a:rPr sz="1800" b="1">
                <a:solidFill>
                  <a:srgbClr val="C00000"/>
                </a:solidFill>
                <a:latin typeface="Arial"/>
                <a:cs typeface="Arial"/>
              </a:rPr>
              <a:t>Strong</a:t>
            </a:r>
            <a:r>
              <a:rPr sz="1800" b="1" spc="-45">
                <a:solidFill>
                  <a:srgbClr val="C00000"/>
                </a:solidFill>
                <a:latin typeface="Arial"/>
                <a:cs typeface="Arial"/>
              </a:rPr>
              <a:t> </a:t>
            </a:r>
            <a:r>
              <a:rPr sz="1800" b="1" spc="-5" smtClean="0">
                <a:solidFill>
                  <a:srgbClr val="C00000"/>
                </a:solidFill>
                <a:latin typeface="Arial"/>
                <a:cs typeface="Arial"/>
              </a:rPr>
              <a:t>Base</a:t>
            </a:r>
            <a:endParaRPr sz="2000">
              <a:latin typeface="Arial"/>
              <a:cs typeface="Arial"/>
            </a:endParaRPr>
          </a:p>
          <a:p>
            <a:pPr marL="354330" indent="-342265">
              <a:lnSpc>
                <a:spcPct val="100000"/>
              </a:lnSpc>
              <a:spcBef>
                <a:spcPts val="610"/>
              </a:spcBef>
              <a:buFont typeface="Microsoft Sans Serif"/>
              <a:buChar char="•"/>
              <a:tabLst>
                <a:tab pos="353695" algn="l"/>
                <a:tab pos="354965" algn="l"/>
              </a:tabLst>
            </a:pPr>
            <a:r>
              <a:rPr sz="1800" b="1" dirty="0">
                <a:latin typeface="Arial"/>
                <a:cs typeface="Arial"/>
              </a:rPr>
              <a:t>e.g.</a:t>
            </a:r>
            <a:r>
              <a:rPr sz="1800" b="1" spc="-20" dirty="0">
                <a:latin typeface="Arial"/>
                <a:cs typeface="Arial"/>
              </a:rPr>
              <a:t> </a:t>
            </a:r>
            <a:r>
              <a:rPr sz="1800" b="1" spc="-5" dirty="0">
                <a:latin typeface="Arial"/>
                <a:cs typeface="Arial"/>
              </a:rPr>
              <a:t>HCl</a:t>
            </a:r>
            <a:r>
              <a:rPr sz="1800" b="1" spc="-20" dirty="0">
                <a:latin typeface="Arial"/>
                <a:cs typeface="Arial"/>
              </a:rPr>
              <a:t> </a:t>
            </a:r>
            <a:r>
              <a:rPr sz="1800" b="1" dirty="0">
                <a:latin typeface="Arial"/>
                <a:cs typeface="Arial"/>
              </a:rPr>
              <a:t>with</a:t>
            </a:r>
            <a:r>
              <a:rPr sz="1800" b="1" spc="-35" dirty="0">
                <a:latin typeface="Arial"/>
                <a:cs typeface="Arial"/>
              </a:rPr>
              <a:t> </a:t>
            </a:r>
            <a:r>
              <a:rPr sz="1800" b="1" spc="-10" dirty="0">
                <a:latin typeface="Arial"/>
                <a:cs typeface="Arial"/>
              </a:rPr>
              <a:t>NaOH</a:t>
            </a:r>
            <a:r>
              <a:rPr sz="1800" b="1" dirty="0">
                <a:latin typeface="Arial"/>
                <a:cs typeface="Arial"/>
              </a:rPr>
              <a:t> </a:t>
            </a:r>
            <a:r>
              <a:rPr sz="2400" b="1" dirty="0">
                <a:latin typeface="Arial"/>
                <a:cs typeface="Arial"/>
              </a:rPr>
              <a:t>(</a:t>
            </a:r>
            <a:r>
              <a:rPr sz="1600" b="1" dirty="0">
                <a:latin typeface="Arial"/>
                <a:cs typeface="Arial"/>
              </a:rPr>
              <a:t>In</a:t>
            </a:r>
            <a:r>
              <a:rPr sz="1600" b="1" spc="-15" dirty="0">
                <a:latin typeface="Arial"/>
                <a:cs typeface="Arial"/>
              </a:rPr>
              <a:t> </a:t>
            </a:r>
            <a:r>
              <a:rPr sz="1600" b="1" spc="-5" dirty="0">
                <a:latin typeface="Arial"/>
                <a:cs typeface="Arial"/>
              </a:rPr>
              <a:t>burette</a:t>
            </a:r>
            <a:r>
              <a:rPr sz="1600" b="1" spc="30" dirty="0">
                <a:latin typeface="Arial"/>
                <a:cs typeface="Arial"/>
              </a:rPr>
              <a:t> </a:t>
            </a:r>
            <a:r>
              <a:rPr sz="1600" b="1" dirty="0">
                <a:latin typeface="Arial"/>
                <a:cs typeface="Arial"/>
              </a:rPr>
              <a:t>NaOH and</a:t>
            </a:r>
            <a:r>
              <a:rPr sz="1600" b="1" spc="-10" dirty="0">
                <a:latin typeface="Arial"/>
                <a:cs typeface="Arial"/>
              </a:rPr>
              <a:t> </a:t>
            </a:r>
            <a:r>
              <a:rPr sz="1600" b="1" spc="5" dirty="0">
                <a:latin typeface="Arial"/>
                <a:cs typeface="Arial"/>
              </a:rPr>
              <a:t>in</a:t>
            </a:r>
            <a:r>
              <a:rPr sz="1600" b="1" spc="-15" dirty="0">
                <a:latin typeface="Arial"/>
                <a:cs typeface="Arial"/>
              </a:rPr>
              <a:t> </a:t>
            </a:r>
            <a:r>
              <a:rPr sz="1600" b="1" spc="-5" dirty="0">
                <a:latin typeface="Arial"/>
                <a:cs typeface="Arial"/>
              </a:rPr>
              <a:t>conical</a:t>
            </a:r>
            <a:r>
              <a:rPr sz="1600" b="1" spc="25" dirty="0">
                <a:latin typeface="Arial"/>
                <a:cs typeface="Arial"/>
              </a:rPr>
              <a:t> </a:t>
            </a:r>
            <a:r>
              <a:rPr sz="1600" b="1" spc="-5" dirty="0">
                <a:latin typeface="Arial"/>
                <a:cs typeface="Arial"/>
              </a:rPr>
              <a:t>flask</a:t>
            </a:r>
            <a:r>
              <a:rPr sz="1600" b="1" spc="5" dirty="0">
                <a:latin typeface="Arial"/>
                <a:cs typeface="Arial"/>
              </a:rPr>
              <a:t> </a:t>
            </a:r>
            <a:r>
              <a:rPr sz="1600" b="1" spc="-10" dirty="0">
                <a:latin typeface="Arial"/>
                <a:cs typeface="Arial"/>
              </a:rPr>
              <a:t>HCl)</a:t>
            </a:r>
            <a:r>
              <a:rPr sz="1800" b="1" spc="-25" dirty="0">
                <a:latin typeface="Arial"/>
                <a:cs typeface="Arial"/>
              </a:rPr>
              <a:t> </a:t>
            </a:r>
            <a:endParaRPr sz="1800">
              <a:latin typeface="Arial"/>
              <a:cs typeface="Arial"/>
            </a:endParaRPr>
          </a:p>
          <a:p>
            <a:pPr marL="354330" indent="-342265">
              <a:lnSpc>
                <a:spcPct val="100000"/>
              </a:lnSpc>
              <a:spcBef>
                <a:spcPts val="475"/>
              </a:spcBef>
              <a:buFont typeface="Microsoft Sans Serif"/>
              <a:buChar char="•"/>
              <a:tabLst>
                <a:tab pos="353695" algn="l"/>
                <a:tab pos="354965" algn="l"/>
              </a:tabLst>
            </a:pPr>
            <a:r>
              <a:rPr sz="2000" b="1">
                <a:solidFill>
                  <a:srgbClr val="C00000"/>
                </a:solidFill>
                <a:latin typeface="Arial"/>
                <a:cs typeface="Arial"/>
              </a:rPr>
              <a:t>Reaction</a:t>
            </a:r>
            <a:r>
              <a:rPr sz="2000" b="1" spc="-30">
                <a:solidFill>
                  <a:srgbClr val="C00000"/>
                </a:solidFill>
                <a:latin typeface="Arial"/>
                <a:cs typeface="Arial"/>
              </a:rPr>
              <a:t> </a:t>
            </a:r>
            <a:r>
              <a:rPr lang="en-US" sz="2000" b="1" spc="-30" dirty="0" smtClean="0">
                <a:solidFill>
                  <a:srgbClr val="C00000"/>
                </a:solidFill>
                <a:latin typeface="Arial"/>
                <a:cs typeface="Arial"/>
              </a:rPr>
              <a:t>    </a:t>
            </a:r>
            <a:endParaRPr sz="2000">
              <a:latin typeface="Arial"/>
              <a:cs typeface="Arial"/>
            </a:endParaRPr>
          </a:p>
        </p:txBody>
      </p:sp>
      <p:sp>
        <p:nvSpPr>
          <p:cNvPr id="6" name="object 6"/>
          <p:cNvSpPr txBox="1"/>
          <p:nvPr/>
        </p:nvSpPr>
        <p:spPr>
          <a:xfrm>
            <a:off x="612444" y="1847469"/>
            <a:ext cx="1835150" cy="391160"/>
          </a:xfrm>
          <a:prstGeom prst="rect">
            <a:avLst/>
          </a:prstGeom>
        </p:spPr>
        <p:txBody>
          <a:bodyPr vert="horz" wrap="square" lIns="0" tIns="12700" rIns="0" bIns="0" rtlCol="0">
            <a:spAutoFit/>
          </a:bodyPr>
          <a:lstStyle/>
          <a:p>
            <a:pPr marL="12700">
              <a:lnSpc>
                <a:spcPct val="100000"/>
              </a:lnSpc>
              <a:spcBef>
                <a:spcPts val="100"/>
              </a:spcBef>
            </a:pPr>
            <a:endParaRPr sz="2400">
              <a:latin typeface="Calibri"/>
              <a:cs typeface="Calibri"/>
            </a:endParaRPr>
          </a:p>
        </p:txBody>
      </p:sp>
      <p:sp>
        <p:nvSpPr>
          <p:cNvPr id="8" name="object 8"/>
          <p:cNvSpPr txBox="1">
            <a:spLocks noGrp="1"/>
          </p:cNvSpPr>
          <p:nvPr>
            <p:ph type="body" idx="1"/>
          </p:nvPr>
        </p:nvSpPr>
        <p:spPr>
          <a:xfrm>
            <a:off x="381000" y="3352801"/>
            <a:ext cx="8763000" cy="3186565"/>
          </a:xfrm>
          <a:prstGeom prst="rect">
            <a:avLst/>
          </a:prstGeom>
        </p:spPr>
        <p:txBody>
          <a:bodyPr vert="horz" wrap="square" lIns="0" tIns="1030783" rIns="0" bIns="0" rtlCol="0">
            <a:spAutoFit/>
          </a:bodyPr>
          <a:lstStyle/>
          <a:p>
            <a:pPr marL="236220" marR="5080">
              <a:lnSpc>
                <a:spcPct val="98900"/>
              </a:lnSpc>
              <a:spcBef>
                <a:spcPts val="120"/>
              </a:spcBef>
            </a:pPr>
            <a:r>
              <a:rPr sz="2000" b="1" spc="-5" dirty="0">
                <a:solidFill>
                  <a:srgbClr val="C00000"/>
                </a:solidFill>
                <a:latin typeface="Times New Roman"/>
                <a:cs typeface="Times New Roman"/>
              </a:rPr>
              <a:t>At</a:t>
            </a:r>
            <a:r>
              <a:rPr sz="2000" b="1" spc="5" dirty="0">
                <a:solidFill>
                  <a:srgbClr val="C00000"/>
                </a:solidFill>
                <a:latin typeface="Times New Roman"/>
                <a:cs typeface="Times New Roman"/>
              </a:rPr>
              <a:t> </a:t>
            </a:r>
            <a:r>
              <a:rPr sz="2000" b="1" spc="-10" dirty="0">
                <a:solidFill>
                  <a:srgbClr val="C00000"/>
                </a:solidFill>
                <a:latin typeface="Times New Roman"/>
                <a:cs typeface="Times New Roman"/>
              </a:rPr>
              <a:t>the</a:t>
            </a:r>
            <a:r>
              <a:rPr sz="2000" b="1" dirty="0">
                <a:solidFill>
                  <a:srgbClr val="C00000"/>
                </a:solidFill>
                <a:latin typeface="Times New Roman"/>
                <a:cs typeface="Times New Roman"/>
              </a:rPr>
              <a:t> </a:t>
            </a:r>
            <a:r>
              <a:rPr sz="2000" b="1" spc="-5" dirty="0">
                <a:solidFill>
                  <a:srgbClr val="C00000"/>
                </a:solidFill>
                <a:latin typeface="Times New Roman"/>
                <a:cs typeface="Times New Roman"/>
              </a:rPr>
              <a:t>Initial</a:t>
            </a:r>
            <a:r>
              <a:rPr sz="2000" b="1" spc="15" dirty="0">
                <a:solidFill>
                  <a:srgbClr val="C00000"/>
                </a:solidFill>
                <a:latin typeface="Times New Roman"/>
                <a:cs typeface="Times New Roman"/>
              </a:rPr>
              <a:t> </a:t>
            </a:r>
            <a:r>
              <a:rPr sz="2000" b="1" spc="-5" dirty="0">
                <a:solidFill>
                  <a:srgbClr val="C00000"/>
                </a:solidFill>
                <a:latin typeface="Times New Roman"/>
                <a:cs typeface="Times New Roman"/>
              </a:rPr>
              <a:t>Stage</a:t>
            </a:r>
            <a:r>
              <a:rPr sz="2000" b="1" dirty="0">
                <a:solidFill>
                  <a:srgbClr val="C00000"/>
                </a:solidFill>
                <a:latin typeface="Times New Roman"/>
                <a:cs typeface="Times New Roman"/>
              </a:rPr>
              <a:t> </a:t>
            </a:r>
            <a:r>
              <a:rPr sz="2000" b="1" spc="-10" dirty="0">
                <a:solidFill>
                  <a:srgbClr val="C00000"/>
                </a:solidFill>
                <a:latin typeface="Times New Roman"/>
                <a:cs typeface="Times New Roman"/>
              </a:rPr>
              <a:t>of</a:t>
            </a:r>
            <a:r>
              <a:rPr sz="2000" b="1" spc="15" dirty="0">
                <a:solidFill>
                  <a:srgbClr val="C00000"/>
                </a:solidFill>
                <a:latin typeface="Times New Roman"/>
                <a:cs typeface="Times New Roman"/>
              </a:rPr>
              <a:t> </a:t>
            </a:r>
            <a:r>
              <a:rPr sz="2000" b="1" spc="-5" dirty="0">
                <a:solidFill>
                  <a:srgbClr val="C00000"/>
                </a:solidFill>
                <a:latin typeface="Times New Roman"/>
                <a:cs typeface="Times New Roman"/>
              </a:rPr>
              <a:t>Titration:</a:t>
            </a:r>
            <a:r>
              <a:rPr sz="2000" b="1" spc="60" dirty="0">
                <a:solidFill>
                  <a:srgbClr val="C00000"/>
                </a:solidFill>
                <a:latin typeface="Times New Roman"/>
                <a:cs typeface="Times New Roman"/>
              </a:rPr>
              <a:t> </a:t>
            </a:r>
            <a:r>
              <a:rPr sz="2000" dirty="0"/>
              <a:t>Since</a:t>
            </a:r>
            <a:r>
              <a:rPr sz="2000" spc="5" dirty="0"/>
              <a:t> </a:t>
            </a:r>
            <a:r>
              <a:rPr sz="2000" spc="-5" dirty="0"/>
              <a:t>HCl</a:t>
            </a:r>
            <a:r>
              <a:rPr sz="2000" spc="-15" dirty="0"/>
              <a:t> </a:t>
            </a:r>
            <a:r>
              <a:rPr sz="2000"/>
              <a:t>being </a:t>
            </a:r>
            <a:r>
              <a:rPr sz="2000" spc="-5" smtClean="0"/>
              <a:t>strong </a:t>
            </a:r>
            <a:r>
              <a:rPr sz="2000" spc="-5" dirty="0"/>
              <a:t>acid, dissociate</a:t>
            </a:r>
            <a:r>
              <a:rPr sz="2000" dirty="0"/>
              <a:t> </a:t>
            </a:r>
            <a:r>
              <a:rPr sz="2000" i="1" spc="-5" dirty="0"/>
              <a:t>completely</a:t>
            </a:r>
            <a:r>
              <a:rPr sz="2000" spc="-30" dirty="0"/>
              <a:t> </a:t>
            </a:r>
            <a:r>
              <a:rPr sz="2000" dirty="0"/>
              <a:t>to </a:t>
            </a:r>
            <a:r>
              <a:rPr sz="2000" spc="5" dirty="0"/>
              <a:t> </a:t>
            </a:r>
            <a:r>
              <a:rPr sz="2000" dirty="0"/>
              <a:t>produce</a:t>
            </a:r>
            <a:r>
              <a:rPr sz="2000" spc="-20" dirty="0"/>
              <a:t> </a:t>
            </a:r>
            <a:r>
              <a:rPr sz="2000" spc="-5" dirty="0"/>
              <a:t>H+</a:t>
            </a:r>
            <a:r>
              <a:rPr sz="2000" spc="5" dirty="0"/>
              <a:t> </a:t>
            </a:r>
            <a:r>
              <a:rPr sz="2000" spc="-10" dirty="0"/>
              <a:t>and </a:t>
            </a:r>
            <a:r>
              <a:rPr sz="2000" spc="-5" dirty="0"/>
              <a:t>Cl-</a:t>
            </a:r>
            <a:r>
              <a:rPr sz="2000" spc="-15" dirty="0"/>
              <a:t> </a:t>
            </a:r>
            <a:r>
              <a:rPr sz="2000" dirty="0"/>
              <a:t>.</a:t>
            </a:r>
            <a:r>
              <a:rPr sz="2000" spc="-10" dirty="0"/>
              <a:t> </a:t>
            </a:r>
            <a:r>
              <a:rPr sz="2000" spc="-5" dirty="0"/>
              <a:t>H+</a:t>
            </a:r>
            <a:r>
              <a:rPr sz="2000" spc="-10" dirty="0"/>
              <a:t> </a:t>
            </a:r>
            <a:r>
              <a:rPr sz="2000" spc="-5" dirty="0"/>
              <a:t>ions</a:t>
            </a:r>
            <a:r>
              <a:rPr sz="2000" spc="-10" dirty="0"/>
              <a:t> </a:t>
            </a:r>
            <a:r>
              <a:rPr sz="2000" spc="-5" dirty="0"/>
              <a:t>are</a:t>
            </a:r>
            <a:r>
              <a:rPr sz="2000" dirty="0"/>
              <a:t> </a:t>
            </a:r>
            <a:r>
              <a:rPr sz="2000" spc="-10" dirty="0"/>
              <a:t>small</a:t>
            </a:r>
            <a:r>
              <a:rPr sz="2000" spc="15" dirty="0"/>
              <a:t> </a:t>
            </a:r>
            <a:r>
              <a:rPr sz="2000" dirty="0"/>
              <a:t>in</a:t>
            </a:r>
            <a:r>
              <a:rPr sz="2000" spc="20" dirty="0"/>
              <a:t> </a:t>
            </a:r>
            <a:r>
              <a:rPr sz="2000" spc="-5" dirty="0"/>
              <a:t>size</a:t>
            </a:r>
            <a:r>
              <a:rPr sz="2000" spc="-20" dirty="0"/>
              <a:t> </a:t>
            </a:r>
            <a:r>
              <a:rPr sz="2000" spc="-10" dirty="0"/>
              <a:t>and</a:t>
            </a:r>
            <a:r>
              <a:rPr sz="2000" spc="20" dirty="0"/>
              <a:t> </a:t>
            </a:r>
            <a:r>
              <a:rPr sz="2000" spc="-10" dirty="0"/>
              <a:t>shows</a:t>
            </a:r>
            <a:r>
              <a:rPr sz="2000" spc="5" dirty="0"/>
              <a:t> </a:t>
            </a:r>
            <a:r>
              <a:rPr sz="2000" dirty="0"/>
              <a:t>highest</a:t>
            </a:r>
            <a:r>
              <a:rPr sz="2000" spc="15" dirty="0"/>
              <a:t> </a:t>
            </a:r>
            <a:r>
              <a:rPr sz="2000" spc="-10" dirty="0"/>
              <a:t>mobility.</a:t>
            </a:r>
            <a:r>
              <a:rPr sz="2000" spc="-55" dirty="0"/>
              <a:t> </a:t>
            </a:r>
            <a:r>
              <a:rPr sz="2000" spc="-5" dirty="0"/>
              <a:t>Therefore</a:t>
            </a:r>
            <a:r>
              <a:rPr sz="2000" spc="-15" dirty="0"/>
              <a:t> </a:t>
            </a:r>
            <a:r>
              <a:rPr sz="2000" dirty="0"/>
              <a:t>in</a:t>
            </a:r>
            <a:r>
              <a:rPr sz="2000" spc="25" dirty="0"/>
              <a:t> </a:t>
            </a:r>
            <a:r>
              <a:rPr sz="2000" dirty="0"/>
              <a:t>the </a:t>
            </a:r>
            <a:r>
              <a:rPr sz="2000" spc="-434" dirty="0"/>
              <a:t> </a:t>
            </a:r>
            <a:r>
              <a:rPr sz="2000" spc="-5" dirty="0"/>
              <a:t>beginning</a:t>
            </a:r>
            <a:r>
              <a:rPr sz="2000" spc="-20" dirty="0"/>
              <a:t> </a:t>
            </a:r>
            <a:r>
              <a:rPr sz="2000" spc="-5" dirty="0"/>
              <a:t>for</a:t>
            </a:r>
            <a:r>
              <a:rPr sz="2000" spc="5" dirty="0"/>
              <a:t> </a:t>
            </a:r>
            <a:r>
              <a:rPr sz="2000" spc="-5" dirty="0"/>
              <a:t>zero</a:t>
            </a:r>
            <a:r>
              <a:rPr sz="2000" spc="5" dirty="0"/>
              <a:t> </a:t>
            </a:r>
            <a:r>
              <a:rPr sz="2000" spc="-20" dirty="0"/>
              <a:t>ml</a:t>
            </a:r>
            <a:r>
              <a:rPr sz="2000" spc="15" dirty="0"/>
              <a:t> </a:t>
            </a:r>
            <a:r>
              <a:rPr sz="2000" dirty="0"/>
              <a:t>addition </a:t>
            </a:r>
            <a:r>
              <a:rPr sz="2000" spc="5" dirty="0"/>
              <a:t>of</a:t>
            </a:r>
            <a:r>
              <a:rPr sz="2000" spc="-20" dirty="0"/>
              <a:t> </a:t>
            </a:r>
            <a:r>
              <a:rPr sz="2000" spc="-5" dirty="0"/>
              <a:t>NaOH</a:t>
            </a:r>
            <a:r>
              <a:rPr sz="2000" dirty="0"/>
              <a:t> conductance</a:t>
            </a:r>
            <a:r>
              <a:rPr sz="2000" spc="-20" dirty="0"/>
              <a:t> </a:t>
            </a:r>
            <a:r>
              <a:rPr sz="2000" spc="-5" dirty="0"/>
              <a:t>is</a:t>
            </a:r>
            <a:r>
              <a:rPr sz="2000" dirty="0"/>
              <a:t> </a:t>
            </a:r>
            <a:r>
              <a:rPr sz="2000" spc="-5" dirty="0"/>
              <a:t>highest.</a:t>
            </a:r>
          </a:p>
          <a:p>
            <a:pPr marL="236220" marR="24765">
              <a:lnSpc>
                <a:spcPct val="99000"/>
              </a:lnSpc>
              <a:spcBef>
                <a:spcPts val="70"/>
              </a:spcBef>
            </a:pPr>
            <a:r>
              <a:rPr sz="2000" b="1" spc="-5" dirty="0">
                <a:solidFill>
                  <a:srgbClr val="C00000"/>
                </a:solidFill>
                <a:latin typeface="Times New Roman"/>
                <a:cs typeface="Times New Roman"/>
              </a:rPr>
              <a:t>Before equivalence point: </a:t>
            </a:r>
            <a:r>
              <a:rPr sz="2000" dirty="0"/>
              <a:t>During titration </a:t>
            </a:r>
            <a:r>
              <a:rPr sz="2000" spc="-10" dirty="0"/>
              <a:t>on </a:t>
            </a:r>
            <a:r>
              <a:rPr sz="2000" spc="-5" dirty="0"/>
              <a:t>addition </a:t>
            </a:r>
            <a:r>
              <a:rPr sz="2000" spc="5" dirty="0"/>
              <a:t>of </a:t>
            </a:r>
            <a:r>
              <a:rPr sz="2000" spc="-5" dirty="0"/>
              <a:t>NaOH </a:t>
            </a:r>
            <a:r>
              <a:rPr sz="2000" dirty="0"/>
              <a:t>from burette in </a:t>
            </a:r>
            <a:r>
              <a:rPr sz="2000" spc="-5" dirty="0"/>
              <a:t>HCl </a:t>
            </a:r>
            <a:r>
              <a:rPr sz="2000" dirty="0"/>
              <a:t>in </a:t>
            </a:r>
            <a:r>
              <a:rPr sz="2000" spc="5" dirty="0"/>
              <a:t> </a:t>
            </a:r>
            <a:r>
              <a:rPr sz="2000" spc="-5" dirty="0"/>
              <a:t>beaker, HCl</a:t>
            </a:r>
            <a:r>
              <a:rPr sz="2000" spc="15" dirty="0"/>
              <a:t> </a:t>
            </a:r>
            <a:r>
              <a:rPr sz="2000" spc="-5" dirty="0"/>
              <a:t>is</a:t>
            </a:r>
            <a:r>
              <a:rPr sz="2000" spc="5" dirty="0"/>
              <a:t> </a:t>
            </a:r>
            <a:r>
              <a:rPr sz="2000" spc="-5" dirty="0"/>
              <a:t>under</a:t>
            </a:r>
            <a:r>
              <a:rPr sz="2000" spc="-10" dirty="0"/>
              <a:t> </a:t>
            </a:r>
            <a:r>
              <a:rPr sz="2000" dirty="0"/>
              <a:t>going</a:t>
            </a:r>
            <a:r>
              <a:rPr sz="2000" spc="-20" dirty="0"/>
              <a:t> </a:t>
            </a:r>
            <a:r>
              <a:rPr sz="2000" spc="-5" dirty="0"/>
              <a:t>neutralization</a:t>
            </a:r>
            <a:r>
              <a:rPr sz="2000" spc="-15" dirty="0"/>
              <a:t> </a:t>
            </a:r>
            <a:r>
              <a:rPr sz="2000" dirty="0"/>
              <a:t>,</a:t>
            </a:r>
            <a:r>
              <a:rPr sz="2000" spc="-5" dirty="0"/>
              <a:t> </a:t>
            </a:r>
            <a:r>
              <a:rPr sz="2000" dirty="0"/>
              <a:t>and </a:t>
            </a:r>
            <a:r>
              <a:rPr sz="2000" spc="-5" dirty="0"/>
              <a:t>concentration</a:t>
            </a:r>
            <a:r>
              <a:rPr sz="2000" spc="-15" dirty="0"/>
              <a:t> </a:t>
            </a:r>
            <a:r>
              <a:rPr sz="2000" spc="5" dirty="0"/>
              <a:t>of</a:t>
            </a:r>
            <a:r>
              <a:rPr sz="2000" spc="-15" dirty="0"/>
              <a:t> </a:t>
            </a:r>
            <a:r>
              <a:rPr sz="2000" spc="-5" dirty="0"/>
              <a:t>H+</a:t>
            </a:r>
            <a:r>
              <a:rPr sz="2000" spc="30" dirty="0"/>
              <a:t> </a:t>
            </a:r>
            <a:r>
              <a:rPr sz="2000" spc="-10" dirty="0"/>
              <a:t>decreases</a:t>
            </a:r>
            <a:r>
              <a:rPr sz="2000" spc="-15" dirty="0"/>
              <a:t> </a:t>
            </a:r>
            <a:r>
              <a:rPr sz="2000" dirty="0"/>
              <a:t>and</a:t>
            </a:r>
            <a:r>
              <a:rPr sz="2000" spc="20" dirty="0"/>
              <a:t> </a:t>
            </a:r>
            <a:r>
              <a:rPr sz="2000" spc="-5" dirty="0"/>
              <a:t>therefore </a:t>
            </a:r>
            <a:r>
              <a:rPr sz="2000" spc="-434" dirty="0"/>
              <a:t> </a:t>
            </a:r>
            <a:r>
              <a:rPr sz="2000" dirty="0"/>
              <a:t>condutance</a:t>
            </a:r>
            <a:r>
              <a:rPr sz="2000" spc="-20" dirty="0"/>
              <a:t> </a:t>
            </a:r>
            <a:r>
              <a:rPr sz="2000" spc="-10" dirty="0"/>
              <a:t>decreases</a:t>
            </a:r>
            <a:r>
              <a:rPr sz="2000" spc="-20" dirty="0"/>
              <a:t> </a:t>
            </a:r>
            <a:r>
              <a:rPr sz="2000" spc="5" dirty="0"/>
              <a:t>upto</a:t>
            </a:r>
            <a:r>
              <a:rPr sz="2000" spc="20" dirty="0"/>
              <a:t> </a:t>
            </a:r>
            <a:r>
              <a:rPr sz="2000" spc="-5" dirty="0"/>
              <a:t>equivalence</a:t>
            </a:r>
            <a:r>
              <a:rPr sz="2000" spc="-20" dirty="0"/>
              <a:t> </a:t>
            </a:r>
            <a:r>
              <a:rPr sz="2000"/>
              <a:t>point</a:t>
            </a:r>
            <a:r>
              <a:rPr sz="2000" smtClean="0"/>
              <a:t>.</a:t>
            </a:r>
            <a:endParaRPr sz="2000" dirty="0"/>
          </a:p>
        </p:txBody>
      </p:sp>
      <p:pic>
        <p:nvPicPr>
          <p:cNvPr id="12" name="object 9"/>
          <p:cNvPicPr/>
          <p:nvPr/>
        </p:nvPicPr>
        <p:blipFill>
          <a:blip r:embed="rId2" cstate="print"/>
          <a:stretch>
            <a:fillRect/>
          </a:stretch>
        </p:blipFill>
        <p:spPr>
          <a:xfrm>
            <a:off x="2514600" y="3505201"/>
            <a:ext cx="2590800" cy="304800"/>
          </a:xfrm>
          <a:prstGeom prst="rect">
            <a:avLst/>
          </a:prstGeom>
        </p:spPr>
      </p:pic>
      <p:sp>
        <p:nvSpPr>
          <p:cNvPr id="13" name="Rectangle 12"/>
          <p:cNvSpPr/>
          <p:nvPr/>
        </p:nvSpPr>
        <p:spPr>
          <a:xfrm>
            <a:off x="457200" y="762001"/>
            <a:ext cx="8382000" cy="1672253"/>
          </a:xfrm>
          <a:prstGeom prst="rect">
            <a:avLst/>
          </a:prstGeom>
        </p:spPr>
        <p:txBody>
          <a:bodyPr wrap="square">
            <a:spAutoFit/>
          </a:bodyPr>
          <a:lstStyle/>
          <a:p>
            <a:pPr marL="12700">
              <a:lnSpc>
                <a:spcPct val="100000"/>
              </a:lnSpc>
              <a:spcBef>
                <a:spcPts val="869"/>
              </a:spcBef>
            </a:pPr>
            <a:r>
              <a:rPr lang="en-US" sz="2400" spc="-5" dirty="0" err="1">
                <a:solidFill>
                  <a:srgbClr val="C00000"/>
                </a:solidFill>
                <a:cs typeface="Calibri"/>
              </a:rPr>
              <a:t>Conductometric</a:t>
            </a:r>
            <a:r>
              <a:rPr lang="en-US" sz="2400" spc="-110" dirty="0">
                <a:solidFill>
                  <a:srgbClr val="C00000"/>
                </a:solidFill>
                <a:cs typeface="Calibri"/>
              </a:rPr>
              <a:t> </a:t>
            </a:r>
            <a:r>
              <a:rPr lang="en-US" sz="2400" dirty="0">
                <a:solidFill>
                  <a:srgbClr val="C00000"/>
                </a:solidFill>
                <a:cs typeface="Calibri"/>
              </a:rPr>
              <a:t>Titration:</a:t>
            </a:r>
            <a:endParaRPr lang="en-US" sz="2400" dirty="0">
              <a:cs typeface="Calibri"/>
            </a:endParaRPr>
          </a:p>
          <a:p>
            <a:pPr marL="353695" marR="5080" indent="-341630">
              <a:lnSpc>
                <a:spcPct val="99600"/>
              </a:lnSpc>
              <a:spcBef>
                <a:spcPts val="785"/>
              </a:spcBef>
            </a:pPr>
            <a:r>
              <a:rPr lang="en-US" sz="2400" spc="-10" dirty="0">
                <a:cs typeface="Calibri"/>
              </a:rPr>
              <a:t>The </a:t>
            </a:r>
            <a:r>
              <a:rPr lang="en-US" sz="2400" dirty="0">
                <a:cs typeface="Calibri"/>
              </a:rPr>
              <a:t>titration in </a:t>
            </a:r>
            <a:r>
              <a:rPr lang="en-US" sz="2400" spc="-5" dirty="0">
                <a:cs typeface="Calibri"/>
              </a:rPr>
              <a:t>which conductance </a:t>
            </a:r>
            <a:r>
              <a:rPr lang="en-US" sz="2400" dirty="0">
                <a:cs typeface="Calibri"/>
              </a:rPr>
              <a:t> </a:t>
            </a:r>
            <a:r>
              <a:rPr lang="en-US" sz="2400" spc="-5" dirty="0">
                <a:cs typeface="Calibri"/>
              </a:rPr>
              <a:t>measurement are </a:t>
            </a:r>
            <a:r>
              <a:rPr lang="en-US" sz="2400" spc="-10" dirty="0">
                <a:cs typeface="Calibri"/>
              </a:rPr>
              <a:t>used </a:t>
            </a:r>
            <a:r>
              <a:rPr lang="en-US" sz="2400" spc="-5" dirty="0">
                <a:cs typeface="Calibri"/>
              </a:rPr>
              <a:t>to</a:t>
            </a:r>
            <a:r>
              <a:rPr lang="en-US" sz="2400" spc="-10" dirty="0">
                <a:cs typeface="Calibri"/>
              </a:rPr>
              <a:t> </a:t>
            </a:r>
            <a:r>
              <a:rPr lang="en-US" sz="2400" spc="-5" dirty="0">
                <a:cs typeface="Calibri"/>
              </a:rPr>
              <a:t>determine</a:t>
            </a:r>
            <a:r>
              <a:rPr lang="en-US" sz="2400" spc="10" dirty="0">
                <a:cs typeface="Calibri"/>
              </a:rPr>
              <a:t> </a:t>
            </a:r>
            <a:r>
              <a:rPr lang="en-US" sz="2400" spc="-5" dirty="0" smtClean="0">
                <a:cs typeface="Calibri"/>
              </a:rPr>
              <a:t>the </a:t>
            </a:r>
            <a:r>
              <a:rPr lang="en-US" sz="2400" dirty="0" smtClean="0">
                <a:cs typeface="Calibri"/>
              </a:rPr>
              <a:t> </a:t>
            </a:r>
            <a:r>
              <a:rPr lang="en-US" sz="2400" spc="-5" dirty="0" smtClean="0">
                <a:cs typeface="Calibri"/>
              </a:rPr>
              <a:t>equivalence</a:t>
            </a:r>
            <a:r>
              <a:rPr lang="en-US" sz="2400" spc="-45" dirty="0" smtClean="0">
                <a:cs typeface="Calibri"/>
              </a:rPr>
              <a:t> </a:t>
            </a:r>
            <a:r>
              <a:rPr lang="en-US" sz="2400" spc="-5" dirty="0">
                <a:cs typeface="Calibri"/>
              </a:rPr>
              <a:t>point</a:t>
            </a:r>
            <a:r>
              <a:rPr lang="en-US" sz="2400" spc="-15" dirty="0">
                <a:cs typeface="Calibri"/>
              </a:rPr>
              <a:t> </a:t>
            </a:r>
            <a:r>
              <a:rPr lang="en-US" sz="2400" spc="-5" dirty="0">
                <a:cs typeface="Calibri"/>
              </a:rPr>
              <a:t>of</a:t>
            </a:r>
            <a:r>
              <a:rPr lang="en-US" sz="2400" spc="-50" dirty="0">
                <a:cs typeface="Calibri"/>
              </a:rPr>
              <a:t> </a:t>
            </a:r>
            <a:r>
              <a:rPr lang="en-US" sz="2400" spc="-5" dirty="0">
                <a:cs typeface="Calibri"/>
              </a:rPr>
              <a:t>the</a:t>
            </a:r>
            <a:r>
              <a:rPr lang="en-US" sz="2400" spc="-55" dirty="0">
                <a:cs typeface="Calibri"/>
              </a:rPr>
              <a:t> </a:t>
            </a:r>
            <a:r>
              <a:rPr lang="en-US" sz="2400" dirty="0">
                <a:cs typeface="Calibri"/>
              </a:rPr>
              <a:t>titration</a:t>
            </a:r>
            <a:r>
              <a:rPr lang="en-US" sz="2400" spc="-15" dirty="0">
                <a:cs typeface="Calibri"/>
              </a:rPr>
              <a:t> </a:t>
            </a:r>
            <a:r>
              <a:rPr lang="en-US" sz="2400" spc="-5" dirty="0">
                <a:cs typeface="Calibri"/>
              </a:rPr>
              <a:t>called</a:t>
            </a:r>
            <a:r>
              <a:rPr lang="en-US" sz="2400" spc="-55" dirty="0">
                <a:cs typeface="Calibri"/>
              </a:rPr>
              <a:t> </a:t>
            </a:r>
            <a:r>
              <a:rPr lang="en-US" sz="2400" dirty="0">
                <a:cs typeface="Calibri"/>
              </a:rPr>
              <a:t>as </a:t>
            </a:r>
            <a:r>
              <a:rPr lang="en-US" sz="2400" spc="-710" dirty="0">
                <a:cs typeface="Calibri"/>
              </a:rPr>
              <a:t> </a:t>
            </a:r>
            <a:r>
              <a:rPr lang="en-US" sz="2400" spc="-10" dirty="0" err="1">
                <a:cs typeface="Calibri"/>
              </a:rPr>
              <a:t>conductometric</a:t>
            </a:r>
            <a:r>
              <a:rPr lang="en-US" sz="2400" spc="-5" dirty="0">
                <a:cs typeface="Calibri"/>
              </a:rPr>
              <a:t> </a:t>
            </a:r>
            <a:r>
              <a:rPr lang="en-US" sz="2400" dirty="0">
                <a:cs typeface="Calibri"/>
              </a:rPr>
              <a:t>titration.</a:t>
            </a:r>
          </a:p>
        </p:txBody>
      </p:sp>
      <p:pic>
        <p:nvPicPr>
          <p:cNvPr id="15" name="object 10"/>
          <p:cNvPicPr/>
          <p:nvPr/>
        </p:nvPicPr>
        <p:blipFill>
          <a:blip r:embed="rId3" cstate="print"/>
          <a:stretch>
            <a:fillRect/>
          </a:stretch>
        </p:blipFill>
        <p:spPr>
          <a:xfrm>
            <a:off x="4648200" y="3886200"/>
            <a:ext cx="2514600" cy="381000"/>
          </a:xfrm>
          <a:prstGeom prst="rect">
            <a:avLst/>
          </a:prstGeom>
        </p:spPr>
      </p:pic>
      <p:sp>
        <p:nvSpPr>
          <p:cNvPr id="16" name="Rectangle 15"/>
          <p:cNvSpPr/>
          <p:nvPr/>
        </p:nvSpPr>
        <p:spPr>
          <a:xfrm>
            <a:off x="1676400" y="3886201"/>
            <a:ext cx="2895601" cy="461665"/>
          </a:xfrm>
          <a:prstGeom prst="rect">
            <a:avLst/>
          </a:prstGeom>
        </p:spPr>
        <p:txBody>
          <a:bodyPr wrap="square">
            <a:spAutoFit/>
          </a:bodyPr>
          <a:lstStyle/>
          <a:p>
            <a:r>
              <a:rPr lang="en-US" sz="2400" b="1" dirty="0" err="1" smtClean="0"/>
              <a:t>HCl</a:t>
            </a:r>
            <a:r>
              <a:rPr lang="en-US" sz="2400" b="1" dirty="0" smtClean="0"/>
              <a:t> → H⁺ + </a:t>
            </a:r>
            <a:r>
              <a:rPr lang="en-US" sz="2400" b="1" dirty="0" err="1" smtClean="0"/>
              <a:t>Cl</a:t>
            </a:r>
            <a:r>
              <a:rPr lang="en-US" sz="2400" b="1" dirty="0" smtClean="0"/>
              <a:t>⁻</a:t>
            </a:r>
            <a:endParaRPr lang="en-US" sz="2400" b="1"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6244" y="848497"/>
            <a:ext cx="6044565" cy="4869282"/>
          </a:xfrm>
          <a:prstGeom prst="rect">
            <a:avLst/>
          </a:prstGeom>
        </p:spPr>
        <p:txBody>
          <a:bodyPr vert="horz" wrap="square" lIns="0" tIns="97790" rIns="0" bIns="0" rtlCol="0">
            <a:spAutoFit/>
          </a:bodyPr>
          <a:lstStyle/>
          <a:p>
            <a:pPr marL="236220" marR="309245">
              <a:lnSpc>
                <a:spcPts val="2140"/>
              </a:lnSpc>
              <a:spcBef>
                <a:spcPts val="114"/>
              </a:spcBef>
            </a:pPr>
            <a:r>
              <a:rPr lang="en-US" sz="2000" b="1" spc="-5" dirty="0" smtClean="0">
                <a:solidFill>
                  <a:srgbClr val="C00000"/>
                </a:solidFill>
                <a:latin typeface="Times New Roman"/>
                <a:cs typeface="Times New Roman"/>
              </a:rPr>
              <a:t>At</a:t>
            </a:r>
            <a:r>
              <a:rPr lang="en-US" sz="2000" b="1" spc="5" dirty="0" smtClean="0">
                <a:solidFill>
                  <a:srgbClr val="C00000"/>
                </a:solidFill>
                <a:latin typeface="Times New Roman"/>
                <a:cs typeface="Times New Roman"/>
              </a:rPr>
              <a:t> </a:t>
            </a:r>
            <a:r>
              <a:rPr lang="en-US" sz="2000" b="1" spc="-5" dirty="0" smtClean="0">
                <a:solidFill>
                  <a:srgbClr val="C00000"/>
                </a:solidFill>
                <a:latin typeface="Times New Roman"/>
                <a:cs typeface="Times New Roman"/>
              </a:rPr>
              <a:t>equivalence</a:t>
            </a:r>
            <a:r>
              <a:rPr lang="en-US" sz="2000" b="1" dirty="0" smtClean="0">
                <a:solidFill>
                  <a:srgbClr val="C00000"/>
                </a:solidFill>
                <a:latin typeface="Times New Roman"/>
                <a:cs typeface="Times New Roman"/>
              </a:rPr>
              <a:t> </a:t>
            </a:r>
            <a:r>
              <a:rPr lang="en-US" sz="2000" b="1" spc="-10" dirty="0" smtClean="0">
                <a:solidFill>
                  <a:srgbClr val="C00000"/>
                </a:solidFill>
                <a:latin typeface="Times New Roman"/>
                <a:cs typeface="Times New Roman"/>
              </a:rPr>
              <a:t>point</a:t>
            </a:r>
            <a:r>
              <a:rPr lang="en-US" sz="2000" b="1" spc="30" dirty="0" smtClean="0">
                <a:solidFill>
                  <a:srgbClr val="C00000"/>
                </a:solidFill>
                <a:latin typeface="Times New Roman"/>
                <a:cs typeface="Times New Roman"/>
              </a:rPr>
              <a:t> </a:t>
            </a:r>
            <a:r>
              <a:rPr lang="en-US" sz="2000" spc="-5" dirty="0" smtClean="0"/>
              <a:t>conductance</a:t>
            </a:r>
            <a:r>
              <a:rPr lang="en-US" sz="2000" dirty="0" smtClean="0"/>
              <a:t> </a:t>
            </a:r>
            <a:r>
              <a:rPr lang="en-US" sz="2000" spc="-5" dirty="0" smtClean="0"/>
              <a:t>is</a:t>
            </a:r>
            <a:r>
              <a:rPr lang="en-US" sz="2000" spc="10" dirty="0" smtClean="0"/>
              <a:t> </a:t>
            </a:r>
            <a:r>
              <a:rPr lang="en-US" sz="2000" spc="-5" dirty="0" smtClean="0"/>
              <a:t>minimum</a:t>
            </a:r>
            <a:r>
              <a:rPr lang="en-US" sz="2000" spc="-25" dirty="0" smtClean="0"/>
              <a:t> </a:t>
            </a:r>
            <a:r>
              <a:rPr lang="en-US" sz="2000" spc="5" dirty="0" smtClean="0"/>
              <a:t>due </a:t>
            </a:r>
            <a:r>
              <a:rPr lang="en-US" sz="2000" dirty="0" smtClean="0"/>
              <a:t>the </a:t>
            </a:r>
            <a:r>
              <a:rPr lang="en-US" sz="2000" spc="-5" dirty="0" smtClean="0"/>
              <a:t>formation</a:t>
            </a:r>
            <a:r>
              <a:rPr lang="en-US" sz="2000" spc="20" dirty="0" smtClean="0"/>
              <a:t> </a:t>
            </a:r>
            <a:r>
              <a:rPr lang="en-US" sz="2000" spc="-10" dirty="0" smtClean="0"/>
              <a:t>of</a:t>
            </a:r>
            <a:r>
              <a:rPr lang="en-US" sz="2000" spc="-15" dirty="0" smtClean="0"/>
              <a:t> </a:t>
            </a:r>
            <a:r>
              <a:rPr lang="en-US" sz="2000" spc="-5" dirty="0" smtClean="0"/>
              <a:t>salt</a:t>
            </a:r>
            <a:r>
              <a:rPr lang="en-US" sz="2000" spc="10" dirty="0" smtClean="0"/>
              <a:t> </a:t>
            </a:r>
            <a:r>
              <a:rPr lang="en-US" sz="2000" spc="-5" dirty="0" err="1" smtClean="0"/>
              <a:t>NaCl</a:t>
            </a:r>
            <a:r>
              <a:rPr lang="en-US" sz="2000" spc="-5" dirty="0" smtClean="0"/>
              <a:t>,</a:t>
            </a:r>
            <a:r>
              <a:rPr lang="en-US" sz="2000" spc="45" dirty="0" smtClean="0"/>
              <a:t> </a:t>
            </a:r>
            <a:r>
              <a:rPr lang="en-US" sz="2000" spc="-5" dirty="0" smtClean="0"/>
              <a:t>which</a:t>
            </a:r>
            <a:r>
              <a:rPr lang="en-US" sz="2000" spc="15" dirty="0" smtClean="0"/>
              <a:t> </a:t>
            </a:r>
            <a:r>
              <a:rPr lang="en-US" sz="2000" spc="-5" dirty="0" smtClean="0"/>
              <a:t>is </a:t>
            </a:r>
            <a:r>
              <a:rPr lang="en-US" sz="2000" spc="-434" dirty="0" smtClean="0"/>
              <a:t> </a:t>
            </a:r>
            <a:r>
              <a:rPr lang="en-US" sz="2000" dirty="0" smtClean="0"/>
              <a:t>dissociating</a:t>
            </a:r>
            <a:r>
              <a:rPr lang="en-US" sz="2000" spc="-50" dirty="0" smtClean="0"/>
              <a:t> </a:t>
            </a:r>
            <a:r>
              <a:rPr lang="en-US" sz="2000" spc="-10" dirty="0" smtClean="0"/>
              <a:t>completely.</a:t>
            </a:r>
          </a:p>
          <a:p>
            <a:pPr marL="236220" marR="148590">
              <a:lnSpc>
                <a:spcPts val="2160"/>
              </a:lnSpc>
            </a:pPr>
            <a:r>
              <a:rPr lang="en-US" sz="2000" b="1" spc="-5" dirty="0" smtClean="0">
                <a:solidFill>
                  <a:srgbClr val="C00000"/>
                </a:solidFill>
                <a:latin typeface="Times New Roman"/>
                <a:cs typeface="Times New Roman"/>
              </a:rPr>
              <a:t>After</a:t>
            </a:r>
            <a:r>
              <a:rPr lang="en-US" sz="2000" b="1" spc="-45" dirty="0" smtClean="0">
                <a:solidFill>
                  <a:srgbClr val="C00000"/>
                </a:solidFill>
                <a:latin typeface="Times New Roman"/>
                <a:cs typeface="Times New Roman"/>
              </a:rPr>
              <a:t> </a:t>
            </a:r>
            <a:r>
              <a:rPr lang="en-US" sz="2000" b="1" spc="-5" dirty="0" smtClean="0">
                <a:solidFill>
                  <a:srgbClr val="C00000"/>
                </a:solidFill>
                <a:latin typeface="Times New Roman"/>
                <a:cs typeface="Times New Roman"/>
              </a:rPr>
              <a:t>equivalence</a:t>
            </a:r>
            <a:r>
              <a:rPr lang="en-US" sz="2000" b="1" spc="10" dirty="0" smtClean="0">
                <a:solidFill>
                  <a:srgbClr val="C00000"/>
                </a:solidFill>
                <a:latin typeface="Times New Roman"/>
                <a:cs typeface="Times New Roman"/>
              </a:rPr>
              <a:t> </a:t>
            </a:r>
            <a:r>
              <a:rPr lang="en-US" sz="2000" b="1" spc="-5" dirty="0" smtClean="0">
                <a:solidFill>
                  <a:srgbClr val="C00000"/>
                </a:solidFill>
                <a:latin typeface="Times New Roman"/>
                <a:cs typeface="Times New Roman"/>
              </a:rPr>
              <a:t>point</a:t>
            </a:r>
            <a:r>
              <a:rPr lang="en-US" sz="2000" spc="-5" dirty="0" smtClean="0"/>
              <a:t>:</a:t>
            </a:r>
            <a:r>
              <a:rPr lang="en-US" sz="2000" spc="10" dirty="0" smtClean="0"/>
              <a:t> </a:t>
            </a:r>
            <a:r>
              <a:rPr lang="en-US" sz="2000" spc="-5" dirty="0" smtClean="0"/>
              <a:t>On</a:t>
            </a:r>
            <a:r>
              <a:rPr lang="en-US" sz="2000" spc="15" dirty="0" smtClean="0"/>
              <a:t> </a:t>
            </a:r>
            <a:r>
              <a:rPr lang="en-US" sz="2000" spc="-5" dirty="0" smtClean="0"/>
              <a:t>further</a:t>
            </a:r>
            <a:r>
              <a:rPr lang="en-US" sz="2000" spc="10" dirty="0" smtClean="0"/>
              <a:t> </a:t>
            </a:r>
            <a:r>
              <a:rPr lang="en-US" sz="2000" spc="-5" dirty="0" smtClean="0"/>
              <a:t>addition</a:t>
            </a:r>
            <a:r>
              <a:rPr lang="en-US" sz="2000" spc="15" dirty="0" smtClean="0"/>
              <a:t> </a:t>
            </a:r>
            <a:r>
              <a:rPr lang="en-US" sz="2000" spc="5" dirty="0" smtClean="0"/>
              <a:t>of</a:t>
            </a:r>
            <a:r>
              <a:rPr lang="en-US" sz="2000" spc="-10" dirty="0" smtClean="0"/>
              <a:t> </a:t>
            </a:r>
            <a:r>
              <a:rPr lang="en-US" sz="2000" spc="-5" dirty="0" err="1" smtClean="0"/>
              <a:t>NaOH</a:t>
            </a:r>
            <a:r>
              <a:rPr lang="en-US" sz="2000" spc="5" dirty="0" smtClean="0"/>
              <a:t> </a:t>
            </a:r>
            <a:r>
              <a:rPr lang="en-US" sz="2000" spc="-5" dirty="0" smtClean="0"/>
              <a:t>conductance</a:t>
            </a:r>
            <a:r>
              <a:rPr lang="en-US" sz="2000" spc="-10" dirty="0" smtClean="0"/>
              <a:t> </a:t>
            </a:r>
            <a:r>
              <a:rPr lang="en-US" sz="2000" spc="-5" dirty="0" smtClean="0"/>
              <a:t>increases</a:t>
            </a:r>
            <a:r>
              <a:rPr lang="en-US" sz="2000" spc="-15" dirty="0" smtClean="0"/>
              <a:t> </a:t>
            </a:r>
            <a:r>
              <a:rPr lang="en-US" sz="2000" spc="5" dirty="0" smtClean="0"/>
              <a:t>due</a:t>
            </a:r>
            <a:r>
              <a:rPr lang="en-US" sz="2000" dirty="0" smtClean="0"/>
              <a:t> to</a:t>
            </a:r>
            <a:r>
              <a:rPr lang="en-US" sz="2000" spc="20" dirty="0" smtClean="0"/>
              <a:t> </a:t>
            </a:r>
            <a:r>
              <a:rPr lang="en-US" sz="2000" spc="-5" dirty="0" smtClean="0"/>
              <a:t>OH- </a:t>
            </a:r>
            <a:r>
              <a:rPr lang="en-US" sz="2000" spc="-434" dirty="0" smtClean="0"/>
              <a:t> </a:t>
            </a:r>
            <a:r>
              <a:rPr lang="en-US" sz="2000" dirty="0" smtClean="0"/>
              <a:t>ions</a:t>
            </a:r>
          </a:p>
          <a:p>
            <a:pPr marL="353695" indent="-341630">
              <a:lnSpc>
                <a:spcPct val="100000"/>
              </a:lnSpc>
              <a:spcBef>
                <a:spcPts val="770"/>
              </a:spcBef>
              <a:buFont typeface="Microsoft Sans Serif"/>
              <a:buChar char="•"/>
              <a:tabLst>
                <a:tab pos="353695" algn="l"/>
                <a:tab pos="354330" algn="l"/>
              </a:tabLst>
            </a:pPr>
            <a:r>
              <a:rPr sz="2000" b="1" smtClean="0">
                <a:solidFill>
                  <a:srgbClr val="C00000"/>
                </a:solidFill>
                <a:latin typeface="Arial"/>
                <a:cs typeface="Arial"/>
              </a:rPr>
              <a:t>Calculation</a:t>
            </a:r>
            <a:r>
              <a:rPr sz="2000" b="1" spc="-35" smtClean="0">
                <a:solidFill>
                  <a:srgbClr val="C00000"/>
                </a:solidFill>
                <a:latin typeface="Arial"/>
                <a:cs typeface="Arial"/>
              </a:rPr>
              <a:t> </a:t>
            </a:r>
            <a:r>
              <a:rPr sz="2000" b="1" spc="-25" dirty="0">
                <a:solidFill>
                  <a:srgbClr val="C00000"/>
                </a:solidFill>
                <a:latin typeface="Arial"/>
                <a:cs typeface="Arial"/>
              </a:rPr>
              <a:t>:</a:t>
            </a:r>
            <a:r>
              <a:rPr sz="2000" b="1" spc="-35" dirty="0">
                <a:solidFill>
                  <a:srgbClr val="C00000"/>
                </a:solidFill>
                <a:latin typeface="Arial"/>
                <a:cs typeface="Arial"/>
              </a:rPr>
              <a:t> </a:t>
            </a:r>
            <a:endParaRPr sz="2000">
              <a:latin typeface="Arial"/>
              <a:cs typeface="Arial"/>
            </a:endParaRPr>
          </a:p>
          <a:p>
            <a:pPr marL="551815" indent="-539750">
              <a:lnSpc>
                <a:spcPct val="100000"/>
              </a:lnSpc>
              <a:spcBef>
                <a:spcPts val="675"/>
              </a:spcBef>
              <a:buFont typeface="Microsoft Sans Serif"/>
              <a:buChar char="•"/>
              <a:tabLst>
                <a:tab pos="551815" algn="l"/>
                <a:tab pos="552450" algn="l"/>
              </a:tabLst>
            </a:pPr>
            <a:r>
              <a:rPr sz="2000" b="1" dirty="0">
                <a:latin typeface="Arial"/>
                <a:cs typeface="Arial"/>
              </a:rPr>
              <a:t>1000</a:t>
            </a:r>
            <a:r>
              <a:rPr sz="2000" b="1" spc="-20" dirty="0">
                <a:latin typeface="Arial"/>
                <a:cs typeface="Arial"/>
              </a:rPr>
              <a:t> </a:t>
            </a:r>
            <a:r>
              <a:rPr sz="2000" b="1" dirty="0">
                <a:latin typeface="Arial"/>
                <a:cs typeface="Arial"/>
              </a:rPr>
              <a:t>ml</a:t>
            </a:r>
            <a:r>
              <a:rPr sz="2000" b="1" spc="-5" dirty="0">
                <a:latin typeface="Arial"/>
                <a:cs typeface="Arial"/>
              </a:rPr>
              <a:t> </a:t>
            </a:r>
            <a:r>
              <a:rPr sz="2000" b="1" dirty="0">
                <a:latin typeface="Arial"/>
                <a:cs typeface="Arial"/>
              </a:rPr>
              <a:t>1N</a:t>
            </a:r>
            <a:r>
              <a:rPr sz="2000" b="1" spc="-10" dirty="0">
                <a:latin typeface="Arial"/>
                <a:cs typeface="Arial"/>
              </a:rPr>
              <a:t> </a:t>
            </a:r>
            <a:r>
              <a:rPr sz="2000" b="1" spc="-5" dirty="0">
                <a:latin typeface="Arial"/>
                <a:cs typeface="Arial"/>
              </a:rPr>
              <a:t>NaOH</a:t>
            </a:r>
            <a:r>
              <a:rPr sz="2000" b="1" spc="-30" dirty="0">
                <a:latin typeface="Arial"/>
                <a:cs typeface="Arial"/>
              </a:rPr>
              <a:t> </a:t>
            </a:r>
            <a:r>
              <a:rPr sz="2000" b="1" spc="5" dirty="0">
                <a:latin typeface="Arial"/>
                <a:cs typeface="Arial"/>
              </a:rPr>
              <a:t>=</a:t>
            </a:r>
            <a:r>
              <a:rPr sz="2000" b="1" spc="-25" dirty="0">
                <a:latin typeface="Arial"/>
                <a:cs typeface="Arial"/>
              </a:rPr>
              <a:t> </a:t>
            </a:r>
            <a:r>
              <a:rPr sz="2000" b="1" dirty="0">
                <a:latin typeface="Arial"/>
                <a:cs typeface="Arial"/>
              </a:rPr>
              <a:t>36.5</a:t>
            </a:r>
            <a:r>
              <a:rPr sz="2000" b="1" spc="-20" dirty="0">
                <a:latin typeface="Arial"/>
                <a:cs typeface="Arial"/>
              </a:rPr>
              <a:t> </a:t>
            </a:r>
            <a:r>
              <a:rPr sz="2000" b="1" dirty="0">
                <a:latin typeface="Arial"/>
                <a:cs typeface="Arial"/>
              </a:rPr>
              <a:t>gm</a:t>
            </a:r>
            <a:r>
              <a:rPr sz="2000" b="1" spc="-5" dirty="0">
                <a:latin typeface="Arial"/>
                <a:cs typeface="Arial"/>
              </a:rPr>
              <a:t> HCl</a:t>
            </a:r>
            <a:r>
              <a:rPr sz="2000" b="1" spc="-35" dirty="0">
                <a:latin typeface="Arial"/>
                <a:cs typeface="Arial"/>
              </a:rPr>
              <a:t> </a:t>
            </a:r>
            <a:endParaRPr sz="2000">
              <a:latin typeface="Arial"/>
              <a:cs typeface="Arial"/>
            </a:endParaRPr>
          </a:p>
          <a:p>
            <a:pPr marL="451484" indent="-439420">
              <a:lnSpc>
                <a:spcPct val="100000"/>
              </a:lnSpc>
              <a:spcBef>
                <a:spcPts val="675"/>
              </a:spcBef>
              <a:buFont typeface="Microsoft Sans Serif"/>
              <a:buChar char="•"/>
              <a:tabLst>
                <a:tab pos="451484" algn="l"/>
                <a:tab pos="452120" algn="l"/>
              </a:tabLst>
            </a:pPr>
            <a:r>
              <a:rPr sz="2000" b="1" spc="5" dirty="0">
                <a:latin typeface="Arial"/>
                <a:cs typeface="Arial"/>
              </a:rPr>
              <a:t>1</a:t>
            </a:r>
            <a:r>
              <a:rPr sz="2000" b="1" spc="-25" dirty="0">
                <a:latin typeface="Arial"/>
                <a:cs typeface="Arial"/>
              </a:rPr>
              <a:t> </a:t>
            </a:r>
            <a:r>
              <a:rPr sz="2000" b="1" dirty="0">
                <a:latin typeface="Arial"/>
                <a:cs typeface="Arial"/>
              </a:rPr>
              <a:t>ml</a:t>
            </a:r>
            <a:r>
              <a:rPr sz="2000" b="1" spc="-5" dirty="0">
                <a:latin typeface="Arial"/>
                <a:cs typeface="Arial"/>
              </a:rPr>
              <a:t> </a:t>
            </a:r>
            <a:r>
              <a:rPr sz="2000" b="1" dirty="0">
                <a:latin typeface="Arial"/>
                <a:cs typeface="Arial"/>
              </a:rPr>
              <a:t>1N</a:t>
            </a:r>
            <a:r>
              <a:rPr sz="2000" b="1" spc="-35" dirty="0">
                <a:latin typeface="Arial"/>
                <a:cs typeface="Arial"/>
              </a:rPr>
              <a:t> </a:t>
            </a:r>
            <a:r>
              <a:rPr sz="2000" b="1" dirty="0">
                <a:latin typeface="Arial"/>
                <a:cs typeface="Arial"/>
              </a:rPr>
              <a:t>NaOH</a:t>
            </a:r>
            <a:r>
              <a:rPr sz="2000" b="1" spc="-5" dirty="0">
                <a:latin typeface="Arial"/>
                <a:cs typeface="Arial"/>
              </a:rPr>
              <a:t> </a:t>
            </a:r>
            <a:r>
              <a:rPr sz="2000" b="1" spc="5" dirty="0">
                <a:latin typeface="Arial"/>
                <a:cs typeface="Arial"/>
              </a:rPr>
              <a:t>=</a:t>
            </a:r>
            <a:r>
              <a:rPr sz="2000" b="1" spc="-25" dirty="0">
                <a:latin typeface="Arial"/>
                <a:cs typeface="Arial"/>
              </a:rPr>
              <a:t> </a:t>
            </a:r>
            <a:r>
              <a:rPr sz="2000" b="1" spc="-5" dirty="0">
                <a:latin typeface="Arial"/>
                <a:cs typeface="Arial"/>
              </a:rPr>
              <a:t>36.5</a:t>
            </a:r>
            <a:r>
              <a:rPr sz="2000" b="1" spc="-15" dirty="0">
                <a:latin typeface="Arial"/>
                <a:cs typeface="Arial"/>
              </a:rPr>
              <a:t> </a:t>
            </a:r>
            <a:r>
              <a:rPr sz="2000" b="1" spc="5" dirty="0">
                <a:latin typeface="Arial"/>
                <a:cs typeface="Arial"/>
              </a:rPr>
              <a:t>mg</a:t>
            </a:r>
            <a:r>
              <a:rPr sz="2000" b="1" spc="-5" dirty="0">
                <a:latin typeface="Arial"/>
                <a:cs typeface="Arial"/>
              </a:rPr>
              <a:t> </a:t>
            </a:r>
            <a:r>
              <a:rPr sz="2000" b="1" spc="-20" dirty="0">
                <a:latin typeface="Arial"/>
                <a:cs typeface="Arial"/>
              </a:rPr>
              <a:t>HCl</a:t>
            </a:r>
            <a:r>
              <a:rPr sz="2000" b="1" spc="-35" dirty="0">
                <a:latin typeface="Arial"/>
                <a:cs typeface="Arial"/>
              </a:rPr>
              <a:t> </a:t>
            </a:r>
            <a:endParaRPr sz="2000">
              <a:latin typeface="Arial"/>
              <a:cs typeface="Arial"/>
            </a:endParaRPr>
          </a:p>
          <a:p>
            <a:pPr>
              <a:lnSpc>
                <a:spcPct val="100000"/>
              </a:lnSpc>
              <a:spcBef>
                <a:spcPts val="45"/>
              </a:spcBef>
              <a:buChar char="•"/>
            </a:pPr>
            <a:endParaRPr sz="2000">
              <a:latin typeface="Arial"/>
              <a:cs typeface="Arial"/>
            </a:endParaRPr>
          </a:p>
          <a:p>
            <a:pPr marL="353695" indent="-341630">
              <a:lnSpc>
                <a:spcPct val="100000"/>
              </a:lnSpc>
              <a:spcBef>
                <a:spcPts val="5"/>
              </a:spcBef>
              <a:buFont typeface="Microsoft Sans Serif"/>
              <a:buChar char="•"/>
              <a:tabLst>
                <a:tab pos="353695" algn="l"/>
                <a:tab pos="354330" algn="l"/>
              </a:tabLst>
            </a:pPr>
            <a:r>
              <a:rPr sz="2000" b="1" spc="-10" dirty="0">
                <a:solidFill>
                  <a:srgbClr val="C00000"/>
                </a:solidFill>
                <a:latin typeface="Arial"/>
                <a:cs typeface="Arial"/>
              </a:rPr>
              <a:t>Curve</a:t>
            </a:r>
            <a:r>
              <a:rPr sz="2000" b="1" spc="-25" dirty="0">
                <a:solidFill>
                  <a:srgbClr val="C00000"/>
                </a:solidFill>
                <a:latin typeface="Arial"/>
                <a:cs typeface="Arial"/>
              </a:rPr>
              <a:t> </a:t>
            </a:r>
            <a:r>
              <a:rPr sz="2000" b="1" spc="-5" dirty="0">
                <a:solidFill>
                  <a:srgbClr val="C00000"/>
                </a:solidFill>
                <a:latin typeface="Arial"/>
                <a:cs typeface="Arial"/>
              </a:rPr>
              <a:t>Explanation:</a:t>
            </a:r>
            <a:r>
              <a:rPr sz="2000" b="1" spc="-35" dirty="0">
                <a:solidFill>
                  <a:srgbClr val="C00000"/>
                </a:solidFill>
                <a:latin typeface="Arial"/>
                <a:cs typeface="Arial"/>
              </a:rPr>
              <a:t> </a:t>
            </a:r>
            <a:endParaRPr sz="2000">
              <a:latin typeface="Arial"/>
              <a:cs typeface="Arial"/>
            </a:endParaRPr>
          </a:p>
          <a:p>
            <a:pPr marL="353695" indent="-341630">
              <a:lnSpc>
                <a:spcPct val="100000"/>
              </a:lnSpc>
              <a:spcBef>
                <a:spcPts val="670"/>
              </a:spcBef>
              <a:buFont typeface="Microsoft Sans Serif"/>
              <a:buChar char="•"/>
              <a:tabLst>
                <a:tab pos="353695" algn="l"/>
                <a:tab pos="354330" algn="l"/>
              </a:tabLst>
            </a:pPr>
            <a:r>
              <a:rPr sz="2000" b="1" dirty="0">
                <a:latin typeface="Arial"/>
                <a:cs typeface="Arial"/>
              </a:rPr>
              <a:t>Initial</a:t>
            </a:r>
            <a:r>
              <a:rPr sz="2000" b="1" spc="-65" dirty="0">
                <a:latin typeface="Arial"/>
                <a:cs typeface="Arial"/>
              </a:rPr>
              <a:t> </a:t>
            </a:r>
            <a:r>
              <a:rPr sz="2000" b="1" spc="-5" dirty="0">
                <a:latin typeface="Arial"/>
                <a:cs typeface="Arial"/>
              </a:rPr>
              <a:t>stage</a:t>
            </a:r>
            <a:r>
              <a:rPr sz="2000" b="1" spc="-35" dirty="0">
                <a:latin typeface="Arial"/>
                <a:cs typeface="Arial"/>
              </a:rPr>
              <a:t> </a:t>
            </a:r>
            <a:endParaRPr sz="2000">
              <a:latin typeface="Arial"/>
              <a:cs typeface="Arial"/>
            </a:endParaRPr>
          </a:p>
          <a:p>
            <a:pPr marL="353695" indent="-341630">
              <a:lnSpc>
                <a:spcPct val="100000"/>
              </a:lnSpc>
              <a:spcBef>
                <a:spcPts val="675"/>
              </a:spcBef>
              <a:buFont typeface="Microsoft Sans Serif"/>
              <a:buChar char="•"/>
              <a:tabLst>
                <a:tab pos="353695" algn="l"/>
                <a:tab pos="354330" algn="l"/>
              </a:tabLst>
            </a:pPr>
            <a:r>
              <a:rPr sz="2000" b="1" dirty="0">
                <a:latin typeface="Arial"/>
                <a:cs typeface="Arial"/>
              </a:rPr>
              <a:t>Before</a:t>
            </a:r>
            <a:r>
              <a:rPr sz="2000" b="1" spc="-10" dirty="0">
                <a:latin typeface="Arial"/>
                <a:cs typeface="Arial"/>
              </a:rPr>
              <a:t> </a:t>
            </a:r>
            <a:r>
              <a:rPr sz="2000" b="1" spc="-5" dirty="0">
                <a:latin typeface="Arial"/>
                <a:cs typeface="Arial"/>
              </a:rPr>
              <a:t>equivalence point</a:t>
            </a:r>
            <a:r>
              <a:rPr sz="2000" b="1" spc="-35" dirty="0">
                <a:latin typeface="Arial"/>
                <a:cs typeface="Arial"/>
              </a:rPr>
              <a:t> </a:t>
            </a:r>
            <a:endParaRPr sz="2000">
              <a:latin typeface="Arial"/>
              <a:cs typeface="Arial"/>
            </a:endParaRPr>
          </a:p>
          <a:p>
            <a:pPr marL="353695" indent="-341630">
              <a:lnSpc>
                <a:spcPct val="100000"/>
              </a:lnSpc>
              <a:spcBef>
                <a:spcPts val="675"/>
              </a:spcBef>
              <a:buFont typeface="Microsoft Sans Serif"/>
              <a:buChar char="•"/>
              <a:tabLst>
                <a:tab pos="353695" algn="l"/>
                <a:tab pos="354330" algn="l"/>
              </a:tabLst>
            </a:pPr>
            <a:r>
              <a:rPr sz="2000" b="1" spc="-30" dirty="0">
                <a:latin typeface="Arial"/>
                <a:cs typeface="Arial"/>
              </a:rPr>
              <a:t>At</a:t>
            </a:r>
            <a:r>
              <a:rPr sz="2000" b="1" spc="5" dirty="0">
                <a:latin typeface="Arial"/>
                <a:cs typeface="Arial"/>
              </a:rPr>
              <a:t> </a:t>
            </a:r>
            <a:r>
              <a:rPr sz="2000" b="1" dirty="0">
                <a:latin typeface="Arial"/>
                <a:cs typeface="Arial"/>
              </a:rPr>
              <a:t>the</a:t>
            </a:r>
            <a:r>
              <a:rPr sz="2000" b="1" spc="-5" dirty="0">
                <a:latin typeface="Arial"/>
                <a:cs typeface="Arial"/>
              </a:rPr>
              <a:t> equivalence</a:t>
            </a:r>
            <a:r>
              <a:rPr sz="2000" b="1" spc="40" dirty="0">
                <a:latin typeface="Arial"/>
                <a:cs typeface="Arial"/>
              </a:rPr>
              <a:t> </a:t>
            </a:r>
            <a:r>
              <a:rPr sz="2000" b="1" spc="-10" dirty="0">
                <a:latin typeface="Arial"/>
                <a:cs typeface="Arial"/>
              </a:rPr>
              <a:t>point</a:t>
            </a:r>
            <a:r>
              <a:rPr sz="2000" b="1" spc="-35" dirty="0">
                <a:latin typeface="Arial"/>
                <a:cs typeface="Arial"/>
              </a:rPr>
              <a:t> </a:t>
            </a:r>
            <a:endParaRPr sz="2000">
              <a:latin typeface="Arial"/>
              <a:cs typeface="Arial"/>
            </a:endParaRPr>
          </a:p>
          <a:p>
            <a:pPr marL="353695" indent="-341630">
              <a:lnSpc>
                <a:spcPct val="100000"/>
              </a:lnSpc>
              <a:spcBef>
                <a:spcPts val="600"/>
              </a:spcBef>
              <a:buFont typeface="Microsoft Sans Serif"/>
              <a:buChar char="•"/>
              <a:tabLst>
                <a:tab pos="353695" algn="l"/>
                <a:tab pos="354330" algn="l"/>
              </a:tabLst>
            </a:pPr>
            <a:r>
              <a:rPr sz="2000" b="1" spc="-5" dirty="0">
                <a:latin typeface="Arial"/>
                <a:cs typeface="Arial"/>
              </a:rPr>
              <a:t>After</a:t>
            </a:r>
            <a:r>
              <a:rPr sz="2000" b="1" spc="-15" dirty="0">
                <a:latin typeface="Arial"/>
                <a:cs typeface="Arial"/>
              </a:rPr>
              <a:t> </a:t>
            </a:r>
            <a:r>
              <a:rPr sz="2000" b="1" spc="-5" dirty="0">
                <a:latin typeface="Arial"/>
                <a:cs typeface="Arial"/>
              </a:rPr>
              <a:t>equivalence</a:t>
            </a:r>
            <a:r>
              <a:rPr sz="2000" b="1" spc="5" dirty="0">
                <a:latin typeface="Arial"/>
                <a:cs typeface="Arial"/>
              </a:rPr>
              <a:t> </a:t>
            </a:r>
            <a:r>
              <a:rPr sz="2000" b="1" spc="-5" dirty="0">
                <a:latin typeface="Arial"/>
                <a:cs typeface="Arial"/>
              </a:rPr>
              <a:t>point</a:t>
            </a:r>
            <a:r>
              <a:rPr sz="2000" b="1" spc="-35" dirty="0">
                <a:latin typeface="Arial"/>
                <a:cs typeface="Arial"/>
              </a:rPr>
              <a:t> </a:t>
            </a:r>
            <a:endParaRPr sz="2000">
              <a:latin typeface="Arial"/>
              <a:cs typeface="Arial"/>
            </a:endParaRPr>
          </a:p>
        </p:txBody>
      </p:sp>
      <p:pic>
        <p:nvPicPr>
          <p:cNvPr id="3" name="object 11"/>
          <p:cNvPicPr/>
          <p:nvPr/>
        </p:nvPicPr>
        <p:blipFill>
          <a:blip r:embed="rId2" cstate="print"/>
          <a:stretch>
            <a:fillRect/>
          </a:stretch>
        </p:blipFill>
        <p:spPr>
          <a:xfrm>
            <a:off x="6477000" y="2133600"/>
            <a:ext cx="2480055" cy="17526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599"/>
            <a:ext cx="7848600" cy="4739017"/>
          </a:xfrm>
          <a:prstGeom prst="rect">
            <a:avLst/>
          </a:prstGeom>
        </p:spPr>
        <p:txBody>
          <a:bodyPr wrap="square">
            <a:spAutoFit/>
          </a:bodyPr>
          <a:lstStyle/>
          <a:p>
            <a:pPr>
              <a:lnSpc>
                <a:spcPct val="150000"/>
              </a:lnSpc>
            </a:pPr>
            <a:r>
              <a:rPr lang="en-US" b="1" dirty="0">
                <a:hlinkClick r:id="rId2"/>
              </a:rPr>
              <a:t>Applications : </a:t>
            </a:r>
            <a:endParaRPr lang="en-US" b="1" dirty="0" smtClean="0">
              <a:hlinkClick r:id="rId2"/>
            </a:endParaRPr>
          </a:p>
          <a:p>
            <a:pPr>
              <a:lnSpc>
                <a:spcPct val="150000"/>
              </a:lnSpc>
            </a:pPr>
            <a:r>
              <a:rPr lang="en-US" b="1" dirty="0" smtClean="0">
                <a:hlinkClick r:id="rId2"/>
              </a:rPr>
              <a:t>1</a:t>
            </a:r>
            <a:r>
              <a:rPr lang="en-US" b="1" dirty="0">
                <a:hlinkClick r:id="rId2"/>
              </a:rPr>
              <a:t>. </a:t>
            </a:r>
            <a:r>
              <a:rPr lang="en-US" dirty="0"/>
              <a:t>Check water pollution in rivers and lakes </a:t>
            </a:r>
            <a:endParaRPr lang="en-US" dirty="0" smtClean="0"/>
          </a:p>
          <a:p>
            <a:pPr>
              <a:lnSpc>
                <a:spcPct val="150000"/>
              </a:lnSpc>
            </a:pPr>
            <a:r>
              <a:rPr lang="en-US" dirty="0" smtClean="0"/>
              <a:t>2</a:t>
            </a:r>
            <a:r>
              <a:rPr lang="en-US" dirty="0"/>
              <a:t>. Alkalinity of fresh water </a:t>
            </a:r>
            <a:endParaRPr lang="en-US" dirty="0" smtClean="0"/>
          </a:p>
          <a:p>
            <a:pPr>
              <a:lnSpc>
                <a:spcPct val="150000"/>
              </a:lnSpc>
            </a:pPr>
            <a:r>
              <a:rPr lang="en-US" dirty="0" smtClean="0"/>
              <a:t>3</a:t>
            </a:r>
            <a:r>
              <a:rPr lang="en-US" dirty="0"/>
              <a:t>. Salinity of sea water (oceanography) </a:t>
            </a:r>
            <a:endParaRPr lang="en-US" dirty="0" smtClean="0"/>
          </a:p>
          <a:p>
            <a:pPr>
              <a:lnSpc>
                <a:spcPct val="150000"/>
              </a:lnSpc>
            </a:pPr>
            <a:r>
              <a:rPr lang="en-US" dirty="0" smtClean="0"/>
              <a:t>4</a:t>
            </a:r>
            <a:r>
              <a:rPr lang="en-US" dirty="0"/>
              <a:t>. Deuterium ion concentration in water- deuterium </a:t>
            </a:r>
            <a:r>
              <a:rPr lang="en-US" dirty="0" smtClean="0"/>
              <a:t>mixture</a:t>
            </a:r>
          </a:p>
          <a:p>
            <a:pPr>
              <a:lnSpc>
                <a:spcPct val="150000"/>
              </a:lnSpc>
            </a:pPr>
            <a:r>
              <a:rPr lang="en-US" dirty="0" smtClean="0"/>
              <a:t> </a:t>
            </a:r>
            <a:r>
              <a:rPr lang="en-US" dirty="0"/>
              <a:t>5. Food microbiology- for tracing micro </a:t>
            </a:r>
            <a:r>
              <a:rPr lang="en-US" dirty="0" smtClean="0"/>
              <a:t>organisms</a:t>
            </a:r>
          </a:p>
          <a:p>
            <a:pPr>
              <a:lnSpc>
                <a:spcPct val="150000"/>
              </a:lnSpc>
            </a:pPr>
            <a:r>
              <a:rPr lang="en-US" dirty="0" smtClean="0"/>
              <a:t> </a:t>
            </a:r>
            <a:r>
              <a:rPr lang="en-US" dirty="0"/>
              <a:t>6. Tracing antibiotics </a:t>
            </a:r>
            <a:endParaRPr lang="en-US" dirty="0" smtClean="0"/>
          </a:p>
          <a:p>
            <a:pPr>
              <a:lnSpc>
                <a:spcPct val="150000"/>
              </a:lnSpc>
            </a:pPr>
            <a:r>
              <a:rPr lang="en-US" dirty="0" smtClean="0"/>
              <a:t>7</a:t>
            </a:r>
            <a:r>
              <a:rPr lang="en-US" dirty="0"/>
              <a:t>. Estimate ash content in sugar </a:t>
            </a:r>
            <a:r>
              <a:rPr lang="en-US" dirty="0" smtClean="0"/>
              <a:t>juices</a:t>
            </a:r>
          </a:p>
          <a:p>
            <a:pPr>
              <a:lnSpc>
                <a:spcPct val="150000"/>
              </a:lnSpc>
            </a:pPr>
            <a:r>
              <a:rPr lang="en-US" dirty="0" smtClean="0"/>
              <a:t> </a:t>
            </a:r>
            <a:r>
              <a:rPr lang="en-US" dirty="0"/>
              <a:t>8. Purity of distilled and de - </a:t>
            </a:r>
            <a:r>
              <a:rPr lang="en-US" dirty="0" err="1"/>
              <a:t>ionised</a:t>
            </a:r>
            <a:r>
              <a:rPr lang="en-US" dirty="0"/>
              <a:t> water can </a:t>
            </a:r>
            <a:r>
              <a:rPr lang="en-US" dirty="0" smtClean="0"/>
              <a:t>determined</a:t>
            </a:r>
          </a:p>
          <a:p>
            <a:pPr>
              <a:lnSpc>
                <a:spcPct val="150000"/>
              </a:lnSpc>
            </a:pPr>
            <a:r>
              <a:rPr lang="en-US" dirty="0" smtClean="0"/>
              <a:t> </a:t>
            </a:r>
            <a:r>
              <a:rPr lang="en-US" dirty="0"/>
              <a:t>9. Solubility of sparingly soluble salts like AgCl,BaSo4 can be </a:t>
            </a:r>
            <a:r>
              <a:rPr lang="en-US" dirty="0" smtClean="0"/>
              <a:t>detected</a:t>
            </a:r>
          </a:p>
          <a:p>
            <a:pPr>
              <a:lnSpc>
                <a:spcPct val="150000"/>
              </a:lnSpc>
            </a:pPr>
            <a:r>
              <a:rPr lang="en-US" dirty="0" smtClean="0"/>
              <a:t> </a:t>
            </a:r>
            <a:endParaRPr lang="en-US" dirty="0"/>
          </a:p>
        </p:txBody>
      </p:sp>
      <p:sp>
        <p:nvSpPr>
          <p:cNvPr id="3" name="Rectangle 2"/>
          <p:cNvSpPr/>
          <p:nvPr/>
        </p:nvSpPr>
        <p:spPr>
          <a:xfrm>
            <a:off x="304800" y="4495800"/>
            <a:ext cx="8153400" cy="2169825"/>
          </a:xfrm>
          <a:prstGeom prst="rect">
            <a:avLst/>
          </a:prstGeom>
        </p:spPr>
        <p:txBody>
          <a:bodyPr wrap="square">
            <a:spAutoFit/>
          </a:bodyPr>
          <a:lstStyle/>
          <a:p>
            <a:pPr>
              <a:lnSpc>
                <a:spcPct val="150000"/>
              </a:lnSpc>
            </a:pPr>
            <a:r>
              <a:rPr lang="en-US" b="1" dirty="0"/>
              <a:t>ADVANTAGES OF CONDUCTOMETRIC TITRATIONS</a:t>
            </a:r>
            <a:r>
              <a:rPr lang="en-US" dirty="0" smtClean="0"/>
              <a:t/>
            </a:r>
            <a:br>
              <a:rPr lang="en-US" dirty="0" smtClean="0"/>
            </a:br>
            <a:r>
              <a:rPr lang="en-US" dirty="0"/>
              <a:t>No need of </a:t>
            </a:r>
            <a:r>
              <a:rPr lang="en-US" dirty="0" smtClean="0"/>
              <a:t>indicator Colored </a:t>
            </a:r>
            <a:r>
              <a:rPr lang="en-US" dirty="0"/>
              <a:t>or dilute solutions or turbid suspensions can be used for titrations</a:t>
            </a:r>
            <a:r>
              <a:rPr lang="en-US" dirty="0" smtClean="0"/>
              <a:t>. Temperature </a:t>
            </a:r>
            <a:r>
              <a:rPr lang="en-US" dirty="0"/>
              <a:t>is maintained constant throughout the titration</a:t>
            </a:r>
            <a:r>
              <a:rPr lang="en-US" dirty="0" smtClean="0"/>
              <a:t>. End </a:t>
            </a:r>
            <a:r>
              <a:rPr lang="en-US" dirty="0"/>
              <a:t>point can be determined accurately and errors are minimized as the end point is being determined graphically.</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87090" y="334721"/>
            <a:ext cx="2143125" cy="680720"/>
          </a:xfrm>
          <a:prstGeom prst="rect">
            <a:avLst/>
          </a:prstGeom>
        </p:spPr>
        <p:txBody>
          <a:bodyPr vert="horz" wrap="square" lIns="0" tIns="12065" rIns="0" bIns="0" rtlCol="0">
            <a:spAutoFit/>
          </a:bodyPr>
          <a:lstStyle/>
          <a:p>
            <a:pPr marL="12700">
              <a:lnSpc>
                <a:spcPct val="100000"/>
              </a:lnSpc>
              <a:spcBef>
                <a:spcPts val="95"/>
              </a:spcBef>
            </a:pPr>
            <a:r>
              <a:rPr sz="4300" b="1" spc="-5" dirty="0">
                <a:latin typeface="Calibri"/>
                <a:cs typeface="Calibri"/>
              </a:rPr>
              <a:t>pH</a:t>
            </a:r>
            <a:r>
              <a:rPr sz="4300" b="1" spc="-110" dirty="0">
                <a:latin typeface="Calibri"/>
                <a:cs typeface="Calibri"/>
              </a:rPr>
              <a:t> </a:t>
            </a:r>
            <a:r>
              <a:rPr sz="4300" b="1" spc="-5" dirty="0">
                <a:latin typeface="Calibri"/>
                <a:cs typeface="Calibri"/>
              </a:rPr>
              <a:t>metry</a:t>
            </a:r>
            <a:endParaRPr sz="4300">
              <a:latin typeface="Calibri"/>
              <a:cs typeface="Calibri"/>
            </a:endParaRPr>
          </a:p>
        </p:txBody>
      </p:sp>
      <p:sp>
        <p:nvSpPr>
          <p:cNvPr id="3" name="object 3"/>
          <p:cNvSpPr txBox="1"/>
          <p:nvPr/>
        </p:nvSpPr>
        <p:spPr>
          <a:xfrm>
            <a:off x="281940" y="958773"/>
            <a:ext cx="5998210" cy="2928620"/>
          </a:xfrm>
          <a:prstGeom prst="rect">
            <a:avLst/>
          </a:prstGeom>
        </p:spPr>
        <p:txBody>
          <a:bodyPr vert="horz" wrap="square" lIns="0" tIns="67945" rIns="0" bIns="0" rtlCol="0">
            <a:spAutoFit/>
          </a:bodyPr>
          <a:lstStyle/>
          <a:p>
            <a:pPr marL="379730" indent="-342265">
              <a:lnSpc>
                <a:spcPct val="100000"/>
              </a:lnSpc>
              <a:spcBef>
                <a:spcPts val="535"/>
              </a:spcBef>
              <a:buChar char="•"/>
              <a:tabLst>
                <a:tab pos="379095" algn="l"/>
                <a:tab pos="380365" algn="l"/>
              </a:tabLst>
            </a:pPr>
            <a:r>
              <a:rPr sz="2000" spc="-10" dirty="0">
                <a:latin typeface="Microsoft Sans Serif"/>
                <a:cs typeface="Microsoft Sans Serif"/>
              </a:rPr>
              <a:t>The</a:t>
            </a:r>
            <a:r>
              <a:rPr sz="2000" spc="-5" dirty="0">
                <a:latin typeface="Microsoft Sans Serif"/>
                <a:cs typeface="Microsoft Sans Serif"/>
              </a:rPr>
              <a:t> </a:t>
            </a:r>
            <a:r>
              <a:rPr sz="2000" spc="-10" dirty="0">
                <a:latin typeface="Microsoft Sans Serif"/>
                <a:cs typeface="Microsoft Sans Serif"/>
              </a:rPr>
              <a:t>term</a:t>
            </a:r>
            <a:r>
              <a:rPr sz="2000" spc="10" dirty="0">
                <a:latin typeface="Microsoft Sans Serif"/>
                <a:cs typeface="Microsoft Sans Serif"/>
              </a:rPr>
              <a:t> </a:t>
            </a:r>
            <a:r>
              <a:rPr sz="2000" spc="5" dirty="0">
                <a:latin typeface="Microsoft Sans Serif"/>
                <a:cs typeface="Microsoft Sans Serif"/>
              </a:rPr>
              <a:t>pH</a:t>
            </a:r>
            <a:r>
              <a:rPr sz="2000" spc="15" dirty="0">
                <a:latin typeface="Microsoft Sans Serif"/>
                <a:cs typeface="Microsoft Sans Serif"/>
              </a:rPr>
              <a:t> </a:t>
            </a:r>
            <a:r>
              <a:rPr sz="2000" spc="-5" dirty="0">
                <a:latin typeface="Microsoft Sans Serif"/>
                <a:cs typeface="Microsoft Sans Serif"/>
              </a:rPr>
              <a:t>was</a:t>
            </a:r>
            <a:r>
              <a:rPr sz="2000" spc="15" dirty="0">
                <a:latin typeface="Microsoft Sans Serif"/>
                <a:cs typeface="Microsoft Sans Serif"/>
              </a:rPr>
              <a:t> </a:t>
            </a:r>
            <a:r>
              <a:rPr sz="2000" spc="-5" dirty="0">
                <a:latin typeface="Microsoft Sans Serif"/>
                <a:cs typeface="Microsoft Sans Serif"/>
              </a:rPr>
              <a:t>introduce</a:t>
            </a:r>
            <a:r>
              <a:rPr sz="2000" spc="15" dirty="0">
                <a:latin typeface="Microsoft Sans Serif"/>
                <a:cs typeface="Microsoft Sans Serif"/>
              </a:rPr>
              <a:t> </a:t>
            </a:r>
            <a:r>
              <a:rPr sz="2000" spc="-5" dirty="0">
                <a:latin typeface="Microsoft Sans Serif"/>
                <a:cs typeface="Microsoft Sans Serif"/>
              </a:rPr>
              <a:t>by</a:t>
            </a:r>
            <a:r>
              <a:rPr sz="2000" spc="15" dirty="0">
                <a:latin typeface="Microsoft Sans Serif"/>
                <a:cs typeface="Microsoft Sans Serif"/>
              </a:rPr>
              <a:t> </a:t>
            </a:r>
            <a:r>
              <a:rPr sz="2000" spc="-10" dirty="0">
                <a:latin typeface="Microsoft Sans Serif"/>
                <a:cs typeface="Microsoft Sans Serif"/>
              </a:rPr>
              <a:t>Sorensen </a:t>
            </a:r>
            <a:r>
              <a:rPr sz="2000" spc="5" dirty="0">
                <a:latin typeface="Microsoft Sans Serif"/>
                <a:cs typeface="Microsoft Sans Serif"/>
              </a:rPr>
              <a:t>in</a:t>
            </a:r>
            <a:r>
              <a:rPr sz="2000" spc="15" dirty="0">
                <a:latin typeface="Microsoft Sans Serif"/>
                <a:cs typeface="Microsoft Sans Serif"/>
              </a:rPr>
              <a:t> </a:t>
            </a:r>
            <a:r>
              <a:rPr sz="2000" dirty="0">
                <a:latin typeface="Microsoft Sans Serif"/>
                <a:cs typeface="Microsoft Sans Serif"/>
              </a:rPr>
              <a:t>1909. </a:t>
            </a:r>
            <a:endParaRPr sz="2000">
              <a:latin typeface="Microsoft Sans Serif"/>
              <a:cs typeface="Microsoft Sans Serif"/>
            </a:endParaRPr>
          </a:p>
          <a:p>
            <a:pPr marL="379730" indent="-342265">
              <a:lnSpc>
                <a:spcPct val="100000"/>
              </a:lnSpc>
              <a:spcBef>
                <a:spcPts val="434"/>
              </a:spcBef>
              <a:buFont typeface="Microsoft Sans Serif"/>
              <a:buChar char="•"/>
              <a:tabLst>
                <a:tab pos="379095" algn="l"/>
                <a:tab pos="380365" algn="l"/>
              </a:tabLst>
            </a:pPr>
            <a:r>
              <a:rPr sz="2000" spc="-5" dirty="0">
                <a:latin typeface="Calibri"/>
                <a:cs typeface="Calibri"/>
              </a:rPr>
              <a:t>pH</a:t>
            </a:r>
            <a:r>
              <a:rPr sz="2000" spc="-30" dirty="0">
                <a:latin typeface="Calibri"/>
                <a:cs typeface="Calibri"/>
              </a:rPr>
              <a:t> </a:t>
            </a:r>
            <a:r>
              <a:rPr sz="2000" spc="-5" dirty="0">
                <a:latin typeface="Calibri"/>
                <a:cs typeface="Calibri"/>
              </a:rPr>
              <a:t>=</a:t>
            </a:r>
            <a:r>
              <a:rPr sz="2000" spc="-20" dirty="0">
                <a:latin typeface="Calibri"/>
                <a:cs typeface="Calibri"/>
              </a:rPr>
              <a:t> </a:t>
            </a:r>
            <a:r>
              <a:rPr sz="2000" b="1" spc="-5" dirty="0">
                <a:latin typeface="Calibri"/>
                <a:cs typeface="Calibri"/>
              </a:rPr>
              <a:t>-</a:t>
            </a:r>
            <a:r>
              <a:rPr sz="2000" b="1" spc="-15" dirty="0">
                <a:latin typeface="Calibri"/>
                <a:cs typeface="Calibri"/>
              </a:rPr>
              <a:t> </a:t>
            </a:r>
            <a:r>
              <a:rPr sz="2000" spc="-5" dirty="0">
                <a:latin typeface="Calibri"/>
                <a:cs typeface="Calibri"/>
              </a:rPr>
              <a:t>log</a:t>
            </a:r>
            <a:r>
              <a:rPr sz="2000" spc="-15" dirty="0">
                <a:latin typeface="Calibri"/>
                <a:cs typeface="Calibri"/>
              </a:rPr>
              <a:t> </a:t>
            </a:r>
            <a:r>
              <a:rPr sz="2000" dirty="0">
                <a:latin typeface="Calibri"/>
                <a:cs typeface="Calibri"/>
              </a:rPr>
              <a:t>[H</a:t>
            </a:r>
            <a:r>
              <a:rPr sz="1950" baseline="29914" dirty="0">
                <a:latin typeface="Calibri"/>
                <a:cs typeface="Calibri"/>
              </a:rPr>
              <a:t>+</a:t>
            </a:r>
            <a:r>
              <a:rPr sz="2000" dirty="0">
                <a:latin typeface="Calibri"/>
                <a:cs typeface="Calibri"/>
              </a:rPr>
              <a:t>]</a:t>
            </a:r>
            <a:r>
              <a:rPr sz="2000" dirty="0">
                <a:latin typeface="Microsoft Sans Serif"/>
                <a:cs typeface="Microsoft Sans Serif"/>
              </a:rPr>
              <a:t> </a:t>
            </a:r>
            <a:endParaRPr sz="2000">
              <a:latin typeface="Microsoft Sans Serif"/>
              <a:cs typeface="Microsoft Sans Serif"/>
            </a:endParaRPr>
          </a:p>
          <a:p>
            <a:pPr>
              <a:lnSpc>
                <a:spcPct val="100000"/>
              </a:lnSpc>
              <a:buChar char="•"/>
            </a:pPr>
            <a:endParaRPr sz="2300">
              <a:latin typeface="Microsoft Sans Serif"/>
              <a:cs typeface="Microsoft Sans Serif"/>
            </a:endParaRPr>
          </a:p>
          <a:p>
            <a:pPr>
              <a:lnSpc>
                <a:spcPct val="100000"/>
              </a:lnSpc>
              <a:spcBef>
                <a:spcPts val="30"/>
              </a:spcBef>
              <a:buChar char="•"/>
            </a:pPr>
            <a:endParaRPr sz="3100">
              <a:latin typeface="Microsoft Sans Serif"/>
              <a:cs typeface="Microsoft Sans Serif"/>
            </a:endParaRPr>
          </a:p>
          <a:p>
            <a:pPr marL="379730" indent="-342265">
              <a:lnSpc>
                <a:spcPct val="100000"/>
              </a:lnSpc>
              <a:spcBef>
                <a:spcPts val="5"/>
              </a:spcBef>
              <a:buChar char="•"/>
              <a:tabLst>
                <a:tab pos="379095" algn="l"/>
                <a:tab pos="380365" algn="l"/>
              </a:tabLst>
            </a:pPr>
            <a:r>
              <a:rPr sz="2000" spc="-5" dirty="0">
                <a:solidFill>
                  <a:srgbClr val="C00000"/>
                </a:solidFill>
                <a:latin typeface="Microsoft Sans Serif"/>
                <a:cs typeface="Microsoft Sans Serif"/>
              </a:rPr>
              <a:t>Buffer</a:t>
            </a:r>
            <a:r>
              <a:rPr sz="2000" spc="-40" dirty="0">
                <a:solidFill>
                  <a:srgbClr val="C00000"/>
                </a:solidFill>
                <a:latin typeface="Microsoft Sans Serif"/>
                <a:cs typeface="Microsoft Sans Serif"/>
              </a:rPr>
              <a:t> </a:t>
            </a:r>
            <a:r>
              <a:rPr sz="2000" spc="-5" dirty="0">
                <a:solidFill>
                  <a:srgbClr val="C00000"/>
                </a:solidFill>
                <a:latin typeface="Microsoft Sans Serif"/>
                <a:cs typeface="Microsoft Sans Serif"/>
              </a:rPr>
              <a:t>Solution</a:t>
            </a:r>
            <a:r>
              <a:rPr sz="2000" spc="-15" dirty="0">
                <a:solidFill>
                  <a:srgbClr val="C00000"/>
                </a:solidFill>
                <a:latin typeface="Microsoft Sans Serif"/>
                <a:cs typeface="Microsoft Sans Serif"/>
              </a:rPr>
              <a:t> </a:t>
            </a:r>
            <a:r>
              <a:rPr sz="2000" spc="-10" dirty="0">
                <a:latin typeface="Microsoft Sans Serif"/>
                <a:cs typeface="Microsoft Sans Serif"/>
              </a:rPr>
              <a:t>:</a:t>
            </a:r>
            <a:r>
              <a:rPr sz="2000" spc="-15" dirty="0">
                <a:latin typeface="Microsoft Sans Serif"/>
                <a:cs typeface="Microsoft Sans Serif"/>
              </a:rPr>
              <a:t> </a:t>
            </a:r>
            <a:r>
              <a:rPr sz="2000" spc="-10" dirty="0">
                <a:latin typeface="Microsoft Sans Serif"/>
                <a:cs typeface="Microsoft Sans Serif"/>
              </a:rPr>
              <a:t>two</a:t>
            </a:r>
            <a:r>
              <a:rPr sz="2000" spc="-15" dirty="0">
                <a:latin typeface="Microsoft Sans Serif"/>
                <a:cs typeface="Microsoft Sans Serif"/>
              </a:rPr>
              <a:t> </a:t>
            </a:r>
            <a:r>
              <a:rPr sz="2000" dirty="0">
                <a:latin typeface="Microsoft Sans Serif"/>
                <a:cs typeface="Microsoft Sans Serif"/>
              </a:rPr>
              <a:t>types</a:t>
            </a:r>
            <a:r>
              <a:rPr sz="2000" dirty="0">
                <a:solidFill>
                  <a:srgbClr val="C00000"/>
                </a:solidFill>
                <a:latin typeface="Microsoft Sans Serif"/>
                <a:cs typeface="Microsoft Sans Serif"/>
              </a:rPr>
              <a:t> </a:t>
            </a:r>
            <a:endParaRPr sz="2000">
              <a:latin typeface="Microsoft Sans Serif"/>
              <a:cs typeface="Microsoft Sans Serif"/>
            </a:endParaRPr>
          </a:p>
          <a:p>
            <a:pPr marL="379730" indent="-342265">
              <a:lnSpc>
                <a:spcPct val="100000"/>
              </a:lnSpc>
              <a:spcBef>
                <a:spcPts val="480"/>
              </a:spcBef>
              <a:buChar char="•"/>
              <a:tabLst>
                <a:tab pos="379095" algn="l"/>
                <a:tab pos="380365" algn="l"/>
              </a:tabLst>
            </a:pPr>
            <a:r>
              <a:rPr sz="2000" spc="-10" dirty="0">
                <a:solidFill>
                  <a:srgbClr val="C00000"/>
                </a:solidFill>
                <a:latin typeface="Microsoft Sans Serif"/>
                <a:cs typeface="Microsoft Sans Serif"/>
              </a:rPr>
              <a:t>1.</a:t>
            </a:r>
            <a:r>
              <a:rPr sz="2000" spc="-130" dirty="0">
                <a:solidFill>
                  <a:srgbClr val="C00000"/>
                </a:solidFill>
                <a:latin typeface="Microsoft Sans Serif"/>
                <a:cs typeface="Microsoft Sans Serif"/>
              </a:rPr>
              <a:t> </a:t>
            </a:r>
            <a:r>
              <a:rPr sz="2000" spc="-20" dirty="0">
                <a:solidFill>
                  <a:srgbClr val="C00000"/>
                </a:solidFill>
                <a:latin typeface="Microsoft Sans Serif"/>
                <a:cs typeface="Microsoft Sans Serif"/>
              </a:rPr>
              <a:t>A</a:t>
            </a:r>
            <a:r>
              <a:rPr sz="2000" spc="5" dirty="0">
                <a:solidFill>
                  <a:srgbClr val="C00000"/>
                </a:solidFill>
                <a:latin typeface="Microsoft Sans Serif"/>
                <a:cs typeface="Microsoft Sans Serif"/>
              </a:rPr>
              <a:t>c</a:t>
            </a:r>
            <a:r>
              <a:rPr sz="2000" spc="15" dirty="0">
                <a:solidFill>
                  <a:srgbClr val="C00000"/>
                </a:solidFill>
                <a:latin typeface="Microsoft Sans Serif"/>
                <a:cs typeface="Microsoft Sans Serif"/>
              </a:rPr>
              <a:t>i</a:t>
            </a:r>
            <a:r>
              <a:rPr sz="2000" spc="-10" dirty="0">
                <a:solidFill>
                  <a:srgbClr val="C00000"/>
                </a:solidFill>
                <a:latin typeface="Microsoft Sans Serif"/>
                <a:cs typeface="Microsoft Sans Serif"/>
              </a:rPr>
              <a:t>di</a:t>
            </a:r>
            <a:r>
              <a:rPr sz="2000" spc="10" dirty="0">
                <a:solidFill>
                  <a:srgbClr val="C00000"/>
                </a:solidFill>
                <a:latin typeface="Microsoft Sans Serif"/>
                <a:cs typeface="Microsoft Sans Serif"/>
              </a:rPr>
              <a:t>c</a:t>
            </a:r>
            <a:r>
              <a:rPr sz="2000" spc="15" dirty="0">
                <a:solidFill>
                  <a:srgbClr val="C00000"/>
                </a:solidFill>
                <a:latin typeface="Microsoft Sans Serif"/>
                <a:cs typeface="Microsoft Sans Serif"/>
              </a:rPr>
              <a:t> </a:t>
            </a:r>
            <a:r>
              <a:rPr sz="2000" spc="-10" dirty="0">
                <a:solidFill>
                  <a:srgbClr val="C00000"/>
                </a:solidFill>
                <a:latin typeface="Microsoft Sans Serif"/>
                <a:cs typeface="Microsoft Sans Serif"/>
              </a:rPr>
              <a:t>b</a:t>
            </a:r>
            <a:r>
              <a:rPr sz="2000" spc="-15" dirty="0">
                <a:solidFill>
                  <a:srgbClr val="C00000"/>
                </a:solidFill>
                <a:latin typeface="Microsoft Sans Serif"/>
                <a:cs typeface="Microsoft Sans Serif"/>
              </a:rPr>
              <a:t>u</a:t>
            </a:r>
            <a:r>
              <a:rPr sz="2000" spc="-5" dirty="0">
                <a:solidFill>
                  <a:srgbClr val="C00000"/>
                </a:solidFill>
                <a:latin typeface="Microsoft Sans Serif"/>
                <a:cs typeface="Microsoft Sans Serif"/>
              </a:rPr>
              <a:t>ff</a:t>
            </a:r>
            <a:r>
              <a:rPr sz="2000" spc="-15" dirty="0">
                <a:solidFill>
                  <a:srgbClr val="C00000"/>
                </a:solidFill>
                <a:latin typeface="Microsoft Sans Serif"/>
                <a:cs typeface="Microsoft Sans Serif"/>
              </a:rPr>
              <a:t>e</a:t>
            </a:r>
            <a:r>
              <a:rPr sz="2000" spc="5" dirty="0">
                <a:solidFill>
                  <a:srgbClr val="C00000"/>
                </a:solidFill>
                <a:latin typeface="Microsoft Sans Serif"/>
                <a:cs typeface="Microsoft Sans Serif"/>
              </a:rPr>
              <a:t>r</a:t>
            </a:r>
            <a:r>
              <a:rPr sz="2000" spc="-10" dirty="0">
                <a:solidFill>
                  <a:srgbClr val="C00000"/>
                </a:solidFill>
                <a:latin typeface="Microsoft Sans Serif"/>
                <a:cs typeface="Microsoft Sans Serif"/>
              </a:rPr>
              <a:t> </a:t>
            </a:r>
            <a:r>
              <a:rPr sz="2000" spc="-10" dirty="0">
                <a:latin typeface="Microsoft Sans Serif"/>
                <a:cs typeface="Microsoft Sans Serif"/>
              </a:rPr>
              <a:t>:</a:t>
            </a:r>
            <a:r>
              <a:rPr sz="2000" spc="-35" dirty="0">
                <a:latin typeface="Microsoft Sans Serif"/>
                <a:cs typeface="Microsoft Sans Serif"/>
              </a:rPr>
              <a:t> </a:t>
            </a:r>
            <a:r>
              <a:rPr sz="2000" spc="5" dirty="0">
                <a:latin typeface="Microsoft Sans Serif"/>
                <a:cs typeface="Microsoft Sans Serif"/>
              </a:rPr>
              <a:t>W</a:t>
            </a:r>
            <a:r>
              <a:rPr sz="2000" spc="-20" dirty="0">
                <a:latin typeface="Microsoft Sans Serif"/>
                <a:cs typeface="Microsoft Sans Serif"/>
              </a:rPr>
              <a:t>A</a:t>
            </a:r>
            <a:r>
              <a:rPr sz="2000" spc="-105" dirty="0">
                <a:latin typeface="Microsoft Sans Serif"/>
                <a:cs typeface="Microsoft Sans Serif"/>
              </a:rPr>
              <a:t> </a:t>
            </a:r>
            <a:r>
              <a:rPr sz="2000" spc="-15" dirty="0">
                <a:latin typeface="Microsoft Sans Serif"/>
                <a:cs typeface="Microsoft Sans Serif"/>
              </a:rPr>
              <a:t>w</a:t>
            </a:r>
            <a:r>
              <a:rPr sz="2000" spc="20" dirty="0">
                <a:latin typeface="Microsoft Sans Serif"/>
                <a:cs typeface="Microsoft Sans Serif"/>
              </a:rPr>
              <a:t>i</a:t>
            </a:r>
            <a:r>
              <a:rPr sz="2000" spc="-5" dirty="0">
                <a:latin typeface="Microsoft Sans Serif"/>
                <a:cs typeface="Microsoft Sans Serif"/>
              </a:rPr>
              <a:t>t</a:t>
            </a:r>
            <a:r>
              <a:rPr sz="2000" spc="-10" dirty="0">
                <a:latin typeface="Microsoft Sans Serif"/>
                <a:cs typeface="Microsoft Sans Serif"/>
              </a:rPr>
              <a:t>h a</a:t>
            </a:r>
            <a:r>
              <a:rPr sz="2000" spc="15" dirty="0">
                <a:latin typeface="Microsoft Sans Serif"/>
                <a:cs typeface="Microsoft Sans Serif"/>
              </a:rPr>
              <a:t> </a:t>
            </a:r>
            <a:r>
              <a:rPr sz="2000" spc="5" dirty="0">
                <a:latin typeface="Microsoft Sans Serif"/>
                <a:cs typeface="Microsoft Sans Serif"/>
              </a:rPr>
              <a:t>s</a:t>
            </a:r>
            <a:r>
              <a:rPr sz="2000" spc="-10" dirty="0">
                <a:latin typeface="Microsoft Sans Serif"/>
                <a:cs typeface="Microsoft Sans Serif"/>
              </a:rPr>
              <a:t>a</a:t>
            </a:r>
            <a:r>
              <a:rPr sz="2000" spc="10" dirty="0">
                <a:latin typeface="Microsoft Sans Serif"/>
                <a:cs typeface="Microsoft Sans Serif"/>
              </a:rPr>
              <a:t>l</a:t>
            </a:r>
            <a:r>
              <a:rPr sz="2000" dirty="0">
                <a:latin typeface="Microsoft Sans Serif"/>
                <a:cs typeface="Microsoft Sans Serif"/>
              </a:rPr>
              <a:t>t</a:t>
            </a:r>
            <a:r>
              <a:rPr sz="2000" spc="-10" dirty="0">
                <a:latin typeface="Microsoft Sans Serif"/>
                <a:cs typeface="Microsoft Sans Serif"/>
              </a:rPr>
              <a:t> of </a:t>
            </a:r>
            <a:r>
              <a:rPr sz="2000" spc="-20" dirty="0">
                <a:latin typeface="Microsoft Sans Serif"/>
                <a:cs typeface="Microsoft Sans Serif"/>
              </a:rPr>
              <a:t>WA</a:t>
            </a:r>
            <a:r>
              <a:rPr sz="2000" spc="-105" dirty="0">
                <a:latin typeface="Microsoft Sans Serif"/>
                <a:cs typeface="Microsoft Sans Serif"/>
              </a:rPr>
              <a:t> </a:t>
            </a:r>
            <a:r>
              <a:rPr sz="2000" spc="-10" dirty="0">
                <a:latin typeface="Microsoft Sans Serif"/>
                <a:cs typeface="Microsoft Sans Serif"/>
              </a:rPr>
              <a:t>and</a:t>
            </a:r>
            <a:r>
              <a:rPr sz="2000" spc="15" dirty="0">
                <a:latin typeface="Microsoft Sans Serif"/>
                <a:cs typeface="Microsoft Sans Serif"/>
              </a:rPr>
              <a:t> </a:t>
            </a:r>
            <a:r>
              <a:rPr sz="2000" spc="-20" dirty="0">
                <a:latin typeface="Microsoft Sans Serif"/>
                <a:cs typeface="Microsoft Sans Serif"/>
              </a:rPr>
              <a:t>S</a:t>
            </a:r>
            <a:r>
              <a:rPr sz="2000" spc="5" dirty="0">
                <a:latin typeface="Microsoft Sans Serif"/>
                <a:cs typeface="Microsoft Sans Serif"/>
              </a:rPr>
              <a:t>B</a:t>
            </a:r>
            <a:r>
              <a:rPr sz="2000" spc="-5" dirty="0">
                <a:solidFill>
                  <a:srgbClr val="C00000"/>
                </a:solidFill>
                <a:latin typeface="Microsoft Sans Serif"/>
                <a:cs typeface="Microsoft Sans Serif"/>
              </a:rPr>
              <a:t> </a:t>
            </a:r>
            <a:endParaRPr sz="2000">
              <a:latin typeface="Microsoft Sans Serif"/>
              <a:cs typeface="Microsoft Sans Serif"/>
            </a:endParaRPr>
          </a:p>
          <a:p>
            <a:pPr marL="379730" indent="-342265">
              <a:lnSpc>
                <a:spcPct val="100000"/>
              </a:lnSpc>
              <a:spcBef>
                <a:spcPts val="480"/>
              </a:spcBef>
              <a:buChar char="•"/>
              <a:tabLst>
                <a:tab pos="379095" algn="l"/>
                <a:tab pos="380365" algn="l"/>
              </a:tabLst>
            </a:pPr>
            <a:r>
              <a:rPr sz="2000" spc="-10" dirty="0">
                <a:latin typeface="Microsoft Sans Serif"/>
                <a:cs typeface="Microsoft Sans Serif"/>
              </a:rPr>
              <a:t>e.g.</a:t>
            </a:r>
            <a:r>
              <a:rPr sz="2000" spc="-30" dirty="0">
                <a:latin typeface="Microsoft Sans Serif"/>
                <a:cs typeface="Microsoft Sans Serif"/>
              </a:rPr>
              <a:t> </a:t>
            </a:r>
            <a:r>
              <a:rPr sz="2000" spc="-5" dirty="0">
                <a:latin typeface="Microsoft Sans Serif"/>
                <a:cs typeface="Microsoft Sans Serif"/>
              </a:rPr>
              <a:t>CH3COOH</a:t>
            </a:r>
            <a:r>
              <a:rPr sz="2000" spc="-25" dirty="0">
                <a:latin typeface="Microsoft Sans Serif"/>
                <a:cs typeface="Microsoft Sans Serif"/>
              </a:rPr>
              <a:t> </a:t>
            </a:r>
            <a:r>
              <a:rPr sz="2000" spc="20" dirty="0">
                <a:latin typeface="Microsoft Sans Serif"/>
                <a:cs typeface="Microsoft Sans Serif"/>
              </a:rPr>
              <a:t>+</a:t>
            </a:r>
            <a:r>
              <a:rPr sz="2000" dirty="0">
                <a:latin typeface="Microsoft Sans Serif"/>
                <a:cs typeface="Microsoft Sans Serif"/>
              </a:rPr>
              <a:t> </a:t>
            </a:r>
            <a:r>
              <a:rPr sz="2000" spc="-5" dirty="0">
                <a:latin typeface="Microsoft Sans Serif"/>
                <a:cs typeface="Microsoft Sans Serif"/>
              </a:rPr>
              <a:t>CH3COONa</a:t>
            </a:r>
            <a:r>
              <a:rPr sz="2000" dirty="0">
                <a:latin typeface="Microsoft Sans Serif"/>
                <a:cs typeface="Microsoft Sans Serif"/>
              </a:rPr>
              <a:t> </a:t>
            </a:r>
            <a:endParaRPr sz="2000">
              <a:latin typeface="Microsoft Sans Serif"/>
              <a:cs typeface="Microsoft Sans Serif"/>
            </a:endParaRPr>
          </a:p>
          <a:p>
            <a:pPr marL="869950" indent="-832485">
              <a:lnSpc>
                <a:spcPct val="100000"/>
              </a:lnSpc>
              <a:spcBef>
                <a:spcPts val="480"/>
              </a:spcBef>
              <a:buChar char="•"/>
              <a:tabLst>
                <a:tab pos="869950" algn="l"/>
                <a:tab pos="870585" algn="l"/>
              </a:tabLst>
            </a:pPr>
            <a:r>
              <a:rPr sz="2000" spc="-10" dirty="0">
                <a:latin typeface="Microsoft Sans Serif"/>
                <a:cs typeface="Microsoft Sans Serif"/>
              </a:rPr>
              <a:t>Na2HPO4</a:t>
            </a:r>
            <a:r>
              <a:rPr sz="2000" spc="40" dirty="0">
                <a:latin typeface="Microsoft Sans Serif"/>
                <a:cs typeface="Microsoft Sans Serif"/>
              </a:rPr>
              <a:t> </a:t>
            </a:r>
            <a:r>
              <a:rPr sz="2000" spc="-20" dirty="0">
                <a:latin typeface="Microsoft Sans Serif"/>
                <a:cs typeface="Microsoft Sans Serif"/>
              </a:rPr>
              <a:t>+</a:t>
            </a:r>
            <a:r>
              <a:rPr sz="2000" spc="-10" dirty="0">
                <a:latin typeface="Microsoft Sans Serif"/>
                <a:cs typeface="Microsoft Sans Serif"/>
              </a:rPr>
              <a:t> </a:t>
            </a:r>
            <a:r>
              <a:rPr sz="2000" dirty="0">
                <a:latin typeface="Microsoft Sans Serif"/>
                <a:cs typeface="Microsoft Sans Serif"/>
              </a:rPr>
              <a:t>citric</a:t>
            </a:r>
            <a:r>
              <a:rPr sz="2000" spc="-10" dirty="0">
                <a:latin typeface="Microsoft Sans Serif"/>
                <a:cs typeface="Microsoft Sans Serif"/>
              </a:rPr>
              <a:t> </a:t>
            </a:r>
            <a:r>
              <a:rPr sz="2000" dirty="0">
                <a:latin typeface="Microsoft Sans Serif"/>
                <a:cs typeface="Microsoft Sans Serif"/>
              </a:rPr>
              <a:t>acid</a:t>
            </a:r>
            <a:r>
              <a:rPr sz="2000" spc="-10" dirty="0">
                <a:latin typeface="Microsoft Sans Serif"/>
                <a:cs typeface="Microsoft Sans Serif"/>
              </a:rPr>
              <a:t> </a:t>
            </a:r>
            <a:r>
              <a:rPr sz="2000" spc="-5" dirty="0">
                <a:latin typeface="Microsoft Sans Serif"/>
                <a:cs typeface="Microsoft Sans Serif"/>
              </a:rPr>
              <a:t>[C6H8O7]</a:t>
            </a:r>
            <a:r>
              <a:rPr sz="2000" dirty="0">
                <a:latin typeface="Microsoft Sans Serif"/>
                <a:cs typeface="Microsoft Sans Serif"/>
              </a:rPr>
              <a:t> </a:t>
            </a:r>
            <a:endParaRPr sz="2000">
              <a:latin typeface="Microsoft Sans Serif"/>
              <a:cs typeface="Microsoft Sans Serif"/>
            </a:endParaRPr>
          </a:p>
        </p:txBody>
      </p:sp>
      <p:sp>
        <p:nvSpPr>
          <p:cNvPr id="4" name="object 4"/>
          <p:cNvSpPr txBox="1"/>
          <p:nvPr/>
        </p:nvSpPr>
        <p:spPr>
          <a:xfrm>
            <a:off x="139700" y="3841444"/>
            <a:ext cx="128905" cy="490855"/>
          </a:xfrm>
          <a:prstGeom prst="rect">
            <a:avLst/>
          </a:prstGeom>
        </p:spPr>
        <p:txBody>
          <a:bodyPr vert="horz" wrap="square" lIns="0" tIns="12700" rIns="0" bIns="0" rtlCol="0">
            <a:spAutoFit/>
          </a:bodyPr>
          <a:lstStyle/>
          <a:p>
            <a:pPr marL="12700">
              <a:lnSpc>
                <a:spcPct val="100000"/>
              </a:lnSpc>
              <a:spcBef>
                <a:spcPts val="100"/>
              </a:spcBef>
            </a:pPr>
            <a:r>
              <a:rPr sz="3050" dirty="0">
                <a:latin typeface="Microsoft Sans Serif"/>
                <a:cs typeface="Microsoft Sans Serif"/>
              </a:rPr>
              <a:t> </a:t>
            </a:r>
            <a:endParaRPr sz="3050">
              <a:latin typeface="Microsoft Sans Serif"/>
              <a:cs typeface="Microsoft Sans Serif"/>
            </a:endParaRPr>
          </a:p>
        </p:txBody>
      </p:sp>
      <p:sp>
        <p:nvSpPr>
          <p:cNvPr id="5" name="object 5"/>
          <p:cNvSpPr txBox="1"/>
          <p:nvPr/>
        </p:nvSpPr>
        <p:spPr>
          <a:xfrm>
            <a:off x="307340" y="4227753"/>
            <a:ext cx="5486400" cy="757555"/>
          </a:xfrm>
          <a:prstGeom prst="rect">
            <a:avLst/>
          </a:prstGeom>
        </p:spPr>
        <p:txBody>
          <a:bodyPr vert="horz" wrap="square" lIns="0" tIns="73660" rIns="0" bIns="0" rtlCol="0">
            <a:spAutoFit/>
          </a:bodyPr>
          <a:lstStyle/>
          <a:p>
            <a:pPr marL="354330" indent="-342265">
              <a:lnSpc>
                <a:spcPct val="100000"/>
              </a:lnSpc>
              <a:spcBef>
                <a:spcPts val="580"/>
              </a:spcBef>
              <a:buChar char="•"/>
              <a:tabLst>
                <a:tab pos="353695" algn="l"/>
                <a:tab pos="354965" algn="l"/>
              </a:tabLst>
            </a:pPr>
            <a:r>
              <a:rPr sz="2000" spc="-10" dirty="0">
                <a:solidFill>
                  <a:srgbClr val="C00000"/>
                </a:solidFill>
                <a:latin typeface="Microsoft Sans Serif"/>
                <a:cs typeface="Microsoft Sans Serif"/>
              </a:rPr>
              <a:t>2.</a:t>
            </a:r>
            <a:r>
              <a:rPr sz="2000" spc="-15" dirty="0">
                <a:solidFill>
                  <a:srgbClr val="C00000"/>
                </a:solidFill>
                <a:latin typeface="Microsoft Sans Serif"/>
                <a:cs typeface="Microsoft Sans Serif"/>
              </a:rPr>
              <a:t> </a:t>
            </a:r>
            <a:r>
              <a:rPr sz="2000" dirty="0">
                <a:solidFill>
                  <a:srgbClr val="C00000"/>
                </a:solidFill>
                <a:latin typeface="Microsoft Sans Serif"/>
                <a:cs typeface="Microsoft Sans Serif"/>
              </a:rPr>
              <a:t>Basic</a:t>
            </a:r>
            <a:r>
              <a:rPr sz="2000" spc="15" dirty="0">
                <a:solidFill>
                  <a:srgbClr val="C00000"/>
                </a:solidFill>
                <a:latin typeface="Microsoft Sans Serif"/>
                <a:cs typeface="Microsoft Sans Serif"/>
              </a:rPr>
              <a:t> </a:t>
            </a:r>
            <a:r>
              <a:rPr sz="2000" spc="-5" dirty="0">
                <a:solidFill>
                  <a:srgbClr val="C00000"/>
                </a:solidFill>
                <a:latin typeface="Microsoft Sans Serif"/>
                <a:cs typeface="Microsoft Sans Serif"/>
              </a:rPr>
              <a:t>Buffer</a:t>
            </a:r>
            <a:r>
              <a:rPr sz="2000" spc="-5" dirty="0">
                <a:latin typeface="Microsoft Sans Serif"/>
                <a:cs typeface="Microsoft Sans Serif"/>
              </a:rPr>
              <a:t>:</a:t>
            </a:r>
            <a:r>
              <a:rPr sz="2000" spc="-35" dirty="0">
                <a:latin typeface="Microsoft Sans Serif"/>
                <a:cs typeface="Microsoft Sans Serif"/>
              </a:rPr>
              <a:t> </a:t>
            </a:r>
            <a:r>
              <a:rPr sz="2000" spc="-5" dirty="0">
                <a:latin typeface="Microsoft Sans Serif"/>
                <a:cs typeface="Microsoft Sans Serif"/>
              </a:rPr>
              <a:t>WB</a:t>
            </a:r>
            <a:r>
              <a:rPr sz="2000" spc="15" dirty="0">
                <a:latin typeface="Microsoft Sans Serif"/>
                <a:cs typeface="Microsoft Sans Serif"/>
              </a:rPr>
              <a:t> </a:t>
            </a:r>
            <a:r>
              <a:rPr sz="2000" dirty="0">
                <a:latin typeface="Microsoft Sans Serif"/>
                <a:cs typeface="Microsoft Sans Serif"/>
              </a:rPr>
              <a:t>with</a:t>
            </a:r>
            <a:r>
              <a:rPr sz="2000" spc="-15" dirty="0">
                <a:latin typeface="Microsoft Sans Serif"/>
                <a:cs typeface="Microsoft Sans Serif"/>
              </a:rPr>
              <a:t> </a:t>
            </a:r>
            <a:r>
              <a:rPr sz="2000" spc="-5" dirty="0">
                <a:latin typeface="Microsoft Sans Serif"/>
                <a:cs typeface="Microsoft Sans Serif"/>
              </a:rPr>
              <a:t>a</a:t>
            </a:r>
            <a:r>
              <a:rPr sz="2000" spc="40" dirty="0">
                <a:latin typeface="Microsoft Sans Serif"/>
                <a:cs typeface="Microsoft Sans Serif"/>
              </a:rPr>
              <a:t> </a:t>
            </a:r>
            <a:r>
              <a:rPr sz="2000" dirty="0">
                <a:latin typeface="Microsoft Sans Serif"/>
                <a:cs typeface="Microsoft Sans Serif"/>
              </a:rPr>
              <a:t>salt</a:t>
            </a:r>
            <a:r>
              <a:rPr sz="2000" spc="-5" dirty="0">
                <a:latin typeface="Microsoft Sans Serif"/>
                <a:cs typeface="Microsoft Sans Serif"/>
              </a:rPr>
              <a:t> </a:t>
            </a:r>
            <a:r>
              <a:rPr sz="2000" spc="-10" dirty="0">
                <a:latin typeface="Microsoft Sans Serif"/>
                <a:cs typeface="Microsoft Sans Serif"/>
              </a:rPr>
              <a:t>of </a:t>
            </a:r>
            <a:r>
              <a:rPr sz="2000" spc="-20" dirty="0">
                <a:latin typeface="Microsoft Sans Serif"/>
                <a:cs typeface="Microsoft Sans Serif"/>
              </a:rPr>
              <a:t>WB</a:t>
            </a:r>
            <a:r>
              <a:rPr sz="2000" spc="40" dirty="0">
                <a:latin typeface="Microsoft Sans Serif"/>
                <a:cs typeface="Microsoft Sans Serif"/>
              </a:rPr>
              <a:t> </a:t>
            </a:r>
            <a:r>
              <a:rPr sz="2000" spc="-5" dirty="0">
                <a:latin typeface="Microsoft Sans Serif"/>
                <a:cs typeface="Microsoft Sans Serif"/>
              </a:rPr>
              <a:t>and</a:t>
            </a:r>
            <a:r>
              <a:rPr sz="2000" spc="-10" dirty="0">
                <a:latin typeface="Microsoft Sans Serif"/>
                <a:cs typeface="Microsoft Sans Serif"/>
              </a:rPr>
              <a:t> </a:t>
            </a:r>
            <a:r>
              <a:rPr sz="2000" spc="5" dirty="0">
                <a:latin typeface="Microsoft Sans Serif"/>
                <a:cs typeface="Microsoft Sans Serif"/>
              </a:rPr>
              <a:t>SA</a:t>
            </a:r>
            <a:r>
              <a:rPr sz="2000" dirty="0">
                <a:solidFill>
                  <a:srgbClr val="C00000"/>
                </a:solidFill>
                <a:latin typeface="Microsoft Sans Serif"/>
                <a:cs typeface="Microsoft Sans Serif"/>
              </a:rPr>
              <a:t> </a:t>
            </a:r>
            <a:endParaRPr sz="2000">
              <a:latin typeface="Microsoft Sans Serif"/>
              <a:cs typeface="Microsoft Sans Serif"/>
            </a:endParaRPr>
          </a:p>
          <a:p>
            <a:pPr marL="354330" indent="-342265">
              <a:lnSpc>
                <a:spcPct val="100000"/>
              </a:lnSpc>
              <a:spcBef>
                <a:spcPts val="484"/>
              </a:spcBef>
              <a:buChar char="•"/>
              <a:tabLst>
                <a:tab pos="353695" algn="l"/>
                <a:tab pos="354965" algn="l"/>
              </a:tabLst>
            </a:pPr>
            <a:r>
              <a:rPr sz="2000" spc="-10" dirty="0">
                <a:latin typeface="Microsoft Sans Serif"/>
                <a:cs typeface="Microsoft Sans Serif"/>
              </a:rPr>
              <a:t>e.g.</a:t>
            </a:r>
            <a:r>
              <a:rPr sz="2000" spc="-25" dirty="0">
                <a:latin typeface="Microsoft Sans Serif"/>
                <a:cs typeface="Microsoft Sans Serif"/>
              </a:rPr>
              <a:t> </a:t>
            </a:r>
            <a:r>
              <a:rPr sz="2000" spc="-10" dirty="0">
                <a:latin typeface="Microsoft Sans Serif"/>
                <a:cs typeface="Microsoft Sans Serif"/>
              </a:rPr>
              <a:t>NH4OH</a:t>
            </a:r>
            <a:r>
              <a:rPr sz="2000" spc="45" dirty="0">
                <a:latin typeface="Microsoft Sans Serif"/>
                <a:cs typeface="Microsoft Sans Serif"/>
              </a:rPr>
              <a:t> </a:t>
            </a:r>
            <a:r>
              <a:rPr sz="2000" spc="-15" dirty="0">
                <a:latin typeface="Microsoft Sans Serif"/>
                <a:cs typeface="Microsoft Sans Serif"/>
              </a:rPr>
              <a:t>+</a:t>
            </a:r>
            <a:r>
              <a:rPr sz="2000" spc="5" dirty="0">
                <a:latin typeface="Microsoft Sans Serif"/>
                <a:cs typeface="Microsoft Sans Serif"/>
              </a:rPr>
              <a:t> </a:t>
            </a:r>
            <a:r>
              <a:rPr sz="2000" spc="-5" dirty="0">
                <a:latin typeface="Microsoft Sans Serif"/>
                <a:cs typeface="Microsoft Sans Serif"/>
              </a:rPr>
              <a:t>NH4Cl</a:t>
            </a:r>
            <a:r>
              <a:rPr sz="2000" dirty="0">
                <a:latin typeface="Microsoft Sans Serif"/>
                <a:cs typeface="Microsoft Sans Serif"/>
              </a:rPr>
              <a:t> </a:t>
            </a:r>
            <a:endParaRPr sz="2000">
              <a:latin typeface="Microsoft Sans Serif"/>
              <a:cs typeface="Microsoft Sans Serif"/>
            </a:endParaRPr>
          </a:p>
        </p:txBody>
      </p:sp>
      <p:pic>
        <p:nvPicPr>
          <p:cNvPr id="6" name="object 6"/>
          <p:cNvPicPr/>
          <p:nvPr/>
        </p:nvPicPr>
        <p:blipFill>
          <a:blip r:embed="rId2" cstate="print"/>
          <a:stretch>
            <a:fillRect/>
          </a:stretch>
        </p:blipFill>
        <p:spPr>
          <a:xfrm>
            <a:off x="1524000" y="1844039"/>
            <a:ext cx="4208653" cy="330835"/>
          </a:xfrm>
          <a:prstGeom prst="rect">
            <a:avLst/>
          </a:prstGeom>
        </p:spPr>
      </p:pic>
      <p:pic>
        <p:nvPicPr>
          <p:cNvPr id="7" name="object 7"/>
          <p:cNvPicPr/>
          <p:nvPr/>
        </p:nvPicPr>
        <p:blipFill>
          <a:blip r:embed="rId3" cstate="print"/>
          <a:stretch>
            <a:fillRect/>
          </a:stretch>
        </p:blipFill>
        <p:spPr>
          <a:xfrm>
            <a:off x="6248400" y="4592840"/>
            <a:ext cx="2656840" cy="1483233"/>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9575" y="1818639"/>
            <a:ext cx="8086725" cy="3109912"/>
          </a:xfrm>
          <a:prstGeom prst="rect">
            <a:avLst/>
          </a:prstGeom>
        </p:spPr>
      </p:pic>
      <p:sp>
        <p:nvSpPr>
          <p:cNvPr id="3" name="object 3"/>
          <p:cNvSpPr txBox="1">
            <a:spLocks noGrp="1"/>
          </p:cNvSpPr>
          <p:nvPr>
            <p:ph type="ctrTitle"/>
          </p:nvPr>
        </p:nvSpPr>
        <p:spPr>
          <a:prstGeom prst="rect">
            <a:avLst/>
          </a:prstGeom>
        </p:spPr>
        <p:txBody>
          <a:bodyPr vert="horz" wrap="square" lIns="0" tIns="29845" rIns="0" bIns="0" rtlCol="0">
            <a:spAutoFit/>
          </a:bodyPr>
          <a:lstStyle/>
          <a:p>
            <a:pPr marL="2352675" marR="5080" indent="-2332355">
              <a:lnSpc>
                <a:spcPts val="4280"/>
              </a:lnSpc>
              <a:spcBef>
                <a:spcPts val="235"/>
              </a:spcBef>
            </a:pPr>
            <a:r>
              <a:rPr spc="-5" dirty="0"/>
              <a:t>From</a:t>
            </a:r>
            <a:r>
              <a:rPr spc="-100" dirty="0"/>
              <a:t> </a:t>
            </a:r>
            <a:r>
              <a:rPr dirty="0"/>
              <a:t>Handerson</a:t>
            </a:r>
            <a:r>
              <a:rPr spc="-70" dirty="0"/>
              <a:t> </a:t>
            </a:r>
            <a:r>
              <a:rPr spc="-5" dirty="0"/>
              <a:t>equation</a:t>
            </a:r>
            <a:r>
              <a:rPr spc="-70" dirty="0"/>
              <a:t> </a:t>
            </a:r>
            <a:r>
              <a:rPr spc="-5" dirty="0"/>
              <a:t>buffer</a:t>
            </a:r>
            <a:r>
              <a:rPr spc="-125" dirty="0"/>
              <a:t> </a:t>
            </a:r>
            <a:r>
              <a:rPr spc="-10" dirty="0"/>
              <a:t>solution </a:t>
            </a:r>
            <a:r>
              <a:rPr spc="-795" dirty="0"/>
              <a:t> </a:t>
            </a:r>
            <a:r>
              <a:rPr spc="-5" dirty="0"/>
              <a:t>can</a:t>
            </a:r>
            <a:r>
              <a:rPr spc="-70" dirty="0"/>
              <a:t> </a:t>
            </a:r>
            <a:r>
              <a:rPr dirty="0"/>
              <a:t>be</a:t>
            </a:r>
            <a:r>
              <a:rPr spc="-45" dirty="0"/>
              <a:t> </a:t>
            </a:r>
            <a:r>
              <a:rPr spc="-5" dirty="0"/>
              <a:t>prepared</a:t>
            </a:r>
          </a:p>
        </p:txBody>
      </p:sp>
      <p:sp>
        <p:nvSpPr>
          <p:cNvPr id="4" name="object 4"/>
          <p:cNvSpPr txBox="1"/>
          <p:nvPr/>
        </p:nvSpPr>
        <p:spPr>
          <a:xfrm>
            <a:off x="383540" y="1761820"/>
            <a:ext cx="211454" cy="512445"/>
          </a:xfrm>
          <a:prstGeom prst="rect">
            <a:avLst/>
          </a:prstGeom>
        </p:spPr>
        <p:txBody>
          <a:bodyPr vert="horz" wrap="square" lIns="0" tIns="12065" rIns="0" bIns="0" rtlCol="0">
            <a:spAutoFit/>
          </a:bodyPr>
          <a:lstStyle/>
          <a:p>
            <a:pPr marL="12700">
              <a:lnSpc>
                <a:spcPct val="100000"/>
              </a:lnSpc>
              <a:spcBef>
                <a:spcPts val="95"/>
              </a:spcBef>
            </a:pPr>
            <a:r>
              <a:rPr sz="3200" spc="-1240" dirty="0">
                <a:solidFill>
                  <a:srgbClr val="9BB957"/>
                </a:solidFill>
                <a:latin typeface="Segoe UI Symbol"/>
                <a:cs typeface="Segoe UI Symbol"/>
              </a:rPr>
              <a:t>⚫</a:t>
            </a:r>
            <a:endParaRPr sz="3200">
              <a:latin typeface="Segoe UI Symbol"/>
              <a:cs typeface="Segoe UI Symbo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6244" y="594105"/>
            <a:ext cx="8293100" cy="550545"/>
          </a:xfrm>
          <a:prstGeom prst="rect">
            <a:avLst/>
          </a:prstGeom>
        </p:spPr>
        <p:txBody>
          <a:bodyPr vert="horz" wrap="square" lIns="0" tIns="41275" rIns="0" bIns="0" rtlCol="0">
            <a:spAutoFit/>
          </a:bodyPr>
          <a:lstStyle/>
          <a:p>
            <a:pPr marL="12700" marR="5080">
              <a:lnSpc>
                <a:spcPts val="1970"/>
              </a:lnSpc>
              <a:spcBef>
                <a:spcPts val="325"/>
              </a:spcBef>
            </a:pPr>
            <a:r>
              <a:rPr sz="1800" spc="-10" dirty="0">
                <a:solidFill>
                  <a:srgbClr val="000000"/>
                </a:solidFill>
                <a:latin typeface="Constantia"/>
                <a:cs typeface="Constantia"/>
              </a:rPr>
              <a:t>The</a:t>
            </a:r>
            <a:r>
              <a:rPr sz="1800" spc="-90" dirty="0">
                <a:solidFill>
                  <a:srgbClr val="000000"/>
                </a:solidFill>
                <a:latin typeface="Constantia"/>
                <a:cs typeface="Constantia"/>
              </a:rPr>
              <a:t> </a:t>
            </a:r>
            <a:r>
              <a:rPr sz="1800" spc="-5" dirty="0">
                <a:solidFill>
                  <a:srgbClr val="000000"/>
                </a:solidFill>
                <a:latin typeface="Constantia"/>
                <a:cs typeface="Constantia"/>
              </a:rPr>
              <a:t>relationship</a:t>
            </a:r>
            <a:r>
              <a:rPr sz="1800" spc="-65" dirty="0">
                <a:solidFill>
                  <a:srgbClr val="000000"/>
                </a:solidFill>
                <a:latin typeface="Constantia"/>
                <a:cs typeface="Constantia"/>
              </a:rPr>
              <a:t> </a:t>
            </a:r>
            <a:r>
              <a:rPr sz="1800" spc="-5" dirty="0">
                <a:solidFill>
                  <a:srgbClr val="000000"/>
                </a:solidFill>
                <a:latin typeface="Constantia"/>
                <a:cs typeface="Constantia"/>
              </a:rPr>
              <a:t>between</a:t>
            </a:r>
            <a:r>
              <a:rPr sz="1800" spc="-60" dirty="0">
                <a:solidFill>
                  <a:srgbClr val="000000"/>
                </a:solidFill>
                <a:latin typeface="Constantia"/>
                <a:cs typeface="Constantia"/>
              </a:rPr>
              <a:t> </a:t>
            </a:r>
            <a:r>
              <a:rPr sz="1800" spc="-10" dirty="0">
                <a:solidFill>
                  <a:srgbClr val="000000"/>
                </a:solidFill>
                <a:latin typeface="Constantia"/>
                <a:cs typeface="Constantia"/>
              </a:rPr>
              <a:t>the</a:t>
            </a:r>
            <a:r>
              <a:rPr sz="1800" spc="-90" dirty="0">
                <a:solidFill>
                  <a:srgbClr val="000000"/>
                </a:solidFill>
                <a:latin typeface="Constantia"/>
                <a:cs typeface="Constantia"/>
              </a:rPr>
              <a:t> </a:t>
            </a:r>
            <a:r>
              <a:rPr sz="1800" spc="10" dirty="0">
                <a:solidFill>
                  <a:srgbClr val="000000"/>
                </a:solidFill>
                <a:latin typeface="Constantia"/>
                <a:cs typeface="Constantia"/>
              </a:rPr>
              <a:t>pH</a:t>
            </a:r>
            <a:r>
              <a:rPr sz="1800" spc="-25" dirty="0">
                <a:solidFill>
                  <a:srgbClr val="000000"/>
                </a:solidFill>
                <a:latin typeface="Constantia"/>
                <a:cs typeface="Constantia"/>
              </a:rPr>
              <a:t> </a:t>
            </a:r>
            <a:r>
              <a:rPr sz="1800" spc="5" dirty="0">
                <a:solidFill>
                  <a:srgbClr val="000000"/>
                </a:solidFill>
                <a:latin typeface="Constantia"/>
                <a:cs typeface="Constantia"/>
              </a:rPr>
              <a:t>of</a:t>
            </a:r>
            <a:r>
              <a:rPr sz="1800" dirty="0">
                <a:solidFill>
                  <a:srgbClr val="000000"/>
                </a:solidFill>
                <a:latin typeface="Constantia"/>
                <a:cs typeface="Constantia"/>
              </a:rPr>
              <a:t> а</a:t>
            </a:r>
            <a:r>
              <a:rPr sz="1800" spc="-95" dirty="0">
                <a:solidFill>
                  <a:srgbClr val="000000"/>
                </a:solidFill>
                <a:latin typeface="Constantia"/>
                <a:cs typeface="Constantia"/>
              </a:rPr>
              <a:t> </a:t>
            </a:r>
            <a:r>
              <a:rPr sz="1800" spc="-5" dirty="0">
                <a:solidFill>
                  <a:srgbClr val="000000"/>
                </a:solidFill>
                <a:latin typeface="Constantia"/>
                <a:cs typeface="Constantia"/>
              </a:rPr>
              <a:t>solution</a:t>
            </a:r>
            <a:r>
              <a:rPr sz="1800" spc="-50" dirty="0">
                <a:solidFill>
                  <a:srgbClr val="000000"/>
                </a:solidFill>
                <a:latin typeface="Constantia"/>
                <a:cs typeface="Constantia"/>
              </a:rPr>
              <a:t> </a:t>
            </a:r>
            <a:r>
              <a:rPr sz="1800" dirty="0">
                <a:solidFill>
                  <a:srgbClr val="000000"/>
                </a:solidFill>
                <a:latin typeface="Constantia"/>
                <a:cs typeface="Constantia"/>
              </a:rPr>
              <a:t>and</a:t>
            </a:r>
            <a:r>
              <a:rPr sz="1800" spc="-10" dirty="0">
                <a:solidFill>
                  <a:srgbClr val="000000"/>
                </a:solidFill>
                <a:latin typeface="Constantia"/>
                <a:cs typeface="Constantia"/>
              </a:rPr>
              <a:t> the</a:t>
            </a:r>
            <a:r>
              <a:rPr sz="1800" spc="-85" dirty="0">
                <a:solidFill>
                  <a:srgbClr val="000000"/>
                </a:solidFill>
                <a:latin typeface="Constantia"/>
                <a:cs typeface="Constantia"/>
              </a:rPr>
              <a:t> </a:t>
            </a:r>
            <a:r>
              <a:rPr sz="1800" spc="-5" dirty="0">
                <a:solidFill>
                  <a:srgbClr val="000000"/>
                </a:solidFill>
                <a:latin typeface="Constantia"/>
                <a:cs typeface="Constantia"/>
              </a:rPr>
              <a:t>concentrations</a:t>
            </a:r>
            <a:r>
              <a:rPr sz="1800" spc="-70" dirty="0">
                <a:solidFill>
                  <a:srgbClr val="000000"/>
                </a:solidFill>
                <a:latin typeface="Constantia"/>
                <a:cs typeface="Constantia"/>
              </a:rPr>
              <a:t> </a:t>
            </a:r>
            <a:r>
              <a:rPr sz="1800" spc="5" dirty="0">
                <a:solidFill>
                  <a:srgbClr val="000000"/>
                </a:solidFill>
                <a:latin typeface="Constantia"/>
                <a:cs typeface="Constantia"/>
              </a:rPr>
              <a:t>of</a:t>
            </a:r>
            <a:r>
              <a:rPr sz="1800" dirty="0">
                <a:solidFill>
                  <a:srgbClr val="000000"/>
                </a:solidFill>
                <a:latin typeface="Constantia"/>
                <a:cs typeface="Constantia"/>
              </a:rPr>
              <a:t> an</a:t>
            </a:r>
            <a:r>
              <a:rPr sz="1800" spc="-60" dirty="0">
                <a:solidFill>
                  <a:srgbClr val="000000"/>
                </a:solidFill>
                <a:latin typeface="Constantia"/>
                <a:cs typeface="Constantia"/>
              </a:rPr>
              <a:t> </a:t>
            </a:r>
            <a:r>
              <a:rPr sz="1800" dirty="0">
                <a:solidFill>
                  <a:srgbClr val="000000"/>
                </a:solidFill>
                <a:latin typeface="Constantia"/>
                <a:cs typeface="Constantia"/>
              </a:rPr>
              <a:t>acid</a:t>
            </a:r>
            <a:r>
              <a:rPr sz="1800" spc="-15" dirty="0">
                <a:solidFill>
                  <a:srgbClr val="000000"/>
                </a:solidFill>
                <a:latin typeface="Constantia"/>
                <a:cs typeface="Constantia"/>
              </a:rPr>
              <a:t> </a:t>
            </a:r>
            <a:r>
              <a:rPr sz="1800" spc="-10" dirty="0">
                <a:solidFill>
                  <a:srgbClr val="000000"/>
                </a:solidFill>
                <a:latin typeface="Constantia"/>
                <a:cs typeface="Constantia"/>
              </a:rPr>
              <a:t>and </a:t>
            </a:r>
            <a:r>
              <a:rPr sz="1800" spc="-434" dirty="0">
                <a:solidFill>
                  <a:srgbClr val="000000"/>
                </a:solidFill>
                <a:latin typeface="Constantia"/>
                <a:cs typeface="Constantia"/>
              </a:rPr>
              <a:t> </a:t>
            </a:r>
            <a:r>
              <a:rPr sz="1800" spc="-10" dirty="0">
                <a:solidFill>
                  <a:srgbClr val="000000"/>
                </a:solidFill>
                <a:latin typeface="Constantia"/>
                <a:cs typeface="Constantia"/>
              </a:rPr>
              <a:t>its</a:t>
            </a:r>
            <a:r>
              <a:rPr sz="1800" spc="-110" dirty="0">
                <a:solidFill>
                  <a:srgbClr val="000000"/>
                </a:solidFill>
                <a:latin typeface="Constantia"/>
                <a:cs typeface="Constantia"/>
              </a:rPr>
              <a:t> </a:t>
            </a:r>
            <a:r>
              <a:rPr sz="1800" spc="-15" dirty="0">
                <a:solidFill>
                  <a:srgbClr val="000000"/>
                </a:solidFill>
                <a:latin typeface="Constantia"/>
                <a:cs typeface="Constantia"/>
              </a:rPr>
              <a:t>conjugate</a:t>
            </a:r>
            <a:r>
              <a:rPr sz="1800" spc="-60" dirty="0">
                <a:solidFill>
                  <a:srgbClr val="000000"/>
                </a:solidFill>
                <a:latin typeface="Constantia"/>
                <a:cs typeface="Constantia"/>
              </a:rPr>
              <a:t> </a:t>
            </a:r>
            <a:r>
              <a:rPr sz="1800" spc="-5" dirty="0">
                <a:solidFill>
                  <a:srgbClr val="000000"/>
                </a:solidFill>
                <a:latin typeface="Constantia"/>
                <a:cs typeface="Constantia"/>
              </a:rPr>
              <a:t>base</a:t>
            </a:r>
            <a:r>
              <a:rPr sz="1800" spc="-40" dirty="0">
                <a:solidFill>
                  <a:srgbClr val="000000"/>
                </a:solidFill>
                <a:latin typeface="Constantia"/>
                <a:cs typeface="Constantia"/>
              </a:rPr>
              <a:t> </a:t>
            </a:r>
            <a:r>
              <a:rPr sz="1800" spc="-5" dirty="0">
                <a:solidFill>
                  <a:srgbClr val="000000"/>
                </a:solidFill>
                <a:latin typeface="Constantia"/>
                <a:cs typeface="Constantia"/>
              </a:rPr>
              <a:t>is</a:t>
            </a:r>
            <a:r>
              <a:rPr sz="1800" spc="-105" dirty="0">
                <a:solidFill>
                  <a:srgbClr val="000000"/>
                </a:solidFill>
                <a:latin typeface="Constantia"/>
                <a:cs typeface="Constantia"/>
              </a:rPr>
              <a:t> </a:t>
            </a:r>
            <a:r>
              <a:rPr sz="1800" spc="-5" dirty="0">
                <a:solidFill>
                  <a:srgbClr val="000000"/>
                </a:solidFill>
                <a:latin typeface="Constantia"/>
                <a:cs typeface="Constantia"/>
              </a:rPr>
              <a:t>easily</a:t>
            </a:r>
            <a:r>
              <a:rPr sz="1800" spc="-140" dirty="0">
                <a:solidFill>
                  <a:srgbClr val="000000"/>
                </a:solidFill>
                <a:latin typeface="Constantia"/>
                <a:cs typeface="Constantia"/>
              </a:rPr>
              <a:t> </a:t>
            </a:r>
            <a:r>
              <a:rPr sz="1800" spc="-5" dirty="0">
                <a:solidFill>
                  <a:srgbClr val="000000"/>
                </a:solidFill>
                <a:latin typeface="Constantia"/>
                <a:cs typeface="Constantia"/>
              </a:rPr>
              <a:t>derived.</a:t>
            </a:r>
            <a:endParaRPr sz="1800">
              <a:latin typeface="Constantia"/>
              <a:cs typeface="Constantia"/>
            </a:endParaRPr>
          </a:p>
        </p:txBody>
      </p:sp>
      <p:sp>
        <p:nvSpPr>
          <p:cNvPr id="3" name="object 3"/>
          <p:cNvSpPr txBox="1"/>
          <p:nvPr/>
        </p:nvSpPr>
        <p:spPr>
          <a:xfrm>
            <a:off x="523544" y="1094359"/>
            <a:ext cx="3615054" cy="1791335"/>
          </a:xfrm>
          <a:prstGeom prst="rect">
            <a:avLst/>
          </a:prstGeom>
        </p:spPr>
        <p:txBody>
          <a:bodyPr vert="horz" wrap="square" lIns="0" tIns="12700" rIns="0" bIns="0" rtlCol="0">
            <a:spAutoFit/>
          </a:bodyPr>
          <a:lstStyle/>
          <a:p>
            <a:pPr marL="887730">
              <a:lnSpc>
                <a:spcPts val="2039"/>
              </a:lnSpc>
              <a:spcBef>
                <a:spcPts val="100"/>
              </a:spcBef>
            </a:pPr>
            <a:r>
              <a:rPr sz="1800" b="1" spc="-5" dirty="0">
                <a:latin typeface="Constantia"/>
                <a:cs typeface="Constantia"/>
              </a:rPr>
              <a:t>[НА]</a:t>
            </a:r>
            <a:endParaRPr sz="1800">
              <a:latin typeface="Constantia"/>
              <a:cs typeface="Constantia"/>
            </a:endParaRPr>
          </a:p>
          <a:p>
            <a:pPr marR="1942464" algn="ctr">
              <a:lnSpc>
                <a:spcPts val="1945"/>
              </a:lnSpc>
            </a:pPr>
            <a:r>
              <a:rPr sz="1800" b="1" spc="-5" dirty="0">
                <a:latin typeface="Constantia"/>
                <a:cs typeface="Constantia"/>
              </a:rPr>
              <a:t>[Н</a:t>
            </a:r>
            <a:r>
              <a:rPr sz="1725" b="1" spc="-7" baseline="28985" dirty="0">
                <a:latin typeface="Constantia"/>
                <a:cs typeface="Constantia"/>
              </a:rPr>
              <a:t>+</a:t>
            </a:r>
            <a:r>
              <a:rPr sz="1800" b="1" spc="-5" dirty="0">
                <a:latin typeface="Constantia"/>
                <a:cs typeface="Constantia"/>
              </a:rPr>
              <a:t>]=</a:t>
            </a:r>
            <a:r>
              <a:rPr sz="1800" b="1" spc="-100" dirty="0">
                <a:latin typeface="Constantia"/>
                <a:cs typeface="Constantia"/>
              </a:rPr>
              <a:t> </a:t>
            </a:r>
            <a:r>
              <a:rPr sz="1800" b="1" dirty="0">
                <a:latin typeface="Constantia"/>
                <a:cs typeface="Constantia"/>
              </a:rPr>
              <a:t>K</a:t>
            </a:r>
            <a:r>
              <a:rPr sz="1800" b="1" spc="-85" dirty="0">
                <a:latin typeface="Constantia"/>
                <a:cs typeface="Constantia"/>
              </a:rPr>
              <a:t> </a:t>
            </a:r>
            <a:r>
              <a:rPr sz="1800" b="1" spc="-5" dirty="0">
                <a:latin typeface="Constantia"/>
                <a:cs typeface="Constantia"/>
              </a:rPr>
              <a:t>----------</a:t>
            </a:r>
            <a:endParaRPr sz="1800">
              <a:latin typeface="Constantia"/>
              <a:cs typeface="Constantia"/>
            </a:endParaRPr>
          </a:p>
          <a:p>
            <a:pPr marR="1243330" algn="ctr">
              <a:lnSpc>
                <a:spcPts val="1945"/>
              </a:lnSpc>
            </a:pPr>
            <a:r>
              <a:rPr sz="1800" b="1" dirty="0">
                <a:latin typeface="Constantia"/>
                <a:cs typeface="Constantia"/>
              </a:rPr>
              <a:t>[А</a:t>
            </a:r>
            <a:r>
              <a:rPr sz="1725" b="1" baseline="28985" dirty="0">
                <a:latin typeface="Constantia"/>
                <a:cs typeface="Constantia"/>
              </a:rPr>
              <a:t>-</a:t>
            </a:r>
            <a:r>
              <a:rPr sz="1800" b="1" dirty="0">
                <a:latin typeface="Constantia"/>
                <a:cs typeface="Constantia"/>
              </a:rPr>
              <a:t>]</a:t>
            </a:r>
            <a:endParaRPr sz="1800">
              <a:latin typeface="Constantia"/>
              <a:cs typeface="Constantia"/>
            </a:endParaRPr>
          </a:p>
          <a:p>
            <a:pPr algn="ctr">
              <a:lnSpc>
                <a:spcPts val="1935"/>
              </a:lnSpc>
            </a:pPr>
            <a:r>
              <a:rPr sz="1800" spc="-5" dirty="0">
                <a:latin typeface="Constantia"/>
                <a:cs typeface="Constantia"/>
              </a:rPr>
              <a:t>Taking</a:t>
            </a:r>
            <a:r>
              <a:rPr sz="1800" spc="-75" dirty="0">
                <a:latin typeface="Constantia"/>
                <a:cs typeface="Constantia"/>
              </a:rPr>
              <a:t> </a:t>
            </a:r>
            <a:r>
              <a:rPr sz="1800" spc="-10" dirty="0">
                <a:latin typeface="Constantia"/>
                <a:cs typeface="Constantia"/>
              </a:rPr>
              <a:t>the</a:t>
            </a:r>
            <a:r>
              <a:rPr sz="1800" spc="-95" dirty="0">
                <a:latin typeface="Constantia"/>
                <a:cs typeface="Constantia"/>
              </a:rPr>
              <a:t> </a:t>
            </a:r>
            <a:r>
              <a:rPr sz="1800" spc="-5" dirty="0">
                <a:latin typeface="Constantia"/>
                <a:cs typeface="Constantia"/>
              </a:rPr>
              <a:t>negative</a:t>
            </a:r>
            <a:r>
              <a:rPr sz="1800" spc="-65" dirty="0">
                <a:latin typeface="Constantia"/>
                <a:cs typeface="Constantia"/>
              </a:rPr>
              <a:t> </a:t>
            </a:r>
            <a:r>
              <a:rPr sz="1800" dirty="0">
                <a:latin typeface="Constantia"/>
                <a:cs typeface="Constantia"/>
              </a:rPr>
              <a:t>log</a:t>
            </a:r>
            <a:r>
              <a:rPr sz="1800" spc="-100" dirty="0">
                <a:latin typeface="Constantia"/>
                <a:cs typeface="Constantia"/>
              </a:rPr>
              <a:t> </a:t>
            </a:r>
            <a:r>
              <a:rPr sz="1800" spc="5" dirty="0">
                <a:latin typeface="Constantia"/>
                <a:cs typeface="Constantia"/>
              </a:rPr>
              <a:t>of</a:t>
            </a:r>
            <a:r>
              <a:rPr sz="1800" spc="-55" dirty="0">
                <a:latin typeface="Constantia"/>
                <a:cs typeface="Constantia"/>
              </a:rPr>
              <a:t> </a:t>
            </a:r>
            <a:r>
              <a:rPr sz="1800" dirty="0">
                <a:latin typeface="Constantia"/>
                <a:cs typeface="Constantia"/>
              </a:rPr>
              <a:t>each</a:t>
            </a:r>
            <a:r>
              <a:rPr sz="1800" spc="-80" dirty="0">
                <a:latin typeface="Constantia"/>
                <a:cs typeface="Constantia"/>
              </a:rPr>
              <a:t> </a:t>
            </a:r>
            <a:r>
              <a:rPr sz="1800" spc="-5" dirty="0">
                <a:latin typeface="Constantia"/>
                <a:cs typeface="Constantia"/>
              </a:rPr>
              <a:t>term</a:t>
            </a:r>
            <a:endParaRPr sz="1800">
              <a:latin typeface="Constantia"/>
              <a:cs typeface="Constantia"/>
            </a:endParaRPr>
          </a:p>
          <a:p>
            <a:pPr marL="346075" algn="ctr">
              <a:lnSpc>
                <a:spcPts val="1945"/>
              </a:lnSpc>
            </a:pPr>
            <a:r>
              <a:rPr sz="1800" b="1" dirty="0">
                <a:latin typeface="Constantia"/>
                <a:cs typeface="Constantia"/>
              </a:rPr>
              <a:t>[А</a:t>
            </a:r>
            <a:r>
              <a:rPr sz="1725" b="1" baseline="28985" dirty="0">
                <a:latin typeface="Constantia"/>
                <a:cs typeface="Constantia"/>
              </a:rPr>
              <a:t>-</a:t>
            </a:r>
            <a:r>
              <a:rPr sz="1800" b="1" dirty="0">
                <a:latin typeface="Constantia"/>
                <a:cs typeface="Constantia"/>
              </a:rPr>
              <a:t>]</a:t>
            </a:r>
            <a:endParaRPr sz="1800">
              <a:latin typeface="Constantia"/>
              <a:cs typeface="Constantia"/>
            </a:endParaRPr>
          </a:p>
          <a:p>
            <a:pPr marR="982980" algn="ctr">
              <a:lnSpc>
                <a:spcPts val="1989"/>
              </a:lnSpc>
            </a:pPr>
            <a:r>
              <a:rPr sz="1800" b="1" dirty="0">
                <a:latin typeface="Constantia"/>
                <a:cs typeface="Constantia"/>
              </a:rPr>
              <a:t>рН</a:t>
            </a:r>
            <a:r>
              <a:rPr sz="1800" b="1" spc="-65" dirty="0">
                <a:latin typeface="Constantia"/>
                <a:cs typeface="Constantia"/>
              </a:rPr>
              <a:t> </a:t>
            </a:r>
            <a:r>
              <a:rPr sz="1800" b="1" dirty="0">
                <a:latin typeface="Constantia"/>
                <a:cs typeface="Constantia"/>
              </a:rPr>
              <a:t>=</a:t>
            </a:r>
            <a:r>
              <a:rPr sz="1800" b="1" spc="-45" dirty="0">
                <a:latin typeface="Constantia"/>
                <a:cs typeface="Constantia"/>
              </a:rPr>
              <a:t> </a:t>
            </a:r>
            <a:r>
              <a:rPr sz="1800" b="1" dirty="0">
                <a:latin typeface="Constantia"/>
                <a:cs typeface="Constantia"/>
              </a:rPr>
              <a:t>-</a:t>
            </a:r>
            <a:r>
              <a:rPr sz="1800" b="1" spc="-40" dirty="0">
                <a:latin typeface="Constantia"/>
                <a:cs typeface="Constantia"/>
              </a:rPr>
              <a:t> </a:t>
            </a:r>
            <a:r>
              <a:rPr sz="1800" b="1" dirty="0">
                <a:latin typeface="Constantia"/>
                <a:cs typeface="Constantia"/>
              </a:rPr>
              <a:t>log</a:t>
            </a:r>
            <a:r>
              <a:rPr sz="1800" b="1" spc="-25" dirty="0">
                <a:latin typeface="Constantia"/>
                <a:cs typeface="Constantia"/>
              </a:rPr>
              <a:t> </a:t>
            </a:r>
            <a:r>
              <a:rPr sz="1800" b="1" dirty="0">
                <a:latin typeface="Constantia"/>
                <a:cs typeface="Constantia"/>
              </a:rPr>
              <a:t>К</a:t>
            </a:r>
            <a:r>
              <a:rPr sz="1800" b="1" spc="-55" dirty="0">
                <a:latin typeface="Constantia"/>
                <a:cs typeface="Constantia"/>
              </a:rPr>
              <a:t> </a:t>
            </a:r>
            <a:r>
              <a:rPr sz="1800" b="1" dirty="0">
                <a:latin typeface="Constantia"/>
                <a:cs typeface="Constantia"/>
              </a:rPr>
              <a:t>+</a:t>
            </a:r>
            <a:r>
              <a:rPr sz="1800" b="1" spc="-50" dirty="0">
                <a:latin typeface="Constantia"/>
                <a:cs typeface="Constantia"/>
              </a:rPr>
              <a:t> </a:t>
            </a:r>
            <a:r>
              <a:rPr sz="1800" b="1" dirty="0">
                <a:latin typeface="Constantia"/>
                <a:cs typeface="Constantia"/>
              </a:rPr>
              <a:t>log</a:t>
            </a:r>
            <a:r>
              <a:rPr sz="1800" b="1" spc="-25" dirty="0">
                <a:latin typeface="Constantia"/>
                <a:cs typeface="Constantia"/>
              </a:rPr>
              <a:t> </a:t>
            </a:r>
            <a:r>
              <a:rPr sz="1800" b="1" spc="-10" dirty="0">
                <a:latin typeface="Constantia"/>
                <a:cs typeface="Constantia"/>
              </a:rPr>
              <a:t>---------</a:t>
            </a:r>
            <a:endParaRPr sz="1800">
              <a:latin typeface="Constantia"/>
              <a:cs typeface="Constantia"/>
            </a:endParaRPr>
          </a:p>
          <a:p>
            <a:pPr marL="474345" algn="ctr">
              <a:lnSpc>
                <a:spcPts val="2100"/>
              </a:lnSpc>
            </a:pPr>
            <a:r>
              <a:rPr sz="1800" b="1" dirty="0">
                <a:latin typeface="Constantia"/>
                <a:cs typeface="Constantia"/>
              </a:rPr>
              <a:t>[А</a:t>
            </a:r>
            <a:r>
              <a:rPr sz="1725" b="1" baseline="28985" dirty="0">
                <a:latin typeface="Constantia"/>
                <a:cs typeface="Constantia"/>
              </a:rPr>
              <a:t>-</a:t>
            </a:r>
            <a:r>
              <a:rPr sz="1800" b="1" dirty="0">
                <a:latin typeface="Constantia"/>
                <a:cs typeface="Constantia"/>
              </a:rPr>
              <a:t>]</a:t>
            </a:r>
            <a:endParaRPr sz="1800">
              <a:latin typeface="Constantia"/>
              <a:cs typeface="Constantia"/>
            </a:endParaRPr>
          </a:p>
        </p:txBody>
      </p:sp>
      <p:sp>
        <p:nvSpPr>
          <p:cNvPr id="4" name="object 4"/>
          <p:cNvSpPr txBox="1"/>
          <p:nvPr/>
        </p:nvSpPr>
        <p:spPr>
          <a:xfrm>
            <a:off x="536244" y="4738496"/>
            <a:ext cx="8044815" cy="1050290"/>
          </a:xfrm>
          <a:prstGeom prst="rect">
            <a:avLst/>
          </a:prstGeom>
        </p:spPr>
        <p:txBody>
          <a:bodyPr vert="horz" wrap="square" lIns="0" tIns="48895" rIns="0" bIns="0" rtlCol="0">
            <a:spAutoFit/>
          </a:bodyPr>
          <a:lstStyle/>
          <a:p>
            <a:pPr marL="12700" marR="5080">
              <a:lnSpc>
                <a:spcPct val="90000"/>
              </a:lnSpc>
              <a:spcBef>
                <a:spcPts val="385"/>
              </a:spcBef>
            </a:pPr>
            <a:r>
              <a:rPr sz="2400" spc="-5" dirty="0">
                <a:latin typeface="Times New Roman"/>
                <a:cs typeface="Times New Roman"/>
              </a:rPr>
              <a:t>This</a:t>
            </a:r>
            <a:r>
              <a:rPr sz="2400" spc="5" dirty="0">
                <a:latin typeface="Times New Roman"/>
                <a:cs typeface="Times New Roman"/>
              </a:rPr>
              <a:t> </a:t>
            </a:r>
            <a:r>
              <a:rPr sz="2400" spc="-5" dirty="0">
                <a:latin typeface="Times New Roman"/>
                <a:cs typeface="Times New Roman"/>
              </a:rPr>
              <a:t>relationship</a:t>
            </a:r>
            <a:r>
              <a:rPr sz="2400" spc="5" dirty="0">
                <a:latin typeface="Times New Roman"/>
                <a:cs typeface="Times New Roman"/>
              </a:rPr>
              <a:t> </a:t>
            </a:r>
            <a:r>
              <a:rPr sz="2400" spc="-5" dirty="0">
                <a:latin typeface="Times New Roman"/>
                <a:cs typeface="Times New Roman"/>
              </a:rPr>
              <a:t>known</a:t>
            </a:r>
            <a:r>
              <a:rPr sz="2400" spc="5" dirty="0">
                <a:latin typeface="Times New Roman"/>
                <a:cs typeface="Times New Roman"/>
              </a:rPr>
              <a:t> </a:t>
            </a:r>
            <a:r>
              <a:rPr sz="2400" spc="-10" dirty="0">
                <a:latin typeface="Times New Roman"/>
                <a:cs typeface="Times New Roman"/>
              </a:rPr>
              <a:t>as</a:t>
            </a:r>
            <a:r>
              <a:rPr sz="2400" spc="5" dirty="0">
                <a:latin typeface="Times New Roman"/>
                <a:cs typeface="Times New Roman"/>
              </a:rPr>
              <a:t> </a:t>
            </a:r>
            <a:r>
              <a:rPr sz="2400" dirty="0">
                <a:latin typeface="Times New Roman"/>
                <a:cs typeface="Times New Roman"/>
              </a:rPr>
              <a:t>the</a:t>
            </a:r>
            <a:r>
              <a:rPr sz="2400" spc="5" dirty="0">
                <a:latin typeface="Times New Roman"/>
                <a:cs typeface="Times New Roman"/>
              </a:rPr>
              <a:t> </a:t>
            </a:r>
            <a:r>
              <a:rPr sz="2400" spc="-5" dirty="0">
                <a:latin typeface="Times New Roman"/>
                <a:cs typeface="Times New Roman"/>
              </a:rPr>
              <a:t>Henderson</a:t>
            </a:r>
            <a:r>
              <a:rPr sz="2400" spc="5" dirty="0">
                <a:latin typeface="Times New Roman"/>
                <a:cs typeface="Times New Roman"/>
              </a:rPr>
              <a:t> </a:t>
            </a:r>
            <a:r>
              <a:rPr sz="2400" dirty="0">
                <a:latin typeface="Times New Roman"/>
                <a:cs typeface="Times New Roman"/>
              </a:rPr>
              <a:t>equation,</a:t>
            </a:r>
            <a:r>
              <a:rPr sz="2400" spc="5" dirty="0">
                <a:latin typeface="Times New Roman"/>
                <a:cs typeface="Times New Roman"/>
              </a:rPr>
              <a:t> </a:t>
            </a:r>
            <a:r>
              <a:rPr sz="2400" dirty="0">
                <a:latin typeface="Times New Roman"/>
                <a:cs typeface="Times New Roman"/>
              </a:rPr>
              <a:t>that</a:t>
            </a:r>
            <a:r>
              <a:rPr sz="2400" spc="5" dirty="0">
                <a:latin typeface="Times New Roman"/>
                <a:cs typeface="Times New Roman"/>
              </a:rPr>
              <a:t> </a:t>
            </a:r>
            <a:r>
              <a:rPr sz="2400" spc="-5" dirty="0">
                <a:latin typeface="Times New Roman"/>
                <a:cs typeface="Times New Roman"/>
              </a:rPr>
              <a:t>is</a:t>
            </a:r>
            <a:r>
              <a:rPr sz="2400" spc="10" dirty="0">
                <a:latin typeface="Times New Roman"/>
                <a:cs typeface="Times New Roman"/>
              </a:rPr>
              <a:t> </a:t>
            </a:r>
            <a:r>
              <a:rPr sz="2400" spc="-5" dirty="0">
                <a:latin typeface="Times New Roman"/>
                <a:cs typeface="Times New Roman"/>
              </a:rPr>
              <a:t>often </a:t>
            </a:r>
            <a:r>
              <a:rPr sz="2400" dirty="0">
                <a:latin typeface="Times New Roman"/>
                <a:cs typeface="Times New Roman"/>
              </a:rPr>
              <a:t> </a:t>
            </a:r>
            <a:r>
              <a:rPr sz="2400" spc="-5" dirty="0">
                <a:latin typeface="Times New Roman"/>
                <a:cs typeface="Times New Roman"/>
              </a:rPr>
              <a:t>used</a:t>
            </a:r>
            <a:r>
              <a:rPr sz="2400" spc="-20" dirty="0">
                <a:latin typeface="Times New Roman"/>
                <a:cs typeface="Times New Roman"/>
              </a:rPr>
              <a:t> </a:t>
            </a:r>
            <a:r>
              <a:rPr sz="2400" dirty="0">
                <a:latin typeface="Times New Roman"/>
                <a:cs typeface="Times New Roman"/>
              </a:rPr>
              <a:t>to</a:t>
            </a:r>
            <a:r>
              <a:rPr sz="2400" spc="5" dirty="0">
                <a:latin typeface="Times New Roman"/>
                <a:cs typeface="Times New Roman"/>
              </a:rPr>
              <a:t> </a:t>
            </a:r>
            <a:r>
              <a:rPr sz="2400" spc="-5" dirty="0">
                <a:latin typeface="Times New Roman"/>
                <a:cs typeface="Times New Roman"/>
              </a:rPr>
              <a:t>perform</a:t>
            </a:r>
            <a:r>
              <a:rPr sz="2400" spc="-20" dirty="0">
                <a:latin typeface="Times New Roman"/>
                <a:cs typeface="Times New Roman"/>
              </a:rPr>
              <a:t> </a:t>
            </a:r>
            <a:r>
              <a:rPr sz="2400" dirty="0">
                <a:latin typeface="Times New Roman"/>
                <a:cs typeface="Times New Roman"/>
              </a:rPr>
              <a:t>the </a:t>
            </a:r>
            <a:r>
              <a:rPr sz="2400" spc="-5" dirty="0">
                <a:latin typeface="Times New Roman"/>
                <a:cs typeface="Times New Roman"/>
              </a:rPr>
              <a:t>calculations</a:t>
            </a:r>
            <a:r>
              <a:rPr sz="2400" spc="-30" dirty="0">
                <a:latin typeface="Times New Roman"/>
                <a:cs typeface="Times New Roman"/>
              </a:rPr>
              <a:t> </a:t>
            </a:r>
            <a:r>
              <a:rPr sz="2400" spc="-5" dirty="0">
                <a:latin typeface="Times New Roman"/>
                <a:cs typeface="Times New Roman"/>
              </a:rPr>
              <a:t>required</a:t>
            </a:r>
            <a:r>
              <a:rPr sz="2400" spc="-40" dirty="0">
                <a:latin typeface="Times New Roman"/>
                <a:cs typeface="Times New Roman"/>
              </a:rPr>
              <a:t> </a:t>
            </a:r>
            <a:r>
              <a:rPr sz="2400" dirty="0">
                <a:latin typeface="Times New Roman"/>
                <a:cs typeface="Times New Roman"/>
              </a:rPr>
              <a:t>in</a:t>
            </a:r>
            <a:r>
              <a:rPr sz="2400" spc="5" dirty="0">
                <a:latin typeface="Times New Roman"/>
                <a:cs typeface="Times New Roman"/>
              </a:rPr>
              <a:t> </a:t>
            </a:r>
            <a:r>
              <a:rPr sz="2400" spc="-5" dirty="0">
                <a:latin typeface="Times New Roman"/>
                <a:cs typeface="Times New Roman"/>
              </a:rPr>
              <a:t>preparation</a:t>
            </a:r>
            <a:r>
              <a:rPr sz="2400" spc="-35" dirty="0">
                <a:latin typeface="Times New Roman"/>
                <a:cs typeface="Times New Roman"/>
              </a:rPr>
              <a:t> </a:t>
            </a:r>
            <a:r>
              <a:rPr sz="2400" dirty="0">
                <a:latin typeface="Times New Roman"/>
                <a:cs typeface="Times New Roman"/>
              </a:rPr>
              <a:t>of </a:t>
            </a:r>
            <a:r>
              <a:rPr sz="2400" spc="-5" dirty="0">
                <a:latin typeface="Times New Roman"/>
                <a:cs typeface="Times New Roman"/>
              </a:rPr>
              <a:t>buffers </a:t>
            </a:r>
            <a:r>
              <a:rPr sz="2400" spc="-585" dirty="0">
                <a:latin typeface="Times New Roman"/>
                <a:cs typeface="Times New Roman"/>
              </a:rPr>
              <a:t> </a:t>
            </a:r>
            <a:r>
              <a:rPr sz="2400" dirty="0">
                <a:latin typeface="Times New Roman"/>
                <a:cs typeface="Times New Roman"/>
              </a:rPr>
              <a:t>for</a:t>
            </a:r>
            <a:r>
              <a:rPr sz="2400" spc="-45" dirty="0">
                <a:latin typeface="Times New Roman"/>
                <a:cs typeface="Times New Roman"/>
              </a:rPr>
              <a:t> </a:t>
            </a:r>
            <a:r>
              <a:rPr sz="2400" spc="-5" dirty="0">
                <a:latin typeface="Times New Roman"/>
                <a:cs typeface="Times New Roman"/>
              </a:rPr>
              <a:t>use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spc="-5" dirty="0">
                <a:latin typeface="Times New Roman"/>
                <a:cs typeface="Times New Roman"/>
              </a:rPr>
              <a:t>laboratory,</a:t>
            </a:r>
            <a:r>
              <a:rPr sz="2400" spc="-20" dirty="0">
                <a:latin typeface="Times New Roman"/>
                <a:cs typeface="Times New Roman"/>
              </a:rPr>
              <a:t> </a:t>
            </a:r>
            <a:r>
              <a:rPr sz="2400" dirty="0">
                <a:latin typeface="Times New Roman"/>
                <a:cs typeface="Times New Roman"/>
              </a:rPr>
              <a:t>or</a:t>
            </a:r>
            <a:r>
              <a:rPr sz="2400" spc="-35" dirty="0">
                <a:latin typeface="Times New Roman"/>
                <a:cs typeface="Times New Roman"/>
              </a:rPr>
              <a:t> </a:t>
            </a:r>
            <a:r>
              <a:rPr sz="2400" dirty="0">
                <a:latin typeface="Times New Roman"/>
                <a:cs typeface="Times New Roman"/>
              </a:rPr>
              <a:t>other</a:t>
            </a:r>
            <a:r>
              <a:rPr sz="2400" spc="-15" dirty="0">
                <a:latin typeface="Times New Roman"/>
                <a:cs typeface="Times New Roman"/>
              </a:rPr>
              <a:t> </a:t>
            </a:r>
            <a:r>
              <a:rPr sz="2400" dirty="0">
                <a:latin typeface="Times New Roman"/>
                <a:cs typeface="Times New Roman"/>
              </a:rPr>
              <a:t>applications.</a:t>
            </a:r>
            <a:endParaRPr sz="2400">
              <a:latin typeface="Times New Roman"/>
              <a:cs typeface="Times New Roman"/>
            </a:endParaRPr>
          </a:p>
        </p:txBody>
      </p:sp>
      <p:pic>
        <p:nvPicPr>
          <p:cNvPr id="5" name="object 5"/>
          <p:cNvPicPr/>
          <p:nvPr/>
        </p:nvPicPr>
        <p:blipFill>
          <a:blip r:embed="rId2" cstate="print"/>
          <a:stretch>
            <a:fillRect/>
          </a:stretch>
        </p:blipFill>
        <p:spPr>
          <a:xfrm>
            <a:off x="219075" y="3047364"/>
            <a:ext cx="3642360" cy="1017905"/>
          </a:xfrm>
          <a:prstGeom prst="rect">
            <a:avLst/>
          </a:prstGeom>
        </p:spPr>
      </p:pic>
      <p:pic>
        <p:nvPicPr>
          <p:cNvPr id="6" name="object 6"/>
          <p:cNvPicPr/>
          <p:nvPr/>
        </p:nvPicPr>
        <p:blipFill>
          <a:blip r:embed="rId3" cstate="print"/>
          <a:stretch>
            <a:fillRect/>
          </a:stretch>
        </p:blipFill>
        <p:spPr>
          <a:xfrm>
            <a:off x="4185920" y="3235960"/>
            <a:ext cx="4643247" cy="895984"/>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7200" y="381001"/>
            <a:ext cx="7107859" cy="1547859"/>
          </a:xfrm>
          <a:prstGeom prst="rect">
            <a:avLst/>
          </a:prstGeom>
        </p:spPr>
        <p:txBody>
          <a:bodyPr vert="horz" wrap="square" lIns="0" tIns="110489" rIns="0" bIns="0" rtlCol="0">
            <a:spAutoFit/>
          </a:bodyPr>
          <a:lstStyle/>
          <a:p>
            <a:pPr marL="353695" indent="-341630">
              <a:spcBef>
                <a:spcPts val="869"/>
              </a:spcBef>
              <a:buFont typeface="Microsoft Sans Serif"/>
              <a:buChar char="•"/>
              <a:tabLst>
                <a:tab pos="353695" algn="l"/>
                <a:tab pos="354330" algn="l"/>
              </a:tabLst>
            </a:pPr>
            <a:r>
              <a:rPr sz="2000" spc="-5" dirty="0">
                <a:solidFill>
                  <a:srgbClr val="C00000"/>
                </a:solidFill>
                <a:latin typeface="Calibri"/>
                <a:cs typeface="Calibri"/>
              </a:rPr>
              <a:t>Measurement</a:t>
            </a:r>
            <a:r>
              <a:rPr sz="2000" spc="-45" dirty="0">
                <a:solidFill>
                  <a:srgbClr val="C00000"/>
                </a:solidFill>
                <a:latin typeface="Calibri"/>
                <a:cs typeface="Calibri"/>
              </a:rPr>
              <a:t> </a:t>
            </a:r>
            <a:r>
              <a:rPr sz="2000" spc="-5" dirty="0">
                <a:solidFill>
                  <a:srgbClr val="C00000"/>
                </a:solidFill>
                <a:latin typeface="Calibri"/>
                <a:cs typeface="Calibri"/>
              </a:rPr>
              <a:t>of</a:t>
            </a:r>
            <a:r>
              <a:rPr sz="2000" spc="-40" dirty="0">
                <a:solidFill>
                  <a:srgbClr val="C00000"/>
                </a:solidFill>
                <a:latin typeface="Calibri"/>
                <a:cs typeface="Calibri"/>
              </a:rPr>
              <a:t> </a:t>
            </a:r>
            <a:r>
              <a:rPr sz="2000" spc="5" dirty="0">
                <a:solidFill>
                  <a:srgbClr val="C00000"/>
                </a:solidFill>
                <a:latin typeface="Calibri"/>
                <a:cs typeface="Calibri"/>
              </a:rPr>
              <a:t>pH</a:t>
            </a:r>
            <a:r>
              <a:rPr sz="2000" spc="-20" dirty="0">
                <a:solidFill>
                  <a:srgbClr val="C00000"/>
                </a:solidFill>
                <a:latin typeface="Calibri"/>
                <a:cs typeface="Calibri"/>
              </a:rPr>
              <a:t> </a:t>
            </a:r>
            <a:r>
              <a:rPr sz="2000" dirty="0">
                <a:solidFill>
                  <a:srgbClr val="C00000"/>
                </a:solidFill>
                <a:latin typeface="Calibri"/>
                <a:cs typeface="Calibri"/>
              </a:rPr>
              <a:t>:</a:t>
            </a:r>
            <a:r>
              <a:rPr sz="2000" dirty="0">
                <a:solidFill>
                  <a:srgbClr val="C00000"/>
                </a:solidFill>
                <a:latin typeface="Microsoft Sans Serif"/>
                <a:cs typeface="Microsoft Sans Serif"/>
              </a:rPr>
              <a:t> </a:t>
            </a:r>
            <a:endParaRPr sz="2000">
              <a:latin typeface="Microsoft Sans Serif"/>
              <a:cs typeface="Microsoft Sans Serif"/>
            </a:endParaRPr>
          </a:p>
          <a:p>
            <a:pPr marL="353695" marR="5080" indent="-341630">
              <a:spcBef>
                <a:spcPts val="915"/>
              </a:spcBef>
              <a:buFont typeface="Microsoft Sans Serif"/>
              <a:buChar char="•"/>
              <a:tabLst>
                <a:tab pos="353695" algn="l"/>
                <a:tab pos="354330" algn="l"/>
              </a:tabLst>
            </a:pPr>
            <a:r>
              <a:rPr sz="2000" spc="-5" dirty="0">
                <a:latin typeface="Calibri"/>
                <a:cs typeface="Calibri"/>
              </a:rPr>
              <a:t>pH</a:t>
            </a:r>
            <a:r>
              <a:rPr sz="2000" spc="-30" dirty="0">
                <a:latin typeface="Calibri"/>
                <a:cs typeface="Calibri"/>
              </a:rPr>
              <a:t> </a:t>
            </a:r>
            <a:r>
              <a:rPr sz="2000" spc="-10" dirty="0">
                <a:latin typeface="Calibri"/>
                <a:cs typeface="Calibri"/>
              </a:rPr>
              <a:t>meter</a:t>
            </a:r>
            <a:r>
              <a:rPr sz="2000" spc="-45" dirty="0">
                <a:latin typeface="Calibri"/>
                <a:cs typeface="Calibri"/>
              </a:rPr>
              <a:t> </a:t>
            </a:r>
            <a:r>
              <a:rPr sz="2000" dirty="0">
                <a:latin typeface="Calibri"/>
                <a:cs typeface="Calibri"/>
              </a:rPr>
              <a:t>is</a:t>
            </a:r>
            <a:r>
              <a:rPr sz="2000" spc="-35" dirty="0">
                <a:latin typeface="Calibri"/>
                <a:cs typeface="Calibri"/>
              </a:rPr>
              <a:t> </a:t>
            </a:r>
            <a:r>
              <a:rPr sz="2000" spc="-10" dirty="0">
                <a:latin typeface="Calibri"/>
                <a:cs typeface="Calibri"/>
              </a:rPr>
              <a:t>used</a:t>
            </a:r>
            <a:r>
              <a:rPr sz="2000" spc="-30" dirty="0">
                <a:latin typeface="Calibri"/>
                <a:cs typeface="Calibri"/>
              </a:rPr>
              <a:t> </a:t>
            </a:r>
            <a:r>
              <a:rPr sz="2000" spc="10" dirty="0">
                <a:latin typeface="Calibri"/>
                <a:cs typeface="Calibri"/>
              </a:rPr>
              <a:t>to</a:t>
            </a:r>
            <a:r>
              <a:rPr sz="2000" spc="-35" dirty="0">
                <a:latin typeface="Calibri"/>
                <a:cs typeface="Calibri"/>
              </a:rPr>
              <a:t> </a:t>
            </a:r>
            <a:r>
              <a:rPr sz="2000" spc="-5" dirty="0">
                <a:latin typeface="Calibri"/>
                <a:cs typeface="Calibri"/>
              </a:rPr>
              <a:t>determine</a:t>
            </a:r>
            <a:r>
              <a:rPr sz="2000" spc="-20" dirty="0">
                <a:latin typeface="Calibri"/>
                <a:cs typeface="Calibri"/>
              </a:rPr>
              <a:t> </a:t>
            </a:r>
            <a:r>
              <a:rPr sz="2000" spc="-5" dirty="0">
                <a:latin typeface="Calibri"/>
                <a:cs typeface="Calibri"/>
              </a:rPr>
              <a:t>pH</a:t>
            </a:r>
            <a:r>
              <a:rPr sz="2000" spc="-10" dirty="0">
                <a:latin typeface="Calibri"/>
                <a:cs typeface="Calibri"/>
              </a:rPr>
              <a:t> </a:t>
            </a:r>
            <a:r>
              <a:rPr sz="2000" spc="-5" dirty="0">
                <a:latin typeface="Calibri"/>
                <a:cs typeface="Calibri"/>
              </a:rPr>
              <a:t>of</a:t>
            </a:r>
            <a:r>
              <a:rPr sz="2000" dirty="0">
                <a:latin typeface="Calibri"/>
                <a:cs typeface="Calibri"/>
              </a:rPr>
              <a:t> </a:t>
            </a:r>
            <a:r>
              <a:rPr sz="2000" spc="-5" dirty="0">
                <a:latin typeface="Calibri"/>
                <a:cs typeface="Calibri"/>
              </a:rPr>
              <a:t>the </a:t>
            </a:r>
            <a:r>
              <a:rPr sz="2000" spc="-705" dirty="0">
                <a:latin typeface="Calibri"/>
                <a:cs typeface="Calibri"/>
              </a:rPr>
              <a:t> </a:t>
            </a:r>
            <a:r>
              <a:rPr sz="2000" spc="-5" dirty="0">
                <a:latin typeface="Calibri"/>
                <a:cs typeface="Calibri"/>
              </a:rPr>
              <a:t>solution</a:t>
            </a:r>
            <a:r>
              <a:rPr sz="2000" dirty="0">
                <a:latin typeface="Microsoft Sans Serif"/>
                <a:cs typeface="Microsoft Sans Serif"/>
              </a:rPr>
              <a:t> </a:t>
            </a:r>
            <a:endParaRPr sz="2000">
              <a:latin typeface="Microsoft Sans Serif"/>
              <a:cs typeface="Microsoft Sans Serif"/>
            </a:endParaRPr>
          </a:p>
          <a:p>
            <a:pPr marL="353695" marR="168275" indent="-341630">
              <a:spcBef>
                <a:spcPts val="655"/>
              </a:spcBef>
              <a:buFont typeface="Microsoft Sans Serif"/>
              <a:buChar char="•"/>
              <a:tabLst>
                <a:tab pos="353695" algn="l"/>
                <a:tab pos="354330" algn="l"/>
              </a:tabLst>
            </a:pPr>
            <a:r>
              <a:rPr sz="2000" spc="-10" dirty="0">
                <a:latin typeface="Calibri"/>
                <a:cs typeface="Calibri"/>
              </a:rPr>
              <a:t>Calomel</a:t>
            </a:r>
            <a:r>
              <a:rPr sz="2000" spc="-5" dirty="0">
                <a:latin typeface="Calibri"/>
                <a:cs typeface="Calibri"/>
              </a:rPr>
              <a:t> electrode</a:t>
            </a:r>
            <a:r>
              <a:rPr sz="2000" spc="5" dirty="0">
                <a:latin typeface="Calibri"/>
                <a:cs typeface="Calibri"/>
              </a:rPr>
              <a:t> </a:t>
            </a:r>
            <a:r>
              <a:rPr sz="2000" spc="-5" dirty="0">
                <a:latin typeface="Calibri"/>
                <a:cs typeface="Calibri"/>
              </a:rPr>
              <a:t>is</a:t>
            </a:r>
            <a:r>
              <a:rPr sz="2000" dirty="0">
                <a:latin typeface="Calibri"/>
                <a:cs typeface="Calibri"/>
              </a:rPr>
              <a:t> </a:t>
            </a:r>
            <a:r>
              <a:rPr sz="2000" spc="-10" dirty="0">
                <a:latin typeface="Calibri"/>
                <a:cs typeface="Calibri"/>
              </a:rPr>
              <a:t>used </a:t>
            </a:r>
            <a:r>
              <a:rPr sz="2000" spc="-5" dirty="0">
                <a:latin typeface="Calibri"/>
                <a:cs typeface="Calibri"/>
              </a:rPr>
              <a:t>as</a:t>
            </a:r>
            <a:r>
              <a:rPr sz="2000" spc="-10" dirty="0">
                <a:latin typeface="Calibri"/>
                <a:cs typeface="Calibri"/>
              </a:rPr>
              <a:t> </a:t>
            </a:r>
            <a:r>
              <a:rPr sz="2000" dirty="0">
                <a:latin typeface="Calibri"/>
                <a:cs typeface="Calibri"/>
              </a:rPr>
              <a:t>reference </a:t>
            </a:r>
            <a:r>
              <a:rPr sz="2000" spc="5" dirty="0">
                <a:latin typeface="Calibri"/>
                <a:cs typeface="Calibri"/>
              </a:rPr>
              <a:t> </a:t>
            </a:r>
            <a:r>
              <a:rPr sz="2000" spc="-10" dirty="0">
                <a:latin typeface="Calibri"/>
                <a:cs typeface="Calibri"/>
              </a:rPr>
              <a:t>electrode</a:t>
            </a:r>
            <a:r>
              <a:rPr sz="2000" spc="-55" dirty="0">
                <a:latin typeface="Calibri"/>
                <a:cs typeface="Calibri"/>
              </a:rPr>
              <a:t> </a:t>
            </a:r>
            <a:r>
              <a:rPr sz="2000" spc="-5" dirty="0">
                <a:latin typeface="Calibri"/>
                <a:cs typeface="Calibri"/>
              </a:rPr>
              <a:t>and</a:t>
            </a:r>
            <a:r>
              <a:rPr sz="2000" spc="5" dirty="0">
                <a:latin typeface="Calibri"/>
                <a:cs typeface="Calibri"/>
              </a:rPr>
              <a:t> </a:t>
            </a:r>
            <a:r>
              <a:rPr sz="2000" spc="-5" dirty="0">
                <a:latin typeface="Calibri"/>
                <a:cs typeface="Calibri"/>
              </a:rPr>
              <a:t>glass</a:t>
            </a:r>
            <a:r>
              <a:rPr sz="2000" dirty="0">
                <a:latin typeface="Calibri"/>
                <a:cs typeface="Calibri"/>
              </a:rPr>
              <a:t> </a:t>
            </a:r>
            <a:r>
              <a:rPr sz="2000" spc="-5" dirty="0">
                <a:latin typeface="Calibri"/>
                <a:cs typeface="Calibri"/>
              </a:rPr>
              <a:t>electrode</a:t>
            </a:r>
            <a:r>
              <a:rPr sz="2000" spc="-45" dirty="0">
                <a:latin typeface="Calibri"/>
                <a:cs typeface="Calibri"/>
              </a:rPr>
              <a:t> </a:t>
            </a:r>
            <a:r>
              <a:rPr sz="2000" dirty="0">
                <a:latin typeface="Calibri"/>
                <a:cs typeface="Calibri"/>
              </a:rPr>
              <a:t>is</a:t>
            </a:r>
            <a:r>
              <a:rPr sz="2000" spc="-25" dirty="0">
                <a:latin typeface="Calibri"/>
                <a:cs typeface="Calibri"/>
              </a:rPr>
              <a:t> </a:t>
            </a:r>
            <a:r>
              <a:rPr sz="2000" spc="-10" dirty="0">
                <a:latin typeface="Calibri"/>
                <a:cs typeface="Calibri"/>
              </a:rPr>
              <a:t>used</a:t>
            </a:r>
            <a:r>
              <a:rPr sz="2000" spc="-5" dirty="0">
                <a:latin typeface="Calibri"/>
                <a:cs typeface="Calibri"/>
              </a:rPr>
              <a:t> </a:t>
            </a:r>
            <a:r>
              <a:rPr sz="2000" dirty="0">
                <a:latin typeface="Calibri"/>
                <a:cs typeface="Calibri"/>
              </a:rPr>
              <a:t>as </a:t>
            </a:r>
            <a:r>
              <a:rPr sz="2000" spc="-710" dirty="0">
                <a:latin typeface="Calibri"/>
                <a:cs typeface="Calibri"/>
              </a:rPr>
              <a:t> </a:t>
            </a:r>
            <a:r>
              <a:rPr sz="2000" spc="-5" dirty="0">
                <a:latin typeface="Calibri"/>
                <a:cs typeface="Calibri"/>
              </a:rPr>
              <a:t>indicator</a:t>
            </a:r>
            <a:r>
              <a:rPr sz="2000" spc="-10" dirty="0">
                <a:latin typeface="Calibri"/>
                <a:cs typeface="Calibri"/>
              </a:rPr>
              <a:t> </a:t>
            </a:r>
            <a:r>
              <a:rPr sz="2000" spc="-5" dirty="0">
                <a:latin typeface="Calibri"/>
                <a:cs typeface="Calibri"/>
              </a:rPr>
              <a:t>electrode.</a:t>
            </a:r>
            <a:r>
              <a:rPr sz="2000" dirty="0">
                <a:latin typeface="Microsoft Sans Serif"/>
                <a:cs typeface="Microsoft Sans Serif"/>
              </a:rPr>
              <a:t> </a:t>
            </a:r>
            <a:endParaRPr sz="2000">
              <a:latin typeface="Microsoft Sans Serif"/>
              <a:cs typeface="Microsoft Sans Serif"/>
            </a:endParaRPr>
          </a:p>
        </p:txBody>
      </p:sp>
      <p:sp>
        <p:nvSpPr>
          <p:cNvPr id="3" name="object 2"/>
          <p:cNvSpPr txBox="1"/>
          <p:nvPr/>
        </p:nvSpPr>
        <p:spPr>
          <a:xfrm>
            <a:off x="381000" y="1905000"/>
            <a:ext cx="8208314" cy="1958227"/>
          </a:xfrm>
          <a:prstGeom prst="rect">
            <a:avLst/>
          </a:prstGeom>
        </p:spPr>
        <p:txBody>
          <a:bodyPr vert="horz" wrap="square" lIns="0" tIns="110489" rIns="0" bIns="0" rtlCol="0">
            <a:spAutoFit/>
          </a:bodyPr>
          <a:lstStyle/>
          <a:p>
            <a:pPr marL="353695" indent="-341630">
              <a:spcBef>
                <a:spcPts val="869"/>
              </a:spcBef>
              <a:buFont typeface="Microsoft Sans Serif"/>
              <a:buChar char="•"/>
              <a:tabLst>
                <a:tab pos="353695" algn="l"/>
                <a:tab pos="354330" algn="l"/>
              </a:tabLst>
            </a:pPr>
            <a:r>
              <a:rPr sz="2000" b="1" spc="-5" dirty="0">
                <a:latin typeface="Calibri"/>
                <a:cs typeface="Calibri"/>
              </a:rPr>
              <a:t>Importance</a:t>
            </a:r>
            <a:r>
              <a:rPr sz="2000" b="1" spc="-40" dirty="0">
                <a:latin typeface="Calibri"/>
                <a:cs typeface="Calibri"/>
              </a:rPr>
              <a:t> </a:t>
            </a:r>
            <a:r>
              <a:rPr sz="2000" b="1" spc="-5" dirty="0">
                <a:latin typeface="Calibri"/>
                <a:cs typeface="Calibri"/>
              </a:rPr>
              <a:t>of</a:t>
            </a:r>
            <a:r>
              <a:rPr sz="2000" b="1" spc="-30" dirty="0">
                <a:latin typeface="Calibri"/>
                <a:cs typeface="Calibri"/>
              </a:rPr>
              <a:t> </a:t>
            </a:r>
            <a:r>
              <a:rPr sz="2000" b="1" spc="-5" dirty="0">
                <a:latin typeface="Calibri"/>
                <a:cs typeface="Calibri"/>
              </a:rPr>
              <a:t>pH</a:t>
            </a:r>
            <a:r>
              <a:rPr sz="2000" b="1" spc="-15" dirty="0">
                <a:latin typeface="Calibri"/>
                <a:cs typeface="Calibri"/>
              </a:rPr>
              <a:t> </a:t>
            </a:r>
            <a:r>
              <a:rPr sz="2000" b="1" spc="-10" dirty="0">
                <a:latin typeface="Calibri"/>
                <a:cs typeface="Calibri"/>
              </a:rPr>
              <a:t>metric</a:t>
            </a:r>
            <a:r>
              <a:rPr sz="2000" b="1" spc="-35" dirty="0">
                <a:latin typeface="Calibri"/>
                <a:cs typeface="Calibri"/>
              </a:rPr>
              <a:t> </a:t>
            </a:r>
            <a:r>
              <a:rPr sz="2000" b="1" dirty="0">
                <a:latin typeface="Calibri"/>
                <a:cs typeface="Calibri"/>
              </a:rPr>
              <a:t>titration:</a:t>
            </a:r>
            <a:endParaRPr sz="2000" b="1">
              <a:latin typeface="Calibri"/>
              <a:cs typeface="Calibri"/>
            </a:endParaRPr>
          </a:p>
          <a:p>
            <a:pPr marL="527685" marR="144145" indent="-515620">
              <a:spcBef>
                <a:spcPts val="795"/>
              </a:spcBef>
              <a:buAutoNum type="arabicParenR"/>
              <a:tabLst>
                <a:tab pos="527685" algn="l"/>
                <a:tab pos="528320" algn="l"/>
              </a:tabLst>
            </a:pPr>
            <a:r>
              <a:rPr sz="2000" spc="-5" smtClean="0">
                <a:latin typeface="Calibri"/>
                <a:cs typeface="Calibri"/>
              </a:rPr>
              <a:t>Equivalence</a:t>
            </a:r>
            <a:r>
              <a:rPr sz="2000" spc="-60" smtClean="0">
                <a:latin typeface="Calibri"/>
                <a:cs typeface="Calibri"/>
              </a:rPr>
              <a:t> </a:t>
            </a:r>
            <a:r>
              <a:rPr sz="2000" spc="-5" smtClean="0">
                <a:latin typeface="Calibri"/>
                <a:cs typeface="Calibri"/>
              </a:rPr>
              <a:t>point</a:t>
            </a:r>
            <a:r>
              <a:rPr sz="2000" spc="-20" smtClean="0">
                <a:latin typeface="Calibri"/>
                <a:cs typeface="Calibri"/>
              </a:rPr>
              <a:t> </a:t>
            </a:r>
            <a:r>
              <a:rPr sz="2000" spc="-5" smtClean="0">
                <a:latin typeface="Calibri"/>
                <a:cs typeface="Calibri"/>
              </a:rPr>
              <a:t>of</a:t>
            </a:r>
            <a:r>
              <a:rPr sz="2000" spc="-55" smtClean="0">
                <a:latin typeface="Calibri"/>
                <a:cs typeface="Calibri"/>
              </a:rPr>
              <a:t> </a:t>
            </a:r>
            <a:r>
              <a:rPr sz="2000" spc="-5" smtClean="0">
                <a:latin typeface="Calibri"/>
                <a:cs typeface="Calibri"/>
              </a:rPr>
              <a:t>acid</a:t>
            </a:r>
            <a:r>
              <a:rPr sz="2000" spc="-20" smtClean="0">
                <a:latin typeface="Calibri"/>
                <a:cs typeface="Calibri"/>
              </a:rPr>
              <a:t> </a:t>
            </a:r>
            <a:r>
              <a:rPr sz="2000" spc="-10" smtClean="0">
                <a:latin typeface="Calibri"/>
                <a:cs typeface="Calibri"/>
              </a:rPr>
              <a:t>–base</a:t>
            </a:r>
            <a:r>
              <a:rPr sz="2000" spc="-55" smtClean="0">
                <a:latin typeface="Calibri"/>
                <a:cs typeface="Calibri"/>
              </a:rPr>
              <a:t> </a:t>
            </a:r>
            <a:r>
              <a:rPr sz="2000" smtClean="0">
                <a:latin typeface="Calibri"/>
                <a:cs typeface="Calibri"/>
              </a:rPr>
              <a:t>titration</a:t>
            </a:r>
            <a:r>
              <a:rPr sz="2000" spc="-20" smtClean="0">
                <a:latin typeface="Calibri"/>
                <a:cs typeface="Calibri"/>
              </a:rPr>
              <a:t> </a:t>
            </a:r>
            <a:r>
              <a:rPr sz="2000" spc="-5" smtClean="0">
                <a:latin typeface="Calibri"/>
                <a:cs typeface="Calibri"/>
              </a:rPr>
              <a:t>can </a:t>
            </a:r>
            <a:r>
              <a:rPr sz="2000" spc="-710" smtClean="0">
                <a:latin typeface="Calibri"/>
                <a:cs typeface="Calibri"/>
              </a:rPr>
              <a:t> </a:t>
            </a:r>
            <a:r>
              <a:rPr sz="2000" spc="-10" smtClean="0">
                <a:latin typeface="Calibri"/>
                <a:cs typeface="Calibri"/>
              </a:rPr>
              <a:t>be</a:t>
            </a:r>
            <a:r>
              <a:rPr sz="2000" spc="-5" smtClean="0">
                <a:latin typeface="Calibri"/>
                <a:cs typeface="Calibri"/>
              </a:rPr>
              <a:t> determine</a:t>
            </a:r>
            <a:r>
              <a:rPr sz="2000" smtClean="0">
                <a:latin typeface="Calibri"/>
                <a:cs typeface="Calibri"/>
              </a:rPr>
              <a:t> </a:t>
            </a:r>
            <a:r>
              <a:rPr sz="2000" spc="-5" smtClean="0">
                <a:latin typeface="Calibri"/>
                <a:cs typeface="Calibri"/>
              </a:rPr>
              <a:t>accurately</a:t>
            </a:r>
            <a:r>
              <a:rPr sz="2000" smtClean="0">
                <a:latin typeface="Calibri"/>
                <a:cs typeface="Calibri"/>
              </a:rPr>
              <a:t> </a:t>
            </a:r>
            <a:r>
              <a:rPr sz="2000" spc="-10" smtClean="0">
                <a:latin typeface="Calibri"/>
                <a:cs typeface="Calibri"/>
              </a:rPr>
              <a:t>by</a:t>
            </a:r>
            <a:r>
              <a:rPr sz="2000" spc="-15" smtClean="0">
                <a:latin typeface="Calibri"/>
                <a:cs typeface="Calibri"/>
              </a:rPr>
              <a:t> </a:t>
            </a:r>
            <a:r>
              <a:rPr sz="2000" spc="-10" smtClean="0">
                <a:latin typeface="Calibri"/>
                <a:cs typeface="Calibri"/>
              </a:rPr>
              <a:t>pH</a:t>
            </a:r>
            <a:r>
              <a:rPr sz="2000" spc="15" smtClean="0">
                <a:latin typeface="Calibri"/>
                <a:cs typeface="Calibri"/>
              </a:rPr>
              <a:t> </a:t>
            </a:r>
            <a:r>
              <a:rPr sz="2000" spc="-5" smtClean="0">
                <a:latin typeface="Calibri"/>
                <a:cs typeface="Calibri"/>
              </a:rPr>
              <a:t>metric </a:t>
            </a:r>
            <a:r>
              <a:rPr sz="2000" smtClean="0">
                <a:latin typeface="Calibri"/>
                <a:cs typeface="Calibri"/>
              </a:rPr>
              <a:t> </a:t>
            </a:r>
            <a:r>
              <a:rPr sz="2000" spc="-5" smtClean="0">
                <a:latin typeface="Calibri"/>
                <a:cs typeface="Calibri"/>
              </a:rPr>
              <a:t>titration.</a:t>
            </a:r>
            <a:endParaRPr sz="2000" smtClean="0">
              <a:latin typeface="Calibri"/>
              <a:cs typeface="Calibri"/>
            </a:endParaRPr>
          </a:p>
          <a:p>
            <a:pPr marL="527685" marR="407670" indent="-515620">
              <a:spcBef>
                <a:spcPts val="960"/>
              </a:spcBef>
              <a:buAutoNum type="arabicParenR"/>
              <a:tabLst>
                <a:tab pos="527685" algn="l"/>
                <a:tab pos="528320" algn="l"/>
              </a:tabLst>
            </a:pPr>
            <a:r>
              <a:rPr sz="2000" smtClean="0">
                <a:latin typeface="Calibri"/>
                <a:cs typeface="Calibri"/>
              </a:rPr>
              <a:t>In</a:t>
            </a:r>
            <a:r>
              <a:rPr sz="2000" spc="-50" smtClean="0">
                <a:latin typeface="Calibri"/>
                <a:cs typeface="Calibri"/>
              </a:rPr>
              <a:t> </a:t>
            </a:r>
            <a:r>
              <a:rPr sz="2000" spc="-5" smtClean="0">
                <a:latin typeface="Calibri"/>
                <a:cs typeface="Calibri"/>
              </a:rPr>
              <a:t>pH</a:t>
            </a:r>
            <a:r>
              <a:rPr sz="2000" spc="-50" smtClean="0">
                <a:latin typeface="Calibri"/>
                <a:cs typeface="Calibri"/>
              </a:rPr>
              <a:t> </a:t>
            </a:r>
            <a:r>
              <a:rPr sz="2000" spc="-5" smtClean="0">
                <a:latin typeface="Calibri"/>
                <a:cs typeface="Calibri"/>
              </a:rPr>
              <a:t>metric</a:t>
            </a:r>
            <a:r>
              <a:rPr sz="2000" spc="-30" smtClean="0">
                <a:latin typeface="Calibri"/>
                <a:cs typeface="Calibri"/>
              </a:rPr>
              <a:t> </a:t>
            </a:r>
            <a:r>
              <a:rPr sz="2000" spc="-5" smtClean="0">
                <a:latin typeface="Calibri"/>
                <a:cs typeface="Calibri"/>
              </a:rPr>
              <a:t>acid-base</a:t>
            </a:r>
            <a:r>
              <a:rPr sz="2000" spc="-45" smtClean="0">
                <a:latin typeface="Calibri"/>
                <a:cs typeface="Calibri"/>
              </a:rPr>
              <a:t> </a:t>
            </a:r>
            <a:r>
              <a:rPr sz="2000" smtClean="0">
                <a:latin typeface="Calibri"/>
                <a:cs typeface="Calibri"/>
              </a:rPr>
              <a:t>titration</a:t>
            </a:r>
            <a:r>
              <a:rPr sz="2000" spc="-15" smtClean="0">
                <a:latin typeface="Calibri"/>
                <a:cs typeface="Calibri"/>
              </a:rPr>
              <a:t> </a:t>
            </a:r>
            <a:r>
              <a:rPr sz="2000" spc="-5" smtClean="0">
                <a:latin typeface="Calibri"/>
                <a:cs typeface="Calibri"/>
              </a:rPr>
              <a:t>indicator</a:t>
            </a:r>
            <a:r>
              <a:rPr sz="2000" spc="-25" smtClean="0">
                <a:latin typeface="Calibri"/>
                <a:cs typeface="Calibri"/>
              </a:rPr>
              <a:t> </a:t>
            </a:r>
            <a:r>
              <a:rPr sz="2000" spc="5" smtClean="0">
                <a:latin typeface="Calibri"/>
                <a:cs typeface="Calibri"/>
              </a:rPr>
              <a:t>is </a:t>
            </a:r>
            <a:r>
              <a:rPr sz="2000" spc="-710" smtClean="0">
                <a:latin typeface="Calibri"/>
                <a:cs typeface="Calibri"/>
              </a:rPr>
              <a:t> </a:t>
            </a:r>
            <a:r>
              <a:rPr sz="2000" spc="-10" smtClean="0">
                <a:latin typeface="Calibri"/>
                <a:cs typeface="Calibri"/>
              </a:rPr>
              <a:t>not</a:t>
            </a:r>
            <a:r>
              <a:rPr sz="2000" smtClean="0">
                <a:latin typeface="Calibri"/>
                <a:cs typeface="Calibri"/>
              </a:rPr>
              <a:t> </a:t>
            </a:r>
            <a:r>
              <a:rPr sz="2000" spc="-10" smtClean="0">
                <a:latin typeface="Calibri"/>
                <a:cs typeface="Calibri"/>
              </a:rPr>
              <a:t>needed.</a:t>
            </a:r>
            <a:endParaRPr sz="2000" smtClean="0">
              <a:latin typeface="Calibri"/>
              <a:cs typeface="Calibri"/>
            </a:endParaRPr>
          </a:p>
          <a:p>
            <a:pPr marL="527685" indent="-515620">
              <a:spcBef>
                <a:spcPts val="645"/>
              </a:spcBef>
              <a:buAutoNum type="arabicParenR"/>
              <a:tabLst>
                <a:tab pos="527685" algn="l"/>
                <a:tab pos="528320" algn="l"/>
              </a:tabLst>
            </a:pPr>
            <a:r>
              <a:rPr sz="2000" spc="-10" smtClean="0">
                <a:latin typeface="Calibri"/>
                <a:cs typeface="Calibri"/>
              </a:rPr>
              <a:t>Instrument</a:t>
            </a:r>
            <a:r>
              <a:rPr sz="2000" spc="-5" smtClean="0">
                <a:latin typeface="Calibri"/>
                <a:cs typeface="Calibri"/>
              </a:rPr>
              <a:t> </a:t>
            </a:r>
            <a:r>
              <a:rPr sz="2000" spc="-5" dirty="0">
                <a:latin typeface="Calibri"/>
                <a:cs typeface="Calibri"/>
              </a:rPr>
              <a:t>used</a:t>
            </a:r>
            <a:r>
              <a:rPr sz="2000" spc="-25" dirty="0">
                <a:latin typeface="Calibri"/>
                <a:cs typeface="Calibri"/>
              </a:rPr>
              <a:t> </a:t>
            </a:r>
            <a:r>
              <a:rPr sz="2000" dirty="0">
                <a:latin typeface="Calibri"/>
                <a:cs typeface="Calibri"/>
              </a:rPr>
              <a:t>is</a:t>
            </a:r>
            <a:r>
              <a:rPr sz="2000" spc="-5" dirty="0">
                <a:latin typeface="Calibri"/>
                <a:cs typeface="Calibri"/>
              </a:rPr>
              <a:t> simple</a:t>
            </a:r>
            <a:r>
              <a:rPr sz="2000" spc="-10" dirty="0">
                <a:latin typeface="Calibri"/>
                <a:cs typeface="Calibri"/>
              </a:rPr>
              <a:t> </a:t>
            </a:r>
            <a:r>
              <a:rPr sz="2000" spc="-5" dirty="0">
                <a:latin typeface="Calibri"/>
                <a:cs typeface="Calibri"/>
              </a:rPr>
              <a:t>and</a:t>
            </a:r>
            <a:r>
              <a:rPr sz="2000" spc="-20" dirty="0">
                <a:latin typeface="Calibri"/>
                <a:cs typeface="Calibri"/>
              </a:rPr>
              <a:t> </a:t>
            </a:r>
            <a:r>
              <a:rPr sz="2000" spc="-5" dirty="0">
                <a:latin typeface="Calibri"/>
                <a:cs typeface="Calibri"/>
              </a:rPr>
              <a:t>easy</a:t>
            </a:r>
            <a:r>
              <a:rPr sz="2000" spc="-45" dirty="0">
                <a:latin typeface="Calibri"/>
                <a:cs typeface="Calibri"/>
              </a:rPr>
              <a:t> </a:t>
            </a:r>
            <a:r>
              <a:rPr sz="2000" dirty="0">
                <a:latin typeface="Calibri"/>
                <a:cs typeface="Calibri"/>
              </a:rPr>
              <a:t>to</a:t>
            </a:r>
            <a:r>
              <a:rPr sz="2000" spc="-35" dirty="0">
                <a:latin typeface="Calibri"/>
                <a:cs typeface="Calibri"/>
              </a:rPr>
              <a:t> </a:t>
            </a:r>
            <a:r>
              <a:rPr sz="2000" spc="-5" dirty="0">
                <a:latin typeface="Calibri"/>
                <a:cs typeface="Calibri"/>
              </a:rPr>
              <a:t>handle</a:t>
            </a:r>
            <a:endParaRPr sz="2000">
              <a:latin typeface="Calibri"/>
              <a:cs typeface="Calibri"/>
            </a:endParaRPr>
          </a:p>
        </p:txBody>
      </p:sp>
      <p:sp>
        <p:nvSpPr>
          <p:cNvPr id="4" name="Rectangle 3"/>
          <p:cNvSpPr/>
          <p:nvPr/>
        </p:nvSpPr>
        <p:spPr>
          <a:xfrm>
            <a:off x="228600" y="3962400"/>
            <a:ext cx="8610600" cy="2031325"/>
          </a:xfrm>
          <a:prstGeom prst="rect">
            <a:avLst/>
          </a:prstGeom>
        </p:spPr>
        <p:txBody>
          <a:bodyPr wrap="square">
            <a:spAutoFit/>
          </a:bodyPr>
          <a:lstStyle/>
          <a:p>
            <a:r>
              <a:rPr lang="en-US" b="1" dirty="0"/>
              <a:t>• pH Meter </a:t>
            </a:r>
            <a:r>
              <a:rPr lang="en-US" b="1" dirty="0" smtClean="0"/>
              <a:t>Applications: </a:t>
            </a:r>
            <a:r>
              <a:rPr lang="en-US" dirty="0" smtClean="0"/>
              <a:t>is </a:t>
            </a:r>
            <a:r>
              <a:rPr lang="en-US" dirty="0"/>
              <a:t>very crucial in Agriculture industry for soil evaluation. • To know the pH of buffer solution • To measure the pH of rainwater • It becomes mandatory for chemical and pharmaceutical industries • pH meter is used in brewing industry. • It is also used in jam and jelly manufacturing • It becomes a significant factor in the production of detergents. • It is used for monitoring water in swimming pools • pH meter helps in analyzing the exact pH value of chemical substances and food grade products, thus ensuring high levels of safety and quality.</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pH</a:t>
            </a:r>
            <a:r>
              <a:rPr spc="-60" dirty="0"/>
              <a:t> </a:t>
            </a:r>
            <a:r>
              <a:rPr dirty="0"/>
              <a:t>metric</a:t>
            </a:r>
            <a:r>
              <a:rPr spc="-50" dirty="0"/>
              <a:t> </a:t>
            </a:r>
            <a:r>
              <a:rPr spc="-5" dirty="0"/>
              <a:t>titration</a:t>
            </a:r>
            <a:r>
              <a:rPr spc="-45" dirty="0"/>
              <a:t> </a:t>
            </a:r>
            <a:r>
              <a:rPr spc="-5" dirty="0"/>
              <a:t>between</a:t>
            </a:r>
            <a:r>
              <a:rPr spc="-35" dirty="0"/>
              <a:t> </a:t>
            </a:r>
            <a:r>
              <a:rPr dirty="0"/>
              <a:t>HCl</a:t>
            </a:r>
            <a:r>
              <a:rPr spc="-25" dirty="0"/>
              <a:t> </a:t>
            </a:r>
            <a:r>
              <a:rPr dirty="0"/>
              <a:t>and</a:t>
            </a:r>
            <a:r>
              <a:rPr spc="-50" dirty="0"/>
              <a:t> </a:t>
            </a:r>
            <a:r>
              <a:rPr spc="-5" dirty="0"/>
              <a:t>NaOH</a:t>
            </a:r>
          </a:p>
        </p:txBody>
      </p:sp>
      <p:sp>
        <p:nvSpPr>
          <p:cNvPr id="3" name="object 3"/>
          <p:cNvSpPr txBox="1"/>
          <p:nvPr/>
        </p:nvSpPr>
        <p:spPr>
          <a:xfrm>
            <a:off x="307340" y="965733"/>
            <a:ext cx="8334375" cy="5206365"/>
          </a:xfrm>
          <a:prstGeom prst="rect">
            <a:avLst/>
          </a:prstGeom>
        </p:spPr>
        <p:txBody>
          <a:bodyPr vert="horz" wrap="square" lIns="0" tIns="40005" rIns="0" bIns="0" rtlCol="0">
            <a:spAutoFit/>
          </a:bodyPr>
          <a:lstStyle/>
          <a:p>
            <a:pPr marL="12700">
              <a:lnSpc>
                <a:spcPct val="100000"/>
              </a:lnSpc>
              <a:spcBef>
                <a:spcPts val="315"/>
              </a:spcBef>
            </a:pPr>
            <a:r>
              <a:rPr sz="1900" spc="-5" dirty="0">
                <a:latin typeface="Calibri"/>
                <a:cs typeface="Calibri"/>
              </a:rPr>
              <a:t>Consider the</a:t>
            </a:r>
            <a:r>
              <a:rPr sz="1900" spc="-25" dirty="0">
                <a:latin typeface="Calibri"/>
                <a:cs typeface="Calibri"/>
              </a:rPr>
              <a:t> </a:t>
            </a:r>
            <a:r>
              <a:rPr sz="1900" spc="-10" dirty="0">
                <a:latin typeface="Calibri"/>
                <a:cs typeface="Calibri"/>
              </a:rPr>
              <a:t>titration</a:t>
            </a:r>
            <a:r>
              <a:rPr sz="1900" dirty="0">
                <a:latin typeface="Calibri"/>
                <a:cs typeface="Calibri"/>
              </a:rPr>
              <a:t> </a:t>
            </a:r>
            <a:r>
              <a:rPr sz="1900" spc="-10" dirty="0">
                <a:latin typeface="Calibri"/>
                <a:cs typeface="Calibri"/>
              </a:rPr>
              <a:t>between</a:t>
            </a:r>
            <a:r>
              <a:rPr sz="1900" spc="40" dirty="0">
                <a:latin typeface="Calibri"/>
                <a:cs typeface="Calibri"/>
              </a:rPr>
              <a:t> </a:t>
            </a:r>
            <a:r>
              <a:rPr sz="1900" spc="-10" dirty="0">
                <a:latin typeface="Calibri"/>
                <a:cs typeface="Calibri"/>
              </a:rPr>
              <a:t>HCl</a:t>
            </a:r>
            <a:r>
              <a:rPr sz="1900" spc="-25" dirty="0">
                <a:latin typeface="Calibri"/>
                <a:cs typeface="Calibri"/>
              </a:rPr>
              <a:t> </a:t>
            </a:r>
            <a:r>
              <a:rPr sz="1900" dirty="0">
                <a:latin typeface="Calibri"/>
                <a:cs typeface="Calibri"/>
              </a:rPr>
              <a:t>and</a:t>
            </a:r>
            <a:r>
              <a:rPr sz="1900" spc="-10" dirty="0">
                <a:latin typeface="Calibri"/>
                <a:cs typeface="Calibri"/>
              </a:rPr>
              <a:t> </a:t>
            </a:r>
            <a:r>
              <a:rPr sz="1900" spc="-5" dirty="0">
                <a:latin typeface="Calibri"/>
                <a:cs typeface="Calibri"/>
              </a:rPr>
              <a:t>NaOH</a:t>
            </a:r>
            <a:endParaRPr sz="1900">
              <a:latin typeface="Calibri"/>
              <a:cs typeface="Calibri"/>
            </a:endParaRPr>
          </a:p>
          <a:p>
            <a:pPr marL="12700" marR="1517015">
              <a:lnSpc>
                <a:spcPts val="2500"/>
              </a:lnSpc>
              <a:spcBef>
                <a:spcPts val="114"/>
              </a:spcBef>
            </a:pPr>
            <a:r>
              <a:rPr sz="1900" spc="-5" dirty="0">
                <a:latin typeface="Calibri"/>
                <a:cs typeface="Calibri"/>
              </a:rPr>
              <a:t>As</a:t>
            </a:r>
            <a:r>
              <a:rPr sz="1900" spc="5" dirty="0">
                <a:latin typeface="Calibri"/>
                <a:cs typeface="Calibri"/>
              </a:rPr>
              <a:t> </a:t>
            </a:r>
            <a:r>
              <a:rPr sz="1900" spc="-10" dirty="0">
                <a:latin typeface="Calibri"/>
                <a:cs typeface="Calibri"/>
              </a:rPr>
              <a:t>HCl</a:t>
            </a:r>
            <a:r>
              <a:rPr sz="1900" spc="5" dirty="0">
                <a:latin typeface="Calibri"/>
                <a:cs typeface="Calibri"/>
              </a:rPr>
              <a:t> </a:t>
            </a:r>
            <a:r>
              <a:rPr sz="1900" spc="-5" dirty="0">
                <a:latin typeface="Calibri"/>
                <a:cs typeface="Calibri"/>
              </a:rPr>
              <a:t>is</a:t>
            </a:r>
            <a:r>
              <a:rPr sz="1900" spc="5" dirty="0">
                <a:latin typeface="Calibri"/>
                <a:cs typeface="Calibri"/>
              </a:rPr>
              <a:t> </a:t>
            </a:r>
            <a:r>
              <a:rPr sz="1900" spc="-5" dirty="0">
                <a:latin typeface="Calibri"/>
                <a:cs typeface="Calibri"/>
              </a:rPr>
              <a:t>strong</a:t>
            </a:r>
            <a:r>
              <a:rPr sz="1900" spc="5" dirty="0">
                <a:latin typeface="Calibri"/>
                <a:cs typeface="Calibri"/>
              </a:rPr>
              <a:t> </a:t>
            </a:r>
            <a:r>
              <a:rPr sz="1900" spc="-5" dirty="0">
                <a:latin typeface="Calibri"/>
                <a:cs typeface="Calibri"/>
              </a:rPr>
              <a:t>acid</a:t>
            </a:r>
            <a:r>
              <a:rPr sz="1900" spc="10" dirty="0">
                <a:latin typeface="Calibri"/>
                <a:cs typeface="Calibri"/>
              </a:rPr>
              <a:t> </a:t>
            </a:r>
            <a:r>
              <a:rPr sz="1900" dirty="0">
                <a:latin typeface="Calibri"/>
                <a:cs typeface="Calibri"/>
              </a:rPr>
              <a:t>and</a:t>
            </a:r>
            <a:r>
              <a:rPr sz="1900" spc="15" dirty="0">
                <a:latin typeface="Calibri"/>
                <a:cs typeface="Calibri"/>
              </a:rPr>
              <a:t> </a:t>
            </a:r>
            <a:r>
              <a:rPr sz="1900" spc="-5" dirty="0">
                <a:latin typeface="Calibri"/>
                <a:cs typeface="Calibri"/>
              </a:rPr>
              <a:t>NaOH</a:t>
            </a:r>
            <a:r>
              <a:rPr sz="1900" spc="-25" dirty="0">
                <a:latin typeface="Calibri"/>
                <a:cs typeface="Calibri"/>
              </a:rPr>
              <a:t> </a:t>
            </a:r>
            <a:r>
              <a:rPr sz="1900" spc="-5" dirty="0">
                <a:latin typeface="Calibri"/>
                <a:cs typeface="Calibri"/>
              </a:rPr>
              <a:t>is</a:t>
            </a:r>
            <a:r>
              <a:rPr sz="1900" spc="5" dirty="0">
                <a:latin typeface="Calibri"/>
                <a:cs typeface="Calibri"/>
              </a:rPr>
              <a:t> </a:t>
            </a:r>
            <a:r>
              <a:rPr sz="1900" spc="-5" dirty="0">
                <a:latin typeface="Calibri"/>
                <a:cs typeface="Calibri"/>
              </a:rPr>
              <a:t>strong</a:t>
            </a:r>
            <a:r>
              <a:rPr sz="1900" spc="5" dirty="0">
                <a:latin typeface="Calibri"/>
                <a:cs typeface="Calibri"/>
              </a:rPr>
              <a:t> </a:t>
            </a:r>
            <a:r>
              <a:rPr sz="1900" spc="-5" dirty="0">
                <a:latin typeface="Calibri"/>
                <a:cs typeface="Calibri"/>
              </a:rPr>
              <a:t>base,</a:t>
            </a:r>
            <a:r>
              <a:rPr sz="1900" spc="5" dirty="0">
                <a:latin typeface="Calibri"/>
                <a:cs typeface="Calibri"/>
              </a:rPr>
              <a:t> </a:t>
            </a:r>
            <a:r>
              <a:rPr sz="1900" spc="-10" dirty="0">
                <a:latin typeface="Calibri"/>
                <a:cs typeface="Calibri"/>
              </a:rPr>
              <a:t>dissociates</a:t>
            </a:r>
            <a:r>
              <a:rPr sz="1900" spc="5" dirty="0">
                <a:latin typeface="Calibri"/>
                <a:cs typeface="Calibri"/>
              </a:rPr>
              <a:t> </a:t>
            </a:r>
            <a:r>
              <a:rPr sz="1900" spc="-5" dirty="0">
                <a:latin typeface="Calibri"/>
                <a:cs typeface="Calibri"/>
              </a:rPr>
              <a:t>completely. </a:t>
            </a:r>
            <a:r>
              <a:rPr sz="1900" spc="-409" dirty="0">
                <a:latin typeface="Calibri"/>
                <a:cs typeface="Calibri"/>
              </a:rPr>
              <a:t> </a:t>
            </a:r>
            <a:r>
              <a:rPr sz="1900" spc="-10" dirty="0">
                <a:latin typeface="Calibri"/>
                <a:cs typeface="Calibri"/>
              </a:rPr>
              <a:t>HCl</a:t>
            </a:r>
            <a:r>
              <a:rPr sz="1900" spc="-5" dirty="0">
                <a:latin typeface="Calibri"/>
                <a:cs typeface="Calibri"/>
              </a:rPr>
              <a:t> +</a:t>
            </a:r>
            <a:r>
              <a:rPr sz="1900" spc="-10" dirty="0">
                <a:latin typeface="Calibri"/>
                <a:cs typeface="Calibri"/>
              </a:rPr>
              <a:t> </a:t>
            </a:r>
            <a:r>
              <a:rPr sz="1900" spc="-5" dirty="0">
                <a:latin typeface="Calibri"/>
                <a:cs typeface="Calibri"/>
              </a:rPr>
              <a:t>NaOH</a:t>
            </a:r>
            <a:r>
              <a:rPr sz="1900" spc="-10" dirty="0">
                <a:latin typeface="Calibri"/>
                <a:cs typeface="Calibri"/>
              </a:rPr>
              <a:t> </a:t>
            </a:r>
            <a:r>
              <a:rPr sz="1900" spc="-5" dirty="0">
                <a:latin typeface="Calibri"/>
                <a:cs typeface="Calibri"/>
              </a:rPr>
              <a:t>→</a:t>
            </a:r>
            <a:r>
              <a:rPr sz="1900" spc="10" dirty="0">
                <a:latin typeface="Calibri"/>
                <a:cs typeface="Calibri"/>
              </a:rPr>
              <a:t> </a:t>
            </a:r>
            <a:r>
              <a:rPr sz="1900" spc="-5" dirty="0">
                <a:latin typeface="Calibri"/>
                <a:cs typeface="Calibri"/>
              </a:rPr>
              <a:t>NaCl</a:t>
            </a:r>
            <a:r>
              <a:rPr sz="1900" spc="20" dirty="0">
                <a:latin typeface="Calibri"/>
                <a:cs typeface="Calibri"/>
              </a:rPr>
              <a:t> </a:t>
            </a:r>
            <a:r>
              <a:rPr sz="1900" spc="-5" dirty="0">
                <a:latin typeface="Calibri"/>
                <a:cs typeface="Calibri"/>
              </a:rPr>
              <a:t>+</a:t>
            </a:r>
            <a:r>
              <a:rPr sz="1900" spc="-10" dirty="0">
                <a:latin typeface="Calibri"/>
                <a:cs typeface="Calibri"/>
              </a:rPr>
              <a:t> H2O</a:t>
            </a:r>
            <a:endParaRPr sz="1900">
              <a:latin typeface="Calibri"/>
              <a:cs typeface="Calibri"/>
            </a:endParaRPr>
          </a:p>
          <a:p>
            <a:pPr marL="354330" indent="-342265">
              <a:lnSpc>
                <a:spcPct val="100000"/>
              </a:lnSpc>
              <a:spcBef>
                <a:spcPts val="120"/>
              </a:spcBef>
              <a:buFont typeface="Microsoft Sans Serif"/>
              <a:buChar char="•"/>
              <a:tabLst>
                <a:tab pos="353695" algn="l"/>
                <a:tab pos="354965" algn="l"/>
              </a:tabLst>
            </a:pPr>
            <a:r>
              <a:rPr sz="1900" b="1" spc="-5" dirty="0">
                <a:latin typeface="Calibri"/>
                <a:cs typeface="Calibri"/>
              </a:rPr>
              <a:t>Procedure:</a:t>
            </a:r>
            <a:r>
              <a:rPr sz="1900" b="1" spc="-25" dirty="0">
                <a:latin typeface="Arial"/>
                <a:cs typeface="Arial"/>
              </a:rPr>
              <a:t> </a:t>
            </a:r>
            <a:endParaRPr sz="1900">
              <a:latin typeface="Arial"/>
              <a:cs typeface="Arial"/>
            </a:endParaRPr>
          </a:p>
          <a:p>
            <a:pPr marL="284480" marR="6350" indent="-284480">
              <a:lnSpc>
                <a:spcPts val="2180"/>
              </a:lnSpc>
              <a:spcBef>
                <a:spcPts val="325"/>
              </a:spcBef>
              <a:buAutoNum type="alphaUcParenR"/>
              <a:tabLst>
                <a:tab pos="284480" algn="l"/>
              </a:tabLst>
            </a:pPr>
            <a:r>
              <a:rPr sz="1900" b="1" spc="-5" dirty="0">
                <a:latin typeface="Calibri"/>
                <a:cs typeface="Calibri"/>
              </a:rPr>
              <a:t>Standardization</a:t>
            </a:r>
            <a:r>
              <a:rPr sz="1900" b="1" spc="-20" dirty="0">
                <a:latin typeface="Calibri"/>
                <a:cs typeface="Calibri"/>
              </a:rPr>
              <a:t> </a:t>
            </a:r>
            <a:r>
              <a:rPr sz="1900" b="1" spc="-10" dirty="0">
                <a:latin typeface="Calibri"/>
                <a:cs typeface="Calibri"/>
              </a:rPr>
              <a:t>of</a:t>
            </a:r>
            <a:r>
              <a:rPr sz="1900" b="1" spc="-20" dirty="0">
                <a:latin typeface="Calibri"/>
                <a:cs typeface="Calibri"/>
              </a:rPr>
              <a:t> </a:t>
            </a:r>
            <a:r>
              <a:rPr sz="1900" b="1" spc="-10" dirty="0">
                <a:latin typeface="Calibri"/>
                <a:cs typeface="Calibri"/>
              </a:rPr>
              <a:t>pH</a:t>
            </a:r>
            <a:r>
              <a:rPr sz="1900" b="1" spc="-15" dirty="0">
                <a:latin typeface="Calibri"/>
                <a:cs typeface="Calibri"/>
              </a:rPr>
              <a:t> </a:t>
            </a:r>
            <a:r>
              <a:rPr sz="1900" b="1" spc="-10" dirty="0">
                <a:latin typeface="Calibri"/>
                <a:cs typeface="Calibri"/>
              </a:rPr>
              <a:t>meter: </a:t>
            </a:r>
            <a:r>
              <a:rPr sz="1900" dirty="0">
                <a:latin typeface="Calibri"/>
                <a:cs typeface="Calibri"/>
              </a:rPr>
              <a:t>pH</a:t>
            </a:r>
            <a:r>
              <a:rPr sz="1900" spc="-50" dirty="0">
                <a:latin typeface="Calibri"/>
                <a:cs typeface="Calibri"/>
              </a:rPr>
              <a:t> </a:t>
            </a:r>
            <a:r>
              <a:rPr sz="1900" spc="-5" dirty="0">
                <a:latin typeface="Calibri"/>
                <a:cs typeface="Calibri"/>
              </a:rPr>
              <a:t>meter is</a:t>
            </a:r>
            <a:r>
              <a:rPr sz="1900" spc="-40" dirty="0">
                <a:latin typeface="Calibri"/>
                <a:cs typeface="Calibri"/>
              </a:rPr>
              <a:t> </a:t>
            </a:r>
            <a:r>
              <a:rPr sz="1900" spc="-5" dirty="0">
                <a:latin typeface="Calibri"/>
                <a:cs typeface="Calibri"/>
              </a:rPr>
              <a:t>standardized</a:t>
            </a:r>
            <a:r>
              <a:rPr sz="1900" dirty="0">
                <a:latin typeface="Calibri"/>
                <a:cs typeface="Calibri"/>
              </a:rPr>
              <a:t> </a:t>
            </a:r>
            <a:r>
              <a:rPr sz="1900" spc="-5" dirty="0">
                <a:latin typeface="Calibri"/>
                <a:cs typeface="Calibri"/>
              </a:rPr>
              <a:t>using</a:t>
            </a:r>
            <a:r>
              <a:rPr sz="1900" spc="-45" dirty="0">
                <a:latin typeface="Calibri"/>
                <a:cs typeface="Calibri"/>
              </a:rPr>
              <a:t> </a:t>
            </a:r>
            <a:r>
              <a:rPr sz="1900" spc="-10" dirty="0">
                <a:latin typeface="Calibri"/>
                <a:cs typeface="Calibri"/>
              </a:rPr>
              <a:t>buffer</a:t>
            </a:r>
            <a:r>
              <a:rPr sz="1900" spc="-5" dirty="0">
                <a:latin typeface="Calibri"/>
                <a:cs typeface="Calibri"/>
              </a:rPr>
              <a:t> solutions</a:t>
            </a:r>
            <a:r>
              <a:rPr sz="1900" spc="-35" dirty="0">
                <a:latin typeface="Calibri"/>
                <a:cs typeface="Calibri"/>
              </a:rPr>
              <a:t> </a:t>
            </a:r>
            <a:r>
              <a:rPr sz="1900" spc="-10" dirty="0">
                <a:latin typeface="Calibri"/>
                <a:cs typeface="Calibri"/>
              </a:rPr>
              <a:t>with </a:t>
            </a:r>
            <a:r>
              <a:rPr sz="1900" spc="-415" dirty="0">
                <a:latin typeface="Calibri"/>
                <a:cs typeface="Calibri"/>
              </a:rPr>
              <a:t> </a:t>
            </a:r>
            <a:r>
              <a:rPr sz="1900" dirty="0">
                <a:latin typeface="Calibri"/>
                <a:cs typeface="Calibri"/>
              </a:rPr>
              <a:t>pH</a:t>
            </a:r>
            <a:r>
              <a:rPr sz="1900" spc="-10" dirty="0">
                <a:latin typeface="Calibri"/>
                <a:cs typeface="Calibri"/>
              </a:rPr>
              <a:t> </a:t>
            </a:r>
            <a:r>
              <a:rPr sz="1900" spc="-5" dirty="0">
                <a:latin typeface="Calibri"/>
                <a:cs typeface="Calibri"/>
              </a:rPr>
              <a:t>4,</a:t>
            </a:r>
            <a:r>
              <a:rPr sz="1900" spc="-15" dirty="0">
                <a:latin typeface="Calibri"/>
                <a:cs typeface="Calibri"/>
              </a:rPr>
              <a:t> </a:t>
            </a:r>
            <a:r>
              <a:rPr sz="1900" spc="-5" dirty="0">
                <a:latin typeface="Calibri"/>
                <a:cs typeface="Calibri"/>
              </a:rPr>
              <a:t>7</a:t>
            </a:r>
            <a:r>
              <a:rPr sz="1900" dirty="0">
                <a:latin typeface="Calibri"/>
                <a:cs typeface="Calibri"/>
              </a:rPr>
              <a:t> </a:t>
            </a:r>
            <a:r>
              <a:rPr sz="1900" spc="-10" dirty="0">
                <a:latin typeface="Calibri"/>
                <a:cs typeface="Calibri"/>
              </a:rPr>
              <a:t>and</a:t>
            </a:r>
            <a:r>
              <a:rPr sz="1900" spc="10" dirty="0">
                <a:latin typeface="Calibri"/>
                <a:cs typeface="Calibri"/>
              </a:rPr>
              <a:t> </a:t>
            </a:r>
            <a:r>
              <a:rPr sz="1900" spc="-5" dirty="0">
                <a:latin typeface="Calibri"/>
                <a:cs typeface="Calibri"/>
              </a:rPr>
              <a:t>9.2.</a:t>
            </a:r>
            <a:endParaRPr sz="1900">
              <a:latin typeface="Calibri"/>
              <a:cs typeface="Calibri"/>
            </a:endParaRPr>
          </a:p>
          <a:p>
            <a:pPr marL="12700">
              <a:lnSpc>
                <a:spcPct val="100000"/>
              </a:lnSpc>
              <a:spcBef>
                <a:spcPts val="120"/>
              </a:spcBef>
            </a:pPr>
            <a:r>
              <a:rPr sz="1900" spc="-10" dirty="0">
                <a:latin typeface="Calibri"/>
                <a:cs typeface="Calibri"/>
              </a:rPr>
              <a:t>HCl</a:t>
            </a:r>
            <a:r>
              <a:rPr sz="1900" spc="-55" dirty="0">
                <a:latin typeface="Calibri"/>
                <a:cs typeface="Calibri"/>
              </a:rPr>
              <a:t> </a:t>
            </a:r>
            <a:r>
              <a:rPr sz="1900" spc="-5" dirty="0">
                <a:latin typeface="Calibri"/>
                <a:cs typeface="Calibri"/>
              </a:rPr>
              <a:t>is</a:t>
            </a:r>
            <a:r>
              <a:rPr sz="1900" spc="-25" dirty="0">
                <a:latin typeface="Calibri"/>
                <a:cs typeface="Calibri"/>
              </a:rPr>
              <a:t> </a:t>
            </a:r>
            <a:r>
              <a:rPr sz="1900" spc="-5" dirty="0">
                <a:latin typeface="Calibri"/>
                <a:cs typeface="Calibri"/>
              </a:rPr>
              <a:t>taken</a:t>
            </a:r>
            <a:r>
              <a:rPr sz="1900" spc="-15" dirty="0">
                <a:latin typeface="Calibri"/>
                <a:cs typeface="Calibri"/>
              </a:rPr>
              <a:t> </a:t>
            </a:r>
            <a:r>
              <a:rPr sz="1900" spc="-5" dirty="0">
                <a:latin typeface="Calibri"/>
                <a:cs typeface="Calibri"/>
              </a:rPr>
              <a:t>in</a:t>
            </a:r>
            <a:r>
              <a:rPr sz="1900" spc="-15" dirty="0">
                <a:latin typeface="Calibri"/>
                <a:cs typeface="Calibri"/>
              </a:rPr>
              <a:t> </a:t>
            </a:r>
            <a:r>
              <a:rPr sz="1900" spc="-5" dirty="0">
                <a:latin typeface="Calibri"/>
                <a:cs typeface="Calibri"/>
              </a:rPr>
              <a:t>beaker</a:t>
            </a:r>
            <a:r>
              <a:rPr sz="1900" spc="-15" dirty="0">
                <a:latin typeface="Calibri"/>
                <a:cs typeface="Calibri"/>
              </a:rPr>
              <a:t> </a:t>
            </a:r>
            <a:r>
              <a:rPr sz="1900" spc="-10" dirty="0">
                <a:latin typeface="Calibri"/>
                <a:cs typeface="Calibri"/>
              </a:rPr>
              <a:t>and NaOH</a:t>
            </a:r>
            <a:r>
              <a:rPr sz="1900" spc="-35" dirty="0">
                <a:latin typeface="Calibri"/>
                <a:cs typeface="Calibri"/>
              </a:rPr>
              <a:t> </a:t>
            </a:r>
            <a:r>
              <a:rPr sz="1900" spc="-5" dirty="0">
                <a:latin typeface="Calibri"/>
                <a:cs typeface="Calibri"/>
              </a:rPr>
              <a:t>in</a:t>
            </a:r>
            <a:r>
              <a:rPr sz="1900" spc="-15" dirty="0">
                <a:latin typeface="Calibri"/>
                <a:cs typeface="Calibri"/>
              </a:rPr>
              <a:t> </a:t>
            </a:r>
            <a:r>
              <a:rPr sz="1900" spc="-10" dirty="0">
                <a:latin typeface="Calibri"/>
                <a:cs typeface="Calibri"/>
              </a:rPr>
              <a:t>burette.</a:t>
            </a:r>
            <a:endParaRPr sz="1900">
              <a:latin typeface="Calibri"/>
              <a:cs typeface="Calibri"/>
            </a:endParaRPr>
          </a:p>
          <a:p>
            <a:pPr>
              <a:lnSpc>
                <a:spcPct val="100000"/>
              </a:lnSpc>
              <a:spcBef>
                <a:spcPts val="50"/>
              </a:spcBef>
            </a:pPr>
            <a:endParaRPr sz="2200">
              <a:latin typeface="Calibri"/>
              <a:cs typeface="Calibri"/>
            </a:endParaRPr>
          </a:p>
          <a:p>
            <a:pPr marL="329565" indent="-317500">
              <a:lnSpc>
                <a:spcPct val="100000"/>
              </a:lnSpc>
              <a:buAutoNum type="alphaUcParenR" startAt="2"/>
              <a:tabLst>
                <a:tab pos="330200" algn="l"/>
              </a:tabLst>
            </a:pPr>
            <a:r>
              <a:rPr sz="1900" b="1" spc="-5" dirty="0">
                <a:latin typeface="Calibri"/>
                <a:cs typeface="Calibri"/>
              </a:rPr>
              <a:t>Acid</a:t>
            </a:r>
            <a:r>
              <a:rPr sz="1900" b="1" spc="-45" dirty="0">
                <a:latin typeface="Calibri"/>
                <a:cs typeface="Calibri"/>
              </a:rPr>
              <a:t> </a:t>
            </a:r>
            <a:r>
              <a:rPr sz="1900" b="1" spc="-5" dirty="0">
                <a:latin typeface="Calibri"/>
                <a:cs typeface="Calibri"/>
              </a:rPr>
              <a:t>–</a:t>
            </a:r>
            <a:r>
              <a:rPr sz="1900" b="1" spc="-20" dirty="0">
                <a:latin typeface="Calibri"/>
                <a:cs typeface="Calibri"/>
              </a:rPr>
              <a:t> </a:t>
            </a:r>
            <a:r>
              <a:rPr sz="1900" b="1" spc="-5" dirty="0">
                <a:latin typeface="Calibri"/>
                <a:cs typeface="Calibri"/>
              </a:rPr>
              <a:t>Base</a:t>
            </a:r>
            <a:r>
              <a:rPr sz="1900" b="1" spc="-25" dirty="0">
                <a:latin typeface="Calibri"/>
                <a:cs typeface="Calibri"/>
              </a:rPr>
              <a:t> </a:t>
            </a:r>
            <a:r>
              <a:rPr sz="1900" b="1" spc="-5" dirty="0">
                <a:latin typeface="Calibri"/>
                <a:cs typeface="Calibri"/>
              </a:rPr>
              <a:t>Titration</a:t>
            </a:r>
            <a:r>
              <a:rPr sz="1900" b="1" spc="-35" dirty="0">
                <a:latin typeface="Calibri"/>
                <a:cs typeface="Calibri"/>
              </a:rPr>
              <a:t> </a:t>
            </a:r>
            <a:r>
              <a:rPr sz="1900" b="1" spc="-5" dirty="0">
                <a:latin typeface="Calibri"/>
                <a:cs typeface="Calibri"/>
              </a:rPr>
              <a:t>:</a:t>
            </a:r>
            <a:endParaRPr sz="1900">
              <a:latin typeface="Calibri"/>
              <a:cs typeface="Calibri"/>
            </a:endParaRPr>
          </a:p>
          <a:p>
            <a:pPr marL="469900" indent="-457834">
              <a:lnSpc>
                <a:spcPct val="100000"/>
              </a:lnSpc>
              <a:spcBef>
                <a:spcPts val="219"/>
              </a:spcBef>
              <a:buAutoNum type="arabicParenR"/>
              <a:tabLst>
                <a:tab pos="469900" algn="l"/>
                <a:tab pos="470534" algn="l"/>
              </a:tabLst>
            </a:pPr>
            <a:r>
              <a:rPr sz="1900" dirty="0">
                <a:latin typeface="Calibri"/>
                <a:cs typeface="Calibri"/>
              </a:rPr>
              <a:t>Take</a:t>
            </a:r>
            <a:r>
              <a:rPr sz="1900" spc="-80" dirty="0">
                <a:latin typeface="Calibri"/>
                <a:cs typeface="Calibri"/>
              </a:rPr>
              <a:t> </a:t>
            </a:r>
            <a:r>
              <a:rPr sz="1900" spc="-5" dirty="0">
                <a:latin typeface="Calibri"/>
                <a:cs typeface="Calibri"/>
              </a:rPr>
              <a:t>a</a:t>
            </a:r>
            <a:r>
              <a:rPr sz="1900" spc="-70" dirty="0">
                <a:latin typeface="Calibri"/>
                <a:cs typeface="Calibri"/>
              </a:rPr>
              <a:t> </a:t>
            </a:r>
            <a:r>
              <a:rPr sz="1900" spc="-5" dirty="0">
                <a:latin typeface="Calibri"/>
                <a:cs typeface="Calibri"/>
              </a:rPr>
              <a:t>known</a:t>
            </a:r>
            <a:r>
              <a:rPr sz="1900" spc="-65" dirty="0">
                <a:latin typeface="Calibri"/>
                <a:cs typeface="Calibri"/>
              </a:rPr>
              <a:t> </a:t>
            </a:r>
            <a:r>
              <a:rPr sz="1900" dirty="0">
                <a:latin typeface="Calibri"/>
                <a:cs typeface="Calibri"/>
              </a:rPr>
              <a:t>volume</a:t>
            </a:r>
            <a:r>
              <a:rPr sz="1900" spc="-55" dirty="0">
                <a:latin typeface="Calibri"/>
                <a:cs typeface="Calibri"/>
              </a:rPr>
              <a:t> </a:t>
            </a:r>
            <a:r>
              <a:rPr sz="1900" dirty="0">
                <a:latin typeface="Calibri"/>
                <a:cs typeface="Calibri"/>
              </a:rPr>
              <a:t>of</a:t>
            </a:r>
            <a:r>
              <a:rPr sz="1900" spc="-55" dirty="0">
                <a:latin typeface="Calibri"/>
                <a:cs typeface="Calibri"/>
              </a:rPr>
              <a:t> </a:t>
            </a:r>
            <a:r>
              <a:rPr sz="1900" spc="-10" dirty="0">
                <a:latin typeface="Calibri"/>
                <a:cs typeface="Calibri"/>
              </a:rPr>
              <a:t>HCl</a:t>
            </a:r>
            <a:r>
              <a:rPr sz="1900" spc="-80" dirty="0">
                <a:latin typeface="Calibri"/>
                <a:cs typeface="Calibri"/>
              </a:rPr>
              <a:t> </a:t>
            </a:r>
            <a:r>
              <a:rPr sz="1900" spc="-5" dirty="0">
                <a:latin typeface="Calibri"/>
                <a:cs typeface="Calibri"/>
              </a:rPr>
              <a:t>in</a:t>
            </a:r>
            <a:r>
              <a:rPr sz="1900" spc="-60" dirty="0">
                <a:latin typeface="Calibri"/>
                <a:cs typeface="Calibri"/>
              </a:rPr>
              <a:t> </a:t>
            </a:r>
            <a:r>
              <a:rPr sz="1900" spc="-5" dirty="0">
                <a:latin typeface="Calibri"/>
                <a:cs typeface="Calibri"/>
              </a:rPr>
              <a:t>a</a:t>
            </a:r>
            <a:r>
              <a:rPr sz="1900" spc="-75" dirty="0">
                <a:latin typeface="Calibri"/>
                <a:cs typeface="Calibri"/>
              </a:rPr>
              <a:t> </a:t>
            </a:r>
            <a:r>
              <a:rPr sz="1900" spc="-5" dirty="0">
                <a:latin typeface="Calibri"/>
                <a:cs typeface="Calibri"/>
              </a:rPr>
              <a:t>beaker.</a:t>
            </a:r>
            <a:endParaRPr sz="1900">
              <a:latin typeface="Calibri"/>
              <a:cs typeface="Calibri"/>
            </a:endParaRPr>
          </a:p>
          <a:p>
            <a:pPr marL="469900" marR="810260" indent="-457834">
              <a:lnSpc>
                <a:spcPts val="2039"/>
              </a:lnSpc>
              <a:spcBef>
                <a:spcPts val="509"/>
              </a:spcBef>
              <a:buAutoNum type="arabicParenR"/>
              <a:tabLst>
                <a:tab pos="469900" algn="l"/>
                <a:tab pos="470534" algn="l"/>
              </a:tabLst>
            </a:pPr>
            <a:r>
              <a:rPr sz="1900" spc="-5" dirty="0">
                <a:latin typeface="Calibri"/>
                <a:cs typeface="Calibri"/>
              </a:rPr>
              <a:t>Immerse</a:t>
            </a:r>
            <a:r>
              <a:rPr sz="1900" spc="-65" dirty="0">
                <a:latin typeface="Calibri"/>
                <a:cs typeface="Calibri"/>
              </a:rPr>
              <a:t> </a:t>
            </a:r>
            <a:r>
              <a:rPr sz="1900" spc="-5" dirty="0">
                <a:latin typeface="Calibri"/>
                <a:cs typeface="Calibri"/>
              </a:rPr>
              <a:t>the</a:t>
            </a:r>
            <a:r>
              <a:rPr sz="1900" spc="-45" dirty="0">
                <a:latin typeface="Calibri"/>
                <a:cs typeface="Calibri"/>
              </a:rPr>
              <a:t> </a:t>
            </a:r>
            <a:r>
              <a:rPr sz="1900" spc="-5" dirty="0">
                <a:latin typeface="Calibri"/>
                <a:cs typeface="Calibri"/>
              </a:rPr>
              <a:t>glass</a:t>
            </a:r>
            <a:r>
              <a:rPr sz="1900" spc="-30" dirty="0">
                <a:latin typeface="Calibri"/>
                <a:cs typeface="Calibri"/>
              </a:rPr>
              <a:t> </a:t>
            </a:r>
            <a:r>
              <a:rPr sz="1900" spc="-5" dirty="0">
                <a:latin typeface="Calibri"/>
                <a:cs typeface="Calibri"/>
              </a:rPr>
              <a:t>electrode</a:t>
            </a:r>
            <a:r>
              <a:rPr sz="1900" spc="-15" dirty="0">
                <a:latin typeface="Calibri"/>
                <a:cs typeface="Calibri"/>
              </a:rPr>
              <a:t> </a:t>
            </a:r>
            <a:r>
              <a:rPr sz="1900" spc="-10" dirty="0">
                <a:latin typeface="Calibri"/>
                <a:cs typeface="Calibri"/>
              </a:rPr>
              <a:t>(indicator</a:t>
            </a:r>
            <a:r>
              <a:rPr sz="1900" spc="-25" dirty="0">
                <a:latin typeface="Calibri"/>
                <a:cs typeface="Calibri"/>
              </a:rPr>
              <a:t> </a:t>
            </a:r>
            <a:r>
              <a:rPr sz="1900" spc="-5" dirty="0">
                <a:latin typeface="Calibri"/>
                <a:cs typeface="Calibri"/>
              </a:rPr>
              <a:t>electrode)</a:t>
            </a:r>
            <a:r>
              <a:rPr sz="1900" spc="-30" dirty="0">
                <a:latin typeface="Calibri"/>
                <a:cs typeface="Calibri"/>
              </a:rPr>
              <a:t> </a:t>
            </a:r>
            <a:r>
              <a:rPr sz="1900" dirty="0">
                <a:latin typeface="Calibri"/>
                <a:cs typeface="Calibri"/>
              </a:rPr>
              <a:t>and</a:t>
            </a:r>
            <a:r>
              <a:rPr sz="1900" spc="-25" dirty="0">
                <a:latin typeface="Calibri"/>
                <a:cs typeface="Calibri"/>
              </a:rPr>
              <a:t> </a:t>
            </a:r>
            <a:r>
              <a:rPr sz="1900" spc="-10" dirty="0">
                <a:latin typeface="Calibri"/>
                <a:cs typeface="Calibri"/>
              </a:rPr>
              <a:t>Calomel</a:t>
            </a:r>
            <a:r>
              <a:rPr sz="1900" spc="-35" dirty="0">
                <a:latin typeface="Calibri"/>
                <a:cs typeface="Calibri"/>
              </a:rPr>
              <a:t> </a:t>
            </a:r>
            <a:r>
              <a:rPr sz="1900" spc="-5" dirty="0">
                <a:latin typeface="Calibri"/>
                <a:cs typeface="Calibri"/>
              </a:rPr>
              <a:t>electrode </a:t>
            </a:r>
            <a:r>
              <a:rPr sz="1900" spc="-415" dirty="0">
                <a:latin typeface="Calibri"/>
                <a:cs typeface="Calibri"/>
              </a:rPr>
              <a:t> </a:t>
            </a:r>
            <a:r>
              <a:rPr sz="1900" spc="-10" dirty="0">
                <a:latin typeface="Calibri"/>
                <a:cs typeface="Calibri"/>
              </a:rPr>
              <a:t>(reference</a:t>
            </a:r>
            <a:r>
              <a:rPr sz="1900" spc="-20" dirty="0">
                <a:latin typeface="Calibri"/>
                <a:cs typeface="Calibri"/>
              </a:rPr>
              <a:t> </a:t>
            </a:r>
            <a:r>
              <a:rPr sz="1900" spc="-5" dirty="0">
                <a:latin typeface="Calibri"/>
                <a:cs typeface="Calibri"/>
              </a:rPr>
              <a:t>electrode)</a:t>
            </a:r>
            <a:r>
              <a:rPr sz="1900" spc="-15" dirty="0">
                <a:latin typeface="Calibri"/>
                <a:cs typeface="Calibri"/>
              </a:rPr>
              <a:t> </a:t>
            </a:r>
            <a:r>
              <a:rPr sz="1900" spc="-5" dirty="0">
                <a:latin typeface="Calibri"/>
                <a:cs typeface="Calibri"/>
              </a:rPr>
              <a:t>in </a:t>
            </a:r>
            <a:r>
              <a:rPr sz="1900" spc="-10" dirty="0">
                <a:latin typeface="Calibri"/>
                <a:cs typeface="Calibri"/>
              </a:rPr>
              <a:t>it.</a:t>
            </a:r>
            <a:r>
              <a:rPr sz="1900" spc="-25" dirty="0">
                <a:latin typeface="Calibri"/>
                <a:cs typeface="Calibri"/>
              </a:rPr>
              <a:t> </a:t>
            </a:r>
            <a:r>
              <a:rPr sz="1900" spc="-5" dirty="0">
                <a:latin typeface="Calibri"/>
                <a:cs typeface="Calibri"/>
              </a:rPr>
              <a:t>Note the</a:t>
            </a:r>
            <a:r>
              <a:rPr sz="1900" dirty="0">
                <a:latin typeface="Calibri"/>
                <a:cs typeface="Calibri"/>
              </a:rPr>
              <a:t> pH</a:t>
            </a:r>
            <a:r>
              <a:rPr sz="1900" spc="-30" dirty="0">
                <a:latin typeface="Calibri"/>
                <a:cs typeface="Calibri"/>
              </a:rPr>
              <a:t> </a:t>
            </a:r>
            <a:r>
              <a:rPr sz="1900" spc="-5" dirty="0">
                <a:latin typeface="Calibri"/>
                <a:cs typeface="Calibri"/>
              </a:rPr>
              <a:t>for </a:t>
            </a:r>
            <a:r>
              <a:rPr sz="1900" spc="-10" dirty="0">
                <a:latin typeface="Calibri"/>
                <a:cs typeface="Calibri"/>
              </a:rPr>
              <a:t>zero</a:t>
            </a:r>
            <a:r>
              <a:rPr sz="1900" spc="10" dirty="0">
                <a:latin typeface="Calibri"/>
                <a:cs typeface="Calibri"/>
              </a:rPr>
              <a:t> </a:t>
            </a:r>
            <a:r>
              <a:rPr sz="1900" spc="-5" dirty="0">
                <a:latin typeface="Calibri"/>
                <a:cs typeface="Calibri"/>
              </a:rPr>
              <a:t>mL</a:t>
            </a:r>
            <a:r>
              <a:rPr sz="1900" spc="-25" dirty="0">
                <a:latin typeface="Calibri"/>
                <a:cs typeface="Calibri"/>
              </a:rPr>
              <a:t> </a:t>
            </a:r>
            <a:r>
              <a:rPr sz="1900" spc="-5" dirty="0">
                <a:latin typeface="Calibri"/>
                <a:cs typeface="Calibri"/>
              </a:rPr>
              <a:t>addition </a:t>
            </a:r>
            <a:r>
              <a:rPr sz="1900" dirty="0">
                <a:latin typeface="Calibri"/>
                <a:cs typeface="Calibri"/>
              </a:rPr>
              <a:t>of</a:t>
            </a:r>
            <a:r>
              <a:rPr sz="1900" spc="-50" dirty="0">
                <a:latin typeface="Calibri"/>
                <a:cs typeface="Calibri"/>
              </a:rPr>
              <a:t> </a:t>
            </a:r>
            <a:r>
              <a:rPr sz="1900" spc="-5" dirty="0">
                <a:latin typeface="Calibri"/>
                <a:cs typeface="Calibri"/>
              </a:rPr>
              <a:t>NaOH.</a:t>
            </a:r>
            <a:endParaRPr sz="1900">
              <a:latin typeface="Calibri"/>
              <a:cs typeface="Calibri"/>
            </a:endParaRPr>
          </a:p>
          <a:p>
            <a:pPr marL="469900" indent="-457834">
              <a:lnSpc>
                <a:spcPct val="100000"/>
              </a:lnSpc>
              <a:spcBef>
                <a:spcPts val="190"/>
              </a:spcBef>
              <a:buAutoNum type="arabicParenR"/>
              <a:tabLst>
                <a:tab pos="469900" algn="l"/>
                <a:tab pos="470534" algn="l"/>
              </a:tabLst>
            </a:pPr>
            <a:r>
              <a:rPr sz="1900" spc="-10" dirty="0">
                <a:latin typeface="Calibri"/>
                <a:cs typeface="Calibri"/>
              </a:rPr>
              <a:t>Fill</a:t>
            </a:r>
            <a:r>
              <a:rPr sz="1900" spc="-30" dirty="0">
                <a:latin typeface="Calibri"/>
                <a:cs typeface="Calibri"/>
              </a:rPr>
              <a:t> </a:t>
            </a:r>
            <a:r>
              <a:rPr sz="1900" spc="-5" dirty="0">
                <a:latin typeface="Calibri"/>
                <a:cs typeface="Calibri"/>
              </a:rPr>
              <a:t>the</a:t>
            </a:r>
            <a:r>
              <a:rPr sz="1900" spc="-20" dirty="0">
                <a:latin typeface="Calibri"/>
                <a:cs typeface="Calibri"/>
              </a:rPr>
              <a:t> </a:t>
            </a:r>
            <a:r>
              <a:rPr sz="1900" spc="-5" dirty="0">
                <a:latin typeface="Calibri"/>
                <a:cs typeface="Calibri"/>
              </a:rPr>
              <a:t>burette</a:t>
            </a:r>
            <a:r>
              <a:rPr sz="1900" spc="-25" dirty="0">
                <a:latin typeface="Calibri"/>
                <a:cs typeface="Calibri"/>
              </a:rPr>
              <a:t> </a:t>
            </a:r>
            <a:r>
              <a:rPr sz="1900" spc="-10" dirty="0">
                <a:latin typeface="Calibri"/>
                <a:cs typeface="Calibri"/>
              </a:rPr>
              <a:t>with</a:t>
            </a:r>
            <a:r>
              <a:rPr sz="1900" spc="-5" dirty="0">
                <a:latin typeface="Calibri"/>
                <a:cs typeface="Calibri"/>
              </a:rPr>
              <a:t> known </a:t>
            </a:r>
            <a:r>
              <a:rPr sz="1900" spc="-10" dirty="0">
                <a:latin typeface="Calibri"/>
                <a:cs typeface="Calibri"/>
              </a:rPr>
              <a:t>concentration</a:t>
            </a:r>
            <a:r>
              <a:rPr sz="1900" spc="-20" dirty="0">
                <a:latin typeface="Calibri"/>
                <a:cs typeface="Calibri"/>
              </a:rPr>
              <a:t> </a:t>
            </a:r>
            <a:r>
              <a:rPr sz="1900" dirty="0">
                <a:latin typeface="Calibri"/>
                <a:cs typeface="Calibri"/>
              </a:rPr>
              <a:t>of</a:t>
            </a:r>
            <a:r>
              <a:rPr sz="1900" spc="-25" dirty="0">
                <a:latin typeface="Calibri"/>
                <a:cs typeface="Calibri"/>
              </a:rPr>
              <a:t> </a:t>
            </a:r>
            <a:r>
              <a:rPr sz="1900" spc="-5" dirty="0">
                <a:latin typeface="Calibri"/>
                <a:cs typeface="Calibri"/>
              </a:rPr>
              <a:t>NaOH.</a:t>
            </a:r>
            <a:endParaRPr sz="1900">
              <a:latin typeface="Calibri"/>
              <a:cs typeface="Calibri"/>
            </a:endParaRPr>
          </a:p>
          <a:p>
            <a:pPr marL="469900" marR="5080" indent="-457834">
              <a:lnSpc>
                <a:spcPts val="2180"/>
              </a:lnSpc>
              <a:spcBef>
                <a:spcPts val="325"/>
              </a:spcBef>
              <a:buAutoNum type="arabicParenR"/>
              <a:tabLst>
                <a:tab pos="469900" algn="l"/>
                <a:tab pos="470534" algn="l"/>
              </a:tabLst>
            </a:pPr>
            <a:r>
              <a:rPr sz="1900" spc="-5" dirty="0">
                <a:latin typeface="Calibri"/>
                <a:cs typeface="Calibri"/>
              </a:rPr>
              <a:t>Every </a:t>
            </a:r>
            <a:r>
              <a:rPr sz="1900" spc="-10" dirty="0">
                <a:latin typeface="Calibri"/>
                <a:cs typeface="Calibri"/>
              </a:rPr>
              <a:t>time </a:t>
            </a:r>
            <a:r>
              <a:rPr sz="1900" dirty="0">
                <a:latin typeface="Calibri"/>
                <a:cs typeface="Calibri"/>
              </a:rPr>
              <a:t>add </a:t>
            </a:r>
            <a:r>
              <a:rPr sz="1900" spc="-5" dirty="0">
                <a:latin typeface="Calibri"/>
                <a:cs typeface="Calibri"/>
              </a:rPr>
              <a:t>0.5 ml NaOH in acid solution, </a:t>
            </a:r>
            <a:r>
              <a:rPr sz="1900" spc="-10" dirty="0">
                <a:latin typeface="Calibri"/>
                <a:cs typeface="Calibri"/>
              </a:rPr>
              <a:t>stir </a:t>
            </a:r>
            <a:r>
              <a:rPr sz="1900" spc="-5" dirty="0">
                <a:latin typeface="Calibri"/>
                <a:cs typeface="Calibri"/>
              </a:rPr>
              <a:t>the solution </a:t>
            </a:r>
            <a:r>
              <a:rPr sz="1900" spc="-10" dirty="0">
                <a:latin typeface="Calibri"/>
                <a:cs typeface="Calibri"/>
              </a:rPr>
              <a:t>and note </a:t>
            </a:r>
            <a:r>
              <a:rPr sz="1900" spc="-5" dirty="0">
                <a:latin typeface="Calibri"/>
                <a:cs typeface="Calibri"/>
              </a:rPr>
              <a:t>down the </a:t>
            </a:r>
            <a:r>
              <a:rPr sz="1900" spc="-415" dirty="0">
                <a:latin typeface="Calibri"/>
                <a:cs typeface="Calibri"/>
              </a:rPr>
              <a:t> </a:t>
            </a:r>
            <a:r>
              <a:rPr sz="1900" spc="-5" dirty="0">
                <a:latin typeface="Calibri"/>
                <a:cs typeface="Calibri"/>
              </a:rPr>
              <a:t>pH.</a:t>
            </a:r>
            <a:endParaRPr sz="1900">
              <a:latin typeface="Calibri"/>
              <a:cs typeface="Calibri"/>
            </a:endParaRPr>
          </a:p>
          <a:p>
            <a:pPr marL="469900" marR="359410" indent="-457834">
              <a:lnSpc>
                <a:spcPts val="2039"/>
              </a:lnSpc>
              <a:spcBef>
                <a:spcPts val="385"/>
              </a:spcBef>
              <a:buAutoNum type="arabicParenR"/>
              <a:tabLst>
                <a:tab pos="469900" algn="l"/>
                <a:tab pos="470534" algn="l"/>
              </a:tabLst>
            </a:pPr>
            <a:r>
              <a:rPr sz="1900" spc="-5" dirty="0">
                <a:latin typeface="Calibri"/>
                <a:cs typeface="Calibri"/>
              </a:rPr>
              <a:t>Continue the titration,</a:t>
            </a:r>
            <a:r>
              <a:rPr sz="1900" spc="5" dirty="0">
                <a:latin typeface="Calibri"/>
                <a:cs typeface="Calibri"/>
              </a:rPr>
              <a:t> </a:t>
            </a:r>
            <a:r>
              <a:rPr sz="1900" dirty="0">
                <a:latin typeface="Calibri"/>
                <a:cs typeface="Calibri"/>
              </a:rPr>
              <a:t>at</a:t>
            </a:r>
            <a:r>
              <a:rPr sz="1900" spc="-10" dirty="0">
                <a:latin typeface="Calibri"/>
                <a:cs typeface="Calibri"/>
              </a:rPr>
              <a:t> </a:t>
            </a:r>
            <a:r>
              <a:rPr sz="1900" spc="-5" dirty="0">
                <a:latin typeface="Calibri"/>
                <a:cs typeface="Calibri"/>
              </a:rPr>
              <a:t>the</a:t>
            </a:r>
            <a:r>
              <a:rPr sz="1900" dirty="0">
                <a:latin typeface="Calibri"/>
                <a:cs typeface="Calibri"/>
              </a:rPr>
              <a:t> equivalence</a:t>
            </a:r>
            <a:r>
              <a:rPr sz="1900" spc="-5" dirty="0">
                <a:latin typeface="Calibri"/>
                <a:cs typeface="Calibri"/>
              </a:rPr>
              <a:t> </a:t>
            </a:r>
            <a:r>
              <a:rPr sz="1900" dirty="0">
                <a:latin typeface="Calibri"/>
                <a:cs typeface="Calibri"/>
              </a:rPr>
              <a:t>point</a:t>
            </a:r>
            <a:r>
              <a:rPr sz="1900" spc="-10" dirty="0">
                <a:latin typeface="Calibri"/>
                <a:cs typeface="Calibri"/>
              </a:rPr>
              <a:t> </a:t>
            </a:r>
            <a:r>
              <a:rPr sz="1900" dirty="0">
                <a:latin typeface="Calibri"/>
                <a:cs typeface="Calibri"/>
              </a:rPr>
              <a:t>pH </a:t>
            </a:r>
            <a:r>
              <a:rPr sz="1900" spc="-5" dirty="0">
                <a:latin typeface="Calibri"/>
                <a:cs typeface="Calibri"/>
              </a:rPr>
              <a:t>suddenly</a:t>
            </a:r>
            <a:r>
              <a:rPr sz="1900" spc="50" dirty="0">
                <a:latin typeface="Calibri"/>
                <a:cs typeface="Calibri"/>
              </a:rPr>
              <a:t> </a:t>
            </a:r>
            <a:r>
              <a:rPr sz="1900" spc="-10" dirty="0">
                <a:latin typeface="Calibri"/>
                <a:cs typeface="Calibri"/>
              </a:rPr>
              <a:t>increases.</a:t>
            </a:r>
            <a:r>
              <a:rPr sz="1900" spc="10" dirty="0">
                <a:latin typeface="Calibri"/>
                <a:cs typeface="Calibri"/>
              </a:rPr>
              <a:t> </a:t>
            </a:r>
            <a:r>
              <a:rPr sz="1900" spc="-10" dirty="0">
                <a:latin typeface="Calibri"/>
                <a:cs typeface="Calibri"/>
              </a:rPr>
              <a:t>After </a:t>
            </a:r>
            <a:r>
              <a:rPr sz="1900" spc="-415" dirty="0">
                <a:latin typeface="Calibri"/>
                <a:cs typeface="Calibri"/>
              </a:rPr>
              <a:t> </a:t>
            </a:r>
            <a:r>
              <a:rPr sz="1900" dirty="0">
                <a:latin typeface="Calibri"/>
                <a:cs typeface="Calibri"/>
              </a:rPr>
              <a:t>sudden</a:t>
            </a:r>
            <a:r>
              <a:rPr sz="1900" spc="-25" dirty="0">
                <a:latin typeface="Calibri"/>
                <a:cs typeface="Calibri"/>
              </a:rPr>
              <a:t> </a:t>
            </a:r>
            <a:r>
              <a:rPr sz="1900" spc="-10" dirty="0">
                <a:latin typeface="Calibri"/>
                <a:cs typeface="Calibri"/>
              </a:rPr>
              <a:t>increase</a:t>
            </a:r>
            <a:r>
              <a:rPr sz="1900" spc="-20" dirty="0">
                <a:latin typeface="Calibri"/>
                <a:cs typeface="Calibri"/>
              </a:rPr>
              <a:t> </a:t>
            </a:r>
            <a:r>
              <a:rPr sz="1900" spc="-5" dirty="0">
                <a:latin typeface="Calibri"/>
                <a:cs typeface="Calibri"/>
              </a:rPr>
              <a:t>in pH,</a:t>
            </a:r>
            <a:r>
              <a:rPr sz="1900" spc="-10" dirty="0">
                <a:latin typeface="Calibri"/>
                <a:cs typeface="Calibri"/>
              </a:rPr>
              <a:t> do </a:t>
            </a:r>
            <a:r>
              <a:rPr sz="1900" spc="-5" dirty="0">
                <a:latin typeface="Calibri"/>
                <a:cs typeface="Calibri"/>
              </a:rPr>
              <a:t>the</a:t>
            </a:r>
            <a:r>
              <a:rPr sz="1900" spc="-25" dirty="0">
                <a:latin typeface="Calibri"/>
                <a:cs typeface="Calibri"/>
              </a:rPr>
              <a:t> </a:t>
            </a:r>
            <a:r>
              <a:rPr sz="1900" spc="-20" dirty="0">
                <a:latin typeface="Calibri"/>
                <a:cs typeface="Calibri"/>
              </a:rPr>
              <a:t>few</a:t>
            </a:r>
            <a:r>
              <a:rPr sz="1900" spc="-30" dirty="0">
                <a:latin typeface="Calibri"/>
                <a:cs typeface="Calibri"/>
              </a:rPr>
              <a:t> </a:t>
            </a:r>
            <a:r>
              <a:rPr sz="1900" spc="-5" dirty="0">
                <a:latin typeface="Calibri"/>
                <a:cs typeface="Calibri"/>
              </a:rPr>
              <a:t>addition</a:t>
            </a:r>
            <a:r>
              <a:rPr sz="1900" spc="30" dirty="0">
                <a:latin typeface="Calibri"/>
                <a:cs typeface="Calibri"/>
              </a:rPr>
              <a:t> </a:t>
            </a:r>
            <a:r>
              <a:rPr sz="1900" dirty="0">
                <a:latin typeface="Calibri"/>
                <a:cs typeface="Calibri"/>
              </a:rPr>
              <a:t>of </a:t>
            </a:r>
            <a:r>
              <a:rPr sz="1900" spc="-5" dirty="0">
                <a:latin typeface="Calibri"/>
                <a:cs typeface="Calibri"/>
              </a:rPr>
              <a:t>NaOH</a:t>
            </a:r>
            <a:r>
              <a:rPr sz="1900" spc="-25" dirty="0">
                <a:latin typeface="Calibri"/>
                <a:cs typeface="Calibri"/>
              </a:rPr>
              <a:t> </a:t>
            </a:r>
            <a:r>
              <a:rPr sz="1900" spc="-10" dirty="0">
                <a:latin typeface="Calibri"/>
                <a:cs typeface="Calibri"/>
              </a:rPr>
              <a:t>till</a:t>
            </a:r>
            <a:r>
              <a:rPr sz="1900" spc="-20" dirty="0">
                <a:latin typeface="Calibri"/>
                <a:cs typeface="Calibri"/>
              </a:rPr>
              <a:t> </a:t>
            </a:r>
            <a:r>
              <a:rPr sz="1900" dirty="0">
                <a:latin typeface="Calibri"/>
                <a:cs typeface="Calibri"/>
              </a:rPr>
              <a:t>pH</a:t>
            </a:r>
            <a:r>
              <a:rPr sz="1900" spc="-25" dirty="0">
                <a:latin typeface="Calibri"/>
                <a:cs typeface="Calibri"/>
              </a:rPr>
              <a:t> </a:t>
            </a:r>
            <a:r>
              <a:rPr sz="1900" spc="-10" dirty="0">
                <a:latin typeface="Calibri"/>
                <a:cs typeface="Calibri"/>
              </a:rPr>
              <a:t>remains </a:t>
            </a:r>
            <a:r>
              <a:rPr sz="1900" spc="-5" dirty="0">
                <a:latin typeface="Calibri"/>
                <a:cs typeface="Calibri"/>
              </a:rPr>
              <a:t>constant.</a:t>
            </a:r>
            <a:endParaRPr sz="1900">
              <a:latin typeface="Calibri"/>
              <a:cs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399033"/>
            <a:ext cx="6292850" cy="329565"/>
          </a:xfrm>
          <a:prstGeom prst="rect">
            <a:avLst/>
          </a:prstGeom>
        </p:spPr>
        <p:txBody>
          <a:bodyPr vert="horz" wrap="square" lIns="0" tIns="11430" rIns="0" bIns="0" rtlCol="0">
            <a:spAutoFit/>
          </a:bodyPr>
          <a:lstStyle/>
          <a:p>
            <a:pPr marL="354330" indent="-342265">
              <a:lnSpc>
                <a:spcPct val="100000"/>
              </a:lnSpc>
              <a:spcBef>
                <a:spcPts val="90"/>
              </a:spcBef>
              <a:buFont typeface="Microsoft Sans Serif"/>
              <a:buChar char="•"/>
              <a:tabLst>
                <a:tab pos="353695" algn="l"/>
                <a:tab pos="354965" algn="l"/>
              </a:tabLst>
            </a:pPr>
            <a:r>
              <a:rPr sz="2000" b="1" spc="-5" dirty="0">
                <a:latin typeface="Calibri"/>
                <a:cs typeface="Calibri"/>
              </a:rPr>
              <a:t>Graphs:</a:t>
            </a:r>
            <a:r>
              <a:rPr sz="2000" b="1" spc="-15" dirty="0">
                <a:latin typeface="Calibri"/>
                <a:cs typeface="Calibri"/>
              </a:rPr>
              <a:t> </a:t>
            </a:r>
            <a:r>
              <a:rPr sz="2000" spc="-10" dirty="0">
                <a:latin typeface="Calibri"/>
                <a:cs typeface="Calibri"/>
              </a:rPr>
              <a:t>1)</a:t>
            </a:r>
            <a:r>
              <a:rPr sz="2000" spc="-20" dirty="0">
                <a:latin typeface="Calibri"/>
                <a:cs typeface="Calibri"/>
              </a:rPr>
              <a:t> </a:t>
            </a:r>
            <a:r>
              <a:rPr sz="2000" spc="-5" dirty="0">
                <a:latin typeface="Calibri"/>
                <a:cs typeface="Calibri"/>
              </a:rPr>
              <a:t>Plot</a:t>
            </a:r>
            <a:r>
              <a:rPr sz="2000" spc="10" dirty="0">
                <a:latin typeface="Calibri"/>
                <a:cs typeface="Calibri"/>
              </a:rPr>
              <a:t> </a:t>
            </a:r>
            <a:r>
              <a:rPr sz="2000" spc="-5" dirty="0">
                <a:latin typeface="Calibri"/>
                <a:cs typeface="Calibri"/>
              </a:rPr>
              <a:t>the</a:t>
            </a:r>
            <a:r>
              <a:rPr sz="2000" spc="-20" dirty="0">
                <a:latin typeface="Calibri"/>
                <a:cs typeface="Calibri"/>
              </a:rPr>
              <a:t> </a:t>
            </a:r>
            <a:r>
              <a:rPr sz="2000" spc="-5" dirty="0">
                <a:latin typeface="Calibri"/>
                <a:cs typeface="Calibri"/>
              </a:rPr>
              <a:t>graph of</a:t>
            </a:r>
            <a:r>
              <a:rPr sz="2000" spc="-25" dirty="0">
                <a:latin typeface="Calibri"/>
                <a:cs typeface="Calibri"/>
              </a:rPr>
              <a:t> </a:t>
            </a:r>
            <a:r>
              <a:rPr sz="2000" spc="-15" dirty="0">
                <a:latin typeface="Calibri"/>
                <a:cs typeface="Calibri"/>
              </a:rPr>
              <a:t>pH</a:t>
            </a:r>
            <a:r>
              <a:rPr sz="2000" spc="-10" dirty="0">
                <a:latin typeface="Calibri"/>
                <a:cs typeface="Calibri"/>
              </a:rPr>
              <a:t> verses</a:t>
            </a:r>
            <a:r>
              <a:rPr sz="2000" spc="20" dirty="0">
                <a:latin typeface="Calibri"/>
                <a:cs typeface="Calibri"/>
              </a:rPr>
              <a:t> </a:t>
            </a:r>
            <a:r>
              <a:rPr sz="2000" spc="-10" dirty="0">
                <a:latin typeface="Calibri"/>
                <a:cs typeface="Calibri"/>
              </a:rPr>
              <a:t>mL</a:t>
            </a:r>
            <a:r>
              <a:rPr sz="2000" spc="10" dirty="0">
                <a:latin typeface="Calibri"/>
                <a:cs typeface="Calibri"/>
              </a:rPr>
              <a:t> </a:t>
            </a:r>
            <a:r>
              <a:rPr sz="2000" spc="-5" dirty="0">
                <a:latin typeface="Calibri"/>
                <a:cs typeface="Calibri"/>
              </a:rPr>
              <a:t>of</a:t>
            </a:r>
            <a:r>
              <a:rPr sz="2000" spc="-25" dirty="0">
                <a:latin typeface="Calibri"/>
                <a:cs typeface="Calibri"/>
              </a:rPr>
              <a:t> </a:t>
            </a:r>
            <a:r>
              <a:rPr sz="2000" spc="-5" dirty="0">
                <a:latin typeface="Calibri"/>
                <a:cs typeface="Calibri"/>
              </a:rPr>
              <a:t>NaOH added</a:t>
            </a:r>
            <a:endParaRPr sz="2000">
              <a:latin typeface="Calibri"/>
              <a:cs typeface="Calibri"/>
            </a:endParaRPr>
          </a:p>
        </p:txBody>
      </p:sp>
      <p:sp>
        <p:nvSpPr>
          <p:cNvPr id="3" name="object 3"/>
          <p:cNvSpPr txBox="1"/>
          <p:nvPr/>
        </p:nvSpPr>
        <p:spPr>
          <a:xfrm>
            <a:off x="383540" y="2573274"/>
            <a:ext cx="8206105" cy="3256915"/>
          </a:xfrm>
          <a:prstGeom prst="rect">
            <a:avLst/>
          </a:prstGeom>
        </p:spPr>
        <p:txBody>
          <a:bodyPr vert="horz" wrap="square" lIns="0" tIns="11430" rIns="0" bIns="0" rtlCol="0">
            <a:spAutoFit/>
          </a:bodyPr>
          <a:lstStyle/>
          <a:p>
            <a:pPr marL="354330" marR="5080" indent="-342265">
              <a:lnSpc>
                <a:spcPct val="100000"/>
              </a:lnSpc>
              <a:spcBef>
                <a:spcPts val="90"/>
              </a:spcBef>
            </a:pPr>
            <a:r>
              <a:rPr sz="2000" b="1" spc="-5" dirty="0">
                <a:solidFill>
                  <a:srgbClr val="FF0000"/>
                </a:solidFill>
                <a:latin typeface="Calibri"/>
                <a:cs typeface="Calibri"/>
              </a:rPr>
              <a:t>Initial stage: </a:t>
            </a:r>
            <a:r>
              <a:rPr sz="2000" spc="-5" dirty="0">
                <a:latin typeface="Calibri"/>
                <a:cs typeface="Calibri"/>
              </a:rPr>
              <a:t>at the initial stage of titration pH reading is </a:t>
            </a:r>
            <a:r>
              <a:rPr sz="2000" spc="-10" dirty="0">
                <a:latin typeface="Calibri"/>
                <a:cs typeface="Calibri"/>
              </a:rPr>
              <a:t>between </a:t>
            </a:r>
            <a:r>
              <a:rPr sz="2000" spc="-5" dirty="0">
                <a:latin typeface="Calibri"/>
                <a:cs typeface="Calibri"/>
              </a:rPr>
              <a:t>1-2 pH due to </a:t>
            </a:r>
            <a:r>
              <a:rPr sz="2000" spc="-440" dirty="0">
                <a:latin typeface="Calibri"/>
                <a:cs typeface="Calibri"/>
              </a:rPr>
              <a:t> </a:t>
            </a:r>
            <a:r>
              <a:rPr sz="2000" spc="-10" dirty="0">
                <a:latin typeface="Calibri"/>
                <a:cs typeface="Calibri"/>
              </a:rPr>
              <a:t>complete</a:t>
            </a:r>
            <a:r>
              <a:rPr sz="2000" dirty="0">
                <a:latin typeface="Calibri"/>
                <a:cs typeface="Calibri"/>
              </a:rPr>
              <a:t> </a:t>
            </a:r>
            <a:r>
              <a:rPr sz="2000" spc="-5" dirty="0">
                <a:latin typeface="Calibri"/>
                <a:cs typeface="Calibri"/>
              </a:rPr>
              <a:t>dissociation</a:t>
            </a:r>
            <a:r>
              <a:rPr sz="2000" spc="20" dirty="0">
                <a:latin typeface="Calibri"/>
                <a:cs typeface="Calibri"/>
              </a:rPr>
              <a:t> </a:t>
            </a:r>
            <a:r>
              <a:rPr sz="2000" spc="-5" dirty="0">
                <a:latin typeface="Calibri"/>
                <a:cs typeface="Calibri"/>
              </a:rPr>
              <a:t>of</a:t>
            </a:r>
            <a:r>
              <a:rPr sz="2000" spc="-15" dirty="0">
                <a:latin typeface="Calibri"/>
                <a:cs typeface="Calibri"/>
              </a:rPr>
              <a:t> </a:t>
            </a:r>
            <a:r>
              <a:rPr sz="2000" dirty="0">
                <a:latin typeface="Calibri"/>
                <a:cs typeface="Calibri"/>
              </a:rPr>
              <a:t>HCl.</a:t>
            </a:r>
            <a:r>
              <a:rPr sz="2000" spc="20" dirty="0">
                <a:latin typeface="Calibri"/>
                <a:cs typeface="Calibri"/>
              </a:rPr>
              <a:t> </a:t>
            </a:r>
            <a:r>
              <a:rPr sz="2000" spc="-5" dirty="0">
                <a:latin typeface="Calibri"/>
                <a:cs typeface="Calibri"/>
              </a:rPr>
              <a:t>HCl</a:t>
            </a:r>
            <a:r>
              <a:rPr sz="2000" spc="-15" dirty="0">
                <a:latin typeface="Calibri"/>
                <a:cs typeface="Calibri"/>
              </a:rPr>
              <a:t> </a:t>
            </a:r>
            <a:r>
              <a:rPr sz="2000" spc="-10" dirty="0">
                <a:latin typeface="Calibri"/>
                <a:cs typeface="Calibri"/>
              </a:rPr>
              <a:t>→</a:t>
            </a:r>
            <a:r>
              <a:rPr sz="2000" spc="-15" dirty="0">
                <a:latin typeface="Calibri"/>
                <a:cs typeface="Calibri"/>
              </a:rPr>
              <a:t> </a:t>
            </a:r>
            <a:r>
              <a:rPr sz="2000" spc="-5" dirty="0">
                <a:latin typeface="Calibri"/>
                <a:cs typeface="Calibri"/>
              </a:rPr>
              <a:t>H+</a:t>
            </a:r>
            <a:r>
              <a:rPr sz="2000" spc="5" dirty="0">
                <a:latin typeface="Calibri"/>
                <a:cs typeface="Calibri"/>
              </a:rPr>
              <a:t> </a:t>
            </a:r>
            <a:r>
              <a:rPr sz="2000" spc="-5" dirty="0">
                <a:latin typeface="Calibri"/>
                <a:cs typeface="Calibri"/>
              </a:rPr>
              <a:t>+</a:t>
            </a:r>
            <a:r>
              <a:rPr sz="2000" spc="15" dirty="0">
                <a:latin typeface="Calibri"/>
                <a:cs typeface="Calibri"/>
              </a:rPr>
              <a:t> </a:t>
            </a:r>
            <a:r>
              <a:rPr sz="2000" spc="-10" dirty="0">
                <a:latin typeface="Calibri"/>
                <a:cs typeface="Calibri"/>
              </a:rPr>
              <a:t>Cl-</a:t>
            </a:r>
            <a:endParaRPr sz="2000">
              <a:latin typeface="Calibri"/>
              <a:cs typeface="Calibri"/>
            </a:endParaRPr>
          </a:p>
          <a:p>
            <a:pPr marL="354330" marR="102870" indent="-342265">
              <a:lnSpc>
                <a:spcPct val="100000"/>
              </a:lnSpc>
              <a:spcBef>
                <a:spcPts val="480"/>
              </a:spcBef>
            </a:pPr>
            <a:r>
              <a:rPr sz="2000" b="1" spc="-5" dirty="0">
                <a:solidFill>
                  <a:srgbClr val="FF0000"/>
                </a:solidFill>
                <a:latin typeface="Calibri"/>
                <a:cs typeface="Calibri"/>
              </a:rPr>
              <a:t>Before</a:t>
            </a:r>
            <a:r>
              <a:rPr sz="2000" b="1" dirty="0">
                <a:solidFill>
                  <a:srgbClr val="FF0000"/>
                </a:solidFill>
                <a:latin typeface="Calibri"/>
                <a:cs typeface="Calibri"/>
              </a:rPr>
              <a:t> </a:t>
            </a:r>
            <a:r>
              <a:rPr sz="2000" b="1" spc="-5" dirty="0">
                <a:solidFill>
                  <a:srgbClr val="FF0000"/>
                </a:solidFill>
                <a:latin typeface="Calibri"/>
                <a:cs typeface="Calibri"/>
              </a:rPr>
              <a:t>equivalence</a:t>
            </a:r>
            <a:r>
              <a:rPr sz="2000" b="1" spc="5" dirty="0">
                <a:solidFill>
                  <a:srgbClr val="FF0000"/>
                </a:solidFill>
                <a:latin typeface="Calibri"/>
                <a:cs typeface="Calibri"/>
              </a:rPr>
              <a:t> </a:t>
            </a:r>
            <a:r>
              <a:rPr sz="2000" b="1" spc="-5" dirty="0">
                <a:solidFill>
                  <a:srgbClr val="FF0000"/>
                </a:solidFill>
                <a:latin typeface="Calibri"/>
                <a:cs typeface="Calibri"/>
              </a:rPr>
              <a:t>point:</a:t>
            </a:r>
            <a:r>
              <a:rPr sz="2000" b="1" spc="50" dirty="0">
                <a:solidFill>
                  <a:srgbClr val="FF0000"/>
                </a:solidFill>
                <a:latin typeface="Calibri"/>
                <a:cs typeface="Calibri"/>
              </a:rPr>
              <a:t> </a:t>
            </a:r>
            <a:r>
              <a:rPr sz="2000" spc="-15" dirty="0">
                <a:latin typeface="Calibri"/>
                <a:cs typeface="Calibri"/>
              </a:rPr>
              <a:t>with</a:t>
            </a:r>
            <a:r>
              <a:rPr sz="2000" spc="10" dirty="0">
                <a:latin typeface="Calibri"/>
                <a:cs typeface="Calibri"/>
              </a:rPr>
              <a:t> </a:t>
            </a:r>
            <a:r>
              <a:rPr sz="2000" spc="-5" dirty="0">
                <a:latin typeface="Calibri"/>
                <a:cs typeface="Calibri"/>
              </a:rPr>
              <a:t>the addition</a:t>
            </a:r>
            <a:r>
              <a:rPr sz="2000" spc="5" dirty="0">
                <a:latin typeface="Calibri"/>
                <a:cs typeface="Calibri"/>
              </a:rPr>
              <a:t> </a:t>
            </a:r>
            <a:r>
              <a:rPr sz="2000" spc="-5" dirty="0">
                <a:latin typeface="Calibri"/>
                <a:cs typeface="Calibri"/>
              </a:rPr>
              <a:t>of</a:t>
            </a:r>
            <a:r>
              <a:rPr sz="2000" spc="-10" dirty="0">
                <a:latin typeface="Calibri"/>
                <a:cs typeface="Calibri"/>
              </a:rPr>
              <a:t> </a:t>
            </a:r>
            <a:r>
              <a:rPr sz="2000" spc="-5" dirty="0">
                <a:latin typeface="Calibri"/>
                <a:cs typeface="Calibri"/>
              </a:rPr>
              <a:t>NaOH</a:t>
            </a:r>
            <a:r>
              <a:rPr sz="2000" dirty="0">
                <a:latin typeface="Calibri"/>
                <a:cs typeface="Calibri"/>
              </a:rPr>
              <a:t> </a:t>
            </a:r>
            <a:r>
              <a:rPr sz="2000" spc="-10" dirty="0">
                <a:latin typeface="Calibri"/>
                <a:cs typeface="Calibri"/>
              </a:rPr>
              <a:t>from</a:t>
            </a:r>
            <a:r>
              <a:rPr sz="2000" spc="-20" dirty="0">
                <a:latin typeface="Calibri"/>
                <a:cs typeface="Calibri"/>
              </a:rPr>
              <a:t> </a:t>
            </a:r>
            <a:r>
              <a:rPr sz="2000" spc="-5" dirty="0">
                <a:latin typeface="Calibri"/>
                <a:cs typeface="Calibri"/>
              </a:rPr>
              <a:t>burette</a:t>
            </a:r>
            <a:r>
              <a:rPr sz="2000" spc="-10" dirty="0">
                <a:latin typeface="Calibri"/>
                <a:cs typeface="Calibri"/>
              </a:rPr>
              <a:t> </a:t>
            </a:r>
            <a:r>
              <a:rPr sz="2000" spc="-5" dirty="0">
                <a:latin typeface="Calibri"/>
                <a:cs typeface="Calibri"/>
              </a:rPr>
              <a:t>HCl</a:t>
            </a:r>
            <a:r>
              <a:rPr sz="2000" spc="-10" dirty="0">
                <a:latin typeface="Calibri"/>
                <a:cs typeface="Calibri"/>
              </a:rPr>
              <a:t> </a:t>
            </a:r>
            <a:r>
              <a:rPr sz="2000" spc="-5" dirty="0">
                <a:latin typeface="Calibri"/>
                <a:cs typeface="Calibri"/>
              </a:rPr>
              <a:t>is </a:t>
            </a:r>
            <a:r>
              <a:rPr sz="2000" dirty="0">
                <a:latin typeface="Calibri"/>
                <a:cs typeface="Calibri"/>
              </a:rPr>
              <a:t> </a:t>
            </a:r>
            <a:r>
              <a:rPr sz="2000" spc="-5" dirty="0">
                <a:latin typeface="Calibri"/>
                <a:cs typeface="Calibri"/>
              </a:rPr>
              <a:t>getting</a:t>
            </a:r>
            <a:r>
              <a:rPr sz="2000" spc="-65" dirty="0">
                <a:latin typeface="Calibri"/>
                <a:cs typeface="Calibri"/>
              </a:rPr>
              <a:t> </a:t>
            </a:r>
            <a:r>
              <a:rPr sz="2000" spc="-5" dirty="0">
                <a:latin typeface="Calibri"/>
                <a:cs typeface="Calibri"/>
              </a:rPr>
              <a:t>neutralization,</a:t>
            </a:r>
            <a:r>
              <a:rPr sz="2000" spc="-10" dirty="0">
                <a:latin typeface="Calibri"/>
                <a:cs typeface="Calibri"/>
              </a:rPr>
              <a:t> </a:t>
            </a:r>
            <a:r>
              <a:rPr sz="2000" spc="-5" dirty="0">
                <a:latin typeface="Calibri"/>
                <a:cs typeface="Calibri"/>
              </a:rPr>
              <a:t>and</a:t>
            </a:r>
            <a:r>
              <a:rPr sz="2000" spc="-25" dirty="0">
                <a:latin typeface="Calibri"/>
                <a:cs typeface="Calibri"/>
              </a:rPr>
              <a:t> </a:t>
            </a:r>
            <a:r>
              <a:rPr sz="2000" spc="-5" dirty="0">
                <a:latin typeface="Calibri"/>
                <a:cs typeface="Calibri"/>
              </a:rPr>
              <a:t>H+</a:t>
            </a:r>
            <a:r>
              <a:rPr sz="2000" spc="-75" dirty="0">
                <a:latin typeface="Calibri"/>
                <a:cs typeface="Calibri"/>
              </a:rPr>
              <a:t> </a:t>
            </a:r>
            <a:r>
              <a:rPr sz="2000" spc="-5" dirty="0">
                <a:latin typeface="Calibri"/>
                <a:cs typeface="Calibri"/>
              </a:rPr>
              <a:t>ion</a:t>
            </a:r>
            <a:r>
              <a:rPr sz="2000" spc="-20" dirty="0">
                <a:latin typeface="Calibri"/>
                <a:cs typeface="Calibri"/>
              </a:rPr>
              <a:t> </a:t>
            </a:r>
            <a:r>
              <a:rPr sz="2000" spc="-5" dirty="0">
                <a:latin typeface="Calibri"/>
                <a:cs typeface="Calibri"/>
              </a:rPr>
              <a:t>concentration</a:t>
            </a:r>
            <a:r>
              <a:rPr sz="2000" spc="-20" dirty="0">
                <a:latin typeface="Calibri"/>
                <a:cs typeface="Calibri"/>
              </a:rPr>
              <a:t> </a:t>
            </a:r>
            <a:r>
              <a:rPr sz="2000" spc="-5" dirty="0">
                <a:latin typeface="Calibri"/>
                <a:cs typeface="Calibri"/>
              </a:rPr>
              <a:t>decreases</a:t>
            </a:r>
            <a:r>
              <a:rPr sz="2000" spc="-35" dirty="0">
                <a:latin typeface="Calibri"/>
                <a:cs typeface="Calibri"/>
              </a:rPr>
              <a:t> </a:t>
            </a:r>
            <a:r>
              <a:rPr sz="2000" spc="-5" dirty="0">
                <a:latin typeface="Calibri"/>
                <a:cs typeface="Calibri"/>
              </a:rPr>
              <a:t>therefore</a:t>
            </a:r>
            <a:r>
              <a:rPr sz="2000" spc="-30" dirty="0">
                <a:latin typeface="Calibri"/>
                <a:cs typeface="Calibri"/>
              </a:rPr>
              <a:t> </a:t>
            </a:r>
            <a:r>
              <a:rPr sz="2000" spc="-10" dirty="0">
                <a:latin typeface="Calibri"/>
                <a:cs typeface="Calibri"/>
              </a:rPr>
              <a:t>slowly </a:t>
            </a:r>
            <a:r>
              <a:rPr sz="2000" spc="-440" dirty="0">
                <a:latin typeface="Calibri"/>
                <a:cs typeface="Calibri"/>
              </a:rPr>
              <a:t> </a:t>
            </a:r>
            <a:r>
              <a:rPr sz="2000" spc="-5" dirty="0">
                <a:latin typeface="Calibri"/>
                <a:cs typeface="Calibri"/>
              </a:rPr>
              <a:t>pH</a:t>
            </a:r>
            <a:r>
              <a:rPr sz="2000" spc="-20" dirty="0">
                <a:latin typeface="Calibri"/>
                <a:cs typeface="Calibri"/>
              </a:rPr>
              <a:t> </a:t>
            </a:r>
            <a:r>
              <a:rPr sz="2000" spc="-5" dirty="0">
                <a:latin typeface="Calibri"/>
                <a:cs typeface="Calibri"/>
              </a:rPr>
              <a:t>increases</a:t>
            </a:r>
            <a:r>
              <a:rPr sz="2000" spc="20" dirty="0">
                <a:latin typeface="Calibri"/>
                <a:cs typeface="Calibri"/>
              </a:rPr>
              <a:t> </a:t>
            </a:r>
            <a:r>
              <a:rPr sz="2000" spc="-5" dirty="0">
                <a:latin typeface="Calibri"/>
                <a:cs typeface="Calibri"/>
              </a:rPr>
              <a:t>up</a:t>
            </a:r>
            <a:r>
              <a:rPr sz="2000" spc="-10" dirty="0">
                <a:latin typeface="Calibri"/>
                <a:cs typeface="Calibri"/>
              </a:rPr>
              <a:t> </a:t>
            </a:r>
            <a:r>
              <a:rPr sz="2000" spc="-5" dirty="0">
                <a:latin typeface="Calibri"/>
                <a:cs typeface="Calibri"/>
              </a:rPr>
              <a:t>to</a:t>
            </a:r>
            <a:r>
              <a:rPr sz="2000" spc="5" dirty="0">
                <a:latin typeface="Calibri"/>
                <a:cs typeface="Calibri"/>
              </a:rPr>
              <a:t> </a:t>
            </a:r>
            <a:r>
              <a:rPr sz="2000" spc="-5" dirty="0">
                <a:latin typeface="Calibri"/>
                <a:cs typeface="Calibri"/>
              </a:rPr>
              <a:t>equivalence</a:t>
            </a:r>
            <a:r>
              <a:rPr sz="2000" spc="-10" dirty="0">
                <a:latin typeface="Calibri"/>
                <a:cs typeface="Calibri"/>
              </a:rPr>
              <a:t> </a:t>
            </a:r>
            <a:r>
              <a:rPr sz="2000" spc="-5" dirty="0">
                <a:latin typeface="Calibri"/>
                <a:cs typeface="Calibri"/>
              </a:rPr>
              <a:t>point.</a:t>
            </a:r>
            <a:endParaRPr sz="2000">
              <a:latin typeface="Calibri"/>
              <a:cs typeface="Calibri"/>
            </a:endParaRPr>
          </a:p>
          <a:p>
            <a:pPr marL="354330" marR="64135" indent="-342265">
              <a:lnSpc>
                <a:spcPct val="100000"/>
              </a:lnSpc>
              <a:spcBef>
                <a:spcPts val="484"/>
              </a:spcBef>
            </a:pPr>
            <a:r>
              <a:rPr sz="2000" b="1" spc="-10" dirty="0">
                <a:solidFill>
                  <a:srgbClr val="FF0000"/>
                </a:solidFill>
                <a:latin typeface="Calibri"/>
                <a:cs typeface="Calibri"/>
              </a:rPr>
              <a:t>At</a:t>
            </a:r>
            <a:r>
              <a:rPr sz="2000" b="1" spc="-40" dirty="0">
                <a:solidFill>
                  <a:srgbClr val="FF0000"/>
                </a:solidFill>
                <a:latin typeface="Calibri"/>
                <a:cs typeface="Calibri"/>
              </a:rPr>
              <a:t> </a:t>
            </a:r>
            <a:r>
              <a:rPr sz="2000" b="1" spc="-5" dirty="0">
                <a:solidFill>
                  <a:srgbClr val="FF0000"/>
                </a:solidFill>
                <a:latin typeface="Calibri"/>
                <a:cs typeface="Calibri"/>
              </a:rPr>
              <a:t>the</a:t>
            </a:r>
            <a:r>
              <a:rPr sz="2000" b="1" spc="-35" dirty="0">
                <a:solidFill>
                  <a:srgbClr val="FF0000"/>
                </a:solidFill>
                <a:latin typeface="Calibri"/>
                <a:cs typeface="Calibri"/>
              </a:rPr>
              <a:t> </a:t>
            </a:r>
            <a:r>
              <a:rPr sz="2000" b="1" spc="-5" dirty="0">
                <a:solidFill>
                  <a:srgbClr val="FF0000"/>
                </a:solidFill>
                <a:latin typeface="Calibri"/>
                <a:cs typeface="Calibri"/>
              </a:rPr>
              <a:t>equivalence</a:t>
            </a:r>
            <a:r>
              <a:rPr sz="2000" b="1" dirty="0">
                <a:solidFill>
                  <a:srgbClr val="FF0000"/>
                </a:solidFill>
                <a:latin typeface="Calibri"/>
                <a:cs typeface="Calibri"/>
              </a:rPr>
              <a:t> </a:t>
            </a:r>
            <a:r>
              <a:rPr sz="2000" b="1" spc="-5" dirty="0">
                <a:solidFill>
                  <a:srgbClr val="FF0000"/>
                </a:solidFill>
                <a:latin typeface="Calibri"/>
                <a:cs typeface="Calibri"/>
              </a:rPr>
              <a:t>point</a:t>
            </a:r>
            <a:r>
              <a:rPr sz="2000" b="1" spc="-30" dirty="0">
                <a:solidFill>
                  <a:srgbClr val="FF0000"/>
                </a:solidFill>
                <a:latin typeface="Calibri"/>
                <a:cs typeface="Calibri"/>
              </a:rPr>
              <a:t> </a:t>
            </a:r>
            <a:r>
              <a:rPr sz="2000" b="1" spc="-5" dirty="0">
                <a:solidFill>
                  <a:srgbClr val="FF0000"/>
                </a:solidFill>
                <a:latin typeface="Calibri"/>
                <a:cs typeface="Calibri"/>
              </a:rPr>
              <a:t>:</a:t>
            </a:r>
            <a:r>
              <a:rPr sz="2000" b="1" spc="-15" dirty="0">
                <a:solidFill>
                  <a:srgbClr val="FF0000"/>
                </a:solidFill>
                <a:latin typeface="Calibri"/>
                <a:cs typeface="Calibri"/>
              </a:rPr>
              <a:t> </a:t>
            </a:r>
            <a:r>
              <a:rPr sz="2000" spc="-5" dirty="0">
                <a:latin typeface="Calibri"/>
                <a:cs typeface="Calibri"/>
              </a:rPr>
              <a:t>at</a:t>
            </a:r>
            <a:r>
              <a:rPr sz="2000" spc="-15" dirty="0">
                <a:latin typeface="Calibri"/>
                <a:cs typeface="Calibri"/>
              </a:rPr>
              <a:t> </a:t>
            </a:r>
            <a:r>
              <a:rPr sz="2000" spc="-10" dirty="0">
                <a:latin typeface="Calibri"/>
                <a:cs typeface="Calibri"/>
              </a:rPr>
              <a:t>the</a:t>
            </a:r>
            <a:r>
              <a:rPr sz="2000" spc="-25" dirty="0">
                <a:latin typeface="Calibri"/>
                <a:cs typeface="Calibri"/>
              </a:rPr>
              <a:t> </a:t>
            </a:r>
            <a:r>
              <a:rPr sz="2000" spc="-10" dirty="0">
                <a:latin typeface="Calibri"/>
                <a:cs typeface="Calibri"/>
              </a:rPr>
              <a:t>complete</a:t>
            </a:r>
            <a:r>
              <a:rPr sz="2000" spc="-20" dirty="0">
                <a:latin typeface="Calibri"/>
                <a:cs typeface="Calibri"/>
              </a:rPr>
              <a:t> </a:t>
            </a:r>
            <a:r>
              <a:rPr sz="2000" dirty="0">
                <a:latin typeface="Calibri"/>
                <a:cs typeface="Calibri"/>
              </a:rPr>
              <a:t>neutralization </a:t>
            </a:r>
            <a:r>
              <a:rPr sz="2000" spc="-5" dirty="0">
                <a:latin typeface="Calibri"/>
                <a:cs typeface="Calibri"/>
              </a:rPr>
              <a:t>of</a:t>
            </a:r>
            <a:r>
              <a:rPr sz="2000" dirty="0">
                <a:latin typeface="Calibri"/>
                <a:cs typeface="Calibri"/>
              </a:rPr>
              <a:t> </a:t>
            </a:r>
            <a:r>
              <a:rPr sz="2000" spc="-10" dirty="0">
                <a:latin typeface="Calibri"/>
                <a:cs typeface="Calibri"/>
              </a:rPr>
              <a:t>HCl,</a:t>
            </a:r>
            <a:r>
              <a:rPr sz="2000" spc="-5" dirty="0">
                <a:latin typeface="Calibri"/>
                <a:cs typeface="Calibri"/>
              </a:rPr>
              <a:t> pH</a:t>
            </a:r>
            <a:r>
              <a:rPr sz="2000" spc="-40" dirty="0">
                <a:latin typeface="Calibri"/>
                <a:cs typeface="Calibri"/>
              </a:rPr>
              <a:t> </a:t>
            </a:r>
            <a:r>
              <a:rPr sz="2000" spc="-5" dirty="0">
                <a:latin typeface="Calibri"/>
                <a:cs typeface="Calibri"/>
              </a:rPr>
              <a:t>of</a:t>
            </a:r>
            <a:r>
              <a:rPr sz="2000" spc="-25" dirty="0">
                <a:latin typeface="Calibri"/>
                <a:cs typeface="Calibri"/>
              </a:rPr>
              <a:t> </a:t>
            </a:r>
            <a:r>
              <a:rPr sz="2000" spc="-5" dirty="0">
                <a:latin typeface="Calibri"/>
                <a:cs typeface="Calibri"/>
              </a:rPr>
              <a:t>solution </a:t>
            </a:r>
            <a:r>
              <a:rPr sz="2000" spc="-440" dirty="0">
                <a:latin typeface="Calibri"/>
                <a:cs typeface="Calibri"/>
              </a:rPr>
              <a:t> </a:t>
            </a:r>
            <a:r>
              <a:rPr sz="2000" spc="-5" dirty="0">
                <a:latin typeface="Calibri"/>
                <a:cs typeface="Calibri"/>
              </a:rPr>
              <a:t>is</a:t>
            </a:r>
            <a:r>
              <a:rPr sz="2000" spc="-15" dirty="0">
                <a:latin typeface="Calibri"/>
                <a:cs typeface="Calibri"/>
              </a:rPr>
              <a:t> </a:t>
            </a:r>
            <a:r>
              <a:rPr sz="2000" spc="-5" dirty="0">
                <a:latin typeface="Calibri"/>
                <a:cs typeface="Calibri"/>
              </a:rPr>
              <a:t>7</a:t>
            </a:r>
            <a:endParaRPr sz="2000">
              <a:latin typeface="Calibri"/>
              <a:cs typeface="Calibri"/>
            </a:endParaRPr>
          </a:p>
          <a:p>
            <a:pPr marL="354330" marR="30480" indent="-342265">
              <a:lnSpc>
                <a:spcPct val="100000"/>
              </a:lnSpc>
              <a:spcBef>
                <a:spcPts val="484"/>
              </a:spcBef>
            </a:pPr>
            <a:r>
              <a:rPr sz="2000" b="1" spc="-10" dirty="0">
                <a:solidFill>
                  <a:srgbClr val="FF0000"/>
                </a:solidFill>
                <a:latin typeface="Calibri"/>
                <a:cs typeface="Calibri"/>
              </a:rPr>
              <a:t>After </a:t>
            </a:r>
            <a:r>
              <a:rPr sz="2000" b="1" spc="-5" dirty="0">
                <a:solidFill>
                  <a:srgbClr val="FF0000"/>
                </a:solidFill>
                <a:latin typeface="Calibri"/>
                <a:cs typeface="Calibri"/>
              </a:rPr>
              <a:t>equivalence point: </a:t>
            </a:r>
            <a:r>
              <a:rPr sz="2000" spc="-10" dirty="0">
                <a:latin typeface="Calibri"/>
                <a:cs typeface="Calibri"/>
              </a:rPr>
              <a:t>with </a:t>
            </a:r>
            <a:r>
              <a:rPr sz="2000" spc="-5" dirty="0">
                <a:latin typeface="Calibri"/>
                <a:cs typeface="Calibri"/>
              </a:rPr>
              <a:t>further addition of NaOH pH increases, after that </a:t>
            </a:r>
            <a:r>
              <a:rPr sz="2000" spc="-440" dirty="0">
                <a:latin typeface="Calibri"/>
                <a:cs typeface="Calibri"/>
              </a:rPr>
              <a:t> </a:t>
            </a:r>
            <a:r>
              <a:rPr sz="2000" spc="-10" dirty="0">
                <a:latin typeface="Calibri"/>
                <a:cs typeface="Calibri"/>
              </a:rPr>
              <a:t>for</a:t>
            </a:r>
            <a:r>
              <a:rPr sz="2000" spc="5" dirty="0">
                <a:latin typeface="Calibri"/>
                <a:cs typeface="Calibri"/>
              </a:rPr>
              <a:t> </a:t>
            </a:r>
            <a:r>
              <a:rPr sz="2000" spc="-5" dirty="0">
                <a:latin typeface="Calibri"/>
                <a:cs typeface="Calibri"/>
              </a:rPr>
              <a:t>the</a:t>
            </a:r>
            <a:r>
              <a:rPr sz="2000" dirty="0">
                <a:latin typeface="Calibri"/>
                <a:cs typeface="Calibri"/>
              </a:rPr>
              <a:t> </a:t>
            </a:r>
            <a:r>
              <a:rPr sz="2000" spc="-5" dirty="0">
                <a:latin typeface="Calibri"/>
                <a:cs typeface="Calibri"/>
              </a:rPr>
              <a:t>addition</a:t>
            </a:r>
            <a:r>
              <a:rPr sz="2000" spc="15" dirty="0">
                <a:latin typeface="Calibri"/>
                <a:cs typeface="Calibri"/>
              </a:rPr>
              <a:t> </a:t>
            </a:r>
            <a:r>
              <a:rPr sz="2000" spc="-5" dirty="0">
                <a:latin typeface="Calibri"/>
                <a:cs typeface="Calibri"/>
              </a:rPr>
              <a:t>of</a:t>
            </a:r>
            <a:r>
              <a:rPr sz="2000" spc="-10" dirty="0">
                <a:latin typeface="Calibri"/>
                <a:cs typeface="Calibri"/>
              </a:rPr>
              <a:t> </a:t>
            </a:r>
            <a:r>
              <a:rPr sz="2000" spc="-5" dirty="0">
                <a:latin typeface="Calibri"/>
                <a:cs typeface="Calibri"/>
              </a:rPr>
              <a:t>NaOH</a:t>
            </a:r>
            <a:r>
              <a:rPr sz="2000" spc="10" dirty="0">
                <a:latin typeface="Calibri"/>
                <a:cs typeface="Calibri"/>
              </a:rPr>
              <a:t> </a:t>
            </a:r>
            <a:r>
              <a:rPr sz="2000" spc="-5" dirty="0">
                <a:latin typeface="Calibri"/>
                <a:cs typeface="Calibri"/>
              </a:rPr>
              <a:t>it</a:t>
            </a:r>
            <a:r>
              <a:rPr sz="2000" spc="15" dirty="0">
                <a:latin typeface="Calibri"/>
                <a:cs typeface="Calibri"/>
              </a:rPr>
              <a:t> </a:t>
            </a:r>
            <a:r>
              <a:rPr sz="2000" spc="-10" dirty="0">
                <a:latin typeface="Calibri"/>
                <a:cs typeface="Calibri"/>
              </a:rPr>
              <a:t>remains</a:t>
            </a:r>
            <a:r>
              <a:rPr sz="2000" spc="-5" dirty="0">
                <a:latin typeface="Calibri"/>
                <a:cs typeface="Calibri"/>
              </a:rPr>
              <a:t> constant</a:t>
            </a:r>
            <a:r>
              <a:rPr sz="2000" spc="10" dirty="0">
                <a:latin typeface="Calibri"/>
                <a:cs typeface="Calibri"/>
              </a:rPr>
              <a:t> </a:t>
            </a:r>
            <a:r>
              <a:rPr sz="2000" spc="-5" dirty="0">
                <a:latin typeface="Calibri"/>
                <a:cs typeface="Calibri"/>
              </a:rPr>
              <a:t>dure</a:t>
            </a:r>
            <a:r>
              <a:rPr sz="2000" dirty="0">
                <a:latin typeface="Calibri"/>
                <a:cs typeface="Calibri"/>
              </a:rPr>
              <a:t> </a:t>
            </a:r>
            <a:r>
              <a:rPr sz="2000" spc="-5" dirty="0">
                <a:latin typeface="Calibri"/>
                <a:cs typeface="Calibri"/>
              </a:rPr>
              <a:t>to</a:t>
            </a:r>
            <a:r>
              <a:rPr sz="2000" spc="10" dirty="0">
                <a:latin typeface="Calibri"/>
                <a:cs typeface="Calibri"/>
              </a:rPr>
              <a:t> </a:t>
            </a:r>
            <a:r>
              <a:rPr sz="2000" spc="-5" dirty="0">
                <a:latin typeface="Calibri"/>
                <a:cs typeface="Calibri"/>
              </a:rPr>
              <a:t>complete</a:t>
            </a:r>
            <a:r>
              <a:rPr sz="2000" dirty="0">
                <a:latin typeface="Calibri"/>
                <a:cs typeface="Calibri"/>
              </a:rPr>
              <a:t> </a:t>
            </a:r>
            <a:r>
              <a:rPr sz="2000" spc="-5" dirty="0">
                <a:latin typeface="Calibri"/>
                <a:cs typeface="Calibri"/>
              </a:rPr>
              <a:t>dissociation </a:t>
            </a:r>
            <a:r>
              <a:rPr sz="2000" dirty="0">
                <a:latin typeface="Calibri"/>
                <a:cs typeface="Calibri"/>
              </a:rPr>
              <a:t> </a:t>
            </a:r>
            <a:r>
              <a:rPr sz="2000" spc="-5" dirty="0">
                <a:latin typeface="Calibri"/>
                <a:cs typeface="Calibri"/>
              </a:rPr>
              <a:t>of</a:t>
            </a:r>
            <a:r>
              <a:rPr sz="2000" spc="-35" dirty="0">
                <a:latin typeface="Calibri"/>
                <a:cs typeface="Calibri"/>
              </a:rPr>
              <a:t> </a:t>
            </a:r>
            <a:r>
              <a:rPr sz="2000" spc="-5" dirty="0">
                <a:latin typeface="Calibri"/>
                <a:cs typeface="Calibri"/>
              </a:rPr>
              <a:t>NaOH.</a:t>
            </a:r>
            <a:endParaRPr sz="2000">
              <a:latin typeface="Calibri"/>
              <a:cs typeface="Calibri"/>
            </a:endParaRPr>
          </a:p>
        </p:txBody>
      </p:sp>
      <p:pic>
        <p:nvPicPr>
          <p:cNvPr id="4" name="object 4"/>
          <p:cNvPicPr/>
          <p:nvPr/>
        </p:nvPicPr>
        <p:blipFill>
          <a:blip r:embed="rId2" cstate="print"/>
          <a:stretch>
            <a:fillRect/>
          </a:stretch>
        </p:blipFill>
        <p:spPr>
          <a:xfrm>
            <a:off x="3200400" y="949960"/>
            <a:ext cx="2655951" cy="154432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07593" y="456641"/>
            <a:ext cx="7728813" cy="553998"/>
          </a:xfrm>
        </p:spPr>
        <p:txBody>
          <a:bodyPr/>
          <a:lstStyle/>
          <a:p>
            <a:r>
              <a:rPr lang="en-US" dirty="0" smtClean="0"/>
              <a:t>Observation : </a:t>
            </a:r>
            <a:endParaRPr lang="en-US" dirty="0"/>
          </a:p>
        </p:txBody>
      </p:sp>
      <p:sp>
        <p:nvSpPr>
          <p:cNvPr id="3" name="Subtitle 2"/>
          <p:cNvSpPr>
            <a:spLocks noGrp="1"/>
          </p:cNvSpPr>
          <p:nvPr>
            <p:ph type="subTitle" idx="4"/>
          </p:nvPr>
        </p:nvSpPr>
        <p:spPr>
          <a:xfrm>
            <a:off x="457200" y="1295401"/>
            <a:ext cx="7315200" cy="3508653"/>
          </a:xfrm>
        </p:spPr>
        <p:txBody>
          <a:bodyPr/>
          <a:lstStyle/>
          <a:p>
            <a:r>
              <a:rPr lang="en-US" sz="2400" dirty="0" smtClean="0"/>
              <a:t>From the graph equivalent point of titration is noted as X ml i.e. 0.1 N </a:t>
            </a:r>
            <a:r>
              <a:rPr lang="en-US" sz="2400" dirty="0" err="1" smtClean="0"/>
              <a:t>NaOH</a:t>
            </a:r>
            <a:r>
              <a:rPr lang="en-US" sz="2400" dirty="0" smtClean="0"/>
              <a:t>  required for neutralization of </a:t>
            </a:r>
            <a:r>
              <a:rPr lang="en-US" sz="2400" dirty="0" err="1" smtClean="0"/>
              <a:t>HCl</a:t>
            </a:r>
            <a:r>
              <a:rPr lang="en-US" sz="2400" dirty="0" smtClean="0"/>
              <a:t> taken</a:t>
            </a:r>
          </a:p>
          <a:p>
            <a:endParaRPr lang="en-US" sz="2400" dirty="0" smtClean="0"/>
          </a:p>
          <a:p>
            <a:r>
              <a:rPr lang="en-US" sz="2400" dirty="0" smtClean="0"/>
              <a:t>Calculation:</a:t>
            </a:r>
          </a:p>
          <a:p>
            <a:endParaRPr lang="en-US" sz="2400" dirty="0" smtClean="0"/>
          </a:p>
          <a:p>
            <a:r>
              <a:rPr lang="en-US" sz="2400" dirty="0" smtClean="0"/>
              <a:t>N = N2V2/ V1</a:t>
            </a:r>
          </a:p>
          <a:p>
            <a:r>
              <a:rPr lang="en-US" sz="2400" dirty="0" smtClean="0"/>
              <a:t>Normality of </a:t>
            </a:r>
            <a:r>
              <a:rPr lang="en-US" sz="2400" dirty="0" err="1" smtClean="0"/>
              <a:t>HCl</a:t>
            </a:r>
            <a:r>
              <a:rPr lang="en-US" sz="2400" dirty="0" smtClean="0"/>
              <a:t> can be calculated</a:t>
            </a:r>
          </a:p>
          <a:p>
            <a:endParaRPr lang="en-US" dirty="0" smtClean="0"/>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1"/>
            <a:ext cx="6478905" cy="380999"/>
          </a:xfrm>
        </p:spPr>
        <p:txBody>
          <a:bodyPr/>
          <a:lstStyle/>
          <a:p>
            <a:r>
              <a:rPr lang="en-US" spc="-15" dirty="0" smtClean="0"/>
              <a:t>Spectroscopy</a:t>
            </a:r>
            <a:endParaRPr lang="en-US" dirty="0"/>
          </a:p>
        </p:txBody>
      </p:sp>
      <p:sp>
        <p:nvSpPr>
          <p:cNvPr id="3" name="Text Placeholder 2"/>
          <p:cNvSpPr>
            <a:spLocks noGrp="1"/>
          </p:cNvSpPr>
          <p:nvPr>
            <p:ph type="body" idx="1"/>
          </p:nvPr>
        </p:nvSpPr>
        <p:spPr>
          <a:xfrm>
            <a:off x="304800" y="914400"/>
            <a:ext cx="8458201" cy="4829527"/>
          </a:xfrm>
        </p:spPr>
        <p:txBody>
          <a:bodyPr/>
          <a:lstStyle/>
          <a:p>
            <a:pPr marL="355600" marR="360680" indent="-342900" algn="just">
              <a:lnSpc>
                <a:spcPct val="100000"/>
              </a:lnSpc>
              <a:spcBef>
                <a:spcPts val="95"/>
              </a:spcBef>
              <a:buFont typeface="Microsoft Sans Serif"/>
              <a:buChar char="•"/>
              <a:tabLst>
                <a:tab pos="355600" algn="l"/>
              </a:tabLst>
            </a:pPr>
            <a:r>
              <a:rPr lang="en-US" spc="-15" dirty="0" smtClean="0">
                <a:latin typeface="Calibri"/>
                <a:cs typeface="Calibri"/>
              </a:rPr>
              <a:t>Spectroscopy </a:t>
            </a:r>
            <a:r>
              <a:rPr lang="en-US" spc="-5" dirty="0" smtClean="0">
                <a:latin typeface="Calibri"/>
                <a:cs typeface="Calibri"/>
              </a:rPr>
              <a:t>is the </a:t>
            </a:r>
            <a:r>
              <a:rPr lang="en-US" spc="-15" dirty="0" smtClean="0">
                <a:latin typeface="Calibri"/>
                <a:cs typeface="Calibri"/>
              </a:rPr>
              <a:t>branch </a:t>
            </a:r>
            <a:r>
              <a:rPr lang="en-US" spc="-5" dirty="0" smtClean="0">
                <a:latin typeface="Calibri"/>
                <a:cs typeface="Calibri"/>
              </a:rPr>
              <a:t>of science </a:t>
            </a:r>
            <a:r>
              <a:rPr lang="en-US" spc="-10" dirty="0" smtClean="0">
                <a:latin typeface="Calibri"/>
                <a:cs typeface="Calibri"/>
              </a:rPr>
              <a:t>that deals </a:t>
            </a:r>
            <a:r>
              <a:rPr lang="en-US" dirty="0" smtClean="0">
                <a:latin typeface="Calibri"/>
                <a:cs typeface="Calibri"/>
              </a:rPr>
              <a:t>with </a:t>
            </a:r>
            <a:r>
              <a:rPr lang="en-US" spc="-620" dirty="0" smtClean="0">
                <a:latin typeface="Calibri"/>
                <a:cs typeface="Calibri"/>
              </a:rPr>
              <a:t> </a:t>
            </a:r>
            <a:r>
              <a:rPr lang="en-US" spc="-5" dirty="0" smtClean="0">
                <a:latin typeface="Calibri"/>
                <a:cs typeface="Calibri"/>
              </a:rPr>
              <a:t>the </a:t>
            </a:r>
            <a:r>
              <a:rPr lang="en-US" spc="-15" dirty="0" smtClean="0">
                <a:latin typeface="Calibri"/>
                <a:cs typeface="Calibri"/>
              </a:rPr>
              <a:t>study </a:t>
            </a:r>
            <a:r>
              <a:rPr lang="en-US" spc="-5" dirty="0" smtClean="0">
                <a:latin typeface="Calibri"/>
                <a:cs typeface="Calibri"/>
              </a:rPr>
              <a:t>of </a:t>
            </a:r>
            <a:r>
              <a:rPr lang="en-US" spc="-15" dirty="0" smtClean="0">
                <a:latin typeface="Calibri"/>
                <a:cs typeface="Calibri"/>
              </a:rPr>
              <a:t>interaction </a:t>
            </a:r>
            <a:r>
              <a:rPr lang="en-US" spc="-5" dirty="0" smtClean="0">
                <a:latin typeface="Calibri"/>
                <a:cs typeface="Calibri"/>
              </a:rPr>
              <a:t>of </a:t>
            </a:r>
            <a:r>
              <a:rPr lang="en-US" spc="-10" dirty="0" smtClean="0">
                <a:latin typeface="Calibri"/>
                <a:cs typeface="Calibri"/>
              </a:rPr>
              <a:t>electromagnetic </a:t>
            </a:r>
            <a:r>
              <a:rPr lang="en-US" spc="-15" dirty="0" smtClean="0">
                <a:latin typeface="Calibri"/>
                <a:cs typeface="Calibri"/>
              </a:rPr>
              <a:t>radiation </a:t>
            </a:r>
            <a:r>
              <a:rPr lang="en-US" spc="-10" dirty="0" smtClean="0">
                <a:latin typeface="Calibri"/>
                <a:cs typeface="Calibri"/>
              </a:rPr>
              <a:t> </a:t>
            </a:r>
            <a:r>
              <a:rPr lang="en-US" spc="-5" dirty="0" smtClean="0">
                <a:latin typeface="Calibri"/>
                <a:cs typeface="Calibri"/>
              </a:rPr>
              <a:t>with</a:t>
            </a:r>
            <a:r>
              <a:rPr lang="en-US" spc="-20" dirty="0" smtClean="0">
                <a:latin typeface="Calibri"/>
                <a:cs typeface="Calibri"/>
              </a:rPr>
              <a:t> </a:t>
            </a:r>
            <a:r>
              <a:rPr lang="en-US" spc="-55" dirty="0" smtClean="0">
                <a:latin typeface="Calibri"/>
                <a:cs typeface="Calibri"/>
              </a:rPr>
              <a:t>matter.</a:t>
            </a:r>
            <a:endParaRPr lang="en-US" dirty="0" smtClean="0">
              <a:latin typeface="Calibri"/>
              <a:cs typeface="Calibri"/>
            </a:endParaRPr>
          </a:p>
          <a:p>
            <a:pPr marL="355600" marR="5080" indent="-342900" algn="just">
              <a:lnSpc>
                <a:spcPct val="100000"/>
              </a:lnSpc>
              <a:spcBef>
                <a:spcPts val="675"/>
              </a:spcBef>
              <a:buFont typeface="Microsoft Sans Serif"/>
              <a:buChar char="•"/>
              <a:tabLst>
                <a:tab pos="354965" algn="l"/>
                <a:tab pos="355600" algn="l"/>
              </a:tabLst>
            </a:pPr>
            <a:r>
              <a:rPr lang="en-US" spc="-15" dirty="0" smtClean="0">
                <a:latin typeface="Calibri"/>
                <a:cs typeface="Calibri"/>
              </a:rPr>
              <a:t>Spectroscopic</a:t>
            </a:r>
            <a:r>
              <a:rPr lang="en-US" spc="25" dirty="0" smtClean="0">
                <a:latin typeface="Calibri"/>
                <a:cs typeface="Calibri"/>
              </a:rPr>
              <a:t> </a:t>
            </a:r>
            <a:r>
              <a:rPr lang="en-US" spc="-5" dirty="0" smtClean="0">
                <a:latin typeface="Calibri"/>
                <a:cs typeface="Calibri"/>
              </a:rPr>
              <a:t>methods</a:t>
            </a:r>
            <a:r>
              <a:rPr lang="en-US" spc="25" dirty="0" smtClean="0">
                <a:latin typeface="Calibri"/>
                <a:cs typeface="Calibri"/>
              </a:rPr>
              <a:t> </a:t>
            </a:r>
            <a:r>
              <a:rPr lang="en-US" spc="-5" dirty="0" smtClean="0">
                <a:latin typeface="Calibri"/>
                <a:cs typeface="Calibri"/>
              </a:rPr>
              <a:t>of </a:t>
            </a:r>
            <a:r>
              <a:rPr lang="en-US" spc="-10" dirty="0" smtClean="0">
                <a:latin typeface="Calibri"/>
                <a:cs typeface="Calibri"/>
              </a:rPr>
              <a:t>analysis</a:t>
            </a:r>
            <a:r>
              <a:rPr lang="en-US" spc="15" dirty="0" smtClean="0">
                <a:latin typeface="Calibri"/>
                <a:cs typeface="Calibri"/>
              </a:rPr>
              <a:t> </a:t>
            </a:r>
            <a:r>
              <a:rPr lang="en-US" spc="-20" dirty="0" smtClean="0">
                <a:latin typeface="Calibri"/>
                <a:cs typeface="Calibri"/>
              </a:rPr>
              <a:t>are</a:t>
            </a:r>
            <a:r>
              <a:rPr lang="en-US" dirty="0" smtClean="0">
                <a:latin typeface="Calibri"/>
                <a:cs typeface="Calibri"/>
              </a:rPr>
              <a:t> </a:t>
            </a:r>
            <a:r>
              <a:rPr lang="en-US" spc="-5" dirty="0" smtClean="0">
                <a:latin typeface="Calibri"/>
                <a:cs typeface="Calibri"/>
              </a:rPr>
              <a:t>based</a:t>
            </a:r>
            <a:r>
              <a:rPr lang="en-US" spc="20" dirty="0" smtClean="0">
                <a:latin typeface="Calibri"/>
                <a:cs typeface="Calibri"/>
              </a:rPr>
              <a:t> </a:t>
            </a:r>
            <a:r>
              <a:rPr lang="en-US" spc="-10" dirty="0" smtClean="0">
                <a:latin typeface="Calibri"/>
                <a:cs typeface="Calibri"/>
              </a:rPr>
              <a:t>on </a:t>
            </a:r>
            <a:r>
              <a:rPr lang="en-US" spc="-5" dirty="0" smtClean="0">
                <a:latin typeface="Calibri"/>
                <a:cs typeface="Calibri"/>
              </a:rPr>
              <a:t> </a:t>
            </a:r>
            <a:r>
              <a:rPr lang="en-US" spc="-10" dirty="0" smtClean="0">
                <a:latin typeface="Calibri"/>
                <a:cs typeface="Calibri"/>
              </a:rPr>
              <a:t>measurement</a:t>
            </a:r>
            <a:r>
              <a:rPr lang="en-US" spc="5" dirty="0" smtClean="0">
                <a:latin typeface="Calibri"/>
                <a:cs typeface="Calibri"/>
              </a:rPr>
              <a:t> </a:t>
            </a:r>
            <a:r>
              <a:rPr lang="en-US" spc="-5" dirty="0" smtClean="0">
                <a:latin typeface="Calibri"/>
                <a:cs typeface="Calibri"/>
              </a:rPr>
              <a:t>of the</a:t>
            </a:r>
            <a:r>
              <a:rPr lang="en-US" spc="5" dirty="0" smtClean="0">
                <a:latin typeface="Calibri"/>
                <a:cs typeface="Calibri"/>
              </a:rPr>
              <a:t> </a:t>
            </a:r>
            <a:r>
              <a:rPr lang="en-US" spc="-10" dirty="0" smtClean="0">
                <a:latin typeface="Calibri"/>
                <a:cs typeface="Calibri"/>
              </a:rPr>
              <a:t>electromagnetic </a:t>
            </a:r>
            <a:r>
              <a:rPr lang="en-US" spc="-15" dirty="0" smtClean="0">
                <a:latin typeface="Calibri"/>
                <a:cs typeface="Calibri"/>
              </a:rPr>
              <a:t>radiation</a:t>
            </a:r>
            <a:r>
              <a:rPr lang="en-US" spc="10" dirty="0" smtClean="0">
                <a:latin typeface="Calibri"/>
                <a:cs typeface="Calibri"/>
              </a:rPr>
              <a:t> </a:t>
            </a:r>
            <a:r>
              <a:rPr lang="en-US" spc="-15" dirty="0" smtClean="0">
                <a:latin typeface="Calibri"/>
                <a:cs typeface="Calibri"/>
              </a:rPr>
              <a:t>emitted </a:t>
            </a:r>
            <a:r>
              <a:rPr lang="en-US" spc="-615" dirty="0" smtClean="0">
                <a:latin typeface="Calibri"/>
                <a:cs typeface="Calibri"/>
              </a:rPr>
              <a:t> </a:t>
            </a:r>
            <a:r>
              <a:rPr lang="en-US" spc="-5" dirty="0" smtClean="0">
                <a:latin typeface="Calibri"/>
                <a:cs typeface="Calibri"/>
              </a:rPr>
              <a:t>or</a:t>
            </a:r>
            <a:r>
              <a:rPr lang="en-US" spc="-20" dirty="0" smtClean="0">
                <a:latin typeface="Calibri"/>
                <a:cs typeface="Calibri"/>
              </a:rPr>
              <a:t> </a:t>
            </a:r>
            <a:r>
              <a:rPr lang="en-US" spc="-10" dirty="0" smtClean="0">
                <a:latin typeface="Calibri"/>
                <a:cs typeface="Calibri"/>
              </a:rPr>
              <a:t>absorbed</a:t>
            </a:r>
            <a:r>
              <a:rPr lang="en-US" spc="20" dirty="0" smtClean="0">
                <a:latin typeface="Calibri"/>
                <a:cs typeface="Calibri"/>
              </a:rPr>
              <a:t> </a:t>
            </a:r>
            <a:r>
              <a:rPr lang="en-US" spc="-15" dirty="0" smtClean="0">
                <a:latin typeface="Calibri"/>
                <a:cs typeface="Calibri"/>
              </a:rPr>
              <a:t>by</a:t>
            </a:r>
            <a:r>
              <a:rPr lang="en-US" spc="5" dirty="0" smtClean="0">
                <a:latin typeface="Calibri"/>
                <a:cs typeface="Calibri"/>
              </a:rPr>
              <a:t> </a:t>
            </a:r>
            <a:r>
              <a:rPr lang="en-US" spc="-5" dirty="0" smtClean="0">
                <a:latin typeface="Calibri"/>
                <a:cs typeface="Calibri"/>
              </a:rPr>
              <a:t>the</a:t>
            </a:r>
            <a:r>
              <a:rPr lang="en-US" spc="5" dirty="0" smtClean="0">
                <a:latin typeface="Calibri"/>
                <a:cs typeface="Calibri"/>
              </a:rPr>
              <a:t> </a:t>
            </a:r>
            <a:r>
              <a:rPr lang="en-US" spc="-10" dirty="0" smtClean="0">
                <a:latin typeface="Calibri"/>
                <a:cs typeface="Calibri"/>
              </a:rPr>
              <a:t>sample.</a:t>
            </a:r>
            <a:endParaRPr lang="en-US" dirty="0" smtClean="0">
              <a:latin typeface="Calibri"/>
              <a:cs typeface="Calibri"/>
            </a:endParaRPr>
          </a:p>
          <a:p>
            <a:pPr marL="355600" marR="278130" indent="-342900" algn="just">
              <a:lnSpc>
                <a:spcPct val="150000"/>
              </a:lnSpc>
              <a:spcBef>
                <a:spcPts val="675"/>
              </a:spcBef>
              <a:buFont typeface="Microsoft Sans Serif"/>
              <a:buChar char="•"/>
              <a:tabLst>
                <a:tab pos="354965" algn="l"/>
                <a:tab pos="355600" algn="l"/>
              </a:tabLst>
            </a:pPr>
            <a:r>
              <a:rPr lang="en-US" b="1" spc="-5" dirty="0" smtClean="0">
                <a:latin typeface="Calibri"/>
                <a:cs typeface="Calibri"/>
              </a:rPr>
              <a:t>Spectroscopy  </a:t>
            </a:r>
            <a:r>
              <a:rPr lang="en-US" b="1" dirty="0" smtClean="0">
                <a:latin typeface="Calibri"/>
                <a:cs typeface="Calibri"/>
              </a:rPr>
              <a:t>is </a:t>
            </a:r>
            <a:r>
              <a:rPr lang="en-US" b="1" spc="-5" dirty="0" smtClean="0">
                <a:latin typeface="Calibri"/>
                <a:cs typeface="Calibri"/>
              </a:rPr>
              <a:t>the </a:t>
            </a:r>
            <a:r>
              <a:rPr lang="en-US" b="1" spc="-10" dirty="0" smtClean="0">
                <a:latin typeface="Calibri"/>
                <a:cs typeface="Calibri"/>
              </a:rPr>
              <a:t>interaction </a:t>
            </a:r>
            <a:r>
              <a:rPr lang="en-US" b="1" dirty="0" smtClean="0">
                <a:latin typeface="Calibri"/>
                <a:cs typeface="Calibri"/>
              </a:rPr>
              <a:t>of EMR </a:t>
            </a:r>
            <a:r>
              <a:rPr lang="en-US" b="1" spc="-5" dirty="0" smtClean="0">
                <a:latin typeface="Calibri"/>
                <a:cs typeface="Calibri"/>
              </a:rPr>
              <a:t>with </a:t>
            </a:r>
            <a:r>
              <a:rPr lang="en-US" b="1" spc="-20" dirty="0" smtClean="0">
                <a:latin typeface="Calibri"/>
                <a:cs typeface="Calibri"/>
              </a:rPr>
              <a:t>matters </a:t>
            </a:r>
            <a:r>
              <a:rPr lang="en-US" b="1" spc="-15" dirty="0" smtClean="0">
                <a:latin typeface="Calibri"/>
                <a:cs typeface="Calibri"/>
              </a:rPr>
              <a:t>to get </a:t>
            </a:r>
            <a:r>
              <a:rPr lang="en-US" b="1" spc="-530" dirty="0" smtClean="0">
                <a:latin typeface="Calibri"/>
                <a:cs typeface="Calibri"/>
              </a:rPr>
              <a:t> </a:t>
            </a:r>
            <a:r>
              <a:rPr lang="en-US" b="1" i="1" spc="-5" dirty="0" smtClean="0">
                <a:latin typeface="Calibri"/>
                <a:cs typeface="Calibri"/>
              </a:rPr>
              <a:t>spectra ,which </a:t>
            </a:r>
            <a:r>
              <a:rPr lang="en-US" b="1" i="1" dirty="0" smtClean="0">
                <a:latin typeface="Calibri"/>
                <a:cs typeface="Calibri"/>
              </a:rPr>
              <a:t>gives </a:t>
            </a:r>
            <a:r>
              <a:rPr lang="en-US" b="1" i="1" spc="-5" dirty="0" smtClean="0">
                <a:latin typeface="Calibri"/>
                <a:cs typeface="Calibri"/>
              </a:rPr>
              <a:t>information </a:t>
            </a:r>
            <a:r>
              <a:rPr lang="en-US" b="1" i="1" spc="-20" dirty="0" smtClean="0">
                <a:latin typeface="Calibri"/>
                <a:cs typeface="Calibri"/>
              </a:rPr>
              <a:t>like, </a:t>
            </a:r>
            <a:r>
              <a:rPr lang="en-US" b="1" i="1" dirty="0" smtClean="0">
                <a:latin typeface="Calibri"/>
                <a:cs typeface="Calibri"/>
              </a:rPr>
              <a:t>bond </a:t>
            </a:r>
            <a:r>
              <a:rPr lang="en-US" b="1" i="1" spc="-5" dirty="0" smtClean="0">
                <a:latin typeface="Calibri"/>
                <a:cs typeface="Calibri"/>
              </a:rPr>
              <a:t>length, </a:t>
            </a:r>
            <a:r>
              <a:rPr lang="en-US" b="1" i="1" dirty="0" smtClean="0">
                <a:latin typeface="Calibri"/>
                <a:cs typeface="Calibri"/>
              </a:rPr>
              <a:t>bond </a:t>
            </a:r>
            <a:r>
              <a:rPr lang="en-US" b="1" i="1" spc="5" dirty="0" smtClean="0">
                <a:latin typeface="Calibri"/>
                <a:cs typeface="Calibri"/>
              </a:rPr>
              <a:t> </a:t>
            </a:r>
            <a:r>
              <a:rPr lang="en-US" b="1" i="1" dirty="0" smtClean="0">
                <a:latin typeface="Calibri"/>
                <a:cs typeface="Calibri"/>
              </a:rPr>
              <a:t>angle,</a:t>
            </a:r>
            <a:r>
              <a:rPr lang="en-US" b="1" i="1" spc="-40" dirty="0" smtClean="0">
                <a:latin typeface="Calibri"/>
                <a:cs typeface="Calibri"/>
              </a:rPr>
              <a:t> </a:t>
            </a:r>
            <a:r>
              <a:rPr lang="en-US" b="1" i="1" spc="-5" dirty="0" smtClean="0">
                <a:latin typeface="Calibri"/>
                <a:cs typeface="Calibri"/>
              </a:rPr>
              <a:t>geometry</a:t>
            </a:r>
            <a:r>
              <a:rPr lang="en-US" b="1" i="1" dirty="0" smtClean="0">
                <a:latin typeface="Calibri"/>
                <a:cs typeface="Calibri"/>
              </a:rPr>
              <a:t> and</a:t>
            </a:r>
            <a:r>
              <a:rPr lang="en-US" b="1" i="1" spc="-10" dirty="0" smtClean="0">
                <a:latin typeface="Calibri"/>
                <a:cs typeface="Calibri"/>
              </a:rPr>
              <a:t> </a:t>
            </a:r>
            <a:r>
              <a:rPr lang="en-US" b="1" i="1" spc="-5" dirty="0" smtClean="0">
                <a:latin typeface="Calibri"/>
                <a:cs typeface="Calibri"/>
              </a:rPr>
              <a:t>molecular</a:t>
            </a:r>
            <a:r>
              <a:rPr lang="en-US" b="1" i="1" spc="-20" dirty="0" smtClean="0">
                <a:latin typeface="Calibri"/>
                <a:cs typeface="Calibri"/>
              </a:rPr>
              <a:t> </a:t>
            </a:r>
            <a:r>
              <a:rPr lang="en-US" b="1" i="1" spc="-10" dirty="0" smtClean="0">
                <a:latin typeface="Calibri"/>
                <a:cs typeface="Calibri"/>
              </a:rPr>
              <a:t>structure.</a:t>
            </a:r>
            <a:endParaRPr lang="en-US" dirty="0" smtClean="0">
              <a:latin typeface="Calibri"/>
              <a:cs typeface="Calibri"/>
            </a:endParaRPr>
          </a:p>
          <a:p>
            <a:pPr marL="12700" marR="5080" algn="just">
              <a:lnSpc>
                <a:spcPct val="150000"/>
              </a:lnSpc>
              <a:spcBef>
                <a:spcPts val="100"/>
              </a:spcBef>
            </a:pPr>
            <a:r>
              <a:rPr lang="en-US" spc="-10" dirty="0" smtClean="0">
                <a:latin typeface="Calibri"/>
                <a:cs typeface="Calibri"/>
              </a:rPr>
              <a:t>       Electromagnetic</a:t>
            </a:r>
            <a:r>
              <a:rPr lang="en-US" spc="5" dirty="0" smtClean="0">
                <a:latin typeface="Calibri"/>
                <a:cs typeface="Calibri"/>
              </a:rPr>
              <a:t> </a:t>
            </a:r>
            <a:r>
              <a:rPr lang="en-US" spc="-10" dirty="0" smtClean="0">
                <a:latin typeface="Calibri"/>
                <a:cs typeface="Calibri"/>
              </a:rPr>
              <a:t>radiation</a:t>
            </a:r>
            <a:r>
              <a:rPr lang="en-US" spc="10" dirty="0" smtClean="0">
                <a:latin typeface="Calibri"/>
                <a:cs typeface="Calibri"/>
              </a:rPr>
              <a:t> </a:t>
            </a:r>
            <a:r>
              <a:rPr lang="en-US" spc="-10" dirty="0" smtClean="0">
                <a:latin typeface="Calibri"/>
                <a:cs typeface="Calibri"/>
              </a:rPr>
              <a:t>displays</a:t>
            </a:r>
            <a:r>
              <a:rPr lang="en-US" spc="-5" dirty="0" smtClean="0">
                <a:latin typeface="Calibri"/>
                <a:cs typeface="Calibri"/>
              </a:rPr>
              <a:t> </a:t>
            </a:r>
            <a:r>
              <a:rPr lang="en-US" dirty="0" smtClean="0">
                <a:latin typeface="Calibri"/>
                <a:cs typeface="Calibri"/>
              </a:rPr>
              <a:t>the</a:t>
            </a:r>
            <a:r>
              <a:rPr lang="en-US" spc="10" dirty="0" smtClean="0">
                <a:latin typeface="Calibri"/>
                <a:cs typeface="Calibri"/>
              </a:rPr>
              <a:t> </a:t>
            </a:r>
            <a:r>
              <a:rPr lang="en-US" spc="-10" dirty="0" smtClean="0">
                <a:latin typeface="Calibri"/>
                <a:cs typeface="Calibri"/>
              </a:rPr>
              <a:t>properties</a:t>
            </a:r>
            <a:r>
              <a:rPr lang="en-US" spc="5" dirty="0" smtClean="0">
                <a:latin typeface="Calibri"/>
                <a:cs typeface="Calibri"/>
              </a:rPr>
              <a:t> </a:t>
            </a:r>
            <a:r>
              <a:rPr lang="en-US" spc="-5" dirty="0" smtClean="0">
                <a:latin typeface="Calibri"/>
                <a:cs typeface="Calibri"/>
              </a:rPr>
              <a:t>of</a:t>
            </a:r>
            <a:r>
              <a:rPr lang="en-US" spc="15" dirty="0" smtClean="0">
                <a:latin typeface="Calibri"/>
                <a:cs typeface="Calibri"/>
              </a:rPr>
              <a:t> </a:t>
            </a:r>
            <a:r>
              <a:rPr lang="en-US" spc="-5" dirty="0" smtClean="0">
                <a:latin typeface="Calibri"/>
                <a:cs typeface="Calibri"/>
              </a:rPr>
              <a:t>both</a:t>
            </a:r>
            <a:r>
              <a:rPr lang="en-US" spc="10" dirty="0" smtClean="0">
                <a:latin typeface="Calibri"/>
                <a:cs typeface="Calibri"/>
              </a:rPr>
              <a:t> </a:t>
            </a:r>
            <a:r>
              <a:rPr lang="en-US" spc="-5" dirty="0" smtClean="0">
                <a:latin typeface="Calibri"/>
                <a:cs typeface="Calibri"/>
              </a:rPr>
              <a:t>particles</a:t>
            </a:r>
            <a:r>
              <a:rPr lang="en-US" spc="20" dirty="0" smtClean="0">
                <a:latin typeface="Calibri"/>
                <a:cs typeface="Calibri"/>
              </a:rPr>
              <a:t> </a:t>
            </a:r>
            <a:r>
              <a:rPr lang="en-US" dirty="0" smtClean="0">
                <a:latin typeface="Calibri"/>
                <a:cs typeface="Calibri"/>
              </a:rPr>
              <a:t>and</a:t>
            </a:r>
            <a:r>
              <a:rPr lang="en-US" spc="5" dirty="0" smtClean="0">
                <a:latin typeface="Calibri"/>
                <a:cs typeface="Calibri"/>
              </a:rPr>
              <a:t> </a:t>
            </a:r>
            <a:r>
              <a:rPr lang="en-US" spc="-10" dirty="0" smtClean="0">
                <a:latin typeface="Calibri"/>
                <a:cs typeface="Calibri"/>
              </a:rPr>
              <a:t>waves.</a:t>
            </a:r>
            <a:r>
              <a:rPr lang="en-US" spc="-15" dirty="0" smtClean="0">
                <a:latin typeface="Calibri"/>
                <a:cs typeface="Calibri"/>
              </a:rPr>
              <a:t> </a:t>
            </a:r>
            <a:r>
              <a:rPr lang="en-US" spc="-5" dirty="0" smtClean="0">
                <a:latin typeface="Calibri"/>
                <a:cs typeface="Calibri"/>
              </a:rPr>
              <a:t>The </a:t>
            </a:r>
            <a:r>
              <a:rPr lang="en-US" dirty="0" smtClean="0">
                <a:latin typeface="Calibri"/>
                <a:cs typeface="Calibri"/>
              </a:rPr>
              <a:t>          </a:t>
            </a:r>
          </a:p>
          <a:p>
            <a:pPr marL="12700" marR="5080" algn="just">
              <a:lnSpc>
                <a:spcPct val="150000"/>
              </a:lnSpc>
              <a:spcBef>
                <a:spcPts val="100"/>
              </a:spcBef>
            </a:pPr>
            <a:r>
              <a:rPr lang="en-US" spc="-10" dirty="0" smtClean="0">
                <a:latin typeface="Calibri"/>
                <a:cs typeface="Calibri"/>
              </a:rPr>
              <a:t>       particle</a:t>
            </a:r>
            <a:r>
              <a:rPr lang="en-US" spc="15" dirty="0" smtClean="0">
                <a:latin typeface="Calibri"/>
                <a:cs typeface="Calibri"/>
              </a:rPr>
              <a:t> </a:t>
            </a:r>
            <a:r>
              <a:rPr lang="en-US" spc="-5" dirty="0" smtClean="0">
                <a:latin typeface="Calibri"/>
                <a:cs typeface="Calibri"/>
              </a:rPr>
              <a:t>component</a:t>
            </a:r>
            <a:r>
              <a:rPr lang="en-US" spc="10" dirty="0" smtClean="0">
                <a:latin typeface="Calibri"/>
                <a:cs typeface="Calibri"/>
              </a:rPr>
              <a:t> </a:t>
            </a:r>
            <a:r>
              <a:rPr lang="en-US" spc="-5" dirty="0" smtClean="0">
                <a:latin typeface="Calibri"/>
                <a:cs typeface="Calibri"/>
              </a:rPr>
              <a:t>is</a:t>
            </a:r>
            <a:r>
              <a:rPr lang="en-US" dirty="0" smtClean="0">
                <a:latin typeface="Calibri"/>
                <a:cs typeface="Calibri"/>
              </a:rPr>
              <a:t> </a:t>
            </a:r>
            <a:r>
              <a:rPr lang="en-US" spc="-10" dirty="0" smtClean="0">
                <a:latin typeface="Calibri"/>
                <a:cs typeface="Calibri"/>
              </a:rPr>
              <a:t>called</a:t>
            </a:r>
            <a:r>
              <a:rPr lang="en-US" spc="20" dirty="0" smtClean="0">
                <a:latin typeface="Calibri"/>
                <a:cs typeface="Calibri"/>
              </a:rPr>
              <a:t> </a:t>
            </a:r>
            <a:r>
              <a:rPr lang="en-US" dirty="0" smtClean="0">
                <a:latin typeface="Calibri"/>
                <a:cs typeface="Calibri"/>
              </a:rPr>
              <a:t>a</a:t>
            </a:r>
            <a:r>
              <a:rPr lang="en-US" spc="35" dirty="0" smtClean="0">
                <a:latin typeface="Calibri"/>
                <a:cs typeface="Calibri"/>
              </a:rPr>
              <a:t> </a:t>
            </a:r>
            <a:r>
              <a:rPr lang="en-US" b="1" i="1" spc="-10" dirty="0" smtClean="0">
                <a:latin typeface="Calibri"/>
                <a:cs typeface="Calibri"/>
              </a:rPr>
              <a:t>photon</a:t>
            </a:r>
            <a:r>
              <a:rPr lang="en-US" b="1" spc="-20" dirty="0" smtClean="0">
                <a:latin typeface="Calibri"/>
                <a:cs typeface="Calibri"/>
              </a:rPr>
              <a:t>. </a:t>
            </a:r>
          </a:p>
          <a:p>
            <a:pPr marL="12700" marR="5080" algn="just">
              <a:lnSpc>
                <a:spcPct val="150000"/>
              </a:lnSpc>
              <a:spcBef>
                <a:spcPts val="100"/>
              </a:spcBef>
            </a:pPr>
            <a:r>
              <a:rPr lang="en-US" b="1" spc="-10" dirty="0" smtClean="0">
                <a:latin typeface="Calibri"/>
                <a:cs typeface="Calibri"/>
              </a:rPr>
              <a:t>       Where </a:t>
            </a:r>
            <a:r>
              <a:rPr lang="en-US" b="1" dirty="0" smtClean="0">
                <a:latin typeface="Calibri"/>
                <a:cs typeface="Calibri"/>
              </a:rPr>
              <a:t>h is </a:t>
            </a:r>
            <a:r>
              <a:rPr lang="en-US" b="1" spc="-395" dirty="0" smtClean="0">
                <a:latin typeface="Calibri"/>
                <a:cs typeface="Calibri"/>
              </a:rPr>
              <a:t> </a:t>
            </a:r>
            <a:r>
              <a:rPr lang="en-US" b="1" spc="-15" dirty="0" smtClean="0">
                <a:latin typeface="Calibri"/>
                <a:cs typeface="Calibri"/>
              </a:rPr>
              <a:t>Planck’s</a:t>
            </a:r>
            <a:r>
              <a:rPr lang="en-US" b="1" spc="-50" dirty="0" smtClean="0">
                <a:latin typeface="Calibri"/>
                <a:cs typeface="Calibri"/>
              </a:rPr>
              <a:t> </a:t>
            </a:r>
            <a:r>
              <a:rPr lang="en-US" b="1" spc="-10" dirty="0" smtClean="0">
                <a:latin typeface="Calibri"/>
                <a:cs typeface="Calibri"/>
              </a:rPr>
              <a:t>constant</a:t>
            </a:r>
            <a:r>
              <a:rPr lang="en-US" b="1" spc="-35" dirty="0" smtClean="0">
                <a:latin typeface="Calibri"/>
                <a:cs typeface="Calibri"/>
              </a:rPr>
              <a:t> </a:t>
            </a:r>
            <a:r>
              <a:rPr lang="en-US" b="1" dirty="0" smtClean="0">
                <a:latin typeface="Calibri"/>
                <a:cs typeface="Calibri"/>
              </a:rPr>
              <a:t>and</a:t>
            </a:r>
            <a:r>
              <a:rPr lang="en-US" b="1" spc="-5" dirty="0" smtClean="0">
                <a:latin typeface="Calibri"/>
                <a:cs typeface="Calibri"/>
              </a:rPr>
              <a:t> </a:t>
            </a:r>
            <a:r>
              <a:rPr lang="en-US" b="1" dirty="0" smtClean="0">
                <a:latin typeface="Calibri"/>
                <a:cs typeface="Calibri"/>
              </a:rPr>
              <a:t>ʋ is</a:t>
            </a:r>
            <a:r>
              <a:rPr lang="en-US" b="1" spc="-10" dirty="0" smtClean="0">
                <a:latin typeface="Calibri"/>
                <a:cs typeface="Calibri"/>
              </a:rPr>
              <a:t> </a:t>
            </a:r>
            <a:r>
              <a:rPr lang="en-US" b="1" dirty="0" smtClean="0">
                <a:latin typeface="Calibri"/>
                <a:cs typeface="Calibri"/>
              </a:rPr>
              <a:t>the</a:t>
            </a:r>
            <a:r>
              <a:rPr lang="en-US" b="1" spc="-5" dirty="0" smtClean="0">
                <a:latin typeface="Calibri"/>
                <a:cs typeface="Calibri"/>
              </a:rPr>
              <a:t> frequency</a:t>
            </a:r>
            <a:r>
              <a:rPr lang="en-US" b="1" spc="-35" dirty="0" smtClean="0">
                <a:latin typeface="Calibri"/>
                <a:cs typeface="Calibri"/>
              </a:rPr>
              <a:t> </a:t>
            </a:r>
            <a:r>
              <a:rPr lang="en-US" b="1" dirty="0" smtClean="0">
                <a:latin typeface="Calibri"/>
                <a:cs typeface="Calibri"/>
              </a:rPr>
              <a:t>in</a:t>
            </a:r>
            <a:r>
              <a:rPr lang="en-US" b="1" spc="-5" dirty="0" smtClean="0">
                <a:latin typeface="Calibri"/>
                <a:cs typeface="Calibri"/>
              </a:rPr>
              <a:t> Hertz</a:t>
            </a:r>
            <a:r>
              <a:rPr lang="en-US" b="1" spc="-15" dirty="0" smtClean="0">
                <a:latin typeface="Calibri"/>
                <a:cs typeface="Calibri"/>
              </a:rPr>
              <a:t> </a:t>
            </a:r>
            <a:r>
              <a:rPr lang="en-US" b="1" spc="-5" dirty="0" smtClean="0">
                <a:latin typeface="Calibri"/>
                <a:cs typeface="Calibri"/>
              </a:rPr>
              <a:t>(cycles</a:t>
            </a:r>
            <a:r>
              <a:rPr lang="en-US" b="1" spc="-40" dirty="0" smtClean="0">
                <a:latin typeface="Calibri"/>
                <a:cs typeface="Calibri"/>
              </a:rPr>
              <a:t> </a:t>
            </a:r>
            <a:r>
              <a:rPr lang="en-US" b="1" dirty="0" smtClean="0">
                <a:latin typeface="Calibri"/>
                <a:cs typeface="Calibri"/>
              </a:rPr>
              <a:t>per</a:t>
            </a:r>
            <a:r>
              <a:rPr lang="en-US" b="1" spc="-30" dirty="0" smtClean="0">
                <a:latin typeface="Calibri"/>
                <a:cs typeface="Calibri"/>
              </a:rPr>
              <a:t> </a:t>
            </a:r>
            <a:r>
              <a:rPr lang="en-US" b="1" dirty="0" smtClean="0">
                <a:latin typeface="Calibri"/>
                <a:cs typeface="Calibri"/>
              </a:rPr>
              <a:t>second)</a:t>
            </a:r>
            <a:r>
              <a:rPr lang="en-US" b="1" spc="-45" dirty="0" smtClean="0">
                <a:latin typeface="Calibri"/>
                <a:cs typeface="Calibri"/>
              </a:rPr>
              <a:t> </a:t>
            </a:r>
            <a:r>
              <a:rPr lang="en-US" b="1" dirty="0" smtClean="0">
                <a:latin typeface="Calibri"/>
                <a:cs typeface="Calibri"/>
              </a:rPr>
              <a:t>.</a:t>
            </a:r>
            <a:endParaRPr lang="en-US" dirty="0" smtClean="0">
              <a:latin typeface="Calibri"/>
              <a:cs typeface="Calibri"/>
            </a:endParaRPr>
          </a:p>
          <a:p>
            <a:pPr marL="12700" algn="just">
              <a:lnSpc>
                <a:spcPct val="150000"/>
              </a:lnSpc>
            </a:pPr>
            <a:r>
              <a:rPr lang="en-US" dirty="0" smtClean="0">
                <a:latin typeface="Calibri"/>
                <a:cs typeface="Calibri"/>
              </a:rPr>
              <a:t>     ν</a:t>
            </a:r>
            <a:r>
              <a:rPr lang="en-US" spc="-15" dirty="0" smtClean="0">
                <a:latin typeface="Calibri"/>
                <a:cs typeface="Calibri"/>
              </a:rPr>
              <a:t> </a:t>
            </a:r>
            <a:r>
              <a:rPr lang="en-US" b="1" dirty="0" smtClean="0">
                <a:latin typeface="Calibri"/>
                <a:cs typeface="Calibri"/>
              </a:rPr>
              <a:t>=</a:t>
            </a:r>
            <a:r>
              <a:rPr lang="en-US" b="1" spc="-10" dirty="0" smtClean="0">
                <a:latin typeface="Calibri"/>
                <a:cs typeface="Calibri"/>
              </a:rPr>
              <a:t> </a:t>
            </a:r>
            <a:r>
              <a:rPr lang="en-US" b="1" spc="-5" dirty="0" smtClean="0">
                <a:latin typeface="Calibri"/>
                <a:cs typeface="Calibri"/>
              </a:rPr>
              <a:t>frequency:</a:t>
            </a:r>
            <a:r>
              <a:rPr lang="en-US" b="1" spc="-35" dirty="0" smtClean="0">
                <a:latin typeface="Calibri"/>
                <a:cs typeface="Calibri"/>
              </a:rPr>
              <a:t> </a:t>
            </a:r>
            <a:r>
              <a:rPr lang="en-US" b="1" spc="-15" dirty="0" smtClean="0">
                <a:latin typeface="Calibri"/>
                <a:cs typeface="Calibri"/>
              </a:rPr>
              <a:t>waves</a:t>
            </a:r>
            <a:r>
              <a:rPr lang="en-US" b="1" spc="-30" dirty="0" smtClean="0">
                <a:latin typeface="Calibri"/>
                <a:cs typeface="Calibri"/>
              </a:rPr>
              <a:t> </a:t>
            </a:r>
            <a:r>
              <a:rPr lang="en-US" b="1" dirty="0" smtClean="0">
                <a:latin typeface="Calibri"/>
                <a:cs typeface="Calibri"/>
              </a:rPr>
              <a:t>per</a:t>
            </a:r>
            <a:r>
              <a:rPr lang="en-US" b="1" spc="-35" dirty="0" smtClean="0">
                <a:latin typeface="Calibri"/>
                <a:cs typeface="Calibri"/>
              </a:rPr>
              <a:t> </a:t>
            </a:r>
            <a:r>
              <a:rPr lang="en-US" b="1" dirty="0" smtClean="0">
                <a:latin typeface="Calibri"/>
                <a:cs typeface="Calibri"/>
              </a:rPr>
              <a:t>unit</a:t>
            </a:r>
            <a:r>
              <a:rPr lang="en-US" b="1" spc="-15" dirty="0" smtClean="0">
                <a:latin typeface="Calibri"/>
                <a:cs typeface="Calibri"/>
              </a:rPr>
              <a:t> </a:t>
            </a:r>
            <a:r>
              <a:rPr lang="en-US" b="1" dirty="0" smtClean="0">
                <a:latin typeface="Calibri"/>
                <a:cs typeface="Calibri"/>
              </a:rPr>
              <a:t>time</a:t>
            </a:r>
            <a:r>
              <a:rPr lang="en-US" b="1" spc="-10" dirty="0" smtClean="0">
                <a:latin typeface="Calibri"/>
                <a:cs typeface="Calibri"/>
              </a:rPr>
              <a:t> </a:t>
            </a:r>
            <a:r>
              <a:rPr lang="en-US" b="1" dirty="0" smtClean="0">
                <a:latin typeface="Calibri"/>
                <a:cs typeface="Calibri"/>
              </a:rPr>
              <a:t>(sec-1,</a:t>
            </a:r>
            <a:r>
              <a:rPr lang="en-US" b="1" spc="-40" dirty="0" smtClean="0">
                <a:latin typeface="Calibri"/>
                <a:cs typeface="Calibri"/>
              </a:rPr>
              <a:t> </a:t>
            </a:r>
            <a:r>
              <a:rPr lang="en-US" b="1" dirty="0" smtClean="0">
                <a:latin typeface="Calibri"/>
                <a:cs typeface="Calibri"/>
              </a:rPr>
              <a:t>Hz)</a:t>
            </a:r>
            <a:endParaRPr lang="en-US" dirty="0" smtClean="0">
              <a:latin typeface="Calibri"/>
              <a:cs typeface="Calibri"/>
            </a:endParaRPr>
          </a:p>
          <a:p>
            <a:pPr marL="355600" marR="278130" indent="-342900" algn="just">
              <a:spcBef>
                <a:spcPts val="675"/>
              </a:spcBef>
              <a:tabLst>
                <a:tab pos="354965" algn="l"/>
                <a:tab pos="355600" algn="l"/>
              </a:tabLst>
            </a:pPr>
            <a:r>
              <a:rPr lang="en-US" dirty="0" smtClean="0">
                <a:latin typeface="Calibri"/>
                <a:cs typeface="Calibri"/>
              </a:rPr>
              <a:t>     λ</a:t>
            </a:r>
            <a:r>
              <a:rPr lang="en-US" spc="-20" dirty="0" smtClean="0">
                <a:latin typeface="Calibri"/>
                <a:cs typeface="Calibri"/>
              </a:rPr>
              <a:t> </a:t>
            </a:r>
            <a:r>
              <a:rPr lang="en-US" dirty="0" smtClean="0">
                <a:latin typeface="Calibri"/>
                <a:cs typeface="Calibri"/>
              </a:rPr>
              <a:t>=</a:t>
            </a:r>
            <a:r>
              <a:rPr lang="en-US" spc="5" dirty="0" smtClean="0">
                <a:latin typeface="Calibri"/>
                <a:cs typeface="Calibri"/>
              </a:rPr>
              <a:t> </a:t>
            </a:r>
            <a:r>
              <a:rPr lang="en-US" spc="-10" dirty="0" smtClean="0">
                <a:latin typeface="Calibri"/>
                <a:cs typeface="Calibri"/>
              </a:rPr>
              <a:t>distance</a:t>
            </a:r>
            <a:r>
              <a:rPr lang="en-US" dirty="0" smtClean="0">
                <a:latin typeface="Calibri"/>
                <a:cs typeface="Calibri"/>
              </a:rPr>
              <a:t> </a:t>
            </a:r>
            <a:r>
              <a:rPr lang="en-US" spc="-5" dirty="0" smtClean="0">
                <a:latin typeface="Calibri"/>
                <a:cs typeface="Calibri"/>
              </a:rPr>
              <a:t>of</a:t>
            </a:r>
            <a:r>
              <a:rPr lang="en-US" spc="-10" dirty="0" smtClean="0">
                <a:latin typeface="Calibri"/>
                <a:cs typeface="Calibri"/>
              </a:rPr>
              <a:t> </a:t>
            </a:r>
            <a:r>
              <a:rPr lang="en-US" spc="-5" dirty="0" smtClean="0">
                <a:latin typeface="Calibri"/>
                <a:cs typeface="Calibri"/>
              </a:rPr>
              <a:t>one</a:t>
            </a:r>
            <a:r>
              <a:rPr lang="en-US" spc="5" dirty="0" smtClean="0">
                <a:latin typeface="Calibri"/>
                <a:cs typeface="Calibri"/>
              </a:rPr>
              <a:t> </a:t>
            </a:r>
            <a:r>
              <a:rPr lang="en-US" spc="-20" dirty="0" smtClean="0">
                <a:latin typeface="Calibri"/>
                <a:cs typeface="Calibri"/>
              </a:rPr>
              <a:t>wave</a:t>
            </a:r>
            <a:endParaRPr lang="en-US" dirty="0" smtClean="0">
              <a:latin typeface="Calibri"/>
              <a:cs typeface="Calibri"/>
            </a:endParaRPr>
          </a:p>
          <a:p>
            <a:pPr marL="355600" marR="278130" indent="-342900">
              <a:lnSpc>
                <a:spcPct val="100000"/>
              </a:lnSpc>
              <a:spcBef>
                <a:spcPts val="675"/>
              </a:spcBef>
              <a:tabLst>
                <a:tab pos="354965" algn="l"/>
                <a:tab pos="355600" algn="l"/>
              </a:tabLst>
            </a:pPr>
            <a:endParaRPr lang="en-US" dirty="0" smtClean="0">
              <a:latin typeface="Calibri"/>
              <a:cs typeface="Calibri"/>
            </a:endParaRPr>
          </a:p>
          <a:p>
            <a:endParaRPr lang="en-US" dirty="0"/>
          </a:p>
        </p:txBody>
      </p:sp>
      <p:pic>
        <p:nvPicPr>
          <p:cNvPr id="7" name="object 3"/>
          <p:cNvPicPr/>
          <p:nvPr/>
        </p:nvPicPr>
        <p:blipFill>
          <a:blip r:embed="rId2" cstate="print"/>
          <a:stretch>
            <a:fillRect/>
          </a:stretch>
        </p:blipFill>
        <p:spPr>
          <a:xfrm>
            <a:off x="990600" y="5257800"/>
            <a:ext cx="5876925" cy="9144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object 2"/>
          <p:cNvPicPr/>
          <p:nvPr/>
        </p:nvPicPr>
        <p:blipFill>
          <a:blip r:embed="rId2" cstate="print"/>
          <a:stretch>
            <a:fillRect/>
          </a:stretch>
        </p:blipFill>
        <p:spPr>
          <a:xfrm>
            <a:off x="304800" y="533400"/>
            <a:ext cx="8839200" cy="5867400"/>
          </a:xfrm>
          <a:prstGeom prst="rect">
            <a:avLst/>
          </a:prstGeom>
        </p:spPr>
      </p:pic>
      <p:sp>
        <p:nvSpPr>
          <p:cNvPr id="5" name="Text Placeholder 4"/>
          <p:cNvSpPr>
            <a:spLocks noGrp="1"/>
          </p:cNvSpPr>
          <p:nvPr>
            <p:ph type="body" idx="1"/>
          </p:nvPr>
        </p:nvSpPr>
        <p:spPr/>
        <p:txBody>
          <a:bodyPr/>
          <a:lstStyle/>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2410" y="381012"/>
            <a:ext cx="8630539" cy="5029188"/>
          </a:xfrm>
          <a:prstGeom prst="rect">
            <a:avLst/>
          </a:prstGeom>
        </p:spPr>
      </p:pic>
      <p:sp>
        <p:nvSpPr>
          <p:cNvPr id="3" name="Text Placeholder 2"/>
          <p:cNvSpPr txBox="1">
            <a:spLocks/>
          </p:cNvSpPr>
          <p:nvPr/>
        </p:nvSpPr>
        <p:spPr>
          <a:xfrm>
            <a:off x="228600" y="5638800"/>
            <a:ext cx="8915400" cy="533400"/>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ysClr val="windowText" lastClr="000000"/>
                </a:solidFill>
                <a:effectLst/>
                <a:uLnTx/>
                <a:uFillTx/>
                <a:latin typeface="+mn-lt"/>
                <a:ea typeface="+mn-ea"/>
                <a:cs typeface="+mn-cs"/>
              </a:rPr>
              <a:t>Instrument used to measure the absorbance in UV (200- 400nm) or Visible (400-800nm) region is called UV- Visible Spectrophotometer.</a:t>
            </a:r>
            <a:endParaRPr kumimoji="0" lang="en-US" sz="1800" b="0" i="0" u="none" strike="noStrike" kern="0" cap="none" spc="0" normalizeH="0" baseline="0" noProof="0" dirty="0">
              <a:ln>
                <a:noFill/>
              </a:ln>
              <a:solidFill>
                <a:sysClr val="windowText" lastClr="000000"/>
              </a:solidFill>
              <a:effectLst/>
              <a:uLnTx/>
              <a:uFillTx/>
              <a:latin typeface="+mn-lt"/>
              <a:ea typeface="+mn-ea"/>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10661" y="422274"/>
            <a:ext cx="2970530" cy="635000"/>
          </a:xfrm>
          <a:prstGeom prst="rect">
            <a:avLst/>
          </a:prstGeom>
        </p:spPr>
        <p:txBody>
          <a:bodyPr vert="horz" wrap="square" lIns="0" tIns="12065" rIns="0" bIns="0" rtlCol="0">
            <a:spAutoFit/>
          </a:bodyPr>
          <a:lstStyle/>
          <a:p>
            <a:pPr marL="12700">
              <a:lnSpc>
                <a:spcPct val="100000"/>
              </a:lnSpc>
              <a:spcBef>
                <a:spcPts val="95"/>
              </a:spcBef>
            </a:pPr>
            <a:r>
              <a:rPr sz="4000" b="1" spc="-20" dirty="0">
                <a:solidFill>
                  <a:srgbClr val="C00000"/>
                </a:solidFill>
                <a:latin typeface="Calibri"/>
                <a:cs typeface="Calibri"/>
              </a:rPr>
              <a:t>Lambert’s</a:t>
            </a:r>
            <a:r>
              <a:rPr sz="4000" b="1" spc="-60" dirty="0">
                <a:solidFill>
                  <a:srgbClr val="C00000"/>
                </a:solidFill>
                <a:latin typeface="Calibri"/>
                <a:cs typeface="Calibri"/>
              </a:rPr>
              <a:t> </a:t>
            </a:r>
            <a:r>
              <a:rPr sz="4000" b="1" spc="-15" dirty="0">
                <a:solidFill>
                  <a:srgbClr val="C00000"/>
                </a:solidFill>
                <a:latin typeface="Calibri"/>
                <a:cs typeface="Calibri"/>
              </a:rPr>
              <a:t>law</a:t>
            </a:r>
            <a:endParaRPr sz="4000">
              <a:latin typeface="Calibri"/>
              <a:cs typeface="Calibri"/>
            </a:endParaRPr>
          </a:p>
        </p:txBody>
      </p:sp>
      <p:sp>
        <p:nvSpPr>
          <p:cNvPr id="3" name="object 3"/>
          <p:cNvSpPr txBox="1"/>
          <p:nvPr/>
        </p:nvSpPr>
        <p:spPr>
          <a:xfrm>
            <a:off x="535940" y="1150365"/>
            <a:ext cx="7517130" cy="1490793"/>
          </a:xfrm>
          <a:prstGeom prst="rect">
            <a:avLst/>
          </a:prstGeom>
        </p:spPr>
        <p:txBody>
          <a:bodyPr vert="horz" wrap="square" lIns="0" tIns="13335" rIns="0" bIns="0" rtlCol="0">
            <a:spAutoFit/>
          </a:bodyPr>
          <a:lstStyle/>
          <a:p>
            <a:pPr marL="355600" marR="5080" indent="-342900" algn="just">
              <a:lnSpc>
                <a:spcPct val="100000"/>
              </a:lnSpc>
              <a:spcBef>
                <a:spcPts val="105"/>
              </a:spcBef>
              <a:buFont typeface="Microsoft Sans Serif"/>
              <a:buChar char="•"/>
              <a:tabLst>
                <a:tab pos="354965" algn="l"/>
                <a:tab pos="355600" algn="l"/>
              </a:tabLst>
            </a:pPr>
            <a:r>
              <a:rPr sz="2400" dirty="0">
                <a:latin typeface="Calibri"/>
                <a:cs typeface="Calibri"/>
              </a:rPr>
              <a:t>When</a:t>
            </a:r>
            <a:r>
              <a:rPr sz="2400" spc="-20" dirty="0">
                <a:latin typeface="Calibri"/>
                <a:cs typeface="Calibri"/>
              </a:rPr>
              <a:t> </a:t>
            </a:r>
            <a:r>
              <a:rPr sz="2400" dirty="0">
                <a:latin typeface="Calibri"/>
                <a:cs typeface="Calibri"/>
              </a:rPr>
              <a:t>a </a:t>
            </a:r>
            <a:r>
              <a:rPr sz="2400" spc="-10" dirty="0">
                <a:latin typeface="Calibri"/>
                <a:cs typeface="Calibri"/>
              </a:rPr>
              <a:t>monochromatic</a:t>
            </a:r>
            <a:r>
              <a:rPr sz="2400" spc="-5" dirty="0">
                <a:latin typeface="Calibri"/>
                <a:cs typeface="Calibri"/>
              </a:rPr>
              <a:t> </a:t>
            </a:r>
            <a:r>
              <a:rPr sz="2400" spc="-10" dirty="0">
                <a:latin typeface="Calibri"/>
                <a:cs typeface="Calibri"/>
              </a:rPr>
              <a:t>radiation</a:t>
            </a:r>
            <a:r>
              <a:rPr sz="2400" spc="15" dirty="0">
                <a:latin typeface="Calibri"/>
                <a:cs typeface="Calibri"/>
              </a:rPr>
              <a:t> </a:t>
            </a:r>
            <a:r>
              <a:rPr sz="2400" dirty="0">
                <a:latin typeface="Calibri"/>
                <a:cs typeface="Calibri"/>
              </a:rPr>
              <a:t>is</a:t>
            </a:r>
            <a:r>
              <a:rPr sz="2400" spc="-10" dirty="0">
                <a:latin typeface="Calibri"/>
                <a:cs typeface="Calibri"/>
              </a:rPr>
              <a:t> </a:t>
            </a:r>
            <a:r>
              <a:rPr sz="2400" spc="-5" dirty="0">
                <a:latin typeface="Calibri"/>
                <a:cs typeface="Calibri"/>
              </a:rPr>
              <a:t>passed </a:t>
            </a:r>
            <a:r>
              <a:rPr sz="2400" spc="-710" dirty="0">
                <a:latin typeface="Calibri"/>
                <a:cs typeface="Calibri"/>
              </a:rPr>
              <a:t> </a:t>
            </a:r>
            <a:r>
              <a:rPr sz="2400" spc="-10" dirty="0">
                <a:latin typeface="Calibri"/>
                <a:cs typeface="Calibri"/>
              </a:rPr>
              <a:t>through </a:t>
            </a:r>
            <a:r>
              <a:rPr sz="2400" dirty="0">
                <a:latin typeface="Calibri"/>
                <a:cs typeface="Calibri"/>
              </a:rPr>
              <a:t>a </a:t>
            </a:r>
            <a:r>
              <a:rPr sz="2400" spc="-5" dirty="0">
                <a:latin typeface="Calibri"/>
                <a:cs typeface="Calibri"/>
              </a:rPr>
              <a:t>solution </a:t>
            </a:r>
            <a:r>
              <a:rPr sz="2400" spc="-5" dirty="0">
                <a:solidFill>
                  <a:srgbClr val="FF0000"/>
                </a:solidFill>
                <a:latin typeface="Calibri"/>
                <a:cs typeface="Calibri"/>
              </a:rPr>
              <a:t>decrease </a:t>
            </a:r>
            <a:r>
              <a:rPr sz="2400" dirty="0">
                <a:solidFill>
                  <a:srgbClr val="FF0000"/>
                </a:solidFill>
                <a:latin typeface="Calibri"/>
                <a:cs typeface="Calibri"/>
              </a:rPr>
              <a:t>in </a:t>
            </a:r>
            <a:r>
              <a:rPr sz="2400" spc="-10" dirty="0">
                <a:solidFill>
                  <a:srgbClr val="FF0000"/>
                </a:solidFill>
                <a:latin typeface="Calibri"/>
                <a:cs typeface="Calibri"/>
              </a:rPr>
              <a:t>intensity </a:t>
            </a:r>
            <a:r>
              <a:rPr sz="2400" spc="-5" dirty="0">
                <a:latin typeface="Calibri"/>
                <a:cs typeface="Calibri"/>
              </a:rPr>
              <a:t>of </a:t>
            </a:r>
            <a:r>
              <a:rPr sz="2400" dirty="0">
                <a:latin typeface="Calibri"/>
                <a:cs typeface="Calibri"/>
              </a:rPr>
              <a:t> </a:t>
            </a:r>
            <a:r>
              <a:rPr sz="2400" spc="-5" dirty="0">
                <a:latin typeface="Calibri"/>
                <a:cs typeface="Calibri"/>
              </a:rPr>
              <a:t>incident light</a:t>
            </a:r>
            <a:r>
              <a:rPr sz="2400" spc="10" dirty="0">
                <a:latin typeface="Calibri"/>
                <a:cs typeface="Calibri"/>
              </a:rPr>
              <a:t> </a:t>
            </a:r>
            <a:r>
              <a:rPr sz="2400" spc="-5" dirty="0">
                <a:latin typeface="Calibri"/>
                <a:cs typeface="Calibri"/>
              </a:rPr>
              <a:t>with</a:t>
            </a:r>
            <a:r>
              <a:rPr sz="2400" spc="5" dirty="0">
                <a:latin typeface="Calibri"/>
                <a:cs typeface="Calibri"/>
              </a:rPr>
              <a:t> </a:t>
            </a:r>
            <a:r>
              <a:rPr sz="2400" spc="-5" dirty="0">
                <a:solidFill>
                  <a:srgbClr val="FF0000"/>
                </a:solidFill>
                <a:latin typeface="Calibri"/>
                <a:cs typeface="Calibri"/>
              </a:rPr>
              <a:t>thickness</a:t>
            </a:r>
            <a:r>
              <a:rPr sz="2400" spc="5" dirty="0">
                <a:solidFill>
                  <a:srgbClr val="FF0000"/>
                </a:solidFill>
                <a:latin typeface="Calibri"/>
                <a:cs typeface="Calibri"/>
              </a:rPr>
              <a:t> </a:t>
            </a:r>
            <a:r>
              <a:rPr sz="2400" dirty="0">
                <a:solidFill>
                  <a:srgbClr val="FF0000"/>
                </a:solidFill>
                <a:latin typeface="Calibri"/>
                <a:cs typeface="Calibri"/>
              </a:rPr>
              <a:t>of</a:t>
            </a:r>
            <a:r>
              <a:rPr sz="2400" spc="-10" dirty="0">
                <a:solidFill>
                  <a:srgbClr val="FF0000"/>
                </a:solidFill>
                <a:latin typeface="Calibri"/>
                <a:cs typeface="Calibri"/>
              </a:rPr>
              <a:t> </a:t>
            </a:r>
            <a:r>
              <a:rPr sz="2400" spc="-5" dirty="0">
                <a:solidFill>
                  <a:srgbClr val="FF0000"/>
                </a:solidFill>
                <a:latin typeface="Calibri"/>
                <a:cs typeface="Calibri"/>
              </a:rPr>
              <a:t>solution</a:t>
            </a:r>
            <a:r>
              <a:rPr sz="2400" spc="25" dirty="0">
                <a:solidFill>
                  <a:srgbClr val="FF0000"/>
                </a:solidFill>
                <a:latin typeface="Calibri"/>
                <a:cs typeface="Calibri"/>
              </a:rPr>
              <a:t> </a:t>
            </a:r>
            <a:r>
              <a:rPr sz="2400" dirty="0">
                <a:latin typeface="Calibri"/>
                <a:cs typeface="Calibri"/>
              </a:rPr>
              <a:t>is </a:t>
            </a:r>
            <a:r>
              <a:rPr sz="2400" spc="5" dirty="0">
                <a:latin typeface="Calibri"/>
                <a:cs typeface="Calibri"/>
              </a:rPr>
              <a:t> </a:t>
            </a:r>
            <a:r>
              <a:rPr sz="2400" spc="-10" dirty="0">
                <a:latin typeface="Calibri"/>
                <a:cs typeface="Calibri"/>
              </a:rPr>
              <a:t>directly</a:t>
            </a:r>
            <a:r>
              <a:rPr sz="2400" spc="-30" dirty="0">
                <a:latin typeface="Calibri"/>
                <a:cs typeface="Calibri"/>
              </a:rPr>
              <a:t> </a:t>
            </a:r>
            <a:r>
              <a:rPr sz="2400" spc="-10" dirty="0">
                <a:latin typeface="Calibri"/>
                <a:cs typeface="Calibri"/>
              </a:rPr>
              <a:t>proportional</a:t>
            </a:r>
            <a:r>
              <a:rPr sz="2400" spc="5" dirty="0">
                <a:latin typeface="Calibri"/>
                <a:cs typeface="Calibri"/>
              </a:rPr>
              <a:t> </a:t>
            </a:r>
            <a:r>
              <a:rPr sz="2400" spc="-25" dirty="0">
                <a:latin typeface="Calibri"/>
                <a:cs typeface="Calibri"/>
              </a:rPr>
              <a:t>to</a:t>
            </a:r>
            <a:r>
              <a:rPr sz="2400" spc="5" dirty="0">
                <a:latin typeface="Calibri"/>
                <a:cs typeface="Calibri"/>
              </a:rPr>
              <a:t> </a:t>
            </a:r>
            <a:r>
              <a:rPr sz="2400" dirty="0">
                <a:latin typeface="Calibri"/>
                <a:cs typeface="Calibri"/>
              </a:rPr>
              <a:t>the </a:t>
            </a:r>
            <a:r>
              <a:rPr sz="2400" spc="-10" dirty="0">
                <a:latin typeface="Calibri"/>
                <a:cs typeface="Calibri"/>
              </a:rPr>
              <a:t>intensity</a:t>
            </a:r>
            <a:r>
              <a:rPr sz="2400" spc="20" dirty="0">
                <a:latin typeface="Calibri"/>
                <a:cs typeface="Calibri"/>
              </a:rPr>
              <a:t> </a:t>
            </a:r>
            <a:r>
              <a:rPr sz="2400" spc="-5" dirty="0">
                <a:latin typeface="Calibri"/>
                <a:cs typeface="Calibri"/>
              </a:rPr>
              <a:t>of </a:t>
            </a:r>
            <a:r>
              <a:rPr sz="2400" dirty="0">
                <a:latin typeface="Calibri"/>
                <a:cs typeface="Calibri"/>
              </a:rPr>
              <a:t> </a:t>
            </a:r>
            <a:r>
              <a:rPr sz="2400" spc="-10" dirty="0">
                <a:latin typeface="Calibri"/>
                <a:cs typeface="Calibri"/>
              </a:rPr>
              <a:t>incident</a:t>
            </a:r>
            <a:r>
              <a:rPr sz="2400" spc="-5" dirty="0">
                <a:latin typeface="Calibri"/>
                <a:cs typeface="Calibri"/>
              </a:rPr>
              <a:t> </a:t>
            </a:r>
            <a:r>
              <a:rPr sz="2400" spc="-15" dirty="0">
                <a:latin typeface="Calibri"/>
                <a:cs typeface="Calibri"/>
              </a:rPr>
              <a:t>radiation</a:t>
            </a:r>
            <a:endParaRPr sz="2400">
              <a:latin typeface="Calibri"/>
              <a:cs typeface="Calibri"/>
            </a:endParaRPr>
          </a:p>
        </p:txBody>
      </p:sp>
      <p:pic>
        <p:nvPicPr>
          <p:cNvPr id="5" name="object 5"/>
          <p:cNvPicPr/>
          <p:nvPr/>
        </p:nvPicPr>
        <p:blipFill>
          <a:blip r:embed="rId2" cstate="print"/>
          <a:stretch>
            <a:fillRect/>
          </a:stretch>
        </p:blipFill>
        <p:spPr>
          <a:xfrm>
            <a:off x="1066801" y="2971801"/>
            <a:ext cx="2873022" cy="838199"/>
          </a:xfrm>
          <a:prstGeom prst="rect">
            <a:avLst/>
          </a:prstGeom>
        </p:spPr>
      </p:pic>
      <p:pic>
        <p:nvPicPr>
          <p:cNvPr id="6" name="object 6"/>
          <p:cNvPicPr/>
          <p:nvPr/>
        </p:nvPicPr>
        <p:blipFill>
          <a:blip r:embed="rId3" cstate="print"/>
          <a:stretch>
            <a:fillRect/>
          </a:stretch>
        </p:blipFill>
        <p:spPr>
          <a:xfrm>
            <a:off x="5881377" y="3533140"/>
            <a:ext cx="2334244" cy="79629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40429" y="283210"/>
            <a:ext cx="2188210" cy="635000"/>
          </a:xfrm>
          <a:prstGeom prst="rect">
            <a:avLst/>
          </a:prstGeom>
        </p:spPr>
        <p:txBody>
          <a:bodyPr vert="horz" wrap="square" lIns="0" tIns="12065" rIns="0" bIns="0" rtlCol="0">
            <a:spAutoFit/>
          </a:bodyPr>
          <a:lstStyle/>
          <a:p>
            <a:pPr marL="12700">
              <a:lnSpc>
                <a:spcPct val="100000"/>
              </a:lnSpc>
              <a:spcBef>
                <a:spcPts val="95"/>
              </a:spcBef>
            </a:pPr>
            <a:r>
              <a:rPr sz="4000" b="1" spc="-20" dirty="0">
                <a:solidFill>
                  <a:srgbClr val="C00000"/>
                </a:solidFill>
                <a:latin typeface="Calibri"/>
                <a:cs typeface="Calibri"/>
              </a:rPr>
              <a:t>Beer’s</a:t>
            </a:r>
            <a:r>
              <a:rPr sz="4000" b="1" spc="-70" dirty="0">
                <a:solidFill>
                  <a:srgbClr val="C00000"/>
                </a:solidFill>
                <a:latin typeface="Calibri"/>
                <a:cs typeface="Calibri"/>
              </a:rPr>
              <a:t> </a:t>
            </a:r>
            <a:r>
              <a:rPr sz="4000" b="1" spc="-20" dirty="0">
                <a:solidFill>
                  <a:srgbClr val="C00000"/>
                </a:solidFill>
                <a:latin typeface="Calibri"/>
                <a:cs typeface="Calibri"/>
              </a:rPr>
              <a:t>law</a:t>
            </a:r>
            <a:endParaRPr sz="4000">
              <a:latin typeface="Calibri"/>
              <a:cs typeface="Calibri"/>
            </a:endParaRPr>
          </a:p>
        </p:txBody>
      </p:sp>
      <p:pic>
        <p:nvPicPr>
          <p:cNvPr id="3" name="object 3"/>
          <p:cNvPicPr/>
          <p:nvPr/>
        </p:nvPicPr>
        <p:blipFill>
          <a:blip r:embed="rId2" cstate="print"/>
          <a:stretch>
            <a:fillRect/>
          </a:stretch>
        </p:blipFill>
        <p:spPr>
          <a:xfrm>
            <a:off x="685800" y="762000"/>
            <a:ext cx="8458200" cy="587133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9606" y="701420"/>
            <a:ext cx="6706234" cy="696595"/>
          </a:xfrm>
          <a:prstGeom prst="rect">
            <a:avLst/>
          </a:prstGeom>
        </p:spPr>
        <p:txBody>
          <a:bodyPr vert="horz" wrap="square" lIns="0" tIns="13335" rIns="0" bIns="0" rtlCol="0">
            <a:spAutoFit/>
          </a:bodyPr>
          <a:lstStyle/>
          <a:p>
            <a:pPr marL="12700">
              <a:lnSpc>
                <a:spcPct val="100000"/>
              </a:lnSpc>
              <a:spcBef>
                <a:spcPts val="105"/>
              </a:spcBef>
            </a:pPr>
            <a:r>
              <a:rPr b="1" spc="-5" dirty="0">
                <a:solidFill>
                  <a:srgbClr val="C00000"/>
                </a:solidFill>
                <a:latin typeface="Calibri"/>
                <a:cs typeface="Calibri"/>
              </a:rPr>
              <a:t>Combine</a:t>
            </a:r>
            <a:r>
              <a:rPr b="1" spc="-55" dirty="0">
                <a:solidFill>
                  <a:srgbClr val="C00000"/>
                </a:solidFill>
                <a:latin typeface="Calibri"/>
                <a:cs typeface="Calibri"/>
              </a:rPr>
              <a:t> </a:t>
            </a:r>
            <a:r>
              <a:rPr b="1" spc="-10" dirty="0">
                <a:solidFill>
                  <a:srgbClr val="C00000"/>
                </a:solidFill>
                <a:latin typeface="Calibri"/>
                <a:cs typeface="Calibri"/>
              </a:rPr>
              <a:t>Beer-Lambert’s</a:t>
            </a:r>
            <a:r>
              <a:rPr b="1" spc="-65" dirty="0">
                <a:solidFill>
                  <a:srgbClr val="C00000"/>
                </a:solidFill>
                <a:latin typeface="Calibri"/>
                <a:cs typeface="Calibri"/>
              </a:rPr>
              <a:t> </a:t>
            </a:r>
            <a:r>
              <a:rPr b="1" spc="-15" dirty="0">
                <a:solidFill>
                  <a:srgbClr val="C00000"/>
                </a:solidFill>
                <a:latin typeface="Calibri"/>
                <a:cs typeface="Calibri"/>
              </a:rPr>
              <a:t>law</a:t>
            </a:r>
          </a:p>
        </p:txBody>
      </p:sp>
      <p:sp>
        <p:nvSpPr>
          <p:cNvPr id="3" name="object 3"/>
          <p:cNvSpPr txBox="1"/>
          <p:nvPr/>
        </p:nvSpPr>
        <p:spPr>
          <a:xfrm>
            <a:off x="307340" y="3793336"/>
            <a:ext cx="8109584" cy="931544"/>
          </a:xfrm>
          <a:prstGeom prst="rect">
            <a:avLst/>
          </a:prstGeom>
        </p:spPr>
        <p:txBody>
          <a:bodyPr vert="horz" wrap="square" lIns="0" tIns="53975" rIns="0" bIns="0" rtlCol="0">
            <a:spAutoFit/>
          </a:bodyPr>
          <a:lstStyle/>
          <a:p>
            <a:pPr marL="287020" indent="-274320">
              <a:lnSpc>
                <a:spcPct val="100000"/>
              </a:lnSpc>
              <a:spcBef>
                <a:spcPts val="425"/>
              </a:spcBef>
              <a:buClr>
                <a:srgbClr val="9BBA58"/>
              </a:buClr>
              <a:buFont typeface="Segoe UI Symbol"/>
              <a:buChar char="⚫"/>
              <a:tabLst>
                <a:tab pos="287020" algn="l"/>
              </a:tabLst>
            </a:pPr>
            <a:r>
              <a:rPr sz="2700" dirty="0">
                <a:latin typeface="Calibri"/>
                <a:cs typeface="Calibri"/>
              </a:rPr>
              <a:t>K</a:t>
            </a:r>
            <a:r>
              <a:rPr sz="2700" spc="-15" dirty="0">
                <a:latin typeface="Calibri"/>
                <a:cs typeface="Calibri"/>
              </a:rPr>
              <a:t> </a:t>
            </a:r>
            <a:r>
              <a:rPr sz="2700" dirty="0">
                <a:latin typeface="Calibri"/>
                <a:cs typeface="Calibri"/>
              </a:rPr>
              <a:t>is</a:t>
            </a:r>
            <a:r>
              <a:rPr sz="2700" spc="-15" dirty="0">
                <a:latin typeface="Calibri"/>
                <a:cs typeface="Calibri"/>
              </a:rPr>
              <a:t> </a:t>
            </a:r>
            <a:r>
              <a:rPr sz="2700" b="1" spc="-5" dirty="0">
                <a:solidFill>
                  <a:srgbClr val="C00000"/>
                </a:solidFill>
                <a:latin typeface="Calibri"/>
                <a:cs typeface="Calibri"/>
              </a:rPr>
              <a:t>absorptivity</a:t>
            </a:r>
            <a:r>
              <a:rPr sz="2700" b="1" spc="-10" dirty="0">
                <a:solidFill>
                  <a:srgbClr val="C00000"/>
                </a:solidFill>
                <a:latin typeface="Calibri"/>
                <a:cs typeface="Calibri"/>
              </a:rPr>
              <a:t> </a:t>
            </a:r>
            <a:r>
              <a:rPr sz="2700" spc="-20" dirty="0">
                <a:latin typeface="Calibri"/>
                <a:cs typeface="Calibri"/>
              </a:rPr>
              <a:t>constant </a:t>
            </a:r>
            <a:r>
              <a:rPr sz="2700" dirty="0">
                <a:latin typeface="Calibri"/>
                <a:cs typeface="Calibri"/>
              </a:rPr>
              <a:t>when</a:t>
            </a:r>
            <a:r>
              <a:rPr sz="2700" spc="-30" dirty="0">
                <a:latin typeface="Calibri"/>
                <a:cs typeface="Calibri"/>
              </a:rPr>
              <a:t> </a:t>
            </a:r>
            <a:r>
              <a:rPr sz="2700" dirty="0">
                <a:latin typeface="Calibri"/>
                <a:cs typeface="Calibri"/>
              </a:rPr>
              <a:t>c</a:t>
            </a:r>
            <a:r>
              <a:rPr sz="2700" spc="-5" dirty="0">
                <a:latin typeface="Calibri"/>
                <a:cs typeface="Calibri"/>
              </a:rPr>
              <a:t> </a:t>
            </a:r>
            <a:r>
              <a:rPr sz="2700" dirty="0">
                <a:latin typeface="Calibri"/>
                <a:cs typeface="Calibri"/>
              </a:rPr>
              <a:t>is in gm/lit</a:t>
            </a:r>
            <a:r>
              <a:rPr sz="2700" spc="-5" dirty="0">
                <a:latin typeface="Calibri"/>
                <a:cs typeface="Calibri"/>
              </a:rPr>
              <a:t> </a:t>
            </a:r>
            <a:r>
              <a:rPr sz="2700" dirty="0">
                <a:latin typeface="Calibri"/>
                <a:cs typeface="Calibri"/>
              </a:rPr>
              <a:t>and</a:t>
            </a:r>
            <a:r>
              <a:rPr sz="2700" spc="-25" dirty="0">
                <a:latin typeface="Calibri"/>
                <a:cs typeface="Calibri"/>
              </a:rPr>
              <a:t> </a:t>
            </a:r>
            <a:r>
              <a:rPr sz="2700" dirty="0">
                <a:latin typeface="Calibri"/>
                <a:cs typeface="Calibri"/>
              </a:rPr>
              <a:t>x</a:t>
            </a:r>
            <a:r>
              <a:rPr sz="2700" spc="-5" dirty="0">
                <a:latin typeface="Calibri"/>
                <a:cs typeface="Calibri"/>
              </a:rPr>
              <a:t> </a:t>
            </a:r>
            <a:r>
              <a:rPr sz="2700" dirty="0">
                <a:latin typeface="Calibri"/>
                <a:cs typeface="Calibri"/>
              </a:rPr>
              <a:t>in</a:t>
            </a:r>
            <a:r>
              <a:rPr sz="2700" spc="-10" dirty="0">
                <a:latin typeface="Calibri"/>
                <a:cs typeface="Calibri"/>
              </a:rPr>
              <a:t> </a:t>
            </a:r>
            <a:r>
              <a:rPr sz="2700" dirty="0">
                <a:latin typeface="Calibri"/>
                <a:cs typeface="Calibri"/>
              </a:rPr>
              <a:t>cm</a:t>
            </a:r>
            <a:endParaRPr sz="2700">
              <a:latin typeface="Calibri"/>
              <a:cs typeface="Calibri"/>
            </a:endParaRPr>
          </a:p>
          <a:p>
            <a:pPr marL="287020" indent="-274320">
              <a:lnSpc>
                <a:spcPct val="100000"/>
              </a:lnSpc>
              <a:spcBef>
                <a:spcPts val="325"/>
              </a:spcBef>
              <a:buClr>
                <a:srgbClr val="9BBA58"/>
              </a:buClr>
              <a:buFont typeface="Segoe UI Symbol"/>
              <a:buChar char="⚫"/>
              <a:tabLst>
                <a:tab pos="287020" algn="l"/>
              </a:tabLst>
            </a:pPr>
            <a:r>
              <a:rPr sz="2700" dirty="0">
                <a:latin typeface="Calibri"/>
                <a:cs typeface="Calibri"/>
              </a:rPr>
              <a:t>If</a:t>
            </a:r>
            <a:r>
              <a:rPr sz="2700" spc="-25" dirty="0">
                <a:latin typeface="Calibri"/>
                <a:cs typeface="Calibri"/>
              </a:rPr>
              <a:t> </a:t>
            </a:r>
            <a:r>
              <a:rPr sz="2700" spc="-15" dirty="0">
                <a:latin typeface="Calibri"/>
                <a:cs typeface="Calibri"/>
              </a:rPr>
              <a:t>concentration</a:t>
            </a:r>
            <a:r>
              <a:rPr sz="2700" spc="-30" dirty="0">
                <a:latin typeface="Calibri"/>
                <a:cs typeface="Calibri"/>
              </a:rPr>
              <a:t> </a:t>
            </a:r>
            <a:r>
              <a:rPr sz="2700" dirty="0">
                <a:latin typeface="Calibri"/>
                <a:cs typeface="Calibri"/>
              </a:rPr>
              <a:t>is</a:t>
            </a:r>
            <a:r>
              <a:rPr sz="2700" spc="-10" dirty="0">
                <a:latin typeface="Calibri"/>
                <a:cs typeface="Calibri"/>
              </a:rPr>
              <a:t> </a:t>
            </a:r>
            <a:r>
              <a:rPr sz="2700" spc="-15" dirty="0">
                <a:latin typeface="Calibri"/>
                <a:cs typeface="Calibri"/>
              </a:rPr>
              <a:t>express</a:t>
            </a:r>
            <a:r>
              <a:rPr sz="2700" spc="-20" dirty="0">
                <a:latin typeface="Calibri"/>
                <a:cs typeface="Calibri"/>
              </a:rPr>
              <a:t> </a:t>
            </a:r>
            <a:r>
              <a:rPr sz="2700" dirty="0">
                <a:latin typeface="Calibri"/>
                <a:cs typeface="Calibri"/>
              </a:rPr>
              <a:t>in</a:t>
            </a:r>
            <a:r>
              <a:rPr sz="2700" spc="-20" dirty="0">
                <a:latin typeface="Calibri"/>
                <a:cs typeface="Calibri"/>
              </a:rPr>
              <a:t> </a:t>
            </a:r>
            <a:r>
              <a:rPr sz="2700" dirty="0">
                <a:latin typeface="Calibri"/>
                <a:cs typeface="Calibri"/>
              </a:rPr>
              <a:t>moles/</a:t>
            </a:r>
            <a:r>
              <a:rPr sz="2700" spc="-20" dirty="0">
                <a:latin typeface="Calibri"/>
                <a:cs typeface="Calibri"/>
              </a:rPr>
              <a:t> </a:t>
            </a:r>
            <a:r>
              <a:rPr sz="2700" dirty="0">
                <a:latin typeface="Calibri"/>
                <a:cs typeface="Calibri"/>
              </a:rPr>
              <a:t>lit</a:t>
            </a:r>
            <a:r>
              <a:rPr sz="2700" spc="-10" dirty="0">
                <a:latin typeface="Calibri"/>
                <a:cs typeface="Calibri"/>
              </a:rPr>
              <a:t> </a:t>
            </a:r>
            <a:r>
              <a:rPr sz="2700" dirty="0">
                <a:latin typeface="Calibri"/>
                <a:cs typeface="Calibri"/>
              </a:rPr>
              <a:t>then</a:t>
            </a:r>
            <a:endParaRPr sz="2700">
              <a:latin typeface="Calibri"/>
              <a:cs typeface="Calibri"/>
            </a:endParaRPr>
          </a:p>
        </p:txBody>
      </p:sp>
      <p:sp>
        <p:nvSpPr>
          <p:cNvPr id="4" name="object 4"/>
          <p:cNvSpPr txBox="1"/>
          <p:nvPr/>
        </p:nvSpPr>
        <p:spPr>
          <a:xfrm>
            <a:off x="307340" y="5647131"/>
            <a:ext cx="8053070" cy="428322"/>
          </a:xfrm>
          <a:prstGeom prst="rect">
            <a:avLst/>
          </a:prstGeom>
        </p:spPr>
        <p:txBody>
          <a:bodyPr vert="horz" wrap="square" lIns="0" tIns="12700" rIns="0" bIns="0" rtlCol="0">
            <a:spAutoFit/>
          </a:bodyPr>
          <a:lstStyle/>
          <a:p>
            <a:pPr marL="287020" indent="-274320">
              <a:lnSpc>
                <a:spcPct val="100000"/>
              </a:lnSpc>
              <a:spcBef>
                <a:spcPts val="100"/>
              </a:spcBef>
              <a:buClr>
                <a:srgbClr val="9BBA58"/>
              </a:buClr>
              <a:buFont typeface="Segoe UI Symbol"/>
              <a:buChar char="⚫"/>
              <a:tabLst>
                <a:tab pos="287020" algn="l"/>
              </a:tabLst>
            </a:pPr>
            <a:r>
              <a:rPr sz="2700" b="1" dirty="0">
                <a:solidFill>
                  <a:srgbClr val="C00000"/>
                </a:solidFill>
                <a:latin typeface="Times New Roman"/>
                <a:cs typeface="Times New Roman"/>
              </a:rPr>
              <a:t>ϵ</a:t>
            </a:r>
            <a:r>
              <a:rPr sz="2700" b="1" spc="-25" dirty="0">
                <a:solidFill>
                  <a:srgbClr val="C00000"/>
                </a:solidFill>
                <a:latin typeface="Times New Roman"/>
                <a:cs typeface="Times New Roman"/>
              </a:rPr>
              <a:t> </a:t>
            </a:r>
            <a:r>
              <a:rPr sz="2700" b="1" dirty="0">
                <a:solidFill>
                  <a:srgbClr val="C00000"/>
                </a:solidFill>
                <a:latin typeface="Times New Roman"/>
                <a:cs typeface="Times New Roman"/>
              </a:rPr>
              <a:t>is</a:t>
            </a:r>
            <a:r>
              <a:rPr sz="2700" b="1" spc="-15" dirty="0">
                <a:solidFill>
                  <a:srgbClr val="C00000"/>
                </a:solidFill>
                <a:latin typeface="Times New Roman"/>
                <a:cs typeface="Times New Roman"/>
              </a:rPr>
              <a:t> </a:t>
            </a:r>
            <a:r>
              <a:rPr sz="2700" b="1" dirty="0">
                <a:solidFill>
                  <a:srgbClr val="C00000"/>
                </a:solidFill>
                <a:latin typeface="Times New Roman"/>
                <a:cs typeface="Times New Roman"/>
              </a:rPr>
              <a:t>molar</a:t>
            </a:r>
            <a:r>
              <a:rPr sz="2700" b="1" spc="-65" dirty="0">
                <a:solidFill>
                  <a:srgbClr val="C00000"/>
                </a:solidFill>
                <a:latin typeface="Times New Roman"/>
                <a:cs typeface="Times New Roman"/>
              </a:rPr>
              <a:t> </a:t>
            </a:r>
            <a:r>
              <a:rPr sz="2700" b="1" dirty="0">
                <a:solidFill>
                  <a:srgbClr val="C00000"/>
                </a:solidFill>
                <a:latin typeface="Times New Roman"/>
                <a:cs typeface="Times New Roman"/>
              </a:rPr>
              <a:t>absorptivity</a:t>
            </a:r>
            <a:r>
              <a:rPr sz="2700" b="1" spc="-30" dirty="0">
                <a:solidFill>
                  <a:srgbClr val="C00000"/>
                </a:solidFill>
                <a:latin typeface="Times New Roman"/>
                <a:cs typeface="Times New Roman"/>
              </a:rPr>
              <a:t> </a:t>
            </a:r>
            <a:r>
              <a:rPr sz="2700" b="1" spc="-5" dirty="0">
                <a:solidFill>
                  <a:srgbClr val="C00000"/>
                </a:solidFill>
                <a:latin typeface="Times New Roman"/>
                <a:cs typeface="Times New Roman"/>
              </a:rPr>
              <a:t>or</a:t>
            </a:r>
            <a:r>
              <a:rPr sz="2700" b="1" spc="-50" dirty="0">
                <a:solidFill>
                  <a:srgbClr val="C00000"/>
                </a:solidFill>
                <a:latin typeface="Times New Roman"/>
                <a:cs typeface="Times New Roman"/>
              </a:rPr>
              <a:t> </a:t>
            </a:r>
            <a:r>
              <a:rPr sz="2700" b="1" dirty="0">
                <a:solidFill>
                  <a:srgbClr val="C00000"/>
                </a:solidFill>
                <a:latin typeface="Times New Roman"/>
                <a:cs typeface="Times New Roman"/>
              </a:rPr>
              <a:t>molar</a:t>
            </a:r>
            <a:r>
              <a:rPr sz="2700" b="1" spc="-70" dirty="0">
                <a:solidFill>
                  <a:srgbClr val="C00000"/>
                </a:solidFill>
                <a:latin typeface="Times New Roman"/>
                <a:cs typeface="Times New Roman"/>
              </a:rPr>
              <a:t> </a:t>
            </a:r>
            <a:r>
              <a:rPr sz="2700" b="1">
                <a:solidFill>
                  <a:srgbClr val="C00000"/>
                </a:solidFill>
                <a:latin typeface="Times New Roman"/>
                <a:cs typeface="Times New Roman"/>
              </a:rPr>
              <a:t>extinction</a:t>
            </a:r>
            <a:r>
              <a:rPr sz="2700" b="1" spc="-30">
                <a:solidFill>
                  <a:srgbClr val="C00000"/>
                </a:solidFill>
                <a:latin typeface="Times New Roman"/>
                <a:cs typeface="Times New Roman"/>
              </a:rPr>
              <a:t> </a:t>
            </a:r>
            <a:r>
              <a:rPr sz="2700" b="1" smtClean="0">
                <a:solidFill>
                  <a:srgbClr val="C00000"/>
                </a:solidFill>
                <a:latin typeface="Times New Roman"/>
                <a:cs typeface="Times New Roman"/>
              </a:rPr>
              <a:t>coefficient</a:t>
            </a:r>
            <a:endParaRPr sz="2700">
              <a:latin typeface="Times New Roman"/>
              <a:cs typeface="Times New Roman"/>
            </a:endParaRPr>
          </a:p>
        </p:txBody>
      </p:sp>
      <p:pic>
        <p:nvPicPr>
          <p:cNvPr id="5" name="object 5"/>
          <p:cNvPicPr/>
          <p:nvPr/>
        </p:nvPicPr>
        <p:blipFill>
          <a:blip r:embed="rId2" cstate="print"/>
          <a:stretch>
            <a:fillRect/>
          </a:stretch>
        </p:blipFill>
        <p:spPr>
          <a:xfrm>
            <a:off x="1219200" y="2843792"/>
            <a:ext cx="4800600" cy="670781"/>
          </a:xfrm>
          <a:prstGeom prst="rect">
            <a:avLst/>
          </a:prstGeom>
        </p:spPr>
      </p:pic>
      <p:pic>
        <p:nvPicPr>
          <p:cNvPr id="6" name="object 6"/>
          <p:cNvPicPr/>
          <p:nvPr/>
        </p:nvPicPr>
        <p:blipFill>
          <a:blip r:embed="rId3" cstate="print"/>
          <a:stretch>
            <a:fillRect/>
          </a:stretch>
        </p:blipFill>
        <p:spPr>
          <a:xfrm>
            <a:off x="667543" y="1858962"/>
            <a:ext cx="2593912" cy="844550"/>
          </a:xfrm>
          <a:prstGeom prst="rect">
            <a:avLst/>
          </a:prstGeom>
        </p:spPr>
      </p:pic>
      <p:pic>
        <p:nvPicPr>
          <p:cNvPr id="7" name="object 7"/>
          <p:cNvPicPr/>
          <p:nvPr/>
        </p:nvPicPr>
        <p:blipFill>
          <a:blip r:embed="rId4" cstate="print"/>
          <a:stretch>
            <a:fillRect/>
          </a:stretch>
        </p:blipFill>
        <p:spPr>
          <a:xfrm>
            <a:off x="2895600" y="4914219"/>
            <a:ext cx="2057400" cy="259556"/>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219200" y="1103475"/>
            <a:ext cx="2039030" cy="1010330"/>
          </a:xfrm>
          <a:prstGeom prst="rect">
            <a:avLst/>
          </a:prstGeom>
        </p:spPr>
      </p:pic>
      <p:pic>
        <p:nvPicPr>
          <p:cNvPr id="4" name="object 4"/>
          <p:cNvPicPr/>
          <p:nvPr/>
        </p:nvPicPr>
        <p:blipFill>
          <a:blip r:embed="rId3" cstate="print"/>
          <a:stretch>
            <a:fillRect/>
          </a:stretch>
        </p:blipFill>
        <p:spPr>
          <a:xfrm>
            <a:off x="1219200" y="2695713"/>
            <a:ext cx="3657600" cy="791356"/>
          </a:xfrm>
          <a:prstGeom prst="rect">
            <a:avLst/>
          </a:prstGeom>
        </p:spPr>
      </p:pic>
      <p:pic>
        <p:nvPicPr>
          <p:cNvPr id="5" name="object 5"/>
          <p:cNvPicPr/>
          <p:nvPr/>
        </p:nvPicPr>
        <p:blipFill>
          <a:blip r:embed="rId4" cstate="print"/>
          <a:stretch>
            <a:fillRect/>
          </a:stretch>
        </p:blipFill>
        <p:spPr>
          <a:xfrm>
            <a:off x="1905000" y="4162260"/>
            <a:ext cx="3276600" cy="791012"/>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85850" y="524002"/>
            <a:ext cx="7375525" cy="574040"/>
          </a:xfrm>
          <a:prstGeom prst="rect">
            <a:avLst/>
          </a:prstGeom>
        </p:spPr>
        <p:txBody>
          <a:bodyPr vert="horz" wrap="square" lIns="0" tIns="12700" rIns="0" bIns="0" rtlCol="0">
            <a:spAutoFit/>
          </a:bodyPr>
          <a:lstStyle/>
          <a:p>
            <a:pPr marL="12700">
              <a:lnSpc>
                <a:spcPct val="100000"/>
              </a:lnSpc>
              <a:spcBef>
                <a:spcPts val="100"/>
              </a:spcBef>
            </a:pPr>
            <a:r>
              <a:rPr sz="3600" b="1" spc="-20" dirty="0">
                <a:solidFill>
                  <a:srgbClr val="C00000"/>
                </a:solidFill>
                <a:latin typeface="Arial"/>
                <a:cs typeface="Arial"/>
              </a:rPr>
              <a:t>Varification </a:t>
            </a:r>
            <a:r>
              <a:rPr sz="3600" b="1" dirty="0">
                <a:solidFill>
                  <a:srgbClr val="C00000"/>
                </a:solidFill>
                <a:latin typeface="Arial"/>
                <a:cs typeface="Arial"/>
              </a:rPr>
              <a:t>of</a:t>
            </a:r>
            <a:r>
              <a:rPr sz="3600" b="1" spc="-20" dirty="0">
                <a:solidFill>
                  <a:srgbClr val="C00000"/>
                </a:solidFill>
                <a:latin typeface="Arial"/>
                <a:cs typeface="Arial"/>
              </a:rPr>
              <a:t> </a:t>
            </a:r>
            <a:r>
              <a:rPr sz="3600" b="1" spc="-10" dirty="0">
                <a:solidFill>
                  <a:srgbClr val="C00000"/>
                </a:solidFill>
                <a:latin typeface="Arial"/>
                <a:cs typeface="Arial"/>
              </a:rPr>
              <a:t>Beer-Lambert’s</a:t>
            </a:r>
            <a:r>
              <a:rPr sz="3600" b="1" spc="-50" dirty="0">
                <a:solidFill>
                  <a:srgbClr val="C00000"/>
                </a:solidFill>
                <a:latin typeface="Arial"/>
                <a:cs typeface="Arial"/>
              </a:rPr>
              <a:t> </a:t>
            </a:r>
            <a:r>
              <a:rPr sz="3600" b="1" dirty="0">
                <a:solidFill>
                  <a:srgbClr val="C00000"/>
                </a:solidFill>
                <a:latin typeface="Arial"/>
                <a:cs typeface="Arial"/>
              </a:rPr>
              <a:t>law</a:t>
            </a:r>
            <a:endParaRPr sz="3600">
              <a:latin typeface="Arial"/>
              <a:cs typeface="Arial"/>
            </a:endParaRPr>
          </a:p>
        </p:txBody>
      </p:sp>
      <p:sp>
        <p:nvSpPr>
          <p:cNvPr id="3" name="object 3"/>
          <p:cNvSpPr txBox="1"/>
          <p:nvPr/>
        </p:nvSpPr>
        <p:spPr>
          <a:xfrm>
            <a:off x="535940" y="1607565"/>
            <a:ext cx="7419975" cy="1002030"/>
          </a:xfrm>
          <a:prstGeom prst="rect">
            <a:avLst/>
          </a:prstGeom>
        </p:spPr>
        <p:txBody>
          <a:bodyPr vert="horz" wrap="square" lIns="0" tIns="13335" rIns="0" bIns="0" rtlCol="0">
            <a:spAutoFit/>
          </a:bodyPr>
          <a:lstStyle/>
          <a:p>
            <a:pPr marL="355600" marR="5080" indent="-342900">
              <a:lnSpc>
                <a:spcPct val="100000"/>
              </a:lnSpc>
              <a:spcBef>
                <a:spcPts val="105"/>
              </a:spcBef>
              <a:buFont typeface="Microsoft Sans Serif"/>
              <a:buChar char="•"/>
              <a:tabLst>
                <a:tab pos="354965" algn="l"/>
                <a:tab pos="355600" algn="l"/>
              </a:tabLst>
            </a:pPr>
            <a:r>
              <a:rPr sz="3200" spc="-5" dirty="0">
                <a:latin typeface="Calibri"/>
                <a:cs typeface="Calibri"/>
              </a:rPr>
              <a:t>Absorbance </a:t>
            </a:r>
            <a:r>
              <a:rPr sz="3200" spc="-10" dirty="0">
                <a:latin typeface="Calibri"/>
                <a:cs typeface="Calibri"/>
              </a:rPr>
              <a:t>vs </a:t>
            </a:r>
            <a:r>
              <a:rPr sz="3200" spc="-15" dirty="0">
                <a:latin typeface="Calibri"/>
                <a:cs typeface="Calibri"/>
              </a:rPr>
              <a:t>concentration </a:t>
            </a:r>
            <a:r>
              <a:rPr sz="3200" dirty="0">
                <a:latin typeface="Calibri"/>
                <a:cs typeface="Calibri"/>
              </a:rPr>
              <a:t>( </a:t>
            </a:r>
            <a:r>
              <a:rPr sz="3200" spc="-5" dirty="0">
                <a:latin typeface="Calibri"/>
                <a:cs typeface="Calibri"/>
              </a:rPr>
              <a:t>thickness of </a:t>
            </a:r>
            <a:r>
              <a:rPr sz="3200" spc="-710" dirty="0">
                <a:latin typeface="Calibri"/>
                <a:cs typeface="Calibri"/>
              </a:rPr>
              <a:t> </a:t>
            </a:r>
            <a:r>
              <a:rPr sz="3200" dirty="0">
                <a:latin typeface="Calibri"/>
                <a:cs typeface="Calibri"/>
              </a:rPr>
              <a:t>medium</a:t>
            </a:r>
            <a:r>
              <a:rPr sz="3200" spc="-20" dirty="0">
                <a:latin typeface="Calibri"/>
                <a:cs typeface="Calibri"/>
              </a:rPr>
              <a:t> </a:t>
            </a:r>
            <a:r>
              <a:rPr sz="3200" dirty="0">
                <a:latin typeface="Calibri"/>
                <a:cs typeface="Calibri"/>
              </a:rPr>
              <a:t>is</a:t>
            </a:r>
            <a:r>
              <a:rPr sz="3200" spc="15" dirty="0">
                <a:latin typeface="Calibri"/>
                <a:cs typeface="Calibri"/>
              </a:rPr>
              <a:t> </a:t>
            </a:r>
            <a:r>
              <a:rPr sz="3200" spc="-20" dirty="0">
                <a:latin typeface="Calibri"/>
                <a:cs typeface="Calibri"/>
              </a:rPr>
              <a:t>fixed</a:t>
            </a:r>
            <a:r>
              <a:rPr sz="3200" dirty="0">
                <a:latin typeface="Calibri"/>
                <a:cs typeface="Calibri"/>
              </a:rPr>
              <a:t> )</a:t>
            </a:r>
            <a:endParaRPr sz="3200">
              <a:latin typeface="Calibri"/>
              <a:cs typeface="Calibri"/>
            </a:endParaRPr>
          </a:p>
        </p:txBody>
      </p:sp>
      <p:pic>
        <p:nvPicPr>
          <p:cNvPr id="7" name="object 7"/>
          <p:cNvPicPr/>
          <p:nvPr/>
        </p:nvPicPr>
        <p:blipFill>
          <a:blip r:embed="rId2" cstate="print"/>
          <a:stretch>
            <a:fillRect/>
          </a:stretch>
        </p:blipFill>
        <p:spPr>
          <a:xfrm>
            <a:off x="2667000" y="2590800"/>
            <a:ext cx="2762250" cy="246697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6631305" cy="228600"/>
          </a:xfrm>
        </p:spPr>
        <p:txBody>
          <a:bodyPr/>
          <a:lstStyle/>
          <a:p>
            <a:r>
              <a:rPr lang="en-US" sz="2400" dirty="0" smtClean="0"/>
              <a:t>Electronic transition</a:t>
            </a:r>
            <a:endParaRPr lang="en-US" sz="2400" dirty="0"/>
          </a:p>
        </p:txBody>
      </p:sp>
      <p:sp>
        <p:nvSpPr>
          <p:cNvPr id="8" name="object 2"/>
          <p:cNvSpPr txBox="1"/>
          <p:nvPr/>
        </p:nvSpPr>
        <p:spPr>
          <a:xfrm>
            <a:off x="609599" y="3810000"/>
            <a:ext cx="7772401" cy="1346522"/>
          </a:xfrm>
          <a:prstGeom prst="rect">
            <a:avLst/>
          </a:prstGeom>
        </p:spPr>
        <p:txBody>
          <a:bodyPr vert="horz" wrap="square" lIns="0" tIns="12700" rIns="0" bIns="0" rtlCol="0">
            <a:spAutoFit/>
          </a:bodyPr>
          <a:lstStyle/>
          <a:p>
            <a:pPr marL="355600" marR="862330" indent="-342900">
              <a:spcBef>
                <a:spcPts val="100"/>
              </a:spcBef>
              <a:buFont typeface="Microsoft Sans Serif"/>
              <a:buChar char="•"/>
              <a:tabLst>
                <a:tab pos="354965" algn="l"/>
                <a:tab pos="355600" algn="l"/>
              </a:tabLst>
            </a:pPr>
            <a:r>
              <a:rPr sz="2000" spc="-5" dirty="0">
                <a:latin typeface="Calibri"/>
                <a:cs typeface="Calibri"/>
              </a:rPr>
              <a:t>The</a:t>
            </a:r>
            <a:r>
              <a:rPr sz="2000" spc="-10" dirty="0">
                <a:latin typeface="Calibri"/>
                <a:cs typeface="Calibri"/>
              </a:rPr>
              <a:t> </a:t>
            </a:r>
            <a:r>
              <a:rPr sz="2000" spc="-15" dirty="0">
                <a:latin typeface="Calibri"/>
                <a:cs typeface="Calibri"/>
              </a:rPr>
              <a:t>order</a:t>
            </a:r>
            <a:r>
              <a:rPr sz="2000" spc="-25" dirty="0">
                <a:latin typeface="Calibri"/>
                <a:cs typeface="Calibri"/>
              </a:rPr>
              <a:t> </a:t>
            </a:r>
            <a:r>
              <a:rPr sz="2000" spc="-5" dirty="0">
                <a:latin typeface="Calibri"/>
                <a:cs typeface="Calibri"/>
              </a:rPr>
              <a:t>of </a:t>
            </a:r>
            <a:r>
              <a:rPr sz="2000" spc="-10" dirty="0">
                <a:latin typeface="Calibri"/>
                <a:cs typeface="Calibri"/>
              </a:rPr>
              <a:t>energy</a:t>
            </a:r>
            <a:r>
              <a:rPr sz="2000" spc="-15" dirty="0">
                <a:latin typeface="Calibri"/>
                <a:cs typeface="Calibri"/>
              </a:rPr>
              <a:t> </a:t>
            </a:r>
            <a:r>
              <a:rPr sz="2000" spc="-10" dirty="0">
                <a:latin typeface="Calibri"/>
                <a:cs typeface="Calibri"/>
              </a:rPr>
              <a:t>required</a:t>
            </a:r>
            <a:r>
              <a:rPr sz="2000" dirty="0">
                <a:latin typeface="Calibri"/>
                <a:cs typeface="Calibri"/>
              </a:rPr>
              <a:t> </a:t>
            </a:r>
            <a:r>
              <a:rPr sz="2000" spc="-30" dirty="0">
                <a:latin typeface="Calibri"/>
                <a:cs typeface="Calibri"/>
              </a:rPr>
              <a:t>for</a:t>
            </a:r>
            <a:r>
              <a:rPr sz="2000" spc="-10" dirty="0">
                <a:latin typeface="Calibri"/>
                <a:cs typeface="Calibri"/>
              </a:rPr>
              <a:t> electronic </a:t>
            </a:r>
            <a:r>
              <a:rPr sz="2000" spc="-705" dirty="0">
                <a:latin typeface="Calibri"/>
                <a:cs typeface="Calibri"/>
              </a:rPr>
              <a:t> </a:t>
            </a:r>
            <a:r>
              <a:rPr sz="2000" spc="-10" dirty="0">
                <a:latin typeface="Calibri"/>
                <a:cs typeface="Calibri"/>
              </a:rPr>
              <a:t>transition</a:t>
            </a:r>
            <a:r>
              <a:rPr sz="2000" spc="10" dirty="0">
                <a:latin typeface="Calibri"/>
                <a:cs typeface="Calibri"/>
              </a:rPr>
              <a:t> </a:t>
            </a:r>
            <a:r>
              <a:rPr sz="2000" dirty="0">
                <a:latin typeface="Calibri"/>
                <a:cs typeface="Calibri"/>
              </a:rPr>
              <a:t>is</a:t>
            </a:r>
          </a:p>
          <a:p>
            <a:pPr marL="355600" indent="-342900">
              <a:spcBef>
                <a:spcPts val="795"/>
              </a:spcBef>
              <a:buFont typeface="Microsoft Sans Serif"/>
              <a:buChar char="•"/>
              <a:tabLst>
                <a:tab pos="354965" algn="l"/>
                <a:tab pos="355600" algn="l"/>
                <a:tab pos="2281555" algn="l"/>
                <a:tab pos="3197860" algn="l"/>
                <a:tab pos="4445000" algn="l"/>
              </a:tabLst>
            </a:pPr>
            <a:r>
              <a:rPr sz="2000" dirty="0">
                <a:latin typeface="Symbol"/>
                <a:cs typeface="Symbol"/>
              </a:rPr>
              <a:t></a:t>
            </a:r>
            <a:r>
              <a:rPr sz="2000" spc="-25" dirty="0">
                <a:latin typeface="Times New Roman"/>
                <a:cs typeface="Times New Roman"/>
              </a:rPr>
              <a:t> </a:t>
            </a:r>
            <a:r>
              <a:rPr sz="2000" dirty="0">
                <a:latin typeface="Symbol"/>
                <a:cs typeface="Symbol"/>
              </a:rPr>
              <a:t></a:t>
            </a:r>
            <a:r>
              <a:rPr sz="2000" spc="5" dirty="0">
                <a:latin typeface="Times New Roman"/>
                <a:cs typeface="Times New Roman"/>
              </a:rPr>
              <a:t> </a:t>
            </a:r>
            <a:r>
              <a:rPr sz="2000" spc="-5" dirty="0">
                <a:latin typeface="Symbol"/>
                <a:cs typeface="Symbol"/>
              </a:rPr>
              <a:t></a:t>
            </a:r>
            <a:r>
              <a:rPr sz="2000" dirty="0">
                <a:latin typeface="Times New Roman"/>
                <a:cs typeface="Times New Roman"/>
              </a:rPr>
              <a:t> </a:t>
            </a:r>
            <a:r>
              <a:rPr sz="2000" dirty="0" smtClean="0">
                <a:latin typeface="Symbol"/>
                <a:cs typeface="Symbol"/>
              </a:rPr>
              <a:t></a:t>
            </a:r>
            <a:r>
              <a:rPr sz="2000" dirty="0" smtClean="0">
                <a:latin typeface="Times New Roman"/>
                <a:cs typeface="Times New Roman"/>
              </a:rPr>
              <a:t>π</a:t>
            </a:r>
            <a:r>
              <a:rPr sz="2000" spc="-5" dirty="0" smtClean="0">
                <a:latin typeface="Times New Roman"/>
                <a:cs typeface="Times New Roman"/>
              </a:rPr>
              <a:t> </a:t>
            </a:r>
            <a:r>
              <a:rPr sz="2000" dirty="0" smtClean="0">
                <a:latin typeface="Times New Roman"/>
                <a:cs typeface="Times New Roman"/>
              </a:rPr>
              <a:t>→π</a:t>
            </a:r>
            <a:r>
              <a:rPr sz="2000" dirty="0">
                <a:latin typeface="Times New Roman"/>
                <a:cs typeface="Times New Roman"/>
              </a:rPr>
              <a:t>*</a:t>
            </a:r>
            <a:r>
              <a:rPr sz="2000" spc="-15" dirty="0">
                <a:latin typeface="Times New Roman"/>
                <a:cs typeface="Times New Roman"/>
              </a:rPr>
              <a:t> </a:t>
            </a:r>
            <a:r>
              <a:rPr sz="2000" dirty="0">
                <a:latin typeface="Times New Roman"/>
                <a:cs typeface="Times New Roman"/>
              </a:rPr>
              <a:t>&gt;</a:t>
            </a:r>
            <a:r>
              <a:rPr sz="2000" spc="5" dirty="0">
                <a:latin typeface="Times New Roman"/>
                <a:cs typeface="Times New Roman"/>
              </a:rPr>
              <a:t> </a:t>
            </a:r>
            <a:r>
              <a:rPr sz="2000" dirty="0" err="1" smtClean="0">
                <a:latin typeface="Times New Roman"/>
                <a:cs typeface="Times New Roman"/>
              </a:rPr>
              <a:t>n→</a:t>
            </a:r>
            <a:r>
              <a:rPr sz="2000" dirty="0" err="1">
                <a:latin typeface="Calibri"/>
                <a:cs typeface="Calibri"/>
              </a:rPr>
              <a:t>σ</a:t>
            </a:r>
            <a:r>
              <a:rPr sz="2000" dirty="0">
                <a:latin typeface="Calibri"/>
                <a:cs typeface="Calibri"/>
              </a:rPr>
              <a:t>*</a:t>
            </a:r>
            <a:r>
              <a:rPr sz="2000" spc="-35" dirty="0">
                <a:latin typeface="Calibri"/>
                <a:cs typeface="Calibri"/>
              </a:rPr>
              <a:t> </a:t>
            </a:r>
            <a:r>
              <a:rPr sz="2000" dirty="0">
                <a:latin typeface="Calibri"/>
                <a:cs typeface="Calibri"/>
              </a:rPr>
              <a:t>&gt;</a:t>
            </a:r>
            <a:r>
              <a:rPr sz="2000" spc="-10" dirty="0">
                <a:latin typeface="Calibri"/>
                <a:cs typeface="Calibri"/>
              </a:rPr>
              <a:t> </a:t>
            </a:r>
            <a:r>
              <a:rPr sz="2000" dirty="0">
                <a:latin typeface="Times New Roman"/>
                <a:cs typeface="Times New Roman"/>
              </a:rPr>
              <a:t>n</a:t>
            </a:r>
            <a:r>
              <a:rPr sz="2000" spc="-20" dirty="0">
                <a:latin typeface="Times New Roman"/>
                <a:cs typeface="Times New Roman"/>
              </a:rPr>
              <a:t> </a:t>
            </a:r>
            <a:r>
              <a:rPr sz="2000" dirty="0">
                <a:latin typeface="Times New Roman"/>
                <a:cs typeface="Times New Roman"/>
              </a:rPr>
              <a:t>→</a:t>
            </a:r>
            <a:r>
              <a:rPr sz="2000" spc="-15" dirty="0">
                <a:latin typeface="Times New Roman"/>
                <a:cs typeface="Times New Roman"/>
              </a:rPr>
              <a:t> </a:t>
            </a:r>
            <a:r>
              <a:rPr sz="2000" dirty="0">
                <a:latin typeface="Times New Roman"/>
                <a:cs typeface="Times New Roman"/>
              </a:rPr>
              <a:t>π*</a:t>
            </a:r>
          </a:p>
          <a:p>
            <a:pPr>
              <a:spcBef>
                <a:spcPts val="35"/>
              </a:spcBef>
              <a:buFont typeface="Microsoft Sans Serif"/>
              <a:buChar char="•"/>
            </a:pPr>
            <a:endParaRPr sz="2000" dirty="0">
              <a:latin typeface="Times New Roman"/>
              <a:cs typeface="Times New Roman"/>
            </a:endParaRPr>
          </a:p>
          <a:p>
            <a:pPr marL="455930" indent="-443865">
              <a:buClr>
                <a:srgbClr val="000000"/>
              </a:buClr>
              <a:buFont typeface="Microsoft Sans Serif"/>
              <a:buChar char="•"/>
              <a:tabLst>
                <a:tab pos="455930" algn="l"/>
                <a:tab pos="456565" algn="l"/>
                <a:tab pos="855344" algn="l"/>
                <a:tab pos="1975485" algn="l"/>
                <a:tab pos="2867660" algn="l"/>
                <a:tab pos="4184015" algn="l"/>
              </a:tabLst>
            </a:pPr>
            <a:r>
              <a:rPr sz="2000" dirty="0">
                <a:solidFill>
                  <a:srgbClr val="FF0000"/>
                </a:solidFill>
                <a:latin typeface="Calibri"/>
                <a:cs typeface="Calibri"/>
              </a:rPr>
              <a:t>σ	</a:t>
            </a:r>
            <a:r>
              <a:rPr sz="2000" dirty="0">
                <a:solidFill>
                  <a:srgbClr val="FF0000"/>
                </a:solidFill>
                <a:latin typeface="Times New Roman"/>
                <a:cs typeface="Times New Roman"/>
              </a:rPr>
              <a:t>→</a:t>
            </a:r>
            <a:r>
              <a:rPr sz="2000" spc="-10" dirty="0">
                <a:solidFill>
                  <a:srgbClr val="FF0000"/>
                </a:solidFill>
                <a:latin typeface="Times New Roman"/>
                <a:cs typeface="Times New Roman"/>
              </a:rPr>
              <a:t> </a:t>
            </a:r>
            <a:r>
              <a:rPr sz="2000" dirty="0">
                <a:solidFill>
                  <a:srgbClr val="FF0000"/>
                </a:solidFill>
                <a:latin typeface="Times New Roman"/>
                <a:cs typeface="Times New Roman"/>
              </a:rPr>
              <a:t>π*	and	π</a:t>
            </a:r>
            <a:r>
              <a:rPr sz="2000" spc="-5" dirty="0">
                <a:solidFill>
                  <a:srgbClr val="FF0000"/>
                </a:solidFill>
                <a:latin typeface="Times New Roman"/>
                <a:cs typeface="Times New Roman"/>
              </a:rPr>
              <a:t> </a:t>
            </a:r>
            <a:r>
              <a:rPr sz="2000" dirty="0">
                <a:solidFill>
                  <a:srgbClr val="FF0000"/>
                </a:solidFill>
                <a:latin typeface="Times New Roman"/>
                <a:cs typeface="Times New Roman"/>
              </a:rPr>
              <a:t>→</a:t>
            </a:r>
            <a:r>
              <a:rPr sz="2000" dirty="0">
                <a:solidFill>
                  <a:srgbClr val="FF0000"/>
                </a:solidFill>
                <a:latin typeface="Calibri"/>
                <a:cs typeface="Calibri"/>
              </a:rPr>
              <a:t>σ*	</a:t>
            </a:r>
            <a:r>
              <a:rPr sz="2000" spc="-10" dirty="0">
                <a:solidFill>
                  <a:srgbClr val="FF0000"/>
                </a:solidFill>
                <a:latin typeface="Calibri"/>
                <a:cs typeface="Calibri"/>
              </a:rPr>
              <a:t>transitions</a:t>
            </a:r>
            <a:r>
              <a:rPr sz="2000" spc="5" dirty="0">
                <a:solidFill>
                  <a:srgbClr val="FF0000"/>
                </a:solidFill>
                <a:latin typeface="Calibri"/>
                <a:cs typeface="Calibri"/>
              </a:rPr>
              <a:t> </a:t>
            </a:r>
            <a:r>
              <a:rPr sz="2000" spc="-15" dirty="0">
                <a:solidFill>
                  <a:srgbClr val="FF0000"/>
                </a:solidFill>
                <a:latin typeface="Calibri"/>
                <a:cs typeface="Calibri"/>
              </a:rPr>
              <a:t>are</a:t>
            </a:r>
            <a:r>
              <a:rPr sz="2000" spc="-30" dirty="0">
                <a:solidFill>
                  <a:srgbClr val="FF0000"/>
                </a:solidFill>
                <a:latin typeface="Calibri"/>
                <a:cs typeface="Calibri"/>
              </a:rPr>
              <a:t> </a:t>
            </a:r>
            <a:r>
              <a:rPr sz="2000" spc="-15" dirty="0" smtClean="0">
                <a:solidFill>
                  <a:srgbClr val="FF0000"/>
                </a:solidFill>
                <a:latin typeface="Calibri"/>
                <a:cs typeface="Calibri"/>
              </a:rPr>
              <a:t>forbidden</a:t>
            </a:r>
            <a:endParaRPr sz="2000" dirty="0">
              <a:latin typeface="Calibri"/>
              <a:cs typeface="Calibri"/>
            </a:endParaRPr>
          </a:p>
        </p:txBody>
      </p:sp>
      <p:pic>
        <p:nvPicPr>
          <p:cNvPr id="31746" name="Picture 2" descr=".&#10;7&#10; "/>
          <p:cNvPicPr>
            <a:picLocks noChangeAspect="1" noChangeArrowheads="1"/>
          </p:cNvPicPr>
          <p:nvPr/>
        </p:nvPicPr>
        <p:blipFill>
          <a:blip r:embed="rId2"/>
          <a:srcRect/>
          <a:stretch>
            <a:fillRect/>
          </a:stretch>
        </p:blipFill>
        <p:spPr bwMode="auto">
          <a:xfrm>
            <a:off x="1219200" y="812042"/>
            <a:ext cx="6248400" cy="2997958"/>
          </a:xfrm>
          <a:prstGeom prst="rect">
            <a:avLst/>
          </a:prstGeom>
          <a:noFill/>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8600" y="609600"/>
            <a:ext cx="8458200" cy="5632311"/>
          </a:xfrm>
          <a:prstGeom prst="rect">
            <a:avLst/>
          </a:prstGeom>
        </p:spPr>
        <p:txBody>
          <a:bodyPr wrap="square">
            <a:spAutoFit/>
          </a:bodyPr>
          <a:lstStyle/>
          <a:p>
            <a:pPr marL="457200" indent="-457200">
              <a:buAutoNum type="arabicPeriod"/>
            </a:pPr>
            <a:r>
              <a:rPr lang="en-US" sz="2400" dirty="0" smtClean="0"/>
              <a:t>σ→ σ* transition:  An electron in a bonding s-orbital is excited to the corresponding anti-bonding orbital and observed with saturated compounds. The energy required is large. For example, methane (which has only C-H bonds, and can only undergo σ→ σ* transition transitions) shows an absorbance maximum at 125 nm. Absorption maxima due to σ→ σ* transition are not seen in typical UV-VIS spectra (200 - 700 nm) but in UV-region (125- 135nm).</a:t>
            </a:r>
          </a:p>
          <a:p>
            <a:endParaRPr lang="en-US" sz="2400" dirty="0" smtClean="0"/>
          </a:p>
          <a:p>
            <a:r>
              <a:rPr lang="en-US" sz="2400" dirty="0" smtClean="0"/>
              <a:t>2. n → σ* transition: Saturated compounds containing atoms with   </a:t>
            </a:r>
          </a:p>
          <a:p>
            <a:r>
              <a:rPr lang="en-US" sz="2400" dirty="0"/>
              <a:t> </a:t>
            </a:r>
            <a:r>
              <a:rPr lang="en-US" sz="2400" dirty="0" smtClean="0"/>
              <a:t>    lone pairs (non- bonding electrons) like O, N, S and halogens are  </a:t>
            </a:r>
          </a:p>
          <a:p>
            <a:r>
              <a:rPr lang="en-US" sz="2400" dirty="0"/>
              <a:t> </a:t>
            </a:r>
            <a:r>
              <a:rPr lang="en-US" sz="2400" dirty="0" smtClean="0"/>
              <a:t>    capable of n→ σ* transition. These transitions usually need less </a:t>
            </a:r>
          </a:p>
          <a:p>
            <a:r>
              <a:rPr lang="en-US" sz="2400" dirty="0"/>
              <a:t> </a:t>
            </a:r>
            <a:r>
              <a:rPr lang="en-US" sz="2400" dirty="0" smtClean="0"/>
              <a:t>    energy than</a:t>
            </a:r>
            <a:r>
              <a:rPr lang="en-US" sz="2400" dirty="0">
                <a:solidFill>
                  <a:prstClr val="black"/>
                </a:solidFill>
              </a:rPr>
              <a:t> σ</a:t>
            </a:r>
            <a:r>
              <a:rPr lang="en-US" sz="2400" dirty="0" smtClean="0"/>
              <a:t> → σ* transition. They can initiated by light whose </a:t>
            </a:r>
          </a:p>
          <a:p>
            <a:r>
              <a:rPr lang="en-US" sz="2400" dirty="0"/>
              <a:t> </a:t>
            </a:r>
            <a:r>
              <a:rPr lang="en-US" sz="2400" dirty="0" smtClean="0"/>
              <a:t>    wavelength in range 150 -250 nm. The number of </a:t>
            </a:r>
            <a:r>
              <a:rPr lang="en-US" sz="2400" dirty="0" err="1" smtClean="0"/>
              <a:t>of</a:t>
            </a:r>
            <a:r>
              <a:rPr lang="en-US" sz="2400" dirty="0" smtClean="0"/>
              <a:t> organic  </a:t>
            </a:r>
          </a:p>
          <a:p>
            <a:r>
              <a:rPr lang="en-US" sz="2400" dirty="0"/>
              <a:t> </a:t>
            </a:r>
            <a:r>
              <a:rPr lang="en-US" sz="2400" dirty="0" smtClean="0"/>
              <a:t>    functional groups with n → σ* peaks in the UV region is small.</a:t>
            </a:r>
            <a:endParaRPr lang="en-US" sz="2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63880" y="457200"/>
            <a:ext cx="8041710" cy="5054252"/>
          </a:xfrm>
        </p:spPr>
        <p:txBody>
          <a:bodyPr/>
          <a:lstStyle/>
          <a:p>
            <a:r>
              <a:rPr lang="el-GR" sz="2400" dirty="0" smtClean="0"/>
              <a:t>3. π→ π* </a:t>
            </a:r>
            <a:r>
              <a:rPr lang="en-US" sz="2400" dirty="0" smtClean="0"/>
              <a:t>transition: </a:t>
            </a:r>
            <a:r>
              <a:rPr lang="el-GR" sz="2400" dirty="0" smtClean="0"/>
              <a:t>π </a:t>
            </a:r>
            <a:r>
              <a:rPr lang="en-US" sz="2400" dirty="0" smtClean="0"/>
              <a:t>electron in a bonding orbital is excited to corresponding anti- bonding orbital </a:t>
            </a:r>
            <a:r>
              <a:rPr lang="el-GR" sz="2400" dirty="0" smtClean="0"/>
              <a:t>π* </a:t>
            </a:r>
            <a:r>
              <a:rPr lang="en-US" sz="2400" dirty="0" smtClean="0"/>
              <a:t>and observed in conjugated compounds. Compounds containing multiple bonds like alkenes, alkynes, carbonyl, </a:t>
            </a:r>
            <a:r>
              <a:rPr lang="en-US" sz="2400" dirty="0" err="1" smtClean="0"/>
              <a:t>nitriles</a:t>
            </a:r>
            <a:r>
              <a:rPr lang="en-US" sz="2400" dirty="0" smtClean="0"/>
              <a:t>, aromatic compounds, etc undergo </a:t>
            </a:r>
            <a:r>
              <a:rPr lang="el-GR" sz="2400" dirty="0" smtClean="0"/>
              <a:t>π → π* </a:t>
            </a:r>
            <a:r>
              <a:rPr lang="en-US" sz="2400" dirty="0" smtClean="0"/>
              <a:t>transitions. e.g. Alkenes generally absorb in the region 170 to 205nm.</a:t>
            </a:r>
          </a:p>
          <a:p>
            <a:endParaRPr lang="en-US" sz="2400" dirty="0" smtClean="0"/>
          </a:p>
          <a:p>
            <a:r>
              <a:rPr lang="en-US" sz="2400" dirty="0" smtClean="0"/>
              <a:t> 4. n → </a:t>
            </a:r>
            <a:r>
              <a:rPr lang="el-GR" sz="2400" dirty="0" smtClean="0"/>
              <a:t>π* </a:t>
            </a:r>
            <a:r>
              <a:rPr lang="en-US" sz="2400" dirty="0" smtClean="0"/>
              <a:t>transition:  An electron from non-bonding orbital is promoted to anti- bonding </a:t>
            </a:r>
            <a:r>
              <a:rPr lang="el-GR" sz="2400" dirty="0" smtClean="0"/>
              <a:t>π* </a:t>
            </a:r>
            <a:r>
              <a:rPr lang="en-US" sz="2400" dirty="0" smtClean="0"/>
              <a:t>orbital and required lower energy. Compounds containing double bond involving hetero atoms (C=O, C≡N, N=O) undergo such transitions.  n → </a:t>
            </a:r>
            <a:r>
              <a:rPr lang="el-GR" sz="2400" dirty="0" smtClean="0"/>
              <a:t>π* </a:t>
            </a:r>
            <a:r>
              <a:rPr lang="en-US" sz="2400" dirty="0" smtClean="0"/>
              <a:t>transitions require minimum energy and show absorption at longer wavelength around 300 nm</a:t>
            </a:r>
            <a:endParaRPr lang="en-US" sz="2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7340" y="511505"/>
            <a:ext cx="6628765" cy="461665"/>
          </a:xfrm>
        </p:spPr>
        <p:txBody>
          <a:bodyPr/>
          <a:lstStyle/>
          <a:p>
            <a:r>
              <a:rPr lang="en-US" dirty="0" smtClean="0"/>
              <a:t>Terms involve in UV –Visible spectroscopy</a:t>
            </a:r>
            <a:endParaRPr lang="en-US" dirty="0"/>
          </a:p>
        </p:txBody>
      </p:sp>
      <p:sp>
        <p:nvSpPr>
          <p:cNvPr id="3" name="Text Placeholder 2"/>
          <p:cNvSpPr>
            <a:spLocks noGrp="1"/>
          </p:cNvSpPr>
          <p:nvPr>
            <p:ph type="body" idx="1"/>
          </p:nvPr>
        </p:nvSpPr>
        <p:spPr>
          <a:xfrm>
            <a:off x="304800" y="1295400"/>
            <a:ext cx="8679178" cy="5678478"/>
          </a:xfrm>
        </p:spPr>
        <p:txBody>
          <a:bodyPr/>
          <a:lstStyle/>
          <a:p>
            <a:pPr>
              <a:lnSpc>
                <a:spcPct val="150000"/>
              </a:lnSpc>
            </a:pPr>
            <a:r>
              <a:rPr lang="en-US" b="1" dirty="0" smtClean="0"/>
              <a:t> </a:t>
            </a:r>
            <a:r>
              <a:rPr lang="en-US" sz="2000" b="1" dirty="0" err="1" smtClean="0">
                <a:latin typeface="Times New Roman" pitchFamily="18" charset="0"/>
                <a:cs typeface="Times New Roman" pitchFamily="18" charset="0"/>
              </a:rPr>
              <a:t>Chromophore</a:t>
            </a:r>
            <a:r>
              <a:rPr lang="en-US" sz="2000" b="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 The functional groups containing multiple bonds capable of Absorbing radiations above 200 nm due to n→π* &amp; π→π* transitions. e.g. NO2, N=O, C=O, C=N, C≡N, C=C, C=S, </a:t>
            </a:r>
            <a:r>
              <a:rPr lang="en-US" sz="2000" dirty="0" err="1" smtClean="0">
                <a:latin typeface="Times New Roman" pitchFamily="18" charset="0"/>
                <a:cs typeface="Times New Roman" pitchFamily="18" charset="0"/>
              </a:rPr>
              <a:t>etc</a:t>
            </a:r>
            <a:r>
              <a:rPr lang="en-US" sz="2000" dirty="0" smtClean="0">
                <a:latin typeface="Times New Roman" pitchFamily="18" charset="0"/>
                <a:cs typeface="Times New Roman" pitchFamily="18" charset="0"/>
              </a:rPr>
              <a:t> Any substance (groups) which absorbs radiation at particular wave length this may or may not impart </a:t>
            </a:r>
            <a:r>
              <a:rPr lang="en-US" sz="2000" dirty="0" err="1" smtClean="0">
                <a:latin typeface="Times New Roman" pitchFamily="18" charset="0"/>
                <a:cs typeface="Times New Roman" pitchFamily="18" charset="0"/>
              </a:rPr>
              <a:t>colour</a:t>
            </a:r>
            <a:r>
              <a:rPr lang="en-US" sz="2000" dirty="0" smtClean="0">
                <a:latin typeface="Times New Roman" pitchFamily="18" charset="0"/>
                <a:cs typeface="Times New Roman" pitchFamily="18" charset="0"/>
              </a:rPr>
              <a:t> to the compound. </a:t>
            </a:r>
            <a:r>
              <a:rPr lang="en-US" sz="2000" dirty="0" err="1" smtClean="0">
                <a:latin typeface="Times New Roman" pitchFamily="18" charset="0"/>
                <a:cs typeface="Times New Roman" pitchFamily="18" charset="0"/>
              </a:rPr>
              <a:t>Chromophor</a:t>
            </a:r>
            <a:r>
              <a:rPr lang="en-US" sz="2000" dirty="0" smtClean="0">
                <a:latin typeface="Times New Roman" pitchFamily="18" charset="0"/>
                <a:cs typeface="Times New Roman" pitchFamily="18" charset="0"/>
              </a:rPr>
              <a:t>.</a:t>
            </a:r>
          </a:p>
          <a:p>
            <a:pPr lvl="0" algn="l" rtl="0">
              <a:lnSpc>
                <a:spcPct val="150000"/>
              </a:lnSpc>
            </a:pPr>
            <a:r>
              <a:rPr lang="en-US" sz="2000" b="1" kern="1200" dirty="0" err="1">
                <a:solidFill>
                  <a:srgbClr val="000000"/>
                </a:solidFill>
                <a:latin typeface="Times New Roman" pitchFamily="18" charset="0"/>
                <a:cs typeface="Times New Roman" pitchFamily="18" charset="0"/>
              </a:rPr>
              <a:t>Auxochrome</a:t>
            </a:r>
            <a:r>
              <a:rPr lang="en-US" sz="2000" kern="1200" dirty="0">
                <a:solidFill>
                  <a:srgbClr val="000000"/>
                </a:solidFill>
                <a:latin typeface="Times New Roman" pitchFamily="18" charset="0"/>
                <a:cs typeface="Times New Roman" pitchFamily="18" charset="0"/>
              </a:rPr>
              <a:t>: </a:t>
            </a:r>
            <a:r>
              <a:rPr lang="en-US" sz="2000" kern="1200" dirty="0" smtClean="0">
                <a:solidFill>
                  <a:srgbClr val="000000"/>
                </a:solidFill>
                <a:latin typeface="Times New Roman" pitchFamily="18" charset="0"/>
                <a:cs typeface="Times New Roman" pitchFamily="18" charset="0"/>
              </a:rPr>
              <a:t>The </a:t>
            </a:r>
            <a:r>
              <a:rPr lang="en-US" sz="2000" kern="1200" dirty="0">
                <a:solidFill>
                  <a:srgbClr val="000000"/>
                </a:solidFill>
                <a:latin typeface="Times New Roman" pitchFamily="18" charset="0"/>
                <a:cs typeface="Times New Roman" pitchFamily="18" charset="0"/>
              </a:rPr>
              <a:t>functional groups attached to a </a:t>
            </a:r>
            <a:r>
              <a:rPr lang="en-US" sz="2000" kern="1200" dirty="0" err="1">
                <a:solidFill>
                  <a:srgbClr val="000000"/>
                </a:solidFill>
                <a:latin typeface="Times New Roman" pitchFamily="18" charset="0"/>
                <a:cs typeface="Times New Roman" pitchFamily="18" charset="0"/>
              </a:rPr>
              <a:t>chromophore</a:t>
            </a:r>
            <a:r>
              <a:rPr lang="en-US" sz="2000" kern="1200" dirty="0">
                <a:solidFill>
                  <a:srgbClr val="000000"/>
                </a:solidFill>
                <a:latin typeface="Times New Roman" pitchFamily="18" charset="0"/>
                <a:cs typeface="Times New Roman" pitchFamily="18" charset="0"/>
              </a:rPr>
              <a:t> which modifies the ability of the </a:t>
            </a:r>
            <a:r>
              <a:rPr lang="en-US" sz="2000" kern="1200" dirty="0" err="1">
                <a:solidFill>
                  <a:srgbClr val="000000"/>
                </a:solidFill>
                <a:latin typeface="Times New Roman" pitchFamily="18" charset="0"/>
                <a:cs typeface="Times New Roman" pitchFamily="18" charset="0"/>
              </a:rPr>
              <a:t>chromophore</a:t>
            </a:r>
            <a:r>
              <a:rPr lang="en-US" sz="2000" kern="1200" dirty="0">
                <a:solidFill>
                  <a:srgbClr val="000000"/>
                </a:solidFill>
                <a:latin typeface="Times New Roman" pitchFamily="18" charset="0"/>
                <a:cs typeface="Times New Roman" pitchFamily="18" charset="0"/>
              </a:rPr>
              <a:t> to absorb light , altering the wavelength or intensity of absorption. </a:t>
            </a:r>
            <a:r>
              <a:rPr lang="en-US" sz="2000" dirty="0">
                <a:solidFill>
                  <a:srgbClr val="000000"/>
                </a:solidFill>
                <a:latin typeface="__Source_Sans_3_4d9a39"/>
              </a:rPr>
              <a:t>e.g. Benzene </a:t>
            </a:r>
            <a:r>
              <a:rPr lang="el-GR" sz="2000" dirty="0">
                <a:solidFill>
                  <a:srgbClr val="000000"/>
                </a:solidFill>
                <a:latin typeface="__Source_Sans_3_4d9a39"/>
              </a:rPr>
              <a:t>λ</a:t>
            </a:r>
            <a:r>
              <a:rPr lang="en-US" sz="2000" dirty="0">
                <a:solidFill>
                  <a:srgbClr val="000000"/>
                </a:solidFill>
                <a:latin typeface="__Source_Sans_3_4d9a39"/>
              </a:rPr>
              <a:t>max=255 nm, Phenol </a:t>
            </a:r>
            <a:r>
              <a:rPr lang="el-GR" sz="2000" dirty="0">
                <a:solidFill>
                  <a:srgbClr val="000000"/>
                </a:solidFill>
                <a:latin typeface="__Source_Sans_3_4d9a39"/>
              </a:rPr>
              <a:t>λ</a:t>
            </a:r>
            <a:r>
              <a:rPr lang="en-US" sz="2000" dirty="0">
                <a:solidFill>
                  <a:srgbClr val="000000"/>
                </a:solidFill>
                <a:latin typeface="__Source_Sans_3_4d9a39"/>
              </a:rPr>
              <a:t>max=270 nm, Aniline </a:t>
            </a:r>
            <a:r>
              <a:rPr lang="el-GR" sz="2000" dirty="0">
                <a:solidFill>
                  <a:srgbClr val="000000"/>
                </a:solidFill>
                <a:latin typeface="__Source_Sans_3_4d9a39"/>
              </a:rPr>
              <a:t>λ</a:t>
            </a:r>
            <a:r>
              <a:rPr lang="en-US" sz="2000" dirty="0">
                <a:solidFill>
                  <a:srgbClr val="000000"/>
                </a:solidFill>
                <a:latin typeface="__Source_Sans_3_4d9a39"/>
              </a:rPr>
              <a:t>max=280 nm</a:t>
            </a:r>
            <a:endParaRPr lang="en-US" sz="2000" kern="1200" dirty="0">
              <a:solidFill>
                <a:prstClr val="black"/>
              </a:solidFill>
              <a:latin typeface="Times New Roman" pitchFamily="18" charset="0"/>
              <a:cs typeface="Times New Roman" pitchFamily="18" charset="0"/>
            </a:endParaRPr>
          </a:p>
          <a:p>
            <a:pPr>
              <a:lnSpc>
                <a:spcPct val="150000"/>
              </a:lnSpc>
            </a:pPr>
            <a:endParaRPr lang="en-US" sz="2000" dirty="0"/>
          </a:p>
          <a:p>
            <a:pPr>
              <a:lnSpc>
                <a:spcPct val="150000"/>
              </a:lnSpc>
            </a:pPr>
            <a:endParaRPr lang="en-US" sz="2400" dirty="0" smtClean="0"/>
          </a:p>
          <a:p>
            <a:pPr>
              <a:lnSpc>
                <a:spcPct val="150000"/>
              </a:lnSpc>
            </a:pPr>
            <a:endParaRPr lang="en-US" sz="2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8270" y="612774"/>
            <a:ext cx="6598920" cy="635000"/>
          </a:xfrm>
          <a:prstGeom prst="rect">
            <a:avLst/>
          </a:prstGeom>
        </p:spPr>
        <p:txBody>
          <a:bodyPr vert="horz" wrap="square" lIns="0" tIns="12065" rIns="0" bIns="0" rtlCol="0">
            <a:spAutoFit/>
          </a:bodyPr>
          <a:lstStyle/>
          <a:p>
            <a:pPr marL="12700">
              <a:lnSpc>
                <a:spcPct val="100000"/>
              </a:lnSpc>
              <a:spcBef>
                <a:spcPts val="95"/>
              </a:spcBef>
            </a:pPr>
            <a:r>
              <a:rPr sz="4000" spc="-10" dirty="0">
                <a:solidFill>
                  <a:srgbClr val="C00000"/>
                </a:solidFill>
              </a:rPr>
              <a:t>3)Bathochromic</a:t>
            </a:r>
            <a:r>
              <a:rPr sz="4000" spc="-40" dirty="0">
                <a:solidFill>
                  <a:srgbClr val="C00000"/>
                </a:solidFill>
              </a:rPr>
              <a:t> </a:t>
            </a:r>
            <a:r>
              <a:rPr sz="4000" spc="-10" dirty="0">
                <a:solidFill>
                  <a:srgbClr val="C00000"/>
                </a:solidFill>
              </a:rPr>
              <a:t>shift</a:t>
            </a:r>
            <a:r>
              <a:rPr sz="4000" spc="-5" dirty="0">
                <a:solidFill>
                  <a:srgbClr val="C00000"/>
                </a:solidFill>
              </a:rPr>
              <a:t> </a:t>
            </a:r>
            <a:r>
              <a:rPr sz="4000" spc="-25" dirty="0">
                <a:solidFill>
                  <a:srgbClr val="C00000"/>
                </a:solidFill>
              </a:rPr>
              <a:t>(Red</a:t>
            </a:r>
            <a:r>
              <a:rPr sz="4000" spc="-5" dirty="0">
                <a:solidFill>
                  <a:srgbClr val="C00000"/>
                </a:solidFill>
              </a:rPr>
              <a:t> Shift)</a:t>
            </a:r>
            <a:endParaRPr sz="4000"/>
          </a:p>
        </p:txBody>
      </p:sp>
      <p:sp>
        <p:nvSpPr>
          <p:cNvPr id="3" name="object 3"/>
          <p:cNvSpPr txBox="1"/>
          <p:nvPr/>
        </p:nvSpPr>
        <p:spPr>
          <a:xfrm>
            <a:off x="459740" y="1378965"/>
            <a:ext cx="7794625" cy="3148330"/>
          </a:xfrm>
          <a:prstGeom prst="rect">
            <a:avLst/>
          </a:prstGeom>
        </p:spPr>
        <p:txBody>
          <a:bodyPr vert="horz" wrap="square" lIns="0" tIns="13335" rIns="0" bIns="0" rtlCol="0">
            <a:spAutoFit/>
          </a:bodyPr>
          <a:lstStyle/>
          <a:p>
            <a:pPr marL="355600" marR="427355" indent="-342900">
              <a:lnSpc>
                <a:spcPct val="100000"/>
              </a:lnSpc>
              <a:spcBef>
                <a:spcPts val="105"/>
              </a:spcBef>
              <a:buFont typeface="Microsoft Sans Serif"/>
              <a:buChar char="•"/>
              <a:tabLst>
                <a:tab pos="354965" algn="l"/>
                <a:tab pos="355600" algn="l"/>
              </a:tabLst>
            </a:pPr>
            <a:r>
              <a:rPr sz="3200" dirty="0">
                <a:latin typeface="Calibri"/>
                <a:cs typeface="Calibri"/>
              </a:rPr>
              <a:t>When</a:t>
            </a:r>
            <a:r>
              <a:rPr sz="3200" spc="-20" dirty="0">
                <a:latin typeface="Calibri"/>
                <a:cs typeface="Calibri"/>
              </a:rPr>
              <a:t> </a:t>
            </a:r>
            <a:r>
              <a:rPr sz="3200" spc="-5" dirty="0">
                <a:latin typeface="Calibri"/>
                <a:cs typeface="Calibri"/>
              </a:rPr>
              <a:t>absorption</a:t>
            </a:r>
            <a:r>
              <a:rPr sz="3200" spc="25" dirty="0">
                <a:latin typeface="Calibri"/>
                <a:cs typeface="Calibri"/>
              </a:rPr>
              <a:t> </a:t>
            </a:r>
            <a:r>
              <a:rPr sz="3200" spc="-10" dirty="0">
                <a:latin typeface="Calibri"/>
                <a:cs typeface="Calibri"/>
              </a:rPr>
              <a:t>maxima</a:t>
            </a:r>
            <a:r>
              <a:rPr sz="3200" spc="-5" dirty="0">
                <a:latin typeface="Calibri"/>
                <a:cs typeface="Calibri"/>
              </a:rPr>
              <a:t> (λmax</a:t>
            </a:r>
            <a:r>
              <a:rPr sz="3200" dirty="0">
                <a:latin typeface="Calibri"/>
                <a:cs typeface="Calibri"/>
              </a:rPr>
              <a:t> ) </a:t>
            </a:r>
            <a:r>
              <a:rPr sz="3200" spc="-5" dirty="0">
                <a:latin typeface="Calibri"/>
                <a:cs typeface="Calibri"/>
              </a:rPr>
              <a:t>of </a:t>
            </a:r>
            <a:r>
              <a:rPr sz="3200" dirty="0">
                <a:latin typeface="Calibri"/>
                <a:cs typeface="Calibri"/>
              </a:rPr>
              <a:t>a </a:t>
            </a:r>
            <a:r>
              <a:rPr sz="3200" spc="5" dirty="0">
                <a:latin typeface="Calibri"/>
                <a:cs typeface="Calibri"/>
              </a:rPr>
              <a:t> </a:t>
            </a:r>
            <a:r>
              <a:rPr sz="3200" spc="-10" dirty="0">
                <a:latin typeface="Calibri"/>
                <a:cs typeface="Calibri"/>
              </a:rPr>
              <a:t>compound</a:t>
            </a:r>
            <a:r>
              <a:rPr sz="3200" spc="-5" dirty="0">
                <a:latin typeface="Calibri"/>
                <a:cs typeface="Calibri"/>
              </a:rPr>
              <a:t> shifts</a:t>
            </a:r>
            <a:r>
              <a:rPr sz="3200" spc="25" dirty="0">
                <a:latin typeface="Calibri"/>
                <a:cs typeface="Calibri"/>
              </a:rPr>
              <a:t> </a:t>
            </a:r>
            <a:r>
              <a:rPr sz="3200" spc="-20" dirty="0">
                <a:latin typeface="Calibri"/>
                <a:cs typeface="Calibri"/>
              </a:rPr>
              <a:t>to</a:t>
            </a:r>
            <a:r>
              <a:rPr sz="3200" dirty="0">
                <a:latin typeface="Calibri"/>
                <a:cs typeface="Calibri"/>
              </a:rPr>
              <a:t> </a:t>
            </a:r>
            <a:r>
              <a:rPr sz="3200" spc="-5" dirty="0">
                <a:latin typeface="Calibri"/>
                <a:cs typeface="Calibri"/>
              </a:rPr>
              <a:t>longer</a:t>
            </a:r>
            <a:r>
              <a:rPr sz="3200" dirty="0">
                <a:latin typeface="Calibri"/>
                <a:cs typeface="Calibri"/>
              </a:rPr>
              <a:t> </a:t>
            </a:r>
            <a:r>
              <a:rPr sz="3200" spc="-20" dirty="0">
                <a:latin typeface="Calibri"/>
                <a:cs typeface="Calibri"/>
              </a:rPr>
              <a:t>wavelength</a:t>
            </a:r>
            <a:r>
              <a:rPr sz="3200" spc="-10" dirty="0">
                <a:latin typeface="Calibri"/>
                <a:cs typeface="Calibri"/>
              </a:rPr>
              <a:t> </a:t>
            </a:r>
            <a:r>
              <a:rPr sz="3200" dirty="0">
                <a:latin typeface="Calibri"/>
                <a:cs typeface="Calibri"/>
              </a:rPr>
              <a:t>it</a:t>
            </a:r>
            <a:r>
              <a:rPr sz="3200" spc="10" dirty="0">
                <a:latin typeface="Calibri"/>
                <a:cs typeface="Calibri"/>
              </a:rPr>
              <a:t> </a:t>
            </a:r>
            <a:r>
              <a:rPr sz="3200" dirty="0">
                <a:latin typeface="Calibri"/>
                <a:cs typeface="Calibri"/>
              </a:rPr>
              <a:t>is </a:t>
            </a:r>
            <a:r>
              <a:rPr sz="3200" spc="-710" dirty="0">
                <a:latin typeface="Calibri"/>
                <a:cs typeface="Calibri"/>
              </a:rPr>
              <a:t> </a:t>
            </a:r>
            <a:r>
              <a:rPr sz="3200" spc="-5" dirty="0">
                <a:latin typeface="Calibri"/>
                <a:cs typeface="Calibri"/>
              </a:rPr>
              <a:t>known</a:t>
            </a:r>
            <a:r>
              <a:rPr sz="3200" dirty="0">
                <a:latin typeface="Calibri"/>
                <a:cs typeface="Calibri"/>
              </a:rPr>
              <a:t> as</a:t>
            </a:r>
            <a:r>
              <a:rPr sz="3200" spc="-15" dirty="0">
                <a:latin typeface="Calibri"/>
                <a:cs typeface="Calibri"/>
              </a:rPr>
              <a:t> </a:t>
            </a:r>
            <a:r>
              <a:rPr sz="3200" spc="-10" dirty="0">
                <a:latin typeface="Calibri"/>
                <a:cs typeface="Calibri"/>
              </a:rPr>
              <a:t>bathochromic</a:t>
            </a:r>
            <a:r>
              <a:rPr sz="3200" spc="10" dirty="0">
                <a:latin typeface="Calibri"/>
                <a:cs typeface="Calibri"/>
              </a:rPr>
              <a:t> </a:t>
            </a:r>
            <a:r>
              <a:rPr sz="3200" spc="-5" dirty="0">
                <a:latin typeface="Calibri"/>
                <a:cs typeface="Calibri"/>
              </a:rPr>
              <a:t>shift</a:t>
            </a:r>
            <a:r>
              <a:rPr sz="3200" spc="5" dirty="0">
                <a:latin typeface="Calibri"/>
                <a:cs typeface="Calibri"/>
              </a:rPr>
              <a:t> </a:t>
            </a:r>
            <a:r>
              <a:rPr sz="3200" spc="-5" dirty="0">
                <a:latin typeface="Calibri"/>
                <a:cs typeface="Calibri"/>
              </a:rPr>
              <a:t>or </a:t>
            </a:r>
            <a:r>
              <a:rPr sz="3200" spc="-15" dirty="0">
                <a:latin typeface="Calibri"/>
                <a:cs typeface="Calibri"/>
              </a:rPr>
              <a:t>red</a:t>
            </a:r>
            <a:r>
              <a:rPr sz="3200" spc="-20" dirty="0">
                <a:latin typeface="Calibri"/>
                <a:cs typeface="Calibri"/>
              </a:rPr>
              <a:t> </a:t>
            </a:r>
            <a:r>
              <a:rPr sz="3200" spc="-10" dirty="0">
                <a:latin typeface="Calibri"/>
                <a:cs typeface="Calibri"/>
              </a:rPr>
              <a:t>shift.</a:t>
            </a:r>
            <a:endParaRPr sz="3200">
              <a:latin typeface="Calibri"/>
              <a:cs typeface="Calibri"/>
            </a:endParaRPr>
          </a:p>
          <a:p>
            <a:pPr marL="355600" marR="5080" indent="-342900">
              <a:lnSpc>
                <a:spcPct val="100000"/>
              </a:lnSpc>
              <a:spcBef>
                <a:spcPts val="770"/>
              </a:spcBef>
              <a:buFont typeface="Microsoft Sans Serif"/>
              <a:buChar char="•"/>
              <a:tabLst>
                <a:tab pos="354965" algn="l"/>
                <a:tab pos="355600" algn="l"/>
              </a:tabLst>
            </a:pPr>
            <a:r>
              <a:rPr sz="3200" spc="-5" dirty="0">
                <a:latin typeface="Calibri"/>
                <a:cs typeface="Calibri"/>
              </a:rPr>
              <a:t>This </a:t>
            </a:r>
            <a:r>
              <a:rPr sz="3200" dirty="0">
                <a:latin typeface="Calibri"/>
                <a:cs typeface="Calibri"/>
              </a:rPr>
              <a:t>is </a:t>
            </a:r>
            <a:r>
              <a:rPr sz="3200" spc="-5" dirty="0">
                <a:latin typeface="Calibri"/>
                <a:cs typeface="Calibri"/>
              </a:rPr>
              <a:t>due </a:t>
            </a:r>
            <a:r>
              <a:rPr sz="3200" spc="-25" dirty="0">
                <a:latin typeface="Calibri"/>
                <a:cs typeface="Calibri"/>
              </a:rPr>
              <a:t>to </a:t>
            </a:r>
            <a:r>
              <a:rPr sz="3200" dirty="0">
                <a:latin typeface="Calibri"/>
                <a:cs typeface="Calibri"/>
              </a:rPr>
              <a:t>the </a:t>
            </a:r>
            <a:r>
              <a:rPr sz="3200" spc="-5" dirty="0">
                <a:latin typeface="Calibri"/>
                <a:cs typeface="Calibri"/>
              </a:rPr>
              <a:t>presence of </a:t>
            </a:r>
            <a:r>
              <a:rPr sz="3200" spc="-15" dirty="0">
                <a:latin typeface="Calibri"/>
                <a:cs typeface="Calibri"/>
              </a:rPr>
              <a:t>auxochrome </a:t>
            </a:r>
            <a:r>
              <a:rPr sz="3200" spc="-5" dirty="0">
                <a:latin typeface="Calibri"/>
                <a:cs typeface="Calibri"/>
              </a:rPr>
              <a:t>or </a:t>
            </a:r>
            <a:r>
              <a:rPr sz="3200" spc="-710" dirty="0">
                <a:latin typeface="Calibri"/>
                <a:cs typeface="Calibri"/>
              </a:rPr>
              <a:t> </a:t>
            </a:r>
            <a:r>
              <a:rPr sz="3200" spc="-5" dirty="0">
                <a:latin typeface="Calibri"/>
                <a:cs typeface="Calibri"/>
              </a:rPr>
              <a:t>change</a:t>
            </a:r>
            <a:r>
              <a:rPr sz="3200" spc="-20" dirty="0">
                <a:latin typeface="Calibri"/>
                <a:cs typeface="Calibri"/>
              </a:rPr>
              <a:t> </a:t>
            </a:r>
            <a:r>
              <a:rPr sz="3200" dirty="0">
                <a:latin typeface="Calibri"/>
                <a:cs typeface="Calibri"/>
              </a:rPr>
              <a:t>of</a:t>
            </a:r>
            <a:r>
              <a:rPr sz="3200" spc="-5" dirty="0">
                <a:latin typeface="Calibri"/>
                <a:cs typeface="Calibri"/>
              </a:rPr>
              <a:t> </a:t>
            </a:r>
            <a:r>
              <a:rPr sz="3200" spc="-10" dirty="0">
                <a:latin typeface="Calibri"/>
                <a:cs typeface="Calibri"/>
              </a:rPr>
              <a:t>solvent.</a:t>
            </a:r>
            <a:endParaRPr sz="3200">
              <a:latin typeface="Calibri"/>
              <a:cs typeface="Calibri"/>
            </a:endParaRPr>
          </a:p>
          <a:p>
            <a:pPr marL="355600" indent="-342900">
              <a:lnSpc>
                <a:spcPct val="100000"/>
              </a:lnSpc>
              <a:spcBef>
                <a:spcPts val="770"/>
              </a:spcBef>
              <a:buFont typeface="Microsoft Sans Serif"/>
              <a:buChar char="•"/>
              <a:tabLst>
                <a:tab pos="354965" algn="l"/>
                <a:tab pos="355600" algn="l"/>
              </a:tabLst>
            </a:pPr>
            <a:r>
              <a:rPr sz="3200" spc="5" dirty="0">
                <a:latin typeface="Calibri"/>
                <a:cs typeface="Calibri"/>
              </a:rPr>
              <a:t>E.g.</a:t>
            </a:r>
            <a:r>
              <a:rPr sz="3200" spc="-5" dirty="0">
                <a:latin typeface="Calibri"/>
                <a:cs typeface="Calibri"/>
              </a:rPr>
              <a:t> </a:t>
            </a:r>
            <a:r>
              <a:rPr sz="3200" spc="-15" dirty="0">
                <a:latin typeface="Calibri"/>
                <a:cs typeface="Calibri"/>
              </a:rPr>
              <a:t>auxochrome</a:t>
            </a:r>
            <a:r>
              <a:rPr sz="3200" spc="-20" dirty="0">
                <a:latin typeface="Calibri"/>
                <a:cs typeface="Calibri"/>
              </a:rPr>
              <a:t> </a:t>
            </a:r>
            <a:r>
              <a:rPr sz="3200" spc="-15" dirty="0">
                <a:latin typeface="Calibri"/>
                <a:cs typeface="Calibri"/>
              </a:rPr>
              <a:t>group</a:t>
            </a:r>
            <a:r>
              <a:rPr sz="3200" spc="-5" dirty="0">
                <a:latin typeface="Calibri"/>
                <a:cs typeface="Calibri"/>
              </a:rPr>
              <a:t> </a:t>
            </a:r>
            <a:r>
              <a:rPr sz="3200" spc="-30" dirty="0">
                <a:latin typeface="Calibri"/>
                <a:cs typeface="Calibri"/>
              </a:rPr>
              <a:t>like</a:t>
            </a:r>
            <a:r>
              <a:rPr sz="3200" spc="20" dirty="0">
                <a:latin typeface="Calibri"/>
                <a:cs typeface="Calibri"/>
              </a:rPr>
              <a:t> </a:t>
            </a:r>
            <a:r>
              <a:rPr sz="3200" spc="-5" dirty="0">
                <a:latin typeface="Calibri"/>
                <a:cs typeface="Calibri"/>
              </a:rPr>
              <a:t>–OH,</a:t>
            </a:r>
            <a:r>
              <a:rPr sz="3200" spc="10" dirty="0">
                <a:latin typeface="Calibri"/>
                <a:cs typeface="Calibri"/>
              </a:rPr>
              <a:t> </a:t>
            </a:r>
            <a:r>
              <a:rPr sz="3200" spc="-5" dirty="0">
                <a:latin typeface="Calibri"/>
                <a:cs typeface="Calibri"/>
              </a:rPr>
              <a:t>-OCH3</a:t>
            </a:r>
            <a:endParaRPr sz="3200">
              <a:latin typeface="Calibri"/>
              <a:cs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7340" y="770890"/>
            <a:ext cx="8531860" cy="1397000"/>
          </a:xfrm>
          <a:prstGeom prst="rect">
            <a:avLst/>
          </a:prstGeom>
        </p:spPr>
        <p:txBody>
          <a:bodyPr vert="horz" wrap="square" lIns="0" tIns="12700" rIns="0" bIns="0" rtlCol="0">
            <a:spAutoFit/>
          </a:bodyPr>
          <a:lstStyle/>
          <a:p>
            <a:pPr marL="355600" marR="5080" indent="-342900" algn="just">
              <a:lnSpc>
                <a:spcPct val="100000"/>
              </a:lnSpc>
              <a:spcBef>
                <a:spcPts val="100"/>
              </a:spcBef>
              <a:buClr>
                <a:srgbClr val="9BBA58"/>
              </a:buClr>
              <a:buFont typeface="Microsoft Sans Serif"/>
              <a:buChar char="•"/>
              <a:tabLst>
                <a:tab pos="355600" algn="l"/>
              </a:tabLst>
            </a:pPr>
            <a:r>
              <a:rPr sz="3000" dirty="0">
                <a:latin typeface="Calibri"/>
                <a:cs typeface="Calibri"/>
              </a:rPr>
              <a:t>In </a:t>
            </a:r>
            <a:r>
              <a:rPr sz="3000" spc="-10" dirty="0">
                <a:latin typeface="Calibri"/>
                <a:cs typeface="Calibri"/>
              </a:rPr>
              <a:t>alkaline </a:t>
            </a:r>
            <a:r>
              <a:rPr sz="3000" spc="-5" dirty="0">
                <a:latin typeface="Calibri"/>
                <a:cs typeface="Calibri"/>
              </a:rPr>
              <a:t>medium, </a:t>
            </a:r>
            <a:r>
              <a:rPr sz="3000" spc="-10" dirty="0">
                <a:latin typeface="Calibri"/>
                <a:cs typeface="Calibri"/>
              </a:rPr>
              <a:t>p-nitrophenol shows </a:t>
            </a:r>
            <a:r>
              <a:rPr sz="3000" spc="-15" dirty="0">
                <a:latin typeface="Calibri"/>
                <a:cs typeface="Calibri"/>
              </a:rPr>
              <a:t>red </a:t>
            </a:r>
            <a:r>
              <a:rPr sz="3000" spc="-5" dirty="0">
                <a:latin typeface="Calibri"/>
                <a:cs typeface="Calibri"/>
              </a:rPr>
              <a:t>shift. </a:t>
            </a:r>
            <a:r>
              <a:rPr sz="3000" dirty="0">
                <a:latin typeface="Calibri"/>
                <a:cs typeface="Calibri"/>
              </a:rPr>
              <a:t> </a:t>
            </a:r>
            <a:r>
              <a:rPr sz="3000" spc="-5" dirty="0">
                <a:latin typeface="Calibri"/>
                <a:cs typeface="Calibri"/>
              </a:rPr>
              <a:t>Because </a:t>
            </a:r>
            <a:r>
              <a:rPr sz="3000" spc="-20" dirty="0">
                <a:latin typeface="Calibri"/>
                <a:cs typeface="Calibri"/>
              </a:rPr>
              <a:t>negatively </a:t>
            </a:r>
            <a:r>
              <a:rPr sz="3000" spc="-10" dirty="0">
                <a:latin typeface="Calibri"/>
                <a:cs typeface="Calibri"/>
              </a:rPr>
              <a:t>charged </a:t>
            </a:r>
            <a:r>
              <a:rPr sz="3000" spc="-25" dirty="0">
                <a:latin typeface="Calibri"/>
                <a:cs typeface="Calibri"/>
              </a:rPr>
              <a:t>oxygen </a:t>
            </a:r>
            <a:r>
              <a:rPr sz="3000" spc="-15" dirty="0">
                <a:latin typeface="Calibri"/>
                <a:cs typeface="Calibri"/>
              </a:rPr>
              <a:t>delocalizes </a:t>
            </a:r>
            <a:r>
              <a:rPr sz="3000" spc="-10" dirty="0">
                <a:latin typeface="Calibri"/>
                <a:cs typeface="Calibri"/>
              </a:rPr>
              <a:t>more </a:t>
            </a:r>
            <a:r>
              <a:rPr sz="3000" spc="-665" dirty="0">
                <a:latin typeface="Calibri"/>
                <a:cs typeface="Calibri"/>
              </a:rPr>
              <a:t> </a:t>
            </a:r>
            <a:r>
              <a:rPr sz="3000" spc="-20" dirty="0">
                <a:latin typeface="Calibri"/>
                <a:cs typeface="Calibri"/>
              </a:rPr>
              <a:t>effectively</a:t>
            </a:r>
            <a:r>
              <a:rPr sz="3000" spc="-50" dirty="0">
                <a:latin typeface="Calibri"/>
                <a:cs typeface="Calibri"/>
              </a:rPr>
              <a:t> </a:t>
            </a:r>
            <a:r>
              <a:rPr sz="3000" dirty="0">
                <a:latin typeface="Calibri"/>
                <a:cs typeface="Calibri"/>
              </a:rPr>
              <a:t>than</a:t>
            </a:r>
            <a:r>
              <a:rPr sz="3000" spc="-10" dirty="0">
                <a:latin typeface="Calibri"/>
                <a:cs typeface="Calibri"/>
              </a:rPr>
              <a:t> </a:t>
            </a:r>
            <a:r>
              <a:rPr sz="3000" dirty="0">
                <a:latin typeface="Calibri"/>
                <a:cs typeface="Calibri"/>
              </a:rPr>
              <a:t>the</a:t>
            </a:r>
            <a:r>
              <a:rPr sz="3000" spc="-15" dirty="0">
                <a:latin typeface="Calibri"/>
                <a:cs typeface="Calibri"/>
              </a:rPr>
              <a:t> </a:t>
            </a:r>
            <a:r>
              <a:rPr sz="3000" spc="-10" dirty="0">
                <a:latin typeface="Calibri"/>
                <a:cs typeface="Calibri"/>
              </a:rPr>
              <a:t>unshared</a:t>
            </a:r>
            <a:r>
              <a:rPr sz="3000" dirty="0">
                <a:latin typeface="Calibri"/>
                <a:cs typeface="Calibri"/>
              </a:rPr>
              <a:t> </a:t>
            </a:r>
            <a:r>
              <a:rPr sz="3000" spc="-5" dirty="0">
                <a:latin typeface="Calibri"/>
                <a:cs typeface="Calibri"/>
              </a:rPr>
              <a:t>pair</a:t>
            </a:r>
            <a:r>
              <a:rPr sz="3000" dirty="0">
                <a:latin typeface="Calibri"/>
                <a:cs typeface="Calibri"/>
              </a:rPr>
              <a:t> of</a:t>
            </a:r>
            <a:r>
              <a:rPr sz="3000" spc="-5" dirty="0">
                <a:latin typeface="Calibri"/>
                <a:cs typeface="Calibri"/>
              </a:rPr>
              <a:t> </a:t>
            </a:r>
            <a:r>
              <a:rPr sz="3000" spc="-10" dirty="0">
                <a:latin typeface="Calibri"/>
                <a:cs typeface="Calibri"/>
              </a:rPr>
              <a:t>electron.</a:t>
            </a:r>
            <a:endParaRPr sz="3000">
              <a:latin typeface="Calibri"/>
              <a:cs typeface="Calibri"/>
            </a:endParaRPr>
          </a:p>
        </p:txBody>
      </p:sp>
      <p:sp>
        <p:nvSpPr>
          <p:cNvPr id="3" name="object 3"/>
          <p:cNvSpPr txBox="1"/>
          <p:nvPr/>
        </p:nvSpPr>
        <p:spPr>
          <a:xfrm>
            <a:off x="307340" y="3331591"/>
            <a:ext cx="159385" cy="482600"/>
          </a:xfrm>
          <a:prstGeom prst="rect">
            <a:avLst/>
          </a:prstGeom>
        </p:spPr>
        <p:txBody>
          <a:bodyPr vert="horz" wrap="square" lIns="0" tIns="12700" rIns="0" bIns="0" rtlCol="0">
            <a:spAutoFit/>
          </a:bodyPr>
          <a:lstStyle/>
          <a:p>
            <a:pPr marL="12700">
              <a:lnSpc>
                <a:spcPct val="100000"/>
              </a:lnSpc>
              <a:spcBef>
                <a:spcPts val="100"/>
              </a:spcBef>
            </a:pPr>
            <a:r>
              <a:rPr sz="3000" dirty="0">
                <a:solidFill>
                  <a:srgbClr val="9BBA58"/>
                </a:solidFill>
                <a:latin typeface="Microsoft Sans Serif"/>
                <a:cs typeface="Microsoft Sans Serif"/>
              </a:rPr>
              <a:t>•</a:t>
            </a:r>
            <a:endParaRPr sz="3000">
              <a:latin typeface="Microsoft Sans Serif"/>
              <a:cs typeface="Microsoft Sans Serif"/>
            </a:endParaRPr>
          </a:p>
        </p:txBody>
      </p:sp>
      <p:sp>
        <p:nvSpPr>
          <p:cNvPr id="4" name="object 4"/>
          <p:cNvSpPr txBox="1"/>
          <p:nvPr/>
        </p:nvSpPr>
        <p:spPr>
          <a:xfrm>
            <a:off x="6393560" y="3331591"/>
            <a:ext cx="729615" cy="482600"/>
          </a:xfrm>
          <a:prstGeom prst="rect">
            <a:avLst/>
          </a:prstGeom>
        </p:spPr>
        <p:txBody>
          <a:bodyPr vert="horz" wrap="square" lIns="0" tIns="12700" rIns="0" bIns="0" rtlCol="0">
            <a:spAutoFit/>
          </a:bodyPr>
          <a:lstStyle/>
          <a:p>
            <a:pPr marL="12700">
              <a:lnSpc>
                <a:spcPct val="100000"/>
              </a:lnSpc>
              <a:spcBef>
                <a:spcPts val="100"/>
              </a:spcBef>
            </a:pPr>
            <a:r>
              <a:rPr sz="3000" dirty="0">
                <a:latin typeface="Calibri"/>
                <a:cs typeface="Calibri"/>
              </a:rPr>
              <a:t>+</a:t>
            </a:r>
            <a:r>
              <a:rPr sz="3000" spc="-95" dirty="0">
                <a:latin typeface="Calibri"/>
                <a:cs typeface="Calibri"/>
              </a:rPr>
              <a:t> </a:t>
            </a:r>
            <a:r>
              <a:rPr sz="3000" dirty="0">
                <a:latin typeface="Calibri"/>
                <a:cs typeface="Calibri"/>
              </a:rPr>
              <a:t>H+</a:t>
            </a:r>
            <a:endParaRPr sz="3000">
              <a:latin typeface="Calibri"/>
              <a:cs typeface="Calibri"/>
            </a:endParaRPr>
          </a:p>
        </p:txBody>
      </p:sp>
      <p:sp>
        <p:nvSpPr>
          <p:cNvPr id="5" name="object 5"/>
          <p:cNvSpPr txBox="1"/>
          <p:nvPr/>
        </p:nvSpPr>
        <p:spPr>
          <a:xfrm>
            <a:off x="1653794" y="4885994"/>
            <a:ext cx="2502535" cy="1083886"/>
          </a:xfrm>
          <a:prstGeom prst="rect">
            <a:avLst/>
          </a:prstGeom>
        </p:spPr>
        <p:txBody>
          <a:bodyPr vert="horz" wrap="square" lIns="0" tIns="12700" rIns="0" bIns="0" rtlCol="0">
            <a:spAutoFit/>
          </a:bodyPr>
          <a:lstStyle/>
          <a:p>
            <a:pPr marL="38100" marR="315595">
              <a:lnSpc>
                <a:spcPct val="120100"/>
              </a:lnSpc>
              <a:spcBef>
                <a:spcPts val="100"/>
              </a:spcBef>
            </a:pPr>
            <a:r>
              <a:rPr sz="3000" spc="-5" dirty="0">
                <a:latin typeface="Calibri"/>
                <a:cs typeface="Calibri"/>
              </a:rPr>
              <a:t>p</a:t>
            </a:r>
            <a:r>
              <a:rPr sz="3000" spc="5" dirty="0">
                <a:latin typeface="Calibri"/>
                <a:cs typeface="Calibri"/>
              </a:rPr>
              <a:t>-</a:t>
            </a:r>
            <a:r>
              <a:rPr sz="3000" spc="-5" dirty="0">
                <a:latin typeface="Calibri"/>
                <a:cs typeface="Calibri"/>
              </a:rPr>
              <a:t>n</a:t>
            </a:r>
            <a:r>
              <a:rPr sz="3000" spc="-15" dirty="0">
                <a:latin typeface="Calibri"/>
                <a:cs typeface="Calibri"/>
              </a:rPr>
              <a:t>i</a:t>
            </a:r>
            <a:r>
              <a:rPr sz="3000" dirty="0">
                <a:latin typeface="Calibri"/>
                <a:cs typeface="Calibri"/>
              </a:rPr>
              <a:t>t</a:t>
            </a:r>
            <a:r>
              <a:rPr sz="3000" spc="-50" dirty="0">
                <a:latin typeface="Calibri"/>
                <a:cs typeface="Calibri"/>
              </a:rPr>
              <a:t>r</a:t>
            </a:r>
            <a:r>
              <a:rPr sz="3000" spc="-5" dirty="0">
                <a:latin typeface="Calibri"/>
                <a:cs typeface="Calibri"/>
              </a:rPr>
              <a:t>oph</a:t>
            </a:r>
            <a:r>
              <a:rPr sz="3000" spc="-10" dirty="0">
                <a:latin typeface="Calibri"/>
                <a:cs typeface="Calibri"/>
              </a:rPr>
              <a:t>e</a:t>
            </a:r>
            <a:r>
              <a:rPr sz="3000" spc="-5" dirty="0">
                <a:latin typeface="Calibri"/>
                <a:cs typeface="Calibri"/>
              </a:rPr>
              <a:t>nol  </a:t>
            </a:r>
            <a:r>
              <a:rPr sz="3000" spc="-10" dirty="0">
                <a:latin typeface="Calibri"/>
                <a:cs typeface="Calibri"/>
              </a:rPr>
              <a:t>λ</a:t>
            </a:r>
            <a:r>
              <a:rPr sz="3000" spc="-15" baseline="-20833" dirty="0">
                <a:latin typeface="Calibri"/>
                <a:cs typeface="Calibri"/>
              </a:rPr>
              <a:t>max</a:t>
            </a:r>
            <a:r>
              <a:rPr sz="3000" spc="277" baseline="-20833" dirty="0">
                <a:latin typeface="Calibri"/>
                <a:cs typeface="Calibri"/>
              </a:rPr>
              <a:t> </a:t>
            </a:r>
            <a:r>
              <a:rPr sz="3000" dirty="0">
                <a:latin typeface="Calibri"/>
                <a:cs typeface="Calibri"/>
              </a:rPr>
              <a:t>=</a:t>
            </a:r>
            <a:r>
              <a:rPr sz="3000" spc="-30" dirty="0">
                <a:latin typeface="Calibri"/>
                <a:cs typeface="Calibri"/>
              </a:rPr>
              <a:t> </a:t>
            </a:r>
            <a:r>
              <a:rPr sz="3000">
                <a:latin typeface="Calibri"/>
                <a:cs typeface="Calibri"/>
              </a:rPr>
              <a:t>255</a:t>
            </a:r>
            <a:r>
              <a:rPr sz="3000" spc="-20">
                <a:latin typeface="Calibri"/>
                <a:cs typeface="Calibri"/>
              </a:rPr>
              <a:t> </a:t>
            </a:r>
            <a:r>
              <a:rPr sz="3000" spc="-5" smtClean="0">
                <a:latin typeface="Calibri"/>
                <a:cs typeface="Calibri"/>
              </a:rPr>
              <a:t>nm</a:t>
            </a:r>
            <a:endParaRPr sz="3000">
              <a:latin typeface="Calibri"/>
              <a:cs typeface="Calibri"/>
            </a:endParaRPr>
          </a:p>
        </p:txBody>
      </p:sp>
      <p:sp>
        <p:nvSpPr>
          <p:cNvPr id="6" name="object 6"/>
          <p:cNvSpPr txBox="1"/>
          <p:nvPr/>
        </p:nvSpPr>
        <p:spPr>
          <a:xfrm>
            <a:off x="4564643" y="4885994"/>
            <a:ext cx="3675379" cy="1083886"/>
          </a:xfrm>
          <a:prstGeom prst="rect">
            <a:avLst/>
          </a:prstGeom>
        </p:spPr>
        <p:txBody>
          <a:bodyPr vert="horz" wrap="square" lIns="0" tIns="12700" rIns="0" bIns="0" rtlCol="0">
            <a:spAutoFit/>
          </a:bodyPr>
          <a:lstStyle/>
          <a:p>
            <a:pPr marL="354965" marR="30480" indent="20955">
              <a:lnSpc>
                <a:spcPct val="120100"/>
              </a:lnSpc>
              <a:spcBef>
                <a:spcPts val="100"/>
              </a:spcBef>
            </a:pPr>
            <a:r>
              <a:rPr sz="3000" spc="-15" dirty="0">
                <a:latin typeface="Calibri"/>
                <a:cs typeface="Calibri"/>
              </a:rPr>
              <a:t>p-nitrophenoxide </a:t>
            </a:r>
            <a:r>
              <a:rPr sz="3000" dirty="0">
                <a:latin typeface="Calibri"/>
                <a:cs typeface="Calibri"/>
              </a:rPr>
              <a:t>ion </a:t>
            </a:r>
            <a:r>
              <a:rPr sz="3000" spc="-660" dirty="0">
                <a:latin typeface="Calibri"/>
                <a:cs typeface="Calibri"/>
              </a:rPr>
              <a:t> </a:t>
            </a:r>
            <a:r>
              <a:rPr sz="3000" spc="-10" dirty="0">
                <a:latin typeface="Calibri"/>
                <a:cs typeface="Calibri"/>
              </a:rPr>
              <a:t>λ</a:t>
            </a:r>
            <a:r>
              <a:rPr sz="3000" spc="-15" baseline="-20833" dirty="0">
                <a:latin typeface="Calibri"/>
                <a:cs typeface="Calibri"/>
              </a:rPr>
              <a:t>max</a:t>
            </a:r>
            <a:r>
              <a:rPr sz="3000" spc="330" baseline="-20833" dirty="0">
                <a:latin typeface="Calibri"/>
                <a:cs typeface="Calibri"/>
              </a:rPr>
              <a:t> </a:t>
            </a:r>
            <a:r>
              <a:rPr sz="3000" dirty="0">
                <a:latin typeface="Calibri"/>
                <a:cs typeface="Calibri"/>
              </a:rPr>
              <a:t>=</a:t>
            </a:r>
            <a:r>
              <a:rPr sz="3000" spc="-10" dirty="0">
                <a:latin typeface="Calibri"/>
                <a:cs typeface="Calibri"/>
              </a:rPr>
              <a:t> </a:t>
            </a:r>
            <a:r>
              <a:rPr sz="3000">
                <a:latin typeface="Calibri"/>
                <a:cs typeface="Calibri"/>
              </a:rPr>
              <a:t>265</a:t>
            </a:r>
            <a:r>
              <a:rPr sz="3000" spc="-10">
                <a:latin typeface="Calibri"/>
                <a:cs typeface="Calibri"/>
              </a:rPr>
              <a:t> </a:t>
            </a:r>
            <a:r>
              <a:rPr sz="3000" spc="-5" smtClean="0">
                <a:latin typeface="Calibri"/>
                <a:cs typeface="Calibri"/>
              </a:rPr>
              <a:t>nm</a:t>
            </a:r>
            <a:endParaRPr sz="3000">
              <a:latin typeface="Calibri"/>
              <a:cs typeface="Calibri"/>
            </a:endParaRPr>
          </a:p>
        </p:txBody>
      </p:sp>
      <p:sp>
        <p:nvSpPr>
          <p:cNvPr id="8" name="object 8"/>
          <p:cNvSpPr txBox="1"/>
          <p:nvPr/>
        </p:nvSpPr>
        <p:spPr>
          <a:xfrm>
            <a:off x="2382455" y="4313699"/>
            <a:ext cx="430530" cy="279400"/>
          </a:xfrm>
          <a:prstGeom prst="rect">
            <a:avLst/>
          </a:prstGeom>
        </p:spPr>
        <p:txBody>
          <a:bodyPr vert="horz" wrap="square" lIns="0" tIns="14605" rIns="0" bIns="0" rtlCol="0">
            <a:spAutoFit/>
          </a:bodyPr>
          <a:lstStyle/>
          <a:p>
            <a:pPr marL="12700">
              <a:lnSpc>
                <a:spcPct val="100000"/>
              </a:lnSpc>
              <a:spcBef>
                <a:spcPts val="115"/>
              </a:spcBef>
            </a:pPr>
            <a:r>
              <a:rPr sz="1650" spc="365" dirty="0">
                <a:latin typeface="Microsoft Sans Serif"/>
                <a:cs typeface="Microsoft Sans Serif"/>
              </a:rPr>
              <a:t>O</a:t>
            </a:r>
            <a:r>
              <a:rPr sz="1650" spc="340" dirty="0">
                <a:latin typeface="Microsoft Sans Serif"/>
                <a:cs typeface="Microsoft Sans Serif"/>
              </a:rPr>
              <a:t>H</a:t>
            </a:r>
            <a:endParaRPr sz="1650">
              <a:latin typeface="Microsoft Sans Serif"/>
              <a:cs typeface="Microsoft Sans Serif"/>
            </a:endParaRPr>
          </a:p>
        </p:txBody>
      </p:sp>
      <p:sp>
        <p:nvSpPr>
          <p:cNvPr id="9" name="object 9"/>
          <p:cNvSpPr txBox="1"/>
          <p:nvPr/>
        </p:nvSpPr>
        <p:spPr>
          <a:xfrm>
            <a:off x="2388952" y="2645438"/>
            <a:ext cx="220345" cy="279400"/>
          </a:xfrm>
          <a:prstGeom prst="rect">
            <a:avLst/>
          </a:prstGeom>
        </p:spPr>
        <p:txBody>
          <a:bodyPr vert="horz" wrap="square" lIns="0" tIns="14605" rIns="0" bIns="0" rtlCol="0">
            <a:spAutoFit/>
          </a:bodyPr>
          <a:lstStyle/>
          <a:p>
            <a:pPr marL="12700">
              <a:lnSpc>
                <a:spcPct val="100000"/>
              </a:lnSpc>
              <a:spcBef>
                <a:spcPts val="115"/>
              </a:spcBef>
            </a:pPr>
            <a:r>
              <a:rPr sz="1650" spc="340" dirty="0">
                <a:latin typeface="Microsoft Sans Serif"/>
                <a:cs typeface="Microsoft Sans Serif"/>
              </a:rPr>
              <a:t>N</a:t>
            </a:r>
            <a:endParaRPr sz="1650">
              <a:latin typeface="Microsoft Sans Serif"/>
              <a:cs typeface="Microsoft Sans Serif"/>
            </a:endParaRPr>
          </a:p>
        </p:txBody>
      </p:sp>
      <p:sp>
        <p:nvSpPr>
          <p:cNvPr id="10" name="object 10"/>
          <p:cNvSpPr txBox="1"/>
          <p:nvPr/>
        </p:nvSpPr>
        <p:spPr>
          <a:xfrm>
            <a:off x="2580076" y="2550484"/>
            <a:ext cx="149225" cy="224790"/>
          </a:xfrm>
          <a:prstGeom prst="rect">
            <a:avLst/>
          </a:prstGeom>
        </p:spPr>
        <p:txBody>
          <a:bodyPr vert="horz" wrap="square" lIns="0" tIns="13335" rIns="0" bIns="0" rtlCol="0">
            <a:spAutoFit/>
          </a:bodyPr>
          <a:lstStyle/>
          <a:p>
            <a:pPr marL="12700">
              <a:lnSpc>
                <a:spcPct val="100000"/>
              </a:lnSpc>
              <a:spcBef>
                <a:spcPts val="105"/>
              </a:spcBef>
            </a:pPr>
            <a:r>
              <a:rPr sz="1300" spc="215" dirty="0">
                <a:latin typeface="Microsoft Sans Serif"/>
                <a:cs typeface="Microsoft Sans Serif"/>
              </a:rPr>
              <a:t>+</a:t>
            </a:r>
            <a:endParaRPr sz="1300">
              <a:latin typeface="Microsoft Sans Serif"/>
              <a:cs typeface="Microsoft Sans Serif"/>
            </a:endParaRPr>
          </a:p>
        </p:txBody>
      </p:sp>
      <p:sp>
        <p:nvSpPr>
          <p:cNvPr id="11" name="object 11"/>
          <p:cNvSpPr txBox="1"/>
          <p:nvPr/>
        </p:nvSpPr>
        <p:spPr>
          <a:xfrm>
            <a:off x="1930654" y="2434493"/>
            <a:ext cx="235585" cy="279400"/>
          </a:xfrm>
          <a:prstGeom prst="rect">
            <a:avLst/>
          </a:prstGeom>
        </p:spPr>
        <p:txBody>
          <a:bodyPr vert="horz" wrap="square" lIns="0" tIns="14605" rIns="0" bIns="0" rtlCol="0">
            <a:spAutoFit/>
          </a:bodyPr>
          <a:lstStyle/>
          <a:p>
            <a:pPr marL="12700">
              <a:lnSpc>
                <a:spcPct val="100000"/>
              </a:lnSpc>
              <a:spcBef>
                <a:spcPts val="115"/>
              </a:spcBef>
            </a:pPr>
            <a:r>
              <a:rPr sz="1650" spc="365" dirty="0">
                <a:latin typeface="Microsoft Sans Serif"/>
                <a:cs typeface="Microsoft Sans Serif"/>
              </a:rPr>
              <a:t>O</a:t>
            </a:r>
            <a:endParaRPr sz="1650">
              <a:latin typeface="Microsoft Sans Serif"/>
              <a:cs typeface="Microsoft Sans Serif"/>
            </a:endParaRPr>
          </a:p>
        </p:txBody>
      </p:sp>
      <p:sp>
        <p:nvSpPr>
          <p:cNvPr id="12" name="object 12"/>
          <p:cNvSpPr/>
          <p:nvPr/>
        </p:nvSpPr>
        <p:spPr>
          <a:xfrm>
            <a:off x="2044765" y="2904593"/>
            <a:ext cx="917575" cy="1452245"/>
          </a:xfrm>
          <a:custGeom>
            <a:avLst/>
            <a:gdLst/>
            <a:ahLst/>
            <a:cxnLst/>
            <a:rect l="l" t="t" r="r" b="b"/>
            <a:pathLst>
              <a:path w="917575" h="1452245">
                <a:moveTo>
                  <a:pt x="917264" y="934770"/>
                </a:moveTo>
                <a:lnTo>
                  <a:pt x="917264" y="517969"/>
                </a:lnTo>
              </a:path>
              <a:path w="917575" h="1452245">
                <a:moveTo>
                  <a:pt x="458958" y="306506"/>
                </a:moveTo>
                <a:lnTo>
                  <a:pt x="917264" y="517969"/>
                </a:lnTo>
              </a:path>
              <a:path w="917575" h="1452245">
                <a:moveTo>
                  <a:pt x="452461" y="387333"/>
                </a:moveTo>
                <a:lnTo>
                  <a:pt x="834049" y="558134"/>
                </a:lnTo>
              </a:path>
              <a:path w="917575" h="1452245">
                <a:moveTo>
                  <a:pt x="458958" y="1140646"/>
                </a:moveTo>
                <a:lnTo>
                  <a:pt x="917264" y="934770"/>
                </a:lnTo>
              </a:path>
              <a:path w="917575" h="1452245">
                <a:moveTo>
                  <a:pt x="452461" y="1060336"/>
                </a:moveTo>
                <a:lnTo>
                  <a:pt x="834049" y="889535"/>
                </a:lnTo>
              </a:path>
              <a:path w="917575" h="1452245">
                <a:moveTo>
                  <a:pt x="0" y="517969"/>
                </a:moveTo>
                <a:lnTo>
                  <a:pt x="458958" y="306506"/>
                </a:lnTo>
              </a:path>
              <a:path w="917575" h="1452245">
                <a:moveTo>
                  <a:pt x="0" y="934770"/>
                </a:moveTo>
                <a:lnTo>
                  <a:pt x="458958" y="1140646"/>
                </a:lnTo>
              </a:path>
              <a:path w="917575" h="1452245">
                <a:moveTo>
                  <a:pt x="0" y="934770"/>
                </a:moveTo>
                <a:lnTo>
                  <a:pt x="0" y="517969"/>
                </a:lnTo>
              </a:path>
              <a:path w="917575" h="1452245">
                <a:moveTo>
                  <a:pt x="89712" y="899695"/>
                </a:moveTo>
                <a:lnTo>
                  <a:pt x="89712" y="553044"/>
                </a:lnTo>
              </a:path>
              <a:path w="917575" h="1452245">
                <a:moveTo>
                  <a:pt x="458958" y="1140646"/>
                </a:moveTo>
                <a:lnTo>
                  <a:pt x="458958" y="1452222"/>
                </a:lnTo>
              </a:path>
              <a:path w="917575" h="1452245">
                <a:moveTo>
                  <a:pt x="458958" y="306506"/>
                </a:moveTo>
                <a:lnTo>
                  <a:pt x="458958" y="0"/>
                </a:lnTo>
              </a:path>
            </a:pathLst>
          </a:custGeom>
          <a:ln w="16812">
            <a:solidFill>
              <a:srgbClr val="000000"/>
            </a:solidFill>
          </a:ln>
        </p:spPr>
        <p:txBody>
          <a:bodyPr wrap="square" lIns="0" tIns="0" rIns="0" bIns="0" rtlCol="0"/>
          <a:lstStyle/>
          <a:p>
            <a:endParaRPr/>
          </a:p>
        </p:txBody>
      </p:sp>
      <p:sp>
        <p:nvSpPr>
          <p:cNvPr id="13" name="object 13"/>
          <p:cNvSpPr/>
          <p:nvPr/>
        </p:nvSpPr>
        <p:spPr>
          <a:xfrm>
            <a:off x="2739057" y="2648412"/>
            <a:ext cx="89535" cy="40640"/>
          </a:xfrm>
          <a:custGeom>
            <a:avLst/>
            <a:gdLst/>
            <a:ahLst/>
            <a:cxnLst/>
            <a:rect l="l" t="t" r="r" b="b"/>
            <a:pathLst>
              <a:path w="89535" h="40639">
                <a:moveTo>
                  <a:pt x="89052" y="0"/>
                </a:moveTo>
                <a:lnTo>
                  <a:pt x="0" y="40165"/>
                </a:lnTo>
              </a:path>
            </a:pathLst>
          </a:custGeom>
          <a:ln w="15461">
            <a:solidFill>
              <a:srgbClr val="000000"/>
            </a:solidFill>
          </a:ln>
        </p:spPr>
        <p:txBody>
          <a:bodyPr wrap="square" lIns="0" tIns="0" rIns="0" bIns="0" rtlCol="0"/>
          <a:lstStyle/>
          <a:p>
            <a:endParaRPr/>
          </a:p>
        </p:txBody>
      </p:sp>
      <p:sp>
        <p:nvSpPr>
          <p:cNvPr id="14" name="object 14"/>
          <p:cNvSpPr/>
          <p:nvPr/>
        </p:nvSpPr>
        <p:spPr>
          <a:xfrm>
            <a:off x="2178679" y="2603177"/>
            <a:ext cx="198120" cy="175895"/>
          </a:xfrm>
          <a:custGeom>
            <a:avLst/>
            <a:gdLst/>
            <a:ahLst/>
            <a:cxnLst/>
            <a:rect l="l" t="t" r="r" b="b"/>
            <a:pathLst>
              <a:path w="198119" h="175894">
                <a:moveTo>
                  <a:pt x="0" y="85400"/>
                </a:moveTo>
                <a:lnTo>
                  <a:pt x="197620" y="175870"/>
                </a:lnTo>
              </a:path>
              <a:path w="198119" h="175894">
                <a:moveTo>
                  <a:pt x="0" y="0"/>
                </a:moveTo>
                <a:lnTo>
                  <a:pt x="197620" y="90470"/>
                </a:lnTo>
              </a:path>
            </a:pathLst>
          </a:custGeom>
          <a:ln w="16812">
            <a:solidFill>
              <a:srgbClr val="000000"/>
            </a:solidFill>
          </a:ln>
        </p:spPr>
        <p:txBody>
          <a:bodyPr wrap="square" lIns="0" tIns="0" rIns="0" bIns="0" rtlCol="0"/>
          <a:lstStyle/>
          <a:p>
            <a:endParaRPr/>
          </a:p>
        </p:txBody>
      </p:sp>
      <p:grpSp>
        <p:nvGrpSpPr>
          <p:cNvPr id="7" name="object 15"/>
          <p:cNvGrpSpPr/>
          <p:nvPr/>
        </p:nvGrpSpPr>
        <p:grpSpPr>
          <a:xfrm>
            <a:off x="3343617" y="3580497"/>
            <a:ext cx="1511300" cy="95885"/>
            <a:chOff x="3343617" y="3580497"/>
            <a:chExt cx="1511300" cy="95885"/>
          </a:xfrm>
        </p:grpSpPr>
        <p:sp>
          <p:nvSpPr>
            <p:cNvPr id="16" name="object 16"/>
            <p:cNvSpPr/>
            <p:nvPr/>
          </p:nvSpPr>
          <p:spPr>
            <a:xfrm>
              <a:off x="3343617" y="3628418"/>
              <a:ext cx="1503680" cy="0"/>
            </a:xfrm>
            <a:custGeom>
              <a:avLst/>
              <a:gdLst/>
              <a:ahLst/>
              <a:cxnLst/>
              <a:rect l="l" t="t" r="r" b="b"/>
              <a:pathLst>
                <a:path w="1503679">
                  <a:moveTo>
                    <a:pt x="0" y="0"/>
                  </a:moveTo>
                  <a:lnTo>
                    <a:pt x="1503109" y="0"/>
                  </a:lnTo>
                </a:path>
              </a:pathLst>
            </a:custGeom>
            <a:ln w="14771">
              <a:solidFill>
                <a:srgbClr val="000000"/>
              </a:solidFill>
            </a:ln>
          </p:spPr>
          <p:txBody>
            <a:bodyPr wrap="square" lIns="0" tIns="0" rIns="0" bIns="0" rtlCol="0"/>
            <a:lstStyle/>
            <a:p>
              <a:endParaRPr/>
            </a:p>
          </p:txBody>
        </p:sp>
        <p:pic>
          <p:nvPicPr>
            <p:cNvPr id="17" name="object 17"/>
            <p:cNvPicPr/>
            <p:nvPr/>
          </p:nvPicPr>
          <p:blipFill>
            <a:blip r:embed="rId2" cstate="print"/>
            <a:stretch>
              <a:fillRect/>
            </a:stretch>
          </p:blipFill>
          <p:spPr>
            <a:xfrm>
              <a:off x="4628204" y="3580497"/>
              <a:ext cx="226298" cy="95862"/>
            </a:xfrm>
            <a:prstGeom prst="rect">
              <a:avLst/>
            </a:prstGeom>
          </p:spPr>
        </p:pic>
      </p:grpSp>
      <p:sp>
        <p:nvSpPr>
          <p:cNvPr id="18" name="object 18"/>
          <p:cNvSpPr txBox="1"/>
          <p:nvPr/>
        </p:nvSpPr>
        <p:spPr>
          <a:xfrm>
            <a:off x="3668909" y="3233557"/>
            <a:ext cx="553720" cy="279400"/>
          </a:xfrm>
          <a:prstGeom prst="rect">
            <a:avLst/>
          </a:prstGeom>
        </p:spPr>
        <p:txBody>
          <a:bodyPr vert="horz" wrap="square" lIns="0" tIns="14605" rIns="0" bIns="0" rtlCol="0">
            <a:spAutoFit/>
          </a:bodyPr>
          <a:lstStyle/>
          <a:p>
            <a:pPr marL="38100">
              <a:lnSpc>
                <a:spcPct val="100000"/>
              </a:lnSpc>
              <a:spcBef>
                <a:spcPts val="115"/>
              </a:spcBef>
            </a:pPr>
            <a:r>
              <a:rPr sz="1650" spc="280" dirty="0">
                <a:latin typeface="Microsoft Sans Serif"/>
                <a:cs typeface="Microsoft Sans Serif"/>
              </a:rPr>
              <a:t>OH</a:t>
            </a:r>
            <a:r>
              <a:rPr sz="1950" spc="419" baseline="47008" dirty="0">
                <a:latin typeface="Microsoft Sans Serif"/>
                <a:cs typeface="Microsoft Sans Serif"/>
              </a:rPr>
              <a:t>-</a:t>
            </a:r>
            <a:endParaRPr sz="1950" baseline="47008">
              <a:latin typeface="Microsoft Sans Serif"/>
              <a:cs typeface="Microsoft Sans Serif"/>
            </a:endParaRPr>
          </a:p>
        </p:txBody>
      </p:sp>
      <p:sp>
        <p:nvSpPr>
          <p:cNvPr id="19" name="object 19"/>
          <p:cNvSpPr txBox="1"/>
          <p:nvPr/>
        </p:nvSpPr>
        <p:spPr>
          <a:xfrm>
            <a:off x="3451845" y="3655346"/>
            <a:ext cx="1045844" cy="327660"/>
          </a:xfrm>
          <a:prstGeom prst="rect">
            <a:avLst/>
          </a:prstGeom>
        </p:spPr>
        <p:txBody>
          <a:bodyPr vert="horz" wrap="square" lIns="0" tIns="16510" rIns="0" bIns="0" rtlCol="0">
            <a:spAutoFit/>
          </a:bodyPr>
          <a:lstStyle/>
          <a:p>
            <a:pPr marL="12700">
              <a:lnSpc>
                <a:spcPct val="100000"/>
              </a:lnSpc>
              <a:spcBef>
                <a:spcPts val="130"/>
              </a:spcBef>
            </a:pPr>
            <a:r>
              <a:rPr sz="1950" spc="320" dirty="0">
                <a:latin typeface="Calibri"/>
                <a:cs typeface="Calibri"/>
              </a:rPr>
              <a:t>A</a:t>
            </a:r>
            <a:r>
              <a:rPr sz="1950" spc="100" dirty="0">
                <a:latin typeface="Calibri"/>
                <a:cs typeface="Calibri"/>
              </a:rPr>
              <a:t>l</a:t>
            </a:r>
            <a:r>
              <a:rPr sz="1950" spc="270" dirty="0">
                <a:latin typeface="Calibri"/>
                <a:cs typeface="Calibri"/>
              </a:rPr>
              <a:t>ka</a:t>
            </a:r>
            <a:r>
              <a:rPr sz="1950" spc="95" dirty="0">
                <a:latin typeface="Calibri"/>
                <a:cs typeface="Calibri"/>
              </a:rPr>
              <a:t>l</a:t>
            </a:r>
            <a:r>
              <a:rPr sz="1950" spc="100" dirty="0">
                <a:latin typeface="Calibri"/>
                <a:cs typeface="Calibri"/>
              </a:rPr>
              <a:t>i</a:t>
            </a:r>
            <a:r>
              <a:rPr sz="1950" spc="275" dirty="0">
                <a:latin typeface="Calibri"/>
                <a:cs typeface="Calibri"/>
              </a:rPr>
              <a:t>n</a:t>
            </a:r>
            <a:r>
              <a:rPr sz="1950" spc="285" dirty="0">
                <a:latin typeface="Calibri"/>
                <a:cs typeface="Calibri"/>
              </a:rPr>
              <a:t>e</a:t>
            </a:r>
            <a:endParaRPr sz="1950">
              <a:latin typeface="Calibri"/>
              <a:cs typeface="Calibri"/>
            </a:endParaRPr>
          </a:p>
        </p:txBody>
      </p:sp>
      <p:sp>
        <p:nvSpPr>
          <p:cNvPr id="20" name="object 20"/>
          <p:cNvSpPr txBox="1"/>
          <p:nvPr/>
        </p:nvSpPr>
        <p:spPr>
          <a:xfrm>
            <a:off x="3451845" y="4132653"/>
            <a:ext cx="1098550" cy="327660"/>
          </a:xfrm>
          <a:prstGeom prst="rect">
            <a:avLst/>
          </a:prstGeom>
        </p:spPr>
        <p:txBody>
          <a:bodyPr vert="horz" wrap="square" lIns="0" tIns="16510" rIns="0" bIns="0" rtlCol="0">
            <a:spAutoFit/>
          </a:bodyPr>
          <a:lstStyle/>
          <a:p>
            <a:pPr marL="12700">
              <a:lnSpc>
                <a:spcPct val="100000"/>
              </a:lnSpc>
              <a:spcBef>
                <a:spcPts val="130"/>
              </a:spcBef>
            </a:pPr>
            <a:r>
              <a:rPr sz="1950" spc="445" dirty="0">
                <a:latin typeface="Calibri"/>
                <a:cs typeface="Calibri"/>
              </a:rPr>
              <a:t>m</a:t>
            </a:r>
            <a:r>
              <a:rPr sz="1950" spc="285" dirty="0">
                <a:latin typeface="Calibri"/>
                <a:cs typeface="Calibri"/>
              </a:rPr>
              <a:t>e</a:t>
            </a:r>
            <a:r>
              <a:rPr sz="1950" spc="185" dirty="0">
                <a:latin typeface="Calibri"/>
                <a:cs typeface="Calibri"/>
              </a:rPr>
              <a:t>di</a:t>
            </a:r>
            <a:r>
              <a:rPr sz="1950" spc="275" dirty="0">
                <a:latin typeface="Calibri"/>
                <a:cs typeface="Calibri"/>
              </a:rPr>
              <a:t>u</a:t>
            </a:r>
            <a:r>
              <a:rPr sz="1950" spc="459" dirty="0">
                <a:latin typeface="Calibri"/>
                <a:cs typeface="Calibri"/>
              </a:rPr>
              <a:t>m</a:t>
            </a:r>
            <a:endParaRPr sz="1950">
              <a:latin typeface="Calibri"/>
              <a:cs typeface="Calibri"/>
            </a:endParaRPr>
          </a:p>
        </p:txBody>
      </p:sp>
      <p:sp>
        <p:nvSpPr>
          <p:cNvPr id="21" name="object 21"/>
          <p:cNvSpPr txBox="1"/>
          <p:nvPr/>
        </p:nvSpPr>
        <p:spPr>
          <a:xfrm>
            <a:off x="5515074" y="4177992"/>
            <a:ext cx="363855" cy="279400"/>
          </a:xfrm>
          <a:prstGeom prst="rect">
            <a:avLst/>
          </a:prstGeom>
        </p:spPr>
        <p:txBody>
          <a:bodyPr vert="horz" wrap="square" lIns="0" tIns="14605" rIns="0" bIns="0" rtlCol="0">
            <a:spAutoFit/>
          </a:bodyPr>
          <a:lstStyle/>
          <a:p>
            <a:pPr marL="38100">
              <a:lnSpc>
                <a:spcPct val="100000"/>
              </a:lnSpc>
              <a:spcBef>
                <a:spcPts val="115"/>
              </a:spcBef>
            </a:pPr>
            <a:r>
              <a:rPr sz="2475" spc="405" baseline="-37037" dirty="0">
                <a:latin typeface="Microsoft Sans Serif"/>
                <a:cs typeface="Microsoft Sans Serif"/>
              </a:rPr>
              <a:t>O</a:t>
            </a:r>
            <a:r>
              <a:rPr sz="1300" spc="270" dirty="0">
                <a:latin typeface="Microsoft Sans Serif"/>
                <a:cs typeface="Microsoft Sans Serif"/>
              </a:rPr>
              <a:t>-</a:t>
            </a:r>
            <a:endParaRPr sz="1300">
              <a:latin typeface="Microsoft Sans Serif"/>
              <a:cs typeface="Microsoft Sans Serif"/>
            </a:endParaRPr>
          </a:p>
        </p:txBody>
      </p:sp>
      <p:sp>
        <p:nvSpPr>
          <p:cNvPr id="22" name="object 22"/>
          <p:cNvSpPr txBox="1"/>
          <p:nvPr/>
        </p:nvSpPr>
        <p:spPr>
          <a:xfrm>
            <a:off x="5546284" y="2650529"/>
            <a:ext cx="220345" cy="279400"/>
          </a:xfrm>
          <a:prstGeom prst="rect">
            <a:avLst/>
          </a:prstGeom>
        </p:spPr>
        <p:txBody>
          <a:bodyPr vert="horz" wrap="square" lIns="0" tIns="14605" rIns="0" bIns="0" rtlCol="0">
            <a:spAutoFit/>
          </a:bodyPr>
          <a:lstStyle/>
          <a:p>
            <a:pPr marL="12700">
              <a:lnSpc>
                <a:spcPct val="100000"/>
              </a:lnSpc>
              <a:spcBef>
                <a:spcPts val="115"/>
              </a:spcBef>
            </a:pPr>
            <a:r>
              <a:rPr sz="1650" spc="340" dirty="0">
                <a:latin typeface="Microsoft Sans Serif"/>
                <a:cs typeface="Microsoft Sans Serif"/>
              </a:rPr>
              <a:t>N</a:t>
            </a:r>
            <a:endParaRPr sz="1650">
              <a:latin typeface="Microsoft Sans Serif"/>
              <a:cs typeface="Microsoft Sans Serif"/>
            </a:endParaRPr>
          </a:p>
        </p:txBody>
      </p:sp>
      <p:sp>
        <p:nvSpPr>
          <p:cNvPr id="23" name="object 23"/>
          <p:cNvSpPr txBox="1"/>
          <p:nvPr/>
        </p:nvSpPr>
        <p:spPr>
          <a:xfrm>
            <a:off x="5737487" y="2555057"/>
            <a:ext cx="149225" cy="224790"/>
          </a:xfrm>
          <a:prstGeom prst="rect">
            <a:avLst/>
          </a:prstGeom>
        </p:spPr>
        <p:txBody>
          <a:bodyPr vert="horz" wrap="square" lIns="0" tIns="13335" rIns="0" bIns="0" rtlCol="0">
            <a:spAutoFit/>
          </a:bodyPr>
          <a:lstStyle/>
          <a:p>
            <a:pPr marL="12700">
              <a:lnSpc>
                <a:spcPct val="100000"/>
              </a:lnSpc>
              <a:spcBef>
                <a:spcPts val="105"/>
              </a:spcBef>
            </a:pPr>
            <a:r>
              <a:rPr sz="1300" spc="215" dirty="0">
                <a:latin typeface="Microsoft Sans Serif"/>
                <a:cs typeface="Microsoft Sans Serif"/>
              </a:rPr>
              <a:t>+</a:t>
            </a:r>
            <a:endParaRPr sz="1300">
              <a:latin typeface="Microsoft Sans Serif"/>
              <a:cs typeface="Microsoft Sans Serif"/>
            </a:endParaRPr>
          </a:p>
        </p:txBody>
      </p:sp>
      <p:sp>
        <p:nvSpPr>
          <p:cNvPr id="24" name="object 24"/>
          <p:cNvSpPr txBox="1"/>
          <p:nvPr/>
        </p:nvSpPr>
        <p:spPr>
          <a:xfrm>
            <a:off x="2802662" y="2303960"/>
            <a:ext cx="3540760" cy="279400"/>
          </a:xfrm>
          <a:prstGeom prst="rect">
            <a:avLst/>
          </a:prstGeom>
        </p:spPr>
        <p:txBody>
          <a:bodyPr vert="horz" wrap="square" lIns="0" tIns="14605" rIns="0" bIns="0" rtlCol="0">
            <a:spAutoFit/>
          </a:bodyPr>
          <a:lstStyle/>
          <a:p>
            <a:pPr marL="50800">
              <a:lnSpc>
                <a:spcPct val="100000"/>
              </a:lnSpc>
              <a:spcBef>
                <a:spcPts val="115"/>
              </a:spcBef>
              <a:tabLst>
                <a:tab pos="3208655" algn="l"/>
              </a:tabLst>
            </a:pPr>
            <a:r>
              <a:rPr sz="2475" spc="367" baseline="-35353" dirty="0">
                <a:latin typeface="Microsoft Sans Serif"/>
                <a:cs typeface="Microsoft Sans Serif"/>
              </a:rPr>
              <a:t>O</a:t>
            </a:r>
            <a:r>
              <a:rPr sz="1950" spc="367" baseline="4273" dirty="0">
                <a:latin typeface="Microsoft Sans Serif"/>
                <a:cs typeface="Microsoft Sans Serif"/>
              </a:rPr>
              <a:t>-	</a:t>
            </a:r>
            <a:r>
              <a:rPr sz="2475" spc="367" baseline="-37037" dirty="0">
                <a:latin typeface="Microsoft Sans Serif"/>
                <a:cs typeface="Microsoft Sans Serif"/>
              </a:rPr>
              <a:t>O</a:t>
            </a:r>
            <a:r>
              <a:rPr sz="1300" spc="245" dirty="0">
                <a:latin typeface="Microsoft Sans Serif"/>
                <a:cs typeface="Microsoft Sans Serif"/>
              </a:rPr>
              <a:t>-</a:t>
            </a:r>
            <a:endParaRPr sz="1300">
              <a:latin typeface="Microsoft Sans Serif"/>
              <a:cs typeface="Microsoft Sans Serif"/>
            </a:endParaRPr>
          </a:p>
        </p:txBody>
      </p:sp>
      <p:sp>
        <p:nvSpPr>
          <p:cNvPr id="25" name="object 25"/>
          <p:cNvSpPr txBox="1"/>
          <p:nvPr/>
        </p:nvSpPr>
        <p:spPr>
          <a:xfrm>
            <a:off x="5088084" y="2444673"/>
            <a:ext cx="235585" cy="279400"/>
          </a:xfrm>
          <a:prstGeom prst="rect">
            <a:avLst/>
          </a:prstGeom>
        </p:spPr>
        <p:txBody>
          <a:bodyPr vert="horz" wrap="square" lIns="0" tIns="14605" rIns="0" bIns="0" rtlCol="0">
            <a:spAutoFit/>
          </a:bodyPr>
          <a:lstStyle/>
          <a:p>
            <a:pPr marL="12700">
              <a:lnSpc>
                <a:spcPct val="100000"/>
              </a:lnSpc>
              <a:spcBef>
                <a:spcPts val="115"/>
              </a:spcBef>
            </a:pPr>
            <a:r>
              <a:rPr sz="1650" spc="365" dirty="0">
                <a:latin typeface="Microsoft Sans Serif"/>
                <a:cs typeface="Microsoft Sans Serif"/>
              </a:rPr>
              <a:t>O</a:t>
            </a:r>
            <a:endParaRPr sz="1650">
              <a:latin typeface="Microsoft Sans Serif"/>
              <a:cs typeface="Microsoft Sans Serif"/>
            </a:endParaRPr>
          </a:p>
        </p:txBody>
      </p:sp>
      <p:sp>
        <p:nvSpPr>
          <p:cNvPr id="26" name="object 26"/>
          <p:cNvSpPr/>
          <p:nvPr/>
        </p:nvSpPr>
        <p:spPr>
          <a:xfrm>
            <a:off x="5202723" y="2909684"/>
            <a:ext cx="916940" cy="1452245"/>
          </a:xfrm>
          <a:custGeom>
            <a:avLst/>
            <a:gdLst/>
            <a:ahLst/>
            <a:cxnLst/>
            <a:rect l="l" t="t" r="r" b="b"/>
            <a:pathLst>
              <a:path w="916939" h="1452245">
                <a:moveTo>
                  <a:pt x="916665" y="934770"/>
                </a:moveTo>
                <a:lnTo>
                  <a:pt x="916665" y="517452"/>
                </a:lnTo>
              </a:path>
              <a:path w="916939" h="1452245">
                <a:moveTo>
                  <a:pt x="458464" y="311597"/>
                </a:moveTo>
                <a:lnTo>
                  <a:pt x="916665" y="517452"/>
                </a:lnTo>
              </a:path>
              <a:path w="916939" h="1452245">
                <a:moveTo>
                  <a:pt x="451862" y="391907"/>
                </a:moveTo>
                <a:lnTo>
                  <a:pt x="834268" y="562687"/>
                </a:lnTo>
              </a:path>
              <a:path w="916939" h="1452245">
                <a:moveTo>
                  <a:pt x="458464" y="1145716"/>
                </a:moveTo>
                <a:lnTo>
                  <a:pt x="916665" y="934770"/>
                </a:lnTo>
              </a:path>
              <a:path w="916939" h="1452245">
                <a:moveTo>
                  <a:pt x="451862" y="1065406"/>
                </a:moveTo>
                <a:lnTo>
                  <a:pt x="834268" y="894605"/>
                </a:lnTo>
              </a:path>
              <a:path w="916939" h="1452245">
                <a:moveTo>
                  <a:pt x="0" y="517452"/>
                </a:moveTo>
                <a:lnTo>
                  <a:pt x="458464" y="311597"/>
                </a:lnTo>
              </a:path>
              <a:path w="916939" h="1452245">
                <a:moveTo>
                  <a:pt x="0" y="934770"/>
                </a:moveTo>
                <a:lnTo>
                  <a:pt x="458464" y="1145716"/>
                </a:lnTo>
              </a:path>
              <a:path w="916939" h="1452245">
                <a:moveTo>
                  <a:pt x="0" y="934770"/>
                </a:moveTo>
                <a:lnTo>
                  <a:pt x="0" y="517452"/>
                </a:lnTo>
              </a:path>
              <a:path w="916939" h="1452245">
                <a:moveTo>
                  <a:pt x="89263" y="899695"/>
                </a:moveTo>
                <a:lnTo>
                  <a:pt x="89263" y="553044"/>
                </a:lnTo>
              </a:path>
              <a:path w="916939" h="1452245">
                <a:moveTo>
                  <a:pt x="458464" y="1145716"/>
                </a:moveTo>
                <a:lnTo>
                  <a:pt x="458464" y="1452222"/>
                </a:lnTo>
              </a:path>
              <a:path w="916939" h="1452245">
                <a:moveTo>
                  <a:pt x="458464" y="311597"/>
                </a:moveTo>
                <a:lnTo>
                  <a:pt x="458464" y="0"/>
                </a:lnTo>
              </a:path>
            </a:pathLst>
          </a:custGeom>
          <a:ln w="16812">
            <a:solidFill>
              <a:srgbClr val="000000"/>
            </a:solidFill>
          </a:ln>
        </p:spPr>
        <p:txBody>
          <a:bodyPr wrap="square" lIns="0" tIns="0" rIns="0" bIns="0" rtlCol="0"/>
          <a:lstStyle/>
          <a:p>
            <a:endParaRPr/>
          </a:p>
        </p:txBody>
      </p:sp>
      <p:sp>
        <p:nvSpPr>
          <p:cNvPr id="27" name="object 27"/>
          <p:cNvSpPr/>
          <p:nvPr/>
        </p:nvSpPr>
        <p:spPr>
          <a:xfrm>
            <a:off x="5897022" y="2653503"/>
            <a:ext cx="89535" cy="45720"/>
          </a:xfrm>
          <a:custGeom>
            <a:avLst/>
            <a:gdLst/>
            <a:ahLst/>
            <a:cxnLst/>
            <a:rect l="l" t="t" r="r" b="b"/>
            <a:pathLst>
              <a:path w="89535" h="45719">
                <a:moveTo>
                  <a:pt x="89263" y="0"/>
                </a:moveTo>
                <a:lnTo>
                  <a:pt x="0" y="45235"/>
                </a:lnTo>
              </a:path>
            </a:pathLst>
          </a:custGeom>
          <a:ln w="15605">
            <a:solidFill>
              <a:srgbClr val="000000"/>
            </a:solidFill>
          </a:ln>
        </p:spPr>
        <p:txBody>
          <a:bodyPr wrap="square" lIns="0" tIns="0" rIns="0" bIns="0" rtlCol="0"/>
          <a:lstStyle/>
          <a:p>
            <a:endParaRPr/>
          </a:p>
        </p:txBody>
      </p:sp>
      <p:sp>
        <p:nvSpPr>
          <p:cNvPr id="28" name="object 28"/>
          <p:cNvSpPr/>
          <p:nvPr/>
        </p:nvSpPr>
        <p:spPr>
          <a:xfrm>
            <a:off x="5336882" y="2613338"/>
            <a:ext cx="196850" cy="170815"/>
          </a:xfrm>
          <a:custGeom>
            <a:avLst/>
            <a:gdLst/>
            <a:ahLst/>
            <a:cxnLst/>
            <a:rect l="l" t="t" r="r" b="b"/>
            <a:pathLst>
              <a:path w="196850" h="170814">
                <a:moveTo>
                  <a:pt x="0" y="85400"/>
                </a:moveTo>
                <a:lnTo>
                  <a:pt x="196748" y="170801"/>
                </a:lnTo>
              </a:path>
              <a:path w="196850" h="170814">
                <a:moveTo>
                  <a:pt x="0" y="0"/>
                </a:moveTo>
                <a:lnTo>
                  <a:pt x="196748" y="90491"/>
                </a:lnTo>
              </a:path>
            </a:pathLst>
          </a:custGeom>
          <a:ln w="16812">
            <a:solidFill>
              <a:srgbClr val="000000"/>
            </a:solidFill>
          </a:ln>
        </p:spPr>
        <p:txBody>
          <a:bodyPr wrap="square" lIns="0" tIns="0" rIns="0" bIns="0" rtlCol="0"/>
          <a:lstStyle/>
          <a:p>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57648" y="288036"/>
            <a:ext cx="6291580" cy="741045"/>
            <a:chOff x="557648" y="288036"/>
            <a:chExt cx="6291580" cy="741045"/>
          </a:xfrm>
        </p:grpSpPr>
        <p:pic>
          <p:nvPicPr>
            <p:cNvPr id="3" name="object 3"/>
            <p:cNvPicPr/>
            <p:nvPr/>
          </p:nvPicPr>
          <p:blipFill>
            <a:blip r:embed="rId2" cstate="print"/>
            <a:stretch>
              <a:fillRect/>
            </a:stretch>
          </p:blipFill>
          <p:spPr>
            <a:xfrm>
              <a:off x="557648" y="557784"/>
              <a:ext cx="2705372" cy="457200"/>
            </a:xfrm>
            <a:prstGeom prst="rect">
              <a:avLst/>
            </a:prstGeom>
          </p:spPr>
        </p:pic>
        <p:pic>
          <p:nvPicPr>
            <p:cNvPr id="4" name="object 4"/>
            <p:cNvPicPr/>
            <p:nvPr/>
          </p:nvPicPr>
          <p:blipFill>
            <a:blip r:embed="rId3" cstate="print"/>
            <a:stretch>
              <a:fillRect/>
            </a:stretch>
          </p:blipFill>
          <p:spPr>
            <a:xfrm>
              <a:off x="3070860" y="288036"/>
              <a:ext cx="3777995" cy="740664"/>
            </a:xfrm>
            <a:prstGeom prst="rect">
              <a:avLst/>
            </a:prstGeom>
          </p:spPr>
        </p:pic>
      </p:grpSp>
      <p:sp>
        <p:nvSpPr>
          <p:cNvPr id="5" name="object 5"/>
          <p:cNvSpPr txBox="1">
            <a:spLocks noGrp="1"/>
          </p:cNvSpPr>
          <p:nvPr>
            <p:ph type="title"/>
          </p:nvPr>
        </p:nvSpPr>
        <p:spPr>
          <a:xfrm>
            <a:off x="535940" y="406730"/>
            <a:ext cx="6007100" cy="574675"/>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C00000"/>
                </a:solidFill>
                <a:latin typeface="Times New Roman"/>
                <a:cs typeface="Times New Roman"/>
              </a:rPr>
              <a:t>Hypsochromic</a:t>
            </a:r>
            <a:r>
              <a:rPr sz="3600" spc="-10" dirty="0">
                <a:solidFill>
                  <a:srgbClr val="C00000"/>
                </a:solidFill>
                <a:latin typeface="Times New Roman"/>
                <a:cs typeface="Times New Roman"/>
              </a:rPr>
              <a:t> </a:t>
            </a:r>
            <a:r>
              <a:rPr sz="3600" dirty="0">
                <a:solidFill>
                  <a:srgbClr val="C00000"/>
                </a:solidFill>
                <a:latin typeface="Times New Roman"/>
                <a:cs typeface="Times New Roman"/>
              </a:rPr>
              <a:t>Shift</a:t>
            </a:r>
            <a:r>
              <a:rPr sz="3600" spc="-25" dirty="0">
                <a:solidFill>
                  <a:srgbClr val="C00000"/>
                </a:solidFill>
                <a:latin typeface="Times New Roman"/>
                <a:cs typeface="Times New Roman"/>
              </a:rPr>
              <a:t> </a:t>
            </a:r>
            <a:r>
              <a:rPr sz="3600" dirty="0">
                <a:solidFill>
                  <a:srgbClr val="C00000"/>
                </a:solidFill>
                <a:latin typeface="Times New Roman"/>
                <a:cs typeface="Times New Roman"/>
              </a:rPr>
              <a:t>(Blue</a:t>
            </a:r>
            <a:r>
              <a:rPr sz="3600" spc="-15" dirty="0">
                <a:solidFill>
                  <a:srgbClr val="C00000"/>
                </a:solidFill>
                <a:latin typeface="Times New Roman"/>
                <a:cs typeface="Times New Roman"/>
              </a:rPr>
              <a:t> </a:t>
            </a:r>
            <a:r>
              <a:rPr sz="3600" dirty="0">
                <a:solidFill>
                  <a:srgbClr val="C00000"/>
                </a:solidFill>
                <a:latin typeface="Times New Roman"/>
                <a:cs typeface="Times New Roman"/>
              </a:rPr>
              <a:t>Shift)</a:t>
            </a:r>
            <a:endParaRPr sz="3600">
              <a:latin typeface="Times New Roman"/>
              <a:cs typeface="Times New Roman"/>
            </a:endParaRPr>
          </a:p>
        </p:txBody>
      </p:sp>
      <p:sp>
        <p:nvSpPr>
          <p:cNvPr id="6" name="object 6"/>
          <p:cNvSpPr txBox="1"/>
          <p:nvPr/>
        </p:nvSpPr>
        <p:spPr>
          <a:xfrm>
            <a:off x="535940" y="1563370"/>
            <a:ext cx="8073390" cy="1706236"/>
          </a:xfrm>
          <a:prstGeom prst="rect">
            <a:avLst/>
          </a:prstGeom>
        </p:spPr>
        <p:txBody>
          <a:bodyPr vert="horz" wrap="square" lIns="0" tIns="64135" rIns="0" bIns="0" rtlCol="0">
            <a:spAutoFit/>
          </a:bodyPr>
          <a:lstStyle/>
          <a:p>
            <a:pPr marL="355600" marR="5080" indent="-342900">
              <a:lnSpc>
                <a:spcPts val="3240"/>
              </a:lnSpc>
              <a:spcBef>
                <a:spcPts val="505"/>
              </a:spcBef>
              <a:buClr>
                <a:srgbClr val="9BBA58"/>
              </a:buClr>
              <a:buFont typeface="Microsoft Sans Serif"/>
              <a:buChar char="•"/>
              <a:tabLst>
                <a:tab pos="354965" algn="l"/>
                <a:tab pos="355600" algn="l"/>
              </a:tabLst>
            </a:pPr>
            <a:r>
              <a:rPr lang="en-US" sz="2400" dirty="0" smtClean="0">
                <a:solidFill>
                  <a:srgbClr val="000000"/>
                </a:solidFill>
                <a:latin typeface="Times New Roman" pitchFamily="18" charset="0"/>
                <a:cs typeface="Times New Roman" pitchFamily="18" charset="0"/>
              </a:rPr>
              <a:t>Shift </a:t>
            </a:r>
            <a:r>
              <a:rPr lang="en-US" sz="2400" dirty="0">
                <a:solidFill>
                  <a:srgbClr val="000000"/>
                </a:solidFill>
                <a:latin typeface="Times New Roman" pitchFamily="18" charset="0"/>
                <a:cs typeface="Times New Roman" pitchFamily="18" charset="0"/>
              </a:rPr>
              <a:t>of absorption maximum towards shorter </a:t>
            </a:r>
            <a:r>
              <a:rPr lang="en-US" sz="2400" dirty="0" smtClean="0">
                <a:solidFill>
                  <a:srgbClr val="000000"/>
                </a:solidFill>
                <a:latin typeface="Times New Roman" pitchFamily="18" charset="0"/>
                <a:cs typeface="Times New Roman" pitchFamily="18" charset="0"/>
              </a:rPr>
              <a:t>wavelength. caused </a:t>
            </a:r>
            <a:r>
              <a:rPr lang="en-US" sz="2400" dirty="0">
                <a:solidFill>
                  <a:srgbClr val="000000"/>
                </a:solidFill>
                <a:latin typeface="Times New Roman" pitchFamily="18" charset="0"/>
                <a:cs typeface="Times New Roman" pitchFamily="18" charset="0"/>
              </a:rPr>
              <a:t>by removal of conjugation </a:t>
            </a:r>
            <a:r>
              <a:rPr lang="en-US" sz="2400" dirty="0" err="1">
                <a:solidFill>
                  <a:srgbClr val="000000"/>
                </a:solidFill>
                <a:latin typeface="Times New Roman" pitchFamily="18" charset="0"/>
                <a:cs typeface="Times New Roman" pitchFamily="18" charset="0"/>
              </a:rPr>
              <a:t>Eg</a:t>
            </a:r>
            <a:r>
              <a:rPr lang="en-US" sz="2400" dirty="0">
                <a:solidFill>
                  <a:srgbClr val="000000"/>
                </a:solidFill>
                <a:latin typeface="Times New Roman" pitchFamily="18" charset="0"/>
                <a:cs typeface="Times New Roman" pitchFamily="18" charset="0"/>
              </a:rPr>
              <a:t>: In Aniline, absorption takes place at 280nm. In acidic solutions, absorption takes place at </a:t>
            </a:r>
            <a:r>
              <a:rPr lang="en-US" sz="2400" dirty="0" smtClean="0">
                <a:solidFill>
                  <a:srgbClr val="000000"/>
                </a:solidFill>
                <a:latin typeface="Times New Roman" pitchFamily="18" charset="0"/>
                <a:cs typeface="Times New Roman" pitchFamily="18" charset="0"/>
              </a:rPr>
              <a:t>200nm</a:t>
            </a:r>
            <a:endParaRPr sz="2400" dirty="0">
              <a:latin typeface="Calibri"/>
              <a:cs typeface="Calibri"/>
            </a:endParaRPr>
          </a:p>
        </p:txBody>
      </p:sp>
      <p:sp>
        <p:nvSpPr>
          <p:cNvPr id="7" name="object 7"/>
          <p:cNvSpPr txBox="1"/>
          <p:nvPr/>
        </p:nvSpPr>
        <p:spPr>
          <a:xfrm>
            <a:off x="1869694" y="4946954"/>
            <a:ext cx="2585720" cy="1033615"/>
          </a:xfrm>
          <a:prstGeom prst="rect">
            <a:avLst/>
          </a:prstGeom>
        </p:spPr>
        <p:txBody>
          <a:bodyPr vert="horz" wrap="square" lIns="0" tIns="58419" rIns="0" bIns="0" rtlCol="0">
            <a:spAutoFit/>
          </a:bodyPr>
          <a:lstStyle/>
          <a:p>
            <a:pPr marL="508000" indent="-457200">
              <a:lnSpc>
                <a:spcPct val="100000"/>
              </a:lnSpc>
              <a:spcBef>
                <a:spcPts val="459"/>
              </a:spcBef>
              <a:buClr>
                <a:srgbClr val="9BBA58"/>
              </a:buClr>
              <a:buFont typeface="Segoe UI Symbol"/>
              <a:buChar char="⚫"/>
              <a:tabLst>
                <a:tab pos="507365" algn="l"/>
                <a:tab pos="508000" algn="l"/>
              </a:tabLst>
            </a:pPr>
            <a:r>
              <a:rPr sz="3000" spc="-5" dirty="0">
                <a:latin typeface="Calibri"/>
                <a:cs typeface="Calibri"/>
              </a:rPr>
              <a:t>Aniline</a:t>
            </a:r>
            <a:endParaRPr sz="3000">
              <a:latin typeface="Calibri"/>
              <a:cs typeface="Calibri"/>
            </a:endParaRPr>
          </a:p>
          <a:p>
            <a:pPr marL="393700" indent="-342900">
              <a:lnSpc>
                <a:spcPct val="100000"/>
              </a:lnSpc>
              <a:spcBef>
                <a:spcPts val="365"/>
              </a:spcBef>
              <a:buClr>
                <a:srgbClr val="9BBA58"/>
              </a:buClr>
              <a:buFont typeface="Segoe UI Symbol"/>
              <a:buChar char="⚫"/>
              <a:tabLst>
                <a:tab pos="393700" algn="l"/>
              </a:tabLst>
            </a:pPr>
            <a:r>
              <a:rPr sz="3000" spc="-10" dirty="0">
                <a:latin typeface="Calibri"/>
                <a:cs typeface="Calibri"/>
              </a:rPr>
              <a:t>λ</a:t>
            </a:r>
            <a:r>
              <a:rPr sz="3000" spc="-15" baseline="-20833" dirty="0">
                <a:latin typeface="Calibri"/>
                <a:cs typeface="Calibri"/>
              </a:rPr>
              <a:t>max</a:t>
            </a:r>
            <a:r>
              <a:rPr sz="3000" spc="284" baseline="-20833" dirty="0">
                <a:latin typeface="Calibri"/>
                <a:cs typeface="Calibri"/>
              </a:rPr>
              <a:t> </a:t>
            </a:r>
            <a:r>
              <a:rPr sz="3000" dirty="0">
                <a:latin typeface="Calibri"/>
                <a:cs typeface="Calibri"/>
              </a:rPr>
              <a:t>=</a:t>
            </a:r>
            <a:r>
              <a:rPr sz="3000" spc="-25" dirty="0">
                <a:latin typeface="Calibri"/>
                <a:cs typeface="Calibri"/>
              </a:rPr>
              <a:t> </a:t>
            </a:r>
            <a:r>
              <a:rPr sz="3000">
                <a:latin typeface="Calibri"/>
                <a:cs typeface="Calibri"/>
              </a:rPr>
              <a:t>280</a:t>
            </a:r>
            <a:r>
              <a:rPr sz="3000" spc="-15">
                <a:latin typeface="Calibri"/>
                <a:cs typeface="Calibri"/>
              </a:rPr>
              <a:t> </a:t>
            </a:r>
            <a:r>
              <a:rPr sz="3000" spc="-5" smtClean="0">
                <a:latin typeface="Calibri"/>
                <a:cs typeface="Calibri"/>
              </a:rPr>
              <a:t>nm</a:t>
            </a:r>
            <a:endParaRPr sz="3000">
              <a:latin typeface="Calibri"/>
              <a:cs typeface="Calibri"/>
            </a:endParaRPr>
          </a:p>
        </p:txBody>
      </p:sp>
      <p:sp>
        <p:nvSpPr>
          <p:cNvPr id="8" name="object 8"/>
          <p:cNvSpPr txBox="1"/>
          <p:nvPr/>
        </p:nvSpPr>
        <p:spPr>
          <a:xfrm>
            <a:off x="4564643" y="5496255"/>
            <a:ext cx="3078480" cy="474489"/>
          </a:xfrm>
          <a:prstGeom prst="rect">
            <a:avLst/>
          </a:prstGeom>
        </p:spPr>
        <p:txBody>
          <a:bodyPr vert="horz" wrap="square" lIns="0" tIns="12700" rIns="0" bIns="0" rtlCol="0">
            <a:spAutoFit/>
          </a:bodyPr>
          <a:lstStyle/>
          <a:p>
            <a:pPr marL="899160">
              <a:lnSpc>
                <a:spcPct val="100000"/>
              </a:lnSpc>
              <a:spcBef>
                <a:spcPts val="100"/>
              </a:spcBef>
            </a:pPr>
            <a:r>
              <a:rPr sz="3000" spc="-10" dirty="0">
                <a:latin typeface="Calibri"/>
                <a:cs typeface="Calibri"/>
              </a:rPr>
              <a:t>λ</a:t>
            </a:r>
            <a:r>
              <a:rPr sz="3000" spc="-15" baseline="-20833" dirty="0">
                <a:latin typeface="Calibri"/>
                <a:cs typeface="Calibri"/>
              </a:rPr>
              <a:t>max</a:t>
            </a:r>
            <a:r>
              <a:rPr sz="3000" spc="284" baseline="-20833" dirty="0">
                <a:latin typeface="Calibri"/>
                <a:cs typeface="Calibri"/>
              </a:rPr>
              <a:t> </a:t>
            </a:r>
            <a:r>
              <a:rPr sz="3000" dirty="0">
                <a:latin typeface="Calibri"/>
                <a:cs typeface="Calibri"/>
              </a:rPr>
              <a:t>=</a:t>
            </a:r>
            <a:r>
              <a:rPr sz="3000" spc="-30" dirty="0">
                <a:latin typeface="Calibri"/>
                <a:cs typeface="Calibri"/>
              </a:rPr>
              <a:t> </a:t>
            </a:r>
            <a:r>
              <a:rPr sz="3000">
                <a:latin typeface="Calibri"/>
                <a:cs typeface="Calibri"/>
              </a:rPr>
              <a:t>265</a:t>
            </a:r>
            <a:r>
              <a:rPr sz="3000" spc="-20">
                <a:latin typeface="Calibri"/>
                <a:cs typeface="Calibri"/>
              </a:rPr>
              <a:t> </a:t>
            </a:r>
            <a:r>
              <a:rPr sz="3000" spc="-5" smtClean="0">
                <a:latin typeface="Calibri"/>
                <a:cs typeface="Calibri"/>
              </a:rPr>
              <a:t>nm</a:t>
            </a:r>
            <a:endParaRPr sz="3000">
              <a:latin typeface="Calibri"/>
              <a:cs typeface="Calibri"/>
            </a:endParaRPr>
          </a:p>
        </p:txBody>
      </p:sp>
      <p:sp>
        <p:nvSpPr>
          <p:cNvPr id="10" name="object 10"/>
          <p:cNvSpPr txBox="1"/>
          <p:nvPr/>
        </p:nvSpPr>
        <p:spPr>
          <a:xfrm>
            <a:off x="2958682" y="3213259"/>
            <a:ext cx="459105" cy="309880"/>
          </a:xfrm>
          <a:prstGeom prst="rect">
            <a:avLst/>
          </a:prstGeom>
        </p:spPr>
        <p:txBody>
          <a:bodyPr vert="horz" wrap="square" lIns="0" tIns="14605" rIns="0" bIns="0" rtlCol="0">
            <a:spAutoFit/>
          </a:bodyPr>
          <a:lstStyle/>
          <a:p>
            <a:pPr marL="12700">
              <a:lnSpc>
                <a:spcPct val="100000"/>
              </a:lnSpc>
              <a:spcBef>
                <a:spcPts val="115"/>
              </a:spcBef>
            </a:pPr>
            <a:r>
              <a:rPr sz="1850" spc="355" dirty="0">
                <a:latin typeface="Microsoft Sans Serif"/>
                <a:cs typeface="Microsoft Sans Serif"/>
              </a:rPr>
              <a:t>N</a:t>
            </a:r>
            <a:r>
              <a:rPr sz="1850" spc="375" dirty="0">
                <a:latin typeface="Microsoft Sans Serif"/>
                <a:cs typeface="Microsoft Sans Serif"/>
              </a:rPr>
              <a:t>H</a:t>
            </a:r>
            <a:endParaRPr sz="1850">
              <a:latin typeface="Microsoft Sans Serif"/>
              <a:cs typeface="Microsoft Sans Serif"/>
            </a:endParaRPr>
          </a:p>
        </p:txBody>
      </p:sp>
      <p:sp>
        <p:nvSpPr>
          <p:cNvPr id="11" name="object 11"/>
          <p:cNvSpPr txBox="1"/>
          <p:nvPr/>
        </p:nvSpPr>
        <p:spPr>
          <a:xfrm>
            <a:off x="3389104" y="3330916"/>
            <a:ext cx="158115" cy="249554"/>
          </a:xfrm>
          <a:prstGeom prst="rect">
            <a:avLst/>
          </a:prstGeom>
        </p:spPr>
        <p:txBody>
          <a:bodyPr vert="horz" wrap="square" lIns="0" tIns="14604" rIns="0" bIns="0" rtlCol="0">
            <a:spAutoFit/>
          </a:bodyPr>
          <a:lstStyle/>
          <a:p>
            <a:pPr marL="12700">
              <a:lnSpc>
                <a:spcPct val="100000"/>
              </a:lnSpc>
              <a:spcBef>
                <a:spcPts val="114"/>
              </a:spcBef>
            </a:pPr>
            <a:r>
              <a:rPr sz="1450" spc="229" dirty="0">
                <a:latin typeface="Microsoft Sans Serif"/>
                <a:cs typeface="Microsoft Sans Serif"/>
              </a:rPr>
              <a:t>2</a:t>
            </a:r>
            <a:endParaRPr sz="1450">
              <a:latin typeface="Microsoft Sans Serif"/>
              <a:cs typeface="Microsoft Sans Serif"/>
            </a:endParaRPr>
          </a:p>
        </p:txBody>
      </p:sp>
      <p:sp>
        <p:nvSpPr>
          <p:cNvPr id="12" name="object 12"/>
          <p:cNvSpPr/>
          <p:nvPr/>
        </p:nvSpPr>
        <p:spPr>
          <a:xfrm>
            <a:off x="2569665" y="3501920"/>
            <a:ext cx="1033780" cy="1284605"/>
          </a:xfrm>
          <a:custGeom>
            <a:avLst/>
            <a:gdLst/>
            <a:ahLst/>
            <a:cxnLst/>
            <a:rect l="l" t="t" r="r" b="b"/>
            <a:pathLst>
              <a:path w="1033779" h="1284604">
                <a:moveTo>
                  <a:pt x="1033750" y="1053407"/>
                </a:moveTo>
                <a:lnTo>
                  <a:pt x="1033750" y="586058"/>
                </a:lnTo>
              </a:path>
              <a:path w="1033779" h="1284604">
                <a:moveTo>
                  <a:pt x="516497" y="349204"/>
                </a:moveTo>
                <a:lnTo>
                  <a:pt x="1033750" y="586058"/>
                </a:lnTo>
              </a:path>
              <a:path w="1033779" h="1284604">
                <a:moveTo>
                  <a:pt x="509144" y="439690"/>
                </a:moveTo>
                <a:lnTo>
                  <a:pt x="940313" y="631007"/>
                </a:lnTo>
              </a:path>
              <a:path w="1033779" h="1284604">
                <a:moveTo>
                  <a:pt x="516497" y="1284501"/>
                </a:moveTo>
                <a:lnTo>
                  <a:pt x="1033750" y="1053407"/>
                </a:lnTo>
              </a:path>
              <a:path w="1033779" h="1284604">
                <a:moveTo>
                  <a:pt x="509144" y="1194027"/>
                </a:moveTo>
                <a:lnTo>
                  <a:pt x="940313" y="1002710"/>
                </a:lnTo>
              </a:path>
              <a:path w="1033779" h="1284604">
                <a:moveTo>
                  <a:pt x="0" y="586058"/>
                </a:moveTo>
                <a:lnTo>
                  <a:pt x="516497" y="349204"/>
                </a:lnTo>
              </a:path>
              <a:path w="1033779" h="1284604">
                <a:moveTo>
                  <a:pt x="0" y="1053407"/>
                </a:moveTo>
                <a:lnTo>
                  <a:pt x="516497" y="1284501"/>
                </a:lnTo>
              </a:path>
              <a:path w="1033779" h="1284604">
                <a:moveTo>
                  <a:pt x="0" y="1053407"/>
                </a:moveTo>
                <a:lnTo>
                  <a:pt x="0" y="586058"/>
                </a:lnTo>
              </a:path>
              <a:path w="1033779" h="1284604">
                <a:moveTo>
                  <a:pt x="100064" y="1014229"/>
                </a:moveTo>
                <a:lnTo>
                  <a:pt x="100064" y="625236"/>
                </a:lnTo>
              </a:path>
              <a:path w="1033779" h="1284604">
                <a:moveTo>
                  <a:pt x="516497" y="349204"/>
                </a:moveTo>
                <a:lnTo>
                  <a:pt x="516497" y="0"/>
                </a:lnTo>
              </a:path>
            </a:pathLst>
          </a:custGeom>
          <a:ln w="19042">
            <a:solidFill>
              <a:srgbClr val="000000"/>
            </a:solidFill>
          </a:ln>
        </p:spPr>
        <p:txBody>
          <a:bodyPr wrap="square" lIns="0" tIns="0" rIns="0" bIns="0" rtlCol="0"/>
          <a:lstStyle/>
          <a:p>
            <a:endParaRPr/>
          </a:p>
        </p:txBody>
      </p:sp>
      <p:grpSp>
        <p:nvGrpSpPr>
          <p:cNvPr id="9" name="object 13"/>
          <p:cNvGrpSpPr/>
          <p:nvPr/>
        </p:nvGrpSpPr>
        <p:grpSpPr>
          <a:xfrm>
            <a:off x="4033837" y="4264736"/>
            <a:ext cx="1703705" cy="108585"/>
            <a:chOff x="4033837" y="4264736"/>
            <a:chExt cx="1703705" cy="108585"/>
          </a:xfrm>
        </p:grpSpPr>
        <p:sp>
          <p:nvSpPr>
            <p:cNvPr id="14" name="object 14"/>
            <p:cNvSpPr/>
            <p:nvPr/>
          </p:nvSpPr>
          <p:spPr>
            <a:xfrm>
              <a:off x="4033837" y="4319061"/>
              <a:ext cx="1694814" cy="0"/>
            </a:xfrm>
            <a:custGeom>
              <a:avLst/>
              <a:gdLst/>
              <a:ahLst/>
              <a:cxnLst/>
              <a:rect l="l" t="t" r="r" b="b"/>
              <a:pathLst>
                <a:path w="1694814">
                  <a:moveTo>
                    <a:pt x="0" y="0"/>
                  </a:moveTo>
                  <a:lnTo>
                    <a:pt x="1694576" y="0"/>
                  </a:lnTo>
                </a:path>
              </a:pathLst>
            </a:custGeom>
            <a:ln w="16747">
              <a:solidFill>
                <a:srgbClr val="000000"/>
              </a:solidFill>
            </a:ln>
          </p:spPr>
          <p:txBody>
            <a:bodyPr wrap="square" lIns="0" tIns="0" rIns="0" bIns="0" rtlCol="0"/>
            <a:lstStyle/>
            <a:p>
              <a:endParaRPr/>
            </a:p>
          </p:txBody>
        </p:sp>
        <p:sp>
          <p:nvSpPr>
            <p:cNvPr id="15" name="object 15"/>
            <p:cNvSpPr/>
            <p:nvPr/>
          </p:nvSpPr>
          <p:spPr>
            <a:xfrm>
              <a:off x="5491382" y="4273548"/>
              <a:ext cx="237490" cy="90805"/>
            </a:xfrm>
            <a:custGeom>
              <a:avLst/>
              <a:gdLst/>
              <a:ahLst/>
              <a:cxnLst/>
              <a:rect l="l" t="t" r="r" b="b"/>
              <a:pathLst>
                <a:path w="237489" h="90804">
                  <a:moveTo>
                    <a:pt x="0" y="0"/>
                  </a:moveTo>
                  <a:lnTo>
                    <a:pt x="42743" y="45512"/>
                  </a:lnTo>
                  <a:lnTo>
                    <a:pt x="0" y="90462"/>
                  </a:lnTo>
                  <a:lnTo>
                    <a:pt x="237030" y="45512"/>
                  </a:lnTo>
                  <a:lnTo>
                    <a:pt x="0" y="0"/>
                  </a:lnTo>
                  <a:close/>
                </a:path>
              </a:pathLst>
            </a:custGeom>
            <a:solidFill>
              <a:srgbClr val="000000"/>
            </a:solidFill>
          </p:spPr>
          <p:txBody>
            <a:bodyPr wrap="square" lIns="0" tIns="0" rIns="0" bIns="0" rtlCol="0"/>
            <a:lstStyle/>
            <a:p>
              <a:endParaRPr/>
            </a:p>
          </p:txBody>
        </p:sp>
        <p:sp>
          <p:nvSpPr>
            <p:cNvPr id="16" name="object 16"/>
            <p:cNvSpPr/>
            <p:nvPr/>
          </p:nvSpPr>
          <p:spPr>
            <a:xfrm>
              <a:off x="5491382" y="4273548"/>
              <a:ext cx="237490" cy="90805"/>
            </a:xfrm>
            <a:custGeom>
              <a:avLst/>
              <a:gdLst/>
              <a:ahLst/>
              <a:cxnLst/>
              <a:rect l="l" t="t" r="r" b="b"/>
              <a:pathLst>
                <a:path w="237489" h="90804">
                  <a:moveTo>
                    <a:pt x="0" y="0"/>
                  </a:moveTo>
                  <a:lnTo>
                    <a:pt x="237030" y="45512"/>
                  </a:lnTo>
                  <a:lnTo>
                    <a:pt x="0" y="90462"/>
                  </a:lnTo>
                  <a:lnTo>
                    <a:pt x="42743" y="45512"/>
                  </a:lnTo>
                  <a:lnTo>
                    <a:pt x="0" y="0"/>
                  </a:lnTo>
                </a:path>
              </a:pathLst>
            </a:custGeom>
            <a:ln w="17330">
              <a:solidFill>
                <a:srgbClr val="000000"/>
              </a:solidFill>
            </a:ln>
          </p:spPr>
          <p:txBody>
            <a:bodyPr wrap="square" lIns="0" tIns="0" rIns="0" bIns="0" rtlCol="0"/>
            <a:lstStyle/>
            <a:p>
              <a:endParaRPr/>
            </a:p>
          </p:txBody>
        </p:sp>
      </p:grpSp>
      <p:sp>
        <p:nvSpPr>
          <p:cNvPr id="17" name="object 17"/>
          <p:cNvSpPr txBox="1"/>
          <p:nvPr/>
        </p:nvSpPr>
        <p:spPr>
          <a:xfrm>
            <a:off x="4508948" y="3455297"/>
            <a:ext cx="243204" cy="309880"/>
          </a:xfrm>
          <a:prstGeom prst="rect">
            <a:avLst/>
          </a:prstGeom>
        </p:spPr>
        <p:txBody>
          <a:bodyPr vert="horz" wrap="square" lIns="0" tIns="14605" rIns="0" bIns="0" rtlCol="0">
            <a:spAutoFit/>
          </a:bodyPr>
          <a:lstStyle/>
          <a:p>
            <a:pPr marL="12700">
              <a:lnSpc>
                <a:spcPct val="100000"/>
              </a:lnSpc>
              <a:spcBef>
                <a:spcPts val="115"/>
              </a:spcBef>
            </a:pPr>
            <a:r>
              <a:rPr sz="1850" spc="375" dirty="0">
                <a:latin typeface="Microsoft Sans Serif"/>
                <a:cs typeface="Microsoft Sans Serif"/>
              </a:rPr>
              <a:t>H</a:t>
            </a:r>
            <a:endParaRPr sz="1850">
              <a:latin typeface="Microsoft Sans Serif"/>
              <a:cs typeface="Microsoft Sans Serif"/>
            </a:endParaRPr>
          </a:p>
        </p:txBody>
      </p:sp>
      <p:sp>
        <p:nvSpPr>
          <p:cNvPr id="18" name="object 18"/>
          <p:cNvSpPr txBox="1"/>
          <p:nvPr/>
        </p:nvSpPr>
        <p:spPr>
          <a:xfrm>
            <a:off x="4724547" y="3348206"/>
            <a:ext cx="164465" cy="249554"/>
          </a:xfrm>
          <a:prstGeom prst="rect">
            <a:avLst/>
          </a:prstGeom>
        </p:spPr>
        <p:txBody>
          <a:bodyPr vert="horz" wrap="square" lIns="0" tIns="14604" rIns="0" bIns="0" rtlCol="0">
            <a:spAutoFit/>
          </a:bodyPr>
          <a:lstStyle/>
          <a:p>
            <a:pPr marL="12700">
              <a:lnSpc>
                <a:spcPct val="100000"/>
              </a:lnSpc>
              <a:spcBef>
                <a:spcPts val="114"/>
              </a:spcBef>
            </a:pPr>
            <a:r>
              <a:rPr sz="1450" spc="245" dirty="0">
                <a:latin typeface="Microsoft Sans Serif"/>
                <a:cs typeface="Microsoft Sans Serif"/>
              </a:rPr>
              <a:t>+</a:t>
            </a:r>
            <a:endParaRPr sz="1450">
              <a:latin typeface="Microsoft Sans Serif"/>
              <a:cs typeface="Microsoft Sans Serif"/>
            </a:endParaRPr>
          </a:p>
        </p:txBody>
      </p:sp>
      <p:sp>
        <p:nvSpPr>
          <p:cNvPr id="19" name="object 19"/>
          <p:cNvSpPr txBox="1"/>
          <p:nvPr/>
        </p:nvSpPr>
        <p:spPr>
          <a:xfrm>
            <a:off x="4157257" y="3675902"/>
            <a:ext cx="1231900" cy="1095375"/>
          </a:xfrm>
          <a:prstGeom prst="rect">
            <a:avLst/>
          </a:prstGeom>
        </p:spPr>
        <p:txBody>
          <a:bodyPr vert="horz" wrap="square" lIns="0" tIns="12065" rIns="0" bIns="0" rtlCol="0">
            <a:spAutoFit/>
          </a:bodyPr>
          <a:lstStyle/>
          <a:p>
            <a:pPr marL="12700" marR="5080">
              <a:lnSpc>
                <a:spcPct val="159500"/>
              </a:lnSpc>
              <a:spcBef>
                <a:spcPts val="95"/>
              </a:spcBef>
            </a:pPr>
            <a:r>
              <a:rPr sz="2200" spc="235" dirty="0">
                <a:latin typeface="Calibri"/>
                <a:cs typeface="Calibri"/>
              </a:rPr>
              <a:t>Acidic </a:t>
            </a:r>
            <a:r>
              <a:rPr sz="2200" spc="240" dirty="0">
                <a:latin typeface="Calibri"/>
                <a:cs typeface="Calibri"/>
              </a:rPr>
              <a:t> </a:t>
            </a:r>
            <a:r>
              <a:rPr sz="2200" spc="409" dirty="0">
                <a:latin typeface="Calibri"/>
                <a:cs typeface="Calibri"/>
              </a:rPr>
              <a:t>me</a:t>
            </a:r>
            <a:r>
              <a:rPr sz="2200" spc="310" dirty="0">
                <a:latin typeface="Calibri"/>
                <a:cs typeface="Calibri"/>
              </a:rPr>
              <a:t>d</a:t>
            </a:r>
            <a:r>
              <a:rPr sz="2200" spc="114" dirty="0">
                <a:latin typeface="Calibri"/>
                <a:cs typeface="Calibri"/>
              </a:rPr>
              <a:t>i</a:t>
            </a:r>
            <a:r>
              <a:rPr sz="2200" spc="310" dirty="0">
                <a:latin typeface="Calibri"/>
                <a:cs typeface="Calibri"/>
              </a:rPr>
              <a:t>u</a:t>
            </a:r>
            <a:r>
              <a:rPr sz="2200" spc="505" dirty="0">
                <a:latin typeface="Calibri"/>
                <a:cs typeface="Calibri"/>
              </a:rPr>
              <a:t>m</a:t>
            </a:r>
            <a:endParaRPr sz="2200">
              <a:latin typeface="Calibri"/>
              <a:cs typeface="Calibri"/>
            </a:endParaRPr>
          </a:p>
        </p:txBody>
      </p:sp>
      <p:sp>
        <p:nvSpPr>
          <p:cNvPr id="20" name="object 20"/>
          <p:cNvSpPr txBox="1"/>
          <p:nvPr/>
        </p:nvSpPr>
        <p:spPr>
          <a:xfrm>
            <a:off x="6519167" y="3224801"/>
            <a:ext cx="424180" cy="309880"/>
          </a:xfrm>
          <a:prstGeom prst="rect">
            <a:avLst/>
          </a:prstGeom>
        </p:spPr>
        <p:txBody>
          <a:bodyPr vert="horz" wrap="square" lIns="0" tIns="14605" rIns="0" bIns="0" rtlCol="0">
            <a:spAutoFit/>
          </a:bodyPr>
          <a:lstStyle/>
          <a:p>
            <a:pPr marL="12700">
              <a:lnSpc>
                <a:spcPct val="100000"/>
              </a:lnSpc>
              <a:spcBef>
                <a:spcPts val="115"/>
              </a:spcBef>
            </a:pPr>
            <a:r>
              <a:rPr sz="1850" spc="180" dirty="0">
                <a:latin typeface="Microsoft Sans Serif"/>
                <a:cs typeface="Microsoft Sans Serif"/>
              </a:rPr>
              <a:t>NH</a:t>
            </a:r>
            <a:endParaRPr sz="1850">
              <a:latin typeface="Microsoft Sans Serif"/>
              <a:cs typeface="Microsoft Sans Serif"/>
            </a:endParaRPr>
          </a:p>
        </p:txBody>
      </p:sp>
      <p:sp>
        <p:nvSpPr>
          <p:cNvPr id="21" name="object 21"/>
          <p:cNvSpPr txBox="1"/>
          <p:nvPr/>
        </p:nvSpPr>
        <p:spPr>
          <a:xfrm>
            <a:off x="6956762" y="3342458"/>
            <a:ext cx="158115" cy="249554"/>
          </a:xfrm>
          <a:prstGeom prst="rect">
            <a:avLst/>
          </a:prstGeom>
        </p:spPr>
        <p:txBody>
          <a:bodyPr vert="horz" wrap="square" lIns="0" tIns="14604" rIns="0" bIns="0" rtlCol="0">
            <a:spAutoFit/>
          </a:bodyPr>
          <a:lstStyle/>
          <a:p>
            <a:pPr marL="12700">
              <a:lnSpc>
                <a:spcPct val="100000"/>
              </a:lnSpc>
              <a:spcBef>
                <a:spcPts val="114"/>
              </a:spcBef>
            </a:pPr>
            <a:r>
              <a:rPr sz="1450" spc="229" dirty="0">
                <a:latin typeface="Microsoft Sans Serif"/>
                <a:cs typeface="Microsoft Sans Serif"/>
              </a:rPr>
              <a:t>3</a:t>
            </a:r>
            <a:endParaRPr sz="1450">
              <a:latin typeface="Microsoft Sans Serif"/>
              <a:cs typeface="Microsoft Sans Serif"/>
            </a:endParaRPr>
          </a:p>
        </p:txBody>
      </p:sp>
      <p:sp>
        <p:nvSpPr>
          <p:cNvPr id="22" name="object 22"/>
          <p:cNvSpPr txBox="1"/>
          <p:nvPr/>
        </p:nvSpPr>
        <p:spPr>
          <a:xfrm>
            <a:off x="7068260" y="3066891"/>
            <a:ext cx="593725" cy="309880"/>
          </a:xfrm>
          <a:prstGeom prst="rect">
            <a:avLst/>
          </a:prstGeom>
        </p:spPr>
        <p:txBody>
          <a:bodyPr vert="horz" wrap="square" lIns="0" tIns="14605" rIns="0" bIns="0" rtlCol="0">
            <a:spAutoFit/>
          </a:bodyPr>
          <a:lstStyle/>
          <a:p>
            <a:pPr marL="38100">
              <a:lnSpc>
                <a:spcPct val="100000"/>
              </a:lnSpc>
              <a:spcBef>
                <a:spcPts val="115"/>
              </a:spcBef>
            </a:pPr>
            <a:r>
              <a:rPr sz="1450" spc="240" dirty="0">
                <a:latin typeface="Microsoft Sans Serif"/>
                <a:cs typeface="Microsoft Sans Serif"/>
              </a:rPr>
              <a:t>+</a:t>
            </a:r>
            <a:r>
              <a:rPr sz="2775" spc="359" baseline="-37537" dirty="0">
                <a:latin typeface="Microsoft Sans Serif"/>
                <a:cs typeface="Microsoft Sans Serif"/>
              </a:rPr>
              <a:t>Cl</a:t>
            </a:r>
            <a:r>
              <a:rPr sz="1450" spc="240" dirty="0">
                <a:latin typeface="Microsoft Sans Serif"/>
                <a:cs typeface="Microsoft Sans Serif"/>
              </a:rPr>
              <a:t>-</a:t>
            </a:r>
            <a:endParaRPr sz="1450">
              <a:latin typeface="Microsoft Sans Serif"/>
              <a:cs typeface="Microsoft Sans Serif"/>
            </a:endParaRPr>
          </a:p>
        </p:txBody>
      </p:sp>
      <p:sp>
        <p:nvSpPr>
          <p:cNvPr id="23" name="object 23"/>
          <p:cNvSpPr/>
          <p:nvPr/>
        </p:nvSpPr>
        <p:spPr>
          <a:xfrm>
            <a:off x="6130140" y="3513439"/>
            <a:ext cx="1033780" cy="1283970"/>
          </a:xfrm>
          <a:custGeom>
            <a:avLst/>
            <a:gdLst/>
            <a:ahLst/>
            <a:cxnLst/>
            <a:rect l="l" t="t" r="r" b="b"/>
            <a:pathLst>
              <a:path w="1033779" h="1283970">
                <a:moveTo>
                  <a:pt x="1033610" y="1047660"/>
                </a:moveTo>
                <a:lnTo>
                  <a:pt x="1033610" y="580310"/>
                </a:lnTo>
              </a:path>
              <a:path w="1033779" h="1283970">
                <a:moveTo>
                  <a:pt x="516506" y="349227"/>
                </a:moveTo>
                <a:lnTo>
                  <a:pt x="1033610" y="580310"/>
                </a:lnTo>
              </a:path>
              <a:path w="1033779" h="1283970">
                <a:moveTo>
                  <a:pt x="509930" y="439127"/>
                </a:moveTo>
                <a:lnTo>
                  <a:pt x="940351" y="631007"/>
                </a:lnTo>
              </a:path>
              <a:path w="1033779" h="1283970">
                <a:moveTo>
                  <a:pt x="516506" y="1283931"/>
                </a:moveTo>
                <a:lnTo>
                  <a:pt x="1033610" y="1047660"/>
                </a:lnTo>
              </a:path>
              <a:path w="1033779" h="1283970">
                <a:moveTo>
                  <a:pt x="509930" y="1194027"/>
                </a:moveTo>
                <a:lnTo>
                  <a:pt x="940351" y="1002710"/>
                </a:lnTo>
              </a:path>
              <a:path w="1033779" h="1283970">
                <a:moveTo>
                  <a:pt x="0" y="580310"/>
                </a:moveTo>
                <a:lnTo>
                  <a:pt x="516506" y="349227"/>
                </a:lnTo>
              </a:path>
              <a:path w="1033779" h="1283970">
                <a:moveTo>
                  <a:pt x="0" y="1047660"/>
                </a:moveTo>
                <a:lnTo>
                  <a:pt x="516506" y="1283931"/>
                </a:lnTo>
              </a:path>
              <a:path w="1033779" h="1283970">
                <a:moveTo>
                  <a:pt x="0" y="1047660"/>
                </a:moveTo>
                <a:lnTo>
                  <a:pt x="0" y="580310"/>
                </a:lnTo>
              </a:path>
              <a:path w="1033779" h="1283970">
                <a:moveTo>
                  <a:pt x="100730" y="1007895"/>
                </a:moveTo>
                <a:lnTo>
                  <a:pt x="100730" y="619488"/>
                </a:lnTo>
              </a:path>
              <a:path w="1033779" h="1283970">
                <a:moveTo>
                  <a:pt x="516506" y="349227"/>
                </a:moveTo>
                <a:lnTo>
                  <a:pt x="516506" y="0"/>
                </a:lnTo>
              </a:path>
            </a:pathLst>
          </a:custGeom>
          <a:ln w="19042">
            <a:solidFill>
              <a:srgbClr val="000000"/>
            </a:solidFill>
          </a:ln>
        </p:spPr>
        <p:txBody>
          <a:bodyPr wrap="square" lIns="0" tIns="0" rIns="0" bIns="0" rtlCol="0"/>
          <a:lstStyle/>
          <a:p>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861934" y="524255"/>
            <a:ext cx="3714750" cy="660400"/>
            <a:chOff x="2861934" y="524255"/>
            <a:chExt cx="3714750" cy="660400"/>
          </a:xfrm>
        </p:grpSpPr>
        <p:pic>
          <p:nvPicPr>
            <p:cNvPr id="3" name="object 3"/>
            <p:cNvPicPr/>
            <p:nvPr/>
          </p:nvPicPr>
          <p:blipFill>
            <a:blip r:embed="rId2" cstate="print"/>
            <a:stretch>
              <a:fillRect/>
            </a:stretch>
          </p:blipFill>
          <p:spPr>
            <a:xfrm>
              <a:off x="2861934" y="762550"/>
              <a:ext cx="2367048" cy="407849"/>
            </a:xfrm>
            <a:prstGeom prst="rect">
              <a:avLst/>
            </a:prstGeom>
          </p:spPr>
        </p:pic>
        <p:pic>
          <p:nvPicPr>
            <p:cNvPr id="4" name="object 4"/>
            <p:cNvPicPr/>
            <p:nvPr/>
          </p:nvPicPr>
          <p:blipFill>
            <a:blip r:embed="rId3" cstate="print"/>
            <a:stretch>
              <a:fillRect/>
            </a:stretch>
          </p:blipFill>
          <p:spPr>
            <a:xfrm>
              <a:off x="5049011" y="524255"/>
              <a:ext cx="1527047" cy="659891"/>
            </a:xfrm>
            <a:prstGeom prst="rect">
              <a:avLst/>
            </a:prstGeom>
          </p:spPr>
        </p:pic>
      </p:grpSp>
      <p:sp>
        <p:nvSpPr>
          <p:cNvPr id="5" name="object 5"/>
          <p:cNvSpPr txBox="1">
            <a:spLocks noGrp="1"/>
          </p:cNvSpPr>
          <p:nvPr>
            <p:ph type="title"/>
          </p:nvPr>
        </p:nvSpPr>
        <p:spPr>
          <a:xfrm>
            <a:off x="2841117" y="627126"/>
            <a:ext cx="3461385" cy="513715"/>
          </a:xfrm>
          <a:prstGeom prst="rect">
            <a:avLst/>
          </a:prstGeom>
        </p:spPr>
        <p:txBody>
          <a:bodyPr vert="horz" wrap="square" lIns="0" tIns="13335" rIns="0" bIns="0" rtlCol="0">
            <a:spAutoFit/>
          </a:bodyPr>
          <a:lstStyle/>
          <a:p>
            <a:pPr marL="12700">
              <a:lnSpc>
                <a:spcPct val="100000"/>
              </a:lnSpc>
              <a:spcBef>
                <a:spcPts val="105"/>
              </a:spcBef>
            </a:pPr>
            <a:r>
              <a:rPr sz="3200" dirty="0">
                <a:solidFill>
                  <a:srgbClr val="C00000"/>
                </a:solidFill>
                <a:latin typeface="Times New Roman"/>
                <a:cs typeface="Times New Roman"/>
              </a:rPr>
              <a:t>Hyperchromic</a:t>
            </a:r>
            <a:r>
              <a:rPr sz="3200" spc="-100" dirty="0">
                <a:solidFill>
                  <a:srgbClr val="C00000"/>
                </a:solidFill>
                <a:latin typeface="Times New Roman"/>
                <a:cs typeface="Times New Roman"/>
              </a:rPr>
              <a:t> </a:t>
            </a:r>
            <a:r>
              <a:rPr sz="3200" spc="-10" dirty="0">
                <a:solidFill>
                  <a:srgbClr val="C00000"/>
                </a:solidFill>
                <a:latin typeface="Times New Roman"/>
                <a:cs typeface="Times New Roman"/>
              </a:rPr>
              <a:t>Effect</a:t>
            </a:r>
            <a:endParaRPr sz="3200">
              <a:latin typeface="Times New Roman"/>
              <a:cs typeface="Times New Roman"/>
            </a:endParaRPr>
          </a:p>
        </p:txBody>
      </p:sp>
      <p:sp>
        <p:nvSpPr>
          <p:cNvPr id="6" name="object 6"/>
          <p:cNvSpPr txBox="1"/>
          <p:nvPr/>
        </p:nvSpPr>
        <p:spPr>
          <a:xfrm>
            <a:off x="535940" y="1240281"/>
            <a:ext cx="8072120" cy="1778000"/>
          </a:xfrm>
          <a:prstGeom prst="rect">
            <a:avLst/>
          </a:prstGeom>
        </p:spPr>
        <p:txBody>
          <a:bodyPr vert="horz" wrap="square" lIns="0" tIns="85725" rIns="0" bIns="0" rtlCol="0">
            <a:spAutoFit/>
          </a:bodyPr>
          <a:lstStyle/>
          <a:p>
            <a:pPr marL="355600" marR="5080" indent="-342900">
              <a:lnSpc>
                <a:spcPts val="2400"/>
              </a:lnSpc>
              <a:spcBef>
                <a:spcPts val="675"/>
              </a:spcBef>
              <a:buClr>
                <a:srgbClr val="9BBA58"/>
              </a:buClr>
              <a:buFont typeface="Microsoft Sans Serif"/>
              <a:buChar char="•"/>
              <a:tabLst>
                <a:tab pos="354965" algn="l"/>
                <a:tab pos="355600" algn="l"/>
              </a:tabLst>
            </a:pPr>
            <a:r>
              <a:rPr sz="2500" spc="-5" dirty="0">
                <a:latin typeface="Calibri"/>
                <a:cs typeface="Calibri"/>
              </a:rPr>
              <a:t>When</a:t>
            </a:r>
            <a:r>
              <a:rPr sz="2500" spc="185" dirty="0">
                <a:latin typeface="Calibri"/>
                <a:cs typeface="Calibri"/>
              </a:rPr>
              <a:t> </a:t>
            </a:r>
            <a:r>
              <a:rPr sz="2500" spc="-5" dirty="0">
                <a:latin typeface="Calibri"/>
                <a:cs typeface="Calibri"/>
              </a:rPr>
              <a:t>absorption</a:t>
            </a:r>
            <a:r>
              <a:rPr sz="2500" spc="180" dirty="0">
                <a:latin typeface="Calibri"/>
                <a:cs typeface="Calibri"/>
              </a:rPr>
              <a:t> </a:t>
            </a:r>
            <a:r>
              <a:rPr sz="2500" spc="-10" dirty="0">
                <a:latin typeface="Calibri"/>
                <a:cs typeface="Calibri"/>
              </a:rPr>
              <a:t>intensity</a:t>
            </a:r>
            <a:r>
              <a:rPr sz="2500" spc="190" dirty="0">
                <a:latin typeface="Calibri"/>
                <a:cs typeface="Calibri"/>
              </a:rPr>
              <a:t> </a:t>
            </a:r>
            <a:r>
              <a:rPr sz="2500" spc="-5" dirty="0">
                <a:latin typeface="Calibri"/>
                <a:cs typeface="Calibri"/>
              </a:rPr>
              <a:t>(ε)</a:t>
            </a:r>
            <a:r>
              <a:rPr sz="2500" spc="175" dirty="0">
                <a:latin typeface="Calibri"/>
                <a:cs typeface="Calibri"/>
              </a:rPr>
              <a:t> </a:t>
            </a:r>
            <a:r>
              <a:rPr sz="2500" spc="-5" dirty="0">
                <a:latin typeface="Calibri"/>
                <a:cs typeface="Calibri"/>
              </a:rPr>
              <a:t>of</a:t>
            </a:r>
            <a:r>
              <a:rPr sz="2500" spc="175" dirty="0">
                <a:latin typeface="Calibri"/>
                <a:cs typeface="Calibri"/>
              </a:rPr>
              <a:t> </a:t>
            </a:r>
            <a:r>
              <a:rPr sz="2500" spc="-5" dirty="0">
                <a:latin typeface="Calibri"/>
                <a:cs typeface="Calibri"/>
              </a:rPr>
              <a:t>a</a:t>
            </a:r>
            <a:r>
              <a:rPr sz="2500" spc="200" dirty="0">
                <a:latin typeface="Calibri"/>
                <a:cs typeface="Calibri"/>
              </a:rPr>
              <a:t> </a:t>
            </a:r>
            <a:r>
              <a:rPr sz="2500" spc="-10" dirty="0">
                <a:latin typeface="Calibri"/>
                <a:cs typeface="Calibri"/>
              </a:rPr>
              <a:t>compound</a:t>
            </a:r>
            <a:r>
              <a:rPr sz="2500" spc="185" dirty="0">
                <a:latin typeface="Calibri"/>
                <a:cs typeface="Calibri"/>
              </a:rPr>
              <a:t> </a:t>
            </a:r>
            <a:r>
              <a:rPr sz="2500" spc="-5" dirty="0">
                <a:latin typeface="Calibri"/>
                <a:cs typeface="Calibri"/>
              </a:rPr>
              <a:t>is</a:t>
            </a:r>
            <a:r>
              <a:rPr sz="2500" spc="175" dirty="0">
                <a:latin typeface="Calibri"/>
                <a:cs typeface="Calibri"/>
              </a:rPr>
              <a:t> </a:t>
            </a:r>
            <a:r>
              <a:rPr sz="2500" spc="-5" dirty="0">
                <a:latin typeface="Calibri"/>
                <a:cs typeface="Calibri"/>
              </a:rPr>
              <a:t>increased, </a:t>
            </a:r>
            <a:r>
              <a:rPr sz="2500" spc="-550" dirty="0">
                <a:latin typeface="Calibri"/>
                <a:cs typeface="Calibri"/>
              </a:rPr>
              <a:t> </a:t>
            </a:r>
            <a:r>
              <a:rPr sz="2500" spc="-5" dirty="0">
                <a:latin typeface="Calibri"/>
                <a:cs typeface="Calibri"/>
              </a:rPr>
              <a:t>it</a:t>
            </a:r>
            <a:r>
              <a:rPr sz="2500" spc="-15" dirty="0">
                <a:latin typeface="Calibri"/>
                <a:cs typeface="Calibri"/>
              </a:rPr>
              <a:t> </a:t>
            </a:r>
            <a:r>
              <a:rPr sz="2500" spc="-5" dirty="0">
                <a:latin typeface="Calibri"/>
                <a:cs typeface="Calibri"/>
              </a:rPr>
              <a:t>is</a:t>
            </a:r>
            <a:r>
              <a:rPr sz="2500" spc="-10" dirty="0">
                <a:latin typeface="Calibri"/>
                <a:cs typeface="Calibri"/>
              </a:rPr>
              <a:t> </a:t>
            </a:r>
            <a:r>
              <a:rPr sz="2500" spc="-5" dirty="0">
                <a:latin typeface="Calibri"/>
                <a:cs typeface="Calibri"/>
              </a:rPr>
              <a:t>known</a:t>
            </a:r>
            <a:r>
              <a:rPr sz="2500" spc="-15" dirty="0">
                <a:latin typeface="Calibri"/>
                <a:cs typeface="Calibri"/>
              </a:rPr>
              <a:t> </a:t>
            </a:r>
            <a:r>
              <a:rPr sz="2500" spc="-5" dirty="0">
                <a:latin typeface="Calibri"/>
                <a:cs typeface="Calibri"/>
              </a:rPr>
              <a:t>as</a:t>
            </a:r>
            <a:r>
              <a:rPr sz="2500" spc="-10" dirty="0">
                <a:latin typeface="Calibri"/>
                <a:cs typeface="Calibri"/>
              </a:rPr>
              <a:t> </a:t>
            </a:r>
            <a:r>
              <a:rPr sz="2500" spc="-15" dirty="0">
                <a:latin typeface="Calibri"/>
                <a:cs typeface="Calibri"/>
              </a:rPr>
              <a:t>hyperchromic</a:t>
            </a:r>
            <a:r>
              <a:rPr sz="2500" spc="25" dirty="0">
                <a:latin typeface="Calibri"/>
                <a:cs typeface="Calibri"/>
              </a:rPr>
              <a:t> </a:t>
            </a:r>
            <a:r>
              <a:rPr sz="2500" spc="-10" dirty="0">
                <a:latin typeface="Calibri"/>
                <a:cs typeface="Calibri"/>
              </a:rPr>
              <a:t>shift.</a:t>
            </a:r>
            <a:endParaRPr sz="2500">
              <a:latin typeface="Calibri"/>
              <a:cs typeface="Calibri"/>
            </a:endParaRPr>
          </a:p>
          <a:p>
            <a:pPr>
              <a:lnSpc>
                <a:spcPct val="100000"/>
              </a:lnSpc>
              <a:buClr>
                <a:srgbClr val="9BBA58"/>
              </a:buClr>
              <a:buFont typeface="Microsoft Sans Serif"/>
              <a:buChar char="•"/>
            </a:pPr>
            <a:endParaRPr sz="2950">
              <a:latin typeface="Calibri"/>
              <a:cs typeface="Calibri"/>
            </a:endParaRPr>
          </a:p>
          <a:p>
            <a:pPr marL="355600" marR="5080" indent="-342900">
              <a:lnSpc>
                <a:spcPts val="2400"/>
              </a:lnSpc>
              <a:buClr>
                <a:srgbClr val="9BBA58"/>
              </a:buClr>
              <a:buFont typeface="Microsoft Sans Serif"/>
              <a:buChar char="•"/>
              <a:tabLst>
                <a:tab pos="354965" algn="l"/>
                <a:tab pos="355600" algn="l"/>
              </a:tabLst>
            </a:pPr>
            <a:r>
              <a:rPr sz="2500" spc="-5" dirty="0">
                <a:latin typeface="Calibri"/>
                <a:cs typeface="Calibri"/>
              </a:rPr>
              <a:t>If</a:t>
            </a:r>
            <a:r>
              <a:rPr sz="2500" dirty="0">
                <a:latin typeface="Calibri"/>
                <a:cs typeface="Calibri"/>
              </a:rPr>
              <a:t> </a:t>
            </a:r>
            <a:r>
              <a:rPr sz="2500" spc="-15" dirty="0">
                <a:latin typeface="Calibri"/>
                <a:cs typeface="Calibri"/>
              </a:rPr>
              <a:t>auxochrome</a:t>
            </a:r>
            <a:r>
              <a:rPr sz="2500" spc="20" dirty="0">
                <a:latin typeface="Calibri"/>
                <a:cs typeface="Calibri"/>
              </a:rPr>
              <a:t> </a:t>
            </a:r>
            <a:r>
              <a:rPr sz="2500" spc="-10" dirty="0">
                <a:latin typeface="Calibri"/>
                <a:cs typeface="Calibri"/>
              </a:rPr>
              <a:t>introduces</a:t>
            </a:r>
            <a:r>
              <a:rPr sz="2500" spc="10" dirty="0">
                <a:latin typeface="Calibri"/>
                <a:cs typeface="Calibri"/>
              </a:rPr>
              <a:t> </a:t>
            </a:r>
            <a:r>
              <a:rPr sz="2500" spc="-15" dirty="0">
                <a:latin typeface="Calibri"/>
                <a:cs typeface="Calibri"/>
              </a:rPr>
              <a:t>to</a:t>
            </a:r>
            <a:r>
              <a:rPr sz="2500" spc="10" dirty="0">
                <a:latin typeface="Calibri"/>
                <a:cs typeface="Calibri"/>
              </a:rPr>
              <a:t> </a:t>
            </a:r>
            <a:r>
              <a:rPr sz="2500" spc="-5" dirty="0">
                <a:latin typeface="Calibri"/>
                <a:cs typeface="Calibri"/>
              </a:rPr>
              <a:t>the</a:t>
            </a:r>
            <a:r>
              <a:rPr sz="2500" spc="10" dirty="0">
                <a:latin typeface="Calibri"/>
                <a:cs typeface="Calibri"/>
              </a:rPr>
              <a:t> </a:t>
            </a:r>
            <a:r>
              <a:rPr sz="2500" spc="-10" dirty="0">
                <a:latin typeface="Calibri"/>
                <a:cs typeface="Calibri"/>
              </a:rPr>
              <a:t>compound,</a:t>
            </a:r>
            <a:r>
              <a:rPr sz="2500" spc="10" dirty="0">
                <a:latin typeface="Calibri"/>
                <a:cs typeface="Calibri"/>
              </a:rPr>
              <a:t> </a:t>
            </a:r>
            <a:r>
              <a:rPr sz="2500" spc="-5" dirty="0">
                <a:latin typeface="Calibri"/>
                <a:cs typeface="Calibri"/>
              </a:rPr>
              <a:t>the</a:t>
            </a:r>
            <a:r>
              <a:rPr sz="2500" spc="10" dirty="0">
                <a:latin typeface="Calibri"/>
                <a:cs typeface="Calibri"/>
              </a:rPr>
              <a:t> </a:t>
            </a:r>
            <a:r>
              <a:rPr sz="2500" spc="-10" dirty="0">
                <a:latin typeface="Calibri"/>
                <a:cs typeface="Calibri"/>
              </a:rPr>
              <a:t>intensity</a:t>
            </a:r>
            <a:r>
              <a:rPr sz="2500" spc="20" dirty="0">
                <a:latin typeface="Calibri"/>
                <a:cs typeface="Calibri"/>
              </a:rPr>
              <a:t> </a:t>
            </a:r>
            <a:r>
              <a:rPr sz="2500" spc="-5" dirty="0">
                <a:latin typeface="Calibri"/>
                <a:cs typeface="Calibri"/>
              </a:rPr>
              <a:t>of </a:t>
            </a:r>
            <a:r>
              <a:rPr sz="2500" spc="-550" dirty="0">
                <a:latin typeface="Calibri"/>
                <a:cs typeface="Calibri"/>
              </a:rPr>
              <a:t> </a:t>
            </a:r>
            <a:r>
              <a:rPr sz="2500" spc="-10" dirty="0">
                <a:latin typeface="Calibri"/>
                <a:cs typeface="Calibri"/>
              </a:rPr>
              <a:t>absorption</a:t>
            </a:r>
            <a:r>
              <a:rPr sz="2500" spc="-20" dirty="0">
                <a:latin typeface="Calibri"/>
                <a:cs typeface="Calibri"/>
              </a:rPr>
              <a:t> </a:t>
            </a:r>
            <a:r>
              <a:rPr sz="2500" spc="-10" dirty="0">
                <a:latin typeface="Calibri"/>
                <a:cs typeface="Calibri"/>
              </a:rPr>
              <a:t>increases.</a:t>
            </a:r>
            <a:endParaRPr sz="2500">
              <a:latin typeface="Calibri"/>
              <a:cs typeface="Calibri"/>
            </a:endParaRPr>
          </a:p>
        </p:txBody>
      </p:sp>
      <p:sp>
        <p:nvSpPr>
          <p:cNvPr id="7" name="object 7"/>
          <p:cNvSpPr txBox="1"/>
          <p:nvPr/>
        </p:nvSpPr>
        <p:spPr>
          <a:xfrm>
            <a:off x="1244853" y="4898516"/>
            <a:ext cx="2256155" cy="1168400"/>
          </a:xfrm>
          <a:prstGeom prst="rect">
            <a:avLst/>
          </a:prstGeom>
        </p:spPr>
        <p:txBody>
          <a:bodyPr vert="horz" wrap="square" lIns="0" tIns="12065" rIns="0" bIns="0" rtlCol="0">
            <a:spAutoFit/>
          </a:bodyPr>
          <a:lstStyle/>
          <a:p>
            <a:pPr marL="1018540" indent="-342900">
              <a:lnSpc>
                <a:spcPct val="100000"/>
              </a:lnSpc>
              <a:spcBef>
                <a:spcPts val="95"/>
              </a:spcBef>
              <a:buClr>
                <a:srgbClr val="9BBA58"/>
              </a:buClr>
              <a:buFont typeface="Segoe UI Symbol"/>
              <a:buChar char="⚫"/>
              <a:tabLst>
                <a:tab pos="1017905" algn="l"/>
                <a:tab pos="1018540" algn="l"/>
              </a:tabLst>
            </a:pPr>
            <a:r>
              <a:rPr sz="2500" spc="-5" dirty="0">
                <a:latin typeface="Calibri"/>
                <a:cs typeface="Calibri"/>
              </a:rPr>
              <a:t>Pyridine</a:t>
            </a:r>
            <a:endParaRPr sz="2500">
              <a:latin typeface="Calibri"/>
              <a:cs typeface="Calibri"/>
            </a:endParaRPr>
          </a:p>
          <a:p>
            <a:pPr marL="393700" indent="-342900">
              <a:lnSpc>
                <a:spcPct val="100000"/>
              </a:lnSpc>
              <a:buClr>
                <a:srgbClr val="9BBA58"/>
              </a:buClr>
              <a:buFont typeface="Segoe UI Symbol"/>
              <a:buChar char="⚫"/>
              <a:tabLst>
                <a:tab pos="393065" algn="l"/>
                <a:tab pos="393700" algn="l"/>
              </a:tabLst>
            </a:pPr>
            <a:r>
              <a:rPr sz="2500" dirty="0">
                <a:latin typeface="Calibri"/>
                <a:cs typeface="Calibri"/>
              </a:rPr>
              <a:t>λ</a:t>
            </a:r>
            <a:r>
              <a:rPr sz="2475" baseline="-20202" dirty="0">
                <a:latin typeface="Calibri"/>
                <a:cs typeface="Calibri"/>
              </a:rPr>
              <a:t>max</a:t>
            </a:r>
            <a:r>
              <a:rPr sz="2475" spc="232" baseline="-20202" dirty="0">
                <a:latin typeface="Calibri"/>
                <a:cs typeface="Calibri"/>
              </a:rPr>
              <a:t> </a:t>
            </a:r>
            <a:r>
              <a:rPr sz="2500" spc="-5" dirty="0">
                <a:latin typeface="Calibri"/>
                <a:cs typeface="Calibri"/>
              </a:rPr>
              <a:t>=</a:t>
            </a:r>
            <a:r>
              <a:rPr sz="2500" spc="-15" dirty="0">
                <a:latin typeface="Calibri"/>
                <a:cs typeface="Calibri"/>
              </a:rPr>
              <a:t> </a:t>
            </a:r>
            <a:r>
              <a:rPr sz="2500" spc="-10" dirty="0">
                <a:latin typeface="Calibri"/>
                <a:cs typeface="Calibri"/>
              </a:rPr>
              <a:t>257</a:t>
            </a:r>
            <a:r>
              <a:rPr sz="2500" spc="-25" dirty="0">
                <a:latin typeface="Calibri"/>
                <a:cs typeface="Calibri"/>
              </a:rPr>
              <a:t> </a:t>
            </a:r>
            <a:r>
              <a:rPr sz="2500" spc="-10" dirty="0">
                <a:latin typeface="Calibri"/>
                <a:cs typeface="Calibri"/>
              </a:rPr>
              <a:t>nm</a:t>
            </a:r>
            <a:endParaRPr sz="2500">
              <a:latin typeface="Calibri"/>
              <a:cs typeface="Calibri"/>
            </a:endParaRPr>
          </a:p>
          <a:p>
            <a:pPr marL="1132840" indent="-1082040">
              <a:lnSpc>
                <a:spcPct val="100000"/>
              </a:lnSpc>
              <a:buClr>
                <a:srgbClr val="9BBA58"/>
              </a:buClr>
              <a:buFont typeface="Segoe UI Symbol"/>
              <a:buChar char="⚫"/>
              <a:tabLst>
                <a:tab pos="1132205" algn="l"/>
                <a:tab pos="1132840" algn="l"/>
              </a:tabLst>
            </a:pPr>
            <a:r>
              <a:rPr sz="2500" spc="-5" dirty="0">
                <a:latin typeface="Calibri"/>
                <a:cs typeface="Calibri"/>
              </a:rPr>
              <a:t>ε</a:t>
            </a:r>
            <a:r>
              <a:rPr sz="2500" spc="-50" dirty="0">
                <a:latin typeface="Calibri"/>
                <a:cs typeface="Calibri"/>
              </a:rPr>
              <a:t> </a:t>
            </a:r>
            <a:r>
              <a:rPr sz="2500" spc="-5" dirty="0">
                <a:latin typeface="Calibri"/>
                <a:cs typeface="Calibri"/>
              </a:rPr>
              <a:t>=</a:t>
            </a:r>
            <a:r>
              <a:rPr sz="2500" spc="-30" dirty="0">
                <a:latin typeface="Calibri"/>
                <a:cs typeface="Calibri"/>
              </a:rPr>
              <a:t> </a:t>
            </a:r>
            <a:r>
              <a:rPr sz="2500" spc="-15" dirty="0">
                <a:latin typeface="Calibri"/>
                <a:cs typeface="Calibri"/>
              </a:rPr>
              <a:t>2750</a:t>
            </a:r>
            <a:endParaRPr sz="2500">
              <a:latin typeface="Calibri"/>
              <a:cs typeface="Calibri"/>
            </a:endParaRPr>
          </a:p>
        </p:txBody>
      </p:sp>
      <p:sp>
        <p:nvSpPr>
          <p:cNvPr id="8" name="object 8"/>
          <p:cNvSpPr txBox="1"/>
          <p:nvPr/>
        </p:nvSpPr>
        <p:spPr>
          <a:xfrm>
            <a:off x="5284089" y="4223372"/>
            <a:ext cx="3081020" cy="1843405"/>
          </a:xfrm>
          <a:prstGeom prst="rect">
            <a:avLst/>
          </a:prstGeom>
        </p:spPr>
        <p:txBody>
          <a:bodyPr vert="horz" wrap="square" lIns="0" tIns="17145" rIns="0" bIns="0" rtlCol="0">
            <a:spAutoFit/>
          </a:bodyPr>
          <a:lstStyle/>
          <a:p>
            <a:pPr marL="1304925">
              <a:lnSpc>
                <a:spcPct val="100000"/>
              </a:lnSpc>
              <a:spcBef>
                <a:spcPts val="135"/>
              </a:spcBef>
              <a:tabLst>
                <a:tab pos="2302510" algn="l"/>
              </a:tabLst>
            </a:pPr>
            <a:r>
              <a:rPr sz="2250" spc="40" dirty="0">
                <a:latin typeface="Microsoft Sans Serif"/>
                <a:cs typeface="Microsoft Sans Serif"/>
              </a:rPr>
              <a:t>N	</a:t>
            </a:r>
            <a:r>
              <a:rPr sz="2250" spc="5" dirty="0">
                <a:latin typeface="Microsoft Sans Serif"/>
                <a:cs typeface="Microsoft Sans Serif"/>
              </a:rPr>
              <a:t>CH</a:t>
            </a:r>
            <a:r>
              <a:rPr sz="2700" spc="7" baseline="-20061" dirty="0">
                <a:latin typeface="Microsoft Sans Serif"/>
                <a:cs typeface="Microsoft Sans Serif"/>
              </a:rPr>
              <a:t>3</a:t>
            </a:r>
            <a:endParaRPr sz="2700" baseline="-20061">
              <a:latin typeface="Microsoft Sans Serif"/>
              <a:cs typeface="Microsoft Sans Serif"/>
            </a:endParaRPr>
          </a:p>
          <a:p>
            <a:pPr marL="50800" marR="43180" indent="701040">
              <a:lnSpc>
                <a:spcPct val="100000"/>
              </a:lnSpc>
              <a:spcBef>
                <a:spcPts val="2575"/>
              </a:spcBef>
            </a:pPr>
            <a:r>
              <a:rPr sz="2500" spc="-15" dirty="0">
                <a:latin typeface="Calibri"/>
                <a:cs typeface="Calibri"/>
              </a:rPr>
              <a:t>2-methyl</a:t>
            </a:r>
            <a:r>
              <a:rPr sz="2500" spc="-55" dirty="0">
                <a:latin typeface="Calibri"/>
                <a:cs typeface="Calibri"/>
              </a:rPr>
              <a:t> </a:t>
            </a:r>
            <a:r>
              <a:rPr sz="2500" spc="-5" dirty="0">
                <a:latin typeface="Calibri"/>
                <a:cs typeface="Calibri"/>
              </a:rPr>
              <a:t>pyridine </a:t>
            </a:r>
            <a:r>
              <a:rPr sz="2500" spc="-550" dirty="0">
                <a:latin typeface="Calibri"/>
                <a:cs typeface="Calibri"/>
              </a:rPr>
              <a:t> </a:t>
            </a:r>
            <a:r>
              <a:rPr sz="2500" dirty="0">
                <a:latin typeface="Calibri"/>
                <a:cs typeface="Calibri"/>
              </a:rPr>
              <a:t>λ</a:t>
            </a:r>
            <a:r>
              <a:rPr sz="2475" baseline="-20202" dirty="0">
                <a:latin typeface="Calibri"/>
                <a:cs typeface="Calibri"/>
              </a:rPr>
              <a:t>max</a:t>
            </a:r>
            <a:r>
              <a:rPr sz="2475" spc="270" baseline="-20202" dirty="0">
                <a:latin typeface="Calibri"/>
                <a:cs typeface="Calibri"/>
              </a:rPr>
              <a:t> </a:t>
            </a:r>
            <a:r>
              <a:rPr sz="2500" spc="-5" dirty="0">
                <a:latin typeface="Calibri"/>
                <a:cs typeface="Calibri"/>
              </a:rPr>
              <a:t>= </a:t>
            </a:r>
            <a:r>
              <a:rPr sz="2500" spc="-10" dirty="0">
                <a:latin typeface="Calibri"/>
                <a:cs typeface="Calibri"/>
              </a:rPr>
              <a:t>260 nm</a:t>
            </a:r>
            <a:endParaRPr sz="2500">
              <a:latin typeface="Calibri"/>
              <a:cs typeface="Calibri"/>
            </a:endParaRPr>
          </a:p>
          <a:p>
            <a:pPr marL="1321435">
              <a:lnSpc>
                <a:spcPct val="100000"/>
              </a:lnSpc>
              <a:spcBef>
                <a:spcPts val="5"/>
              </a:spcBef>
            </a:pPr>
            <a:r>
              <a:rPr sz="2500" spc="-5" dirty="0">
                <a:latin typeface="Calibri"/>
                <a:cs typeface="Calibri"/>
              </a:rPr>
              <a:t>ε</a:t>
            </a:r>
            <a:r>
              <a:rPr sz="2500" spc="-25" dirty="0">
                <a:latin typeface="Calibri"/>
                <a:cs typeface="Calibri"/>
              </a:rPr>
              <a:t> </a:t>
            </a:r>
            <a:r>
              <a:rPr sz="2500" spc="-5" dirty="0">
                <a:latin typeface="Calibri"/>
                <a:cs typeface="Calibri"/>
              </a:rPr>
              <a:t>=</a:t>
            </a:r>
            <a:r>
              <a:rPr sz="2500" spc="-25" dirty="0">
                <a:latin typeface="Calibri"/>
                <a:cs typeface="Calibri"/>
              </a:rPr>
              <a:t> </a:t>
            </a:r>
            <a:r>
              <a:rPr sz="2500" spc="-15" dirty="0">
                <a:latin typeface="Calibri"/>
                <a:cs typeface="Calibri"/>
              </a:rPr>
              <a:t>3560</a:t>
            </a:r>
            <a:endParaRPr sz="2500">
              <a:latin typeface="Calibri"/>
              <a:cs typeface="Calibri"/>
            </a:endParaRPr>
          </a:p>
        </p:txBody>
      </p:sp>
      <p:sp>
        <p:nvSpPr>
          <p:cNvPr id="10" name="object 10"/>
          <p:cNvSpPr txBox="1"/>
          <p:nvPr/>
        </p:nvSpPr>
        <p:spPr>
          <a:xfrm>
            <a:off x="2585281" y="4250676"/>
            <a:ext cx="237490" cy="374015"/>
          </a:xfrm>
          <a:prstGeom prst="rect">
            <a:avLst/>
          </a:prstGeom>
        </p:spPr>
        <p:txBody>
          <a:bodyPr vert="horz" wrap="square" lIns="0" tIns="17145" rIns="0" bIns="0" rtlCol="0">
            <a:spAutoFit/>
          </a:bodyPr>
          <a:lstStyle/>
          <a:p>
            <a:pPr marL="12700">
              <a:lnSpc>
                <a:spcPct val="100000"/>
              </a:lnSpc>
              <a:spcBef>
                <a:spcPts val="135"/>
              </a:spcBef>
            </a:pPr>
            <a:r>
              <a:rPr sz="2250" spc="40" dirty="0">
                <a:latin typeface="Microsoft Sans Serif"/>
                <a:cs typeface="Microsoft Sans Serif"/>
              </a:rPr>
              <a:t>N</a:t>
            </a:r>
            <a:endParaRPr sz="2250">
              <a:latin typeface="Microsoft Sans Serif"/>
              <a:cs typeface="Microsoft Sans Serif"/>
            </a:endParaRPr>
          </a:p>
        </p:txBody>
      </p:sp>
      <p:sp>
        <p:nvSpPr>
          <p:cNvPr id="11" name="object 11"/>
          <p:cNvSpPr/>
          <p:nvPr/>
        </p:nvSpPr>
        <p:spPr>
          <a:xfrm>
            <a:off x="2209527" y="3304141"/>
            <a:ext cx="998855" cy="1077595"/>
          </a:xfrm>
          <a:custGeom>
            <a:avLst/>
            <a:gdLst/>
            <a:ahLst/>
            <a:cxnLst/>
            <a:rect l="l" t="t" r="r" b="b"/>
            <a:pathLst>
              <a:path w="998855" h="1077595">
                <a:moveTo>
                  <a:pt x="998396" y="863222"/>
                </a:moveTo>
                <a:lnTo>
                  <a:pt x="998396" y="289859"/>
                </a:lnTo>
              </a:path>
              <a:path w="998855" h="1077595">
                <a:moveTo>
                  <a:pt x="499553" y="0"/>
                </a:moveTo>
                <a:lnTo>
                  <a:pt x="998396" y="289859"/>
                </a:lnTo>
              </a:path>
              <a:path w="998855" h="1077595">
                <a:moveTo>
                  <a:pt x="492482" y="109929"/>
                </a:moveTo>
                <a:lnTo>
                  <a:pt x="907820" y="345152"/>
                </a:lnTo>
              </a:path>
              <a:path w="998855" h="1077595">
                <a:moveTo>
                  <a:pt x="624077" y="1077467"/>
                </a:moveTo>
                <a:lnTo>
                  <a:pt x="998396" y="863222"/>
                </a:lnTo>
              </a:path>
              <a:path w="998855" h="1077595">
                <a:moveTo>
                  <a:pt x="554744" y="1001140"/>
                </a:moveTo>
                <a:lnTo>
                  <a:pt x="907820" y="800918"/>
                </a:lnTo>
              </a:path>
              <a:path w="998855" h="1077595">
                <a:moveTo>
                  <a:pt x="0" y="289859"/>
                </a:moveTo>
                <a:lnTo>
                  <a:pt x="499553" y="0"/>
                </a:lnTo>
              </a:path>
              <a:path w="998855" h="1077595">
                <a:moveTo>
                  <a:pt x="0" y="863222"/>
                </a:moveTo>
                <a:lnTo>
                  <a:pt x="360858" y="1063473"/>
                </a:lnTo>
              </a:path>
              <a:path w="998855" h="1077595">
                <a:moveTo>
                  <a:pt x="0" y="863222"/>
                </a:moveTo>
                <a:lnTo>
                  <a:pt x="0" y="289859"/>
                </a:lnTo>
              </a:path>
              <a:path w="998855" h="1077595">
                <a:moveTo>
                  <a:pt x="97647" y="814912"/>
                </a:moveTo>
                <a:lnTo>
                  <a:pt x="97647" y="338140"/>
                </a:lnTo>
              </a:path>
            </a:pathLst>
          </a:custGeom>
          <a:ln w="20432">
            <a:solidFill>
              <a:srgbClr val="000000"/>
            </a:solidFill>
          </a:ln>
        </p:spPr>
        <p:txBody>
          <a:bodyPr wrap="square" lIns="0" tIns="0" rIns="0" bIns="0" rtlCol="0"/>
          <a:lstStyle/>
          <a:p>
            <a:endParaRPr/>
          </a:p>
        </p:txBody>
      </p:sp>
      <p:sp>
        <p:nvSpPr>
          <p:cNvPr id="12" name="object 12"/>
          <p:cNvSpPr/>
          <p:nvPr/>
        </p:nvSpPr>
        <p:spPr>
          <a:xfrm>
            <a:off x="6201013" y="3276152"/>
            <a:ext cx="1358900" cy="1077595"/>
          </a:xfrm>
          <a:custGeom>
            <a:avLst/>
            <a:gdLst/>
            <a:ahLst/>
            <a:cxnLst/>
            <a:rect l="l" t="t" r="r" b="b"/>
            <a:pathLst>
              <a:path w="1358900" h="1077595">
                <a:moveTo>
                  <a:pt x="998319" y="863222"/>
                </a:moveTo>
                <a:lnTo>
                  <a:pt x="998319" y="289830"/>
                </a:lnTo>
              </a:path>
              <a:path w="1358900" h="1077595">
                <a:moveTo>
                  <a:pt x="498728" y="0"/>
                </a:moveTo>
                <a:lnTo>
                  <a:pt x="998319" y="289830"/>
                </a:lnTo>
              </a:path>
              <a:path w="1358900" h="1077595">
                <a:moveTo>
                  <a:pt x="492404" y="110614"/>
                </a:moveTo>
                <a:lnTo>
                  <a:pt x="907771" y="345152"/>
                </a:lnTo>
              </a:path>
              <a:path w="1358900" h="1077595">
                <a:moveTo>
                  <a:pt x="624057" y="1077439"/>
                </a:moveTo>
                <a:lnTo>
                  <a:pt x="998319" y="863222"/>
                </a:lnTo>
              </a:path>
              <a:path w="1358900" h="1077595">
                <a:moveTo>
                  <a:pt x="554781" y="1001824"/>
                </a:moveTo>
                <a:lnTo>
                  <a:pt x="907771" y="801602"/>
                </a:lnTo>
              </a:path>
              <a:path w="1358900" h="1077595">
                <a:moveTo>
                  <a:pt x="0" y="289830"/>
                </a:moveTo>
                <a:lnTo>
                  <a:pt x="498728" y="0"/>
                </a:lnTo>
              </a:path>
              <a:path w="1358900" h="1077595">
                <a:moveTo>
                  <a:pt x="0" y="863222"/>
                </a:moveTo>
                <a:lnTo>
                  <a:pt x="360751" y="1063444"/>
                </a:lnTo>
              </a:path>
              <a:path w="1358900" h="1077595">
                <a:moveTo>
                  <a:pt x="0" y="863222"/>
                </a:moveTo>
                <a:lnTo>
                  <a:pt x="0" y="289830"/>
                </a:lnTo>
              </a:path>
              <a:path w="1358900" h="1077595">
                <a:moveTo>
                  <a:pt x="96871" y="814912"/>
                </a:moveTo>
                <a:lnTo>
                  <a:pt x="96871" y="338824"/>
                </a:lnTo>
              </a:path>
              <a:path w="1358900" h="1077595">
                <a:moveTo>
                  <a:pt x="998319" y="863222"/>
                </a:moveTo>
                <a:lnTo>
                  <a:pt x="1358495" y="1070456"/>
                </a:lnTo>
              </a:path>
            </a:pathLst>
          </a:custGeom>
          <a:ln w="20432">
            <a:solidFill>
              <a:srgbClr val="000000"/>
            </a:solidFill>
          </a:ln>
        </p:spPr>
        <p:txBody>
          <a:bodyPr wrap="square" lIns="0" tIns="0" rIns="0" bIns="0" rtlCol="0"/>
          <a:lstStyle/>
          <a:p>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712577" y="288036"/>
            <a:ext cx="4046854" cy="741045"/>
            <a:chOff x="2712577" y="288036"/>
            <a:chExt cx="4046854" cy="741045"/>
          </a:xfrm>
        </p:grpSpPr>
        <p:pic>
          <p:nvPicPr>
            <p:cNvPr id="3" name="object 3"/>
            <p:cNvPicPr/>
            <p:nvPr/>
          </p:nvPicPr>
          <p:blipFill>
            <a:blip r:embed="rId2" cstate="print"/>
            <a:stretch>
              <a:fillRect/>
            </a:stretch>
          </p:blipFill>
          <p:spPr>
            <a:xfrm>
              <a:off x="2712577" y="557784"/>
              <a:ext cx="2527080" cy="457200"/>
            </a:xfrm>
            <a:prstGeom prst="rect">
              <a:avLst/>
            </a:prstGeom>
          </p:spPr>
        </p:pic>
        <p:pic>
          <p:nvPicPr>
            <p:cNvPr id="4" name="object 4"/>
            <p:cNvPicPr/>
            <p:nvPr/>
          </p:nvPicPr>
          <p:blipFill>
            <a:blip r:embed="rId3" cstate="print"/>
            <a:stretch>
              <a:fillRect/>
            </a:stretch>
          </p:blipFill>
          <p:spPr>
            <a:xfrm>
              <a:off x="5047488" y="288036"/>
              <a:ext cx="1711452" cy="740664"/>
            </a:xfrm>
            <a:prstGeom prst="rect">
              <a:avLst/>
            </a:prstGeom>
          </p:spPr>
        </p:pic>
      </p:grpSp>
      <p:sp>
        <p:nvSpPr>
          <p:cNvPr id="5" name="object 5"/>
          <p:cNvSpPr txBox="1">
            <a:spLocks noGrp="1"/>
          </p:cNvSpPr>
          <p:nvPr>
            <p:ph type="title"/>
          </p:nvPr>
        </p:nvSpPr>
        <p:spPr>
          <a:xfrm>
            <a:off x="2691764" y="406730"/>
            <a:ext cx="3763645" cy="574675"/>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C00000"/>
                </a:solidFill>
                <a:latin typeface="Times New Roman"/>
                <a:cs typeface="Times New Roman"/>
              </a:rPr>
              <a:t>Hypochromic</a:t>
            </a:r>
            <a:r>
              <a:rPr sz="3600" spc="-45" dirty="0">
                <a:solidFill>
                  <a:srgbClr val="C00000"/>
                </a:solidFill>
                <a:latin typeface="Times New Roman"/>
                <a:cs typeface="Times New Roman"/>
              </a:rPr>
              <a:t> </a:t>
            </a:r>
            <a:r>
              <a:rPr sz="3600" spc="-10" dirty="0">
                <a:solidFill>
                  <a:srgbClr val="C00000"/>
                </a:solidFill>
                <a:latin typeface="Times New Roman"/>
                <a:cs typeface="Times New Roman"/>
              </a:rPr>
              <a:t>Effect</a:t>
            </a:r>
            <a:endParaRPr sz="3600">
              <a:latin typeface="Times New Roman"/>
              <a:cs typeface="Times New Roman"/>
            </a:endParaRPr>
          </a:p>
        </p:txBody>
      </p:sp>
      <p:sp>
        <p:nvSpPr>
          <p:cNvPr id="6" name="object 6"/>
          <p:cNvSpPr txBox="1"/>
          <p:nvPr/>
        </p:nvSpPr>
        <p:spPr>
          <a:xfrm>
            <a:off x="535940" y="1558797"/>
            <a:ext cx="8070850" cy="953135"/>
          </a:xfrm>
          <a:prstGeom prst="rect">
            <a:avLst/>
          </a:prstGeom>
        </p:spPr>
        <p:txBody>
          <a:bodyPr vert="horz" wrap="square" lIns="0" tIns="67945" rIns="0" bIns="0" rtlCol="0">
            <a:spAutoFit/>
          </a:bodyPr>
          <a:lstStyle/>
          <a:p>
            <a:pPr marL="355600" marR="5080" indent="-342900">
              <a:lnSpc>
                <a:spcPts val="3460"/>
              </a:lnSpc>
              <a:spcBef>
                <a:spcPts val="535"/>
              </a:spcBef>
              <a:buClr>
                <a:srgbClr val="9BBA58"/>
              </a:buClr>
              <a:buFont typeface="Microsoft Sans Serif"/>
              <a:buChar char="•"/>
              <a:tabLst>
                <a:tab pos="354965" algn="l"/>
                <a:tab pos="355600" algn="l"/>
              </a:tabLst>
            </a:pPr>
            <a:r>
              <a:rPr sz="3200" dirty="0">
                <a:latin typeface="Calibri"/>
                <a:cs typeface="Calibri"/>
              </a:rPr>
              <a:t>When</a:t>
            </a:r>
            <a:r>
              <a:rPr sz="3200" spc="240" dirty="0">
                <a:latin typeface="Calibri"/>
                <a:cs typeface="Calibri"/>
              </a:rPr>
              <a:t> </a:t>
            </a:r>
            <a:r>
              <a:rPr sz="3200" spc="-5" dirty="0">
                <a:latin typeface="Calibri"/>
                <a:cs typeface="Calibri"/>
              </a:rPr>
              <a:t>absorption</a:t>
            </a:r>
            <a:r>
              <a:rPr sz="3200" spc="270" dirty="0">
                <a:latin typeface="Calibri"/>
                <a:cs typeface="Calibri"/>
              </a:rPr>
              <a:t> </a:t>
            </a:r>
            <a:r>
              <a:rPr sz="3200" spc="-10" dirty="0">
                <a:latin typeface="Calibri"/>
                <a:cs typeface="Calibri"/>
              </a:rPr>
              <a:t>intensity</a:t>
            </a:r>
            <a:r>
              <a:rPr sz="3200" spc="260" dirty="0">
                <a:latin typeface="Calibri"/>
                <a:cs typeface="Calibri"/>
              </a:rPr>
              <a:t> </a:t>
            </a:r>
            <a:r>
              <a:rPr sz="3200" dirty="0">
                <a:latin typeface="Calibri"/>
                <a:cs typeface="Calibri"/>
              </a:rPr>
              <a:t>(ε)</a:t>
            </a:r>
            <a:r>
              <a:rPr sz="3200" spc="245" dirty="0">
                <a:latin typeface="Calibri"/>
                <a:cs typeface="Calibri"/>
              </a:rPr>
              <a:t> </a:t>
            </a:r>
            <a:r>
              <a:rPr sz="3200" dirty="0">
                <a:latin typeface="Calibri"/>
                <a:cs typeface="Calibri"/>
              </a:rPr>
              <a:t>of</a:t>
            </a:r>
            <a:r>
              <a:rPr sz="3200" spc="240" dirty="0">
                <a:latin typeface="Calibri"/>
                <a:cs typeface="Calibri"/>
              </a:rPr>
              <a:t> </a:t>
            </a:r>
            <a:r>
              <a:rPr sz="3200" dirty="0">
                <a:latin typeface="Calibri"/>
                <a:cs typeface="Calibri"/>
              </a:rPr>
              <a:t>a</a:t>
            </a:r>
            <a:r>
              <a:rPr sz="3200" spc="260" dirty="0">
                <a:latin typeface="Calibri"/>
                <a:cs typeface="Calibri"/>
              </a:rPr>
              <a:t> </a:t>
            </a:r>
            <a:r>
              <a:rPr sz="3200" spc="-5" dirty="0">
                <a:latin typeface="Calibri"/>
                <a:cs typeface="Calibri"/>
              </a:rPr>
              <a:t>compound </a:t>
            </a:r>
            <a:r>
              <a:rPr sz="3200" spc="-705" dirty="0">
                <a:latin typeface="Calibri"/>
                <a:cs typeface="Calibri"/>
              </a:rPr>
              <a:t> </a:t>
            </a:r>
            <a:r>
              <a:rPr sz="3200" spc="-5" dirty="0">
                <a:latin typeface="Calibri"/>
                <a:cs typeface="Calibri"/>
              </a:rPr>
              <a:t>is</a:t>
            </a:r>
            <a:r>
              <a:rPr sz="3200" spc="-10" dirty="0">
                <a:latin typeface="Calibri"/>
                <a:cs typeface="Calibri"/>
              </a:rPr>
              <a:t> </a:t>
            </a:r>
            <a:r>
              <a:rPr sz="3200" spc="-5" dirty="0">
                <a:latin typeface="Calibri"/>
                <a:cs typeface="Calibri"/>
              </a:rPr>
              <a:t>decreased,</a:t>
            </a:r>
            <a:r>
              <a:rPr sz="3200" spc="-15" dirty="0">
                <a:latin typeface="Calibri"/>
                <a:cs typeface="Calibri"/>
              </a:rPr>
              <a:t> </a:t>
            </a:r>
            <a:r>
              <a:rPr sz="3200" spc="-5" dirty="0">
                <a:latin typeface="Calibri"/>
                <a:cs typeface="Calibri"/>
              </a:rPr>
              <a:t>it</a:t>
            </a:r>
            <a:r>
              <a:rPr sz="3200" spc="15" dirty="0">
                <a:latin typeface="Calibri"/>
                <a:cs typeface="Calibri"/>
              </a:rPr>
              <a:t> </a:t>
            </a:r>
            <a:r>
              <a:rPr sz="3200" spc="-5" dirty="0">
                <a:latin typeface="Calibri"/>
                <a:cs typeface="Calibri"/>
              </a:rPr>
              <a:t>is</a:t>
            </a:r>
            <a:r>
              <a:rPr sz="3200" spc="5" dirty="0">
                <a:latin typeface="Calibri"/>
                <a:cs typeface="Calibri"/>
              </a:rPr>
              <a:t> </a:t>
            </a:r>
            <a:r>
              <a:rPr sz="3200" spc="-5" dirty="0">
                <a:latin typeface="Calibri"/>
                <a:cs typeface="Calibri"/>
              </a:rPr>
              <a:t>known</a:t>
            </a:r>
            <a:r>
              <a:rPr sz="3200" spc="-10" dirty="0">
                <a:latin typeface="Calibri"/>
                <a:cs typeface="Calibri"/>
              </a:rPr>
              <a:t> </a:t>
            </a:r>
            <a:r>
              <a:rPr sz="3200" dirty="0">
                <a:latin typeface="Calibri"/>
                <a:cs typeface="Calibri"/>
              </a:rPr>
              <a:t>as</a:t>
            </a:r>
            <a:r>
              <a:rPr sz="3200" spc="5" dirty="0">
                <a:latin typeface="Calibri"/>
                <a:cs typeface="Calibri"/>
              </a:rPr>
              <a:t> </a:t>
            </a:r>
            <a:r>
              <a:rPr sz="3200" spc="-15" dirty="0">
                <a:latin typeface="Calibri"/>
                <a:cs typeface="Calibri"/>
              </a:rPr>
              <a:t>hypochromic</a:t>
            </a:r>
            <a:r>
              <a:rPr sz="3200" spc="5" dirty="0">
                <a:latin typeface="Calibri"/>
                <a:cs typeface="Calibri"/>
              </a:rPr>
              <a:t> </a:t>
            </a:r>
            <a:r>
              <a:rPr sz="3200" spc="-10" dirty="0">
                <a:latin typeface="Calibri"/>
                <a:cs typeface="Calibri"/>
              </a:rPr>
              <a:t>shift.</a:t>
            </a:r>
            <a:endParaRPr sz="3200">
              <a:latin typeface="Calibri"/>
              <a:cs typeface="Calibri"/>
            </a:endParaRPr>
          </a:p>
        </p:txBody>
      </p:sp>
      <p:sp>
        <p:nvSpPr>
          <p:cNvPr id="7" name="object 7"/>
          <p:cNvSpPr txBox="1"/>
          <p:nvPr/>
        </p:nvSpPr>
        <p:spPr>
          <a:xfrm>
            <a:off x="1282953" y="4632437"/>
            <a:ext cx="2707640" cy="1099185"/>
          </a:xfrm>
          <a:prstGeom prst="rect">
            <a:avLst/>
          </a:prstGeom>
        </p:spPr>
        <p:txBody>
          <a:bodyPr vert="horz" wrap="square" lIns="0" tIns="60960" rIns="0" bIns="0" rtlCol="0">
            <a:spAutoFit/>
          </a:bodyPr>
          <a:lstStyle/>
          <a:p>
            <a:pPr marL="428625" indent="-343535">
              <a:lnSpc>
                <a:spcPct val="100000"/>
              </a:lnSpc>
              <a:spcBef>
                <a:spcPts val="480"/>
              </a:spcBef>
              <a:buClr>
                <a:srgbClr val="9BBA58"/>
              </a:buClr>
              <a:buFont typeface="Segoe UI Symbol"/>
              <a:buChar char="⚫"/>
              <a:tabLst>
                <a:tab pos="429259" algn="l"/>
              </a:tabLst>
            </a:pPr>
            <a:r>
              <a:rPr sz="3200" spc="-5" dirty="0">
                <a:latin typeface="Calibri"/>
                <a:cs typeface="Calibri"/>
              </a:rPr>
              <a:t>Naphthalene</a:t>
            </a:r>
            <a:endParaRPr sz="3200">
              <a:latin typeface="Calibri"/>
              <a:cs typeface="Calibri"/>
            </a:endParaRPr>
          </a:p>
          <a:p>
            <a:pPr marL="1094740" indent="-1082040">
              <a:lnSpc>
                <a:spcPct val="100000"/>
              </a:lnSpc>
              <a:spcBef>
                <a:spcPts val="390"/>
              </a:spcBef>
              <a:buClr>
                <a:srgbClr val="9BBA58"/>
              </a:buClr>
              <a:buFont typeface="Segoe UI Symbol"/>
              <a:buChar char="⚫"/>
              <a:tabLst>
                <a:tab pos="1094105" algn="l"/>
                <a:tab pos="1094740" algn="l"/>
              </a:tabLst>
            </a:pPr>
            <a:r>
              <a:rPr sz="3200" dirty="0">
                <a:latin typeface="Calibri"/>
                <a:cs typeface="Calibri"/>
              </a:rPr>
              <a:t>ε</a:t>
            </a:r>
            <a:r>
              <a:rPr sz="3200" spc="-55" dirty="0">
                <a:latin typeface="Calibri"/>
                <a:cs typeface="Calibri"/>
              </a:rPr>
              <a:t> </a:t>
            </a:r>
            <a:r>
              <a:rPr sz="3200" dirty="0">
                <a:latin typeface="Calibri"/>
                <a:cs typeface="Calibri"/>
              </a:rPr>
              <a:t>=</a:t>
            </a:r>
            <a:r>
              <a:rPr sz="3200" spc="-30" dirty="0">
                <a:latin typeface="Calibri"/>
                <a:cs typeface="Calibri"/>
              </a:rPr>
              <a:t> </a:t>
            </a:r>
            <a:r>
              <a:rPr sz="3200" spc="-10" dirty="0">
                <a:latin typeface="Calibri"/>
                <a:cs typeface="Calibri"/>
              </a:rPr>
              <a:t>19000</a:t>
            </a:r>
            <a:endParaRPr sz="3200">
              <a:latin typeface="Calibri"/>
              <a:cs typeface="Calibri"/>
            </a:endParaRPr>
          </a:p>
        </p:txBody>
      </p:sp>
      <p:sp>
        <p:nvSpPr>
          <p:cNvPr id="8" name="object 8"/>
          <p:cNvSpPr txBox="1"/>
          <p:nvPr/>
        </p:nvSpPr>
        <p:spPr>
          <a:xfrm>
            <a:off x="4811903" y="4276399"/>
            <a:ext cx="3733165" cy="1454785"/>
          </a:xfrm>
          <a:prstGeom prst="rect">
            <a:avLst/>
          </a:prstGeom>
        </p:spPr>
        <p:txBody>
          <a:bodyPr vert="horz" wrap="square" lIns="0" tIns="40640" rIns="0" bIns="0" rtlCol="0">
            <a:spAutoFit/>
          </a:bodyPr>
          <a:lstStyle/>
          <a:p>
            <a:pPr marR="333375" algn="r">
              <a:lnSpc>
                <a:spcPct val="100000"/>
              </a:lnSpc>
              <a:spcBef>
                <a:spcPts val="320"/>
              </a:spcBef>
            </a:pPr>
            <a:r>
              <a:rPr sz="2250" spc="5" dirty="0">
                <a:latin typeface="Microsoft Sans Serif"/>
                <a:cs typeface="Microsoft Sans Serif"/>
              </a:rPr>
              <a:t>CH</a:t>
            </a:r>
            <a:r>
              <a:rPr sz="2700" spc="7" baseline="-20061" dirty="0">
                <a:latin typeface="Microsoft Sans Serif"/>
                <a:cs typeface="Microsoft Sans Serif"/>
              </a:rPr>
              <a:t>3</a:t>
            </a:r>
            <a:endParaRPr sz="2700" baseline="-20061">
              <a:latin typeface="Microsoft Sans Serif"/>
              <a:cs typeface="Microsoft Sans Serif"/>
            </a:endParaRPr>
          </a:p>
          <a:p>
            <a:pPr marL="38100">
              <a:lnSpc>
                <a:spcPct val="100000"/>
              </a:lnSpc>
              <a:spcBef>
                <a:spcPts val="265"/>
              </a:spcBef>
            </a:pPr>
            <a:r>
              <a:rPr sz="3200" spc="-10" dirty="0">
                <a:latin typeface="Calibri"/>
                <a:cs typeface="Calibri"/>
              </a:rPr>
              <a:t>2-methyl</a:t>
            </a:r>
            <a:r>
              <a:rPr sz="3200" spc="-50" dirty="0">
                <a:latin typeface="Calibri"/>
                <a:cs typeface="Calibri"/>
              </a:rPr>
              <a:t> </a:t>
            </a:r>
            <a:r>
              <a:rPr sz="3200" spc="-5" dirty="0">
                <a:latin typeface="Calibri"/>
                <a:cs typeface="Calibri"/>
              </a:rPr>
              <a:t>naphthalene</a:t>
            </a:r>
            <a:endParaRPr sz="3200">
              <a:latin typeface="Calibri"/>
              <a:cs typeface="Calibri"/>
            </a:endParaRPr>
          </a:p>
          <a:p>
            <a:pPr marL="1958339">
              <a:lnSpc>
                <a:spcPct val="100000"/>
              </a:lnSpc>
              <a:spcBef>
                <a:spcPts val="385"/>
              </a:spcBef>
            </a:pPr>
            <a:r>
              <a:rPr sz="3200" dirty="0">
                <a:latin typeface="Calibri"/>
                <a:cs typeface="Calibri"/>
              </a:rPr>
              <a:t>ε</a:t>
            </a:r>
            <a:r>
              <a:rPr sz="3200" spc="-15" dirty="0">
                <a:latin typeface="Calibri"/>
                <a:cs typeface="Calibri"/>
              </a:rPr>
              <a:t> </a:t>
            </a:r>
            <a:r>
              <a:rPr sz="3200" dirty="0">
                <a:latin typeface="Calibri"/>
                <a:cs typeface="Calibri"/>
              </a:rPr>
              <a:t>=</a:t>
            </a:r>
            <a:r>
              <a:rPr sz="3200" spc="-25" dirty="0">
                <a:latin typeface="Calibri"/>
                <a:cs typeface="Calibri"/>
              </a:rPr>
              <a:t> </a:t>
            </a:r>
            <a:r>
              <a:rPr sz="3200" spc="-10" dirty="0">
                <a:latin typeface="Calibri"/>
                <a:cs typeface="Calibri"/>
              </a:rPr>
              <a:t>10250</a:t>
            </a:r>
            <a:endParaRPr sz="3200">
              <a:latin typeface="Calibri"/>
              <a:cs typeface="Calibri"/>
            </a:endParaRPr>
          </a:p>
        </p:txBody>
      </p:sp>
      <p:sp>
        <p:nvSpPr>
          <p:cNvPr id="10" name="object 10"/>
          <p:cNvSpPr/>
          <p:nvPr/>
        </p:nvSpPr>
        <p:spPr>
          <a:xfrm>
            <a:off x="1295349" y="3380341"/>
            <a:ext cx="1992630" cy="1146175"/>
          </a:xfrm>
          <a:custGeom>
            <a:avLst/>
            <a:gdLst/>
            <a:ahLst/>
            <a:cxnLst/>
            <a:rect l="l" t="t" r="r" b="b"/>
            <a:pathLst>
              <a:path w="1992629" h="1146175">
                <a:moveTo>
                  <a:pt x="498151" y="0"/>
                </a:moveTo>
                <a:lnTo>
                  <a:pt x="996312" y="289859"/>
                </a:lnTo>
              </a:path>
              <a:path w="1992629" h="1146175">
                <a:moveTo>
                  <a:pt x="491070" y="109929"/>
                </a:moveTo>
                <a:lnTo>
                  <a:pt x="906324" y="345152"/>
                </a:lnTo>
              </a:path>
              <a:path w="1992629" h="1146175">
                <a:moveTo>
                  <a:pt x="0" y="289859"/>
                </a:moveTo>
                <a:lnTo>
                  <a:pt x="498151" y="0"/>
                </a:lnTo>
              </a:path>
              <a:path w="1992629" h="1146175">
                <a:moveTo>
                  <a:pt x="498151" y="1146076"/>
                </a:moveTo>
                <a:lnTo>
                  <a:pt x="996312" y="863222"/>
                </a:lnTo>
              </a:path>
              <a:path w="1992629" h="1146175">
                <a:moveTo>
                  <a:pt x="491070" y="1035456"/>
                </a:moveTo>
                <a:lnTo>
                  <a:pt x="906324" y="800918"/>
                </a:lnTo>
              </a:path>
              <a:path w="1992629" h="1146175">
                <a:moveTo>
                  <a:pt x="0" y="863222"/>
                </a:moveTo>
                <a:lnTo>
                  <a:pt x="498151" y="1146076"/>
                </a:lnTo>
              </a:path>
              <a:path w="1992629" h="1146175">
                <a:moveTo>
                  <a:pt x="0" y="863222"/>
                </a:moveTo>
                <a:lnTo>
                  <a:pt x="0" y="289859"/>
                </a:lnTo>
              </a:path>
              <a:path w="1992629" h="1146175">
                <a:moveTo>
                  <a:pt x="96370" y="814912"/>
                </a:moveTo>
                <a:lnTo>
                  <a:pt x="96370" y="338140"/>
                </a:lnTo>
              </a:path>
              <a:path w="1992629" h="1146175">
                <a:moveTo>
                  <a:pt x="1494444" y="0"/>
                </a:moveTo>
                <a:lnTo>
                  <a:pt x="996312" y="289859"/>
                </a:lnTo>
              </a:path>
              <a:path w="1992629" h="1146175">
                <a:moveTo>
                  <a:pt x="996312" y="863222"/>
                </a:moveTo>
                <a:lnTo>
                  <a:pt x="996312" y="289859"/>
                </a:lnTo>
              </a:path>
              <a:path w="1992629" h="1146175">
                <a:moveTo>
                  <a:pt x="1992604" y="289859"/>
                </a:moveTo>
                <a:lnTo>
                  <a:pt x="1494444" y="0"/>
                </a:lnTo>
              </a:path>
              <a:path w="1992629" h="1146175">
                <a:moveTo>
                  <a:pt x="1902616" y="345152"/>
                </a:moveTo>
                <a:lnTo>
                  <a:pt x="1487362" y="109929"/>
                </a:lnTo>
              </a:path>
              <a:path w="1992629" h="1146175">
                <a:moveTo>
                  <a:pt x="1494444" y="1146076"/>
                </a:moveTo>
                <a:lnTo>
                  <a:pt x="996312" y="863222"/>
                </a:lnTo>
              </a:path>
              <a:path w="1992629" h="1146175">
                <a:moveTo>
                  <a:pt x="1992604" y="863222"/>
                </a:moveTo>
                <a:lnTo>
                  <a:pt x="1992604" y="289859"/>
                </a:lnTo>
              </a:path>
              <a:path w="1992629" h="1146175">
                <a:moveTo>
                  <a:pt x="1992604" y="856239"/>
                </a:moveTo>
                <a:lnTo>
                  <a:pt x="1494444" y="1146076"/>
                </a:lnTo>
              </a:path>
              <a:path w="1992629" h="1146175">
                <a:moveTo>
                  <a:pt x="1902616" y="800918"/>
                </a:moveTo>
                <a:lnTo>
                  <a:pt x="1487362" y="1035456"/>
                </a:lnTo>
              </a:path>
            </a:pathLst>
          </a:custGeom>
          <a:ln w="20447">
            <a:solidFill>
              <a:srgbClr val="000000"/>
            </a:solidFill>
          </a:ln>
        </p:spPr>
        <p:txBody>
          <a:bodyPr wrap="square" lIns="0" tIns="0" rIns="0" bIns="0" rtlCol="0"/>
          <a:lstStyle/>
          <a:p>
            <a:endParaRPr/>
          </a:p>
        </p:txBody>
      </p:sp>
      <p:sp>
        <p:nvSpPr>
          <p:cNvPr id="11" name="object 11"/>
          <p:cNvSpPr/>
          <p:nvPr/>
        </p:nvSpPr>
        <p:spPr>
          <a:xfrm>
            <a:off x="5280567" y="3352352"/>
            <a:ext cx="2352040" cy="1146810"/>
          </a:xfrm>
          <a:custGeom>
            <a:avLst/>
            <a:gdLst/>
            <a:ahLst/>
            <a:cxnLst/>
            <a:rect l="l" t="t" r="r" b="b"/>
            <a:pathLst>
              <a:path w="2352040" h="1146810">
                <a:moveTo>
                  <a:pt x="498016" y="0"/>
                </a:moveTo>
                <a:lnTo>
                  <a:pt x="996321" y="289830"/>
                </a:lnTo>
              </a:path>
              <a:path w="2352040" h="1146810">
                <a:moveTo>
                  <a:pt x="491107" y="110614"/>
                </a:moveTo>
                <a:lnTo>
                  <a:pt x="906217" y="345152"/>
                </a:lnTo>
              </a:path>
              <a:path w="2352040" h="1146810">
                <a:moveTo>
                  <a:pt x="0" y="289830"/>
                </a:moveTo>
                <a:lnTo>
                  <a:pt x="498016" y="0"/>
                </a:lnTo>
              </a:path>
              <a:path w="2352040" h="1146810">
                <a:moveTo>
                  <a:pt x="498016" y="1146760"/>
                </a:moveTo>
                <a:lnTo>
                  <a:pt x="996321" y="863222"/>
                </a:lnTo>
              </a:path>
              <a:path w="2352040" h="1146810">
                <a:moveTo>
                  <a:pt x="491107" y="1036140"/>
                </a:moveTo>
                <a:lnTo>
                  <a:pt x="906217" y="801602"/>
                </a:lnTo>
              </a:path>
              <a:path w="2352040" h="1146810">
                <a:moveTo>
                  <a:pt x="0" y="863222"/>
                </a:moveTo>
                <a:lnTo>
                  <a:pt x="498016" y="1146760"/>
                </a:lnTo>
              </a:path>
              <a:path w="2352040" h="1146810">
                <a:moveTo>
                  <a:pt x="0" y="863222"/>
                </a:moveTo>
                <a:lnTo>
                  <a:pt x="0" y="289830"/>
                </a:lnTo>
              </a:path>
              <a:path w="2352040" h="1146810">
                <a:moveTo>
                  <a:pt x="96436" y="814912"/>
                </a:moveTo>
                <a:lnTo>
                  <a:pt x="96436" y="338824"/>
                </a:lnTo>
              </a:path>
              <a:path w="2352040" h="1146810">
                <a:moveTo>
                  <a:pt x="1494337" y="0"/>
                </a:moveTo>
                <a:lnTo>
                  <a:pt x="996321" y="289830"/>
                </a:lnTo>
              </a:path>
              <a:path w="2352040" h="1146810">
                <a:moveTo>
                  <a:pt x="996321" y="863222"/>
                </a:moveTo>
                <a:lnTo>
                  <a:pt x="996321" y="289830"/>
                </a:lnTo>
              </a:path>
              <a:path w="2352040" h="1146810">
                <a:moveTo>
                  <a:pt x="1992642" y="289830"/>
                </a:moveTo>
                <a:lnTo>
                  <a:pt x="1494337" y="0"/>
                </a:lnTo>
              </a:path>
              <a:path w="2352040" h="1146810">
                <a:moveTo>
                  <a:pt x="1902538" y="345152"/>
                </a:moveTo>
                <a:lnTo>
                  <a:pt x="1487428" y="110614"/>
                </a:lnTo>
              </a:path>
              <a:path w="2352040" h="1146810">
                <a:moveTo>
                  <a:pt x="1494337" y="1146760"/>
                </a:moveTo>
                <a:lnTo>
                  <a:pt x="996321" y="863222"/>
                </a:lnTo>
              </a:path>
              <a:path w="2352040" h="1146810">
                <a:moveTo>
                  <a:pt x="1992642" y="863222"/>
                </a:moveTo>
                <a:lnTo>
                  <a:pt x="1992642" y="289830"/>
                </a:lnTo>
              </a:path>
              <a:path w="2352040" h="1146810">
                <a:moveTo>
                  <a:pt x="1992642" y="856923"/>
                </a:moveTo>
                <a:lnTo>
                  <a:pt x="1494337" y="1146760"/>
                </a:lnTo>
              </a:path>
              <a:path w="2352040" h="1146810">
                <a:moveTo>
                  <a:pt x="1902538" y="801602"/>
                </a:moveTo>
                <a:lnTo>
                  <a:pt x="1487428" y="1036140"/>
                </a:lnTo>
              </a:path>
              <a:path w="2352040" h="1146810">
                <a:moveTo>
                  <a:pt x="1992642" y="863222"/>
                </a:moveTo>
                <a:lnTo>
                  <a:pt x="2351905" y="1070456"/>
                </a:lnTo>
              </a:path>
            </a:pathLst>
          </a:custGeom>
          <a:ln w="20447">
            <a:solidFill>
              <a:srgbClr val="000000"/>
            </a:solidFill>
          </a:ln>
        </p:spPr>
        <p:txBody>
          <a:bodyPr wrap="square" lIns="0" tIns="0" rIns="0" bIns="0" rtlCol="0"/>
          <a:lstStyle/>
          <a:p>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806064" y="422274"/>
            <a:ext cx="3530600" cy="635000"/>
          </a:xfrm>
          <a:prstGeom prst="rect">
            <a:avLst/>
          </a:prstGeom>
        </p:spPr>
        <p:txBody>
          <a:bodyPr vert="horz" wrap="square" lIns="0" tIns="12065" rIns="0" bIns="0" rtlCol="0">
            <a:spAutoFit/>
          </a:bodyPr>
          <a:lstStyle/>
          <a:p>
            <a:pPr marL="12700">
              <a:lnSpc>
                <a:spcPct val="100000"/>
              </a:lnSpc>
              <a:spcBef>
                <a:spcPts val="95"/>
              </a:spcBef>
            </a:pPr>
            <a:r>
              <a:rPr sz="4000" spc="-10" dirty="0">
                <a:solidFill>
                  <a:srgbClr val="C00000"/>
                </a:solidFill>
              </a:rPr>
              <a:t>Shifts</a:t>
            </a:r>
            <a:r>
              <a:rPr sz="4000" spc="-30" dirty="0">
                <a:solidFill>
                  <a:srgbClr val="C00000"/>
                </a:solidFill>
              </a:rPr>
              <a:t> </a:t>
            </a:r>
            <a:r>
              <a:rPr sz="4000" spc="-5" dirty="0">
                <a:solidFill>
                  <a:srgbClr val="C00000"/>
                </a:solidFill>
              </a:rPr>
              <a:t>and</a:t>
            </a:r>
            <a:r>
              <a:rPr sz="4000" spc="-30" dirty="0">
                <a:solidFill>
                  <a:srgbClr val="C00000"/>
                </a:solidFill>
              </a:rPr>
              <a:t> </a:t>
            </a:r>
            <a:r>
              <a:rPr sz="4000" spc="-40" dirty="0">
                <a:solidFill>
                  <a:srgbClr val="C00000"/>
                </a:solidFill>
              </a:rPr>
              <a:t>Effects</a:t>
            </a:r>
            <a:endParaRPr sz="4000"/>
          </a:p>
        </p:txBody>
      </p:sp>
      <p:pic>
        <p:nvPicPr>
          <p:cNvPr id="4" name="object 4"/>
          <p:cNvPicPr/>
          <p:nvPr/>
        </p:nvPicPr>
        <p:blipFill>
          <a:blip r:embed="rId2" cstate="print"/>
          <a:stretch>
            <a:fillRect/>
          </a:stretch>
        </p:blipFill>
        <p:spPr>
          <a:xfrm>
            <a:off x="914400" y="1219200"/>
            <a:ext cx="7162800" cy="511175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54939" y="709930"/>
            <a:ext cx="3635375" cy="330835"/>
          </a:xfrm>
          <a:prstGeom prst="rect">
            <a:avLst/>
          </a:prstGeom>
        </p:spPr>
        <p:txBody>
          <a:bodyPr vert="horz" wrap="square" lIns="0" tIns="13335" rIns="0" bIns="0" rtlCol="0">
            <a:spAutoFit/>
          </a:bodyPr>
          <a:lstStyle/>
          <a:p>
            <a:pPr marL="12700">
              <a:lnSpc>
                <a:spcPct val="100000"/>
              </a:lnSpc>
              <a:spcBef>
                <a:spcPts val="105"/>
              </a:spcBef>
            </a:pPr>
            <a:r>
              <a:rPr sz="2000" b="1" u="heavy" dirty="0">
                <a:uFill>
                  <a:solidFill>
                    <a:srgbClr val="000000"/>
                  </a:solidFill>
                </a:uFill>
                <a:latin typeface="Times New Roman"/>
                <a:cs typeface="Times New Roman"/>
              </a:rPr>
              <a:t>Double</a:t>
            </a:r>
            <a:r>
              <a:rPr sz="2000" b="1" u="heavy" spc="-35" dirty="0">
                <a:uFill>
                  <a:solidFill>
                    <a:srgbClr val="000000"/>
                  </a:solidFill>
                </a:uFill>
                <a:latin typeface="Times New Roman"/>
                <a:cs typeface="Times New Roman"/>
              </a:rPr>
              <a:t> </a:t>
            </a:r>
            <a:r>
              <a:rPr sz="2000" b="1" u="heavy" spc="-5" dirty="0">
                <a:uFill>
                  <a:solidFill>
                    <a:srgbClr val="000000"/>
                  </a:solidFill>
                </a:uFill>
                <a:latin typeface="Times New Roman"/>
                <a:cs typeface="Times New Roman"/>
              </a:rPr>
              <a:t>Beam</a:t>
            </a:r>
            <a:r>
              <a:rPr sz="2000" b="1" u="heavy" spc="5" dirty="0">
                <a:uFill>
                  <a:solidFill>
                    <a:srgbClr val="000000"/>
                  </a:solidFill>
                </a:uFill>
                <a:latin typeface="Times New Roman"/>
                <a:cs typeface="Times New Roman"/>
              </a:rPr>
              <a:t> </a:t>
            </a:r>
            <a:r>
              <a:rPr sz="2000" b="1" u="heavy" spc="-5" dirty="0">
                <a:uFill>
                  <a:solidFill>
                    <a:srgbClr val="000000"/>
                  </a:solidFill>
                </a:uFill>
                <a:latin typeface="Times New Roman"/>
                <a:cs typeface="Times New Roman"/>
              </a:rPr>
              <a:t>Spectrophotometer</a:t>
            </a:r>
            <a:endParaRPr sz="2000" dirty="0">
              <a:latin typeface="Times New Roman"/>
              <a:cs typeface="Times New Roman"/>
            </a:endParaRPr>
          </a:p>
        </p:txBody>
      </p:sp>
      <p:pic>
        <p:nvPicPr>
          <p:cNvPr id="6146" name="Picture 2" descr="C:\Users\Admin\AppData\Local\Packages\Microsoft.Windows.Photos_8wekyb3d8bbwe\TempState\ShareServiceTempFolder\do.jpeg"/>
          <p:cNvPicPr>
            <a:picLocks noChangeAspect="1" noChangeArrowheads="1"/>
          </p:cNvPicPr>
          <p:nvPr/>
        </p:nvPicPr>
        <p:blipFill>
          <a:blip r:embed="rId2"/>
          <a:srcRect/>
          <a:stretch>
            <a:fillRect/>
          </a:stretch>
        </p:blipFill>
        <p:spPr bwMode="auto">
          <a:xfrm>
            <a:off x="381000" y="1295400"/>
            <a:ext cx="7620000" cy="2286000"/>
          </a:xfrm>
          <a:prstGeom prst="rect">
            <a:avLst/>
          </a:prstGeom>
          <a:noFill/>
        </p:spPr>
      </p:pic>
      <p:sp>
        <p:nvSpPr>
          <p:cNvPr id="2" name="AutoShape 2" descr="DOUBLE-BEAM SPECTROPHOTOMETER&#10;DOUBLE-BEAM-IN-SPACE INSTRUMENT&#10; Two beams are formed in space by a V-shaped mirror called beam splitter.&#10; One beam passes through the reference solution to a photodetector, and the 2nd&#10;simultaneously traverses the sample to a 2nd matched detector.&#10; The 2 outputs are amplified, and their ratio or logarithm of their ratio is determined&#10;electronically or by a computer and displayed by the readout device.&#10; "/>
          <p:cNvSpPr>
            <a:spLocks noChangeAspect="1" noChangeArrowheads="1"/>
          </p:cNvSpPr>
          <p:nvPr/>
        </p:nvSpPr>
        <p:spPr bwMode="auto">
          <a:xfrm>
            <a:off x="155575"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DOUBLE-BEAM SPECTROPHOTOMETER&#10;DOUBLE-BEAM-IN-SPACE INSTRUMENT&#10; Two beams are formed in space by a V-shaped mirror called beam splitter.&#10; One beam passes through the reference solution to a photodetector, and the 2nd&#10;simultaneously traverses the sample to a 2nd matched detector.&#10; The 2 outputs are amplified, and their ratio or logarithm of their ratio is determined&#10;electronically or by a computer and displayed by the readout device.&#10; "/>
          <p:cNvSpPr>
            <a:spLocks noChangeAspect="1" noChangeArrowheads="1"/>
          </p:cNvSpPr>
          <p:nvPr/>
        </p:nvSpPr>
        <p:spPr bwMode="auto">
          <a:xfrm>
            <a:off x="307975" y="7937"/>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1" name="Picture 7" descr="C:\Users\Dell\Desktop\double.jpg"/>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438411" y="4187164"/>
            <a:ext cx="7714989" cy="2442235"/>
          </a:xfrm>
          <a:prstGeom prst="rect">
            <a:avLst/>
          </a:prstGeom>
          <a:noFill/>
          <a:extLst>
            <a:ext uri="{909E8E84-426E-40DD-AFC4-6F175D3DCCD1}">
              <a14:hiddenFill xmlns="" xmlns:a14="http://schemas.microsoft.com/office/drawing/2010/main">
                <a:solidFill>
                  <a:srgbClr val="FFFFFF"/>
                </a:solidFill>
              </a14:hiddenFill>
            </a:ext>
          </a:extLst>
        </p:spPr>
      </p:pic>
      <p:sp>
        <p:nvSpPr>
          <p:cNvPr id="10" name="Rectangle 9"/>
          <p:cNvSpPr/>
          <p:nvPr/>
        </p:nvSpPr>
        <p:spPr>
          <a:xfrm>
            <a:off x="685800" y="3886200"/>
            <a:ext cx="2286000" cy="369332"/>
          </a:xfrm>
          <a:prstGeom prst="rect">
            <a:avLst/>
          </a:prstGeom>
        </p:spPr>
        <p:txBody>
          <a:bodyPr wrap="square">
            <a:spAutoFit/>
          </a:bodyPr>
          <a:lstStyle/>
          <a:p>
            <a:r>
              <a:rPr lang="en-US" b="1" dirty="0" smtClean="0"/>
              <a:t>Block  Diagram</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5573" y="212942"/>
            <a:ext cx="5962389" cy="1938992"/>
          </a:xfrm>
          <a:prstGeom prst="rect">
            <a:avLst/>
          </a:prstGeom>
        </p:spPr>
        <p:txBody>
          <a:bodyPr wrap="square">
            <a:spAutoFit/>
          </a:bodyPr>
          <a:lstStyle/>
          <a:p>
            <a:r>
              <a:rPr lang="en-US" sz="2000" b="1" dirty="0" smtClean="0">
                <a:latin typeface="Times New Roman" pitchFamily="18" charset="0"/>
                <a:cs typeface="Times New Roman" pitchFamily="18" charset="0"/>
                <a:hlinkClick r:id="rId2"/>
              </a:rPr>
              <a:t>Instrumentation :</a:t>
            </a:r>
          </a:p>
          <a:p>
            <a:r>
              <a:rPr lang="en-US" sz="2000" dirty="0" smtClean="0">
                <a:latin typeface="Times New Roman" pitchFamily="18" charset="0"/>
                <a:cs typeface="Times New Roman" pitchFamily="18" charset="0"/>
              </a:rPr>
              <a:t>1) Source </a:t>
            </a:r>
          </a:p>
          <a:p>
            <a:r>
              <a:rPr lang="en-US" sz="2000" dirty="0" smtClean="0">
                <a:solidFill>
                  <a:srgbClr val="000000"/>
                </a:solidFill>
                <a:latin typeface="Times New Roman" pitchFamily="18" charset="0"/>
                <a:cs typeface="Times New Roman" pitchFamily="18" charset="0"/>
              </a:rPr>
              <a:t>2) </a:t>
            </a:r>
            <a:r>
              <a:rPr lang="en-US" sz="2000" dirty="0" err="1" smtClean="0">
                <a:solidFill>
                  <a:srgbClr val="000000"/>
                </a:solidFill>
                <a:latin typeface="Times New Roman" pitchFamily="18" charset="0"/>
                <a:cs typeface="Times New Roman" pitchFamily="18" charset="0"/>
              </a:rPr>
              <a:t>Monochromators</a:t>
            </a:r>
            <a:endParaRPr lang="en-US" sz="2000" dirty="0" smtClean="0">
              <a:solidFill>
                <a:srgbClr val="000000"/>
              </a:solidFill>
              <a:latin typeface="Times New Roman" pitchFamily="18" charset="0"/>
              <a:cs typeface="Times New Roman" pitchFamily="18" charset="0"/>
            </a:endParaRPr>
          </a:p>
          <a:p>
            <a:r>
              <a:rPr lang="en-US" sz="2000" dirty="0" smtClean="0">
                <a:solidFill>
                  <a:srgbClr val="000000"/>
                </a:solidFill>
                <a:latin typeface="Times New Roman" pitchFamily="18" charset="0"/>
                <a:cs typeface="Times New Roman" pitchFamily="18" charset="0"/>
              </a:rPr>
              <a:t>3) Sample holders/cuvettes</a:t>
            </a:r>
          </a:p>
          <a:p>
            <a:r>
              <a:rPr lang="en-US" sz="2000" dirty="0" smtClean="0">
                <a:solidFill>
                  <a:srgbClr val="000000"/>
                </a:solidFill>
                <a:latin typeface="Times New Roman" pitchFamily="18" charset="0"/>
                <a:cs typeface="Times New Roman" pitchFamily="18" charset="0"/>
              </a:rPr>
              <a:t>4) Detector </a:t>
            </a:r>
          </a:p>
          <a:p>
            <a:r>
              <a:rPr lang="en-US" sz="2000" dirty="0" smtClean="0">
                <a:solidFill>
                  <a:srgbClr val="000000"/>
                </a:solidFill>
                <a:latin typeface="Times New Roman" pitchFamily="18" charset="0"/>
                <a:cs typeface="Times New Roman" pitchFamily="18" charset="0"/>
              </a:rPr>
              <a:t>5</a:t>
            </a:r>
            <a:r>
              <a:rPr lang="en-US" sz="2000" dirty="0">
                <a:solidFill>
                  <a:srgbClr val="000000"/>
                </a:solidFill>
                <a:latin typeface="Times New Roman" pitchFamily="18" charset="0"/>
                <a:cs typeface="Times New Roman" pitchFamily="18" charset="0"/>
              </a:rPr>
              <a:t>) Recorder</a:t>
            </a:r>
            <a:r>
              <a:rPr lang="en-US" sz="2000" dirty="0" smtClean="0">
                <a:latin typeface="Times New Roman" pitchFamily="18" charset="0"/>
                <a:cs typeface="Times New Roman" pitchFamily="18" charset="0"/>
              </a:rPr>
              <a:t> </a:t>
            </a:r>
            <a:endParaRPr lang="en-US" sz="2000" dirty="0">
              <a:latin typeface="Times New Roman" pitchFamily="18" charset="0"/>
              <a:cs typeface="Times New Roman" pitchFamily="18" charset="0"/>
            </a:endParaRPr>
          </a:p>
        </p:txBody>
      </p:sp>
      <p:sp>
        <p:nvSpPr>
          <p:cNvPr id="7" name="Rectangle 6"/>
          <p:cNvSpPr/>
          <p:nvPr/>
        </p:nvSpPr>
        <p:spPr>
          <a:xfrm>
            <a:off x="200415" y="2154477"/>
            <a:ext cx="8693063" cy="3877985"/>
          </a:xfrm>
          <a:prstGeom prst="rect">
            <a:avLst/>
          </a:prstGeom>
        </p:spPr>
        <p:txBody>
          <a:bodyPr wrap="square">
            <a:spAutoFit/>
          </a:bodyPr>
          <a:lstStyle/>
          <a:p>
            <a:pPr algn="just">
              <a:lnSpc>
                <a:spcPct val="150000"/>
              </a:lnSpc>
            </a:pPr>
            <a:r>
              <a:rPr lang="en-US" sz="2000" dirty="0" smtClean="0"/>
              <a:t>1)</a:t>
            </a:r>
            <a:r>
              <a:rPr lang="en-US" sz="2000" dirty="0"/>
              <a:t> </a:t>
            </a:r>
            <a:r>
              <a:rPr lang="en-US" sz="2000" b="1" dirty="0" smtClean="0"/>
              <a:t>LIGHT </a:t>
            </a:r>
            <a:r>
              <a:rPr lang="en-US" sz="2000" b="1" dirty="0"/>
              <a:t>SOURCE Requirements</a:t>
            </a:r>
            <a:r>
              <a:rPr lang="en-US" dirty="0"/>
              <a:t>: </a:t>
            </a:r>
            <a:r>
              <a:rPr lang="en-US" dirty="0" smtClean="0"/>
              <a:t>It</a:t>
            </a:r>
            <a:r>
              <a:rPr lang="en-US" dirty="0"/>
              <a:t> should be stable. </a:t>
            </a:r>
            <a:r>
              <a:rPr lang="en-US" dirty="0" smtClean="0"/>
              <a:t>It </a:t>
            </a:r>
            <a:r>
              <a:rPr lang="en-US" dirty="0"/>
              <a:t>should provide continuous radiation . </a:t>
            </a:r>
            <a:r>
              <a:rPr lang="en-US" dirty="0" smtClean="0"/>
              <a:t>It </a:t>
            </a:r>
            <a:r>
              <a:rPr lang="en-US" dirty="0"/>
              <a:t>must be of the sufficient intensity for the transmitted energy to be detected at the end of the optical path. TYPES OF LAMP : 1) HYDROGEN DISCHARGE LAMPS 2) DEUTERIUM LAMPS 3) TUNGSTEN LAMP 4) XENON DISCHARGE LAMP 5) MERCURY ARC LAMP</a:t>
            </a:r>
          </a:p>
          <a:p>
            <a:pPr algn="just">
              <a:lnSpc>
                <a:spcPct val="150000"/>
              </a:lnSpc>
            </a:pPr>
            <a:r>
              <a:rPr lang="en-US" b="1" dirty="0" smtClean="0"/>
              <a:t>1.HYDROGEN </a:t>
            </a:r>
            <a:r>
              <a:rPr lang="en-US" b="1" dirty="0"/>
              <a:t>DISCHARGE </a:t>
            </a:r>
            <a:r>
              <a:rPr lang="en-US" b="1" dirty="0" smtClean="0"/>
              <a:t>LAMP </a:t>
            </a:r>
            <a:r>
              <a:rPr lang="en-US" dirty="0"/>
              <a:t> </a:t>
            </a:r>
            <a:r>
              <a:rPr lang="en-US" dirty="0" smtClean="0"/>
              <a:t>It </a:t>
            </a:r>
            <a:r>
              <a:rPr lang="en-US" dirty="0"/>
              <a:t>is a continuous source. </a:t>
            </a:r>
            <a:r>
              <a:rPr lang="en-US" dirty="0" smtClean="0"/>
              <a:t>Covers </a:t>
            </a:r>
            <a:r>
              <a:rPr lang="en-US" dirty="0"/>
              <a:t>a range 160-375nm. </a:t>
            </a:r>
            <a:r>
              <a:rPr lang="en-US" dirty="0" smtClean="0"/>
              <a:t> Stable and </a:t>
            </a:r>
            <a:r>
              <a:rPr lang="en-US" dirty="0"/>
              <a:t>widely used. PROCESS 1) High voltage current is passed through the electrodes 2) Discharge of electrons occurs 3) Excitation of hydrogen molecules 4) Cause emission of UV radiation</a:t>
            </a:r>
            <a:r>
              <a:rPr lang="en-US" dirty="0" smtClean="0"/>
              <a:t>.</a:t>
            </a:r>
            <a:endParaRPr lang="en-US" dirty="0"/>
          </a:p>
        </p:txBody>
      </p:sp>
    </p:spTree>
    <p:extLst>
      <p:ext uri="{BB962C8B-B14F-4D97-AF65-F5344CB8AC3E}">
        <p14:creationId xmlns="" xmlns:p14="http://schemas.microsoft.com/office/powerpoint/2010/main" val="37014558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685800"/>
            <a:ext cx="8001000" cy="6093976"/>
          </a:xfrm>
          <a:prstGeom prst="rect">
            <a:avLst/>
          </a:prstGeom>
        </p:spPr>
        <p:txBody>
          <a:bodyPr wrap="square">
            <a:spAutoFit/>
          </a:bodyPr>
          <a:lstStyle/>
          <a:p>
            <a:pPr lvl="0" algn="just">
              <a:lnSpc>
                <a:spcPct val="150000"/>
              </a:lnSpc>
            </a:pPr>
            <a:r>
              <a:rPr lang="en-US" sz="2000" dirty="0">
                <a:solidFill>
                  <a:prstClr val="black"/>
                </a:solidFill>
              </a:rPr>
              <a:t>2</a:t>
            </a:r>
            <a:r>
              <a:rPr lang="en-US" sz="2000" dirty="0" smtClean="0">
                <a:solidFill>
                  <a:prstClr val="black"/>
                </a:solidFill>
              </a:rPr>
              <a:t>.</a:t>
            </a:r>
            <a:r>
              <a:rPr lang="en-US" sz="2000" dirty="0">
                <a:solidFill>
                  <a:prstClr val="black"/>
                </a:solidFill>
              </a:rPr>
              <a:t> </a:t>
            </a:r>
            <a:r>
              <a:rPr lang="en-US" sz="2000" b="1" dirty="0"/>
              <a:t>DEUTERIUM </a:t>
            </a:r>
            <a:r>
              <a:rPr lang="en-US" sz="2000" b="1" dirty="0" smtClean="0"/>
              <a:t>LAMPS  </a:t>
            </a:r>
            <a:r>
              <a:rPr lang="en-US" sz="2000" dirty="0" smtClean="0"/>
              <a:t>Similar</a:t>
            </a:r>
            <a:r>
              <a:rPr lang="en-US" sz="2000" b="1" dirty="0">
                <a:solidFill>
                  <a:prstClr val="black"/>
                </a:solidFill>
              </a:rPr>
              <a:t> </a:t>
            </a:r>
            <a:r>
              <a:rPr lang="en-US" sz="2000" dirty="0">
                <a:solidFill>
                  <a:prstClr val="black"/>
                </a:solidFill>
              </a:rPr>
              <a:t>to hydrogen discharge lamp. </a:t>
            </a:r>
            <a:r>
              <a:rPr lang="en-US" sz="2000" dirty="0" smtClean="0">
                <a:solidFill>
                  <a:prstClr val="black"/>
                </a:solidFill>
              </a:rPr>
              <a:t>Deuterium </a:t>
            </a:r>
            <a:r>
              <a:rPr lang="en-US" sz="2000" dirty="0">
                <a:solidFill>
                  <a:prstClr val="black"/>
                </a:solidFill>
              </a:rPr>
              <a:t>is filled in place of hydrogen. </a:t>
            </a:r>
            <a:r>
              <a:rPr lang="en-US" sz="2000" dirty="0" smtClean="0">
                <a:solidFill>
                  <a:prstClr val="black"/>
                </a:solidFill>
              </a:rPr>
              <a:t>The </a:t>
            </a:r>
            <a:r>
              <a:rPr lang="en-US" sz="2000" dirty="0">
                <a:solidFill>
                  <a:prstClr val="black"/>
                </a:solidFill>
              </a:rPr>
              <a:t>intensity of radiation emitted is 3 to 5 times the intensity of a hydrogen lamp. </a:t>
            </a:r>
            <a:r>
              <a:rPr lang="en-US" sz="2000" dirty="0" smtClean="0">
                <a:solidFill>
                  <a:prstClr val="black"/>
                </a:solidFill>
              </a:rPr>
              <a:t> </a:t>
            </a:r>
            <a:r>
              <a:rPr lang="en-US" sz="2000" dirty="0">
                <a:solidFill>
                  <a:prstClr val="black"/>
                </a:solidFill>
              </a:rPr>
              <a:t>More expensive than hydrogen lamp. </a:t>
            </a:r>
            <a:r>
              <a:rPr lang="en-US" sz="2000" dirty="0" smtClean="0">
                <a:solidFill>
                  <a:prstClr val="black"/>
                </a:solidFill>
              </a:rPr>
              <a:t> </a:t>
            </a:r>
            <a:r>
              <a:rPr lang="en-US" sz="2000" dirty="0">
                <a:solidFill>
                  <a:prstClr val="black"/>
                </a:solidFill>
              </a:rPr>
              <a:t>Used when high intensity is required</a:t>
            </a:r>
            <a:r>
              <a:rPr lang="en-US" sz="2000" dirty="0" smtClean="0">
                <a:solidFill>
                  <a:prstClr val="black"/>
                </a:solidFill>
              </a:rPr>
              <a:t>.</a:t>
            </a:r>
          </a:p>
          <a:p>
            <a:pPr lvl="0" algn="just">
              <a:lnSpc>
                <a:spcPct val="150000"/>
              </a:lnSpc>
            </a:pPr>
            <a:endParaRPr lang="en-US" sz="2000" dirty="0">
              <a:solidFill>
                <a:prstClr val="black"/>
              </a:solidFill>
            </a:endParaRPr>
          </a:p>
          <a:p>
            <a:pPr lvl="0" algn="just">
              <a:lnSpc>
                <a:spcPct val="150000"/>
              </a:lnSpc>
            </a:pPr>
            <a:r>
              <a:rPr lang="en-US" sz="2000" dirty="0"/>
              <a:t>3</a:t>
            </a:r>
            <a:r>
              <a:rPr lang="en-US" sz="2000" dirty="0" smtClean="0"/>
              <a:t>.</a:t>
            </a:r>
            <a:r>
              <a:rPr lang="en-US" sz="2000" dirty="0"/>
              <a:t> </a:t>
            </a:r>
            <a:r>
              <a:rPr lang="en-US" sz="2000" b="1" dirty="0"/>
              <a:t>TUNGSTEN LAMP </a:t>
            </a:r>
            <a:r>
              <a:rPr lang="en-US" sz="2000" dirty="0" smtClean="0">
                <a:solidFill>
                  <a:prstClr val="black"/>
                </a:solidFill>
              </a:rPr>
              <a:t>Continuous </a:t>
            </a:r>
            <a:r>
              <a:rPr lang="en-US" sz="2000" dirty="0">
                <a:solidFill>
                  <a:prstClr val="black"/>
                </a:solidFill>
              </a:rPr>
              <a:t>source of light. </a:t>
            </a:r>
            <a:r>
              <a:rPr lang="en-US" sz="2000" dirty="0" smtClean="0">
                <a:solidFill>
                  <a:prstClr val="black"/>
                </a:solidFill>
              </a:rPr>
              <a:t>When </a:t>
            </a:r>
            <a:r>
              <a:rPr lang="en-US" sz="2000" dirty="0">
                <a:solidFill>
                  <a:prstClr val="black"/>
                </a:solidFill>
              </a:rPr>
              <a:t>tungsten filament is heated </a:t>
            </a:r>
            <a:r>
              <a:rPr lang="en-US" sz="2000" dirty="0" smtClean="0">
                <a:solidFill>
                  <a:prstClr val="black"/>
                </a:solidFill>
              </a:rPr>
              <a:t>by </a:t>
            </a:r>
            <a:r>
              <a:rPr lang="en-US" sz="2000" dirty="0">
                <a:solidFill>
                  <a:prstClr val="black"/>
                </a:solidFill>
              </a:rPr>
              <a:t>an electric current ,the light is produced. </a:t>
            </a:r>
            <a:r>
              <a:rPr lang="en-US" sz="2000" dirty="0" smtClean="0">
                <a:solidFill>
                  <a:prstClr val="black"/>
                </a:solidFill>
              </a:rPr>
              <a:t> </a:t>
            </a:r>
            <a:r>
              <a:rPr lang="en-US" sz="2000" dirty="0">
                <a:solidFill>
                  <a:prstClr val="black"/>
                </a:solidFill>
              </a:rPr>
              <a:t>The glass bulb enclosing the filament contains a low pressure of inert gas, usually argon. </a:t>
            </a:r>
            <a:endParaRPr lang="en-US" sz="2000" b="1" kern="0" dirty="0" smtClean="0">
              <a:solidFill>
                <a:srgbClr val="000000"/>
              </a:solidFill>
              <a:latin typeface="Times New Roman" pitchFamily="18" charset="0"/>
              <a:cs typeface="Times New Roman" pitchFamily="18" charset="0"/>
            </a:endParaRPr>
          </a:p>
          <a:p>
            <a:pPr lvl="0" algn="just">
              <a:lnSpc>
                <a:spcPct val="150000"/>
              </a:lnSpc>
            </a:pPr>
            <a:endParaRPr lang="en-US" sz="2000" b="1" kern="0" dirty="0">
              <a:solidFill>
                <a:srgbClr val="000000"/>
              </a:solidFill>
              <a:latin typeface="Times New Roman" pitchFamily="18" charset="0"/>
              <a:cs typeface="Times New Roman" pitchFamily="18" charset="0"/>
            </a:endParaRPr>
          </a:p>
          <a:p>
            <a:pPr lvl="0" algn="just">
              <a:lnSpc>
                <a:spcPct val="150000"/>
              </a:lnSpc>
            </a:pPr>
            <a:r>
              <a:rPr lang="en-US" sz="2000" b="1" kern="0" dirty="0" smtClean="0">
                <a:solidFill>
                  <a:srgbClr val="000000"/>
                </a:solidFill>
                <a:latin typeface="Times New Roman" pitchFamily="18" charset="0"/>
                <a:cs typeface="Times New Roman" pitchFamily="18" charset="0"/>
              </a:rPr>
              <a:t> </a:t>
            </a:r>
            <a:r>
              <a:rPr lang="en-US" sz="2000" b="1" kern="0" dirty="0">
                <a:solidFill>
                  <a:srgbClr val="000000"/>
                </a:solidFill>
                <a:latin typeface="Times New Roman" pitchFamily="18" charset="0"/>
                <a:cs typeface="Times New Roman" pitchFamily="18" charset="0"/>
              </a:rPr>
              <a:t>MIRRORS</a:t>
            </a:r>
            <a:r>
              <a:rPr lang="en-US" sz="2000" b="1" kern="0" dirty="0" smtClean="0">
                <a:solidFill>
                  <a:srgbClr val="000000"/>
                </a:solidFill>
                <a:latin typeface="Times New Roman" pitchFamily="18" charset="0"/>
                <a:cs typeface="Times New Roman" pitchFamily="18" charset="0"/>
              </a:rPr>
              <a:t>:</a:t>
            </a:r>
            <a:endParaRPr lang="en-US" sz="2000" b="1" kern="0" dirty="0">
              <a:solidFill>
                <a:srgbClr val="000000"/>
              </a:solidFill>
              <a:latin typeface="Times New Roman" pitchFamily="18" charset="0"/>
              <a:cs typeface="Times New Roman" pitchFamily="18" charset="0"/>
            </a:endParaRPr>
          </a:p>
          <a:p>
            <a:pPr lvl="0" algn="just">
              <a:lnSpc>
                <a:spcPct val="150000"/>
              </a:lnSpc>
            </a:pPr>
            <a:r>
              <a:rPr lang="en-US" sz="2000" b="1" kern="0" dirty="0">
                <a:solidFill>
                  <a:srgbClr val="000000"/>
                </a:solidFill>
                <a:latin typeface="Times New Roman" pitchFamily="18" charset="0"/>
                <a:cs typeface="Times New Roman" pitchFamily="18" charset="0"/>
              </a:rPr>
              <a:t>These are</a:t>
            </a:r>
            <a:r>
              <a:rPr lang="en-US" sz="2000" b="1" u="sng" kern="0" dirty="0">
                <a:solidFill>
                  <a:srgbClr val="000000"/>
                </a:solidFill>
                <a:latin typeface="Times New Roman" pitchFamily="18" charset="0"/>
                <a:cs typeface="Times New Roman" pitchFamily="18" charset="0"/>
              </a:rPr>
              <a:t> </a:t>
            </a:r>
            <a:r>
              <a:rPr lang="en-US" sz="2000" kern="0" dirty="0">
                <a:solidFill>
                  <a:srgbClr val="000000"/>
                </a:solidFill>
                <a:latin typeface="Times New Roman" pitchFamily="18" charset="0"/>
                <a:cs typeface="Times New Roman" pitchFamily="18" charset="0"/>
              </a:rPr>
              <a:t>used to reflect, focus light beams in spectrophotometer.  To minimize the light loss, mirrors are aluminized on their front surfaces. </a:t>
            </a:r>
          </a:p>
          <a:p>
            <a:pPr lvl="0" algn="just">
              <a:lnSpc>
                <a:spcPct val="150000"/>
              </a:lnSpc>
            </a:pPr>
            <a:endParaRPr lang="en-US" sz="2000" dirty="0">
              <a:solidFill>
                <a:prstClr val="black"/>
              </a:solidFill>
            </a:endParaRPr>
          </a:p>
        </p:txBody>
      </p:sp>
    </p:spTree>
    <p:extLst>
      <p:ext uri="{BB962C8B-B14F-4D97-AF65-F5344CB8AC3E}">
        <p14:creationId xmlns="" xmlns:p14="http://schemas.microsoft.com/office/powerpoint/2010/main" val="171524557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25885" y="914400"/>
            <a:ext cx="8260915" cy="5032147"/>
          </a:xfrm>
        </p:spPr>
        <p:txBody>
          <a:bodyPr/>
          <a:lstStyle/>
          <a:p>
            <a:pPr algn="just">
              <a:lnSpc>
                <a:spcPct val="150000"/>
              </a:lnSpc>
            </a:pPr>
            <a:r>
              <a:rPr lang="en-US" dirty="0" smtClean="0">
                <a:solidFill>
                  <a:srgbClr val="000000"/>
                </a:solidFill>
                <a:latin typeface="__Source_Sans_3_4d9a39"/>
              </a:rPr>
              <a:t>2</a:t>
            </a:r>
            <a:r>
              <a:rPr lang="en-US" sz="2000" dirty="0" smtClean="0">
                <a:solidFill>
                  <a:srgbClr val="000000"/>
                </a:solidFill>
                <a:latin typeface="Times New Roman" pitchFamily="18" charset="0"/>
                <a:cs typeface="Times New Roman" pitchFamily="18" charset="0"/>
              </a:rPr>
              <a:t>. </a:t>
            </a:r>
            <a:r>
              <a:rPr lang="en-US" sz="2000" b="1" dirty="0" smtClean="0">
                <a:latin typeface="Times New Roman" pitchFamily="18" charset="0"/>
                <a:cs typeface="Times New Roman" pitchFamily="18" charset="0"/>
              </a:rPr>
              <a:t>MONOCHROMATORS  </a:t>
            </a:r>
            <a:r>
              <a:rPr lang="en-US" sz="2000" b="1" dirty="0">
                <a:latin typeface="Times New Roman" pitchFamily="18" charset="0"/>
                <a:cs typeface="Times New Roman" pitchFamily="18" charset="0"/>
              </a:rPr>
              <a:t>It is </a:t>
            </a:r>
            <a:r>
              <a:rPr lang="en-US" sz="2000" dirty="0">
                <a:solidFill>
                  <a:srgbClr val="000000"/>
                </a:solidFill>
                <a:latin typeface="Times New Roman" pitchFamily="18" charset="0"/>
                <a:cs typeface="Times New Roman" pitchFamily="18" charset="0"/>
              </a:rPr>
              <a:t>used to disperse the </a:t>
            </a:r>
            <a:r>
              <a:rPr lang="en-US" sz="2000" dirty="0" err="1">
                <a:solidFill>
                  <a:srgbClr val="000000"/>
                </a:solidFill>
                <a:latin typeface="Times New Roman" pitchFamily="18" charset="0"/>
                <a:cs typeface="Times New Roman" pitchFamily="18" charset="0"/>
              </a:rPr>
              <a:t>heterochromic</a:t>
            </a:r>
            <a:r>
              <a:rPr lang="en-US" sz="2000" dirty="0">
                <a:solidFill>
                  <a:srgbClr val="000000"/>
                </a:solidFill>
                <a:latin typeface="Times New Roman" pitchFamily="18" charset="0"/>
                <a:cs typeface="Times New Roman" pitchFamily="18" charset="0"/>
              </a:rPr>
              <a:t> radiation into its component </a:t>
            </a:r>
            <a:r>
              <a:rPr lang="en-US" sz="2000" dirty="0" smtClean="0">
                <a:solidFill>
                  <a:srgbClr val="000000"/>
                </a:solidFill>
                <a:latin typeface="Times New Roman" pitchFamily="18" charset="0"/>
                <a:cs typeface="Times New Roman" pitchFamily="18" charset="0"/>
              </a:rPr>
              <a:t>wavelength. It </a:t>
            </a:r>
            <a:r>
              <a:rPr lang="en-US" sz="2000" dirty="0">
                <a:solidFill>
                  <a:srgbClr val="000000"/>
                </a:solidFill>
                <a:latin typeface="Times New Roman" pitchFamily="18" charset="0"/>
                <a:cs typeface="Times New Roman" pitchFamily="18" charset="0"/>
              </a:rPr>
              <a:t>consists of an entrance slit, an exit slit and a dispersing device either a prism or grating</a:t>
            </a:r>
            <a:r>
              <a:rPr lang="en-US" sz="2000" dirty="0" smtClean="0">
                <a:solidFill>
                  <a:srgbClr val="000000"/>
                </a:solidFill>
                <a:latin typeface="Times New Roman" pitchFamily="18" charset="0"/>
                <a:cs typeface="Times New Roman" pitchFamily="18" charset="0"/>
              </a:rPr>
              <a:t>. For </a:t>
            </a:r>
            <a:r>
              <a:rPr lang="en-US" sz="2000" dirty="0" err="1">
                <a:solidFill>
                  <a:srgbClr val="000000"/>
                </a:solidFill>
                <a:latin typeface="Times New Roman" pitchFamily="18" charset="0"/>
                <a:cs typeface="Times New Roman" pitchFamily="18" charset="0"/>
              </a:rPr>
              <a:t>eg</a:t>
            </a:r>
            <a:r>
              <a:rPr lang="en-US" sz="2000" dirty="0">
                <a:solidFill>
                  <a:srgbClr val="000000"/>
                </a:solidFill>
                <a:latin typeface="Times New Roman" pitchFamily="18" charset="0"/>
                <a:cs typeface="Times New Roman" pitchFamily="18" charset="0"/>
              </a:rPr>
              <a:t> </a:t>
            </a:r>
            <a:r>
              <a:rPr lang="en-US" sz="2000" dirty="0" smtClean="0">
                <a:solidFill>
                  <a:srgbClr val="000000"/>
                </a:solidFill>
                <a:latin typeface="Times New Roman" pitchFamily="18" charset="0"/>
                <a:cs typeface="Times New Roman" pitchFamily="18" charset="0"/>
              </a:rPr>
              <a:t>:Quartz </a:t>
            </a:r>
            <a:r>
              <a:rPr lang="en-US" sz="2000" dirty="0">
                <a:solidFill>
                  <a:srgbClr val="000000"/>
                </a:solidFill>
                <a:latin typeface="Times New Roman" pitchFamily="18" charset="0"/>
                <a:cs typeface="Times New Roman" pitchFamily="18" charset="0"/>
              </a:rPr>
              <a:t>for ultraviolet. </a:t>
            </a:r>
            <a:r>
              <a:rPr lang="en-US" sz="2000" dirty="0" smtClean="0">
                <a:solidFill>
                  <a:srgbClr val="000000"/>
                </a:solidFill>
                <a:latin typeface="Times New Roman" pitchFamily="18" charset="0"/>
                <a:cs typeface="Times New Roman" pitchFamily="18" charset="0"/>
              </a:rPr>
              <a:t> </a:t>
            </a:r>
          </a:p>
          <a:p>
            <a:pPr algn="just">
              <a:lnSpc>
                <a:spcPct val="150000"/>
              </a:lnSpc>
            </a:pPr>
            <a:endParaRPr lang="en-US" sz="2000" dirty="0">
              <a:solidFill>
                <a:srgbClr val="000000"/>
              </a:solidFill>
              <a:latin typeface="Times New Roman" pitchFamily="18" charset="0"/>
              <a:cs typeface="Times New Roman" pitchFamily="18" charset="0"/>
            </a:endParaRPr>
          </a:p>
          <a:p>
            <a:pPr algn="just">
              <a:lnSpc>
                <a:spcPct val="150000"/>
              </a:lnSpc>
            </a:pPr>
            <a:r>
              <a:rPr lang="en-US" sz="2000" dirty="0">
                <a:solidFill>
                  <a:srgbClr val="000000"/>
                </a:solidFill>
                <a:latin typeface="Times New Roman" pitchFamily="18" charset="0"/>
                <a:cs typeface="Times New Roman" pitchFamily="18" charset="0"/>
              </a:rPr>
              <a:t> </a:t>
            </a:r>
            <a:r>
              <a:rPr lang="en-US" sz="2000" b="1" dirty="0">
                <a:latin typeface="Times New Roman" pitchFamily="18" charset="0"/>
                <a:cs typeface="Times New Roman" pitchFamily="18" charset="0"/>
              </a:rPr>
              <a:t>PRISM </a:t>
            </a:r>
            <a:r>
              <a:rPr lang="en-US" sz="2000" b="1" dirty="0" smtClean="0">
                <a:latin typeface="Times New Roman" pitchFamily="18" charset="0"/>
                <a:cs typeface="Times New Roman" pitchFamily="18" charset="0"/>
              </a:rPr>
              <a:t> </a:t>
            </a:r>
            <a:r>
              <a:rPr lang="en-US" sz="2000" b="1" dirty="0">
                <a:latin typeface="Times New Roman" pitchFamily="18" charset="0"/>
                <a:cs typeface="Times New Roman" pitchFamily="18" charset="0"/>
              </a:rPr>
              <a:t>Made up</a:t>
            </a:r>
            <a:r>
              <a:rPr lang="en-US" sz="2000" b="1" dirty="0">
                <a:solidFill>
                  <a:srgbClr val="000000"/>
                </a:solidFill>
                <a:latin typeface="Times New Roman" pitchFamily="18" charset="0"/>
                <a:cs typeface="Times New Roman" pitchFamily="18" charset="0"/>
              </a:rPr>
              <a:t> </a:t>
            </a:r>
            <a:r>
              <a:rPr lang="en-US" sz="2000" dirty="0">
                <a:solidFill>
                  <a:srgbClr val="000000"/>
                </a:solidFill>
                <a:latin typeface="Times New Roman" pitchFamily="18" charset="0"/>
                <a:cs typeface="Times New Roman" pitchFamily="18" charset="0"/>
              </a:rPr>
              <a:t>of glass , quartz or fused silica. </a:t>
            </a:r>
            <a:r>
              <a:rPr lang="en-US" sz="2000" dirty="0" smtClean="0">
                <a:solidFill>
                  <a:srgbClr val="000000"/>
                </a:solidFill>
                <a:latin typeface="Times New Roman" pitchFamily="18" charset="0"/>
                <a:cs typeface="Times New Roman" pitchFamily="18" charset="0"/>
              </a:rPr>
              <a:t>When </a:t>
            </a:r>
            <a:r>
              <a:rPr lang="en-US" sz="2000" dirty="0">
                <a:solidFill>
                  <a:srgbClr val="000000"/>
                </a:solidFill>
                <a:latin typeface="Times New Roman" pitchFamily="18" charset="0"/>
                <a:cs typeface="Times New Roman" pitchFamily="18" charset="0"/>
              </a:rPr>
              <a:t>white light is passed through the glass prism, dispersion of polychromatic light in rainbow occurs . </a:t>
            </a:r>
            <a:r>
              <a:rPr lang="en-US" sz="2000" dirty="0" smtClean="0">
                <a:solidFill>
                  <a:srgbClr val="000000"/>
                </a:solidFill>
                <a:latin typeface="Times New Roman" pitchFamily="18" charset="0"/>
                <a:cs typeface="Times New Roman" pitchFamily="18" charset="0"/>
              </a:rPr>
              <a:t> </a:t>
            </a:r>
            <a:r>
              <a:rPr lang="en-US" sz="2000" dirty="0">
                <a:solidFill>
                  <a:srgbClr val="000000"/>
                </a:solidFill>
                <a:latin typeface="Times New Roman" pitchFamily="18" charset="0"/>
                <a:cs typeface="Times New Roman" pitchFamily="18" charset="0"/>
              </a:rPr>
              <a:t>Now by the rotation of the prism different wavelengths of the spectrum can be made to pass through in exit slit on the sample. </a:t>
            </a:r>
            <a:r>
              <a:rPr lang="en-US" sz="2000" dirty="0" smtClean="0">
                <a:solidFill>
                  <a:srgbClr val="000000"/>
                </a:solidFill>
                <a:latin typeface="Times New Roman" pitchFamily="18" charset="0"/>
                <a:cs typeface="Times New Roman" pitchFamily="18" charset="0"/>
              </a:rPr>
              <a:t> The </a:t>
            </a:r>
            <a:r>
              <a:rPr lang="en-US" sz="2000" dirty="0">
                <a:solidFill>
                  <a:srgbClr val="000000"/>
                </a:solidFill>
                <a:latin typeface="Times New Roman" pitchFamily="18" charset="0"/>
                <a:cs typeface="Times New Roman" pitchFamily="18" charset="0"/>
              </a:rPr>
              <a:t>effective wavelength depends on the dispersive power of prism material and the optical angle of the prism.</a:t>
            </a:r>
          </a:p>
          <a:p>
            <a:pPr algn="just">
              <a:lnSpc>
                <a:spcPct val="150000"/>
              </a:lnSpc>
            </a:pPr>
            <a:endParaRPr lang="en-US" dirty="0"/>
          </a:p>
        </p:txBody>
      </p:sp>
    </p:spTree>
    <p:extLst>
      <p:ext uri="{BB962C8B-B14F-4D97-AF65-F5344CB8AC3E}">
        <p14:creationId xmlns="" xmlns:p14="http://schemas.microsoft.com/office/powerpoint/2010/main" val="174555764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81000" y="304800"/>
            <a:ext cx="8077200" cy="5078313"/>
          </a:xfrm>
        </p:spPr>
        <p:txBody>
          <a:bodyPr/>
          <a:lstStyle/>
          <a:p>
            <a:pPr algn="just">
              <a:lnSpc>
                <a:spcPct val="150000"/>
              </a:lnSpc>
            </a:pPr>
            <a:r>
              <a:rPr lang="en-US" sz="2000" dirty="0" smtClean="0">
                <a:solidFill>
                  <a:srgbClr val="000000"/>
                </a:solidFill>
                <a:latin typeface="Times New Roman" pitchFamily="18" charset="0"/>
                <a:cs typeface="Times New Roman" pitchFamily="18" charset="0"/>
              </a:rPr>
              <a:t>4) </a:t>
            </a:r>
            <a:r>
              <a:rPr lang="en-US" sz="2000" b="1" dirty="0" smtClean="0">
                <a:solidFill>
                  <a:srgbClr val="000000"/>
                </a:solidFill>
                <a:latin typeface="Times New Roman" pitchFamily="18" charset="0"/>
                <a:cs typeface="Times New Roman" pitchFamily="18" charset="0"/>
              </a:rPr>
              <a:t>SLITS:</a:t>
            </a:r>
          </a:p>
          <a:p>
            <a:pPr algn="just">
              <a:lnSpc>
                <a:spcPct val="150000"/>
              </a:lnSpc>
            </a:pPr>
            <a:r>
              <a:rPr lang="en-US" sz="2000" b="1" dirty="0" smtClean="0">
                <a:solidFill>
                  <a:srgbClr val="000000"/>
                </a:solidFill>
                <a:latin typeface="Times New Roman" pitchFamily="18" charset="0"/>
                <a:cs typeface="Times New Roman" pitchFamily="18" charset="0"/>
              </a:rPr>
              <a:t> Slit </a:t>
            </a:r>
            <a:r>
              <a:rPr lang="en-US" sz="2000" b="1" dirty="0">
                <a:solidFill>
                  <a:srgbClr val="000000"/>
                </a:solidFill>
                <a:latin typeface="Times New Roman" pitchFamily="18" charset="0"/>
                <a:cs typeface="Times New Roman" pitchFamily="18" charset="0"/>
              </a:rPr>
              <a:t>is </a:t>
            </a:r>
            <a:r>
              <a:rPr lang="en-US" sz="2000" dirty="0">
                <a:solidFill>
                  <a:srgbClr val="000000"/>
                </a:solidFill>
                <a:latin typeface="Times New Roman" pitchFamily="18" charset="0"/>
                <a:cs typeface="Times New Roman" pitchFamily="18" charset="0"/>
              </a:rPr>
              <a:t>an important device in resolving polychromatic radiation into monochromatic radiation</a:t>
            </a:r>
            <a:r>
              <a:rPr lang="en-US" sz="2000" dirty="0" smtClean="0">
                <a:solidFill>
                  <a:srgbClr val="000000"/>
                </a:solidFill>
                <a:latin typeface="Times New Roman" pitchFamily="18" charset="0"/>
                <a:cs typeface="Times New Roman" pitchFamily="18" charset="0"/>
              </a:rPr>
              <a:t>. </a:t>
            </a:r>
            <a:r>
              <a:rPr lang="en-US" sz="2000" dirty="0">
                <a:solidFill>
                  <a:srgbClr val="000000"/>
                </a:solidFill>
                <a:latin typeface="Times New Roman" pitchFamily="18" charset="0"/>
                <a:cs typeface="Times New Roman" pitchFamily="18" charset="0"/>
              </a:rPr>
              <a:t>To achieve this, entrance slit and exit slit are </a:t>
            </a:r>
            <a:r>
              <a:rPr lang="en-US" sz="2000" dirty="0" smtClean="0">
                <a:solidFill>
                  <a:srgbClr val="000000"/>
                </a:solidFill>
                <a:latin typeface="Times New Roman" pitchFamily="18" charset="0"/>
                <a:cs typeface="Times New Roman" pitchFamily="18" charset="0"/>
              </a:rPr>
              <a:t>used. The </a:t>
            </a:r>
            <a:r>
              <a:rPr lang="en-US" sz="2000" dirty="0">
                <a:solidFill>
                  <a:srgbClr val="000000"/>
                </a:solidFill>
                <a:latin typeface="Times New Roman" pitchFamily="18" charset="0"/>
                <a:cs typeface="Times New Roman" pitchFamily="18" charset="0"/>
              </a:rPr>
              <a:t>width of slit plays an important role in resolution of polychromatic radiation</a:t>
            </a:r>
            <a:r>
              <a:rPr lang="en-US" sz="2000" dirty="0" smtClean="0">
                <a:solidFill>
                  <a:srgbClr val="000000"/>
                </a:solidFill>
                <a:latin typeface="Times New Roman" pitchFamily="18" charset="0"/>
                <a:cs typeface="Times New Roman" pitchFamily="18" charset="0"/>
              </a:rPr>
              <a:t>.</a:t>
            </a:r>
          </a:p>
          <a:p>
            <a:pPr lvl="0" algn="just">
              <a:lnSpc>
                <a:spcPct val="150000"/>
              </a:lnSpc>
            </a:pPr>
            <a:r>
              <a:rPr lang="en-US" sz="2000" dirty="0" smtClean="0">
                <a:solidFill>
                  <a:srgbClr val="000000"/>
                </a:solidFill>
                <a:latin typeface="Times New Roman" pitchFamily="18" charset="0"/>
                <a:cs typeface="Times New Roman" pitchFamily="18" charset="0"/>
              </a:rPr>
              <a:t> </a:t>
            </a:r>
            <a:r>
              <a:rPr lang="en-US" dirty="0" smtClean="0">
                <a:solidFill>
                  <a:srgbClr val="000000"/>
                </a:solidFill>
                <a:latin typeface="__Source_Sans_3_4d9a39"/>
              </a:rPr>
              <a:t>5</a:t>
            </a:r>
            <a:r>
              <a:rPr lang="en-US" sz="2000" dirty="0" smtClean="0">
                <a:solidFill>
                  <a:srgbClr val="000000"/>
                </a:solidFill>
                <a:latin typeface="Times New Roman" pitchFamily="18" charset="0"/>
                <a:cs typeface="Times New Roman" pitchFamily="18" charset="0"/>
              </a:rPr>
              <a:t>) </a:t>
            </a:r>
            <a:r>
              <a:rPr lang="en-US" sz="2000" b="1" dirty="0">
                <a:solidFill>
                  <a:prstClr val="black">
                    <a:lumMod val="95000"/>
                    <a:lumOff val="5000"/>
                  </a:prstClr>
                </a:solidFill>
                <a:latin typeface="Times New Roman" pitchFamily="18" charset="0"/>
                <a:cs typeface="Times New Roman" pitchFamily="18" charset="0"/>
              </a:rPr>
              <a:t>SAMPLE HOLDER/ </a:t>
            </a:r>
            <a:r>
              <a:rPr lang="en-US" sz="2000" b="1" dirty="0" smtClean="0">
                <a:solidFill>
                  <a:prstClr val="black">
                    <a:lumMod val="95000"/>
                    <a:lumOff val="5000"/>
                  </a:prstClr>
                </a:solidFill>
                <a:latin typeface="Times New Roman" pitchFamily="18" charset="0"/>
                <a:cs typeface="Times New Roman" pitchFamily="18" charset="0"/>
              </a:rPr>
              <a:t>CUVETTES:</a:t>
            </a:r>
            <a:endParaRPr lang="en-US" sz="2000" b="1" dirty="0">
              <a:solidFill>
                <a:prstClr val="black">
                  <a:lumMod val="95000"/>
                  <a:lumOff val="5000"/>
                </a:prstClr>
              </a:solidFill>
              <a:latin typeface="Times New Roman" pitchFamily="18" charset="0"/>
              <a:cs typeface="Times New Roman" pitchFamily="18" charset="0"/>
            </a:endParaRPr>
          </a:p>
          <a:p>
            <a:pPr lvl="0" algn="just">
              <a:lnSpc>
                <a:spcPct val="150000"/>
              </a:lnSpc>
            </a:pPr>
            <a:r>
              <a:rPr lang="en-US" sz="2000" b="1" dirty="0">
                <a:solidFill>
                  <a:prstClr val="black">
                    <a:lumMod val="95000"/>
                    <a:lumOff val="5000"/>
                  </a:prstClr>
                </a:solidFill>
                <a:latin typeface="Times New Roman" pitchFamily="18" charset="0"/>
                <a:cs typeface="Times New Roman" pitchFamily="18" charset="0"/>
              </a:rPr>
              <a:t> </a:t>
            </a:r>
            <a:r>
              <a:rPr lang="en-US" sz="2000" dirty="0">
                <a:solidFill>
                  <a:prstClr val="black">
                    <a:lumMod val="95000"/>
                    <a:lumOff val="5000"/>
                  </a:prstClr>
                </a:solidFill>
                <a:latin typeface="Times New Roman" pitchFamily="18" charset="0"/>
                <a:cs typeface="Times New Roman" pitchFamily="18" charset="0"/>
              </a:rPr>
              <a:t>The cells or cuvettes are used for handling liquid samples. For study in UV region the cells are prepared from quartz or fused silica </a:t>
            </a:r>
            <a:r>
              <a:rPr lang="en-US" sz="2000" dirty="0" smtClean="0">
                <a:solidFill>
                  <a:prstClr val="black">
                    <a:lumMod val="95000"/>
                    <a:lumOff val="5000"/>
                  </a:prstClr>
                </a:solidFill>
                <a:latin typeface="Times New Roman" pitchFamily="18" charset="0"/>
                <a:cs typeface="Times New Roman" pitchFamily="18" charset="0"/>
              </a:rPr>
              <a:t>Cleaning </a:t>
            </a:r>
            <a:r>
              <a:rPr lang="en-US" sz="2000" dirty="0">
                <a:solidFill>
                  <a:prstClr val="black">
                    <a:lumMod val="95000"/>
                    <a:lumOff val="5000"/>
                  </a:prstClr>
                </a:solidFill>
                <a:latin typeface="Times New Roman" pitchFamily="18" charset="0"/>
                <a:cs typeface="Times New Roman" pitchFamily="18" charset="0"/>
              </a:rPr>
              <a:t>is carried out washing with distilled water or with dilute alcohol, acetone. The surfaces of absorption cells must be kept scrupulously clean.  No fingerprints or blotches should be present on cells</a:t>
            </a:r>
            <a:endParaRPr lang="en-US" sz="2000" dirty="0">
              <a:solidFill>
                <a:srgbClr val="000000"/>
              </a:solidFill>
              <a:latin typeface="Times New Roman" pitchFamily="18" charset="0"/>
              <a:cs typeface="Times New Roman" pitchFamily="18" charset="0"/>
            </a:endParaRPr>
          </a:p>
        </p:txBody>
      </p:sp>
    </p:spTree>
    <p:extLst>
      <p:ext uri="{BB962C8B-B14F-4D97-AF65-F5344CB8AC3E}">
        <p14:creationId xmlns="" xmlns:p14="http://schemas.microsoft.com/office/powerpoint/2010/main" val="10327192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381000"/>
            <a:ext cx="7848600" cy="6463308"/>
          </a:xfrm>
        </p:spPr>
        <p:txBody>
          <a:bodyPr/>
          <a:lstStyle/>
          <a:p>
            <a:pPr algn="just">
              <a:lnSpc>
                <a:spcPct val="150000"/>
              </a:lnSpc>
            </a:pPr>
            <a:r>
              <a:rPr lang="en-US" sz="2000" b="1" dirty="0" smtClean="0">
                <a:solidFill>
                  <a:schemeClr val="tx1">
                    <a:lumMod val="95000"/>
                    <a:lumOff val="5000"/>
                  </a:schemeClr>
                </a:solidFill>
                <a:latin typeface="__Source_Sans_3_4d9a39"/>
              </a:rPr>
              <a:t>6</a:t>
            </a:r>
            <a:r>
              <a:rPr lang="en-US" sz="2000" b="1" dirty="0" smtClean="0">
                <a:solidFill>
                  <a:schemeClr val="tx2">
                    <a:lumMod val="60000"/>
                    <a:lumOff val="40000"/>
                  </a:schemeClr>
                </a:solidFill>
                <a:latin typeface="Times New Roman" pitchFamily="18" charset="0"/>
                <a:cs typeface="Times New Roman" pitchFamily="18" charset="0"/>
              </a:rPr>
              <a:t>) DETECTORS</a:t>
            </a:r>
          </a:p>
          <a:p>
            <a:pPr algn="just">
              <a:lnSpc>
                <a:spcPct val="150000"/>
              </a:lnSpc>
            </a:pPr>
            <a:r>
              <a:rPr lang="en-US" sz="2000" b="1" dirty="0" smtClean="0">
                <a:solidFill>
                  <a:schemeClr val="tx1">
                    <a:lumMod val="95000"/>
                    <a:lumOff val="5000"/>
                  </a:schemeClr>
                </a:solidFill>
                <a:latin typeface="Times New Roman" pitchFamily="18" charset="0"/>
                <a:cs typeface="Times New Roman" pitchFamily="18" charset="0"/>
              </a:rPr>
              <a:t> Device which </a:t>
            </a:r>
            <a:r>
              <a:rPr lang="en-US" sz="2000" dirty="0" smtClean="0">
                <a:solidFill>
                  <a:schemeClr val="tx1">
                    <a:lumMod val="95000"/>
                    <a:lumOff val="5000"/>
                  </a:schemeClr>
                </a:solidFill>
                <a:latin typeface="Times New Roman" pitchFamily="18" charset="0"/>
                <a:cs typeface="Times New Roman" pitchFamily="18" charset="0"/>
              </a:rPr>
              <a:t>converts light energy into electrical signals, that are displayed on readout devices. The transmitted radiation falls on the detector which determines the intensity of radiation absorbed by sample. The followed types of detectors are employed in instrumentation of absorption spectrophotometer.</a:t>
            </a:r>
            <a:r>
              <a:rPr lang="en-US" sz="2000" dirty="0" smtClean="0"/>
              <a:t>1 Photovoltaic cell 2. Phototubes tube 3. Photomultiplier tube Requirements of ideal detectors:  It should give quantitative response.  It should have high sensitivity and low noise level. It should have a short response time.  It should provide signal or response quantitative to wide spectrum of radiation received</a:t>
            </a:r>
            <a:endParaRPr lang="en-US" sz="2000" dirty="0" smtClean="0">
              <a:solidFill>
                <a:schemeClr val="tx1">
                  <a:lumMod val="95000"/>
                  <a:lumOff val="5000"/>
                </a:schemeClr>
              </a:solidFill>
              <a:latin typeface="Times New Roman" pitchFamily="18" charset="0"/>
              <a:cs typeface="Times New Roman" pitchFamily="18" charset="0"/>
            </a:endParaRPr>
          </a:p>
          <a:p>
            <a:pPr lvl="0" algn="just">
              <a:lnSpc>
                <a:spcPct val="150000"/>
              </a:lnSpc>
            </a:pPr>
            <a:r>
              <a:rPr lang="en-US" sz="2000" dirty="0">
                <a:solidFill>
                  <a:srgbClr val="000000"/>
                </a:solidFill>
                <a:latin typeface="Times New Roman" pitchFamily="18" charset="0"/>
                <a:cs typeface="Times New Roman" pitchFamily="18" charset="0"/>
              </a:rPr>
              <a:t> </a:t>
            </a:r>
            <a:r>
              <a:rPr lang="en-US" sz="2000" dirty="0" smtClean="0">
                <a:solidFill>
                  <a:srgbClr val="000000"/>
                </a:solidFill>
                <a:latin typeface="Times New Roman" pitchFamily="18" charset="0"/>
                <a:cs typeface="Times New Roman" pitchFamily="18" charset="0"/>
              </a:rPr>
              <a:t>7)</a:t>
            </a:r>
            <a:r>
              <a:rPr lang="en-US" sz="2000" dirty="0">
                <a:solidFill>
                  <a:srgbClr val="000000"/>
                </a:solidFill>
                <a:latin typeface="Times New Roman" pitchFamily="18" charset="0"/>
                <a:cs typeface="Times New Roman" pitchFamily="18" charset="0"/>
              </a:rPr>
              <a:t> </a:t>
            </a:r>
            <a:r>
              <a:rPr lang="en-US" sz="2000" b="1" dirty="0">
                <a:solidFill>
                  <a:prstClr val="black"/>
                </a:solidFill>
                <a:latin typeface="Times New Roman" pitchFamily="18" charset="0"/>
                <a:cs typeface="Times New Roman" pitchFamily="18" charset="0"/>
              </a:rPr>
              <a:t>AMPLIFIER AND RECORDER  </a:t>
            </a:r>
          </a:p>
          <a:p>
            <a:pPr lvl="0" algn="just">
              <a:lnSpc>
                <a:spcPct val="150000"/>
              </a:lnSpc>
            </a:pPr>
            <a:r>
              <a:rPr lang="en-US" sz="2000" dirty="0">
                <a:solidFill>
                  <a:srgbClr val="000000"/>
                </a:solidFill>
                <a:latin typeface="Times New Roman" pitchFamily="18" charset="0"/>
                <a:cs typeface="Times New Roman" pitchFamily="18" charset="0"/>
              </a:rPr>
              <a:t>Amplifier amplifies signal coming from detector  Recorder records them which is displayed on readout device. </a:t>
            </a:r>
            <a:endParaRPr lang="en-US" sz="2000" dirty="0">
              <a:solidFill>
                <a:prstClr val="black"/>
              </a:solidFill>
              <a:latin typeface="Times New Roman" pitchFamily="18" charset="0"/>
              <a:cs typeface="Times New Roman" pitchFamily="18" charset="0"/>
            </a:endParaRPr>
          </a:p>
          <a:p>
            <a:pPr algn="just">
              <a:lnSpc>
                <a:spcPct val="150000"/>
              </a:lnSpc>
            </a:pPr>
            <a:endParaRPr lang="en-US" sz="2000" dirty="0">
              <a:solidFill>
                <a:schemeClr val="tx1">
                  <a:lumMod val="95000"/>
                  <a:lumOff val="5000"/>
                </a:schemeClr>
              </a:solidFill>
              <a:latin typeface="Times New Roman" pitchFamily="18" charset="0"/>
              <a:cs typeface="Times New Roman" pitchFamily="18" charset="0"/>
            </a:endParaRPr>
          </a:p>
        </p:txBody>
      </p:sp>
    </p:spTree>
    <p:extLst>
      <p:ext uri="{BB962C8B-B14F-4D97-AF65-F5344CB8AC3E}">
        <p14:creationId xmlns="" xmlns:p14="http://schemas.microsoft.com/office/powerpoint/2010/main" val="30274940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object 3"/>
          <p:cNvPicPr/>
          <p:nvPr/>
        </p:nvPicPr>
        <p:blipFill>
          <a:blip r:embed="rId2" cstate="print"/>
          <a:stretch>
            <a:fillRect/>
          </a:stretch>
        </p:blipFill>
        <p:spPr>
          <a:xfrm>
            <a:off x="28575" y="0"/>
            <a:ext cx="9115424" cy="525780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51562" y="488515"/>
            <a:ext cx="7706637" cy="5632311"/>
          </a:xfrm>
          <a:prstGeom prst="rect">
            <a:avLst/>
          </a:prstGeom>
        </p:spPr>
        <p:txBody>
          <a:bodyPr wrap="square">
            <a:spAutoFit/>
          </a:bodyPr>
          <a:lstStyle/>
          <a:p>
            <a:pPr lvl="0" algn="just"/>
            <a:r>
              <a:rPr lang="en-US" sz="2000" b="1" u="sng" dirty="0" smtClean="0">
                <a:solidFill>
                  <a:srgbClr val="000000"/>
                </a:solidFill>
                <a:latin typeface="Times New Roman" pitchFamily="18" charset="0"/>
                <a:cs typeface="Times New Roman" pitchFamily="18" charset="0"/>
                <a:hlinkClick r:id="rId2"/>
              </a:rPr>
              <a:t>APPLICATIONS </a:t>
            </a:r>
            <a:r>
              <a:rPr lang="en-US" sz="2000" b="1" u="sng" dirty="0">
                <a:solidFill>
                  <a:srgbClr val="000000"/>
                </a:solidFill>
                <a:latin typeface="Times New Roman" pitchFamily="18" charset="0"/>
                <a:cs typeface="Times New Roman" pitchFamily="18" charset="0"/>
                <a:hlinkClick r:id="rId2"/>
              </a:rPr>
              <a:t>OF U.V. </a:t>
            </a:r>
            <a:r>
              <a:rPr lang="en-US" sz="2000" b="1" u="sng" dirty="0" smtClean="0">
                <a:solidFill>
                  <a:srgbClr val="000000"/>
                </a:solidFill>
                <a:latin typeface="Times New Roman" pitchFamily="18" charset="0"/>
                <a:cs typeface="Times New Roman" pitchFamily="18" charset="0"/>
              </a:rPr>
              <a:t>SPECTROSCOP</a:t>
            </a:r>
          </a:p>
          <a:p>
            <a:pPr lvl="0" algn="just"/>
            <a:r>
              <a:rPr lang="en-US" sz="2000" b="1" dirty="0" smtClean="0">
                <a:solidFill>
                  <a:srgbClr val="000000"/>
                </a:solidFill>
                <a:latin typeface="__Source_Sans_3_4d9a39"/>
                <a:cs typeface="Times New Roman"/>
              </a:rPr>
              <a:t>1. </a:t>
            </a:r>
            <a:r>
              <a:rPr lang="en-US" sz="2000" b="1" dirty="0" smtClean="0">
                <a:solidFill>
                  <a:srgbClr val="000000"/>
                </a:solidFill>
                <a:latin typeface="Times New Roman" pitchFamily="18" charset="0"/>
                <a:cs typeface="Times New Roman" pitchFamily="18" charset="0"/>
              </a:rPr>
              <a:t>Detection </a:t>
            </a:r>
            <a:r>
              <a:rPr lang="en-US" sz="2000" b="1" dirty="0">
                <a:solidFill>
                  <a:srgbClr val="000000"/>
                </a:solidFill>
                <a:latin typeface="Times New Roman" pitchFamily="18" charset="0"/>
                <a:cs typeface="Times New Roman" pitchFamily="18" charset="0"/>
              </a:rPr>
              <a:t>of </a:t>
            </a:r>
            <a:r>
              <a:rPr lang="en-US" sz="2000" b="1" dirty="0" smtClean="0">
                <a:solidFill>
                  <a:srgbClr val="000000"/>
                </a:solidFill>
                <a:latin typeface="Times New Roman" pitchFamily="18" charset="0"/>
                <a:cs typeface="Times New Roman" pitchFamily="18" charset="0"/>
              </a:rPr>
              <a:t>Impurities: </a:t>
            </a:r>
          </a:p>
          <a:p>
            <a:pPr lvl="0" algn="just"/>
            <a:r>
              <a:rPr lang="en-US" sz="2000" dirty="0" smtClean="0">
                <a:solidFill>
                  <a:srgbClr val="000000"/>
                </a:solidFill>
                <a:latin typeface="Times New Roman" pitchFamily="18" charset="0"/>
                <a:cs typeface="Times New Roman" pitchFamily="18" charset="0"/>
              </a:rPr>
              <a:t>UV </a:t>
            </a:r>
            <a:r>
              <a:rPr lang="en-US" sz="2000" dirty="0">
                <a:solidFill>
                  <a:srgbClr val="000000"/>
                </a:solidFill>
                <a:latin typeface="Times New Roman" pitchFamily="18" charset="0"/>
                <a:cs typeface="Times New Roman" pitchFamily="18" charset="0"/>
              </a:rPr>
              <a:t>absorption spectroscopy is one of the best methods for determination of impurities in organic molecules. Additional peaks can be observed due to impurities in the sample </a:t>
            </a:r>
            <a:endParaRPr lang="en-US" sz="2000" dirty="0" smtClean="0">
              <a:solidFill>
                <a:srgbClr val="000000"/>
              </a:solidFill>
              <a:latin typeface="Times New Roman" pitchFamily="18" charset="0"/>
              <a:cs typeface="Times New Roman" pitchFamily="18" charset="0"/>
            </a:endParaRPr>
          </a:p>
          <a:p>
            <a:pPr lvl="0" algn="just"/>
            <a:r>
              <a:rPr lang="en-US" sz="2000" dirty="0">
                <a:solidFill>
                  <a:srgbClr val="000000"/>
                </a:solidFill>
                <a:latin typeface="Times New Roman" pitchFamily="18" charset="0"/>
                <a:cs typeface="Times New Roman" pitchFamily="18" charset="0"/>
              </a:rPr>
              <a:t> </a:t>
            </a:r>
            <a:r>
              <a:rPr lang="en-US" sz="2000" b="1" dirty="0" smtClean="0">
                <a:solidFill>
                  <a:srgbClr val="000000"/>
                </a:solidFill>
                <a:latin typeface="Times New Roman" pitchFamily="18" charset="0"/>
                <a:cs typeface="Times New Roman" pitchFamily="18" charset="0"/>
              </a:rPr>
              <a:t>2 </a:t>
            </a:r>
            <a:r>
              <a:rPr lang="en-US" sz="2000" b="1" dirty="0">
                <a:solidFill>
                  <a:srgbClr val="000000"/>
                </a:solidFill>
                <a:latin typeface="Times New Roman" pitchFamily="18" charset="0"/>
                <a:cs typeface="Times New Roman" pitchFamily="18" charset="0"/>
              </a:rPr>
              <a:t>Structure elucidation </a:t>
            </a:r>
            <a:r>
              <a:rPr lang="en-US" sz="2000" dirty="0">
                <a:solidFill>
                  <a:srgbClr val="000000"/>
                </a:solidFill>
                <a:latin typeface="Times New Roman" pitchFamily="18" charset="0"/>
                <a:cs typeface="Times New Roman" pitchFamily="18" charset="0"/>
              </a:rPr>
              <a:t>of organic compounds. </a:t>
            </a:r>
            <a:endParaRPr lang="en-US" sz="2000" dirty="0" smtClean="0">
              <a:solidFill>
                <a:srgbClr val="000000"/>
              </a:solidFill>
              <a:latin typeface="Times New Roman" pitchFamily="18" charset="0"/>
              <a:cs typeface="Times New Roman" pitchFamily="18" charset="0"/>
            </a:endParaRPr>
          </a:p>
          <a:p>
            <a:pPr lvl="0" algn="just"/>
            <a:r>
              <a:rPr lang="en-US" sz="2000" dirty="0" smtClean="0">
                <a:solidFill>
                  <a:srgbClr val="000000"/>
                </a:solidFill>
                <a:latin typeface="Times New Roman" pitchFamily="18" charset="0"/>
                <a:cs typeface="Times New Roman" pitchFamily="18" charset="0"/>
              </a:rPr>
              <a:t> </a:t>
            </a:r>
            <a:r>
              <a:rPr lang="en-US" sz="2000" dirty="0">
                <a:solidFill>
                  <a:srgbClr val="000000"/>
                </a:solidFill>
                <a:latin typeface="Times New Roman" pitchFamily="18" charset="0"/>
                <a:cs typeface="Times New Roman" pitchFamily="18" charset="0"/>
              </a:rPr>
              <a:t>UV spectroscopy is useful in the structure elucidation of organic molecules, the presence or absence of unsaturation, </a:t>
            </a:r>
            <a:r>
              <a:rPr lang="en-US" sz="2000" dirty="0" smtClean="0">
                <a:solidFill>
                  <a:srgbClr val="000000"/>
                </a:solidFill>
                <a:latin typeface="Times New Roman" pitchFamily="18" charset="0"/>
                <a:cs typeface="Times New Roman" pitchFamily="18" charset="0"/>
              </a:rPr>
              <a:t>it </a:t>
            </a:r>
            <a:r>
              <a:rPr lang="en-US" sz="2000" dirty="0">
                <a:solidFill>
                  <a:srgbClr val="000000"/>
                </a:solidFill>
                <a:latin typeface="Times New Roman" pitchFamily="18" charset="0"/>
                <a:cs typeface="Times New Roman" pitchFamily="18" charset="0"/>
              </a:rPr>
              <a:t>can be concluded that whether the compound is saturated or unsaturated, hetero atoms are present or not etc.</a:t>
            </a:r>
          </a:p>
          <a:p>
            <a:pPr lvl="0" algn="just"/>
            <a:r>
              <a:rPr lang="en-US" sz="2000" b="1" dirty="0" smtClean="0">
                <a:solidFill>
                  <a:srgbClr val="000000"/>
                </a:solidFill>
                <a:latin typeface="Times New Roman" pitchFamily="18" charset="0"/>
                <a:cs typeface="Times New Roman" pitchFamily="18" charset="0"/>
              </a:rPr>
              <a:t>3</a:t>
            </a:r>
            <a:r>
              <a:rPr lang="en-US" sz="2000" b="1" dirty="0">
                <a:solidFill>
                  <a:srgbClr val="000000"/>
                </a:solidFill>
                <a:latin typeface="Times New Roman" pitchFamily="18" charset="0"/>
                <a:cs typeface="Times New Roman" pitchFamily="18" charset="0"/>
              </a:rPr>
              <a:t>. QUANTITATIVE </a:t>
            </a:r>
            <a:r>
              <a:rPr lang="en-US" sz="2000" b="1" dirty="0" smtClean="0">
                <a:solidFill>
                  <a:srgbClr val="000000"/>
                </a:solidFill>
                <a:latin typeface="Times New Roman" pitchFamily="18" charset="0"/>
                <a:cs typeface="Times New Roman" pitchFamily="18" charset="0"/>
              </a:rPr>
              <a:t>ANALYSIS</a:t>
            </a:r>
          </a:p>
          <a:p>
            <a:pPr lvl="0" algn="just"/>
            <a:r>
              <a:rPr lang="en-US" sz="2000" b="1" dirty="0" smtClean="0">
                <a:solidFill>
                  <a:srgbClr val="000000"/>
                </a:solidFill>
                <a:latin typeface="Times New Roman" pitchFamily="18" charset="0"/>
                <a:cs typeface="Times New Roman" pitchFamily="18" charset="0"/>
              </a:rPr>
              <a:t> </a:t>
            </a:r>
            <a:r>
              <a:rPr lang="en-US" sz="2000" dirty="0" smtClean="0">
                <a:solidFill>
                  <a:srgbClr val="000000"/>
                </a:solidFill>
                <a:latin typeface="Times New Roman" pitchFamily="18" charset="0"/>
                <a:cs typeface="Times New Roman" pitchFamily="18" charset="0"/>
              </a:rPr>
              <a:t>UV </a:t>
            </a:r>
            <a:r>
              <a:rPr lang="en-US" sz="2000" dirty="0">
                <a:solidFill>
                  <a:srgbClr val="000000"/>
                </a:solidFill>
                <a:latin typeface="Times New Roman" pitchFamily="18" charset="0"/>
                <a:cs typeface="Times New Roman" pitchFamily="18" charset="0"/>
              </a:rPr>
              <a:t>absorption spectroscopy can be used for the quantitative determination of compounds that absorb UV radiation. This determination is based on Beer’s law </a:t>
            </a:r>
            <a:r>
              <a:rPr lang="en-US" sz="2000" dirty="0" smtClean="0">
                <a:solidFill>
                  <a:srgbClr val="000000"/>
                </a:solidFill>
                <a:latin typeface="Times New Roman" pitchFamily="18" charset="0"/>
                <a:cs typeface="Times New Roman" pitchFamily="18" charset="0"/>
              </a:rPr>
              <a:t>.</a:t>
            </a:r>
          </a:p>
          <a:p>
            <a:pPr lvl="0" algn="just"/>
            <a:r>
              <a:rPr lang="en-US" sz="2000" dirty="0">
                <a:solidFill>
                  <a:srgbClr val="000000"/>
                </a:solidFill>
                <a:latin typeface="Times New Roman" pitchFamily="18" charset="0"/>
                <a:cs typeface="Times New Roman" pitchFamily="18" charset="0"/>
              </a:rPr>
              <a:t> </a:t>
            </a:r>
            <a:r>
              <a:rPr lang="en-US" sz="2000" b="1" dirty="0" smtClean="0">
                <a:solidFill>
                  <a:srgbClr val="000000"/>
                </a:solidFill>
                <a:latin typeface="Times New Roman" pitchFamily="18" charset="0"/>
                <a:cs typeface="Times New Roman" pitchFamily="18" charset="0"/>
              </a:rPr>
              <a:t>4.QUALITATIVE ANALYSIS </a:t>
            </a:r>
          </a:p>
          <a:p>
            <a:pPr lvl="0" algn="just"/>
            <a:r>
              <a:rPr lang="en-US" sz="2000" dirty="0" smtClean="0">
                <a:solidFill>
                  <a:srgbClr val="000000"/>
                </a:solidFill>
                <a:latin typeface="Times New Roman" pitchFamily="18" charset="0"/>
                <a:cs typeface="Times New Roman" pitchFamily="18" charset="0"/>
              </a:rPr>
              <a:t>UV </a:t>
            </a:r>
            <a:r>
              <a:rPr lang="en-US" sz="2000" dirty="0">
                <a:solidFill>
                  <a:srgbClr val="000000"/>
                </a:solidFill>
                <a:latin typeface="Times New Roman" pitchFamily="18" charset="0"/>
                <a:cs typeface="Times New Roman" pitchFamily="18" charset="0"/>
              </a:rPr>
              <a:t>absorption spectroscopy can characterize those types of compounds which absorbs UV radiation. Identification is done by comparing the absorption spectrum with the spectra of known compounds</a:t>
            </a:r>
            <a:r>
              <a:rPr lang="en-US" sz="2000" dirty="0" smtClean="0">
                <a:solidFill>
                  <a:srgbClr val="000000"/>
                </a:solidFill>
                <a:latin typeface="Times New Roman" pitchFamily="18" charset="0"/>
                <a:cs typeface="Times New Roman" pitchFamily="18" charset="0"/>
              </a:rPr>
              <a:t>.</a:t>
            </a:r>
            <a:endParaRPr lang="en-US" sz="2000" dirty="0">
              <a:solidFill>
                <a:srgbClr val="000000"/>
              </a:solidFill>
              <a:latin typeface="Times New Roman" pitchFamily="18" charset="0"/>
              <a:cs typeface="Times New Roman" pitchFamily="18" charset="0"/>
            </a:endParaRPr>
          </a:p>
        </p:txBody>
      </p:sp>
    </p:spTree>
    <p:extLst>
      <p:ext uri="{BB962C8B-B14F-4D97-AF65-F5344CB8AC3E}">
        <p14:creationId xmlns="" xmlns:p14="http://schemas.microsoft.com/office/powerpoint/2010/main" val="193235590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1249" y="676406"/>
            <a:ext cx="8129392" cy="4597052"/>
          </a:xfrm>
          <a:solidFill>
            <a:schemeClr val="bg1"/>
          </a:solidFill>
        </p:spPr>
        <p:txBody>
          <a:bodyPr/>
          <a:lstStyle/>
          <a:p>
            <a:pPr lvl="0" algn="just" rtl="0">
              <a:lnSpc>
                <a:spcPct val="150000"/>
              </a:lnSpc>
            </a:pPr>
            <a:r>
              <a:rPr lang="en-US" sz="2000" kern="1200" dirty="0">
                <a:solidFill>
                  <a:schemeClr val="tx1">
                    <a:lumMod val="50000"/>
                    <a:lumOff val="50000"/>
                  </a:schemeClr>
                </a:solidFill>
                <a:latin typeface="Times New Roman" pitchFamily="18" charset="0"/>
                <a:cs typeface="Times New Roman" pitchFamily="18" charset="0"/>
              </a:rPr>
              <a:t> </a:t>
            </a:r>
            <a:r>
              <a:rPr lang="en-US" sz="2000" b="1" kern="1200" dirty="0">
                <a:solidFill>
                  <a:schemeClr val="tx1">
                    <a:lumMod val="50000"/>
                    <a:lumOff val="50000"/>
                  </a:schemeClr>
                </a:solidFill>
                <a:latin typeface="Times New Roman" pitchFamily="18" charset="0"/>
                <a:cs typeface="Times New Roman" pitchFamily="18" charset="0"/>
              </a:rPr>
              <a:t>5. CHEMICAL KINETICS</a:t>
            </a:r>
          </a:p>
          <a:p>
            <a:pPr lvl="0" algn="just" rtl="0">
              <a:lnSpc>
                <a:spcPct val="150000"/>
              </a:lnSpc>
            </a:pPr>
            <a:r>
              <a:rPr lang="en-US" sz="2000" b="1" kern="1200" dirty="0">
                <a:solidFill>
                  <a:srgbClr val="000000"/>
                </a:solidFill>
                <a:latin typeface="Times New Roman" pitchFamily="18" charset="0"/>
                <a:cs typeface="Times New Roman" pitchFamily="18" charset="0"/>
              </a:rPr>
              <a:t>  </a:t>
            </a:r>
            <a:r>
              <a:rPr lang="en-US" sz="2000" kern="1200" dirty="0">
                <a:solidFill>
                  <a:srgbClr val="000000"/>
                </a:solidFill>
                <a:latin typeface="Times New Roman" pitchFamily="18" charset="0"/>
                <a:cs typeface="Times New Roman" pitchFamily="18" charset="0"/>
              </a:rPr>
              <a:t>Kinetics of reaction can also be studied using UV spectroscopy. The UV radiation is passed through the reaction cell and the absorbance changes can be observed.</a:t>
            </a:r>
          </a:p>
          <a:p>
            <a:pPr lvl="0" algn="just" rtl="0">
              <a:lnSpc>
                <a:spcPct val="150000"/>
              </a:lnSpc>
            </a:pPr>
            <a:r>
              <a:rPr lang="en-US" sz="2000" b="1" kern="1200" dirty="0" smtClean="0">
                <a:solidFill>
                  <a:schemeClr val="tx1">
                    <a:lumMod val="50000"/>
                    <a:lumOff val="50000"/>
                  </a:schemeClr>
                </a:solidFill>
                <a:latin typeface="Times New Roman" pitchFamily="18" charset="0"/>
                <a:cs typeface="Times New Roman" pitchFamily="18" charset="0"/>
              </a:rPr>
              <a:t>6</a:t>
            </a:r>
            <a:r>
              <a:rPr lang="en-US" sz="2000" b="1" kern="1200" dirty="0">
                <a:solidFill>
                  <a:schemeClr val="tx1">
                    <a:lumMod val="50000"/>
                    <a:lumOff val="50000"/>
                  </a:schemeClr>
                </a:solidFill>
                <a:latin typeface="Times New Roman" pitchFamily="18" charset="0"/>
                <a:cs typeface="Times New Roman" pitchFamily="18" charset="0"/>
              </a:rPr>
              <a:t>. DETECTION OF </a:t>
            </a:r>
            <a:r>
              <a:rPr lang="en-US" sz="2000" kern="1200" dirty="0">
                <a:solidFill>
                  <a:srgbClr val="000000"/>
                </a:solidFill>
                <a:latin typeface="Times New Roman" pitchFamily="18" charset="0"/>
                <a:cs typeface="Times New Roman" pitchFamily="18" charset="0"/>
              </a:rPr>
              <a:t>FUNCTIONAL GROUPS </a:t>
            </a:r>
            <a:r>
              <a:rPr lang="en-US" sz="2000" kern="1200" dirty="0" smtClean="0">
                <a:solidFill>
                  <a:srgbClr val="000000"/>
                </a:solidFill>
                <a:latin typeface="Times New Roman" pitchFamily="18" charset="0"/>
                <a:cs typeface="Times New Roman" pitchFamily="18" charset="0"/>
              </a:rPr>
              <a:t>This </a:t>
            </a:r>
            <a:r>
              <a:rPr lang="en-US" sz="2000" kern="1200" dirty="0">
                <a:solidFill>
                  <a:srgbClr val="000000"/>
                </a:solidFill>
                <a:latin typeface="Times New Roman" pitchFamily="18" charset="0"/>
                <a:cs typeface="Times New Roman" pitchFamily="18" charset="0"/>
              </a:rPr>
              <a:t>technique is used to detect the presence or absence of functional group in the compound </a:t>
            </a:r>
            <a:r>
              <a:rPr lang="en-US" sz="2000" kern="1200" dirty="0" smtClean="0">
                <a:solidFill>
                  <a:srgbClr val="000000"/>
                </a:solidFill>
                <a:latin typeface="Times New Roman" pitchFamily="18" charset="0"/>
                <a:cs typeface="Times New Roman" pitchFamily="18" charset="0"/>
              </a:rPr>
              <a:t>Absence </a:t>
            </a:r>
            <a:r>
              <a:rPr lang="en-US" sz="2000" kern="1200" dirty="0">
                <a:solidFill>
                  <a:srgbClr val="000000"/>
                </a:solidFill>
                <a:latin typeface="Times New Roman" pitchFamily="18" charset="0"/>
                <a:cs typeface="Times New Roman" pitchFamily="18" charset="0"/>
              </a:rPr>
              <a:t>of a band at particular wavelength regarded as an evidence for absence of particular group</a:t>
            </a:r>
          </a:p>
          <a:p>
            <a:pPr lvl="0" algn="just" rtl="0">
              <a:lnSpc>
                <a:spcPct val="150000"/>
              </a:lnSpc>
            </a:pPr>
            <a:r>
              <a:rPr lang="en-US" sz="2000" b="1" u="sng" kern="1200" dirty="0" smtClean="0">
                <a:solidFill>
                  <a:schemeClr val="tx1">
                    <a:lumMod val="50000"/>
                    <a:lumOff val="50000"/>
                  </a:schemeClr>
                </a:solidFill>
                <a:latin typeface="Times New Roman" pitchFamily="18" charset="0"/>
                <a:cs typeface="Times New Roman" pitchFamily="18" charset="0"/>
              </a:rPr>
              <a:t> </a:t>
            </a:r>
            <a:r>
              <a:rPr lang="en-US" sz="2000" b="1" kern="1200" dirty="0" smtClean="0">
                <a:solidFill>
                  <a:schemeClr val="tx1">
                    <a:lumMod val="50000"/>
                    <a:lumOff val="50000"/>
                  </a:schemeClr>
                </a:solidFill>
                <a:latin typeface="Times New Roman" pitchFamily="18" charset="0"/>
                <a:cs typeface="Times New Roman" pitchFamily="18" charset="0"/>
              </a:rPr>
              <a:t>7. </a:t>
            </a:r>
            <a:r>
              <a:rPr lang="en-US" sz="2000" b="1" kern="1200" dirty="0">
                <a:solidFill>
                  <a:schemeClr val="tx1">
                    <a:lumMod val="50000"/>
                    <a:lumOff val="50000"/>
                  </a:schemeClr>
                </a:solidFill>
                <a:latin typeface="Times New Roman" pitchFamily="18" charset="0"/>
                <a:cs typeface="Times New Roman" pitchFamily="18" charset="0"/>
              </a:rPr>
              <a:t>QUANTITATIVE ANALYSIS</a:t>
            </a:r>
            <a:r>
              <a:rPr lang="en-US" sz="2000" b="1" u="sng" kern="1200" dirty="0">
                <a:solidFill>
                  <a:schemeClr val="tx1">
                    <a:lumMod val="50000"/>
                    <a:lumOff val="50000"/>
                  </a:schemeClr>
                </a:solidFill>
                <a:latin typeface="Times New Roman" pitchFamily="18" charset="0"/>
                <a:cs typeface="Times New Roman" pitchFamily="18" charset="0"/>
              </a:rPr>
              <a:t> </a:t>
            </a:r>
            <a:r>
              <a:rPr lang="en-US" sz="2000" kern="1200" dirty="0">
                <a:solidFill>
                  <a:srgbClr val="000000"/>
                </a:solidFill>
                <a:latin typeface="Times New Roman" pitchFamily="18" charset="0"/>
                <a:cs typeface="Times New Roman" pitchFamily="18" charset="0"/>
              </a:rPr>
              <a:t>OF PHARMACEUTICAL SUBSTANCES </a:t>
            </a:r>
            <a:r>
              <a:rPr lang="en-US" sz="2000" kern="1200" dirty="0" smtClean="0">
                <a:solidFill>
                  <a:srgbClr val="000000"/>
                </a:solidFill>
                <a:latin typeface="Times New Roman" pitchFamily="18" charset="0"/>
                <a:cs typeface="Times New Roman" pitchFamily="18" charset="0"/>
              </a:rPr>
              <a:t> </a:t>
            </a:r>
            <a:r>
              <a:rPr lang="en-US" sz="2000" kern="1200" dirty="0">
                <a:solidFill>
                  <a:srgbClr val="000000"/>
                </a:solidFill>
                <a:latin typeface="Times New Roman" pitchFamily="18" charset="0"/>
                <a:cs typeface="Times New Roman" pitchFamily="18" charset="0"/>
              </a:rPr>
              <a:t>Many drugs are either in the form of raw material or in the form of formulation. </a:t>
            </a:r>
            <a:endParaRPr lang="en-US" sz="2000" dirty="0">
              <a:latin typeface="Times New Roman" pitchFamily="18" charset="0"/>
              <a:cs typeface="Times New Roman" pitchFamily="18" charset="0"/>
            </a:endParaRPr>
          </a:p>
        </p:txBody>
      </p:sp>
    </p:spTree>
    <p:extLst>
      <p:ext uri="{BB962C8B-B14F-4D97-AF65-F5344CB8AC3E}">
        <p14:creationId xmlns="" xmlns:p14="http://schemas.microsoft.com/office/powerpoint/2010/main" val="35783194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1137</TotalTime>
  <Words>3705</Words>
  <Application>Microsoft Office PowerPoint</Application>
  <PresentationFormat>On-screen Show (4:3)</PresentationFormat>
  <Paragraphs>528</Paragraphs>
  <Slides>78</Slides>
  <Notes>0</Notes>
  <HiddenSlides>0</HiddenSlides>
  <MMClips>0</MMClips>
  <ScaleCrop>false</ScaleCrop>
  <HeadingPairs>
    <vt:vector size="4" baseType="variant">
      <vt:variant>
        <vt:lpstr>Theme</vt:lpstr>
      </vt:variant>
      <vt:variant>
        <vt:i4>1</vt:i4>
      </vt:variant>
      <vt:variant>
        <vt:lpstr>Slide Titles</vt:lpstr>
      </vt:variant>
      <vt:variant>
        <vt:i4>78</vt:i4>
      </vt:variant>
    </vt:vector>
  </HeadingPairs>
  <TitlesOfParts>
    <vt:vector size="79" baseType="lpstr">
      <vt:lpstr>Office Theme</vt:lpstr>
      <vt:lpstr>Slide 1</vt:lpstr>
      <vt:lpstr>Electrochemistry: </vt:lpstr>
      <vt:lpstr>Slide 3</vt:lpstr>
      <vt:lpstr>Cell</vt:lpstr>
      <vt:lpstr>Types of cells</vt:lpstr>
      <vt:lpstr>Slide 6</vt:lpstr>
      <vt:lpstr>Common Components</vt:lpstr>
      <vt:lpstr>Galvanic Cells</vt:lpstr>
      <vt:lpstr>Slide 9</vt:lpstr>
      <vt:lpstr>Representation of an electrochemical cell:</vt:lpstr>
      <vt:lpstr>Electrode potential:</vt:lpstr>
      <vt:lpstr>Slide 12</vt:lpstr>
      <vt:lpstr>Slide 13</vt:lpstr>
      <vt:lpstr>Calomel Electrode</vt:lpstr>
      <vt:lpstr>Calomel Electrode</vt:lpstr>
      <vt:lpstr>Slide 16</vt:lpstr>
      <vt:lpstr>Slide 17</vt:lpstr>
      <vt:lpstr>Indicator Electrode-Glass Electrode</vt:lpstr>
      <vt:lpstr>Slide 19</vt:lpstr>
      <vt:lpstr>Slide 20</vt:lpstr>
      <vt:lpstr>Determination of pH of Solution</vt:lpstr>
      <vt:lpstr>Slide 22</vt:lpstr>
      <vt:lpstr>Ion-Selective Electrode (ISE)</vt:lpstr>
      <vt:lpstr>Advantages of Ion selective electrodes</vt:lpstr>
      <vt:lpstr>Slide 25</vt:lpstr>
      <vt:lpstr>2. Solid – State Electrode</vt:lpstr>
      <vt:lpstr>Working of Fluoride ion electrode</vt:lpstr>
      <vt:lpstr>Slide 28</vt:lpstr>
      <vt:lpstr>2) Chloride ion selective electrode – Solid state  electrode</vt:lpstr>
      <vt:lpstr>Conductometry</vt:lpstr>
      <vt:lpstr>Slide 31</vt:lpstr>
      <vt:lpstr>Slide 32</vt:lpstr>
      <vt:lpstr>Slide 33</vt:lpstr>
      <vt:lpstr>Slide 34</vt:lpstr>
      <vt:lpstr>Slide 35</vt:lpstr>
      <vt:lpstr>Cell Constant: The ratio of l/A is known as cell constant.  It depends upon the distance between the electrode (l)  and the area of cross section (A) of the electrode. From equation</vt:lpstr>
      <vt:lpstr>Slide 37</vt:lpstr>
      <vt:lpstr>Slide 38</vt:lpstr>
      <vt:lpstr>Slide 39</vt:lpstr>
      <vt:lpstr>Slide 40</vt:lpstr>
      <vt:lpstr>Factors affecting conductivity</vt:lpstr>
      <vt:lpstr>Conductometric Titration Curves</vt:lpstr>
      <vt:lpstr>Slide 43</vt:lpstr>
      <vt:lpstr>Slide 44</vt:lpstr>
      <vt:lpstr>pH metry</vt:lpstr>
      <vt:lpstr>From Handerson equation buffer solution  can be prepared</vt:lpstr>
      <vt:lpstr>The relationship between the pH of а solution and the concentrations of an acid and  its conjugate base is easily derived.</vt:lpstr>
      <vt:lpstr>Slide 48</vt:lpstr>
      <vt:lpstr>pH metric titration between HCl and NaOH</vt:lpstr>
      <vt:lpstr>Slide 50</vt:lpstr>
      <vt:lpstr>Observation : </vt:lpstr>
      <vt:lpstr>Spectroscopy</vt:lpstr>
      <vt:lpstr>Slide 53</vt:lpstr>
      <vt:lpstr>Slide 54</vt:lpstr>
      <vt:lpstr>Lambert’s law</vt:lpstr>
      <vt:lpstr>Beer’s law</vt:lpstr>
      <vt:lpstr>Combine Beer-Lambert’s law</vt:lpstr>
      <vt:lpstr>Slide 58</vt:lpstr>
      <vt:lpstr>Varification of Beer-Lambert’s law</vt:lpstr>
      <vt:lpstr>Electronic transition</vt:lpstr>
      <vt:lpstr>Slide 61</vt:lpstr>
      <vt:lpstr>Slide 62</vt:lpstr>
      <vt:lpstr>Terms involve in UV –Visible spectroscopy</vt:lpstr>
      <vt:lpstr>3)Bathochromic shift (Red Shift)</vt:lpstr>
      <vt:lpstr>Slide 65</vt:lpstr>
      <vt:lpstr>Hypsochromic Shift (Blue Shift)</vt:lpstr>
      <vt:lpstr>Hyperchromic Effect</vt:lpstr>
      <vt:lpstr>Hypochromic Effect</vt:lpstr>
      <vt:lpstr>Shifts and Effects</vt:lpstr>
      <vt:lpstr>Double Beam Spectrophotometer</vt:lpstr>
      <vt:lpstr>Slide 71</vt:lpstr>
      <vt:lpstr>Slide 72</vt:lpstr>
      <vt:lpstr>Slide 73</vt:lpstr>
      <vt:lpstr>Slide 74</vt:lpstr>
      <vt:lpstr>Slide 75</vt:lpstr>
      <vt:lpstr>Slide 76</vt:lpstr>
      <vt:lpstr>Slide 77</vt:lpstr>
      <vt:lpstr>Slide 78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vaishali ladde</dc:creator>
  <cp:lastModifiedBy>Admin</cp:lastModifiedBy>
  <cp:revision>112</cp:revision>
  <dcterms:created xsi:type="dcterms:W3CDTF">2024-10-16T09:26:16Z</dcterms:created>
  <dcterms:modified xsi:type="dcterms:W3CDTF">2025-02-07T05:02:40Z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2023-10-11T00:00:00Z</vt:filetime>
  </property>
  <property fmtid="{D5CDD505-2E9C-101B-9397-08002B2CF9AE}" pid="3" name="Creator">
    <vt:lpwstr>Microsoft® Word 2016</vt:lpwstr>
  </property>
  <property fmtid="{D5CDD505-2E9C-101B-9397-08002B2CF9AE}" pid="4" name="LastSaved">
    <vt:filetime>2024-10-16T00:00:00Z</vt:filetime>
  </property>
</Properties>
</file>