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2"/>
  </p:notesMasterIdLst>
  <p:sldIdLst>
    <p:sldId id="259" r:id="rId2"/>
    <p:sldId id="278" r:id="rId3"/>
    <p:sldId id="257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59" r:id="rId17"/>
    <p:sldId id="271" r:id="rId18"/>
    <p:sldId id="277" r:id="rId19"/>
    <p:sldId id="272" r:id="rId20"/>
    <p:sldId id="273" r:id="rId21"/>
    <p:sldId id="274" r:id="rId22"/>
    <p:sldId id="275" r:id="rId23"/>
    <p:sldId id="276" r:id="rId24"/>
    <p:sldId id="279" r:id="rId25"/>
    <p:sldId id="280" r:id="rId26"/>
    <p:sldId id="283" r:id="rId27"/>
    <p:sldId id="284" r:id="rId28"/>
    <p:sldId id="286" r:id="rId29"/>
    <p:sldId id="287" r:id="rId30"/>
    <p:sldId id="289" r:id="rId31"/>
    <p:sldId id="290" r:id="rId32"/>
    <p:sldId id="291" r:id="rId33"/>
    <p:sldId id="293" r:id="rId34"/>
    <p:sldId id="294" r:id="rId35"/>
    <p:sldId id="295" r:id="rId36"/>
    <p:sldId id="296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9" r:id="rId46"/>
    <p:sldId id="313" r:id="rId47"/>
    <p:sldId id="315" r:id="rId48"/>
    <p:sldId id="316" r:id="rId49"/>
    <p:sldId id="317" r:id="rId50"/>
    <p:sldId id="319" r:id="rId51"/>
    <p:sldId id="320" r:id="rId52"/>
    <p:sldId id="321" r:id="rId53"/>
    <p:sldId id="322" r:id="rId54"/>
    <p:sldId id="323" r:id="rId55"/>
    <p:sldId id="327" r:id="rId56"/>
    <p:sldId id="331" r:id="rId57"/>
    <p:sldId id="361" r:id="rId58"/>
    <p:sldId id="332" r:id="rId59"/>
    <p:sldId id="333" r:id="rId60"/>
    <p:sldId id="334" r:id="rId61"/>
    <p:sldId id="335" r:id="rId62"/>
    <p:sldId id="337" r:id="rId63"/>
    <p:sldId id="338" r:id="rId64"/>
    <p:sldId id="339" r:id="rId65"/>
    <p:sldId id="340" r:id="rId66"/>
    <p:sldId id="342" r:id="rId67"/>
    <p:sldId id="343" r:id="rId68"/>
    <p:sldId id="344" r:id="rId69"/>
    <p:sldId id="345" r:id="rId70"/>
    <p:sldId id="346" r:id="rId71"/>
    <p:sldId id="347" r:id="rId72"/>
    <p:sldId id="348" r:id="rId73"/>
    <p:sldId id="355" r:id="rId74"/>
    <p:sldId id="356" r:id="rId75"/>
    <p:sldId id="357" r:id="rId76"/>
    <p:sldId id="358" r:id="rId77"/>
    <p:sldId id="362" r:id="rId78"/>
    <p:sldId id="366" r:id="rId79"/>
    <p:sldId id="363" r:id="rId80"/>
    <p:sldId id="365" r:id="rId8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F661D-B33E-4A73-AE3F-E7C92B9BDDB4}" type="datetimeFigureOut">
              <a:rPr lang="en-US" smtClean="0"/>
              <a:pPr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A4AC2-7F4B-4E8C-BD2F-CDB1FE3D3F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4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28464BC-002E-47FD-A05F-6191CC1495A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553C4-36F7-4195-B00E-7C370A794DF9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V. R. Ladde          SKNSITS             2020-21 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DB324-F174-46B3-83C2-4126F1D3C4A8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V. R. Ladde          SKNSITS             2020-21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7D31-FFD5-4A5B-8DD1-C1A563ECF2DF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V. R. Ladde          SKNSITS             2020-21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D7CC-E02B-4C48-BCF0-37DACACC6EC0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V. R. Ladde          SKNSITS             2020-21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E6CDB-0600-4124-9311-A0CC327C05B4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V. R. Ladde          SKNSITS             2020-21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73173-621B-43D1-B2D5-4816325E8A45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V. R. Ladde          SKNSITS             2020-21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33336-D618-438D-A7C9-A485B72C2068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V. R. Ladde          SKNSITS             2020-21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E28F-F23B-431F-B243-6780C7E4F13B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V. R. Ladde          SKNSITS             2020-21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E46C-FE2F-4C9C-AB55-93F87D257320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V. R. Ladde          SKNSITS             2020-21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668E-0983-4456-A83F-3E601D059417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V. R. Ladde          SKNSITS             2020-21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7D04B-5270-4BD4-B4C9-CA8BA8478383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V. R. Ladde          SKNSITS             2020-21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CBE4C7F-2A75-4AB5-838B-BF93F2413EC9}" type="datetime1">
              <a:rPr lang="en-US" smtClean="0"/>
              <a:pPr/>
              <a:t>10/21/2024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Dr. V. R. Ladde          SKNSITS             2020-21 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PH_indicator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www.slideshare.net/gavshinde/atmospheric-water-generator-by-priya-gavshinde-60409769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slideshow/atmospheric-water-generator-awg/8022585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05000"/>
            <a:ext cx="8229600" cy="14478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Course: Engineering Chemistry</a:t>
            </a:r>
            <a:br>
              <a:rPr lang="en-IN" b="1" dirty="0"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Course Code: 107009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z="2400" b="1" dirty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 smtClean="0"/>
          </a:p>
          <a:p>
            <a:r>
              <a:rPr lang="en-IN" sz="3600" dirty="0" smtClean="0">
                <a:latin typeface="Times New Roman" pitchFamily="18" charset="0"/>
                <a:cs typeface="Times New Roman" pitchFamily="18" charset="0"/>
              </a:rPr>
              <a:t>Unit I : Water Technology </a:t>
            </a:r>
          </a:p>
          <a:p>
            <a:pPr algn="r">
              <a:buNone/>
            </a:pPr>
            <a:r>
              <a:rPr lang="en-US" dirty="0" smtClean="0"/>
              <a:t>By </a:t>
            </a:r>
            <a:r>
              <a:rPr lang="en-US" dirty="0" err="1" smtClean="0"/>
              <a:t>Arti</a:t>
            </a:r>
            <a:r>
              <a:rPr lang="en-US" dirty="0" smtClean="0"/>
              <a:t> </a:t>
            </a:r>
            <a:r>
              <a:rPr lang="en-US" dirty="0" err="1" smtClean="0"/>
              <a:t>Shinde</a:t>
            </a:r>
            <a:endParaRPr lang="en-US" dirty="0" smtClean="0"/>
          </a:p>
          <a:p>
            <a:pPr algn="r">
              <a:buNone/>
            </a:pPr>
            <a:r>
              <a:rPr lang="en-US" dirty="0" err="1" smtClean="0"/>
              <a:t>Dhole</a:t>
            </a:r>
            <a:r>
              <a:rPr lang="en-US" dirty="0" smtClean="0"/>
              <a:t> </a:t>
            </a:r>
            <a:r>
              <a:rPr lang="en-US" dirty="0" err="1" smtClean="0"/>
              <a:t>Patil</a:t>
            </a:r>
            <a:r>
              <a:rPr lang="en-US" dirty="0" smtClean="0"/>
              <a:t> College of Engineering </a:t>
            </a:r>
            <a:endParaRPr lang="en-IN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Course Objective:</a:t>
            </a:r>
          </a:p>
          <a:p>
            <a:pPr marL="0" indent="0">
              <a:buNone/>
            </a:pP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To understand technology involved in analysis and improving quality of water as commodity.</a:t>
            </a:r>
          </a:p>
          <a:p>
            <a:endParaRPr lang="en-IN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Course outcome:</a:t>
            </a:r>
          </a:p>
          <a:p>
            <a:pPr marL="0" indent="0">
              <a:buNone/>
            </a:pP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Apply the different methodologies for analysis of water and techniques involved in softening of water as commodity.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248400"/>
            <a:ext cx="6248400" cy="4572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8452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IN" sz="3900" dirty="0">
                <a:latin typeface="Times New Roman" pitchFamily="18" charset="0"/>
                <a:cs typeface="Times New Roman" pitchFamily="18" charset="0"/>
              </a:rPr>
              <a:t>Contents:</a:t>
            </a:r>
            <a:endParaRPr lang="en-IN" sz="4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Unit 1: Water Technology</a:t>
            </a:r>
          </a:p>
          <a:p>
            <a:pPr>
              <a:buFont typeface="Wingdings" pitchFamily="2" charset="2"/>
              <a:buChar char="§"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Impurities in water</a:t>
            </a:r>
          </a:p>
          <a:p>
            <a:pPr>
              <a:buFont typeface="Wingdings" pitchFamily="2" charset="2"/>
              <a:buChar char="§"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Hardness of water: types, units &amp; </a:t>
            </a: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numericals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Determination of Hardness (EDTA method using </a:t>
            </a: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molarity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 concept), Alkalinity:  </a:t>
            </a: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Numericals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Ill effects of hard water in boiler- priming, foaming, boiler corrosion, scale &amp; sludge, caustic </a:t>
            </a: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embrittlement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Water Treatment: </a:t>
            </a: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Zeolite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 method &amp; </a:t>
            </a: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numericals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, ii) Demineralization method.</a:t>
            </a:r>
          </a:p>
          <a:p>
            <a:pPr>
              <a:buFont typeface="Wingdings" pitchFamily="2" charset="2"/>
              <a:buChar char="§"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Purification of water: Reverse osmosis &amp; </a:t>
            </a:r>
            <a:r>
              <a:rPr lang="en-IN" sz="3200" dirty="0" err="1">
                <a:latin typeface="Times New Roman" pitchFamily="18" charset="0"/>
                <a:cs typeface="Times New Roman" pitchFamily="18" charset="0"/>
              </a:rPr>
              <a:t>Electrodialysis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Lecture Plan: Total Hrs:08Hrs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163474315"/>
              </p:ext>
            </p:extLst>
          </p:nvPr>
        </p:nvGraphicFramePr>
        <p:xfrm>
          <a:off x="457200" y="1143000"/>
          <a:ext cx="8229600" cy="495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Lecture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Topic Covered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Impurities in water, Hardness of water: types, units 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Hardness of water: Numericals, Determination of Hardness (EDTA method using molarity concept): procedure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Determination of Hardness (EDTA method using molarity concept): procedure, Determination of Alkalinity:  Procedure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Determination of Alkalinity:</a:t>
                      </a:r>
                      <a:r>
                        <a:rPr kumimoji="0" lang="en-IN" kern="1200" baseline="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Numericals, </a:t>
                      </a:r>
                      <a:r>
                        <a:rPr kumimoji="0" lang="en-IN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Ill effects of hard water in boiler- priming, foaming, boiler corrosion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Ill effects of hard water in boiler- scale &amp; sludge, caustic embrittlement. Water Treatment: i) Zeolite method : </a:t>
                      </a:r>
                      <a:r>
                        <a:rPr kumimoji="0" lang="en-IN" kern="1200" baseline="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Procedure &amp; reactions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Zeolite method : Numericals,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Water Treatment: ii) Demineralization method.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Purification of water: Reverse osmosis &amp; Electrodialysis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Revision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2341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Unit 1: Water Technology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Weightage</a:t>
            </a:r>
            <a:r>
              <a:rPr lang="en-IN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: 15M </a:t>
            </a:r>
          </a:p>
          <a:p>
            <a:pPr>
              <a:defRPr/>
            </a:pPr>
            <a:r>
              <a:rPr lang="en-IN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(only in In semester examination.)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IN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Teaching Hours: 08 hrs. </a:t>
            </a:r>
          </a:p>
          <a:p>
            <a:pPr marL="457200" indent="-457200">
              <a:buFont typeface="Wingdings" pitchFamily="2" charset="2"/>
              <a:buChar char="ü"/>
              <a:defRPr/>
            </a:pPr>
            <a:r>
              <a:rPr lang="en-IN" b="1" dirty="0">
                <a:latin typeface="Times New Roman" pitchFamily="18" charset="0"/>
                <a:cs typeface="Times New Roman" pitchFamily="18" charset="0"/>
              </a:rPr>
              <a:t>Questions asked in ISE paper:</a:t>
            </a:r>
          </a:p>
          <a:p>
            <a:pPr marL="0" indent="0" algn="ctr">
              <a:defRPr/>
            </a:pPr>
            <a:r>
              <a:rPr lang="en-IN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Q.1    a]5M,    b] 4M,    c]3M,  d] 3M(Numerical)</a:t>
            </a:r>
          </a:p>
          <a:p>
            <a:pPr marL="0" indent="0" algn="ctr">
              <a:buNone/>
              <a:defRPr/>
            </a:pPr>
            <a:r>
              <a:rPr lang="en-I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pPr marL="0" indent="0" algn="ctr">
              <a:defRPr/>
            </a:pPr>
            <a:r>
              <a:rPr lang="en-IN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Q.2   a]5M, b] 4M, c]3M(Numerical),  d] 3M(Numerical)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Imp in Engineering 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Steam generation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Coolant in power and, chemical plants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Production of steel, rayon, paper, atomic energy, textiles, chemicals, ice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Air conditioning etc.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Fire-fighting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In building and other concrete constructions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Agriculture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341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05800" cy="5105400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Sources of water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Surface water- sea, lake, river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Rain Water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Underground water-  tube wells, well, spring</a:t>
            </a:r>
          </a:p>
          <a:p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Types of Impurities in water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Suspended Impurities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Colloidal Impurities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Dissolved Impurities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Biological Impurities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219200"/>
          <a:ext cx="83058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Types of Impurities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Constituents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Size of the Constituent particles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Methods of removal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Suspended impurities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Clay, mud, organic matter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&gt; 1000 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Filtration/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sedimentation / settlement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Colloidal impurities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Clay, mud, organic matter,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10 to 1000 </a:t>
                      </a:r>
                      <a:r>
                        <a:rPr lang="en-US" sz="2000" dirty="0">
                          <a:latin typeface="Times New Roman"/>
                          <a:cs typeface="Times New Roman"/>
                        </a:rPr>
                        <a:t>Å (negatively charge)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Coagulation followed by filtration.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Coagulating agent </a:t>
                      </a:r>
                    </a:p>
                    <a:p>
                      <a:r>
                        <a:rPr lang="en-US" sz="20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Aluminium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sulphate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(alum) Al2(SO4)3,</a:t>
                      </a:r>
                    </a:p>
                    <a:p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potash alum, </a:t>
                      </a:r>
                      <a:r>
                        <a:rPr lang="en-US" sz="20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KAl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(SO4)2, </a:t>
                      </a:r>
                    </a:p>
                    <a:p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sodium </a:t>
                      </a:r>
                      <a:r>
                        <a:rPr lang="en-US" sz="200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aluminate</a:t>
                      </a:r>
                      <a:endParaRPr lang="en-US" sz="2000" baseline="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NaAlO2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3336" name="TextBox 3"/>
          <p:cNvSpPr txBox="1">
            <a:spLocks noChangeArrowheads="1"/>
          </p:cNvSpPr>
          <p:nvPr/>
        </p:nvSpPr>
        <p:spPr bwMode="auto">
          <a:xfrm>
            <a:off x="1447800" y="228600"/>
            <a:ext cx="5791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Types of Impurities in water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81000" y="3581400"/>
          <a:ext cx="8305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Biological impurities</a:t>
                      </a:r>
                    </a:p>
                  </a:txBody>
                  <a:tcPr>
                    <a:solidFill>
                      <a:srgbClr val="CAD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Bacteria,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algae, fungi, small size aquatic animals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</a:p>
                  </a:txBody>
                  <a:tcPr>
                    <a:solidFill>
                      <a:srgbClr val="CADB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CAD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Steralization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Liquid chlorine,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Ozone, 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Sodium hypochlorite, bleaching powder.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UV light, Boiling of water </a:t>
                      </a:r>
                    </a:p>
                  </a:txBody>
                  <a:tcPr>
                    <a:solidFill>
                      <a:srgbClr val="CAD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4800" y="762000"/>
          <a:ext cx="8305800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36220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Dissolved impurities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Dissolved gases like CO2, Cl2, H2S,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SOx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NOx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Dissolved salts like bicarbonates,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sulphates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, chlorides, nitrates of Ca, Mg, Fe, Al, Na, K etc.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arenR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By warming </a:t>
                      </a:r>
                    </a:p>
                    <a:p>
                      <a:pPr marL="457200" indent="-457200">
                        <a:buAutoNum type="arabicParenR"/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457200" indent="-457200">
                        <a:buAutoNum type="arabicParenR"/>
                      </a:pPr>
                      <a:endParaRPr 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457200" indent="-457200">
                        <a:buAutoNum type="arabicParenR"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Chemical treatment 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42950"/>
          </a:xfrm>
        </p:spPr>
        <p:txBody>
          <a:bodyPr anchor="t">
            <a:normAutofit fontScale="90000"/>
          </a:bodyPr>
          <a:lstStyle/>
          <a:p>
            <a:pPr algn="ctr" eaLnBrk="1" hangingPunct="1"/>
            <a:r>
              <a:rPr lang="en-US" b="1" dirty="0">
                <a:solidFill>
                  <a:srgbClr val="C00000"/>
                </a:solidFill>
              </a:rPr>
              <a:t>Soft water &amp; Hard water</a:t>
            </a:r>
          </a:p>
        </p:txBody>
      </p:sp>
      <p:pic>
        <p:nvPicPr>
          <p:cNvPr id="1638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8600" y="1295400"/>
            <a:ext cx="8378825" cy="990600"/>
          </a:xfrm>
          <a:noFill/>
          <a:ln>
            <a:solidFill>
              <a:schemeClr val="tx1"/>
            </a:solidFill>
          </a:ln>
        </p:spPr>
      </p:pic>
      <p:sp>
        <p:nvSpPr>
          <p:cNvPr id="16388" name="TextBox 5"/>
          <p:cNvSpPr txBox="1">
            <a:spLocks noChangeArrowheads="1"/>
          </p:cNvSpPr>
          <p:nvPr/>
        </p:nvSpPr>
        <p:spPr bwMode="auto">
          <a:xfrm>
            <a:off x="533400" y="2590800"/>
            <a:ext cx="8382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Hardness in the water is due to the presence of dissolved salts of heavy metal ions  like Ca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Mg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Fe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Mn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Al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etc.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Major hardness is caused by Ca+2 and Mg+2 ions.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19150"/>
          </a:xfrm>
        </p:spPr>
        <p:txBody>
          <a:bodyPr/>
          <a:lstStyle/>
          <a:p>
            <a:pPr algn="ctr" eaLnBrk="1" hangingPunct="1"/>
            <a:r>
              <a:rPr lang="en-US" b="1">
                <a:solidFill>
                  <a:srgbClr val="C00000"/>
                </a:solidFill>
              </a:rPr>
              <a:t>Hardness of Water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153400" cy="3352800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sz="3200" dirty="0"/>
              <a:t>It is the characteristic of water which prevent lathering of soap.</a:t>
            </a:r>
          </a:p>
          <a:p>
            <a:pPr algn="ctr" eaLnBrk="1" hangingPunct="1"/>
            <a:r>
              <a:rPr lang="en-US" sz="3200" dirty="0">
                <a:solidFill>
                  <a:srgbClr val="C00000"/>
                </a:solidFill>
              </a:rPr>
              <a:t>OR</a:t>
            </a:r>
          </a:p>
          <a:p>
            <a:pPr eaLnBrk="1" hangingPunct="1"/>
            <a:r>
              <a:rPr lang="en-US" sz="3200" dirty="0"/>
              <a:t>Hardness is the soap consuming capacity of water.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sz="1800"/>
              <a:t>Salts dissociate in water and form ions: Positively-charged ions are designated as cations, and negatively-charged ions are anions. Water mainly contains different proportions of the following ions, depending on the source of the water: </a:t>
            </a:r>
            <a:br>
              <a:rPr lang="en-US" sz="1800"/>
            </a:br>
            <a:endParaRPr lang="en-US" sz="180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7" name="Picture 2" descr="Cations / anion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000" y="2133600"/>
            <a:ext cx="7569200" cy="413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 b="1">
                <a:solidFill>
                  <a:srgbClr val="C00000"/>
                </a:solidFill>
              </a:rPr>
              <a:t>Causes of hardness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305800" cy="48768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Dissolution of minerals</a:t>
            </a:r>
          </a:p>
          <a:p>
            <a:pPr eaLnBrk="1" hangingPunct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Na, Li, and K non hardness causing salts 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Action of dissolved CO2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Action of O2</a:t>
            </a:r>
          </a:p>
        </p:txBody>
      </p:sp>
      <p:pic>
        <p:nvPicPr>
          <p:cNvPr id="19460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3048000"/>
            <a:ext cx="653415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5257800"/>
            <a:ext cx="62103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838200"/>
          </a:xfrm>
        </p:spPr>
        <p:txBody>
          <a:bodyPr anchor="t"/>
          <a:lstStyle/>
          <a:p>
            <a:pPr algn="ctr" eaLnBrk="1" hangingPunct="1"/>
            <a:r>
              <a:rPr lang="en-US"/>
              <a:t>Hardness of water 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91600" cy="54864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Two types of hardness 1) Temporary hardness and 2) permanent Hardness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1)Temporary Hardness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(Carbonate Hardness/ Alkaline Hardness ):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Hardness due to bicarbonates and some soluble carbonates is called temporary hardness.  Salts Ca(HCO3)2, Mg(HCO3)2, MgCO3, FeCO3 are hardness causing.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Can be removed by boiling water.</a:t>
            </a:r>
          </a:p>
        </p:txBody>
      </p:sp>
      <p:pic>
        <p:nvPicPr>
          <p:cNvPr id="20484" name="Picture 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572000"/>
            <a:ext cx="746760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686800" cy="61722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Permanent Hardness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(Non Carbonate/ Non Alkaline Hardness):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Hardness due to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salts other than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carbonates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bicaronates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are called permanent hardness causing. Cannot be removed easily.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Due to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chlorides, </a:t>
            </a:r>
            <a:r>
              <a:rPr lang="en-US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sulphates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and nitrates of Ca, Mg, Al, </a:t>
            </a:r>
            <a:r>
              <a:rPr lang="en-US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Mn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Fe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i.e. CaCl2, MgCl2, CaSO4, MgSO4, Ca(NO3)2, Mg(NO3)2 etc.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Methods of removal- soda-lime, sodium phosphate, sodium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aluminate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zeolite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method, desalination method, RO,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electrodylysis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ultrafiltration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eaLnBrk="1" hangingPunct="1">
              <a:buFont typeface="Wingdings 2" pitchFamily="18" charset="2"/>
              <a:buNone/>
            </a:pPr>
            <a:endParaRPr lang="en-US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/>
          </a:p>
        </p:txBody>
      </p:sp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8200" y="5257800"/>
            <a:ext cx="78819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762000"/>
          <a:ext cx="8077200" cy="5476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01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270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833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Carbonate hardness causing</a:t>
                      </a:r>
                      <a:r>
                        <a:rPr lang="en-US" sz="2200" b="1" baseline="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compounds</a:t>
                      </a:r>
                      <a:endParaRPr lang="en-US" sz="2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b="1" dirty="0" err="1">
                          <a:latin typeface="Times New Roman"/>
                          <a:ea typeface="Times New Roman"/>
                          <a:cs typeface="Times New Roman"/>
                        </a:rPr>
                        <a:t>Noncarbonate</a:t>
                      </a:r>
                      <a:r>
                        <a:rPr lang="en-US" sz="2200" b="1" dirty="0">
                          <a:latin typeface="Times New Roman"/>
                          <a:ea typeface="Times New Roman"/>
                          <a:cs typeface="Times New Roman"/>
                        </a:rPr>
                        <a:t> hardness causing compounds</a:t>
                      </a:r>
                      <a:endParaRPr lang="en-US" sz="2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993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Calcium carbonate (CaCO</a:t>
                      </a:r>
                      <a:r>
                        <a:rPr lang="en-US" sz="2200" baseline="-25000" dirty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2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Calcium sulfate (CaSO</a:t>
                      </a:r>
                      <a:r>
                        <a:rPr lang="en-US" sz="2200" baseline="-25000" dirty="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2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83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</a:rPr>
                        <a:t>Magnesium carbonate (MgCO</a:t>
                      </a:r>
                      <a:r>
                        <a:rPr lang="en-US" sz="2200" baseline="-250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2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Magnesium sulfate (MgSO</a:t>
                      </a:r>
                      <a:r>
                        <a:rPr lang="en-US" sz="2200" baseline="-25000" dirty="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2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83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</a:rPr>
                        <a:t>Calcium bicarbonate (Ca(HCO</a:t>
                      </a:r>
                      <a:r>
                        <a:rPr lang="en-US" sz="2200" baseline="-250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r>
                        <a:rPr lang="en-US" sz="2200" baseline="-250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2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Calcium chloride (CaCl</a:t>
                      </a:r>
                      <a:r>
                        <a:rPr lang="en-US" sz="2200" baseline="-250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2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83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</a:rPr>
                        <a:t>Magnesium bicarbonate (Mg(HCO</a:t>
                      </a:r>
                      <a:r>
                        <a:rPr lang="en-US" sz="2200" baseline="-2500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r>
                        <a:rPr lang="en-US" sz="2200" baseline="-250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220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22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Magnesium chloride (MgCl</a:t>
                      </a:r>
                      <a:r>
                        <a:rPr lang="en-US" sz="2200" baseline="-250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US" sz="2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594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Calcium hydroxide (Ca(OH)</a:t>
                      </a:r>
                      <a:r>
                        <a:rPr lang="en-US" sz="2200" baseline="-250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2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8594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Magnesium hydroxide (Mg(OH)</a:t>
                      </a:r>
                      <a:r>
                        <a:rPr lang="en-US" sz="2200" baseline="-250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22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22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83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9050" marR="19050" marT="19050" marB="1905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19050" marR="19050" marT="19050" marB="1905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905000" y="6356350"/>
            <a:ext cx="59436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57150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Hardness of water – is usually express in terms of equivalent amount of CaCO3</a:t>
            </a:r>
          </a:p>
          <a:p>
            <a:pPr eaLnBrk="1" hangingPunct="1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CaCO3 – is hardly soluble (most insoluble) in water </a:t>
            </a:r>
          </a:p>
          <a:p>
            <a:pPr eaLnBrk="1" hangingPunct="1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CaCO3 molecular weight = 100</a:t>
            </a:r>
          </a:p>
          <a:p>
            <a:pPr eaLnBrk="1" hangingPunct="1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CaCO3 equivalent weight = 50</a:t>
            </a:r>
          </a:p>
          <a:p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Units of hardness</a:t>
            </a:r>
          </a:p>
          <a:p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ppm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– parts per million -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 part CaCO3 equivalent hardness in million parts (10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)of  water 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Milligram per </a:t>
            </a:r>
            <a:r>
              <a:rPr lang="en-US" sz="2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litre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1 mg CaCO3 equivalent hardness in 1 lit water .</a:t>
            </a:r>
          </a:p>
          <a:p>
            <a:pPr algn="ctr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1mg/lit = 1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ppm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b="1" dirty="0">
              <a:solidFill>
                <a:srgbClr val="C00000"/>
              </a:solidFill>
            </a:endParaRPr>
          </a:p>
          <a:p>
            <a:endParaRPr lang="en-US" sz="2800" dirty="0">
              <a:solidFill>
                <a:srgbClr val="C00000"/>
              </a:solidFill>
            </a:endParaRPr>
          </a:p>
          <a:p>
            <a:pPr eaLnBrk="1" hangingPunct="1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1219199"/>
          <a:ext cx="83058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29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84087">
                <a:tc>
                  <a:txBody>
                    <a:bodyPr/>
                    <a:lstStyle/>
                    <a:p>
                      <a:r>
                        <a:rPr lang="en-IN" dirty="0"/>
                        <a:t>Temporary Hardness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Permanent Hardness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551732">
                <a:tc>
                  <a:txBody>
                    <a:bodyPr/>
                    <a:lstStyle/>
                    <a:p>
                      <a:r>
                        <a:rPr lang="en-IN" dirty="0"/>
                        <a:t>1) Is due to bicarbonates and some soluble carbonates, e.g. Ca(HCO3)2, Mg(HCO3)2, MgCO3, FeCO3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1) Is due to chlorides, sulphates and nitrates of heavy metal</a:t>
                      </a:r>
                      <a:r>
                        <a:rPr lang="en-IN" baseline="0" dirty="0"/>
                        <a:t> ion , e.g. CaCl2, MgCl2, CaSO4, MgSO4, Ca(NO3)2, Mg(NO3)2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35547">
                <a:tc>
                  <a:txBody>
                    <a:bodyPr/>
                    <a:lstStyle/>
                    <a:p>
                      <a:r>
                        <a:rPr lang="en-IN" dirty="0"/>
                        <a:t>2) Can be removed by</a:t>
                      </a:r>
                      <a:r>
                        <a:rPr lang="en-IN" baseline="0" dirty="0"/>
                        <a:t> boiling the water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2) Can be removed by chemical treatment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35547">
                <a:tc>
                  <a:txBody>
                    <a:bodyPr/>
                    <a:lstStyle/>
                    <a:p>
                      <a:r>
                        <a:rPr lang="en-IN" dirty="0"/>
                        <a:t>3) Also known as carbonate hardness or non alkaline</a:t>
                      </a:r>
                      <a:r>
                        <a:rPr lang="en-IN" baseline="0" dirty="0"/>
                        <a:t> </a:t>
                      </a:r>
                      <a:r>
                        <a:rPr lang="en-IN" dirty="0"/>
                        <a:t>hardness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3) Also</a:t>
                      </a:r>
                      <a:r>
                        <a:rPr lang="en-IN" baseline="0" dirty="0"/>
                        <a:t> known as non carbonate hardness or non alkaline hardness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408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533400" y="4953000"/>
            <a:ext cx="2667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472440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mg/lit CaCO3 equivalent hardness</a:t>
            </a:r>
          </a:p>
          <a:p>
            <a:pPr eaLnBrk="1" hangingPunct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ppm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 CaCO3 equivalent hardness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Monovalent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salt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Arial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bivalent salt </a:t>
            </a:r>
          </a:p>
          <a:p>
            <a:pPr eaLnBrk="1" hangingPunct="1">
              <a:buFont typeface="Arial" charset="0"/>
              <a:buChar char="•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eaLnBrk="1" hangingPunct="1"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                                                            </a:t>
            </a:r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58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582" name="Rectangle 8"/>
          <p:cNvSpPr>
            <a:spLocks noChangeArrowheads="1"/>
          </p:cNvSpPr>
          <p:nvPr/>
        </p:nvSpPr>
        <p:spPr bwMode="auto">
          <a:xfrm>
            <a:off x="0" y="10668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/>
          </a:p>
        </p:txBody>
      </p:sp>
      <p:sp>
        <p:nvSpPr>
          <p:cNvPr id="2458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4584" name="Picture 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810000"/>
            <a:ext cx="5414963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24585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2286000"/>
            <a:ext cx="5133975" cy="847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609600" y="381000"/>
            <a:ext cx="8229600" cy="5943600"/>
          </a:xfrm>
        </p:spPr>
        <p:txBody>
          <a:bodyPr/>
          <a:lstStyle/>
          <a:p>
            <a:pPr marL="514350" indent="-514350">
              <a:buClr>
                <a:schemeClr val="tx1"/>
              </a:buClr>
              <a:buFont typeface="Wingdings 2" pitchFamily="18" charset="2"/>
              <a:buAutoNum type="arabicParenR"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If 50 ml of water sample has 10 mg of CaCO3 equi. Hardness, the hardness of same water sample is ………</a:t>
            </a:r>
          </a:p>
          <a:p>
            <a:pPr marL="514350" indent="-514350">
              <a:buClr>
                <a:schemeClr val="tx1"/>
              </a:buClr>
              <a:buFont typeface="Wingdings 2" pitchFamily="18" charset="2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Ans – 200 mg/lit  CaCO3 equiv. </a:t>
            </a:r>
          </a:p>
          <a:p>
            <a:pPr marL="514350" indent="-514350">
              <a:buClr>
                <a:schemeClr val="tx1"/>
              </a:buClr>
              <a:buFont typeface="Wingdings 2" pitchFamily="18" charset="2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Clr>
                <a:schemeClr val="tx1"/>
              </a:buClr>
              <a:buFont typeface="Wingdings 2" pitchFamily="18" charset="2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2) CaCO3 equivalent of 10 % NaCl is ………</a:t>
            </a:r>
          </a:p>
          <a:p>
            <a:pPr marL="514350" indent="-514350">
              <a:buClr>
                <a:schemeClr val="tx1"/>
              </a:buClr>
              <a:buFont typeface="Wingdings 2" pitchFamily="18" charset="2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Ans- 0.8547 x 10</a:t>
            </a:r>
            <a:r>
              <a:rPr lang="en-US" sz="2400" baseline="3000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ppm of CaCO3 equiv. </a:t>
            </a:r>
          </a:p>
          <a:p>
            <a:pPr marL="514350" indent="-514350">
              <a:buClr>
                <a:schemeClr val="tx1"/>
              </a:buClr>
              <a:buFont typeface="Wingdings 2" pitchFamily="18" charset="2"/>
              <a:buNone/>
            </a:pP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Clr>
                <a:schemeClr val="tx1"/>
              </a:buClr>
              <a:buFont typeface="Wingdings 2" pitchFamily="18" charset="2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3) 5.85 gm of NaCl has CaCO3 equivalnce ………..</a:t>
            </a:r>
          </a:p>
          <a:p>
            <a:pPr marL="514350" indent="-514350">
              <a:buClr>
                <a:schemeClr val="tx1"/>
              </a:buClr>
              <a:buFont typeface="Wingdings 2" pitchFamily="18" charset="2"/>
              <a:buNone/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Ans- 5 x 10</a:t>
            </a:r>
            <a:r>
              <a:rPr lang="en-US" sz="2400" baseline="30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ppm of CaCO3 equiv. </a:t>
            </a:r>
          </a:p>
          <a:p>
            <a:pPr marL="514350" indent="-514350">
              <a:buClr>
                <a:schemeClr val="tx1"/>
              </a:buCl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 4)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A water sample containing 16.2 mg of Ca(HCO3)2;  36mg of MgSO4; 27.2 mg CaSO4; 2 mg MgCO3; Find the temporary, permanent and total hardness. (Equi. Wt  Ca(HCO3)2= 81; MgSO4 = 60; CaSO4 = 68; MgCO3 = 42) 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7150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Mol. Wt. H=1; C=12; N = 14; O=16; Na= 23 Ca= 40; Mg= 24; S=32;   Cl= 35.5 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Calculate the temporary, permanent and total hardness of a water sample having the following analysis</a:t>
            </a:r>
          </a:p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Mg(HCO3)2 = 73 mg/l</a:t>
            </a:r>
          </a:p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Ca(HCO3)2 = 162 mg/l</a:t>
            </a:r>
          </a:p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CaSO4 = 136 mg/l</a:t>
            </a:r>
          </a:p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MgCl2 = 95 mg/l</a:t>
            </a:r>
          </a:p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CaCl2 = 111 mg/l</a:t>
            </a:r>
          </a:p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NaCl = 100 mg/l</a:t>
            </a:r>
          </a:p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67200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/>
              <a:t>W – mg of CaCO3 equivalent of salt per lit</a:t>
            </a:r>
          </a:p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ppm   → weight by weight (mg/kg)</a:t>
            </a:r>
          </a:p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		→ weight by volume (mg/lit)</a:t>
            </a:r>
          </a:p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1 mg/lit means 1 mg CaCO3 equivalent of salt in 1 lit</a:t>
            </a:r>
          </a:p>
          <a:p>
            <a:pPr>
              <a:buFont typeface="Wingdings 2" pitchFamily="18" charset="2"/>
              <a:buNone/>
            </a:pPr>
            <a:endParaRPr lang="en-US"/>
          </a:p>
          <a:p>
            <a:pPr>
              <a:buFont typeface="Wingdings 2" pitchFamily="18" charset="2"/>
              <a:buNone/>
            </a:pPr>
            <a:endParaRPr lang="en-US"/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27652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19200" y="762000"/>
            <a:ext cx="65405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3" name="Rectangle 3"/>
          <p:cNvSpPr>
            <a:spLocks noChangeArrowheads="1"/>
          </p:cNvSpPr>
          <p:nvPr/>
        </p:nvSpPr>
        <p:spPr bwMode="auto">
          <a:xfrm>
            <a:off x="0" y="1057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/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1295400" y="4038600"/>
            <a:ext cx="6400800" cy="218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>
                <a:solidFill>
                  <a:srgbClr val="C00000"/>
                </a:solidFill>
              </a:rPr>
              <a:t>1 milligram per litre 	= 1 ppm 	</a:t>
            </a:r>
          </a:p>
          <a:p>
            <a:endParaRPr lang="en-US" sz="2400">
              <a:solidFill>
                <a:srgbClr val="C00000"/>
              </a:solidFill>
            </a:endParaRPr>
          </a:p>
          <a:p>
            <a:r>
              <a:rPr lang="it-IT" sz="2800">
                <a:solidFill>
                  <a:srgbClr val="C00000"/>
                </a:solidFill>
              </a:rPr>
              <a:t>1 x 10</a:t>
            </a:r>
            <a:r>
              <a:rPr lang="it-IT" sz="2800" baseline="30000">
                <a:solidFill>
                  <a:srgbClr val="C00000"/>
                </a:solidFill>
              </a:rPr>
              <a:t>3</a:t>
            </a:r>
            <a:r>
              <a:rPr lang="it-IT" sz="2800">
                <a:solidFill>
                  <a:srgbClr val="C00000"/>
                </a:solidFill>
              </a:rPr>
              <a:t> microgram(μg) per litre = 1ppm </a:t>
            </a:r>
          </a:p>
          <a:p>
            <a:r>
              <a:rPr lang="it-IT" sz="2800">
                <a:solidFill>
                  <a:srgbClr val="C00000"/>
                </a:solidFill>
              </a:rPr>
              <a:t>	</a:t>
            </a:r>
          </a:p>
          <a:p>
            <a:r>
              <a:rPr lang="en-US" sz="2800">
                <a:solidFill>
                  <a:srgbClr val="C00000"/>
                </a:solidFill>
              </a:rPr>
              <a:t>0.001 gram per litre 	= 1 ppm </a:t>
            </a:r>
            <a:r>
              <a:rPr lang="en-US" sz="2000"/>
              <a:t>	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228600" y="1935163"/>
            <a:ext cx="8686800" cy="4618037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eaLnBrk="1" hangingPunct="1">
              <a:buFont typeface="Wingdings 2" pitchFamily="18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Municipal supply/ drinking water = 150-250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ppm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Dye industry, paper industry, sugar industry, textile mill = 0-50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ppm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Bakery and food processing = 150-250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ppm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High pressure boilers and pharmaceutical industries 0-10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ppm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of CaCO3 Equivalen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ce 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19200" y="381000"/>
          <a:ext cx="6629400" cy="3190494"/>
        </p:xfrm>
        <a:graphic>
          <a:graphicData uri="http://schemas.openxmlformats.org/drawingml/2006/table">
            <a:tbl>
              <a:tblPr/>
              <a:tblGrid>
                <a:gridCol w="20846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4477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9077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Times New Roman"/>
                          <a:ea typeface="Times New Roman"/>
                          <a:cs typeface="Times New Roman"/>
                        </a:rPr>
                        <a:t>Hardness rating </a:t>
                      </a:r>
                      <a:endParaRPr lang="en-US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Times New Roman"/>
                          <a:ea typeface="Times New Roman"/>
                          <a:cs typeface="Times New Roman"/>
                        </a:rPr>
                        <a:t>Concentration of Calcium Carbonate (mg/L) </a:t>
                      </a:r>
                      <a:endParaRPr lang="en-US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60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Times New Roman"/>
                          <a:ea typeface="Times New Roman"/>
                          <a:cs typeface="Times New Roman"/>
                        </a:rPr>
                        <a:t>Soft </a:t>
                      </a:r>
                      <a:endParaRPr lang="en-US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Times New Roman"/>
                          <a:ea typeface="Times New Roman"/>
                          <a:cs typeface="Times New Roman"/>
                        </a:rPr>
                        <a:t>0 to &lt;75</a:t>
                      </a:r>
                      <a:endParaRPr lang="en-US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60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Times New Roman"/>
                          <a:ea typeface="Times New Roman"/>
                          <a:cs typeface="Times New Roman"/>
                        </a:rPr>
                        <a:t>Medium hard </a:t>
                      </a:r>
                      <a:endParaRPr lang="en-US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Times New Roman"/>
                          <a:ea typeface="Times New Roman"/>
                          <a:cs typeface="Times New Roman"/>
                        </a:rPr>
                        <a:t>75 to &lt;150</a:t>
                      </a:r>
                      <a:endParaRPr lang="en-US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60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Times New Roman"/>
                          <a:ea typeface="Times New Roman"/>
                          <a:cs typeface="Times New Roman"/>
                        </a:rPr>
                        <a:t>Hard </a:t>
                      </a:r>
                      <a:endParaRPr lang="en-US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Times New Roman"/>
                          <a:ea typeface="Times New Roman"/>
                          <a:cs typeface="Times New Roman"/>
                        </a:rPr>
                        <a:t>150 to &lt;300</a:t>
                      </a:r>
                      <a:endParaRPr lang="en-US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60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Times New Roman"/>
                          <a:ea typeface="Times New Roman"/>
                          <a:cs typeface="Times New Roman"/>
                        </a:rPr>
                        <a:t>Very hard </a:t>
                      </a:r>
                      <a:endParaRPr lang="en-US" sz="1600" b="1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Times New Roman"/>
                          <a:ea typeface="Times New Roman"/>
                          <a:cs typeface="Times New Roman"/>
                        </a:rPr>
                        <a:t>300 and greater</a:t>
                      </a:r>
                      <a:endParaRPr lang="en-US" sz="16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b="1">
                <a:solidFill>
                  <a:srgbClr val="C00000"/>
                </a:solidFill>
              </a:rPr>
              <a:t>Determination of Hardness by EDTA  method 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2895600"/>
          </a:xfrm>
        </p:spPr>
        <p:txBody>
          <a:bodyPr/>
          <a:lstStyle/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Complexometric</a:t>
            </a:r>
            <a:r>
              <a:rPr lang="en-US" dirty="0"/>
              <a:t> method</a:t>
            </a:r>
          </a:p>
          <a:p>
            <a:pPr eaLnBrk="1" hangingPunct="1"/>
            <a:r>
              <a:rPr lang="en-US" dirty="0"/>
              <a:t>All types of hardness in water can be removed</a:t>
            </a:r>
          </a:p>
          <a:p>
            <a:pPr eaLnBrk="1" hangingPunct="1"/>
            <a:r>
              <a:rPr lang="en-US" dirty="0"/>
              <a:t>Rapid estimation of hardness</a:t>
            </a:r>
          </a:p>
          <a:p>
            <a:pPr eaLnBrk="1" hangingPunct="1"/>
            <a:r>
              <a:rPr lang="en-US" dirty="0"/>
              <a:t>More accurate results</a:t>
            </a:r>
          </a:p>
          <a:p>
            <a:pPr eaLnBrk="1" hangingPunct="1"/>
            <a:r>
              <a:rPr lang="en-US" dirty="0"/>
              <a:t>Very convenient method</a:t>
            </a:r>
          </a:p>
          <a:p>
            <a:pPr eaLnBrk="1" hangingPunct="1">
              <a:buFont typeface="Wingdings 2" pitchFamily="18" charset="2"/>
              <a:buNone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04800"/>
            <a:ext cx="8229600" cy="990600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/>
              <a:t>Determination of Hardness by EDTA  method </a:t>
            </a:r>
          </a:p>
        </p:txBody>
      </p:sp>
      <p:sp>
        <p:nvSpPr>
          <p:cNvPr id="31747" name="Content Placeholder 4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724400"/>
          </a:xfrm>
        </p:spPr>
        <p:txBody>
          <a:bodyPr/>
          <a:lstStyle/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EDTA- Ethylene diamine tetra acetic acid </a:t>
            </a:r>
          </a:p>
          <a:p>
            <a:pPr eaLnBrk="1" hangingPunct="1"/>
            <a:r>
              <a:rPr lang="en-US"/>
              <a:t>EDTA – readily forms stable complex with heavy metal ions at particular pH  </a:t>
            </a:r>
          </a:p>
          <a:p>
            <a:pPr eaLnBrk="1" hangingPunct="1"/>
            <a:r>
              <a:rPr lang="en-US"/>
              <a:t>EDTA – sparingly soluble salt , therefore disodium salt of EDTA is used (Na2EDTA)- soluble  </a:t>
            </a:r>
          </a:p>
          <a:p>
            <a:pPr eaLnBrk="1" hangingPunct="1"/>
            <a:r>
              <a:rPr lang="en-US"/>
              <a:t>EDTA is a hexadentated ligand 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>
              <a:buFont typeface="Wingdings 2" pitchFamily="18" charset="2"/>
              <a:buNone/>
            </a:pPr>
            <a:endParaRPr lang="en-US"/>
          </a:p>
        </p:txBody>
      </p:sp>
      <p:pic>
        <p:nvPicPr>
          <p:cNvPr id="31748" name="Picture 3" descr="C:\Documents and Settings\Admin\My Documents\My Pictures\EDTA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447800"/>
            <a:ext cx="4953000" cy="1981200"/>
          </a:xfrm>
          <a:prstGeom prst="rect">
            <a:avLst/>
          </a:prstGeom>
          <a:noFill/>
          <a:ln w="9525" cmpd="dbl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153400" cy="3475038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Suitable pH is required for the reaction to complete between metal ions present in water and Na2EDTA otherwise reaction is reversible, no complex formation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During reaction H+ ions are forming and decreases the pH of reaction mixture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10 pH buffer solution is added ( 10 pH buffer solution – NH4Cl + NH4OH) </a:t>
            </a:r>
          </a:p>
          <a:p>
            <a:pPr eaLnBrk="1" hangingPunct="1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Complexometric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titration 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EBT –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eriochrome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black T indicator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791788"/>
            <a:ext cx="5459413" cy="1265611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1000" y="228600"/>
            <a:ext cx="29635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Font typeface="Wingdings 2" pitchFamily="18" charset="2"/>
              <a:buNone/>
            </a:pPr>
            <a:r>
              <a:rPr lang="en-US" sz="2400" b="1" dirty="0"/>
              <a:t>Na2EDTA Structure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2"/>
          <p:cNvSpPr>
            <a:spLocks noGrp="1"/>
          </p:cNvSpPr>
          <p:nvPr>
            <p:ph idx="1"/>
          </p:nvPr>
        </p:nvSpPr>
        <p:spPr>
          <a:xfrm>
            <a:off x="152400" y="457200"/>
            <a:ext cx="8763000" cy="6096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Calcium and magnesium ions form 1:1 complexes with EDTA according to the equations:</a:t>
            </a:r>
          </a:p>
          <a:p>
            <a:pPr>
              <a:lnSpc>
                <a:spcPct val="150000"/>
              </a:lnSpc>
            </a:pPr>
            <a:r>
              <a:rPr lang="en-US"/>
              <a:t>            Ca</a:t>
            </a:r>
            <a:r>
              <a:rPr lang="en-US" baseline="30000"/>
              <a:t>2+</a:t>
            </a:r>
            <a:r>
              <a:rPr lang="en-US"/>
              <a:t> + H</a:t>
            </a:r>
            <a:r>
              <a:rPr lang="en-US" baseline="-25000"/>
              <a:t>2</a:t>
            </a:r>
            <a:r>
              <a:rPr lang="en-US"/>
              <a:t>EDTA</a:t>
            </a:r>
            <a:r>
              <a:rPr lang="en-US" baseline="30000"/>
              <a:t>2-</a:t>
            </a:r>
            <a:r>
              <a:rPr lang="en-US"/>
              <a:t>  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/>
              <a:t>    CaEDTA</a:t>
            </a:r>
            <a:r>
              <a:rPr lang="en-US" baseline="30000"/>
              <a:t>2-</a:t>
            </a:r>
            <a:r>
              <a:rPr lang="en-US"/>
              <a:t> + 2H</a:t>
            </a:r>
            <a:r>
              <a:rPr lang="en-US" baseline="30000"/>
              <a:t>+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           Mg</a:t>
            </a:r>
            <a:r>
              <a:rPr lang="en-US" baseline="30000"/>
              <a:t>2+</a:t>
            </a:r>
            <a:r>
              <a:rPr lang="en-US"/>
              <a:t> + H</a:t>
            </a:r>
            <a:r>
              <a:rPr lang="en-US" baseline="-25000"/>
              <a:t>2</a:t>
            </a:r>
            <a:r>
              <a:rPr lang="en-US"/>
              <a:t>EDTA</a:t>
            </a:r>
            <a:r>
              <a:rPr lang="en-US" baseline="30000"/>
              <a:t>2-</a:t>
            </a:r>
            <a:r>
              <a:rPr lang="en-US"/>
              <a:t>  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/>
              <a:t>    MgEDTA</a:t>
            </a:r>
            <a:r>
              <a:rPr lang="en-US" baseline="30000"/>
              <a:t>2-</a:t>
            </a:r>
            <a:r>
              <a:rPr lang="en-US"/>
              <a:t> + 2H</a:t>
            </a:r>
            <a:r>
              <a:rPr lang="en-US" baseline="30000"/>
              <a:t>+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The indicators used are Eriochrome Black T which changes from red to blue in the presence of excess EDTA.</a:t>
            </a:r>
          </a:p>
          <a:p>
            <a:pPr>
              <a:lnSpc>
                <a:spcPct val="150000"/>
              </a:lnSpc>
            </a:pPr>
            <a:endParaRPr lang="en-US"/>
          </a:p>
          <a:p>
            <a:pPr>
              <a:lnSpc>
                <a:spcPct val="150000"/>
              </a:lnSpc>
            </a:pPr>
            <a:r>
              <a:rPr lang="en-US" sz="2400"/>
              <a:t>CaIn</a:t>
            </a:r>
            <a:r>
              <a:rPr lang="en-US" sz="2400" baseline="30000"/>
              <a:t>-</a:t>
            </a:r>
            <a:r>
              <a:rPr lang="en-US" sz="2400"/>
              <a:t>(pink-red) + H</a:t>
            </a:r>
            <a:r>
              <a:rPr lang="en-US" sz="2400" baseline="-25000"/>
              <a:t>2</a:t>
            </a:r>
            <a:r>
              <a:rPr lang="en-US" sz="2400"/>
              <a:t>EDTA</a:t>
            </a:r>
            <a:r>
              <a:rPr lang="en-US" sz="2400" baseline="30000"/>
              <a:t>2-</a:t>
            </a:r>
            <a:r>
              <a:rPr lang="en-US" sz="2400"/>
              <a:t>  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sz="2400"/>
              <a:t>CaEDTA</a:t>
            </a:r>
            <a:r>
              <a:rPr lang="en-US" sz="2400" baseline="30000"/>
              <a:t>2-</a:t>
            </a:r>
            <a:r>
              <a:rPr lang="en-US" sz="2400"/>
              <a:t> + HIn</a:t>
            </a:r>
            <a:r>
              <a:rPr lang="en-US" sz="2400" baseline="30000"/>
              <a:t>2-</a:t>
            </a:r>
            <a:r>
              <a:rPr lang="en-US" sz="2400"/>
              <a:t>(blue) + H</a:t>
            </a:r>
            <a:r>
              <a:rPr lang="en-US" sz="2400" baseline="30000"/>
              <a:t>+</a:t>
            </a:r>
            <a:endParaRPr lang="en-US" sz="2400"/>
          </a:p>
          <a:p>
            <a:r>
              <a:rPr lang="en-US"/>
              <a:t>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62865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>
                <a:solidFill>
                  <a:srgbClr val="C00000"/>
                </a:solidFill>
              </a:rPr>
              <a:t>Reactions 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457200" y="4724400"/>
            <a:ext cx="8229600" cy="1600200"/>
          </a:xfrm>
        </p:spPr>
        <p:txBody>
          <a:bodyPr>
            <a:normAutofit fontScale="92500" lnSpcReduction="10000"/>
          </a:bodyPr>
          <a:lstStyle/>
          <a:p>
            <a:r>
              <a:rPr lang="en-US" sz="2800">
                <a:latin typeface="Times New Roman" pitchFamily="18" charset="0"/>
                <a:cs typeface="Times New Roman" pitchFamily="18" charset="0"/>
              </a:rPr>
              <a:t>Eriochrome Black-T indicator is used in this titration. When it is chealted or acidifies, it produces a </a:t>
            </a:r>
            <a:r>
              <a:rPr lang="en-US" sz="28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Wine Red /Pink Red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 solution. When it is not chelated and under basic conditions it is </a:t>
            </a:r>
            <a:r>
              <a:rPr lang="en-US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Blue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endParaRPr lang="en-US"/>
          </a:p>
        </p:txBody>
      </p:sp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990600"/>
            <a:ext cx="6067425" cy="367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2"/>
          <p:cNvSpPr>
            <a:spLocks noGrp="1"/>
          </p:cNvSpPr>
          <p:nvPr>
            <p:ph idx="1"/>
          </p:nvPr>
        </p:nvSpPr>
        <p:spPr>
          <a:xfrm>
            <a:off x="609600" y="228600"/>
            <a:ext cx="8229600" cy="6096000"/>
          </a:xfrm>
        </p:spPr>
        <p:txBody>
          <a:bodyPr>
            <a:norm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Procedure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I: Standardization of EDTA by using Std. ZnSO4 solution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                              EDTA  =  ZnSO4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                                   M1V1= M2V2</a:t>
            </a:r>
          </a:p>
          <a:p>
            <a:pPr eaLnBrk="1" hangingPunct="1">
              <a:buFont typeface="Wingdings 2" pitchFamily="18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II: Hardness of  water sample.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Hardness of water =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y – volume of Na2EDTA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V – volume of water sample titrated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Z –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molarity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of Na2EDTA        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dirty="0"/>
              <a:t>                   </a:t>
            </a:r>
          </a:p>
          <a:p>
            <a:pPr eaLnBrk="1" hangingPunct="1"/>
            <a:endParaRPr lang="en-US" baseline="30000" dirty="0"/>
          </a:p>
        </p:txBody>
      </p:sp>
      <p:sp>
        <p:nvSpPr>
          <p:cNvPr id="38915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916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38917" name="Picture 8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43200" y="1828800"/>
            <a:ext cx="1696710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8" name="Rectangle 10"/>
          <p:cNvSpPr>
            <a:spLocks noChangeArrowheads="1"/>
          </p:cNvSpPr>
          <p:nvPr/>
        </p:nvSpPr>
        <p:spPr bwMode="auto">
          <a:xfrm>
            <a:off x="0" y="8858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38919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57600" y="2743200"/>
            <a:ext cx="50292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4114799" y="4038600"/>
            <a:ext cx="4775065" cy="2057400"/>
          </a:xfrm>
          <a:prstGeom prst="rect">
            <a:avLst/>
          </a:prstGeom>
          <a:noFill/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991600" cy="6096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Calculation : </a:t>
            </a:r>
          </a:p>
          <a:p>
            <a:pPr eaLnBrk="1" hangingPunct="1"/>
            <a:r>
              <a:rPr lang="en-US" sz="2400" b="1">
                <a:latin typeface="Times New Roman" pitchFamily="18" charset="0"/>
                <a:cs typeface="Times New Roman" pitchFamily="18" charset="0"/>
              </a:rPr>
              <a:t>1 ml 1M Na2EDTA = 40 mg Ca+2 = 24 mg Mg+2 = 65.4 mg Zn+2 </a:t>
            </a:r>
          </a:p>
          <a:p>
            <a:pPr eaLnBrk="1" hangingPunct="1"/>
            <a:endParaRPr lang="en-US" sz="2400" b="1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Arial" charset="0"/>
              <a:buChar char="•"/>
            </a:pPr>
            <a:r>
              <a:rPr lang="en-US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Hardness of water = </a:t>
            </a:r>
            <a:endParaRPr lang="en-US"/>
          </a:p>
          <a:p>
            <a:pPr eaLnBrk="1" hangingPunct="1"/>
            <a:endParaRPr lang="en-US" b="1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Arial" charset="0"/>
              <a:buChar char="•"/>
            </a:pPr>
            <a:r>
              <a:rPr lang="en-US" b="1">
                <a:solidFill>
                  <a:srgbClr val="C00000"/>
                </a:solidFill>
              </a:rPr>
              <a:t>Temporary and Permanent Hardness by EDTA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400"/>
              <a:t>By using this EDTA method total hardness of given water is found out.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400" b="1">
                <a:solidFill>
                  <a:srgbClr val="00B050"/>
                </a:solidFill>
              </a:rPr>
              <a:t>Total Hardness = Temporary Hardness +Permanent Hardness</a:t>
            </a:r>
            <a:endParaRPr lang="en-US" b="1">
              <a:solidFill>
                <a:srgbClr val="00B050"/>
              </a:solidFill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400"/>
              <a:t>Then hardness of boiled and filtered water sample is found out . Boiled and filtered water contains only permanent hardness.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400"/>
              <a:t>Knowing Total and permanent Hardness Temporary Hardness can be calculated.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400" b="1">
                <a:solidFill>
                  <a:srgbClr val="002060"/>
                </a:solidFill>
              </a:rPr>
              <a:t>Temporary Hardness = Total Hardness – Permanent Hardness</a:t>
            </a:r>
            <a:r>
              <a:rPr lang="en-US">
                <a:solidFill>
                  <a:srgbClr val="002060"/>
                </a:solidFill>
              </a:rPr>
              <a:t> </a:t>
            </a:r>
          </a:p>
          <a:p>
            <a:pPr eaLnBrk="1" hangingPunct="1">
              <a:buFont typeface="Arial" charset="0"/>
              <a:buChar char="•"/>
            </a:pPr>
            <a:endParaRPr lang="en-US">
              <a:solidFill>
                <a:srgbClr val="C00000"/>
              </a:solidFill>
            </a:endParaRPr>
          </a:p>
        </p:txBody>
      </p:sp>
      <p:pic>
        <p:nvPicPr>
          <p:cNvPr id="40963" name="Picture 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05200" y="1676400"/>
            <a:ext cx="4953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895350"/>
          </a:xfrm>
        </p:spPr>
        <p:txBody>
          <a:bodyPr anchor="t">
            <a:normAutofit/>
          </a:bodyPr>
          <a:lstStyle/>
          <a:p>
            <a:pPr algn="ctr" eaLnBrk="1" hangingPunct="1"/>
            <a:r>
              <a:rPr lang="en-US" sz="4400" b="1" dirty="0">
                <a:solidFill>
                  <a:srgbClr val="C00000"/>
                </a:solidFill>
              </a:rPr>
              <a:t>M- EDTA Complex structure</a:t>
            </a:r>
          </a:p>
        </p:txBody>
      </p:sp>
      <p:pic>
        <p:nvPicPr>
          <p:cNvPr id="41987" name="il_fi" descr="http://upload.wikimedia.org/wikipedia/commons/thumb/5/57/Metal-EDTA.png/346px-Metal-EDTA.pn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57200" y="990600"/>
            <a:ext cx="2743200" cy="1981200"/>
          </a:xfrm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914400"/>
            <a:ext cx="2362200" cy="250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3581400"/>
            <a:ext cx="6477000" cy="2333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90600" y="381000"/>
            <a:ext cx="7385050" cy="2251302"/>
          </a:xfrm>
          <a:noFill/>
          <a:ln>
            <a:solidFill>
              <a:schemeClr val="tx1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304800" y="2819400"/>
            <a:ext cx="8458200" cy="3429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Advantages of EDTA method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Suitable indicator is available for accurate reading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Sharp change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colour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at the end point of titration (pink red to blue)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Method is useful for low concentration of metal ions also and gives accurate results 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EDTA method is convenient , fast, easy.</a:t>
            </a:r>
            <a:endParaRPr lang="en-US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5334000"/>
          </a:xfrm>
        </p:spPr>
        <p:txBody>
          <a:bodyPr/>
          <a:lstStyle/>
          <a:p>
            <a:r>
              <a:rPr lang="en-US"/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Consider  V ml of water sample taken of titration required y ml Z M EDTA 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1 mole of EDTA = 1 mole CaCO3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1000 ml 1M EDTA = 100 gm CaCO3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1 ml 1M EDTA = 100 gm / 1000ml = (100 x 1000)/ 1000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                         = 100 mg CaCO3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y ml Z M EDTA  = y x Z x 100 mg CaCO3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V ml hard water contains = y x Z x 100 mg CaCO3</a:t>
            </a: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1000 ml hard water </a:t>
            </a:r>
          </a:p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                 Contains    = </a:t>
            </a:r>
          </a:p>
        </p:txBody>
      </p:sp>
      <p:pic>
        <p:nvPicPr>
          <p:cNvPr id="45060" name="Picture 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86200" y="5181600"/>
            <a:ext cx="49530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rmAutofit/>
          </a:bodyPr>
          <a:lstStyle/>
          <a:p>
            <a:endParaRPr lang="en-US" sz="2800" dirty="0">
              <a:solidFill>
                <a:srgbClr val="C00000"/>
              </a:solidFill>
            </a:endParaRPr>
          </a:p>
          <a:p>
            <a:r>
              <a:rPr lang="en-US" sz="2800" dirty="0">
                <a:solidFill>
                  <a:srgbClr val="C00000"/>
                </a:solidFill>
              </a:rPr>
              <a:t>Ca</a:t>
            </a:r>
            <a:r>
              <a:rPr lang="en-US" sz="2800" baseline="30000" dirty="0">
                <a:solidFill>
                  <a:srgbClr val="C00000"/>
                </a:solidFill>
              </a:rPr>
              <a:t>+2</a:t>
            </a:r>
            <a:r>
              <a:rPr lang="en-US" sz="2800" dirty="0">
                <a:solidFill>
                  <a:srgbClr val="C00000"/>
                </a:solidFill>
              </a:rPr>
              <a:t> +EDTA </a:t>
            </a:r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→Ca- EDTA 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1 ml 1M Na2EDTA = 40 mg Ca+2 = 24 mg Mg+2 = 65.4 mg Zn+2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 mole of CaCO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1 mole EDTA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i.e. 100 g  CaCO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1 mole EDTA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Now,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1000 ml 1 M EDTA      = 100 g  CaCO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1000 ml 1M EDTA  =  40 gm Ca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+2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 ml 1M EDTA = 40/1000 gm of Ca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+2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1ml 1M EDTA = (40 x 1000)/ 1000 mg Ca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+2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 ml 1M EDTA = 40 mg Ca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+2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710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523875"/>
            <a:ext cx="8170863" cy="587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638800"/>
          </a:xfrm>
        </p:spPr>
        <p:txBody>
          <a:bodyPr/>
          <a:lstStyle/>
          <a:p>
            <a:pPr marL="514350" indent="-514350"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1)  50 ml of a water sample requires 1.7 ml of 0.02M EDTA during titration. Calculate total hardness of the water</a:t>
            </a:r>
          </a:p>
          <a:p>
            <a:pPr marL="514350" indent="-514350">
              <a:buFont typeface="Wingdings 2" pitchFamily="18" charset="2"/>
              <a:buAutoNum type="arabicParenR"/>
            </a:pPr>
            <a:endParaRPr lang="en-US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2)  The given Ca</a:t>
            </a:r>
            <a:r>
              <a:rPr lang="en-US" baseline="30000">
                <a:latin typeface="Times New Roman" pitchFamily="18" charset="0"/>
                <a:cs typeface="Times New Roman" pitchFamily="18" charset="0"/>
              </a:rPr>
              <a:t>+2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ion solution is diluted to 250ml volume with distilled water . 25 ml of this diluted solution when titrated with 0.02M EDTA solution required 18.3 ml for the end point calculate the amount of Ca</a:t>
            </a:r>
            <a:r>
              <a:rPr lang="en-US" baseline="30000">
                <a:latin typeface="Times New Roman" pitchFamily="18" charset="0"/>
                <a:cs typeface="Times New Roman" pitchFamily="18" charset="0"/>
              </a:rPr>
              <a:t>+2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ion present in the given solution. (Ans. 146.4 mgCa</a:t>
            </a:r>
            <a:r>
              <a:rPr lang="en-US" baseline="30000">
                <a:latin typeface="Times New Roman" pitchFamily="18" charset="0"/>
                <a:cs typeface="Times New Roman" pitchFamily="18" charset="0"/>
              </a:rPr>
              <a:t>+2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ion) </a:t>
            </a:r>
          </a:p>
          <a:p>
            <a:pPr marL="514350" indent="-514350">
              <a:buFont typeface="Wingdings 2" pitchFamily="18" charset="2"/>
              <a:buAutoNum type="arabicParenR"/>
            </a:pPr>
            <a:endParaRPr lang="en-US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3)   50 ml sample water containing Mg salts, when titrated with 0.05 M EDTA requires 41.5 ml for the end point calculate the amount of Mg ions present per litre of the sample water.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19150"/>
          </a:xfrm>
        </p:spPr>
        <p:txBody>
          <a:bodyPr anchor="t"/>
          <a:lstStyle/>
          <a:p>
            <a:pPr algn="ctr" eaLnBrk="1" hangingPunct="1"/>
            <a:r>
              <a:rPr lang="en-US">
                <a:solidFill>
                  <a:srgbClr val="C00000"/>
                </a:solidFill>
              </a:rPr>
              <a:t>Alkalinity of water 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534400" cy="5181600"/>
          </a:xfrm>
        </p:spPr>
        <p:txBody>
          <a:bodyPr/>
          <a:lstStyle/>
          <a:p>
            <a:pPr eaLnBrk="1" hangingPunct="1"/>
            <a:r>
              <a:rPr lang="en-US"/>
              <a:t>Alkalinity is the acid neutralizing capacity of water.</a:t>
            </a:r>
          </a:p>
          <a:p>
            <a:pPr eaLnBrk="1" hangingPunct="1"/>
            <a:r>
              <a:rPr lang="en-US"/>
              <a:t>Alkalinity is due to the presence of -</a:t>
            </a:r>
          </a:p>
          <a:p>
            <a:pPr eaLnBrk="1" hangingPunct="1"/>
            <a:r>
              <a:rPr lang="en-US"/>
              <a:t>Hydroxides: NH4OH, NaOH, Ca(OH)2</a:t>
            </a:r>
          </a:p>
          <a:p>
            <a:pPr eaLnBrk="1" hangingPunct="1"/>
            <a:r>
              <a:rPr lang="en-US"/>
              <a:t>Carbonates: MgCO3, FeCO3, Na2CO3</a:t>
            </a:r>
          </a:p>
          <a:p>
            <a:pPr eaLnBrk="1" hangingPunct="1"/>
            <a:r>
              <a:rPr lang="en-US"/>
              <a:t>Bicarbonates: Ca(HCO3)2, Mg(HCO3)2, Fe(HCO3)2, NaHCO3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/>
              <a:t> Reactions:</a:t>
            </a:r>
          </a:p>
          <a:p>
            <a:pPr eaLnBrk="1" hangingPunct="1">
              <a:buFont typeface="Wingdings 2" pitchFamily="18" charset="2"/>
              <a:buNone/>
            </a:pPr>
            <a:endParaRPr lang="en-US"/>
          </a:p>
          <a:p>
            <a:pPr eaLnBrk="1" hangingPunct="1">
              <a:buFont typeface="Wingdings 2" pitchFamily="18" charset="2"/>
              <a:buNone/>
            </a:pPr>
            <a:endParaRPr lang="en-US"/>
          </a:p>
          <a:p>
            <a:pPr eaLnBrk="1" hangingPunct="1">
              <a:buFont typeface="Wingdings 2" pitchFamily="18" charset="2"/>
              <a:buNone/>
            </a:pPr>
            <a:endParaRPr lang="en-US"/>
          </a:p>
          <a:p>
            <a:pPr eaLnBrk="1" hangingPunct="1">
              <a:buFont typeface="Wingdings 2" pitchFamily="18" charset="2"/>
              <a:buNone/>
            </a:pPr>
            <a:endParaRPr lang="en-US"/>
          </a:p>
        </p:txBody>
      </p:sp>
      <p:pic>
        <p:nvPicPr>
          <p:cNvPr id="49156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419600"/>
            <a:ext cx="843915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229600" cy="51435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400">
                <a:solidFill>
                  <a:srgbClr val="C00000"/>
                </a:solidFill>
              </a:rPr>
              <a:t>Types of alkalinity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389438"/>
          </a:xfrm>
        </p:spPr>
        <p:txBody>
          <a:bodyPr/>
          <a:lstStyle/>
          <a:p>
            <a:pPr marL="514350" indent="-514350">
              <a:buClrTx/>
              <a:buFont typeface="Wingdings 2" pitchFamily="18" charset="2"/>
              <a:buAutoNum type="arabicParenR"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Only HO¯</a:t>
            </a:r>
          </a:p>
          <a:p>
            <a:pPr marL="514350" indent="-514350">
              <a:buClrTx/>
              <a:buFont typeface="Wingdings 2" pitchFamily="18" charset="2"/>
              <a:buAutoNum type="arabicParenR"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Only CO</a:t>
            </a:r>
            <a:r>
              <a:rPr lang="en-US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30000">
                <a:latin typeface="Times New Roman" pitchFamily="18" charset="0"/>
                <a:cs typeface="Times New Roman" pitchFamily="18" charset="0"/>
              </a:rPr>
              <a:t>-2</a:t>
            </a:r>
          </a:p>
          <a:p>
            <a:pPr marL="514350" indent="-514350">
              <a:buClrTx/>
              <a:buFont typeface="Wingdings 2" pitchFamily="18" charset="2"/>
              <a:buAutoNum type="arabicParenR"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Only HCO</a:t>
            </a:r>
            <a:r>
              <a:rPr lang="en-US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¯</a:t>
            </a:r>
          </a:p>
          <a:p>
            <a:pPr marL="514350" indent="-514350">
              <a:buClrTx/>
              <a:buFont typeface="Wingdings 2" pitchFamily="18" charset="2"/>
              <a:buAutoNum type="arabicParenR"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HO¯      and  CO3</a:t>
            </a:r>
            <a:r>
              <a:rPr lang="en-US" baseline="30000">
                <a:latin typeface="Times New Roman" pitchFamily="18" charset="0"/>
                <a:cs typeface="Times New Roman" pitchFamily="18" charset="0"/>
              </a:rPr>
              <a:t>-2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     together </a:t>
            </a:r>
          </a:p>
          <a:p>
            <a:pPr marL="514350" indent="-514350">
              <a:buClrTx/>
              <a:buFont typeface="Wingdings 2" pitchFamily="18" charset="2"/>
              <a:buAutoNum type="arabicParenR"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CO</a:t>
            </a:r>
            <a:r>
              <a:rPr lang="en-US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30000">
                <a:latin typeface="Times New Roman" pitchFamily="18" charset="0"/>
                <a:cs typeface="Times New Roman" pitchFamily="18" charset="0"/>
              </a:rPr>
              <a:t>-2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    and  HCO3¯     together</a:t>
            </a:r>
          </a:p>
          <a:p>
            <a:pPr marL="514350" indent="-514350">
              <a:buFont typeface="Wingdings 2" pitchFamily="18" charset="2"/>
              <a:buNone/>
            </a:pPr>
            <a:endParaRPr lang="en-US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HO¯ , CO</a:t>
            </a:r>
            <a:r>
              <a:rPr lang="en-US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30000">
                <a:latin typeface="Times New Roman" pitchFamily="18" charset="0"/>
                <a:cs typeface="Times New Roman" pitchFamily="18" charset="0"/>
              </a:rPr>
              <a:t>-2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and HCO3¯   or    HO¯  and HCO3¯ could not exist together because   </a:t>
            </a:r>
          </a:p>
          <a:p>
            <a:pPr marL="514350" indent="-514350"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HO¯  + HCO3¯  →     H2O + CO</a:t>
            </a:r>
            <a:r>
              <a:rPr lang="en-US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30000">
                <a:latin typeface="Times New Roman" pitchFamily="18" charset="0"/>
                <a:cs typeface="Times New Roman" pitchFamily="18" charset="0"/>
              </a:rPr>
              <a:t>-2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             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590550"/>
          </a:xfrm>
        </p:spPr>
        <p:txBody>
          <a:bodyPr anchor="t">
            <a:normAutofit fontScale="90000"/>
          </a:bodyPr>
          <a:lstStyle/>
          <a:p>
            <a:pPr eaLnBrk="1" hangingPunct="1"/>
            <a:r>
              <a:rPr lang="en-US" sz="4400" b="1" dirty="0">
                <a:solidFill>
                  <a:srgbClr val="C00000"/>
                </a:solidFill>
              </a:rPr>
              <a:t>Procedure:</a:t>
            </a:r>
          </a:p>
        </p:txBody>
      </p:sp>
      <p:sp>
        <p:nvSpPr>
          <p:cNvPr id="51203" name="Content Placeholder 4"/>
          <p:cNvSpPr>
            <a:spLocks noGrp="1"/>
          </p:cNvSpPr>
          <p:nvPr>
            <p:ph idx="1"/>
          </p:nvPr>
        </p:nvSpPr>
        <p:spPr>
          <a:xfrm>
            <a:off x="381000" y="914400"/>
            <a:ext cx="8229600" cy="4389120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Part I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1) Fill burette with standard acid solution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HCl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2) Take 10 ml alkaline water sample in conical flask.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3) Add 2-3 drops of Phenolphthalein Indicator.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4) Titrate this solution with standard acid solution End point. End point is Pink to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colourless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5) Note the burette reading as V1 ml.</a:t>
            </a:r>
          </a:p>
          <a:p>
            <a:pPr eaLnBrk="1" hangingPunct="1"/>
            <a:endParaRPr lang="en-US" dirty="0"/>
          </a:p>
        </p:txBody>
      </p:sp>
      <p:pic>
        <p:nvPicPr>
          <p:cNvPr id="5120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3802708"/>
            <a:ext cx="2971800" cy="244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305800" cy="60198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Part II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1) Take solution from part I.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2) Add 2-3 drops of Methyl orange Indicator in the solution from part I.</a:t>
            </a:r>
          </a:p>
          <a:p>
            <a:pPr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3) Continue the titrate from V1 ml Std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HCl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solution.</a:t>
            </a:r>
          </a:p>
          <a:p>
            <a:pPr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End point of titration is  yellow to orange </a:t>
            </a:r>
          </a:p>
          <a:p>
            <a:pPr eaLnBrk="1" hangingPunct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5) Note the burette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readingas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V2 ml.</a:t>
            </a:r>
          </a:p>
          <a:p>
            <a:pPr eaLnBrk="1" hangingPunct="1"/>
            <a:endParaRPr lang="en-US" dirty="0"/>
          </a:p>
        </p:txBody>
      </p:sp>
      <p:pic>
        <p:nvPicPr>
          <p:cNvPr id="52227" name="Picture 2" descr="C:\Documents and Settings\Admin\My Documents\My Pictures\mf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3444874"/>
            <a:ext cx="2667000" cy="322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4800600"/>
          <a:ext cx="4724401" cy="1196340"/>
        </p:xfrm>
        <a:graphic>
          <a:graphicData uri="http://schemas.openxmlformats.org/drawingml/2006/table">
            <a:tbl>
              <a:tblPr/>
              <a:tblGrid>
                <a:gridCol w="15935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373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9354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lang="en-US" b="1" dirty="0"/>
                        <a:t>Methyl orange</a:t>
                      </a:r>
                      <a:r>
                        <a:rPr lang="en-US" dirty="0"/>
                        <a:t> (</a:t>
                      </a:r>
                      <a:r>
                        <a:rPr lang="en-US" dirty="0">
                          <a:hlinkClick r:id="rId3" tooltip="PH indicator"/>
                        </a:rPr>
                        <a:t>pH indicator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/>
                        <a:t>below pH 3.1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i="1"/>
                        <a:t>above pH 4.4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3.1</a:t>
                      </a:r>
                      <a:endParaRPr lang="en-US"/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4.4</a:t>
                      </a:r>
                      <a:endParaRPr lang="en-US" dirty="0"/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2236" name="Rectangle 4"/>
          <p:cNvSpPr>
            <a:spLocks noChangeArrowheads="1"/>
          </p:cNvSpPr>
          <p:nvPr/>
        </p:nvSpPr>
        <p:spPr bwMode="auto">
          <a:xfrm>
            <a:off x="533400" y="3962400"/>
            <a:ext cx="46482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en-US"/>
              <a:t>In an acid, it is reddish and in alkali, it is yellow. Methyl orange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500166" y="6492875"/>
            <a:ext cx="3352800" cy="365125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610600" cy="5867400"/>
          </a:xfrm>
        </p:spPr>
        <p:txBody>
          <a:bodyPr/>
          <a:lstStyle/>
          <a:p>
            <a:pPr eaLnBrk="1" hangingPunct="1"/>
            <a:endParaRPr lang="en-US"/>
          </a:p>
          <a:p>
            <a:pPr eaLnBrk="1" hangingPunct="1"/>
            <a:r>
              <a:rPr lang="en-US" b="1">
                <a:solidFill>
                  <a:srgbClr val="C00000"/>
                </a:solidFill>
              </a:rPr>
              <a:t>Calculation</a:t>
            </a:r>
          </a:p>
        </p:txBody>
      </p:sp>
      <p:sp>
        <p:nvSpPr>
          <p:cNvPr id="5325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0" y="1409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/>
          </a:p>
        </p:txBody>
      </p:sp>
      <p:sp>
        <p:nvSpPr>
          <p:cNvPr id="53254" name="Rectangle 8"/>
          <p:cNvSpPr>
            <a:spLocks noChangeArrowheads="1"/>
          </p:cNvSpPr>
          <p:nvPr/>
        </p:nvSpPr>
        <p:spPr bwMode="auto">
          <a:xfrm>
            <a:off x="0" y="8477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/>
          </a:p>
        </p:txBody>
      </p:sp>
      <p:sp>
        <p:nvSpPr>
          <p:cNvPr id="53255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256" name="Rectangle 11"/>
          <p:cNvSpPr>
            <a:spLocks noChangeArrowheads="1"/>
          </p:cNvSpPr>
          <p:nvPr/>
        </p:nvSpPr>
        <p:spPr bwMode="auto">
          <a:xfrm>
            <a:off x="0" y="8953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/>
          </a:p>
        </p:txBody>
      </p:sp>
      <p:sp>
        <p:nvSpPr>
          <p:cNvPr id="53257" name="Rectangle 16"/>
          <p:cNvSpPr>
            <a:spLocks noChangeArrowheads="1"/>
          </p:cNvSpPr>
          <p:nvPr/>
        </p:nvSpPr>
        <p:spPr bwMode="auto">
          <a:xfrm>
            <a:off x="228600" y="99060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/>
          </a:p>
        </p:txBody>
      </p:sp>
      <p:sp>
        <p:nvSpPr>
          <p:cNvPr id="5325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53259" name="Picture 1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" y="4724400"/>
            <a:ext cx="7543800" cy="5572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3260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1752600"/>
            <a:ext cx="523875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61" name="Picture 1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2993885"/>
            <a:ext cx="7253288" cy="11209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667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Calculations: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4876800"/>
          </a:xfrm>
        </p:spPr>
        <p:txBody>
          <a:bodyPr/>
          <a:lstStyle/>
          <a:p>
            <a:pPr eaLnBrk="1" hangingPunct="1"/>
            <a:r>
              <a:rPr lang="en-US">
                <a:latin typeface="Times New Roman" pitchFamily="18" charset="0"/>
                <a:cs typeface="Times New Roman" pitchFamily="18" charset="0"/>
              </a:rPr>
              <a:t>1ml  1N   HCl  = 50 mg CaCO3</a:t>
            </a:r>
          </a:p>
          <a:p>
            <a:pPr eaLnBrk="1" hangingPunct="1"/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600200"/>
          <a:ext cx="80010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Relation between P and 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None/>
                      </a:pPr>
                      <a:r>
                        <a:rPr lang="en-US" sz="2400" baseline="0" dirty="0">
                          <a:latin typeface="Times New Roman" pitchFamily="18" charset="0"/>
                          <a:cs typeface="Times New Roman" pitchFamily="18" charset="0"/>
                        </a:rPr>
                        <a:t>HO</a:t>
                      </a:r>
                      <a:r>
                        <a:rPr lang="en-US" sz="2400" baseline="0" dirty="0">
                          <a:latin typeface="Times New Roman"/>
                          <a:cs typeface="Times New Roman"/>
                        </a:rPr>
                        <a:t>¯  Alkalinity</a:t>
                      </a:r>
                      <a:endParaRPr lang="en-US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CO3</a:t>
                      </a:r>
                      <a:r>
                        <a:rPr lang="en-US" sz="2400" baseline="30000" dirty="0">
                          <a:latin typeface="Times New Roman" pitchFamily="18" charset="0"/>
                          <a:cs typeface="Times New Roman" pitchFamily="18" charset="0"/>
                        </a:rPr>
                        <a:t>2-   </a:t>
                      </a:r>
                      <a:r>
                        <a:rPr lang="en-US" sz="2400" baseline="0" dirty="0">
                          <a:latin typeface="Times New Roman" pitchFamily="18" charset="0"/>
                          <a:cs typeface="Times New Roman" pitchFamily="18" charset="0"/>
                        </a:rPr>
                        <a:t> Alkalinity</a:t>
                      </a:r>
                      <a:endParaRPr lang="en-US" sz="2400" baseline="30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HCO3</a:t>
                      </a:r>
                      <a:r>
                        <a:rPr lang="en-US" sz="2400" baseline="30000" dirty="0">
                          <a:latin typeface="Times New Roman" pitchFamily="18" charset="0"/>
                          <a:cs typeface="Times New Roman" pitchFamily="18" charset="0"/>
                        </a:rPr>
                        <a:t>-   </a:t>
                      </a:r>
                      <a:r>
                        <a:rPr lang="en-US" sz="2400" baseline="0" dirty="0">
                          <a:latin typeface="Times New Roman" pitchFamily="18" charset="0"/>
                          <a:cs typeface="Times New Roman" pitchFamily="18" charset="0"/>
                        </a:rPr>
                        <a:t> Alkalinity</a:t>
                      </a:r>
                      <a:endParaRPr lang="en-US" sz="2400" baseline="30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P=M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P=1/2M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2P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P&gt;1/2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2P-M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2(M-P)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P&lt;1/2M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2P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M-2P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4000" b="1">
                <a:solidFill>
                  <a:srgbClr val="C00000"/>
                </a:solidFill>
              </a:rPr>
              <a:t>CaCO3 + 2HCl </a:t>
            </a:r>
            <a:r>
              <a:rPr lang="en-US" sz="40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→ CaCl2 +H2O +CO2 </a:t>
            </a:r>
            <a:endParaRPr lang="en-US" sz="4000" b="1">
              <a:solidFill>
                <a:srgbClr val="C00000"/>
              </a:solidFill>
            </a:endParaRP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229600" cy="5638800"/>
          </a:xfrm>
        </p:spPr>
        <p:txBody>
          <a:bodyPr/>
          <a:lstStyle/>
          <a:p>
            <a:r>
              <a:rPr lang="en-US"/>
              <a:t>Consider  V ml of alkaline water sample taken for  titration required V1 ml Z M HCl  </a:t>
            </a:r>
          </a:p>
          <a:p>
            <a:r>
              <a:rPr lang="en-US"/>
              <a:t>1 mole of HCl  =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½</a:t>
            </a:r>
            <a:r>
              <a:rPr lang="en-US"/>
              <a:t> mole CaCO3</a:t>
            </a:r>
          </a:p>
          <a:p>
            <a:r>
              <a:rPr lang="en-US"/>
              <a:t>1000 ml 1M HCl = 50 gm CaCO3</a:t>
            </a:r>
          </a:p>
          <a:p>
            <a:r>
              <a:rPr lang="en-US"/>
              <a:t>1 ml 1M HCl  = 50 gm / 1000ml = (50 x 1000)/ 1000</a:t>
            </a:r>
          </a:p>
          <a:p>
            <a:r>
              <a:rPr lang="en-US"/>
              <a:t>                         = 50 mg CaCO3</a:t>
            </a:r>
          </a:p>
          <a:p>
            <a:r>
              <a:rPr lang="en-US"/>
              <a:t>V1 ml Z M HCl   = V1 x Z x 50 mg CaCO3</a:t>
            </a:r>
          </a:p>
          <a:p>
            <a:r>
              <a:rPr lang="en-US"/>
              <a:t>V ml alkaline water contains = V1 x Z x 50 mg CaCO3</a:t>
            </a:r>
          </a:p>
          <a:p>
            <a:r>
              <a:rPr lang="en-US"/>
              <a:t>1000 ml alkaline water </a:t>
            </a:r>
          </a:p>
          <a:p>
            <a:pPr>
              <a:buFont typeface="Wingdings 2" pitchFamily="18" charset="2"/>
              <a:buNone/>
            </a:pPr>
            <a:r>
              <a:rPr lang="en-US"/>
              <a:t>                 Contains           = </a:t>
            </a:r>
          </a:p>
          <a:p>
            <a:endParaRPr lang="en-US"/>
          </a:p>
        </p:txBody>
      </p:sp>
      <p:sp>
        <p:nvSpPr>
          <p:cNvPr id="5530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5530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5715000"/>
            <a:ext cx="781843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2" name="Rectangle 3"/>
          <p:cNvSpPr>
            <a:spLocks noChangeArrowheads="1"/>
          </p:cNvSpPr>
          <p:nvPr/>
        </p:nvSpPr>
        <p:spPr bwMode="auto">
          <a:xfrm>
            <a:off x="0" y="8953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endParaRPr lang="en-US"/>
          </a:p>
        </p:txBody>
      </p:sp>
      <p:sp>
        <p:nvSpPr>
          <p:cNvPr id="5530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55304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43400" y="4784725"/>
            <a:ext cx="4543425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59055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Boiler 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229600" cy="4389438"/>
          </a:xfrm>
        </p:spPr>
        <p:txBody>
          <a:bodyPr>
            <a:normAutofit fontScale="92500"/>
          </a:bodyPr>
          <a:lstStyle/>
          <a:p>
            <a:r>
              <a:rPr lang="en-US"/>
              <a:t>Boiler or steam boiler </a:t>
            </a:r>
          </a:p>
          <a:p>
            <a:r>
              <a:rPr lang="en-US"/>
              <a:t>–is an essential part of Thermal Power Plant</a:t>
            </a:r>
          </a:p>
          <a:p>
            <a:r>
              <a:rPr lang="en-US"/>
              <a:t>A boiler is a device for generating steam which consists of two parts-1) Furnace  2)Boiler   </a:t>
            </a:r>
          </a:p>
          <a:p>
            <a:r>
              <a:rPr lang="en-US">
                <a:solidFill>
                  <a:srgbClr val="C00000"/>
                </a:solidFill>
              </a:rPr>
              <a:t>Furnace</a:t>
            </a:r>
            <a:r>
              <a:rPr lang="en-US"/>
              <a:t> – which provides heat usually by burning a fuel</a:t>
            </a:r>
          </a:p>
          <a:p>
            <a:r>
              <a:rPr lang="en-US"/>
              <a:t> Boiler- a device in which the heat changes water into steam</a:t>
            </a:r>
          </a:p>
          <a:p>
            <a:r>
              <a:rPr lang="en-US"/>
              <a:t>Types of Boiler- 1) Water  tube boiler  </a:t>
            </a:r>
          </a:p>
          <a:p>
            <a:r>
              <a:rPr lang="en-US"/>
              <a:t>                            2) Fire Tube Boiler </a:t>
            </a:r>
          </a:p>
          <a:p>
            <a:pPr>
              <a:buFont typeface="Wingdings 2" pitchFamily="18" charset="2"/>
              <a:buNone/>
            </a:pPr>
            <a:r>
              <a:rPr lang="en-US"/>
              <a:t>       		</a:t>
            </a:r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229600" cy="609600"/>
          </a:xfrm>
        </p:spPr>
        <p:txBody>
          <a:bodyPr anchor="t">
            <a:normAutofit fontScale="90000"/>
          </a:bodyPr>
          <a:lstStyle/>
          <a:p>
            <a:pPr algn="ctr" eaLnBrk="1" hangingPunct="1"/>
            <a:r>
              <a:rPr lang="en-US" sz="4400" dirty="0">
                <a:solidFill>
                  <a:srgbClr val="C00000"/>
                </a:solidFill>
              </a:rPr>
              <a:t>Boiler Feed water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534400" cy="5867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/>
              <a:t>Steam generation and coolant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endParaRPr lang="en-US" sz="2800" b="1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200" b="1" dirty="0">
                <a:solidFill>
                  <a:srgbClr val="C00000"/>
                </a:solidFill>
              </a:rPr>
              <a:t>Ill/ Bad Effects of Hard Water in Boiler</a:t>
            </a:r>
          </a:p>
          <a:p>
            <a:pPr marL="514350" indent="-514350"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1900" dirty="0"/>
              <a:t>Corrosion</a:t>
            </a:r>
          </a:p>
          <a:p>
            <a:pPr marL="514350" indent="-514350"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1900" dirty="0"/>
              <a:t>Priming &amp; Foaming</a:t>
            </a:r>
          </a:p>
          <a:p>
            <a:pPr marL="514350" indent="-514350"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1900" dirty="0"/>
              <a:t>Scales &amp; Sludge</a:t>
            </a:r>
          </a:p>
          <a:p>
            <a:pPr marL="514350" indent="-514350">
              <a:buClr>
                <a:srgbClr val="FF0000"/>
              </a:buClr>
              <a:buFont typeface="Wingdings" pitchFamily="2" charset="2"/>
              <a:buChar char="Ø"/>
            </a:pPr>
            <a:r>
              <a:rPr lang="en-US" sz="1900" dirty="0"/>
              <a:t>Caustic </a:t>
            </a:r>
            <a:r>
              <a:rPr lang="en-US" sz="1900" dirty="0" err="1"/>
              <a:t>embrittlement</a:t>
            </a:r>
            <a:endParaRPr lang="en-US" sz="1900" dirty="0"/>
          </a:p>
          <a:p>
            <a:r>
              <a:rPr lang="en-US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Water with minimum hardness and maximum purity</a:t>
            </a:r>
          </a:p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is good for boiler feed</a:t>
            </a:r>
            <a:r>
              <a:rPr lang="en-US" sz="1800" dirty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  <a:p>
            <a:pPr eaLnBrk="1" hangingPunct="1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0200" y="1143000"/>
          <a:ext cx="5867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Type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 of  boiler Steam Pressure 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Permitted Hardness of Boiler Feed water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Low pressure </a:t>
                      </a:r>
                    </a:p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Below 15 kg/ cm2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25- 50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ppm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of CaCO3 equiv.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Medium pressure</a:t>
                      </a:r>
                    </a:p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15-30 kg/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cm2 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10 - 25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ppm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of CaCO3 equiv.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High pressure</a:t>
                      </a:r>
                    </a:p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Greater than 30 kg/ cm2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- 10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ppm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of CaCO3 equiv.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4572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3600" dirty="0">
                <a:solidFill>
                  <a:srgbClr val="C00000"/>
                </a:solidFill>
              </a:rPr>
              <a:t>1</a:t>
            </a:r>
            <a:r>
              <a:rPr lang="en-US" sz="3600" dirty="0" smtClean="0">
                <a:solidFill>
                  <a:srgbClr val="C00000"/>
                </a:solidFill>
              </a:rPr>
              <a:t>. 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Priming &amp; Foaming</a:t>
            </a: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Priming (Carry over): Wet Steam formation</a:t>
            </a:r>
          </a:p>
          <a:p>
            <a:pPr eaLnBrk="1" hangingPunct="1"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Vigorous boiling of water leads to formation of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wet steam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known as priming.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Causes:</a:t>
            </a:r>
          </a:p>
          <a:p>
            <a:pPr marL="457200" indent="-457200" eaLnBrk="1" hangingPunct="1">
              <a:buClrTx/>
              <a:buFont typeface="+mj-lt"/>
              <a:buAutoNum type="arabicParenR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Presence of suspended impurities in water.</a:t>
            </a:r>
          </a:p>
          <a:p>
            <a:pPr marL="457200" indent="-457200" eaLnBrk="1" hangingPunct="1">
              <a:buClrTx/>
              <a:buFont typeface="+mj-lt"/>
              <a:buAutoNum type="arabicParenR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Very high level of boiler feed water</a:t>
            </a:r>
          </a:p>
          <a:p>
            <a:pPr marL="457200" indent="-457200" eaLnBrk="1" fontAlgn="t" hangingPunct="1">
              <a:buClrTx/>
              <a:buFont typeface="+mj-lt"/>
              <a:buAutoNum type="arabicParenR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High steam velocities/ Sudden steam demands.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eaLnBrk="1" hangingPunct="1">
              <a:buClrTx/>
              <a:buFont typeface="+mj-lt"/>
              <a:buAutoNum type="arabicParenR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Improper boiler design</a:t>
            </a:r>
          </a:p>
          <a:p>
            <a:pPr marL="457200" indent="-457200" eaLnBrk="1" hangingPunct="1">
              <a:buClrTx/>
              <a:buFont typeface="+mj-lt"/>
              <a:buAutoNum type="arabicParenR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Sudden increase in steaming rate.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Prevention:</a:t>
            </a:r>
          </a:p>
          <a:p>
            <a:pPr marL="457200" indent="-457200" eaLnBrk="1" hangingPunct="1">
              <a:buClrTx/>
              <a:buFont typeface="+mj-lt"/>
              <a:buAutoNum type="arabicParenR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Fitting mechanical steam purifiers</a:t>
            </a:r>
          </a:p>
          <a:p>
            <a:pPr marL="457200" indent="-457200" eaLnBrk="1" hangingPunct="1">
              <a:buClrTx/>
              <a:buFont typeface="+mj-lt"/>
              <a:buAutoNum type="arabicParenR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Avoiding rapid change in steaming rate</a:t>
            </a:r>
          </a:p>
          <a:p>
            <a:pPr marL="457200" indent="-457200" eaLnBrk="1" hangingPunct="1">
              <a:buClrTx/>
              <a:buFont typeface="+mj-lt"/>
              <a:buAutoNum type="arabicParenR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Maintaining low water levels in boilers</a:t>
            </a:r>
          </a:p>
          <a:p>
            <a:pPr marL="457200" indent="-457200" eaLnBrk="1" hangingPunct="1">
              <a:buClrTx/>
              <a:buFont typeface="+mj-lt"/>
              <a:buAutoNum type="arabicParenR"/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Efficient softening and filtration</a:t>
            </a:r>
          </a:p>
        </p:txBody>
      </p:sp>
      <p:pic>
        <p:nvPicPr>
          <p:cNvPr id="5" name="Picture 10" descr="http://2.bp.blogspot.com/-_gJmHYp-i5k/TcVOiDfobLI/AAAAAAAAAjU/fHshXTqvqNM/s1600/priming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5906510" y="2819400"/>
            <a:ext cx="3237490" cy="3419034"/>
          </a:xfrm>
          <a:prstGeom prst="rect">
            <a:avLst/>
          </a:prstGeom>
          <a:noFill/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Content Placeholder 2"/>
          <p:cNvSpPr>
            <a:spLocks noGrp="1"/>
          </p:cNvSpPr>
          <p:nvPr>
            <p:ph idx="1"/>
          </p:nvPr>
        </p:nvSpPr>
        <p:spPr>
          <a:xfrm>
            <a:off x="228600" y="533400"/>
            <a:ext cx="8458200" cy="57912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Foaming:</a:t>
            </a:r>
          </a:p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Production of persistent foam or bubbles on the surface of boiler feed water is known as foaming .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Causes</a:t>
            </a:r>
          </a:p>
          <a:p>
            <a:pPr eaLnBrk="1" hangingPunct="1"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Presence of substances like 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oils, soaps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which reduces surface tension of water.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Prevention:</a:t>
            </a:r>
          </a:p>
          <a:p>
            <a:pPr eaLnBrk="1" hangingPunct="1"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Adding antifoaming chemicals like </a:t>
            </a:r>
            <a:r>
              <a:rPr lang="en-US" sz="3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castor  oil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Removing oil impurities by adding compounds like Na-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aluminate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blow down operation at appropriate time.</a:t>
            </a:r>
          </a:p>
          <a:p>
            <a:pPr eaLnBrk="1" hangingPunct="1">
              <a:buFont typeface="Arial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Na-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aluminate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NaAlO2,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(OH)4 hydrated, Na2Al2O4.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666750"/>
          </a:xfrm>
        </p:spPr>
        <p:txBody>
          <a:bodyPr/>
          <a:lstStyle/>
          <a:p>
            <a:pPr algn="ctr" eaLnBrk="1" hangingPunct="1"/>
            <a:r>
              <a:rPr lang="en-US" sz="4000" b="1" dirty="0">
                <a:solidFill>
                  <a:srgbClr val="C00000"/>
                </a:solidFill>
              </a:rPr>
              <a:t>Disadvantages of Priming &amp; Foaming </a:t>
            </a:r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3200400"/>
          </a:xfrm>
        </p:spPr>
        <p:txBody>
          <a:bodyPr/>
          <a:lstStyle/>
          <a:p>
            <a:pPr marL="514350" indent="-514350" eaLnBrk="1" hangingPunct="1">
              <a:buClrTx/>
              <a:buFont typeface="+mj-lt"/>
              <a:buAutoNum type="arabicParenR"/>
              <a:defRPr/>
            </a:pPr>
            <a:r>
              <a:rPr lang="en-US" dirty="0"/>
              <a:t>Wet steam carries dissolved salts which get deposited on turbines blades .</a:t>
            </a:r>
          </a:p>
          <a:p>
            <a:pPr marL="514350" indent="-514350" eaLnBrk="1" hangingPunct="1">
              <a:buClrTx/>
              <a:buFont typeface="+mj-lt"/>
              <a:buAutoNum type="arabicParenR"/>
              <a:defRPr/>
            </a:pPr>
            <a:r>
              <a:rPr lang="en-US" dirty="0"/>
              <a:t>Decreases life of machinery</a:t>
            </a:r>
          </a:p>
          <a:p>
            <a:pPr marL="514350" indent="-514350" eaLnBrk="1" hangingPunct="1">
              <a:buClrTx/>
              <a:buFont typeface="+mj-lt"/>
              <a:buAutoNum type="arabicParenR"/>
              <a:defRPr/>
            </a:pPr>
            <a:r>
              <a:rPr lang="en-US" dirty="0"/>
              <a:t>Height of water column cannot be judged .</a:t>
            </a:r>
          </a:p>
          <a:p>
            <a:pPr marL="514350" indent="-514350" eaLnBrk="1" hangingPunct="1">
              <a:buClrTx/>
              <a:buFont typeface="+mj-lt"/>
              <a:buAutoNum type="arabicParenR"/>
              <a:defRPr/>
            </a:pPr>
            <a:r>
              <a:rPr lang="en-US" dirty="0"/>
              <a:t>Reduces the efficiency of machine parts and to some extent their corrosion</a:t>
            </a:r>
          </a:p>
          <a:p>
            <a:pPr marL="514350" indent="-514350" eaLnBrk="1" hangingPunct="1">
              <a:buClrTx/>
              <a:buFont typeface="+mj-lt"/>
              <a:buAutoNum type="arabicParenR"/>
              <a:defRPr/>
            </a:pPr>
            <a:r>
              <a:rPr lang="en-US" dirty="0"/>
              <a:t>Foaming cause wet steam formation.                                </a:t>
            </a:r>
          </a:p>
          <a:p>
            <a:pPr eaLnBrk="1" hangingPunct="1">
              <a:defRPr/>
            </a:pPr>
            <a:endParaRPr lang="en-US" dirty="0"/>
          </a:p>
        </p:txBody>
      </p:sp>
      <p:pic>
        <p:nvPicPr>
          <p:cNvPr id="5" name="Picture 2" descr="http://4.bp.blogspot.com/-K3GDpimGHLU/TcVOZN-eAYI/AAAAAAAAAjQ/V9XEbwPUJf8/s1600/CARYOVER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3744190"/>
            <a:ext cx="2637185" cy="2757061"/>
          </a:xfrm>
          <a:prstGeom prst="rect">
            <a:avLst/>
          </a:prstGeom>
          <a:noFill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381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. </a:t>
            </a:r>
            <a:r>
              <a:rPr lang="en-US" dirty="0">
                <a:solidFill>
                  <a:srgbClr val="C00000"/>
                </a:solidFill>
              </a:rPr>
              <a:t>Scale and Sludge Formation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305800" cy="55626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b="1" dirty="0">
                <a:solidFill>
                  <a:srgbClr val="C00000"/>
                </a:solidFill>
              </a:rPr>
              <a:t>Sludge</a:t>
            </a:r>
            <a:r>
              <a:rPr lang="en-US" b="1" dirty="0"/>
              <a:t>:</a:t>
            </a:r>
            <a:r>
              <a:rPr lang="en-US" dirty="0"/>
              <a:t> Loose &amp; slimy Precipitate/ deposit </a:t>
            </a:r>
          </a:p>
          <a:p>
            <a:pPr eaLnBrk="1" hangingPunct="1"/>
            <a:r>
              <a:rPr lang="en-US" dirty="0"/>
              <a:t>Formed at comparatively cooler portions of boiler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</a:rPr>
              <a:t>Causes:</a:t>
            </a:r>
          </a:p>
          <a:p>
            <a:pPr eaLnBrk="1" hangingPunct="1"/>
            <a:r>
              <a:rPr lang="en-US" dirty="0"/>
              <a:t>Salts with greater solubility in hot water than in cold water . </a:t>
            </a:r>
            <a:r>
              <a:rPr lang="en-US" dirty="0" err="1"/>
              <a:t>eg</a:t>
            </a:r>
            <a:r>
              <a:rPr lang="en-US" dirty="0"/>
              <a:t>. MgCO3, MgCl2, CaCl2, MgSO4</a:t>
            </a:r>
          </a:p>
          <a:p>
            <a:pPr eaLnBrk="1" hangingPunct="1"/>
            <a:r>
              <a:rPr lang="en-US" dirty="0">
                <a:solidFill>
                  <a:srgbClr val="C00000"/>
                </a:solidFill>
              </a:rPr>
              <a:t>Disadvantages</a:t>
            </a:r>
          </a:p>
          <a:p>
            <a:pPr eaLnBrk="1" hangingPunct="1"/>
            <a:r>
              <a:rPr lang="en-US" dirty="0"/>
              <a:t> waste some portion of heat</a:t>
            </a:r>
          </a:p>
          <a:p>
            <a:pPr eaLnBrk="1" hangingPunct="1"/>
            <a:r>
              <a:rPr lang="en-US" dirty="0"/>
              <a:t>Excessive sludge formation disturbs working of boiler and some times may choke up the pipe.</a:t>
            </a:r>
          </a:p>
          <a:p>
            <a:pPr eaLnBrk="1" hangingPunct="1"/>
            <a:r>
              <a:rPr lang="en-US" dirty="0"/>
              <a:t>Sludge reduces rate of flow of water in boiler.</a:t>
            </a:r>
          </a:p>
          <a:p>
            <a:r>
              <a:rPr lang="en-US" sz="2800" dirty="0">
                <a:solidFill>
                  <a:srgbClr val="C00000"/>
                </a:solidFill>
              </a:rPr>
              <a:t>Prevention of sludge formation </a:t>
            </a:r>
          </a:p>
          <a:p>
            <a:r>
              <a:rPr lang="en-US" sz="2800" dirty="0"/>
              <a:t>By using soft water</a:t>
            </a:r>
          </a:p>
          <a:p>
            <a:r>
              <a:rPr lang="en-US" sz="2800" dirty="0"/>
              <a:t>By frequent blow down operations followed by ‘make up’ water. </a:t>
            </a:r>
          </a:p>
          <a:p>
            <a:endParaRPr lang="en-US" sz="2800" dirty="0">
              <a:solidFill>
                <a:srgbClr val="C00000"/>
              </a:solidFill>
            </a:endParaRPr>
          </a:p>
          <a:p>
            <a:endParaRPr lang="en-US" sz="2800" dirty="0">
              <a:solidFill>
                <a:srgbClr val="C00000"/>
              </a:solidFill>
            </a:endParaRPr>
          </a:p>
          <a:p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3600" b="1">
                <a:solidFill>
                  <a:srgbClr val="C00000"/>
                </a:solidFill>
              </a:rPr>
              <a:t>Scales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>
          <a:xfrm>
            <a:off x="381000" y="533400"/>
            <a:ext cx="8534400" cy="6019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/>
              <a:t>Scales are Hard, adherent, precipitate</a:t>
            </a:r>
          </a:p>
          <a:p>
            <a:pPr eaLnBrk="1" hangingPunct="1"/>
            <a:r>
              <a:rPr lang="en-US" sz="2400" b="1" dirty="0">
                <a:solidFill>
                  <a:srgbClr val="C00000"/>
                </a:solidFill>
              </a:rPr>
              <a:t>Causes- </a:t>
            </a:r>
            <a:r>
              <a:rPr lang="en-US" sz="2400" b="1" dirty="0"/>
              <a:t> four causes are there for scale formation </a:t>
            </a:r>
            <a:endParaRPr lang="en-US" sz="2400" b="1" dirty="0">
              <a:solidFill>
                <a:srgbClr val="C00000"/>
              </a:solidFill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400" b="1" dirty="0">
                <a:solidFill>
                  <a:srgbClr val="C00000"/>
                </a:solidFill>
              </a:rPr>
              <a:t>1) Decomposition of bicarbonates- into scale forming precipitate </a:t>
            </a:r>
          </a:p>
          <a:p>
            <a:pPr eaLnBrk="1" hangingPunct="1"/>
            <a:endParaRPr lang="en-US" sz="2400" b="1" dirty="0">
              <a:solidFill>
                <a:srgbClr val="C00000"/>
              </a:solidFill>
            </a:endParaRPr>
          </a:p>
          <a:p>
            <a:pPr eaLnBrk="1" hangingPunct="1"/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2) Decrease in solubility of CaSO4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CaSO4 has lesser solubility at high temperature</a:t>
            </a:r>
          </a:p>
          <a:p>
            <a:pPr eaLnBrk="1" hangingPunct="1">
              <a:buFont typeface="Wingdings 2" pitchFamily="18" charset="2"/>
              <a:buNone/>
            </a:pP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Almost i</a:t>
            </a:r>
            <a:r>
              <a:rPr lang="en-US" sz="2400" dirty="0"/>
              <a:t>nsoluble in super heated water in high pressure boilers.</a:t>
            </a:r>
          </a:p>
          <a:p>
            <a:pPr eaLnBrk="1" hangingPunct="1">
              <a:buFont typeface="Wingdings 2" pitchFamily="18" charset="2"/>
              <a:buNone/>
            </a:pPr>
            <a:endParaRPr lang="en-US" dirty="0"/>
          </a:p>
          <a:p>
            <a:pPr eaLnBrk="1" hangingPunct="1">
              <a:buFont typeface="Wingdings 2" pitchFamily="18" charset="2"/>
              <a:buNone/>
            </a:pP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pic>
        <p:nvPicPr>
          <p:cNvPr id="70660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000973"/>
            <a:ext cx="7010400" cy="909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00200" y="3810000"/>
          <a:ext cx="5791200" cy="1828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248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Temperature /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Solubility of CaSO4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87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15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3200 </a:t>
                      </a:r>
                      <a:r>
                        <a:rPr lang="en-US" sz="2000" dirty="0" err="1">
                          <a:latin typeface="Times New Roman" pitchFamily="18" charset="0"/>
                          <a:cs typeface="Times New Roman" pitchFamily="18" charset="0"/>
                        </a:rPr>
                        <a:t>ppm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87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230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55 </a:t>
                      </a:r>
                      <a:r>
                        <a:rPr lang="en-US" sz="2000" dirty="0" err="1">
                          <a:latin typeface="Times New Roman" pitchFamily="18" charset="0"/>
                          <a:cs typeface="Times New Roman" pitchFamily="18" charset="0"/>
                        </a:rPr>
                        <a:t>ppm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87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320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27 </a:t>
                      </a:r>
                      <a:r>
                        <a:rPr lang="en-US" sz="2000" dirty="0" err="1">
                          <a:latin typeface="Times New Roman" pitchFamily="18" charset="0"/>
                          <a:cs typeface="Times New Roman" pitchFamily="18" charset="0"/>
                        </a:rPr>
                        <a:t>ppm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438150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rgbClr val="C00000"/>
                </a:solidFill>
              </a:rPr>
              <a:t>Causes of Scale formation 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48768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sz="2800" b="1" dirty="0">
                <a:solidFill>
                  <a:srgbClr val="C00000"/>
                </a:solidFill>
              </a:rPr>
              <a:t>3) Hydrolysis of Magnesium salts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400" dirty="0"/>
              <a:t>At higher temperature, </a:t>
            </a:r>
            <a:r>
              <a:rPr lang="en-US" sz="2400" dirty="0" err="1"/>
              <a:t>magnisum</a:t>
            </a:r>
            <a:r>
              <a:rPr lang="en-US" sz="2400" dirty="0"/>
              <a:t> salts undergo hydrolysis, to form sticky magnesium hydroxide solid particles. And also the chain reaction of acid formation starts.    </a:t>
            </a:r>
            <a:endParaRPr lang="en-US" sz="2800" b="1" dirty="0"/>
          </a:p>
          <a:p>
            <a:pPr eaLnBrk="1" hangingPunct="1">
              <a:buFont typeface="Wingdings 2" pitchFamily="18" charset="2"/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sz="2800" b="1" dirty="0">
              <a:solidFill>
                <a:srgbClr val="C00000"/>
              </a:solidFill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800" b="1" dirty="0">
                <a:solidFill>
                  <a:srgbClr val="C00000"/>
                </a:solidFill>
              </a:rPr>
              <a:t>4) Presence of silica:</a:t>
            </a:r>
            <a:r>
              <a:rPr lang="en-US" sz="2800" dirty="0"/>
              <a:t>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800" dirty="0"/>
              <a:t>forms CaSiO3, MgSiO3. these silicate deposits stick very firmly on inner walls of the boiler surface  and are very difficult to remove.  </a:t>
            </a:r>
            <a:endParaRPr lang="en-US" dirty="0"/>
          </a:p>
        </p:txBody>
      </p:sp>
      <p:pic>
        <p:nvPicPr>
          <p:cNvPr id="71684" name="Picture 1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124200"/>
            <a:ext cx="634523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762000"/>
          </a:xfrm>
        </p:spPr>
        <p:txBody>
          <a:bodyPr/>
          <a:lstStyle/>
          <a:p>
            <a:pPr algn="ctr" eaLnBrk="1" hangingPunct="1"/>
            <a:r>
              <a:rPr lang="en-US" sz="4000">
                <a:solidFill>
                  <a:srgbClr val="C00000"/>
                </a:solidFill>
              </a:rPr>
              <a:t>Disadvantages of Scale formation</a:t>
            </a:r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305800" cy="5410200"/>
          </a:xfrm>
        </p:spPr>
        <p:txBody>
          <a:bodyPr/>
          <a:lstStyle/>
          <a:p>
            <a:pPr marL="514350" indent="-514350" eaLnBrk="1" hangingPunct="1">
              <a:buClr>
                <a:srgbClr val="C00000"/>
              </a:buClr>
              <a:buFont typeface="+mj-lt"/>
              <a:buAutoNum type="arabicParenR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Wastage fuel –Scales are bad conductors of heat, 0.25 cm scale increases fuel consumption by about of 2 to 3 times </a:t>
            </a:r>
          </a:p>
          <a:p>
            <a:pPr marL="514350" indent="-514350" eaLnBrk="1" hangingPunct="1">
              <a:buClr>
                <a:srgbClr val="C00000"/>
              </a:buClr>
              <a:buFont typeface="+mj-lt"/>
              <a:buAutoNum type="arabicParenR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Over heating of boiler - </a:t>
            </a:r>
          </a:p>
          <a:p>
            <a:pPr marL="514350" indent="-514350" eaLnBrk="1" hangingPunct="1">
              <a:buClr>
                <a:srgbClr val="C00000"/>
              </a:buClr>
              <a:buFont typeface="+mj-lt"/>
              <a:buAutoNum type="arabicParenR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Lowering of boiler safety</a:t>
            </a:r>
          </a:p>
          <a:p>
            <a:pPr marL="514350" indent="-514350" eaLnBrk="1" hangingPunct="1">
              <a:buClr>
                <a:srgbClr val="C00000"/>
              </a:buClr>
              <a:buFont typeface="+mj-lt"/>
              <a:buAutoNum type="arabicParenR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Decrease in efficiency</a:t>
            </a:r>
          </a:p>
          <a:p>
            <a:pPr marL="514350" indent="-514350" eaLnBrk="1" hangingPunct="1">
              <a:buClr>
                <a:srgbClr val="C00000"/>
              </a:buClr>
              <a:buFont typeface="+mj-lt"/>
              <a:buAutoNum type="arabicParenR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Danger of explosion</a:t>
            </a:r>
          </a:p>
          <a:p>
            <a:pPr eaLnBrk="1" hangingPunct="1">
              <a:defRPr/>
            </a:pPr>
            <a:endParaRPr lang="en-US" dirty="0"/>
          </a:p>
        </p:txBody>
      </p:sp>
      <p:pic>
        <p:nvPicPr>
          <p:cNvPr id="72708" name="Picture 6" descr="http://www.power-eng.com/content/dam/etc/medialib/new-lib/power-engineering/print-articles/2011/march/26106.res/_jcr_content/renditions/pennwell.web.384.4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3505200"/>
            <a:ext cx="2743200" cy="285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0298" y="6357958"/>
            <a:ext cx="3352800" cy="365125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4864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>
                <a:solidFill>
                  <a:srgbClr val="C00000"/>
                </a:solidFill>
              </a:rPr>
              <a:t>Removal of scale</a:t>
            </a:r>
          </a:p>
          <a:p>
            <a:pPr marL="514350" indent="-514350" eaLnBrk="1" hangingPunct="1">
              <a:buClr>
                <a:schemeClr val="tx1"/>
              </a:buClr>
              <a:buFont typeface="+mj-lt"/>
              <a:buAutoNum type="arabicParenR"/>
              <a:defRPr/>
            </a:pPr>
            <a:r>
              <a:rPr lang="en-US" dirty="0"/>
              <a:t>By scraper or piece of wood or wire brush</a:t>
            </a:r>
          </a:p>
          <a:p>
            <a:pPr marL="514350" indent="-514350" eaLnBrk="1" hangingPunct="1">
              <a:buClr>
                <a:schemeClr val="tx1"/>
              </a:buClr>
              <a:buFont typeface="+mj-lt"/>
              <a:buAutoNum type="arabicParenR"/>
              <a:defRPr/>
            </a:pPr>
            <a:r>
              <a:rPr lang="en-US" dirty="0"/>
              <a:t>EDTA treatment</a:t>
            </a:r>
          </a:p>
          <a:p>
            <a:pPr marL="514350" indent="-514350" eaLnBrk="1" hangingPunct="1">
              <a:buClr>
                <a:schemeClr val="tx1"/>
              </a:buClr>
              <a:buFont typeface="+mj-lt"/>
              <a:buAutoNum type="arabicParenR"/>
              <a:defRPr/>
            </a:pPr>
            <a:r>
              <a:rPr lang="en-US" dirty="0"/>
              <a:t>Soft scales can be removed by blow down operation.</a:t>
            </a:r>
          </a:p>
          <a:p>
            <a:pPr marL="514350" indent="-514350" eaLnBrk="1" hangingPunct="1">
              <a:buClr>
                <a:schemeClr val="tx1"/>
              </a:buClr>
              <a:buFont typeface="+mj-lt"/>
              <a:buAutoNum type="arabicParenR"/>
              <a:defRPr/>
            </a:pPr>
            <a:r>
              <a:rPr lang="en-US" dirty="0"/>
              <a:t>Hard scales can be removed by giving thermal shocks.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838200"/>
          <a:ext cx="822960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3069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Sludge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Scale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1)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Sludge are loose &amp; slimy precipitate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1) Scales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are hard, sticky deposit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2) Less adherent and can be remove easily by brushes, detergents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2) Strongly adhered on boiler metal &amp; difficult to remove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069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3) Formed on cooler parts of  boiler.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3) Scales formed on hot parts of boiler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9330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4) Sludge are formed due  to an increase in concentration of salts, MgCO3, MgCl2, CaCl2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4) Scales are formed due to CaSO4, CaCO3, Mg(OH)2, MgSiO3,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CaSiO3, SiO2 etc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5) Can be removed by blow down operation.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5) Can be removed by EDTA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treatment.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09330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6)Heat transfer to boiler 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water is affected slightly 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6) Scales being bad conductor of heat transfer to boiler water is affected largely.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8229600" cy="62865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000">
                <a:solidFill>
                  <a:srgbClr val="C00000"/>
                </a:solidFill>
              </a:rPr>
              <a:t>Boiler Feed Water Treatment</a:t>
            </a:r>
          </a:p>
        </p:txBody>
      </p:sp>
      <p:sp>
        <p:nvSpPr>
          <p:cNvPr id="788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rgbClr val="C00000"/>
              </a:buClr>
              <a:defRPr/>
            </a:pPr>
            <a:r>
              <a:rPr lang="en-US" b="1" dirty="0">
                <a:solidFill>
                  <a:srgbClr val="C00000"/>
                </a:solidFill>
              </a:rPr>
              <a:t>Internal Treatment</a:t>
            </a:r>
          </a:p>
          <a:p>
            <a:pPr marL="514350" indent="-514350" eaLnBrk="1" hangingPunct="1">
              <a:buClrTx/>
              <a:buFont typeface="+mj-lt"/>
              <a:buAutoNum type="arabicParenR"/>
              <a:defRPr/>
            </a:pPr>
            <a:r>
              <a:rPr lang="en-US" dirty="0" err="1"/>
              <a:t>Calgon</a:t>
            </a:r>
            <a:r>
              <a:rPr lang="en-US" dirty="0"/>
              <a:t> conditioning- </a:t>
            </a:r>
          </a:p>
          <a:p>
            <a:pPr marL="514350" indent="-514350" eaLnBrk="1" hangingPunct="1">
              <a:buClrTx/>
              <a:buFont typeface="+mj-lt"/>
              <a:buAutoNum type="arabicParenR"/>
              <a:defRPr/>
            </a:pPr>
            <a:r>
              <a:rPr lang="en-US" dirty="0"/>
              <a:t>Colloidal conditioning</a:t>
            </a:r>
          </a:p>
          <a:p>
            <a:pPr marL="514350" indent="-514350" eaLnBrk="1" hangingPunct="1">
              <a:buClrTx/>
              <a:buFont typeface="+mj-lt"/>
              <a:buAutoNum type="arabicParenR"/>
              <a:defRPr/>
            </a:pPr>
            <a:r>
              <a:rPr lang="en-US" dirty="0"/>
              <a:t>Phosphate conditioning</a:t>
            </a:r>
          </a:p>
          <a:p>
            <a:pPr eaLnBrk="1" hangingPunct="1">
              <a:buClr>
                <a:srgbClr val="C00000"/>
              </a:buClr>
              <a:defRPr/>
            </a:pPr>
            <a:r>
              <a:rPr lang="en-US" b="1" dirty="0">
                <a:solidFill>
                  <a:srgbClr val="C00000"/>
                </a:solidFill>
              </a:rPr>
              <a:t>External Treatment</a:t>
            </a:r>
          </a:p>
          <a:p>
            <a:pPr marL="514350" indent="-514350" eaLnBrk="1" hangingPunct="1">
              <a:buClrTx/>
              <a:buFont typeface="+mj-lt"/>
              <a:buAutoNum type="arabicParenR"/>
              <a:defRPr/>
            </a:pPr>
            <a:r>
              <a:rPr lang="en-US" dirty="0"/>
              <a:t> </a:t>
            </a:r>
            <a:r>
              <a:rPr lang="en-US" dirty="0" err="1"/>
              <a:t>Zeolite</a:t>
            </a:r>
            <a:r>
              <a:rPr lang="en-US" dirty="0"/>
              <a:t> process</a:t>
            </a:r>
          </a:p>
          <a:p>
            <a:pPr marL="514350" indent="-514350" eaLnBrk="1" hangingPunct="1">
              <a:buClrTx/>
              <a:buFont typeface="+mj-lt"/>
              <a:buAutoNum type="arabicParenR"/>
              <a:defRPr/>
            </a:pPr>
            <a:r>
              <a:rPr lang="en-US" dirty="0"/>
              <a:t>Ion exchange method/ de-</a:t>
            </a:r>
            <a:r>
              <a:rPr lang="en-US" dirty="0" err="1"/>
              <a:t>onisation</a:t>
            </a:r>
            <a:r>
              <a:rPr lang="en-US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>
                <a:solidFill>
                  <a:srgbClr val="C00000"/>
                </a:solidFill>
              </a:rPr>
              <a:t>External Treatment:</a:t>
            </a:r>
            <a:br>
              <a:rPr lang="en-US" sz="3600" b="1">
                <a:solidFill>
                  <a:srgbClr val="C00000"/>
                </a:solidFill>
              </a:rPr>
            </a:br>
            <a:r>
              <a:rPr lang="en-US" sz="3600" b="1">
                <a:solidFill>
                  <a:srgbClr val="C00000"/>
                </a:solidFill>
              </a:rPr>
              <a:t> Zeolite Process/ Permutit Process</a:t>
            </a:r>
            <a:endParaRPr lang="en-US" sz="3600" b="1"/>
          </a:p>
        </p:txBody>
      </p:sp>
      <p:sp>
        <p:nvSpPr>
          <p:cNvPr id="82947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410200"/>
          </a:xfrm>
        </p:spPr>
        <p:txBody>
          <a:bodyPr>
            <a:normAutofit/>
          </a:bodyPr>
          <a:lstStyle/>
          <a:p>
            <a:pPr>
              <a:buClr>
                <a:srgbClr val="C00000"/>
              </a:buClr>
            </a:pPr>
            <a:r>
              <a:rPr lang="en-US" dirty="0" err="1"/>
              <a:t>Zeolites</a:t>
            </a:r>
            <a:r>
              <a:rPr lang="en-US" dirty="0"/>
              <a:t> are the complex mixture of metal </a:t>
            </a:r>
            <a:r>
              <a:rPr lang="en-US" dirty="0" err="1"/>
              <a:t>aluminate</a:t>
            </a:r>
            <a:r>
              <a:rPr lang="en-US" dirty="0"/>
              <a:t> and metal silicates , </a:t>
            </a:r>
          </a:p>
          <a:p>
            <a:pPr>
              <a:buClr>
                <a:srgbClr val="C00000"/>
              </a:buClr>
            </a:pPr>
            <a:r>
              <a:rPr lang="en-US" dirty="0"/>
              <a:t>formula is </a:t>
            </a:r>
            <a:r>
              <a:rPr lang="en-US" b="1" dirty="0">
                <a:solidFill>
                  <a:srgbClr val="C00000"/>
                </a:solidFill>
              </a:rPr>
              <a:t>Na2O.Al2O3.xSiO2.yH2O    </a:t>
            </a:r>
            <a:r>
              <a:rPr lang="en-US" dirty="0"/>
              <a:t>        </a:t>
            </a:r>
          </a:p>
          <a:p>
            <a:pPr>
              <a:buClr>
                <a:srgbClr val="C00000"/>
              </a:buClr>
            </a:pPr>
            <a:r>
              <a:rPr lang="en-US" dirty="0"/>
              <a:t>where x = 2 to 10 and y = 2 to 6 </a:t>
            </a:r>
          </a:p>
          <a:p>
            <a:pPr>
              <a:buClr>
                <a:srgbClr val="C00000"/>
              </a:buClr>
            </a:pPr>
            <a:r>
              <a:rPr lang="en-US" dirty="0"/>
              <a:t>General Formula Sodium </a:t>
            </a:r>
            <a:r>
              <a:rPr lang="en-US" dirty="0" err="1"/>
              <a:t>zeolite</a:t>
            </a:r>
            <a:r>
              <a:rPr lang="en-US" dirty="0"/>
              <a:t> - </a:t>
            </a:r>
            <a:r>
              <a:rPr lang="en-US" sz="2800" dirty="0" smtClean="0">
                <a:solidFill>
                  <a:srgbClr val="C00000"/>
                </a:solidFill>
              </a:rPr>
              <a:t>Na2Ze</a:t>
            </a:r>
          </a:p>
          <a:p>
            <a:pPr>
              <a:buClr>
                <a:srgbClr val="C00000"/>
              </a:buClr>
            </a:pPr>
            <a:r>
              <a:rPr lang="en-US" sz="2800" dirty="0" smtClean="0"/>
              <a:t> </a:t>
            </a:r>
            <a:r>
              <a:rPr lang="en-US" sz="2800" dirty="0" err="1" smtClean="0"/>
              <a:t>Zeolite</a:t>
            </a:r>
            <a:r>
              <a:rPr lang="en-US" sz="2800" dirty="0" smtClean="0"/>
              <a:t> can be considered as a special crystalline solid having a characteristic framework structure with cavities occupied by ions and water molecules that have considerable freedom of movement.</a:t>
            </a:r>
          </a:p>
          <a:p>
            <a:pPr>
              <a:buClr>
                <a:srgbClr val="C00000"/>
              </a:buClr>
            </a:pPr>
            <a:r>
              <a:rPr lang="en-US" sz="2800" dirty="0" smtClean="0"/>
              <a:t>This Process is also known as </a:t>
            </a:r>
            <a:r>
              <a:rPr lang="en-US" sz="2800" dirty="0" err="1" smtClean="0"/>
              <a:t>Permutit</a:t>
            </a:r>
            <a:r>
              <a:rPr lang="en-US" sz="2800" dirty="0" smtClean="0"/>
              <a:t> Process or </a:t>
            </a:r>
            <a:r>
              <a:rPr lang="en-US" sz="2800" dirty="0" err="1" smtClean="0"/>
              <a:t>Cation</a:t>
            </a:r>
            <a:r>
              <a:rPr lang="en-US" sz="2800" dirty="0" smtClean="0"/>
              <a:t> exchange method. </a:t>
            </a:r>
          </a:p>
          <a:p>
            <a:pPr>
              <a:buClr>
                <a:srgbClr val="C00000"/>
              </a:buClr>
            </a:pPr>
            <a:endParaRPr lang="en-US" sz="2800" dirty="0" smtClean="0">
              <a:solidFill>
                <a:srgbClr val="C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24000" y="6248400"/>
            <a:ext cx="59436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 err="1" smtClean="0"/>
              <a:t>Zeolites</a:t>
            </a:r>
            <a:r>
              <a:rPr lang="en-US" sz="5400" dirty="0" smtClean="0"/>
              <a:t> are of two types: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1. Natural </a:t>
            </a:r>
            <a:r>
              <a:rPr lang="en-US" sz="2400" dirty="0" err="1" smtClean="0"/>
              <a:t>Zeolites</a:t>
            </a:r>
            <a:r>
              <a:rPr lang="en-US" sz="2400" dirty="0" smtClean="0"/>
              <a:t>: Derived from natural sources like green sand and Nonporous more durable Example </a:t>
            </a:r>
            <a:r>
              <a:rPr lang="en-US" sz="2400" dirty="0" err="1" smtClean="0"/>
              <a:t>Natrolite</a:t>
            </a:r>
            <a:endParaRPr lang="en-US" sz="2400" smtClean="0"/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 2. Synthetic or Artificial </a:t>
            </a:r>
            <a:r>
              <a:rPr lang="en-US" sz="2400" dirty="0" err="1" smtClean="0"/>
              <a:t>Zeolite</a:t>
            </a:r>
            <a:r>
              <a:rPr lang="en-US" sz="2400" dirty="0" smtClean="0"/>
              <a:t>: Prepared in laboratory and porous. Posses a gel like structure, more efficient so common in use Prepared by heating China clay, Feldspar, and Soda.</a:t>
            </a:r>
            <a:endParaRPr lang="en-US" sz="2400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V. R. Ladde          SKNSITS             2020-21 </a:t>
            </a:r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36195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>
                <a:solidFill>
                  <a:srgbClr val="C00000"/>
                </a:solidFill>
              </a:rPr>
              <a:t>Zeolite</a:t>
            </a:r>
            <a:r>
              <a:rPr lang="en-US" sz="2800"/>
              <a:t> </a:t>
            </a:r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4572000"/>
          </a:xfrm>
        </p:spPr>
        <p:txBody>
          <a:bodyPr/>
          <a:lstStyle/>
          <a:p>
            <a:r>
              <a:rPr lang="en-US" sz="2400">
                <a:solidFill>
                  <a:srgbClr val="C00000"/>
                </a:solidFill>
              </a:rPr>
              <a:t>Principle - </a:t>
            </a:r>
            <a:r>
              <a:rPr lang="en-US" sz="2400">
                <a:solidFill>
                  <a:srgbClr val="080808"/>
                </a:solidFill>
              </a:rPr>
              <a:t>Sodium zeolite has the property of capturing the heavy metal ions (Ca+2 ; Mg+2 etc) from water, in exchange with release Na+ ions. Due to removal of heavy metal ions from water , the hard water is converted into soft water by zeolite. Zeolite process is also known as Permutit process. </a:t>
            </a:r>
            <a:endParaRPr lang="en-US" sz="2400">
              <a:solidFill>
                <a:srgbClr val="C00000"/>
              </a:solidFill>
            </a:endParaRPr>
          </a:p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447800" y="6356350"/>
            <a:ext cx="61722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83973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124200"/>
            <a:ext cx="4267200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3815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32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Zeolite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09600"/>
            <a:ext cx="9067800" cy="60198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Softening Reaction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Regenaration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of Exhausted </a:t>
            </a:r>
            <a:r>
              <a:rPr lang="en-US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Zeolite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: 10% </a:t>
            </a:r>
            <a:r>
              <a:rPr lang="en-US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NaCl</a:t>
            </a:r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 pitchFamily="18" charset="2"/>
              <a:buNone/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 pitchFamily="18" charset="2"/>
              <a:buNone/>
              <a:defRPr/>
            </a:pP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 pitchFamily="18" charset="2"/>
              <a:buNone/>
              <a:defRPr/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Advantages: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Hardness is completely removed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  <a:defRPr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Compact equipment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occupies less space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  <a:defRPr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 precipitation of impurities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no danger of sludge formation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  <a:defRPr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Clean process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Requires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less time, Easy process, Low cost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rgbClr val="C00000"/>
              </a:buClr>
              <a:buFont typeface="+mj-lt"/>
              <a:buAutoNum type="arabicPeriod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Water obtained has hardness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5-10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ppm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4996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1071546"/>
            <a:ext cx="61626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99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2667000"/>
            <a:ext cx="4343400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57912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666750"/>
          </a:xfrm>
        </p:spPr>
        <p:txBody>
          <a:bodyPr anchor="t"/>
          <a:lstStyle/>
          <a:p>
            <a:pPr eaLnBrk="1" hangingPunct="1"/>
            <a:r>
              <a:rPr lang="en-US" sz="4000" dirty="0">
                <a:solidFill>
                  <a:srgbClr val="C00000"/>
                </a:solidFill>
              </a:rPr>
              <a:t>Applications of </a:t>
            </a:r>
            <a:r>
              <a:rPr lang="en-US" sz="4000" dirty="0" err="1">
                <a:solidFill>
                  <a:srgbClr val="C00000"/>
                </a:solidFill>
              </a:rPr>
              <a:t>Zeolite</a:t>
            </a:r>
            <a:r>
              <a:rPr lang="en-US" sz="4000" dirty="0">
                <a:solidFill>
                  <a:srgbClr val="C00000"/>
                </a:solidFill>
              </a:rPr>
              <a:t> Process</a:t>
            </a:r>
          </a:p>
        </p:txBody>
      </p:sp>
      <p:sp>
        <p:nvSpPr>
          <p:cNvPr id="86019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458200" cy="1828800"/>
          </a:xfrm>
        </p:spPr>
        <p:txBody>
          <a:bodyPr>
            <a:normAutofit lnSpcReduction="10000"/>
          </a:bodyPr>
          <a:lstStyle/>
          <a:p>
            <a:pPr marL="514350" indent="-514350" eaLnBrk="1" hangingPunct="1">
              <a:buClrTx/>
              <a:buFont typeface="Calibri" pitchFamily="34" charset="0"/>
              <a:buAutoNum type="arabicParenR"/>
            </a:pPr>
            <a:r>
              <a:rPr lang="en-US" dirty="0"/>
              <a:t>For removing hardness causing ions</a:t>
            </a:r>
          </a:p>
          <a:p>
            <a:pPr marL="514350" indent="-514350" eaLnBrk="1" hangingPunct="1">
              <a:buClrTx/>
              <a:buFont typeface="Calibri" pitchFamily="34" charset="0"/>
              <a:buAutoNum type="arabicParenR"/>
            </a:pPr>
            <a:r>
              <a:rPr lang="en-US" dirty="0"/>
              <a:t>To remove toxic metal ions and dye </a:t>
            </a:r>
            <a:r>
              <a:rPr lang="en-US" dirty="0" err="1"/>
              <a:t>cations</a:t>
            </a:r>
            <a:endParaRPr lang="en-US" dirty="0"/>
          </a:p>
          <a:p>
            <a:pPr marL="514350" indent="-514350" eaLnBrk="1" hangingPunct="1">
              <a:buClrTx/>
              <a:buFont typeface="Calibri" pitchFamily="34" charset="0"/>
              <a:buAutoNum type="arabicParenR"/>
            </a:pPr>
            <a:r>
              <a:rPr lang="en-US" dirty="0"/>
              <a:t>To recover valuable trace metals from industrial waste</a:t>
            </a:r>
          </a:p>
          <a:p>
            <a:pPr marL="514350" indent="-514350" eaLnBrk="1" hangingPunct="1">
              <a:buClrTx/>
              <a:buFont typeface="Calibri" pitchFamily="34" charset="0"/>
              <a:buAutoNum type="arabicParenR"/>
            </a:pPr>
            <a:r>
              <a:rPr lang="en-US" dirty="0"/>
              <a:t>Small scale treatment</a:t>
            </a:r>
          </a:p>
        </p:txBody>
      </p:sp>
      <p:pic>
        <p:nvPicPr>
          <p:cNvPr id="8602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3208338"/>
            <a:ext cx="5527675" cy="304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6021" name="TextBox 5"/>
          <p:cNvSpPr txBox="1">
            <a:spLocks noChangeArrowheads="1"/>
          </p:cNvSpPr>
          <p:nvPr/>
        </p:nvSpPr>
        <p:spPr bwMode="auto">
          <a:xfrm>
            <a:off x="228600" y="4343400"/>
            <a:ext cx="2667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solidFill>
                  <a:srgbClr val="C00000"/>
                </a:solidFill>
              </a:rPr>
              <a:t>Green zeolite stones 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743200" y="4572000"/>
            <a:ext cx="304800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60960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5334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Limitations  of </a:t>
            </a:r>
            <a:r>
              <a:rPr lang="en-US" sz="3600" b="1" dirty="0" err="1">
                <a:solidFill>
                  <a:srgbClr val="C00000"/>
                </a:solidFill>
              </a:rPr>
              <a:t>Zeolite</a:t>
            </a:r>
            <a:r>
              <a:rPr lang="en-US" sz="3600" b="1" dirty="0">
                <a:solidFill>
                  <a:srgbClr val="C00000"/>
                </a:solidFill>
              </a:rPr>
              <a:t> method </a:t>
            </a:r>
          </a:p>
        </p:txBody>
      </p:sp>
      <p:sp>
        <p:nvSpPr>
          <p:cNvPr id="8704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382000" cy="5410200"/>
          </a:xfrm>
        </p:spPr>
        <p:txBody>
          <a:bodyPr/>
          <a:lstStyle/>
          <a:p>
            <a:pPr marL="514350" indent="-514350">
              <a:buClr>
                <a:srgbClr val="080808"/>
              </a:buClr>
              <a:buFont typeface="Calibri" pitchFamily="34" charset="0"/>
              <a:buAutoNum type="arabicParenR"/>
            </a:pPr>
            <a:r>
              <a:rPr lang="en-US" dirty="0">
                <a:solidFill>
                  <a:srgbClr val="080808"/>
                </a:solidFill>
              </a:rPr>
              <a:t>Water containing turbidity/</a:t>
            </a:r>
            <a:r>
              <a:rPr lang="en-US" dirty="0" err="1">
                <a:solidFill>
                  <a:srgbClr val="080808"/>
                </a:solidFill>
              </a:rPr>
              <a:t>collidal</a:t>
            </a:r>
            <a:r>
              <a:rPr lang="en-US" dirty="0">
                <a:solidFill>
                  <a:srgbClr val="080808"/>
                </a:solidFill>
              </a:rPr>
              <a:t> impurities  should not be soften by </a:t>
            </a:r>
            <a:r>
              <a:rPr lang="en-US" dirty="0" err="1">
                <a:solidFill>
                  <a:srgbClr val="080808"/>
                </a:solidFill>
              </a:rPr>
              <a:t>zeolite</a:t>
            </a:r>
            <a:r>
              <a:rPr lang="en-US" dirty="0">
                <a:solidFill>
                  <a:srgbClr val="080808"/>
                </a:solidFill>
              </a:rPr>
              <a:t> softener, turbidity will block the pores on </a:t>
            </a:r>
            <a:r>
              <a:rPr lang="en-US" dirty="0" err="1">
                <a:solidFill>
                  <a:srgbClr val="080808"/>
                </a:solidFill>
              </a:rPr>
              <a:t>Zeolite</a:t>
            </a:r>
            <a:r>
              <a:rPr lang="en-US" dirty="0">
                <a:solidFill>
                  <a:srgbClr val="080808"/>
                </a:solidFill>
              </a:rPr>
              <a:t>.</a:t>
            </a:r>
          </a:p>
          <a:p>
            <a:pPr marL="514350" indent="-514350">
              <a:buClr>
                <a:srgbClr val="080808"/>
              </a:buClr>
              <a:buFont typeface="Calibri" pitchFamily="34" charset="0"/>
              <a:buAutoNum type="arabicParenR"/>
            </a:pPr>
            <a:r>
              <a:rPr lang="en-US" dirty="0">
                <a:solidFill>
                  <a:srgbClr val="080808"/>
                </a:solidFill>
              </a:rPr>
              <a:t>Warm water should not be soften as it may decompose sodium </a:t>
            </a:r>
            <a:r>
              <a:rPr lang="en-US" dirty="0" err="1">
                <a:solidFill>
                  <a:srgbClr val="080808"/>
                </a:solidFill>
              </a:rPr>
              <a:t>zeolite</a:t>
            </a:r>
            <a:r>
              <a:rPr lang="en-US" dirty="0">
                <a:solidFill>
                  <a:srgbClr val="080808"/>
                </a:solidFill>
              </a:rPr>
              <a:t>. </a:t>
            </a:r>
          </a:p>
          <a:p>
            <a:pPr marL="514350" indent="-514350">
              <a:buClr>
                <a:srgbClr val="080808"/>
              </a:buClr>
              <a:buFont typeface="Calibri" pitchFamily="34" charset="0"/>
              <a:buAutoNum type="arabicParenR"/>
            </a:pPr>
            <a:r>
              <a:rPr lang="en-US" dirty="0">
                <a:solidFill>
                  <a:srgbClr val="080808"/>
                </a:solidFill>
              </a:rPr>
              <a:t>Hardness of water obtained has hardness 5-10 </a:t>
            </a:r>
            <a:r>
              <a:rPr lang="en-US" dirty="0" err="1">
                <a:solidFill>
                  <a:srgbClr val="080808"/>
                </a:solidFill>
              </a:rPr>
              <a:t>ppm</a:t>
            </a:r>
            <a:r>
              <a:rPr lang="en-US" dirty="0">
                <a:solidFill>
                  <a:srgbClr val="080808"/>
                </a:solidFill>
              </a:rPr>
              <a:t> but contain equivalent amount of Na ions.</a:t>
            </a:r>
          </a:p>
          <a:p>
            <a:pPr marL="514350" indent="-514350">
              <a:buClr>
                <a:srgbClr val="080808"/>
              </a:buClr>
              <a:buFont typeface="Calibri" pitchFamily="34" charset="0"/>
              <a:buAutoNum type="arabicParenR"/>
            </a:pPr>
            <a:r>
              <a:rPr lang="en-US" dirty="0">
                <a:solidFill>
                  <a:srgbClr val="080808"/>
                </a:solidFill>
              </a:rPr>
              <a:t>Water containing Mn+2  and Fe+2 should not be soften by using </a:t>
            </a:r>
            <a:r>
              <a:rPr lang="en-US" dirty="0" err="1">
                <a:solidFill>
                  <a:srgbClr val="080808"/>
                </a:solidFill>
              </a:rPr>
              <a:t>zeolite</a:t>
            </a:r>
            <a:r>
              <a:rPr lang="en-US" dirty="0">
                <a:solidFill>
                  <a:srgbClr val="080808"/>
                </a:solidFill>
              </a:rPr>
              <a:t> softener  as forms corresponding  </a:t>
            </a:r>
            <a:r>
              <a:rPr lang="en-US" dirty="0" err="1">
                <a:solidFill>
                  <a:srgbClr val="080808"/>
                </a:solidFill>
              </a:rPr>
              <a:t>zeolite</a:t>
            </a:r>
            <a:r>
              <a:rPr lang="en-US" dirty="0">
                <a:solidFill>
                  <a:srgbClr val="080808"/>
                </a:solidFill>
              </a:rPr>
              <a:t>  </a:t>
            </a:r>
            <a:r>
              <a:rPr lang="en-US" dirty="0" err="1">
                <a:solidFill>
                  <a:srgbClr val="080808"/>
                </a:solidFill>
              </a:rPr>
              <a:t>MnZ</a:t>
            </a:r>
            <a:r>
              <a:rPr lang="en-US" dirty="0">
                <a:solidFill>
                  <a:srgbClr val="080808"/>
                </a:solidFill>
              </a:rPr>
              <a:t> and </a:t>
            </a:r>
            <a:r>
              <a:rPr lang="en-US" dirty="0" err="1">
                <a:solidFill>
                  <a:srgbClr val="080808"/>
                </a:solidFill>
              </a:rPr>
              <a:t>FeZ</a:t>
            </a:r>
            <a:r>
              <a:rPr lang="en-US" dirty="0">
                <a:solidFill>
                  <a:srgbClr val="080808"/>
                </a:solidFill>
              </a:rPr>
              <a:t> , regeneration of  these </a:t>
            </a:r>
            <a:r>
              <a:rPr lang="en-US" dirty="0" err="1">
                <a:solidFill>
                  <a:srgbClr val="080808"/>
                </a:solidFill>
              </a:rPr>
              <a:t>zeolite</a:t>
            </a:r>
            <a:r>
              <a:rPr lang="en-US" dirty="0">
                <a:solidFill>
                  <a:srgbClr val="080808"/>
                </a:solidFill>
              </a:rPr>
              <a:t> will not be possible. </a:t>
            </a:r>
          </a:p>
          <a:p>
            <a:pPr marL="514350" indent="-514350">
              <a:buClr>
                <a:srgbClr val="080808"/>
              </a:buClr>
              <a:buFont typeface="Calibri" pitchFamily="34" charset="0"/>
              <a:buAutoNum type="arabicParenR"/>
            </a:pPr>
            <a:r>
              <a:rPr lang="en-US" dirty="0">
                <a:solidFill>
                  <a:srgbClr val="080808"/>
                </a:solidFill>
              </a:rPr>
              <a:t>Method is applicable for a small scale treatment.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36195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>
                <a:solidFill>
                  <a:srgbClr val="C00000"/>
                </a:solidFill>
              </a:rPr>
              <a:t>Zeolite Numerical </a:t>
            </a:r>
          </a:p>
        </p:txBody>
      </p:sp>
      <p:sp>
        <p:nvSpPr>
          <p:cNvPr id="89091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5181600"/>
          </a:xfrm>
        </p:spPr>
        <p:txBody>
          <a:bodyPr/>
          <a:lstStyle/>
          <a:p>
            <a:r>
              <a:rPr lang="en-US" dirty="0"/>
              <a:t>Steps to solve</a:t>
            </a:r>
          </a:p>
          <a:p>
            <a:pPr>
              <a:buFont typeface="Wingdings 2" pitchFamily="18" charset="2"/>
              <a:buNone/>
            </a:pPr>
            <a:r>
              <a:rPr lang="en-US" dirty="0"/>
              <a:t>1) Amount of </a:t>
            </a:r>
            <a:r>
              <a:rPr lang="en-US" dirty="0" err="1"/>
              <a:t>NaCl</a:t>
            </a:r>
            <a:r>
              <a:rPr lang="en-US" dirty="0"/>
              <a:t> in </a:t>
            </a:r>
            <a:r>
              <a:rPr lang="en-US" dirty="0" smtClean="0"/>
              <a:t>mg/lit= Lit of </a:t>
            </a:r>
            <a:r>
              <a:rPr lang="en-US" dirty="0" err="1" smtClean="0"/>
              <a:t>NaCl</a:t>
            </a:r>
            <a:r>
              <a:rPr lang="en-US" dirty="0" smtClean="0"/>
              <a:t> X g of </a:t>
            </a:r>
            <a:r>
              <a:rPr lang="en-US" dirty="0" err="1" smtClean="0"/>
              <a:t>NaCl</a:t>
            </a:r>
            <a:r>
              <a:rPr lang="en-US" dirty="0" smtClean="0"/>
              <a:t> X 1000</a:t>
            </a:r>
            <a:endParaRPr lang="en-US" dirty="0"/>
          </a:p>
          <a:p>
            <a:pPr>
              <a:buFont typeface="Wingdings 2" pitchFamily="18" charset="2"/>
              <a:buNone/>
            </a:pPr>
            <a:r>
              <a:rPr lang="en-US" dirty="0"/>
              <a:t>2) Amount of </a:t>
            </a:r>
            <a:r>
              <a:rPr lang="en-US" dirty="0" err="1"/>
              <a:t>NaCl</a:t>
            </a:r>
            <a:r>
              <a:rPr lang="en-US" dirty="0"/>
              <a:t> as CaCO3 equivalent </a:t>
            </a:r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endParaRPr lang="en-US" dirty="0"/>
          </a:p>
          <a:p>
            <a:pPr>
              <a:buFont typeface="Wingdings 2" pitchFamily="18" charset="2"/>
              <a:buNone/>
            </a:pPr>
            <a:r>
              <a:rPr lang="en-US" dirty="0"/>
              <a:t>3) </a:t>
            </a:r>
          </a:p>
        </p:txBody>
      </p:sp>
      <p:pic>
        <p:nvPicPr>
          <p:cNvPr id="8909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2643182"/>
            <a:ext cx="7748614" cy="947743"/>
          </a:xfrm>
          <a:prstGeom prst="rect">
            <a:avLst/>
          </a:prstGeom>
          <a:noFill/>
          <a:ln w="9525">
            <a:solidFill>
              <a:srgbClr val="080808"/>
            </a:solidFill>
            <a:miter lim="800000"/>
            <a:headEnd/>
            <a:tailEnd/>
          </a:ln>
        </p:spPr>
      </p:pic>
      <p:pic>
        <p:nvPicPr>
          <p:cNvPr id="8909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4038600"/>
            <a:ext cx="512445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524000" y="6356350"/>
            <a:ext cx="60198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305800" cy="5715000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1) An exhausted zeolite was regenerated by 150 litres of  NaClhaving strength 150 gm/lit. How many litres of a hard water having hardness 400 ppm as CaCO3 can be soften by this softener? (Ans – 48075 litres)</a:t>
            </a:r>
          </a:p>
          <a:p>
            <a:pPr>
              <a:buFont typeface="Wingdings 2" pitchFamily="18" charset="2"/>
              <a:buNone/>
            </a:pPr>
            <a:r>
              <a:rPr lang="en-US">
                <a:latin typeface="Times New Roman" pitchFamily="18" charset="0"/>
                <a:cs typeface="Times New Roman" pitchFamily="18" charset="0"/>
              </a:rPr>
              <a:t>2)  A zeolite bed exhausted by softening 4000 litres of water sample, requires 10 litres of 15% NaCl solution for regeneration. Calculate the hardness of the water sample. (Ans- 320.51 ppm of CaCO3 equivalent)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60960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Ion Exchange Process</a:t>
            </a:r>
            <a:endParaRPr lang="en-US" sz="3600" b="1" dirty="0"/>
          </a:p>
        </p:txBody>
      </p:sp>
      <p:sp>
        <p:nvSpPr>
          <p:cNvPr id="91139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486400"/>
          </a:xfrm>
        </p:spPr>
        <p:txBody>
          <a:bodyPr/>
          <a:lstStyle/>
          <a:p>
            <a:pPr>
              <a:buClr>
                <a:srgbClr val="C00000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For this process ion exchange resins are used as softener</a:t>
            </a:r>
          </a:p>
          <a:p>
            <a:pPr>
              <a:buClr>
                <a:srgbClr val="C00000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Removes both–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cations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&amp; anions</a:t>
            </a:r>
          </a:p>
          <a:p>
            <a:pPr>
              <a:buClr>
                <a:srgbClr val="C00000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Ion exchange resins are insoluble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crosslinked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long chain organic polymers with </a:t>
            </a:r>
            <a:r>
              <a:rPr lang="en-US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microporous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structure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and ‘</a:t>
            </a:r>
            <a:r>
              <a: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functional groups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 attached to the chain are responsible for the ion-exchanging properties. </a:t>
            </a:r>
          </a:p>
          <a:p>
            <a:pPr eaLnBrk="1" hangingPunct="1">
              <a:buClr>
                <a:srgbClr val="C00000"/>
              </a:buClr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exchanger – general formula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Clr>
                <a:srgbClr val="C00000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Anion Exchanger - general formula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R(OH)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9114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419600"/>
            <a:ext cx="234315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114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4343400"/>
            <a:ext cx="240030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0" name="TextBox 10"/>
          <p:cNvSpPr txBox="1">
            <a:spLocks noChangeArrowheads="1"/>
          </p:cNvSpPr>
          <p:nvPr/>
        </p:nvSpPr>
        <p:spPr bwMode="auto">
          <a:xfrm>
            <a:off x="228600" y="152400"/>
            <a:ext cx="87630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Principle of Ion exchange method-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When water containing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cations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anions is passed through resins,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exchanger resins captures all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cations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(in exchange of  H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and anion exchanger resins captures all anions (in exchange of OH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to give pure and all ion free water.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1371600" y="6324600"/>
            <a:ext cx="62484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52600"/>
            <a:ext cx="8124825" cy="455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4102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b="1">
                <a:solidFill>
                  <a:srgbClr val="C00000"/>
                </a:solidFill>
              </a:rPr>
              <a:t>Reactions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/>
              <a:t>When water enters cation exchanger - cations present in water get exchange with H+ ions </a:t>
            </a:r>
          </a:p>
          <a:p>
            <a:pPr eaLnBrk="1" hangingPunct="1">
              <a:buFont typeface="Wingdings 2" pitchFamily="18" charset="2"/>
              <a:buNone/>
            </a:pPr>
            <a:endParaRPr lang="en-US"/>
          </a:p>
          <a:p>
            <a:pPr eaLnBrk="1" hangingPunct="1">
              <a:buFont typeface="Wingdings 2" pitchFamily="18" charset="2"/>
              <a:buNone/>
            </a:pPr>
            <a:endParaRPr lang="en-US"/>
          </a:p>
          <a:p>
            <a:pPr eaLnBrk="1" hangingPunct="1">
              <a:buFont typeface="Wingdings 2" pitchFamily="18" charset="2"/>
              <a:buNone/>
            </a:pPr>
            <a:endParaRPr lang="en-US"/>
          </a:p>
          <a:p>
            <a:pPr eaLnBrk="1" hangingPunct="1">
              <a:buFont typeface="Wingdings 2" pitchFamily="18" charset="2"/>
              <a:buNone/>
            </a:pPr>
            <a:r>
              <a:rPr lang="en-US"/>
              <a:t>Then water enters anion exchanger-anions present in water get exchagnge with OH- ions  </a:t>
            </a:r>
          </a:p>
        </p:txBody>
      </p:sp>
      <p:pic>
        <p:nvPicPr>
          <p:cNvPr id="94211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2357430"/>
            <a:ext cx="50387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4212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4724400"/>
            <a:ext cx="57816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60198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2865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C00000"/>
                </a:solidFill>
              </a:rPr>
              <a:t>Regeneration Reactions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382000" cy="5486400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dirty="0" err="1">
                <a:solidFill>
                  <a:srgbClr val="C00000"/>
                </a:solidFill>
              </a:rPr>
              <a:t>Cation</a:t>
            </a:r>
            <a:r>
              <a:rPr lang="en-US" dirty="0">
                <a:solidFill>
                  <a:srgbClr val="C00000"/>
                </a:solidFill>
              </a:rPr>
              <a:t> exchanger- </a:t>
            </a:r>
            <a:r>
              <a:rPr lang="en-US" dirty="0"/>
              <a:t>exhausted </a:t>
            </a:r>
            <a:r>
              <a:rPr lang="en-US" dirty="0" err="1"/>
              <a:t>cation</a:t>
            </a:r>
            <a:r>
              <a:rPr lang="en-US" dirty="0"/>
              <a:t> exchanger resin is regenerated by  washing with </a:t>
            </a:r>
            <a:r>
              <a:rPr lang="en-US" dirty="0" err="1">
                <a:solidFill>
                  <a:srgbClr val="C00000"/>
                </a:solidFill>
              </a:rPr>
              <a:t>dil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HCl</a:t>
            </a:r>
            <a:endParaRPr lang="en-US" dirty="0">
              <a:solidFill>
                <a:srgbClr val="C00000"/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dirty="0">
                <a:solidFill>
                  <a:srgbClr val="C00000"/>
                </a:solidFill>
              </a:rPr>
              <a:t>Anion Exchanger- </a:t>
            </a:r>
            <a:r>
              <a:rPr lang="en-US" dirty="0"/>
              <a:t>exhausted anion exchanger resin is regenerated by  washing with </a:t>
            </a:r>
            <a:r>
              <a:rPr lang="en-US" dirty="0" err="1">
                <a:solidFill>
                  <a:srgbClr val="C00000"/>
                </a:solidFill>
              </a:rPr>
              <a:t>dil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NaOH</a:t>
            </a:r>
            <a:endParaRPr lang="en-US" dirty="0">
              <a:solidFill>
                <a:srgbClr val="C00000"/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dirty="0">
                <a:solidFill>
                  <a:srgbClr val="C00000"/>
                </a:solidFill>
              </a:rPr>
              <a:t>Advantages:</a:t>
            </a:r>
          </a:p>
          <a:p>
            <a:pPr marL="514350" indent="-514350" eaLnBrk="1" fontAlgn="auto" hangingPunct="1">
              <a:spcAft>
                <a:spcPts val="0"/>
              </a:spcAft>
              <a:buClrTx/>
              <a:buFont typeface="+mj-lt"/>
              <a:buAutoNum type="arabicParenR"/>
              <a:defRPr/>
            </a:pPr>
            <a:r>
              <a:rPr lang="en-US" sz="2400" dirty="0"/>
              <a:t>Produces water  with 0 to 2 </a:t>
            </a:r>
            <a:r>
              <a:rPr lang="en-US" sz="2400" dirty="0" err="1"/>
              <a:t>ppm</a:t>
            </a:r>
            <a:r>
              <a:rPr lang="en-US" sz="2400" dirty="0"/>
              <a:t> hardness which is very low, soft water obtained can be used for high pressure boiler  </a:t>
            </a:r>
          </a:p>
          <a:p>
            <a:pPr marL="514350" indent="-514350" eaLnBrk="1" fontAlgn="auto" hangingPunct="1">
              <a:spcAft>
                <a:spcPts val="0"/>
              </a:spcAft>
              <a:buClrTx/>
              <a:buFont typeface="+mj-lt"/>
              <a:buAutoNum type="arabicParenR"/>
              <a:defRPr/>
            </a:pPr>
            <a:r>
              <a:rPr lang="en-US" sz="2400" dirty="0"/>
              <a:t>Process can be used for highly acidic or alkaline water sample.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en-US" dirty="0"/>
          </a:p>
        </p:txBody>
      </p:sp>
      <p:pic>
        <p:nvPicPr>
          <p:cNvPr id="95236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676400"/>
            <a:ext cx="513397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5237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3505200"/>
            <a:ext cx="62960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57912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6667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400" dirty="0">
                <a:solidFill>
                  <a:srgbClr val="C00000"/>
                </a:solidFill>
              </a:rPr>
              <a:t>Limitations of Ion exchange method </a:t>
            </a:r>
          </a:p>
        </p:txBody>
      </p:sp>
      <p:sp>
        <p:nvSpPr>
          <p:cNvPr id="96259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1524000"/>
          </a:xfrm>
        </p:spPr>
        <p:txBody>
          <a:bodyPr/>
          <a:lstStyle/>
          <a:p>
            <a:pPr marL="514350" indent="-514350" eaLnBrk="1" hangingPunct="1">
              <a:buClrTx/>
              <a:buFont typeface="Calibri" pitchFamily="34" charset="0"/>
              <a:buAutoNum type="arabicParenR"/>
            </a:pPr>
            <a:r>
              <a:rPr lang="en-US" dirty="0"/>
              <a:t>High initial investment/ equipment used is costly.</a:t>
            </a:r>
          </a:p>
          <a:p>
            <a:pPr marL="514350" indent="-514350" eaLnBrk="1" hangingPunct="1">
              <a:buClrTx/>
              <a:buFont typeface="Calibri" pitchFamily="34" charset="0"/>
              <a:buAutoNum type="arabicParenR"/>
            </a:pPr>
            <a:r>
              <a:rPr lang="en-US" dirty="0"/>
              <a:t>Chemicals used are expensive </a:t>
            </a:r>
          </a:p>
          <a:p>
            <a:pPr marL="514350" indent="-514350" eaLnBrk="1" hangingPunct="1">
              <a:buClrTx/>
              <a:buFont typeface="Calibri" pitchFamily="34" charset="0"/>
              <a:buAutoNum type="arabicParenR"/>
            </a:pPr>
            <a:r>
              <a:rPr lang="en-US" dirty="0"/>
              <a:t> can not be used for turbid solution.</a:t>
            </a:r>
          </a:p>
        </p:txBody>
      </p:sp>
      <p:pic>
        <p:nvPicPr>
          <p:cNvPr id="96260" name="Picture 2" descr="https://upload.wikimedia.org/wikipedia/commons/thumb/4/44/Cation_anion_ion_exchange.jpg/220px-Cation_anion_ion_exchang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630488"/>
            <a:ext cx="4114800" cy="304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61" name="TextBox 5"/>
          <p:cNvSpPr txBox="1">
            <a:spLocks noChangeArrowheads="1"/>
          </p:cNvSpPr>
          <p:nvPr/>
        </p:nvSpPr>
        <p:spPr bwMode="auto">
          <a:xfrm>
            <a:off x="152400" y="5715000"/>
            <a:ext cx="44958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Large cation/anion ion exchanger used for purification of boiler feed water </a:t>
            </a:r>
          </a:p>
        </p:txBody>
      </p:sp>
      <p:pic>
        <p:nvPicPr>
          <p:cNvPr id="96262" name="Picture 2" descr="https://upload.wikimedia.org/wikipedia/commons/0/08/Ion_exchange_resin_bead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667000"/>
            <a:ext cx="450056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63" name="TextBox 7"/>
          <p:cNvSpPr txBox="1">
            <a:spLocks noChangeArrowheads="1"/>
          </p:cNvSpPr>
          <p:nvPr/>
        </p:nvSpPr>
        <p:spPr bwMode="auto">
          <a:xfrm>
            <a:off x="5257800" y="5486400"/>
            <a:ext cx="30067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Ion exchange resin beads</a:t>
            </a:r>
            <a:endParaRPr lang="en-US" b="1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1447800" y="6356350"/>
            <a:ext cx="61722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096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sz="4400">
                <a:solidFill>
                  <a:srgbClr val="C00000"/>
                </a:solidFill>
              </a:rPr>
              <a:t>Desalination of Brackish water</a:t>
            </a:r>
          </a:p>
        </p:txBody>
      </p:sp>
      <p:sp>
        <p:nvSpPr>
          <p:cNvPr id="9728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534400" cy="5410200"/>
          </a:xfrm>
        </p:spPr>
        <p:txBody>
          <a:bodyPr/>
          <a:lstStyle/>
          <a:p>
            <a:pPr eaLnBrk="1" hangingPunct="1">
              <a:buClr>
                <a:srgbClr val="C00000"/>
              </a:buClr>
              <a:buFont typeface="Arial" charset="0"/>
              <a:buChar char="•"/>
            </a:pPr>
            <a:r>
              <a:rPr lang="en-US" dirty="0"/>
              <a:t>Fresh  water– TDS below 500 </a:t>
            </a:r>
            <a:r>
              <a:rPr lang="en-US" dirty="0" err="1"/>
              <a:t>ppm</a:t>
            </a:r>
            <a:endParaRPr lang="en-US" dirty="0"/>
          </a:p>
          <a:p>
            <a:pPr eaLnBrk="1" hangingPunct="1">
              <a:buClr>
                <a:srgbClr val="C00000"/>
              </a:buClr>
              <a:buFont typeface="Arial" charset="0"/>
              <a:buChar char="•"/>
            </a:pPr>
            <a:r>
              <a:rPr lang="en-US" dirty="0"/>
              <a:t>Sea water– TDS about 35,000 </a:t>
            </a:r>
            <a:r>
              <a:rPr lang="en-US" dirty="0" err="1"/>
              <a:t>ppm</a:t>
            </a:r>
            <a:endParaRPr lang="en-US" dirty="0"/>
          </a:p>
          <a:p>
            <a:pPr eaLnBrk="1" hangingPunct="1">
              <a:buClr>
                <a:srgbClr val="C00000"/>
              </a:buClr>
              <a:buFont typeface="Arial" charset="0"/>
              <a:buChar char="•"/>
            </a:pPr>
            <a:r>
              <a:rPr lang="en-US" dirty="0"/>
              <a:t>Brackish water– TDS about 10,000 </a:t>
            </a:r>
            <a:r>
              <a:rPr lang="en-US" dirty="0" err="1"/>
              <a:t>ppm</a:t>
            </a:r>
            <a:endParaRPr lang="en-US" dirty="0"/>
          </a:p>
          <a:p>
            <a:pPr eaLnBrk="1" hangingPunct="1">
              <a:buClr>
                <a:srgbClr val="C00000"/>
              </a:buClr>
              <a:buFont typeface="Arial" charset="0"/>
              <a:buChar char="•"/>
            </a:pPr>
            <a:r>
              <a:rPr lang="en-US" dirty="0"/>
              <a:t>The process of removing salts from sea water or brackish water to make it suitable for domestic, industrial or irrigation  purposes is called desalination.</a:t>
            </a:r>
          </a:p>
          <a:p>
            <a:pPr eaLnBrk="1" hangingPunct="1">
              <a:buClr>
                <a:srgbClr val="C00000"/>
              </a:buClr>
            </a:pPr>
            <a:r>
              <a:rPr lang="en-US" b="1" dirty="0">
                <a:solidFill>
                  <a:srgbClr val="C00000"/>
                </a:solidFill>
              </a:rPr>
              <a:t>Methods of Desalination</a:t>
            </a:r>
          </a:p>
          <a:p>
            <a:pPr eaLnBrk="1" hangingPunct="1">
              <a:buClr>
                <a:srgbClr val="C00000"/>
              </a:buClr>
            </a:pPr>
            <a:r>
              <a:rPr lang="en-US" dirty="0"/>
              <a:t>Membrane process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dirty="0"/>
              <a:t>A) </a:t>
            </a:r>
            <a:r>
              <a:rPr lang="en-US" dirty="0" err="1"/>
              <a:t>Electrodialysis</a:t>
            </a:r>
            <a:endParaRPr lang="en-US" dirty="0"/>
          </a:p>
          <a:p>
            <a:pPr eaLnBrk="1" hangingPunct="1">
              <a:buFont typeface="Wingdings 2" pitchFamily="18" charset="2"/>
              <a:buNone/>
            </a:pPr>
            <a:r>
              <a:rPr lang="en-US" dirty="0"/>
              <a:t>B) Reverse osmosis</a:t>
            </a:r>
          </a:p>
          <a:p>
            <a:pPr eaLnBrk="1" hangingPunct="1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60960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048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solidFill>
                  <a:srgbClr val="C00000"/>
                </a:solidFill>
              </a:rPr>
              <a:t>Desalination of Brackish water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55626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3200" u="sng" dirty="0"/>
              <a:t>Desalination is the process of removing common salt (mostly </a:t>
            </a:r>
            <a:r>
              <a:rPr lang="en-US" sz="3200" u="sng" dirty="0" err="1"/>
              <a:t>NaCl</a:t>
            </a:r>
            <a:r>
              <a:rPr lang="en-US" sz="3200" u="sng" dirty="0"/>
              <a:t>) from water. </a:t>
            </a:r>
            <a:endParaRPr lang="en-US" sz="3600" u="sng" dirty="0"/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sz="3600" u="sng" dirty="0" err="1">
                <a:solidFill>
                  <a:srgbClr val="C00000"/>
                </a:solidFill>
              </a:rPr>
              <a:t>Electrodialysis</a:t>
            </a:r>
            <a:endParaRPr lang="en-US" sz="3600" u="sng" dirty="0">
              <a:solidFill>
                <a:srgbClr val="C00000"/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dirty="0"/>
              <a:t>The process of removing ionic pollutants (salts, ionic dyes) from water by using membranes and electric field is known as </a:t>
            </a:r>
            <a:r>
              <a:rPr lang="en-US" dirty="0" err="1"/>
              <a:t>electrodialysis</a:t>
            </a:r>
            <a:r>
              <a:rPr lang="en-US" dirty="0"/>
              <a:t>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dirty="0"/>
              <a:t>Salts in water – </a:t>
            </a:r>
            <a:r>
              <a:rPr lang="en-US" dirty="0" err="1"/>
              <a:t>cations</a:t>
            </a:r>
            <a:r>
              <a:rPr lang="en-US" dirty="0"/>
              <a:t> and anions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rgbClr val="C00000"/>
              </a:buClr>
              <a:buFont typeface="Wingdings 2"/>
              <a:buChar char=""/>
              <a:defRPr/>
            </a:pPr>
            <a:r>
              <a:rPr lang="en-US" dirty="0"/>
              <a:t>ED is an electro-membrane process in which ions are transported though ion permeable membrane from one solution to another under the influence of a potential gradient.              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60198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Content Placeholder 2"/>
          <p:cNvSpPr>
            <a:spLocks noGrp="1"/>
          </p:cNvSpPr>
          <p:nvPr>
            <p:ph idx="1"/>
          </p:nvPr>
        </p:nvSpPr>
        <p:spPr>
          <a:xfrm>
            <a:off x="228600" y="457200"/>
            <a:ext cx="8686800" cy="5715000"/>
          </a:xfrm>
        </p:spPr>
        <p:txBody>
          <a:bodyPr/>
          <a:lstStyle/>
          <a:p>
            <a:pPr eaLnBrk="1" hangingPunct="1">
              <a:buClr>
                <a:srgbClr val="C00000"/>
              </a:buClr>
            </a:pPr>
            <a:r>
              <a:rPr lang="en-US" sz="3200" dirty="0">
                <a:solidFill>
                  <a:srgbClr val="C00000"/>
                </a:solidFill>
              </a:rPr>
              <a:t>Construction and working </a:t>
            </a:r>
            <a:endParaRPr lang="en-US" dirty="0">
              <a:solidFill>
                <a:srgbClr val="C00000"/>
              </a:solidFill>
            </a:endParaRPr>
          </a:p>
          <a:p>
            <a:pPr eaLnBrk="1" hangingPunct="1">
              <a:buClr>
                <a:srgbClr val="C00000"/>
              </a:buClr>
            </a:pPr>
            <a:r>
              <a:rPr lang="en-US" sz="2400" dirty="0"/>
              <a:t>An </a:t>
            </a:r>
            <a:r>
              <a:rPr lang="en-US" sz="2400" dirty="0" err="1"/>
              <a:t>electrodialysis</a:t>
            </a:r>
            <a:r>
              <a:rPr lang="en-US" sz="2400" dirty="0"/>
              <a:t> unit consists of a large number of paired sets of plastic membranes</a:t>
            </a:r>
          </a:p>
          <a:p>
            <a:pPr eaLnBrk="1" hangingPunct="1">
              <a:buClr>
                <a:srgbClr val="C00000"/>
              </a:buClr>
            </a:pPr>
            <a:r>
              <a:rPr lang="en-US" sz="2400" dirty="0"/>
              <a:t> – these membranes are ion selective</a:t>
            </a:r>
          </a:p>
          <a:p>
            <a:pPr eaLnBrk="1" hangingPunct="1">
              <a:buClr>
                <a:srgbClr val="C00000"/>
              </a:buClr>
            </a:pPr>
            <a:r>
              <a:rPr lang="en-US" sz="2400" dirty="0" err="1"/>
              <a:t>Cation</a:t>
            </a:r>
            <a:r>
              <a:rPr lang="en-US" sz="2400" dirty="0"/>
              <a:t> selective membrane– contains group of –SO3</a:t>
            </a:r>
            <a:r>
              <a:rPr lang="en-US" sz="2400" baseline="30000" dirty="0"/>
              <a:t>-2</a:t>
            </a:r>
            <a:r>
              <a:rPr lang="en-US" sz="2400" dirty="0"/>
              <a:t> , -COO</a:t>
            </a:r>
            <a:r>
              <a:rPr lang="en-US" sz="2400" baseline="30000" dirty="0"/>
              <a:t>-</a:t>
            </a:r>
          </a:p>
          <a:p>
            <a:pPr eaLnBrk="1" hangingPunct="1">
              <a:buClr>
                <a:srgbClr val="C00000"/>
              </a:buClr>
            </a:pPr>
            <a:r>
              <a:rPr lang="en-US" sz="2400" dirty="0"/>
              <a:t>Anion selective membrane– contains group of –NR3</a:t>
            </a:r>
            <a:r>
              <a:rPr lang="en-US" sz="2400" baseline="30000" dirty="0"/>
              <a:t>+</a:t>
            </a:r>
            <a:r>
              <a:rPr lang="en-US" sz="2400" dirty="0"/>
              <a:t> , C5H5N</a:t>
            </a:r>
            <a:r>
              <a:rPr lang="en-US" sz="2400" baseline="30000" dirty="0"/>
              <a:t>+</a:t>
            </a:r>
            <a:r>
              <a:rPr lang="en-US" sz="2400" dirty="0"/>
              <a:t>R</a:t>
            </a:r>
          </a:p>
          <a:p>
            <a:pPr eaLnBrk="1" hangingPunct="1">
              <a:buClr>
                <a:srgbClr val="C00000"/>
              </a:buClr>
            </a:pPr>
            <a:r>
              <a:rPr lang="en-US" sz="2400" dirty="0"/>
              <a:t>When </a:t>
            </a:r>
            <a:r>
              <a:rPr lang="en-US" sz="2400" dirty="0">
                <a:solidFill>
                  <a:srgbClr val="C00000"/>
                </a:solidFill>
              </a:rPr>
              <a:t>an electric field</a:t>
            </a:r>
            <a:r>
              <a:rPr lang="en-US" sz="2400" dirty="0"/>
              <a:t> is applied </a:t>
            </a:r>
            <a:r>
              <a:rPr lang="en-US" sz="2400" dirty="0">
                <a:solidFill>
                  <a:srgbClr val="C00000"/>
                </a:solidFill>
              </a:rPr>
              <a:t>perpendicular</a:t>
            </a:r>
            <a:r>
              <a:rPr lang="en-US" sz="2400" dirty="0"/>
              <a:t> to the direction of flow of water, anion move towards positively charged electrode through anion selective membrane </a:t>
            </a:r>
          </a:p>
          <a:p>
            <a:pPr eaLnBrk="1" hangingPunct="1">
              <a:buClr>
                <a:srgbClr val="C00000"/>
              </a:buClr>
            </a:pPr>
            <a:r>
              <a:rPr lang="en-US" sz="2400" dirty="0"/>
              <a:t>Similarly </a:t>
            </a:r>
            <a:r>
              <a:rPr lang="en-US" sz="2400" dirty="0" err="1"/>
              <a:t>cation</a:t>
            </a:r>
            <a:r>
              <a:rPr lang="en-US" sz="2400" dirty="0"/>
              <a:t> move towards negatively charged electrode through </a:t>
            </a:r>
            <a:r>
              <a:rPr lang="en-US" sz="2400" dirty="0" err="1"/>
              <a:t>cation</a:t>
            </a:r>
            <a:r>
              <a:rPr lang="en-US" sz="2400" dirty="0"/>
              <a:t> selective membrane</a:t>
            </a:r>
          </a:p>
          <a:p>
            <a:pPr eaLnBrk="1" hangingPunct="1">
              <a:buClr>
                <a:srgbClr val="C00000"/>
              </a:buClr>
            </a:pPr>
            <a:r>
              <a:rPr lang="en-US" sz="2400" dirty="0"/>
              <a:t>Alternate chambers of pure water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7800" y="6356350"/>
            <a:ext cx="61722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4" name="Content Placeholder 3" descr="ro4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00034" y="357163"/>
            <a:ext cx="7929618" cy="5662637"/>
          </a:xfrm>
          <a:ln w="88900" cap="sq" cmpd="thickThin">
            <a:solidFill>
              <a:srgbClr val="000000"/>
            </a:solidFill>
          </a:ln>
          <a:effectLst>
            <a:innerShdw blurRad="76200">
              <a:srgbClr val="000000"/>
            </a:innerShdw>
          </a:effec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600200" y="6356351"/>
            <a:ext cx="5943600" cy="215922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382000" cy="548640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Applications –</a:t>
            </a:r>
            <a:endParaRPr lang="en-US" dirty="0"/>
          </a:p>
          <a:p>
            <a:pPr lvl="0"/>
            <a:r>
              <a:rPr lang="en-US" dirty="0"/>
              <a:t>Removal of  ionic pollutants from treated industrial waste</a:t>
            </a:r>
          </a:p>
          <a:p>
            <a:pPr lvl="0"/>
            <a:r>
              <a:rPr lang="en-US" dirty="0"/>
              <a:t>Removal of salts from sea water to get </a:t>
            </a:r>
            <a:r>
              <a:rPr lang="en-US" dirty="0" err="1"/>
              <a:t>pue</a:t>
            </a:r>
            <a:r>
              <a:rPr lang="en-US" dirty="0"/>
              <a:t> water</a:t>
            </a:r>
          </a:p>
          <a:p>
            <a:pPr lvl="0"/>
            <a:r>
              <a:rPr lang="en-US" dirty="0"/>
              <a:t>Removal of limited quantity of salts from sea water to get drinking water (mineral water)</a:t>
            </a:r>
          </a:p>
          <a:p>
            <a:pPr lvl="0"/>
            <a:r>
              <a:rPr lang="en-US" dirty="0"/>
              <a:t>Desalination of contaminated industrial water for reuse.</a:t>
            </a:r>
          </a:p>
          <a:p>
            <a:pPr lvl="0"/>
            <a:r>
              <a:rPr lang="en-US" dirty="0"/>
              <a:t>Recover of salts from salt concentrated water. </a:t>
            </a:r>
          </a:p>
          <a:p>
            <a:pPr lvl="0">
              <a:buNone/>
            </a:pPr>
            <a:endParaRPr lang="en-US" dirty="0" smtClean="0"/>
          </a:p>
          <a:p>
            <a:pPr lvl="0"/>
            <a:r>
              <a:rPr lang="en-US" b="1" dirty="0" smtClean="0"/>
              <a:t>Limitations </a:t>
            </a:r>
            <a:r>
              <a:rPr lang="en-US" b="1" dirty="0"/>
              <a:t>of Electro-dialysis:</a:t>
            </a:r>
            <a:endParaRPr lang="en-US" dirty="0"/>
          </a:p>
          <a:p>
            <a:pPr lvl="0"/>
            <a:r>
              <a:rPr lang="en-US" dirty="0"/>
              <a:t>Organic matter (non-ionic matter) cannot be removed.</a:t>
            </a:r>
          </a:p>
          <a:p>
            <a:pPr lvl="0"/>
            <a:r>
              <a:rPr lang="en-US" dirty="0"/>
              <a:t>Colloidal matter SiO2 cannot be removed.</a:t>
            </a:r>
          </a:p>
          <a:p>
            <a:pPr lvl="0"/>
            <a:r>
              <a:rPr lang="en-US" dirty="0"/>
              <a:t>Membranes require maintenance. 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05800" cy="5334000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Reverse Osmosis (RO) - In RO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solvent flows from higher concentration solution to lower concentration solution applying external pressure on the higher concentration solution slightly higher than its osmotic pressure.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RO pure water can be separated from contaminated water rather than contaminant from water.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962400"/>
            <a:ext cx="3048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10" y="642918"/>
            <a:ext cx="7072362" cy="57102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Process: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this process, pressure of 15-40 kg/cm2 is applied to the sea water /impure water to be treated to force pure water out through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semipermeable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membrane leaving behind ionic and non-ionic impurities.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Semipermeable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membranes based on thin films of cellulose acetate,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polymethyl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acrylate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polyamide polymers are used.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Advantages of RO: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rabicParenR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RO is capable of removing dissolved salts as well as organic substances along with bacteria and viruses present in water.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process is simple and requires few minutes.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convert sea water to drinking water at low cost.</a:t>
            </a:r>
          </a:p>
          <a:p>
            <a:pPr marL="514350" lvl="0" indent="-514350">
              <a:buFont typeface="+mj-lt"/>
              <a:buAutoNum type="arabicParenR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removes colloidal silica which is not removed by demineralization.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562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Limitations: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Water obtained by RO is not potable water. To get potable water specially design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semipermeable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membrane is used which allows permitted quantity of salts.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Bacteria and virus having size smaller than the pore size of membrane are not removed from water.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Taste of potable water obtained from RO process is affected as natural minerals are removed.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RO membrane is subjected to decay and require periodic replacement.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Applications: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RO all ionic, colloidal, nonionic pollutants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Simple to operate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Low cost process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Pure water for high pressure boiler can be obtained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Drinking mineral water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115328" cy="510334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Atmospheric water generator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428736"/>
            <a:ext cx="8329642" cy="489586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atmosphere contains water in the form of water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vapour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,moisture etc…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Dehumidification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hvac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(heating , ventilation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airconditioning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techniques are used to extract water from the atmospheric air.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device uses the principle of latent heat to convert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watervapour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molecules present in the atmospheric air into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waterdroplets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atmospheric water generator (AWG) is a device that extracts water from humid ambient air, producing potable water. Water vapor in the air can be extracted by multiple techniques, including condensation-1) C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ooling the air below its dew point 2) Heat exchange tech. 3)Exposing the air to desiccants</a:t>
            </a:r>
            <a:endParaRPr 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7715304" cy="5786478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700" b="1" dirty="0" smtClean="0"/>
              <a:t>1) Using Dew point 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dirty="0" smtClean="0"/>
              <a:t>The temperature at which the water vapor in the air reaches a maximum saturation without the influence of an external pressure source is referred to as the atmospheric dew point.</a:t>
            </a:r>
            <a:br>
              <a:rPr lang="en-US" sz="2700" dirty="0" smtClean="0"/>
            </a:br>
            <a:r>
              <a:rPr lang="en-US" sz="2700" dirty="0" smtClean="0"/>
              <a:t>                             Td = T - ((100 - RH)/5.) </a:t>
            </a:r>
            <a:br>
              <a:rPr lang="en-US" sz="2700" dirty="0" smtClean="0"/>
            </a:br>
            <a:r>
              <a:rPr lang="en-US" sz="2700" dirty="0" smtClean="0"/>
              <a:t>where Td is dew point temperature (in degrees Celsius),</a:t>
            </a:r>
            <a:br>
              <a:rPr lang="en-US" sz="2700" dirty="0" smtClean="0"/>
            </a:br>
            <a:r>
              <a:rPr lang="en-US" sz="2700" dirty="0" smtClean="0"/>
              <a:t> T is observed temperature (in degrees Celsius), </a:t>
            </a:r>
            <a:br>
              <a:rPr lang="en-US" sz="2700" dirty="0" smtClean="0"/>
            </a:br>
            <a:r>
              <a:rPr lang="en-US" sz="2700" dirty="0" smtClean="0"/>
              <a:t>RH is relative humidity (in percent). </a:t>
            </a:r>
            <a:br>
              <a:rPr lang="en-US" sz="2700" dirty="0" smtClean="0"/>
            </a:br>
            <a:r>
              <a:rPr lang="en-US" sz="2700" dirty="0" smtClean="0"/>
              <a:t>Apparently this relationship is fairly accurate for relative humidity values above 50%.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23385"/>
            <a:ext cx="8143932" cy="390971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Working of AWG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1678"/>
            <a:ext cx="8329642" cy="4429156"/>
          </a:xfrm>
        </p:spPr>
        <p:txBody>
          <a:bodyPr>
            <a:normAutofit/>
          </a:bodyPr>
          <a:lstStyle/>
          <a:p>
            <a:endParaRPr lang="en-US" sz="2400" b="1" dirty="0" smtClean="0">
              <a:hlinkClick r:id="rId2"/>
            </a:endParaRPr>
          </a:p>
          <a:p>
            <a:endParaRPr lang="en-US" sz="2400" b="1" dirty="0" smtClean="0">
              <a:hlinkClick r:id="rId2"/>
            </a:endParaRPr>
          </a:p>
          <a:p>
            <a:pPr>
              <a:buNone/>
            </a:pPr>
            <a:endParaRPr lang="en-US" sz="2400" b="1" dirty="0" smtClean="0">
              <a:hlinkClick r:id="rId2"/>
            </a:endParaRPr>
          </a:p>
          <a:p>
            <a:pPr algn="just"/>
            <a:r>
              <a:rPr lang="en-US" sz="2400" dirty="0" smtClean="0"/>
              <a:t>Dehumidifier sucks in air from one end, by using fan.</a:t>
            </a:r>
          </a:p>
          <a:p>
            <a:pPr algn="just"/>
            <a:r>
              <a:rPr lang="en-US" sz="2400" dirty="0" smtClean="0"/>
              <a:t>Surrounding air cooled by evaporating coil . </a:t>
            </a:r>
          </a:p>
          <a:p>
            <a:pPr algn="just"/>
            <a:r>
              <a:rPr lang="en-US" sz="2400" dirty="0" smtClean="0"/>
              <a:t>Then surrounding air is cooled by an evaporator coil. takes the moisture out of it by condensation.</a:t>
            </a:r>
          </a:p>
          <a:p>
            <a:pPr algn="just"/>
            <a:r>
              <a:rPr lang="en-US" sz="2400" dirty="0" smtClean="0"/>
              <a:t>Then dried air blows it back out again. </a:t>
            </a:r>
          </a:p>
          <a:p>
            <a:pPr algn="just"/>
            <a:r>
              <a:rPr lang="en-US" sz="2400" dirty="0" smtClean="0"/>
              <a:t>The resulting water is then passed into a holding tank with purification and filtration system to keep the water pure.</a:t>
            </a:r>
          </a:p>
          <a:p>
            <a:pPr algn="just">
              <a:buNone/>
            </a:pPr>
            <a:endParaRPr lang="en-US" sz="2000" dirty="0"/>
          </a:p>
        </p:txBody>
      </p:sp>
      <p:sp>
        <p:nvSpPr>
          <p:cNvPr id="1026" name="AutoShape 2" descr="Atmospheric water generator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Atmospheric water generator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 descr="C:\Users\Admin\Desktop\AWG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785794"/>
            <a:ext cx="3857652" cy="2428892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4643438" y="785794"/>
            <a:ext cx="429984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principle of AWG is based on the Dehumidifier to extract water from moist air.  The best condition is when the humidity at least over 70% 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428628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Advantages</a:t>
            </a:r>
            <a:endParaRPr lang="en-US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214282" y="571480"/>
            <a:ext cx="8501122" cy="57751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2060"/>
                </a:solidFill>
              </a:rPr>
              <a:t>1.Clean and pure </a:t>
            </a:r>
            <a:r>
              <a:rPr lang="en-US" sz="2000" dirty="0" smtClean="0"/>
              <a:t>can be obtained due to processes of multi filtration.</a:t>
            </a:r>
          </a:p>
          <a:p>
            <a:r>
              <a:rPr lang="en-US" sz="2000" dirty="0" smtClean="0"/>
              <a:t>2.Eliminates hazards caused by viruses, bacteria, pesticides and heavy metal contaminants. </a:t>
            </a:r>
          </a:p>
          <a:p>
            <a:r>
              <a:rPr lang="en-US" sz="2000" dirty="0" smtClean="0"/>
              <a:t>3.Rich oxygen contained in the water improves metabolism of your body.</a:t>
            </a:r>
          </a:p>
          <a:p>
            <a:r>
              <a:rPr lang="en-US" sz="2000" dirty="0" smtClean="0"/>
              <a:t>4.Tastes sweeter and better. </a:t>
            </a:r>
          </a:p>
          <a:p>
            <a:r>
              <a:rPr lang="en-US" sz="2000" dirty="0" smtClean="0"/>
              <a:t>5.Once connected to the power supply, it can supply hot &amp; cold.</a:t>
            </a:r>
          </a:p>
          <a:p>
            <a:endParaRPr lang="en-US" sz="2000" dirty="0" smtClean="0"/>
          </a:p>
          <a:p>
            <a:r>
              <a:rPr lang="en-US" sz="2000" b="1" dirty="0" smtClean="0"/>
              <a:t>Disadvantages</a:t>
            </a:r>
          </a:p>
          <a:p>
            <a:r>
              <a:rPr lang="en-US" sz="2000" dirty="0" smtClean="0"/>
              <a:t>1.The product price of an AWG is higher compared to municipal. </a:t>
            </a:r>
          </a:p>
          <a:p>
            <a:r>
              <a:rPr lang="en-US" sz="2000" dirty="0" smtClean="0"/>
              <a:t>2.AWGs face a challenge with sandy areas such as deserts </a:t>
            </a:r>
          </a:p>
          <a:p>
            <a:r>
              <a:rPr lang="en-US" sz="2000" dirty="0" smtClean="0"/>
              <a:t>3.Climate is an important factor for AWG machines to run efficiently. </a:t>
            </a:r>
          </a:p>
          <a:p>
            <a:endParaRPr lang="en-US" sz="2000" dirty="0" smtClean="0"/>
          </a:p>
          <a:p>
            <a:r>
              <a:rPr lang="en-US" sz="2000" b="1" dirty="0" smtClean="0">
                <a:solidFill>
                  <a:srgbClr val="002060"/>
                </a:solidFill>
                <a:hlinkClick r:id="rId2"/>
              </a:rPr>
              <a:t>FUTURE SCOPES </a:t>
            </a:r>
          </a:p>
          <a:p>
            <a:r>
              <a:rPr lang="en-US" sz="2000" dirty="0" smtClean="0"/>
              <a:t>1.Atmospheric water generation technology's entrance into the commercial market is mainly to offer a solution to the worsening global water crisis. </a:t>
            </a:r>
          </a:p>
          <a:p>
            <a:r>
              <a:rPr lang="en-US" sz="2000" dirty="0" smtClean="0"/>
              <a:t>2. May be in next 5 to 10 years Atmospheric Water Generators can be used instead of water purifiers.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2787</TotalTime>
  <Words>4856</Words>
  <Application>Microsoft Office PowerPoint</Application>
  <PresentationFormat>On-screen Show (4:3)</PresentationFormat>
  <Paragraphs>701</Paragraphs>
  <Slides>80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1" baseType="lpstr">
      <vt:lpstr>Flow</vt:lpstr>
      <vt:lpstr>Course: Engineering Chemistry Course Code: 107009</vt:lpstr>
      <vt:lpstr>Slide 2</vt:lpstr>
      <vt:lpstr>Slide 3</vt:lpstr>
      <vt:lpstr>Lecture Plan: Total Hrs:08Hrs</vt:lpstr>
      <vt:lpstr>Slide 5</vt:lpstr>
      <vt:lpstr>Slide 6</vt:lpstr>
      <vt:lpstr>Slide 7</vt:lpstr>
      <vt:lpstr>Slide 8</vt:lpstr>
      <vt:lpstr>Slide 9</vt:lpstr>
      <vt:lpstr>Soft water &amp; Hard water</vt:lpstr>
      <vt:lpstr>Hardness of Water</vt:lpstr>
      <vt:lpstr>Salts dissociate in water and form ions: Positively-charged ions are designated as cations, and negatively-charged ions are anions. Water mainly contains different proportions of the following ions, depending on the source of the water:  </vt:lpstr>
      <vt:lpstr>                         Causes of hardness  </vt:lpstr>
      <vt:lpstr>Hardness of water 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Determination of Hardness by EDTA  method </vt:lpstr>
      <vt:lpstr>Determination of Hardness by EDTA  method </vt:lpstr>
      <vt:lpstr>Slide 26</vt:lpstr>
      <vt:lpstr>Slide 27</vt:lpstr>
      <vt:lpstr>Reactions </vt:lpstr>
      <vt:lpstr>Slide 29</vt:lpstr>
      <vt:lpstr>Slide 30</vt:lpstr>
      <vt:lpstr>M- EDTA Complex structure</vt:lpstr>
      <vt:lpstr>Slide 32</vt:lpstr>
      <vt:lpstr>Slide 33</vt:lpstr>
      <vt:lpstr>Slide 34</vt:lpstr>
      <vt:lpstr>Slide 35</vt:lpstr>
      <vt:lpstr>Slide 36</vt:lpstr>
      <vt:lpstr>Alkalinity of water </vt:lpstr>
      <vt:lpstr>Types of alkalinity</vt:lpstr>
      <vt:lpstr>Procedure:</vt:lpstr>
      <vt:lpstr>Slide 40</vt:lpstr>
      <vt:lpstr>Slide 41</vt:lpstr>
      <vt:lpstr>Calculations:</vt:lpstr>
      <vt:lpstr>CaCO3 + 2HCl → CaCl2 +H2O +CO2 </vt:lpstr>
      <vt:lpstr>Boiler </vt:lpstr>
      <vt:lpstr>Boiler Feed water</vt:lpstr>
      <vt:lpstr>1. Priming &amp; Foaming</vt:lpstr>
      <vt:lpstr>Slide 47</vt:lpstr>
      <vt:lpstr>Disadvantages of Priming &amp; Foaming </vt:lpstr>
      <vt:lpstr>2. Scale and Sludge Formation</vt:lpstr>
      <vt:lpstr>Scales</vt:lpstr>
      <vt:lpstr>Causes of Scale formation </vt:lpstr>
      <vt:lpstr>Disadvantages of Scale formation</vt:lpstr>
      <vt:lpstr>Slide 53</vt:lpstr>
      <vt:lpstr>Slide 54</vt:lpstr>
      <vt:lpstr>Boiler Feed Water Treatment</vt:lpstr>
      <vt:lpstr>External Treatment:  Zeolite Process/ Permutit Process</vt:lpstr>
      <vt:lpstr>Zeolites are of two types:</vt:lpstr>
      <vt:lpstr>Zeolite </vt:lpstr>
      <vt:lpstr>Zeolite Process</vt:lpstr>
      <vt:lpstr>Applications of Zeolite Process</vt:lpstr>
      <vt:lpstr>Limitations  of Zeolite method </vt:lpstr>
      <vt:lpstr>Zeolite Numerical </vt:lpstr>
      <vt:lpstr>Slide 63</vt:lpstr>
      <vt:lpstr>Ion Exchange Process</vt:lpstr>
      <vt:lpstr>Slide 65</vt:lpstr>
      <vt:lpstr>Slide 66</vt:lpstr>
      <vt:lpstr>Regeneration Reactions </vt:lpstr>
      <vt:lpstr>Limitations of Ion exchange method </vt:lpstr>
      <vt:lpstr>Desalination of Brackish water</vt:lpstr>
      <vt:lpstr>Desalination of Brackish water</vt:lpstr>
      <vt:lpstr>Slide 71</vt:lpstr>
      <vt:lpstr>Slide 72</vt:lpstr>
      <vt:lpstr>Slide 73</vt:lpstr>
      <vt:lpstr>Slide 74</vt:lpstr>
      <vt:lpstr>Slide 75</vt:lpstr>
      <vt:lpstr>Slide 76</vt:lpstr>
      <vt:lpstr>Atmospheric water generator</vt:lpstr>
      <vt:lpstr>1) Using Dew point  The temperature at which the water vapor in the air reaches a maximum saturation without the influence of an external pressure source is referred to as the atmospheric dew point.                              Td = T - ((100 - RH)/5.)  where Td is dew point temperature (in degrees Celsius),  T is observed temperature (in degrees Celsius),  RH is relative humidity (in percent).  Apparently this relationship is fairly accurate for relative humidity values above 50%.  </vt:lpstr>
      <vt:lpstr>Working of AWG</vt:lpstr>
      <vt:lpstr>Advantages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Engineering Chemistry Course Code: 107009</dc:title>
  <dc:creator>vaishali ladde</dc:creator>
  <cp:lastModifiedBy>Admin</cp:lastModifiedBy>
  <cp:revision>59</cp:revision>
  <dcterms:created xsi:type="dcterms:W3CDTF">2006-08-16T00:00:00Z</dcterms:created>
  <dcterms:modified xsi:type="dcterms:W3CDTF">2024-10-21T09:30:49Z</dcterms:modified>
</cp:coreProperties>
</file>