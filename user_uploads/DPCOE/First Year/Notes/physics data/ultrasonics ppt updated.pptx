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2"/>
  </p:notesMasterIdLst>
  <p:sldIdLst>
    <p:sldId id="256" r:id="rId2"/>
    <p:sldId id="257" r:id="rId3"/>
    <p:sldId id="258" r:id="rId4"/>
    <p:sldId id="288" r:id="rId5"/>
    <p:sldId id="259" r:id="rId6"/>
    <p:sldId id="267" r:id="rId7"/>
    <p:sldId id="289" r:id="rId8"/>
    <p:sldId id="284" r:id="rId9"/>
    <p:sldId id="268" r:id="rId10"/>
    <p:sldId id="269" r:id="rId11"/>
    <p:sldId id="272" r:id="rId12"/>
    <p:sldId id="290" r:id="rId13"/>
    <p:sldId id="292" r:id="rId14"/>
    <p:sldId id="293" r:id="rId15"/>
    <p:sldId id="273" r:id="rId16"/>
    <p:sldId id="274" r:id="rId17"/>
    <p:sldId id="275" r:id="rId18"/>
    <p:sldId id="286" r:id="rId19"/>
    <p:sldId id="276" r:id="rId20"/>
    <p:sldId id="280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59" autoAdjust="0"/>
    <p:restoredTop sz="86380" autoAdjust="0"/>
  </p:normalViewPr>
  <p:slideViewPr>
    <p:cSldViewPr>
      <p:cViewPr>
        <p:scale>
          <a:sx n="86" d="100"/>
          <a:sy n="86" d="100"/>
        </p:scale>
        <p:origin x="-672" y="6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A84799-70C2-4F53-911E-5EF39D1A18A7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83983D-B6E4-4BB8-A1A5-ED190BEFE25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PH0101 UNIT 1 LECTURE 6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4F2D20-C24D-4414-B9EE-96DFFC7039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8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ULTRASONICS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228600"/>
            <a:ext cx="7239000" cy="5029200"/>
          </a:xfrm>
          <a:solidFill>
            <a:schemeClr val="accent2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txBody>
          <a:bodyPr>
            <a:normAutofit/>
          </a:bodyPr>
          <a:lstStyle/>
          <a:p>
            <a:pPr algn="just" eaLnBrk="1" hangingPunct="1"/>
            <a:endParaRPr lang="en-US" b="1" dirty="0" smtClean="0"/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b="1" dirty="0" smtClean="0"/>
              <a:t>Introduction to </a:t>
            </a:r>
            <a:r>
              <a:rPr lang="en-US" b="1" dirty="0" err="1" smtClean="0"/>
              <a:t>Ultrasonics</a:t>
            </a:r>
            <a:endParaRPr lang="en-US" b="1" dirty="0" smtClean="0"/>
          </a:p>
          <a:p>
            <a:pPr algn="just" eaLnBrk="1" hangingPunct="1">
              <a:lnSpc>
                <a:spcPct val="150000"/>
              </a:lnSpc>
            </a:pPr>
            <a:r>
              <a:rPr lang="en-US" b="1" dirty="0" smtClean="0"/>
              <a:t>Characteristics  </a:t>
            </a:r>
            <a:r>
              <a:rPr lang="en-US" b="1" dirty="0" smtClean="0"/>
              <a:t>of Ultrasonic waves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b="1" dirty="0" smtClean="0"/>
              <a:t>Ultrasonic Production- </a:t>
            </a:r>
          </a:p>
          <a:p>
            <a:pPr algn="just" eaLnBrk="1" hangingPunct="1">
              <a:lnSpc>
                <a:spcPct val="150000"/>
              </a:lnSpc>
              <a:buNone/>
            </a:pPr>
            <a:r>
              <a:rPr lang="en-US" b="1" dirty="0" smtClean="0"/>
              <a:t>    </a:t>
            </a:r>
            <a:r>
              <a:rPr lang="en-US" b="1" dirty="0" smtClean="0"/>
              <a:t>Inverse </a:t>
            </a:r>
            <a:r>
              <a:rPr lang="en-US" b="1" dirty="0" err="1" smtClean="0"/>
              <a:t>Piezo</a:t>
            </a:r>
            <a:r>
              <a:rPr lang="en-US" b="1" dirty="0" smtClean="0"/>
              <a:t> </a:t>
            </a:r>
            <a:r>
              <a:rPr lang="en-US" b="1" dirty="0" smtClean="0"/>
              <a:t>Electric Method</a:t>
            </a:r>
          </a:p>
          <a:p>
            <a:pPr algn="just">
              <a:lnSpc>
                <a:spcPct val="150000"/>
              </a:lnSpc>
            </a:pPr>
            <a:r>
              <a:rPr lang="en-US" b="1" dirty="0" smtClean="0"/>
              <a:t>Applications of </a:t>
            </a:r>
            <a:r>
              <a:rPr lang="en-US" b="1" dirty="0" err="1" smtClean="0"/>
              <a:t>Ultrasoni</a:t>
            </a:r>
            <a:r>
              <a:rPr lang="en-US" sz="2400" b="1" dirty="0" err="1" smtClean="0">
                <a:latin typeface="+mj-lt"/>
              </a:rPr>
              <a:t>CS</a:t>
            </a:r>
            <a:endParaRPr lang="en-US" sz="2400" b="1" dirty="0" smtClean="0">
              <a:latin typeface="+mj-lt"/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 smtClean="0">
                <a:latin typeface="+mj-lt"/>
              </a:rPr>
              <a:t>(Thickness measurement and Flaw detection)</a:t>
            </a:r>
            <a:endParaRPr lang="en-US" b="1" dirty="0" smtClean="0">
              <a:latin typeface="+mj-lt"/>
            </a:endParaRPr>
          </a:p>
          <a:p>
            <a:pPr algn="just" eaLnBrk="1" hangingPunct="1">
              <a:buNone/>
            </a:pPr>
            <a:endParaRPr lang="en-US" b="1" dirty="0" smtClean="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algn="just">
              <a:lnSpc>
                <a:spcPct val="80000"/>
              </a:lnSpc>
            </a:pPr>
            <a:endParaRPr lang="en-US" dirty="0" smtClean="0"/>
          </a:p>
          <a:p>
            <a:pPr algn="just">
              <a:lnSpc>
                <a:spcPct val="80000"/>
              </a:lnSpc>
            </a:pPr>
            <a:r>
              <a:rPr lang="en-US" dirty="0" smtClean="0"/>
              <a:t>The word </a:t>
            </a:r>
            <a:r>
              <a:rPr lang="en-US" b="1" i="1" dirty="0" smtClean="0"/>
              <a:t>ultrasonic</a:t>
            </a:r>
            <a:r>
              <a:rPr lang="en-US" dirty="0" smtClean="0"/>
              <a:t> combines the Latin roots ultra, meaning </a:t>
            </a:r>
            <a:r>
              <a:rPr lang="en-US" b="1" i="1" dirty="0" smtClean="0"/>
              <a:t>‘beyond’</a:t>
            </a:r>
            <a:r>
              <a:rPr lang="en-US" dirty="0" smtClean="0"/>
              <a:t> and sonic, or </a:t>
            </a:r>
            <a:r>
              <a:rPr lang="en-US" b="1" i="1" dirty="0" smtClean="0"/>
              <a:t>sound</a:t>
            </a:r>
            <a:r>
              <a:rPr lang="en-US" dirty="0" smtClean="0"/>
              <a:t>.</a:t>
            </a:r>
          </a:p>
          <a:p>
            <a:pPr algn="just">
              <a:lnSpc>
                <a:spcPct val="80000"/>
              </a:lnSpc>
              <a:buNone/>
            </a:pPr>
            <a:endParaRPr lang="en-US" dirty="0" smtClean="0"/>
          </a:p>
          <a:p>
            <a:pPr algn="just">
              <a:lnSpc>
                <a:spcPct val="80000"/>
              </a:lnSpc>
            </a:pPr>
            <a:r>
              <a:rPr lang="en-US" dirty="0" smtClean="0"/>
              <a:t>The sound waves having frequencies above the audible range i.e. above 20000Hz are called </a:t>
            </a:r>
            <a:r>
              <a:rPr lang="en-US" b="1" i="1" dirty="0" smtClean="0"/>
              <a:t>ultrasonic waves</a:t>
            </a:r>
            <a:r>
              <a:rPr lang="en-US" dirty="0" smtClean="0"/>
              <a:t>. </a:t>
            </a:r>
          </a:p>
          <a:p>
            <a:pPr algn="just">
              <a:lnSpc>
                <a:spcPct val="80000"/>
              </a:lnSpc>
              <a:buNone/>
            </a:pPr>
            <a:endParaRPr lang="en-US" dirty="0" smtClean="0"/>
          </a:p>
          <a:p>
            <a:pPr algn="just">
              <a:lnSpc>
                <a:spcPct val="80000"/>
              </a:lnSpc>
            </a:pPr>
            <a:r>
              <a:rPr lang="en-US" dirty="0" smtClean="0"/>
              <a:t>Generally these waves are called as </a:t>
            </a:r>
            <a:r>
              <a:rPr lang="en-US" b="1" i="1" dirty="0" smtClean="0"/>
              <a:t>high frequency waves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 sz="4000" dirty="0" smtClean="0">
                <a:solidFill>
                  <a:srgbClr val="FF0000"/>
                </a:solidFill>
              </a:rPr>
              <a:t> </a:t>
            </a:r>
            <a:r>
              <a:rPr lang="en-US" sz="4800" dirty="0" smtClean="0">
                <a:solidFill>
                  <a:srgbClr val="FF0000"/>
                </a:solidFill>
              </a:rPr>
              <a:t>Introduction to </a:t>
            </a:r>
            <a:r>
              <a:rPr lang="en-US" sz="4800" dirty="0" err="1" smtClean="0">
                <a:solidFill>
                  <a:srgbClr val="FF0000"/>
                </a:solidFill>
              </a:rPr>
              <a:t>Ultrasonics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274638"/>
            <a:ext cx="8458200" cy="1143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800" b="1" dirty="0" smtClean="0">
                <a:solidFill>
                  <a:schemeClr val="bg1"/>
                </a:solidFill>
              </a:rPr>
              <a:t>Characteristics </a:t>
            </a:r>
            <a:r>
              <a:rPr lang="en-US" sz="2800" b="1" dirty="0">
                <a:solidFill>
                  <a:schemeClr val="bg1"/>
                </a:solidFill>
              </a:rPr>
              <a:t>of Ultrasonic </a:t>
            </a:r>
            <a:r>
              <a:rPr lang="en-US" sz="2800" b="1" dirty="0" smtClean="0">
                <a:solidFill>
                  <a:schemeClr val="bg1"/>
                </a:solidFill>
              </a:rPr>
              <a:t>Waves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8600" y="1676400"/>
            <a:ext cx="8534400" cy="40934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2000" dirty="0" smtClean="0"/>
              <a:t>1. It has the frequency greater than 20KHz.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/>
              <a:t>2.They </a:t>
            </a:r>
            <a:r>
              <a:rPr lang="en-US" sz="2000" dirty="0" smtClean="0"/>
              <a:t>can not </a:t>
            </a:r>
            <a:r>
              <a:rPr lang="en-US" sz="2000" dirty="0" smtClean="0"/>
              <a:t>travel in vacuum.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/>
              <a:t>3.The speed of ultrasonic waves increases with increasing     </a:t>
            </a:r>
          </a:p>
          <a:p>
            <a:pPr algn="just"/>
            <a:r>
              <a:rPr lang="en-US" sz="2000" dirty="0" smtClean="0"/>
              <a:t>     frequency.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/>
              <a:t>4.These are short wavelength and high frequency sound waves.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/>
              <a:t>5. </a:t>
            </a:r>
            <a:r>
              <a:rPr lang="en-US" sz="2000" dirty="0" err="1" smtClean="0"/>
              <a:t>ul</a:t>
            </a:r>
            <a:r>
              <a:rPr lang="en-US" sz="2000" dirty="0" err="1" smtClean="0"/>
              <a:t>tasonic</a:t>
            </a:r>
            <a:r>
              <a:rPr lang="en-US" sz="2000" dirty="0" smtClean="0"/>
              <a:t> </a:t>
            </a:r>
            <a:r>
              <a:rPr lang="en-US" sz="2000" dirty="0" smtClean="0"/>
              <a:t>waves can </a:t>
            </a:r>
            <a:r>
              <a:rPr lang="en-US" sz="2000" dirty="0" smtClean="0"/>
              <a:t>travel </a:t>
            </a:r>
            <a:r>
              <a:rPr lang="en-US" sz="2000" dirty="0" smtClean="0"/>
              <a:t>a long distance without any deviation  </a:t>
            </a:r>
          </a:p>
          <a:p>
            <a:pPr algn="just"/>
            <a:r>
              <a:rPr lang="en-US" sz="2000" dirty="0" smtClean="0"/>
              <a:t>    and without appreciable loss of energy.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/>
              <a:t>6. Due to short wavelength ,the penetration power of these waves   </a:t>
            </a:r>
          </a:p>
          <a:p>
            <a:pPr algn="just"/>
            <a:r>
              <a:rPr lang="en-US" sz="2000" dirty="0" smtClean="0"/>
              <a:t>      is  large.</a:t>
            </a:r>
          </a:p>
          <a:p>
            <a:pPr algn="just"/>
            <a:r>
              <a:rPr lang="en-US" sz="2000" dirty="0" smtClean="0"/>
              <a:t>7. For homogeneous medium ,the velocity of </a:t>
            </a:r>
            <a:r>
              <a:rPr lang="en-US" sz="2000" dirty="0" err="1" smtClean="0"/>
              <a:t>ultasonic</a:t>
            </a:r>
            <a:r>
              <a:rPr lang="en-US" sz="2000" dirty="0" smtClean="0"/>
              <a:t> waves   </a:t>
            </a:r>
          </a:p>
          <a:p>
            <a:pPr algn="just"/>
            <a:r>
              <a:rPr lang="en-US" sz="2000" dirty="0" smtClean="0"/>
              <a:t>    remains same when travel through it.</a:t>
            </a:r>
          </a:p>
          <a:p>
            <a:pPr algn="just">
              <a:buFont typeface="Arial" pitchFamily="34" charset="0"/>
              <a:buChar char="•"/>
            </a:pPr>
            <a:endParaRPr lang="en-US" sz="2000" dirty="0" smtClean="0"/>
          </a:p>
          <a:p>
            <a:pPr algn="just">
              <a:buFont typeface="Arial" pitchFamily="34" charset="0"/>
              <a:buChar char="•"/>
            </a:pP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pPr algn="ctr"/>
            <a:r>
              <a:rPr lang="en-US" sz="4800" dirty="0" smtClean="0">
                <a:solidFill>
                  <a:schemeClr val="accent2"/>
                </a:solidFill>
              </a:rPr>
              <a:t>Ultrasonic Production 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3400" y="2274838"/>
            <a:ext cx="8001000" cy="15696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 smtClean="0"/>
              <a:t>Ultrasonic </a:t>
            </a:r>
            <a:r>
              <a:rPr lang="en-US" sz="2400" dirty="0" smtClean="0"/>
              <a:t> waves </a:t>
            </a:r>
            <a:r>
              <a:rPr lang="en-US" sz="2400" dirty="0" smtClean="0"/>
              <a:t>are produced by the</a:t>
            </a:r>
          </a:p>
          <a:p>
            <a:r>
              <a:rPr lang="en-US" sz="2400" dirty="0" smtClean="0"/>
              <a:t>following </a:t>
            </a:r>
            <a:r>
              <a:rPr lang="en-US" sz="2400" dirty="0" smtClean="0"/>
              <a:t> methods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r>
              <a:rPr lang="en-US" sz="2400" dirty="0" smtClean="0"/>
              <a:t>(</a:t>
            </a:r>
            <a:r>
              <a:rPr lang="en-US" sz="2400" dirty="0" smtClean="0"/>
              <a:t>1</a:t>
            </a:r>
            <a:r>
              <a:rPr lang="en-US" sz="2400" dirty="0" smtClean="0"/>
              <a:t>) Inverse </a:t>
            </a:r>
            <a:r>
              <a:rPr lang="en-US" sz="2400" dirty="0" err="1" smtClean="0"/>
              <a:t>Piezo</a:t>
            </a:r>
            <a:r>
              <a:rPr lang="en-US" sz="2400" dirty="0" smtClean="0"/>
              <a:t>-electric effect using transistor</a:t>
            </a: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690872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  <a:buNone/>
            </a:pPr>
            <a:r>
              <a:rPr lang="en-US" sz="3200" b="1" dirty="0" smtClean="0">
                <a:solidFill>
                  <a:srgbClr val="FF0000"/>
                </a:solidFill>
              </a:rPr>
              <a:t> Principle : Inverse </a:t>
            </a:r>
            <a:r>
              <a:rPr lang="en-US" sz="3200" b="1" dirty="0" err="1" smtClean="0">
                <a:solidFill>
                  <a:srgbClr val="FF0000"/>
                </a:solidFill>
              </a:rPr>
              <a:t>piezo</a:t>
            </a:r>
            <a:r>
              <a:rPr lang="en-US" sz="3200" b="1" dirty="0" smtClean="0">
                <a:solidFill>
                  <a:srgbClr val="FF0000"/>
                </a:solidFill>
              </a:rPr>
              <a:t> electric effect</a:t>
            </a:r>
          </a:p>
          <a:p>
            <a:pPr algn="just">
              <a:lnSpc>
                <a:spcPct val="90000"/>
              </a:lnSpc>
            </a:pPr>
            <a:r>
              <a:rPr lang="en-US" sz="2800" dirty="0" smtClean="0"/>
              <a:t> </a:t>
            </a:r>
            <a:r>
              <a:rPr lang="en-US" sz="2400" dirty="0" smtClean="0"/>
              <a:t>If mechanical pressure is applied to one pair of opposite faces of certain crystals like quartz, equal and opposite electrical charges appear across its other </a:t>
            </a:r>
            <a:r>
              <a:rPr lang="en-US" sz="2400" dirty="0" err="1" smtClean="0"/>
              <a:t>faces.This</a:t>
            </a:r>
            <a:r>
              <a:rPr lang="en-US" sz="2400" dirty="0" smtClean="0"/>
              <a:t> is called as </a:t>
            </a:r>
            <a:r>
              <a:rPr lang="en-US" sz="2400" dirty="0" err="1" smtClean="0"/>
              <a:t>piezo</a:t>
            </a:r>
            <a:r>
              <a:rPr lang="en-US" sz="2400" dirty="0" smtClean="0"/>
              <a:t>-electric effect.</a:t>
            </a:r>
          </a:p>
          <a:p>
            <a:pPr algn="just">
              <a:lnSpc>
                <a:spcPct val="90000"/>
              </a:lnSpc>
            </a:pPr>
            <a:r>
              <a:rPr lang="en-US" sz="2400" dirty="0" smtClean="0"/>
              <a:t>The converse of </a:t>
            </a:r>
            <a:r>
              <a:rPr lang="en-US" sz="2400" dirty="0" err="1" smtClean="0"/>
              <a:t>piezo</a:t>
            </a:r>
            <a:r>
              <a:rPr lang="en-US" sz="2400" dirty="0" smtClean="0"/>
              <a:t> electric effect is also true.</a:t>
            </a:r>
          </a:p>
          <a:p>
            <a:pPr algn="just">
              <a:lnSpc>
                <a:spcPct val="90000"/>
              </a:lnSpc>
            </a:pPr>
            <a:r>
              <a:rPr lang="en-US" sz="2400" dirty="0" smtClean="0"/>
              <a:t>If an electric field is applied to one pair of faces, the corresponding changes in the dimensions of the other pair of faces of the crystal are produced</a:t>
            </a:r>
            <a:r>
              <a:rPr lang="en-US" sz="2400" dirty="0" smtClean="0"/>
              <a:t>. This </a:t>
            </a:r>
            <a:r>
              <a:rPr lang="en-US" sz="2400" dirty="0" smtClean="0"/>
              <a:t>is known as </a:t>
            </a:r>
            <a:r>
              <a:rPr lang="en-US" sz="2400" b="1" i="1" dirty="0" smtClean="0"/>
              <a:t>inverse </a:t>
            </a:r>
            <a:r>
              <a:rPr lang="en-US" sz="2400" b="1" i="1" dirty="0" err="1" smtClean="0"/>
              <a:t>piezo</a:t>
            </a:r>
            <a:r>
              <a:rPr lang="en-US" sz="2400" b="1" i="1" dirty="0" smtClean="0"/>
              <a:t> electric </a:t>
            </a:r>
            <a:r>
              <a:rPr lang="en-US" sz="2400" dirty="0" smtClean="0"/>
              <a:t>effect or </a:t>
            </a:r>
            <a:r>
              <a:rPr lang="en-US" sz="2400" b="1" i="1" dirty="0" smtClean="0"/>
              <a:t>electrostriction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4400" dirty="0" err="1" smtClean="0">
                <a:solidFill>
                  <a:srgbClr val="FF0000"/>
                </a:solidFill>
              </a:rPr>
              <a:t>Piezo</a:t>
            </a:r>
            <a:r>
              <a:rPr lang="en-US" sz="4400" dirty="0" smtClean="0"/>
              <a:t> </a:t>
            </a:r>
            <a:r>
              <a:rPr lang="en-US" sz="4400" dirty="0" smtClean="0">
                <a:solidFill>
                  <a:srgbClr val="FF0000"/>
                </a:solidFill>
              </a:rPr>
              <a:t>Electric Oscillator 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473891"/>
          </a:xfrm>
        </p:spPr>
        <p:txBody>
          <a:bodyPr/>
          <a:lstStyle/>
          <a:p>
            <a:r>
              <a:rPr lang="en-US" dirty="0" smtClean="0"/>
              <a:t>Due to application </a:t>
            </a:r>
            <a:r>
              <a:rPr lang="en-US" dirty="0" err="1" smtClean="0"/>
              <a:t>application</a:t>
            </a:r>
            <a:r>
              <a:rPr lang="en-US" dirty="0" smtClean="0"/>
              <a:t> of external voltage, mechanical deformation occurs in the crystal.</a:t>
            </a:r>
          </a:p>
          <a:p>
            <a:r>
              <a:rPr lang="en-US" dirty="0" smtClean="0"/>
              <a:t>Crystal oscillates along its length or thickness</a:t>
            </a:r>
          </a:p>
          <a:p>
            <a:r>
              <a:rPr lang="en-US" dirty="0" smtClean="0"/>
              <a:t>When applied voltage has same polarity , crystal expand and </a:t>
            </a:r>
            <a:r>
              <a:rPr lang="en-US" dirty="0" err="1" smtClean="0"/>
              <a:t>iif</a:t>
            </a:r>
            <a:r>
              <a:rPr lang="en-US" dirty="0" smtClean="0"/>
              <a:t> applied voltage has opposite polarity crystal compress</a:t>
            </a:r>
          </a:p>
          <a:p>
            <a:r>
              <a:rPr lang="en-US" dirty="0" smtClean="0"/>
              <a:t>During resonance it produces the ultrasonic waves of very high frequency greater </a:t>
            </a:r>
            <a:r>
              <a:rPr lang="en-US" dirty="0" err="1" smtClean="0"/>
              <a:t>tham</a:t>
            </a:r>
            <a:r>
              <a:rPr lang="en-US" dirty="0" smtClean="0"/>
              <a:t> 1MHz.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C:\Users\Admin\Downloads\20241204_091832.jpg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304800"/>
            <a:ext cx="86868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143000" y="2590800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Expansion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5562600" y="251460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Compression</a:t>
            </a:r>
            <a:endParaRPr lang="en-IN" dirty="0"/>
          </a:p>
        </p:txBody>
      </p:sp>
      <p:pic>
        <p:nvPicPr>
          <p:cNvPr id="7" name="Picture 6" descr="C:\Users\Admin\Downloads\20241204_094231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67000" y="3429000"/>
            <a:ext cx="39624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en-US" sz="4400" dirty="0" smtClean="0">
                <a:solidFill>
                  <a:srgbClr val="FF0000"/>
                </a:solidFill>
              </a:rPr>
              <a:t>Piezoelectric oscillator Construction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600" dirty="0" smtClean="0"/>
              <a:t>The circuit diagram is shown in Figure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600" dirty="0" smtClean="0"/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600" dirty="0" smtClean="0"/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600" dirty="0" smtClean="0"/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600" dirty="0" smtClean="0"/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600" dirty="0" smtClean="0"/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600" dirty="0" smtClean="0"/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600" dirty="0" smtClean="0"/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600" dirty="0" smtClean="0"/>
          </a:p>
          <a:p>
            <a:pPr algn="ctr" eaLnBrk="1" hangingPunct="1">
              <a:lnSpc>
                <a:spcPct val="80000"/>
              </a:lnSpc>
              <a:buFontTx/>
              <a:buNone/>
            </a:pPr>
            <a:endParaRPr lang="en-US" sz="2600" b="1" dirty="0" smtClean="0"/>
          </a:p>
        </p:txBody>
      </p:sp>
      <p:pic>
        <p:nvPicPr>
          <p:cNvPr id="6" name="Picture 5" descr="C:\Users\Admin\Downloads\20241204_094556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1" y="2139350"/>
            <a:ext cx="8153400" cy="3804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304800" y="381000"/>
            <a:ext cx="8382000" cy="5181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>
            <a:normAutofit/>
          </a:bodyPr>
          <a:lstStyle/>
          <a:p>
            <a:pPr marL="365760" marR="0" lvl="0" indent="-256032" algn="just" defTabSz="914400" rtl="0" eaLnBrk="1" fontAlgn="auto" latinLnBrk="0" hangingPunct="1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The quartz crystal is placed between two metal plates A and B.</a:t>
            </a:r>
          </a:p>
          <a:p>
            <a:pPr marL="365760" marR="0" lvl="0" indent="-256032" algn="just" defTabSz="914400" rtl="0" eaLnBrk="1" fontAlgn="auto" latinLnBrk="0" hangingPunct="1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tabLst/>
              <a:defRPr/>
            </a:pPr>
            <a:endParaRPr kumimoji="0" 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365760" marR="0" lvl="0" indent="-256032" algn="just" defTabSz="914400" rtl="0" eaLnBrk="1" fontAlgn="auto" latinLnBrk="0" hangingPunct="1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LC oscillatory</a:t>
            </a:r>
            <a:r>
              <a:rPr kumimoji="0" lang="en-US" sz="24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circuit is used which is connected to crystal and transistor.</a:t>
            </a:r>
            <a:endParaRPr kumimoji="0" 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365760" marR="0" lvl="0" indent="-256032" algn="just" defTabSz="914400" rtl="0" eaLnBrk="1" fontAlgn="auto" latinLnBrk="0" hangingPunct="1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endParaRPr kumimoji="0" 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365760" marR="0" lvl="0" indent="-256032" algn="just" defTabSz="914400" rtl="0" eaLnBrk="1" fontAlgn="auto" latinLnBrk="0" hangingPunct="1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r>
              <a:rPr kumimoji="0" 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High frequency waves of frequency </a:t>
            </a:r>
            <a:r>
              <a:rPr kumimoji="0" lang="en-US" sz="26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upto</a:t>
            </a:r>
            <a:r>
              <a:rPr kumimoji="0" 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50MHZ can be generated. </a:t>
            </a:r>
          </a:p>
          <a:p>
            <a:pPr marL="365760" marR="0" lvl="0" indent="-256032" algn="just" defTabSz="914400" rtl="0" eaLnBrk="1" fontAlgn="auto" latinLnBrk="0" hangingPunct="1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tabLst/>
              <a:defRPr/>
            </a:pPr>
            <a:endParaRPr kumimoji="0" lang="en-US" sz="2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r>
              <a:rPr kumimoji="0" 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When alternating current apply</a:t>
            </a:r>
            <a:r>
              <a:rPr kumimoji="0" lang="en-US" sz="26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to crystal it oscillates and if resonance occurred ,it produces ultrasonic waves.</a:t>
            </a:r>
          </a:p>
          <a:p>
            <a:pPr marL="365760" marR="0" lvl="0" indent="-256032" algn="l" defTabSz="914400" rtl="0" eaLnBrk="1" fontAlgn="auto" latinLnBrk="0" hangingPunct="1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endParaRPr lang="en-US" sz="2600" b="1" baseline="0" dirty="0" smtClean="0">
              <a:latin typeface="Calibri" pitchFamily="34" charset="0"/>
              <a:cs typeface="Calibri" pitchFamily="34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r>
              <a:rPr kumimoji="0" lang="en-US" sz="26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Because of </a:t>
            </a:r>
            <a:r>
              <a:rPr kumimoji="0" lang="en-US" sz="26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high </a:t>
            </a:r>
            <a:r>
              <a:rPr kumimoji="0" lang="en-US" sz="26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frequency electrical signal applied to </a:t>
            </a:r>
            <a:r>
              <a:rPr kumimoji="0" lang="en-US" sz="2600" b="1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it,the</a:t>
            </a:r>
            <a:r>
              <a:rPr kumimoji="0" lang="en-US" sz="26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piezoelectric crystal produces ultrasonic waves having </a:t>
            </a:r>
            <a:r>
              <a:rPr kumimoji="0" lang="en-US" sz="2600" b="1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freq.greater</a:t>
            </a:r>
            <a:r>
              <a:rPr kumimoji="0" lang="en-US" sz="26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than 500KHZ</a:t>
            </a:r>
            <a:endParaRPr kumimoji="0" lang="en-US" sz="2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365760" marR="0" lvl="0" indent="-256032" algn="just" defTabSz="914400" rtl="0" eaLnBrk="1" fontAlgn="auto" latinLnBrk="0" hangingPunct="1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304800"/>
            <a:ext cx="8229600" cy="5702491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                           Advantages</a:t>
            </a:r>
            <a:r>
              <a:rPr lang="en-US" sz="3500" b="1" dirty="0" smtClean="0">
                <a:solidFill>
                  <a:srgbClr val="FF0000"/>
                </a:solidFill>
              </a:rPr>
              <a:t> </a:t>
            </a:r>
          </a:p>
          <a:p>
            <a:pPr eaLnBrk="1" hangingPunct="1"/>
            <a:endParaRPr lang="en-US" sz="2400" dirty="0" smtClean="0"/>
          </a:p>
          <a:p>
            <a:pPr eaLnBrk="1" hangingPunct="1"/>
            <a:r>
              <a:rPr lang="en-US" sz="2400" dirty="0" smtClean="0"/>
              <a:t>Single frequency output can be obtained.</a:t>
            </a:r>
          </a:p>
          <a:p>
            <a:pPr eaLnBrk="1" hangingPunct="1"/>
            <a:r>
              <a:rPr lang="en-US" sz="2400" dirty="0" smtClean="0"/>
              <a:t>High frequency waves of frequency </a:t>
            </a:r>
            <a:r>
              <a:rPr lang="en-US" sz="2400" dirty="0" err="1" smtClean="0"/>
              <a:t>upto</a:t>
            </a:r>
            <a:r>
              <a:rPr lang="en-US" sz="2400" dirty="0" smtClean="0"/>
              <a:t> 50MHZ can be generated.</a:t>
            </a:r>
          </a:p>
          <a:p>
            <a:pPr eaLnBrk="1" hangingPunct="1"/>
            <a:r>
              <a:rPr lang="en-US" sz="2400" dirty="0" smtClean="0"/>
              <a:t>It does not affect by temp. and humidity.</a:t>
            </a:r>
          </a:p>
          <a:p>
            <a:pPr eaLnBrk="1" hangingPunct="1">
              <a:buFontTx/>
              <a:buNone/>
            </a:pPr>
            <a:r>
              <a:rPr lang="en-US" sz="2800" b="1" dirty="0" smtClean="0"/>
              <a:t>                                       </a:t>
            </a:r>
          </a:p>
          <a:p>
            <a:pPr eaLnBrk="1" hangingPunct="1">
              <a:buFontTx/>
              <a:buNone/>
            </a:pPr>
            <a:r>
              <a:rPr lang="en-US" sz="2800" b="1" dirty="0" smtClean="0"/>
              <a:t>                           </a:t>
            </a:r>
            <a:r>
              <a:rPr lang="en-US" sz="2800" b="1" dirty="0" smtClean="0">
                <a:solidFill>
                  <a:srgbClr val="FF0000"/>
                </a:solidFill>
              </a:rPr>
              <a:t>Disadvantages</a:t>
            </a:r>
            <a:r>
              <a:rPr lang="en-US" sz="2400" b="1" dirty="0" smtClean="0">
                <a:solidFill>
                  <a:srgbClr val="FF0000"/>
                </a:solidFill>
              </a:rPr>
              <a:t>  </a:t>
            </a:r>
          </a:p>
          <a:p>
            <a:pPr eaLnBrk="1" hangingPunct="1"/>
            <a:endParaRPr lang="en-US" sz="2400" dirty="0" smtClean="0"/>
          </a:p>
          <a:p>
            <a:pPr eaLnBrk="1" hangingPunct="1"/>
            <a:r>
              <a:rPr lang="en-US" sz="2400" dirty="0" smtClean="0"/>
              <a:t>The cost of </a:t>
            </a:r>
            <a:r>
              <a:rPr lang="en-US" sz="2400" dirty="0" err="1" smtClean="0"/>
              <a:t>piezo</a:t>
            </a:r>
            <a:r>
              <a:rPr lang="en-US" sz="2400" dirty="0" smtClean="0"/>
              <a:t> electric quartz is very high</a:t>
            </a:r>
          </a:p>
          <a:p>
            <a:pPr eaLnBrk="1" hangingPunct="1"/>
            <a:r>
              <a:rPr lang="en-US" sz="2400" dirty="0" smtClean="0"/>
              <a:t>The cutting  and shaping of quartz  crystal are very complex.</a:t>
            </a:r>
          </a:p>
          <a:p>
            <a:pPr eaLnBrk="1" hangingPunct="1"/>
            <a:endParaRPr lang="en-US" sz="2400" dirty="0" smtClean="0"/>
          </a:p>
          <a:p>
            <a:pPr eaLnBrk="1" hangingPunct="1"/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1. </a:t>
            </a:r>
            <a:r>
              <a:rPr lang="en-US" sz="3200" b="1" dirty="0" smtClean="0"/>
              <a:t>Thickness Measurement</a:t>
            </a:r>
          </a:p>
          <a:p>
            <a:pPr>
              <a:buNone/>
            </a:pPr>
            <a:r>
              <a:rPr lang="en-US" dirty="0" smtClean="0"/>
              <a:t>When ultrasonic wave travel from medium it produces echo when reflected by obstacle</a:t>
            </a:r>
          </a:p>
          <a:p>
            <a:pPr>
              <a:buNone/>
            </a:pPr>
            <a:endParaRPr lang="en-US" sz="3200" dirty="0" smtClean="0"/>
          </a:p>
          <a:p>
            <a:pPr>
              <a:buNone/>
            </a:pPr>
            <a:r>
              <a:rPr lang="en-US" sz="3200" dirty="0" smtClean="0"/>
              <a:t>Principle: The transmitted ultrasonic wave travel through medium and reflected wave received by receiver.</a:t>
            </a:r>
            <a:endParaRPr lang="en-US" sz="3200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sz="440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Applications</a:t>
            </a:r>
            <a:r>
              <a:rPr lang="en-US" sz="4400" dirty="0" smtClean="0">
                <a:solidFill>
                  <a:srgbClr val="FF0000"/>
                </a:solidFill>
              </a:rPr>
              <a:t> of Ultrasonic Waves in Engineering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274638"/>
            <a:ext cx="8458200" cy="1143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Applications of Ultrasonic Waves in Engineering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28600" y="1600200"/>
            <a:ext cx="8534400" cy="762000"/>
          </a:xfrm>
          <a:prstGeom prst="rect">
            <a:avLst/>
          </a:pr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b="1" dirty="0" smtClean="0"/>
              <a:t>1.Thickness </a:t>
            </a:r>
            <a:r>
              <a:rPr lang="en-US" b="1" dirty="0" smtClean="0"/>
              <a:t>Measurement</a:t>
            </a:r>
            <a:endParaRPr lang="en-US" dirty="0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228600" y="2362200"/>
            <a:ext cx="8534400" cy="2819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just"/>
            <a:endParaRPr lang="en-US" dirty="0" smtClean="0"/>
          </a:p>
        </p:txBody>
      </p:sp>
      <p:sp>
        <p:nvSpPr>
          <p:cNvPr id="9" name="Rectangle 8"/>
          <p:cNvSpPr/>
          <p:nvPr/>
        </p:nvSpPr>
        <p:spPr>
          <a:xfrm>
            <a:off x="228600" y="2362200"/>
            <a:ext cx="8534400" cy="212365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 smtClean="0"/>
              <a:t>When ultrasonic wave travel from medium it produces echo when reflected by obstacle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Principle: The transmitted ultrasonic wave travel through medium and reflected wave received by receiver.</a:t>
            </a:r>
          </a:p>
          <a:p>
            <a:pPr algn="just"/>
            <a:endParaRPr lang="en-US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\Downloads\1764660635125 (1)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304800"/>
            <a:ext cx="6375590" cy="3657600"/>
          </a:xfrm>
          <a:prstGeom prst="rect">
            <a:avLst/>
          </a:prstGeom>
          <a:noFill/>
        </p:spPr>
      </p:pic>
      <p:pic>
        <p:nvPicPr>
          <p:cNvPr id="1027" name="Picture 3" descr="C:\Users\Admin\Downloads\176466063510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4648200"/>
            <a:ext cx="6306457" cy="1676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274638"/>
            <a:ext cx="8458200" cy="1143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Applications of Ultrasonic Waves in Engineering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28600" y="1600200"/>
            <a:ext cx="8534400" cy="762000"/>
          </a:xfrm>
          <a:prstGeom prst="rect">
            <a:avLst/>
          </a:pr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b="1" dirty="0" smtClean="0"/>
              <a:t>          </a:t>
            </a:r>
            <a:r>
              <a:rPr lang="en-US" b="1" dirty="0" smtClean="0"/>
              <a:t>(2)Detection </a:t>
            </a:r>
            <a:r>
              <a:rPr lang="en-US" b="1" dirty="0" smtClean="0"/>
              <a:t>of flaws in metals</a:t>
            </a:r>
            <a:endParaRPr lang="en-US" dirty="0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228600" y="2362200"/>
            <a:ext cx="8534400" cy="2819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just"/>
            <a:endParaRPr lang="en-US" dirty="0" smtClean="0"/>
          </a:p>
        </p:txBody>
      </p:sp>
      <p:sp>
        <p:nvSpPr>
          <p:cNvPr id="9" name="Rectangle 8"/>
          <p:cNvSpPr/>
          <p:nvPr/>
        </p:nvSpPr>
        <p:spPr>
          <a:xfrm>
            <a:off x="228600" y="2362200"/>
            <a:ext cx="8534400" cy="280076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2000" dirty="0" smtClean="0"/>
              <a:t>Ultrasonic waves are used to detect the presence of flaws or defects in the form of cracks, blowholes  porosity etc., in the internal structure of  a material</a:t>
            </a:r>
          </a:p>
          <a:p>
            <a:pPr algn="just">
              <a:buFont typeface="Arial" pitchFamily="34" charset="0"/>
              <a:buChar char="•"/>
            </a:pPr>
            <a:r>
              <a:rPr lang="en-US" sz="2400" b="1" dirty="0" smtClean="0">
                <a:solidFill>
                  <a:srgbClr val="FF0000"/>
                </a:solidFill>
              </a:rPr>
              <a:t> </a:t>
            </a:r>
            <a:r>
              <a:rPr lang="en-US" sz="2000" b="1" dirty="0" smtClean="0">
                <a:solidFill>
                  <a:srgbClr val="FF0000"/>
                </a:solidFill>
              </a:rPr>
              <a:t>Principle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/>
              <a:t>The ultrasonic waves generator transmit the wave ,it get reflected by top ,bottom surface of sample and from flaw. The receiving signal  recorded by CRO,</a:t>
            </a:r>
          </a:p>
          <a:p>
            <a:pPr algn="just"/>
            <a:endParaRPr lang="en-US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pPr algn="ctr"/>
            <a:r>
              <a:rPr lang="en-US" sz="3000" dirty="0" smtClean="0">
                <a:solidFill>
                  <a:srgbClr val="FF0000"/>
                </a:solidFill>
              </a:rPr>
              <a:t>E</a:t>
            </a:r>
            <a:r>
              <a:rPr lang="en-US" sz="3000" b="1" dirty="0" smtClean="0">
                <a:solidFill>
                  <a:srgbClr val="FF0000"/>
                </a:solidFill>
              </a:rPr>
              <a:t>xperimental</a:t>
            </a:r>
            <a:r>
              <a:rPr lang="en-US" sz="3000" b="1" dirty="0" smtClean="0"/>
              <a:t> </a:t>
            </a:r>
            <a:r>
              <a:rPr lang="en-US" sz="3000" b="1" dirty="0" smtClean="0">
                <a:solidFill>
                  <a:srgbClr val="FF0000"/>
                </a:solidFill>
              </a:rPr>
              <a:t>setup</a:t>
            </a:r>
            <a:r>
              <a:rPr lang="en-US" sz="3000" dirty="0" smtClean="0"/>
              <a:t> 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81329"/>
            <a:ext cx="8229600" cy="1109472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algn="just" eaLnBrk="1" hangingPunct="1">
              <a:buFontTx/>
              <a:buNone/>
            </a:pPr>
            <a:r>
              <a:rPr lang="en-US" sz="2200" dirty="0" smtClean="0"/>
              <a:t>    It consists of an ultrasonic frequency generator and a cathode ray oscilloscope (CRO),transmitting transducer(A), receiving transducer(B) and an amplifier.</a:t>
            </a:r>
          </a:p>
        </p:txBody>
      </p:sp>
      <p:pic>
        <p:nvPicPr>
          <p:cNvPr id="7" name="Picture 6" descr="C:\Users\Admin\Downloads\20241204_101720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2971800"/>
            <a:ext cx="5731510" cy="3375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pPr eaLnBrk="1" hangingPunct="1"/>
            <a:r>
              <a:rPr lang="en-US" sz="3000" b="1" dirty="0" smtClean="0"/>
              <a:t>                           </a:t>
            </a:r>
            <a:r>
              <a:rPr lang="en-US" sz="3000" b="1" dirty="0" smtClean="0">
                <a:solidFill>
                  <a:srgbClr val="FF0000"/>
                </a:solidFill>
              </a:rPr>
              <a:t>Working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 fontScale="85000" lnSpcReduction="10000"/>
          </a:bodyPr>
          <a:lstStyle/>
          <a:p>
            <a:pPr algn="just"/>
            <a:r>
              <a:rPr lang="en-US" sz="2600" dirty="0" smtClean="0"/>
              <a:t> The ultrasonic waves generated produced the ultrasonic waves in the form of electric </a:t>
            </a:r>
            <a:r>
              <a:rPr lang="en-US" sz="2600" dirty="0" err="1" smtClean="0"/>
              <a:t>pulse.This</a:t>
            </a:r>
            <a:r>
              <a:rPr lang="en-US" sz="2600" dirty="0" smtClean="0"/>
              <a:t> pulse is get converted into optical signal by transducer 1.</a:t>
            </a:r>
          </a:p>
          <a:p>
            <a:pPr algn="just"/>
            <a:endParaRPr lang="en-US" sz="2600" dirty="0" smtClean="0"/>
          </a:p>
          <a:p>
            <a:pPr algn="just">
              <a:buNone/>
            </a:pPr>
            <a:endParaRPr lang="en-US" sz="2600" dirty="0" smtClean="0"/>
          </a:p>
          <a:p>
            <a:pPr algn="just"/>
            <a:r>
              <a:rPr lang="en-US" sz="2600" dirty="0" smtClean="0"/>
              <a:t>The optical signal </a:t>
            </a:r>
            <a:r>
              <a:rPr lang="en-US" sz="2600" dirty="0" err="1" smtClean="0"/>
              <a:t>prapogated</a:t>
            </a:r>
            <a:r>
              <a:rPr lang="en-US" sz="2600" dirty="0" smtClean="0"/>
              <a:t> </a:t>
            </a:r>
            <a:r>
              <a:rPr lang="en-US" sz="2600" dirty="0" smtClean="0"/>
              <a:t>through sample</a:t>
            </a:r>
            <a:r>
              <a:rPr lang="en-US" sz="2600" dirty="0" smtClean="0"/>
              <a:t>. It </a:t>
            </a:r>
            <a:r>
              <a:rPr lang="en-US" sz="2600" dirty="0" smtClean="0"/>
              <a:t>get reflected by flaws if present in the sample and bottom of sample.</a:t>
            </a:r>
          </a:p>
          <a:p>
            <a:pPr algn="just">
              <a:buNone/>
            </a:pPr>
            <a:endParaRPr lang="en-US" sz="2600" dirty="0" smtClean="0"/>
          </a:p>
          <a:p>
            <a:pPr algn="just"/>
            <a:r>
              <a:rPr lang="en-US" sz="2600" dirty="0" smtClean="0"/>
              <a:t>The reflected signal converted to electrical pulse using transducer 2.</a:t>
            </a:r>
          </a:p>
          <a:p>
            <a:pPr algn="just">
              <a:buNone/>
            </a:pPr>
            <a:endParaRPr lang="en-US" sz="2600" dirty="0" smtClean="0"/>
          </a:p>
          <a:p>
            <a:pPr algn="just"/>
            <a:r>
              <a:rPr lang="en-US" sz="2600" dirty="0" smtClean="0"/>
              <a:t>Amplifier amplifies the signal.</a:t>
            </a:r>
          </a:p>
          <a:p>
            <a:pPr algn="just"/>
            <a:endParaRPr lang="en-US" sz="2600" dirty="0" smtClean="0"/>
          </a:p>
          <a:p>
            <a:pPr algn="just"/>
            <a:endParaRPr lang="en-US" sz="2600" dirty="0" smtClean="0"/>
          </a:p>
          <a:p>
            <a:pPr algn="just" eaLnBrk="1" hangingPunct="1">
              <a:buFontTx/>
              <a:buNone/>
            </a:pPr>
            <a:endParaRPr lang="en-US" sz="2600" dirty="0" smtClean="0"/>
          </a:p>
        </p:txBody>
      </p:sp>
      <p:cxnSp>
        <p:nvCxnSpPr>
          <p:cNvPr id="7" name="Straight Arrow Connector 6"/>
          <p:cNvCxnSpPr/>
          <p:nvPr/>
        </p:nvCxnSpPr>
        <p:spPr>
          <a:xfrm rot="5400000">
            <a:off x="4562126" y="2753074"/>
            <a:ext cx="630936" cy="1588"/>
          </a:xfrm>
          <a:prstGeom prst="straightConnector1">
            <a:avLst/>
          </a:prstGeom>
          <a:ln w="38100"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rot="5400000">
            <a:off x="4562126" y="4048474"/>
            <a:ext cx="630936" cy="1588"/>
          </a:xfrm>
          <a:prstGeom prst="straightConnector1">
            <a:avLst/>
          </a:prstGeom>
          <a:ln w="38100"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5400000">
            <a:off x="4562126" y="5115274"/>
            <a:ext cx="630936" cy="1588"/>
          </a:xfrm>
          <a:prstGeom prst="straightConnector1">
            <a:avLst/>
          </a:prstGeom>
          <a:ln w="38100"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381000"/>
            <a:ext cx="8229600" cy="548640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2600" dirty="0" smtClean="0"/>
              <a:t> </a:t>
            </a:r>
          </a:p>
          <a:p>
            <a:pPr algn="just"/>
            <a:endParaRPr lang="en-US" sz="2600" dirty="0" smtClean="0"/>
          </a:p>
          <a:p>
            <a:pPr algn="just"/>
            <a:r>
              <a:rPr lang="en-US" sz="2600" dirty="0" smtClean="0"/>
              <a:t>The amplified signal/pulse is then observed on CRO.</a:t>
            </a:r>
          </a:p>
          <a:p>
            <a:pPr algn="just"/>
            <a:endParaRPr lang="en-US" sz="2600" dirty="0" smtClean="0"/>
          </a:p>
          <a:p>
            <a:pPr algn="just"/>
            <a:r>
              <a:rPr lang="en-US" sz="2600" dirty="0" smtClean="0"/>
              <a:t>Three P,Q,R three peaks are observed on the screen.</a:t>
            </a:r>
          </a:p>
          <a:p>
            <a:pPr algn="just"/>
            <a:endParaRPr lang="en-US" sz="2600" dirty="0" smtClean="0"/>
          </a:p>
          <a:p>
            <a:pPr algn="just"/>
            <a:r>
              <a:rPr lang="en-US" sz="2600" dirty="0" smtClean="0"/>
              <a:t>P:Amplitude due to transmitted wave</a:t>
            </a:r>
          </a:p>
          <a:p>
            <a:pPr algn="just"/>
            <a:r>
              <a:rPr lang="en-US" sz="2600" dirty="0" smtClean="0"/>
              <a:t>Q:Amplitude due to reflected wave from flaws</a:t>
            </a:r>
          </a:p>
          <a:p>
            <a:pPr algn="just"/>
            <a:r>
              <a:rPr lang="en-US" sz="2600" dirty="0" smtClean="0"/>
              <a:t>R:Amplitude due to reflected wave from bottom of sample</a:t>
            </a:r>
          </a:p>
          <a:p>
            <a:pPr algn="just" eaLnBrk="1" hangingPunct="1">
              <a:buFontTx/>
              <a:buNone/>
            </a:pPr>
            <a:endParaRPr lang="en-US" sz="2600" dirty="0" smtClean="0"/>
          </a:p>
        </p:txBody>
      </p:sp>
      <p:cxnSp>
        <p:nvCxnSpPr>
          <p:cNvPr id="7" name="Straight Arrow Connector 6"/>
          <p:cNvCxnSpPr/>
          <p:nvPr/>
        </p:nvCxnSpPr>
        <p:spPr>
          <a:xfrm rot="5400000">
            <a:off x="4257326" y="2143474"/>
            <a:ext cx="630936" cy="1588"/>
          </a:xfrm>
          <a:prstGeom prst="straightConnector1">
            <a:avLst/>
          </a:prstGeom>
          <a:ln w="38100"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rot="5400000">
            <a:off x="4257326" y="3515074"/>
            <a:ext cx="630936" cy="1588"/>
          </a:xfrm>
          <a:prstGeom prst="straightConnector1">
            <a:avLst/>
          </a:prstGeom>
          <a:ln w="38100"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rot="5400000">
            <a:off x="4257326" y="924274"/>
            <a:ext cx="630936" cy="1588"/>
          </a:xfrm>
          <a:prstGeom prst="straightConnector1">
            <a:avLst/>
          </a:prstGeom>
          <a:ln w="38100"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pPr eaLnBrk="1" hangingPunct="1"/>
            <a:r>
              <a:rPr lang="en-US" sz="3000" b="1" dirty="0" smtClean="0"/>
              <a:t>                           </a:t>
            </a:r>
            <a:r>
              <a:rPr lang="en-US" sz="3000" b="1" dirty="0" smtClean="0">
                <a:solidFill>
                  <a:srgbClr val="FF0000"/>
                </a:solidFill>
              </a:rPr>
              <a:t>Features</a:t>
            </a:r>
            <a:endParaRPr lang="en-US" sz="3000" dirty="0" smtClean="0">
              <a:solidFill>
                <a:srgbClr val="FF0000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algn="just" eaLnBrk="1" hangingPunct="1"/>
            <a:r>
              <a:rPr lang="en-US" sz="2600" dirty="0" smtClean="0"/>
              <a:t>This method is used to detect flaws in all common structural metals and other materials like rubber </a:t>
            </a:r>
            <a:r>
              <a:rPr lang="en-US" sz="2600" dirty="0" err="1" smtClean="0"/>
              <a:t>tyres</a:t>
            </a:r>
            <a:r>
              <a:rPr lang="en-US" sz="2600" dirty="0" smtClean="0"/>
              <a:t> etc.</a:t>
            </a:r>
          </a:p>
          <a:p>
            <a:pPr algn="just" eaLnBrk="1" hangingPunct="1"/>
            <a:endParaRPr lang="en-US" sz="2600" dirty="0" smtClean="0"/>
          </a:p>
          <a:p>
            <a:pPr algn="just" eaLnBrk="1" hangingPunct="1"/>
            <a:r>
              <a:rPr lang="en-US" sz="2600" dirty="0" smtClean="0"/>
              <a:t>The method is very cheap and of high speed of operation.</a:t>
            </a:r>
          </a:p>
          <a:p>
            <a:pPr algn="just" eaLnBrk="1" hangingPunct="1"/>
            <a:endParaRPr lang="en-US" sz="2600" dirty="0" smtClean="0"/>
          </a:p>
          <a:p>
            <a:pPr algn="just" eaLnBrk="1" hangingPunct="1"/>
            <a:r>
              <a:rPr lang="en-US" sz="2600" dirty="0" smtClean="0"/>
              <a:t>It is more accurate than radiography.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228600" y="1600200"/>
            <a:ext cx="8382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dirty="0" smtClean="0">
                <a:solidFill>
                  <a:srgbClr val="FF0000"/>
                </a:solidFill>
              </a:rPr>
              <a:t>                        THANK </a:t>
            </a:r>
            <a:r>
              <a:rPr lang="en-US" sz="3200" dirty="0">
                <a:solidFill>
                  <a:srgbClr val="FF0000"/>
                </a:solidFill>
              </a:rPr>
              <a:t>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2243</TotalTime>
  <Words>809</Words>
  <Application>Microsoft Office PowerPoint</Application>
  <PresentationFormat>On-screen Show (4:3)</PresentationFormat>
  <Paragraphs>114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Concourse</vt:lpstr>
      <vt:lpstr>ULTRASONICS</vt:lpstr>
      <vt:lpstr>Slide 2</vt:lpstr>
      <vt:lpstr> Introduction to Ultrasonics</vt:lpstr>
      <vt:lpstr>Characteristics of Ultrasonic Waves</vt:lpstr>
      <vt:lpstr>Ultrasonic Production </vt:lpstr>
      <vt:lpstr>Piezo Electric Oscillator </vt:lpstr>
      <vt:lpstr>Slide 7</vt:lpstr>
      <vt:lpstr>Slide 8</vt:lpstr>
      <vt:lpstr>Piezoelectric oscillator Construction</vt:lpstr>
      <vt:lpstr>Slide 10</vt:lpstr>
      <vt:lpstr>Slide 11</vt:lpstr>
      <vt:lpstr>Applications of Ultrasonic Waves in Engineering</vt:lpstr>
      <vt:lpstr>Applications of Ultrasonic Waves in Engineering</vt:lpstr>
      <vt:lpstr>Slide 14</vt:lpstr>
      <vt:lpstr>Applications of Ultrasonic Waves in Engineering</vt:lpstr>
      <vt:lpstr>Experimental setup </vt:lpstr>
      <vt:lpstr>                           Working</vt:lpstr>
      <vt:lpstr>Slide 18</vt:lpstr>
      <vt:lpstr>                           Features</vt:lpstr>
      <vt:lpstr>Slide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ULTRASONICS</dc:title>
  <dc:creator>Supriya</dc:creator>
  <cp:lastModifiedBy>Admin</cp:lastModifiedBy>
  <cp:revision>97</cp:revision>
  <dcterms:created xsi:type="dcterms:W3CDTF">2006-08-16T00:00:00Z</dcterms:created>
  <dcterms:modified xsi:type="dcterms:W3CDTF">2025-12-02T10:39:17Z</dcterms:modified>
</cp:coreProperties>
</file>