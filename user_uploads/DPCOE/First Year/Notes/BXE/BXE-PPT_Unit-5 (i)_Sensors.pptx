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70" r:id="rId2"/>
    <p:sldId id="269" r:id="rId3"/>
    <p:sldId id="272" r:id="rId4"/>
    <p:sldId id="303" r:id="rId5"/>
    <p:sldId id="304" r:id="rId6"/>
    <p:sldId id="305" r:id="rId7"/>
    <p:sldId id="308" r:id="rId8"/>
    <p:sldId id="306" r:id="rId9"/>
    <p:sldId id="309" r:id="rId10"/>
    <p:sldId id="310" r:id="rId11"/>
    <p:sldId id="307" r:id="rId12"/>
    <p:sldId id="311" r:id="rId13"/>
    <p:sldId id="312" r:id="rId14"/>
    <p:sldId id="339" r:id="rId15"/>
    <p:sldId id="340" r:id="rId16"/>
    <p:sldId id="314" r:id="rId17"/>
    <p:sldId id="318" r:id="rId18"/>
    <p:sldId id="317" r:id="rId19"/>
    <p:sldId id="319" r:id="rId20"/>
    <p:sldId id="321" r:id="rId21"/>
    <p:sldId id="320" r:id="rId22"/>
    <p:sldId id="322" r:id="rId23"/>
    <p:sldId id="323" r:id="rId24"/>
    <p:sldId id="330" r:id="rId25"/>
    <p:sldId id="329" r:id="rId26"/>
    <p:sldId id="335" r:id="rId27"/>
    <p:sldId id="336" r:id="rId28"/>
    <p:sldId id="338"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886" autoAdjust="0"/>
    <p:restoredTop sz="92705" autoAdjust="0"/>
  </p:normalViewPr>
  <p:slideViewPr>
    <p:cSldViewPr>
      <p:cViewPr varScale="1">
        <p:scale>
          <a:sx n="79" d="100"/>
          <a:sy n="79" d="100"/>
        </p:scale>
        <p:origin x="-114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69B3FC-8034-49F1-B102-41CF72365BCC}" type="doc">
      <dgm:prSet loTypeId="urn:microsoft.com/office/officeart/2005/8/layout/orgChart1" loCatId="hierarchy" qsTypeId="urn:microsoft.com/office/officeart/2005/8/quickstyle/simple3" qsCatId="simple" csTypeId="urn:microsoft.com/office/officeart/2005/8/colors/accent1_2" csCatId="accent1" phldr="1"/>
      <dgm:spPr/>
      <dgm:t>
        <a:bodyPr/>
        <a:lstStyle/>
        <a:p>
          <a:endParaRPr lang="en-US"/>
        </a:p>
      </dgm:t>
    </dgm:pt>
    <dgm:pt modelId="{9BE8D8F3-5F3A-4A4D-B624-FDE1F3DC2903}">
      <dgm:prSet phldrT="[Text]" custT="1">
        <dgm:style>
          <a:lnRef idx="2">
            <a:schemeClr val="accent4"/>
          </a:lnRef>
          <a:fillRef idx="1">
            <a:schemeClr val="lt1"/>
          </a:fillRef>
          <a:effectRef idx="0">
            <a:schemeClr val="accent4"/>
          </a:effectRef>
          <a:fontRef idx="minor">
            <a:schemeClr val="dk1"/>
          </a:fontRef>
        </dgm:style>
      </dgm:prSet>
      <dgm:spPr/>
      <dgm:t>
        <a:bodyPr/>
        <a:lstStyle/>
        <a:p>
          <a:pPr algn="ctr"/>
          <a:r>
            <a:rPr lang="en-US" sz="1600" b="1" baseline="0" dirty="0"/>
            <a:t>Sensors</a:t>
          </a:r>
        </a:p>
        <a:p>
          <a:pPr algn="ctr"/>
          <a:r>
            <a:rPr lang="en-US" sz="1600" b="1" baseline="0" dirty="0"/>
            <a:t>(Based upon)</a:t>
          </a:r>
        </a:p>
      </dgm:t>
    </dgm:pt>
    <dgm:pt modelId="{B9A79057-56B1-407D-9BDD-BC0113A5DFBC}" type="parTrans" cxnId="{1A8442F4-7CCE-43C4-8965-F31F8E6A6381}">
      <dgm:prSet/>
      <dgm:spPr/>
      <dgm:t>
        <a:bodyPr/>
        <a:lstStyle/>
        <a:p>
          <a:pPr algn="ctr"/>
          <a:endParaRPr lang="en-US"/>
        </a:p>
      </dgm:t>
    </dgm:pt>
    <dgm:pt modelId="{9C427495-851D-4A22-843F-0A609D21D552}" type="sibTrans" cxnId="{1A8442F4-7CCE-43C4-8965-F31F8E6A6381}">
      <dgm:prSet/>
      <dgm:spPr/>
      <dgm:t>
        <a:bodyPr/>
        <a:lstStyle/>
        <a:p>
          <a:pPr algn="ctr"/>
          <a:endParaRPr lang="en-US"/>
        </a:p>
      </dgm:t>
    </dgm:pt>
    <dgm:pt modelId="{CC748CC3-A0D6-4140-803E-7FE708C9400B}">
      <dgm:prSet phldrT="[Text]" custT="1">
        <dgm:style>
          <a:lnRef idx="2">
            <a:schemeClr val="accent4"/>
          </a:lnRef>
          <a:fillRef idx="1">
            <a:schemeClr val="lt1"/>
          </a:fillRef>
          <a:effectRef idx="0">
            <a:schemeClr val="accent4"/>
          </a:effectRef>
          <a:fontRef idx="minor">
            <a:schemeClr val="dk1"/>
          </a:fontRef>
        </dgm:style>
      </dgm:prSet>
      <dgm:spPr/>
      <dgm:t>
        <a:bodyPr/>
        <a:lstStyle/>
        <a:p>
          <a:pPr algn="ctr">
            <a:lnSpc>
              <a:spcPct val="100000"/>
            </a:lnSpc>
            <a:spcAft>
              <a:spcPts val="600"/>
            </a:spcAft>
          </a:pPr>
          <a:r>
            <a:rPr lang="en-US" sz="1600" b="0" dirty="0">
              <a:solidFill>
                <a:srgbClr val="FF0000"/>
              </a:solidFill>
            </a:rPr>
            <a:t>transduction principle</a:t>
          </a:r>
        </a:p>
      </dgm:t>
    </dgm:pt>
    <dgm:pt modelId="{4261D45D-7465-472D-B59C-167EFFA93603}" type="parTrans" cxnId="{87A618C6-6C69-462A-8488-685DC29616F0}">
      <dgm:prSet/>
      <dgm:spPr/>
      <dgm:t>
        <a:bodyPr/>
        <a:lstStyle/>
        <a:p>
          <a:pPr algn="ctr"/>
          <a:endParaRPr lang="en-US"/>
        </a:p>
      </dgm:t>
    </dgm:pt>
    <dgm:pt modelId="{7FE6606D-8767-4699-8AD9-D05451CB108E}" type="sibTrans" cxnId="{87A618C6-6C69-462A-8488-685DC29616F0}">
      <dgm:prSet/>
      <dgm:spPr/>
      <dgm:t>
        <a:bodyPr/>
        <a:lstStyle/>
        <a:p>
          <a:pPr algn="ctr"/>
          <a:endParaRPr lang="en-US"/>
        </a:p>
      </dgm:t>
    </dgm:pt>
    <dgm:pt modelId="{DD5C4306-7710-4EBE-AF85-DF512AC7BF6A}">
      <dgm:prSet phldrT="[Text]" custT="1">
        <dgm:style>
          <a:lnRef idx="2">
            <a:schemeClr val="accent4"/>
          </a:lnRef>
          <a:fillRef idx="1">
            <a:schemeClr val="lt1"/>
          </a:fillRef>
          <a:effectRef idx="0">
            <a:schemeClr val="accent4"/>
          </a:effectRef>
          <a:fontRef idx="minor">
            <a:schemeClr val="dk1"/>
          </a:fontRef>
        </dgm:style>
      </dgm:prSet>
      <dgm:spPr/>
      <dgm:t>
        <a:bodyPr/>
        <a:lstStyle/>
        <a:p>
          <a:pPr algn="ctr">
            <a:lnSpc>
              <a:spcPct val="100000"/>
            </a:lnSpc>
          </a:pPr>
          <a:r>
            <a:rPr lang="en-US" sz="1600" b="0" dirty="0">
              <a:solidFill>
                <a:srgbClr val="FF0000"/>
              </a:solidFill>
            </a:rPr>
            <a:t>form of output</a:t>
          </a:r>
        </a:p>
      </dgm:t>
    </dgm:pt>
    <dgm:pt modelId="{4C589165-856D-4B80-9B64-3C2598010CF8}" type="parTrans" cxnId="{58C98B50-EB2B-4D72-B8C2-333F083FDEA2}">
      <dgm:prSet/>
      <dgm:spPr/>
      <dgm:t>
        <a:bodyPr/>
        <a:lstStyle/>
        <a:p>
          <a:pPr algn="ctr"/>
          <a:endParaRPr lang="en-US"/>
        </a:p>
      </dgm:t>
    </dgm:pt>
    <dgm:pt modelId="{19AD00C2-6654-4381-8225-8BC40638638F}" type="sibTrans" cxnId="{58C98B50-EB2B-4D72-B8C2-333F083FDEA2}">
      <dgm:prSet/>
      <dgm:spPr/>
      <dgm:t>
        <a:bodyPr/>
        <a:lstStyle/>
        <a:p>
          <a:pPr algn="ctr"/>
          <a:endParaRPr lang="en-US"/>
        </a:p>
      </dgm:t>
    </dgm:pt>
    <dgm:pt modelId="{8AE2D20A-AD9D-4434-9E95-2C1AE02613E5}">
      <dgm:prSet phldrT="[Text]" custT="1">
        <dgm:style>
          <a:lnRef idx="2">
            <a:schemeClr val="accent4"/>
          </a:lnRef>
          <a:fillRef idx="1">
            <a:schemeClr val="lt1"/>
          </a:fillRef>
          <a:effectRef idx="0">
            <a:schemeClr val="accent4"/>
          </a:effectRef>
          <a:fontRef idx="minor">
            <a:schemeClr val="dk1"/>
          </a:fontRef>
        </dgm:style>
      </dgm:prSet>
      <dgm:spPr/>
      <dgm:t>
        <a:bodyPr/>
        <a:lstStyle/>
        <a:p>
          <a:pPr algn="ctr">
            <a:lnSpc>
              <a:spcPct val="100000"/>
            </a:lnSpc>
          </a:pPr>
          <a:r>
            <a:rPr lang="en-US" sz="1400" b="0" dirty="0">
              <a:solidFill>
                <a:srgbClr val="FF0000"/>
              </a:solidFill>
            </a:rPr>
            <a:t>direct/indirect sensing </a:t>
          </a:r>
          <a:r>
            <a:rPr lang="en-US" sz="1400" b="0" dirty="0">
              <a:solidFill>
                <a:sysClr val="windowText" lastClr="000000"/>
              </a:solidFill>
            </a:rPr>
            <a:t>of measurand</a:t>
          </a:r>
          <a:endParaRPr lang="en-US" sz="1400" b="1" dirty="0">
            <a:solidFill>
              <a:sysClr val="windowText" lastClr="000000"/>
            </a:solidFill>
          </a:endParaRPr>
        </a:p>
      </dgm:t>
    </dgm:pt>
    <dgm:pt modelId="{F56DDBC9-146F-43A3-A641-86F72C372B42}" type="parTrans" cxnId="{3515DD91-7FB2-4819-9567-91E9ABB7FFC7}">
      <dgm:prSet/>
      <dgm:spPr/>
      <dgm:t>
        <a:bodyPr/>
        <a:lstStyle/>
        <a:p>
          <a:pPr algn="ctr"/>
          <a:endParaRPr lang="en-US"/>
        </a:p>
      </dgm:t>
    </dgm:pt>
    <dgm:pt modelId="{494CDA74-221E-4FA0-AB1B-1072ADA354EF}" type="sibTrans" cxnId="{3515DD91-7FB2-4819-9567-91E9ABB7FFC7}">
      <dgm:prSet/>
      <dgm:spPr/>
      <dgm:t>
        <a:bodyPr/>
        <a:lstStyle/>
        <a:p>
          <a:pPr algn="ctr"/>
          <a:endParaRPr lang="en-US"/>
        </a:p>
      </dgm:t>
    </dgm:pt>
    <dgm:pt modelId="{3C83F9CD-73F5-4336-90BB-772603CE613F}">
      <dgm:prSet phldrT="[Text]" custT="1">
        <dgm:style>
          <a:lnRef idx="2">
            <a:schemeClr val="accent4"/>
          </a:lnRef>
          <a:fillRef idx="1">
            <a:schemeClr val="lt1"/>
          </a:fillRef>
          <a:effectRef idx="0">
            <a:schemeClr val="accent4"/>
          </a:effectRef>
          <a:fontRef idx="minor">
            <a:schemeClr val="dk1"/>
          </a:fontRef>
        </dgm:style>
      </dgm:prSet>
      <dgm:spPr/>
      <dgm:t>
        <a:bodyPr/>
        <a:lstStyle/>
        <a:p>
          <a:pPr algn="ctr">
            <a:lnSpc>
              <a:spcPct val="100000"/>
            </a:lnSpc>
            <a:spcAft>
              <a:spcPts val="600"/>
            </a:spcAft>
          </a:pPr>
          <a:r>
            <a:rPr lang="en-US" sz="1400" b="0" dirty="0">
              <a:solidFill>
                <a:srgbClr val="FF0000"/>
              </a:solidFill>
            </a:rPr>
            <a:t>Need of excitation</a:t>
          </a:r>
          <a:r>
            <a:rPr lang="en-US" sz="1400" b="0" dirty="0"/>
            <a:t> for obtaining voltage / Current output</a:t>
          </a:r>
        </a:p>
      </dgm:t>
    </dgm:pt>
    <dgm:pt modelId="{C28FD3C9-1C2C-49CC-A769-7CACFEC67120}" type="sibTrans" cxnId="{FE8168C7-453E-449A-B014-8956847D9469}">
      <dgm:prSet/>
      <dgm:spPr/>
      <dgm:t>
        <a:bodyPr/>
        <a:lstStyle/>
        <a:p>
          <a:pPr algn="ctr"/>
          <a:endParaRPr lang="en-US"/>
        </a:p>
      </dgm:t>
    </dgm:pt>
    <dgm:pt modelId="{B6700069-E2CA-44B5-90E0-E69AE42D6D27}" type="parTrans" cxnId="{FE8168C7-453E-449A-B014-8956847D9469}">
      <dgm:prSet/>
      <dgm:spPr/>
      <dgm:t>
        <a:bodyPr/>
        <a:lstStyle/>
        <a:p>
          <a:pPr algn="ctr"/>
          <a:endParaRPr lang="en-US"/>
        </a:p>
      </dgm:t>
    </dgm:pt>
    <dgm:pt modelId="{DDB6ABAE-EFB4-4F19-957E-E93BE48A859F}" type="pres">
      <dgm:prSet presAssocID="{2869B3FC-8034-49F1-B102-41CF72365BCC}" presName="hierChild1" presStyleCnt="0">
        <dgm:presLayoutVars>
          <dgm:orgChart val="1"/>
          <dgm:chPref val="1"/>
          <dgm:dir/>
          <dgm:animOne val="branch"/>
          <dgm:animLvl val="lvl"/>
          <dgm:resizeHandles/>
        </dgm:presLayoutVars>
      </dgm:prSet>
      <dgm:spPr/>
      <dgm:t>
        <a:bodyPr/>
        <a:lstStyle/>
        <a:p>
          <a:endParaRPr lang="en-US"/>
        </a:p>
      </dgm:t>
    </dgm:pt>
    <dgm:pt modelId="{6E06E2DF-8855-4172-A388-3F9A04145F42}" type="pres">
      <dgm:prSet presAssocID="{9BE8D8F3-5F3A-4A4D-B624-FDE1F3DC2903}" presName="hierRoot1" presStyleCnt="0">
        <dgm:presLayoutVars>
          <dgm:hierBranch/>
        </dgm:presLayoutVars>
      </dgm:prSet>
      <dgm:spPr/>
    </dgm:pt>
    <dgm:pt modelId="{0C51D5CE-CAB8-4D61-895F-C83EF65FE2AA}" type="pres">
      <dgm:prSet presAssocID="{9BE8D8F3-5F3A-4A4D-B624-FDE1F3DC2903}" presName="rootComposite1" presStyleCnt="0"/>
      <dgm:spPr/>
    </dgm:pt>
    <dgm:pt modelId="{ED511D09-0042-4A6E-982A-0223433166E3}" type="pres">
      <dgm:prSet presAssocID="{9BE8D8F3-5F3A-4A4D-B624-FDE1F3DC2903}" presName="rootText1" presStyleLbl="node0" presStyleIdx="0" presStyleCnt="1" custAng="0" custScaleX="81698" custScaleY="53103" custLinFactNeighborX="-5587" custLinFactNeighborY="-199">
        <dgm:presLayoutVars>
          <dgm:chPref val="3"/>
        </dgm:presLayoutVars>
      </dgm:prSet>
      <dgm:spPr>
        <a:prstGeom prst="roundRect">
          <a:avLst/>
        </a:prstGeom>
      </dgm:spPr>
      <dgm:t>
        <a:bodyPr/>
        <a:lstStyle/>
        <a:p>
          <a:endParaRPr lang="en-US"/>
        </a:p>
      </dgm:t>
    </dgm:pt>
    <dgm:pt modelId="{07C9B3F6-9CC9-4B1F-B2E0-5A39B75B1859}" type="pres">
      <dgm:prSet presAssocID="{9BE8D8F3-5F3A-4A4D-B624-FDE1F3DC2903}" presName="rootConnector1" presStyleLbl="node1" presStyleIdx="0" presStyleCnt="0"/>
      <dgm:spPr/>
      <dgm:t>
        <a:bodyPr/>
        <a:lstStyle/>
        <a:p>
          <a:endParaRPr lang="en-US"/>
        </a:p>
      </dgm:t>
    </dgm:pt>
    <dgm:pt modelId="{18BF333B-712A-416F-B323-35C1AB9C4F8F}" type="pres">
      <dgm:prSet presAssocID="{9BE8D8F3-5F3A-4A4D-B624-FDE1F3DC2903}" presName="hierChild2" presStyleCnt="0"/>
      <dgm:spPr/>
    </dgm:pt>
    <dgm:pt modelId="{2057CF09-687B-4EDB-96FC-93FFA978C767}" type="pres">
      <dgm:prSet presAssocID="{4261D45D-7465-472D-B59C-167EFFA93603}" presName="Name35" presStyleLbl="parChTrans1D2" presStyleIdx="0" presStyleCnt="4"/>
      <dgm:spPr/>
      <dgm:t>
        <a:bodyPr/>
        <a:lstStyle/>
        <a:p>
          <a:endParaRPr lang="en-US"/>
        </a:p>
      </dgm:t>
    </dgm:pt>
    <dgm:pt modelId="{22C3AA91-357B-4315-94A4-335C6BED7739}" type="pres">
      <dgm:prSet presAssocID="{CC748CC3-A0D6-4140-803E-7FE708C9400B}" presName="hierRoot2" presStyleCnt="0">
        <dgm:presLayoutVars>
          <dgm:hierBranch/>
        </dgm:presLayoutVars>
      </dgm:prSet>
      <dgm:spPr/>
    </dgm:pt>
    <dgm:pt modelId="{ECAAD804-F93E-4D79-BA21-9DF0578ECCF2}" type="pres">
      <dgm:prSet presAssocID="{CC748CC3-A0D6-4140-803E-7FE708C9400B}" presName="rootComposite" presStyleCnt="0"/>
      <dgm:spPr/>
    </dgm:pt>
    <dgm:pt modelId="{8B4B1D55-4109-4EAC-810B-1FE9ADCC136A}" type="pres">
      <dgm:prSet presAssocID="{CC748CC3-A0D6-4140-803E-7FE708C9400B}" presName="rootText" presStyleLbl="node2" presStyleIdx="0" presStyleCnt="4" custAng="0" custScaleX="64212" custScaleY="61715" custLinFactNeighborX="3109" custLinFactNeighborY="-7767">
        <dgm:presLayoutVars>
          <dgm:chPref val="3"/>
        </dgm:presLayoutVars>
      </dgm:prSet>
      <dgm:spPr>
        <a:prstGeom prst="roundRect">
          <a:avLst/>
        </a:prstGeom>
      </dgm:spPr>
      <dgm:t>
        <a:bodyPr/>
        <a:lstStyle/>
        <a:p>
          <a:endParaRPr lang="en-US"/>
        </a:p>
      </dgm:t>
    </dgm:pt>
    <dgm:pt modelId="{54AC4C62-5E7D-4180-A1ED-F587CA3A7225}" type="pres">
      <dgm:prSet presAssocID="{CC748CC3-A0D6-4140-803E-7FE708C9400B}" presName="rootConnector" presStyleLbl="node2" presStyleIdx="0" presStyleCnt="4"/>
      <dgm:spPr/>
      <dgm:t>
        <a:bodyPr/>
        <a:lstStyle/>
        <a:p>
          <a:endParaRPr lang="en-US"/>
        </a:p>
      </dgm:t>
    </dgm:pt>
    <dgm:pt modelId="{0D76BF9B-2635-4D3B-96D4-5205ECCDF78E}" type="pres">
      <dgm:prSet presAssocID="{CC748CC3-A0D6-4140-803E-7FE708C9400B}" presName="hierChild4" presStyleCnt="0"/>
      <dgm:spPr/>
    </dgm:pt>
    <dgm:pt modelId="{1AA94337-7954-4806-84B0-029A381A2CD7}" type="pres">
      <dgm:prSet presAssocID="{CC748CC3-A0D6-4140-803E-7FE708C9400B}" presName="hierChild5" presStyleCnt="0"/>
      <dgm:spPr/>
    </dgm:pt>
    <dgm:pt modelId="{88582297-885F-4C6B-96B5-5E53AFA2DD64}" type="pres">
      <dgm:prSet presAssocID="{B6700069-E2CA-44B5-90E0-E69AE42D6D27}" presName="Name35" presStyleLbl="parChTrans1D2" presStyleIdx="1" presStyleCnt="4"/>
      <dgm:spPr/>
      <dgm:t>
        <a:bodyPr/>
        <a:lstStyle/>
        <a:p>
          <a:endParaRPr lang="en-US"/>
        </a:p>
      </dgm:t>
    </dgm:pt>
    <dgm:pt modelId="{0520697E-B83B-438F-9038-0AADEB188CF7}" type="pres">
      <dgm:prSet presAssocID="{3C83F9CD-73F5-4336-90BB-772603CE613F}" presName="hierRoot2" presStyleCnt="0">
        <dgm:presLayoutVars>
          <dgm:hierBranch val="init"/>
        </dgm:presLayoutVars>
      </dgm:prSet>
      <dgm:spPr/>
    </dgm:pt>
    <dgm:pt modelId="{1B0C15BA-FE55-44EE-BBA6-51C44D235186}" type="pres">
      <dgm:prSet presAssocID="{3C83F9CD-73F5-4336-90BB-772603CE613F}" presName="rootComposite" presStyleCnt="0"/>
      <dgm:spPr/>
    </dgm:pt>
    <dgm:pt modelId="{706E8FA2-6936-4CBB-8726-895962EE0D8D}" type="pres">
      <dgm:prSet presAssocID="{3C83F9CD-73F5-4336-90BB-772603CE613F}" presName="rootText" presStyleLbl="node2" presStyleIdx="1" presStyleCnt="4" custScaleX="101709" custScaleY="70669" custLinFactNeighborY="-8190">
        <dgm:presLayoutVars>
          <dgm:chPref val="3"/>
        </dgm:presLayoutVars>
      </dgm:prSet>
      <dgm:spPr>
        <a:prstGeom prst="roundRect">
          <a:avLst/>
        </a:prstGeom>
      </dgm:spPr>
      <dgm:t>
        <a:bodyPr/>
        <a:lstStyle/>
        <a:p>
          <a:endParaRPr lang="en-US"/>
        </a:p>
      </dgm:t>
    </dgm:pt>
    <dgm:pt modelId="{F9333ECD-B481-4663-ABE8-10E03B9D0957}" type="pres">
      <dgm:prSet presAssocID="{3C83F9CD-73F5-4336-90BB-772603CE613F}" presName="rootConnector" presStyleLbl="node2" presStyleIdx="1" presStyleCnt="4"/>
      <dgm:spPr/>
      <dgm:t>
        <a:bodyPr/>
        <a:lstStyle/>
        <a:p>
          <a:endParaRPr lang="en-US"/>
        </a:p>
      </dgm:t>
    </dgm:pt>
    <dgm:pt modelId="{EE49576C-0E00-4C13-BBB1-F93CC26F7725}" type="pres">
      <dgm:prSet presAssocID="{3C83F9CD-73F5-4336-90BB-772603CE613F}" presName="hierChild4" presStyleCnt="0"/>
      <dgm:spPr/>
    </dgm:pt>
    <dgm:pt modelId="{B3836D88-8DE2-4805-A992-5CF3A93C4194}" type="pres">
      <dgm:prSet presAssocID="{3C83F9CD-73F5-4336-90BB-772603CE613F}" presName="hierChild5" presStyleCnt="0"/>
      <dgm:spPr/>
    </dgm:pt>
    <dgm:pt modelId="{C7E63410-F838-4247-9498-21AC24F9CC4E}" type="pres">
      <dgm:prSet presAssocID="{F56DDBC9-146F-43A3-A641-86F72C372B42}" presName="Name35" presStyleLbl="parChTrans1D2" presStyleIdx="2" presStyleCnt="4"/>
      <dgm:spPr/>
      <dgm:t>
        <a:bodyPr/>
        <a:lstStyle/>
        <a:p>
          <a:endParaRPr lang="en-US"/>
        </a:p>
      </dgm:t>
    </dgm:pt>
    <dgm:pt modelId="{2D8B11A9-D8A1-4985-A927-0FE673AC560F}" type="pres">
      <dgm:prSet presAssocID="{8AE2D20A-AD9D-4434-9E95-2C1AE02613E5}" presName="hierRoot2" presStyleCnt="0">
        <dgm:presLayoutVars>
          <dgm:hierBranch val="init"/>
        </dgm:presLayoutVars>
      </dgm:prSet>
      <dgm:spPr/>
    </dgm:pt>
    <dgm:pt modelId="{5768554F-A4D9-49D8-AE41-5E390B1B83AD}" type="pres">
      <dgm:prSet presAssocID="{8AE2D20A-AD9D-4434-9E95-2C1AE02613E5}" presName="rootComposite" presStyleCnt="0"/>
      <dgm:spPr/>
    </dgm:pt>
    <dgm:pt modelId="{6A2C42B5-4165-4E54-87EF-4AD3FD852189}" type="pres">
      <dgm:prSet presAssocID="{8AE2D20A-AD9D-4434-9E95-2C1AE02613E5}" presName="rootText" presStyleLbl="node2" presStyleIdx="2" presStyleCnt="4" custScaleX="93078" custScaleY="61261" custLinFactNeighborX="-1717" custLinFactNeighborY="-8177">
        <dgm:presLayoutVars>
          <dgm:chPref val="3"/>
        </dgm:presLayoutVars>
      </dgm:prSet>
      <dgm:spPr>
        <a:prstGeom prst="roundRect">
          <a:avLst/>
        </a:prstGeom>
      </dgm:spPr>
      <dgm:t>
        <a:bodyPr/>
        <a:lstStyle/>
        <a:p>
          <a:endParaRPr lang="en-US"/>
        </a:p>
      </dgm:t>
    </dgm:pt>
    <dgm:pt modelId="{51CDA7CF-B507-4DA7-BC9B-0F9768863A20}" type="pres">
      <dgm:prSet presAssocID="{8AE2D20A-AD9D-4434-9E95-2C1AE02613E5}" presName="rootConnector" presStyleLbl="node2" presStyleIdx="2" presStyleCnt="4"/>
      <dgm:spPr/>
      <dgm:t>
        <a:bodyPr/>
        <a:lstStyle/>
        <a:p>
          <a:endParaRPr lang="en-US"/>
        </a:p>
      </dgm:t>
    </dgm:pt>
    <dgm:pt modelId="{24209A46-0810-4383-ADEE-AAF617F203A2}" type="pres">
      <dgm:prSet presAssocID="{8AE2D20A-AD9D-4434-9E95-2C1AE02613E5}" presName="hierChild4" presStyleCnt="0"/>
      <dgm:spPr/>
    </dgm:pt>
    <dgm:pt modelId="{4BDBA313-189E-4C86-8953-62E2E6CFA19E}" type="pres">
      <dgm:prSet presAssocID="{8AE2D20A-AD9D-4434-9E95-2C1AE02613E5}" presName="hierChild5" presStyleCnt="0"/>
      <dgm:spPr/>
    </dgm:pt>
    <dgm:pt modelId="{753705B3-70AD-4043-A30B-9E45543CDD19}" type="pres">
      <dgm:prSet presAssocID="{4C589165-856D-4B80-9B64-3C2598010CF8}" presName="Name35" presStyleLbl="parChTrans1D2" presStyleIdx="3" presStyleCnt="4"/>
      <dgm:spPr/>
      <dgm:t>
        <a:bodyPr/>
        <a:lstStyle/>
        <a:p>
          <a:endParaRPr lang="en-US"/>
        </a:p>
      </dgm:t>
    </dgm:pt>
    <dgm:pt modelId="{77412081-4290-49B1-8AF5-CC84958AD480}" type="pres">
      <dgm:prSet presAssocID="{DD5C4306-7710-4EBE-AF85-DF512AC7BF6A}" presName="hierRoot2" presStyleCnt="0">
        <dgm:presLayoutVars>
          <dgm:hierBranch/>
        </dgm:presLayoutVars>
      </dgm:prSet>
      <dgm:spPr/>
    </dgm:pt>
    <dgm:pt modelId="{7F9B84A6-3FDA-432A-8E77-6F3505917949}" type="pres">
      <dgm:prSet presAssocID="{DD5C4306-7710-4EBE-AF85-DF512AC7BF6A}" presName="rootComposite" presStyleCnt="0"/>
      <dgm:spPr/>
    </dgm:pt>
    <dgm:pt modelId="{B6B0517D-75EE-4348-A046-59D20D13D888}" type="pres">
      <dgm:prSet presAssocID="{DD5C4306-7710-4EBE-AF85-DF512AC7BF6A}" presName="rootText" presStyleLbl="node2" presStyleIdx="3" presStyleCnt="4" custAng="0" custScaleX="44674" custScaleY="61625" custLinFactNeighborX="-7931" custLinFactNeighborY="-7767">
        <dgm:presLayoutVars>
          <dgm:chPref val="3"/>
        </dgm:presLayoutVars>
      </dgm:prSet>
      <dgm:spPr>
        <a:prstGeom prst="roundRect">
          <a:avLst/>
        </a:prstGeom>
      </dgm:spPr>
      <dgm:t>
        <a:bodyPr/>
        <a:lstStyle/>
        <a:p>
          <a:endParaRPr lang="en-US"/>
        </a:p>
      </dgm:t>
    </dgm:pt>
    <dgm:pt modelId="{57512722-7A43-4844-9D6C-EEF228AC7CA3}" type="pres">
      <dgm:prSet presAssocID="{DD5C4306-7710-4EBE-AF85-DF512AC7BF6A}" presName="rootConnector" presStyleLbl="node2" presStyleIdx="3" presStyleCnt="4"/>
      <dgm:spPr/>
      <dgm:t>
        <a:bodyPr/>
        <a:lstStyle/>
        <a:p>
          <a:endParaRPr lang="en-US"/>
        </a:p>
      </dgm:t>
    </dgm:pt>
    <dgm:pt modelId="{3662C584-D568-4CE9-BD98-196D5B6805BE}" type="pres">
      <dgm:prSet presAssocID="{DD5C4306-7710-4EBE-AF85-DF512AC7BF6A}" presName="hierChild4" presStyleCnt="0"/>
      <dgm:spPr/>
    </dgm:pt>
    <dgm:pt modelId="{FD7F4C23-A8C5-4FE8-948C-41691CA7F141}" type="pres">
      <dgm:prSet presAssocID="{DD5C4306-7710-4EBE-AF85-DF512AC7BF6A}" presName="hierChild5" presStyleCnt="0"/>
      <dgm:spPr/>
    </dgm:pt>
    <dgm:pt modelId="{C216F9B7-F781-4277-A9D8-DE19F48949FF}" type="pres">
      <dgm:prSet presAssocID="{9BE8D8F3-5F3A-4A4D-B624-FDE1F3DC2903}" presName="hierChild3" presStyleCnt="0"/>
      <dgm:spPr/>
    </dgm:pt>
  </dgm:ptLst>
  <dgm:cxnLst>
    <dgm:cxn modelId="{87A618C6-6C69-462A-8488-685DC29616F0}" srcId="{9BE8D8F3-5F3A-4A4D-B624-FDE1F3DC2903}" destId="{CC748CC3-A0D6-4140-803E-7FE708C9400B}" srcOrd="0" destOrd="0" parTransId="{4261D45D-7465-472D-B59C-167EFFA93603}" sibTransId="{7FE6606D-8767-4699-8AD9-D05451CB108E}"/>
    <dgm:cxn modelId="{E143F8C0-6B7B-48E9-90AC-0AF2ADAD6029}" type="presOf" srcId="{F56DDBC9-146F-43A3-A641-86F72C372B42}" destId="{C7E63410-F838-4247-9498-21AC24F9CC4E}" srcOrd="0" destOrd="0" presId="urn:microsoft.com/office/officeart/2005/8/layout/orgChart1"/>
    <dgm:cxn modelId="{8AE18D01-386D-4273-954E-6A6A5BF3EB57}" type="presOf" srcId="{4C589165-856D-4B80-9B64-3C2598010CF8}" destId="{753705B3-70AD-4043-A30B-9E45543CDD19}" srcOrd="0" destOrd="0" presId="urn:microsoft.com/office/officeart/2005/8/layout/orgChart1"/>
    <dgm:cxn modelId="{D3A4F7C6-A394-48D7-8F30-8832ADE50555}" type="presOf" srcId="{DD5C4306-7710-4EBE-AF85-DF512AC7BF6A}" destId="{B6B0517D-75EE-4348-A046-59D20D13D888}" srcOrd="0" destOrd="0" presId="urn:microsoft.com/office/officeart/2005/8/layout/orgChart1"/>
    <dgm:cxn modelId="{4BCDB132-A3CB-4C9B-B007-1D9B510C8354}" type="presOf" srcId="{9BE8D8F3-5F3A-4A4D-B624-FDE1F3DC2903}" destId="{07C9B3F6-9CC9-4B1F-B2E0-5A39B75B1859}" srcOrd="1" destOrd="0" presId="urn:microsoft.com/office/officeart/2005/8/layout/orgChart1"/>
    <dgm:cxn modelId="{3515DD91-7FB2-4819-9567-91E9ABB7FFC7}" srcId="{9BE8D8F3-5F3A-4A4D-B624-FDE1F3DC2903}" destId="{8AE2D20A-AD9D-4434-9E95-2C1AE02613E5}" srcOrd="2" destOrd="0" parTransId="{F56DDBC9-146F-43A3-A641-86F72C372B42}" sibTransId="{494CDA74-221E-4FA0-AB1B-1072ADA354EF}"/>
    <dgm:cxn modelId="{1B267D0D-7106-4D72-B8BD-1BA0AE78C484}" type="presOf" srcId="{4261D45D-7465-472D-B59C-167EFFA93603}" destId="{2057CF09-687B-4EDB-96FC-93FFA978C767}" srcOrd="0" destOrd="0" presId="urn:microsoft.com/office/officeart/2005/8/layout/orgChart1"/>
    <dgm:cxn modelId="{6DBE92EB-9C31-40CD-8C63-676EA260638E}" type="presOf" srcId="{2869B3FC-8034-49F1-B102-41CF72365BCC}" destId="{DDB6ABAE-EFB4-4F19-957E-E93BE48A859F}" srcOrd="0" destOrd="0" presId="urn:microsoft.com/office/officeart/2005/8/layout/orgChart1"/>
    <dgm:cxn modelId="{8EFF794D-EC82-4CB9-AEF2-647F604AAAE4}" type="presOf" srcId="{3C83F9CD-73F5-4336-90BB-772603CE613F}" destId="{F9333ECD-B481-4663-ABE8-10E03B9D0957}" srcOrd="1" destOrd="0" presId="urn:microsoft.com/office/officeart/2005/8/layout/orgChart1"/>
    <dgm:cxn modelId="{58C98B50-EB2B-4D72-B8C2-333F083FDEA2}" srcId="{9BE8D8F3-5F3A-4A4D-B624-FDE1F3DC2903}" destId="{DD5C4306-7710-4EBE-AF85-DF512AC7BF6A}" srcOrd="3" destOrd="0" parTransId="{4C589165-856D-4B80-9B64-3C2598010CF8}" sibTransId="{19AD00C2-6654-4381-8225-8BC40638638F}"/>
    <dgm:cxn modelId="{7FE30A64-7ABB-4FCF-AB24-1AD28A2C328D}" type="presOf" srcId="{8AE2D20A-AD9D-4434-9E95-2C1AE02613E5}" destId="{6A2C42B5-4165-4E54-87EF-4AD3FD852189}" srcOrd="0" destOrd="0" presId="urn:microsoft.com/office/officeart/2005/8/layout/orgChart1"/>
    <dgm:cxn modelId="{681672AC-98BF-4D57-AF84-9CE1779731A7}" type="presOf" srcId="{DD5C4306-7710-4EBE-AF85-DF512AC7BF6A}" destId="{57512722-7A43-4844-9D6C-EEF228AC7CA3}" srcOrd="1" destOrd="0" presId="urn:microsoft.com/office/officeart/2005/8/layout/orgChart1"/>
    <dgm:cxn modelId="{EF810D9D-0EE9-4108-BCBE-EB7E2AD626AD}" type="presOf" srcId="{CC748CC3-A0D6-4140-803E-7FE708C9400B}" destId="{54AC4C62-5E7D-4180-A1ED-F587CA3A7225}" srcOrd="1" destOrd="0" presId="urn:microsoft.com/office/officeart/2005/8/layout/orgChart1"/>
    <dgm:cxn modelId="{C3C687A0-5E62-4ADD-A2AA-CAD793329EFB}" type="presOf" srcId="{9BE8D8F3-5F3A-4A4D-B624-FDE1F3DC2903}" destId="{ED511D09-0042-4A6E-982A-0223433166E3}" srcOrd="0" destOrd="0" presId="urn:microsoft.com/office/officeart/2005/8/layout/orgChart1"/>
    <dgm:cxn modelId="{88BBC589-0645-4C1A-97B1-23BB9A51D378}" type="presOf" srcId="{8AE2D20A-AD9D-4434-9E95-2C1AE02613E5}" destId="{51CDA7CF-B507-4DA7-BC9B-0F9768863A20}" srcOrd="1" destOrd="0" presId="urn:microsoft.com/office/officeart/2005/8/layout/orgChart1"/>
    <dgm:cxn modelId="{5EA28DE2-62BE-4875-8403-601E8860B714}" type="presOf" srcId="{CC748CC3-A0D6-4140-803E-7FE708C9400B}" destId="{8B4B1D55-4109-4EAC-810B-1FE9ADCC136A}" srcOrd="0" destOrd="0" presId="urn:microsoft.com/office/officeart/2005/8/layout/orgChart1"/>
    <dgm:cxn modelId="{B1234E77-6394-4EE6-A235-95A2A7788F51}" type="presOf" srcId="{B6700069-E2CA-44B5-90E0-E69AE42D6D27}" destId="{88582297-885F-4C6B-96B5-5E53AFA2DD64}" srcOrd="0" destOrd="0" presId="urn:microsoft.com/office/officeart/2005/8/layout/orgChart1"/>
    <dgm:cxn modelId="{1A8442F4-7CCE-43C4-8965-F31F8E6A6381}" srcId="{2869B3FC-8034-49F1-B102-41CF72365BCC}" destId="{9BE8D8F3-5F3A-4A4D-B624-FDE1F3DC2903}" srcOrd="0" destOrd="0" parTransId="{B9A79057-56B1-407D-9BDD-BC0113A5DFBC}" sibTransId="{9C427495-851D-4A22-843F-0A609D21D552}"/>
    <dgm:cxn modelId="{FE8168C7-453E-449A-B014-8956847D9469}" srcId="{9BE8D8F3-5F3A-4A4D-B624-FDE1F3DC2903}" destId="{3C83F9CD-73F5-4336-90BB-772603CE613F}" srcOrd="1" destOrd="0" parTransId="{B6700069-E2CA-44B5-90E0-E69AE42D6D27}" sibTransId="{C28FD3C9-1C2C-49CC-A769-7CACFEC67120}"/>
    <dgm:cxn modelId="{818750B5-6279-4AC3-8C49-78C5F47FFD1B}" type="presOf" srcId="{3C83F9CD-73F5-4336-90BB-772603CE613F}" destId="{706E8FA2-6936-4CBB-8726-895962EE0D8D}" srcOrd="0" destOrd="0" presId="urn:microsoft.com/office/officeart/2005/8/layout/orgChart1"/>
    <dgm:cxn modelId="{5562E4A0-ECF9-4260-801C-52D495FBDD5B}" type="presParOf" srcId="{DDB6ABAE-EFB4-4F19-957E-E93BE48A859F}" destId="{6E06E2DF-8855-4172-A388-3F9A04145F42}" srcOrd="0" destOrd="0" presId="urn:microsoft.com/office/officeart/2005/8/layout/orgChart1"/>
    <dgm:cxn modelId="{DBB98816-73F0-4881-96EB-F58DC3FD8F91}" type="presParOf" srcId="{6E06E2DF-8855-4172-A388-3F9A04145F42}" destId="{0C51D5CE-CAB8-4D61-895F-C83EF65FE2AA}" srcOrd="0" destOrd="0" presId="urn:microsoft.com/office/officeart/2005/8/layout/orgChart1"/>
    <dgm:cxn modelId="{35F4FAB4-1470-4174-A526-67FED83B9E42}" type="presParOf" srcId="{0C51D5CE-CAB8-4D61-895F-C83EF65FE2AA}" destId="{ED511D09-0042-4A6E-982A-0223433166E3}" srcOrd="0" destOrd="0" presId="urn:microsoft.com/office/officeart/2005/8/layout/orgChart1"/>
    <dgm:cxn modelId="{F6E22CD5-0254-4D28-89F1-FB9BC2E068EE}" type="presParOf" srcId="{0C51D5CE-CAB8-4D61-895F-C83EF65FE2AA}" destId="{07C9B3F6-9CC9-4B1F-B2E0-5A39B75B1859}" srcOrd="1" destOrd="0" presId="urn:microsoft.com/office/officeart/2005/8/layout/orgChart1"/>
    <dgm:cxn modelId="{CF5220C7-E483-4AED-9AD9-8E75263B5A07}" type="presParOf" srcId="{6E06E2DF-8855-4172-A388-3F9A04145F42}" destId="{18BF333B-712A-416F-B323-35C1AB9C4F8F}" srcOrd="1" destOrd="0" presId="urn:microsoft.com/office/officeart/2005/8/layout/orgChart1"/>
    <dgm:cxn modelId="{A2D6B6FA-7F22-460D-9931-C553B9C8F3A7}" type="presParOf" srcId="{18BF333B-712A-416F-B323-35C1AB9C4F8F}" destId="{2057CF09-687B-4EDB-96FC-93FFA978C767}" srcOrd="0" destOrd="0" presId="urn:microsoft.com/office/officeart/2005/8/layout/orgChart1"/>
    <dgm:cxn modelId="{53ACC1D3-4B99-479F-A04A-9D73A21B1EEC}" type="presParOf" srcId="{18BF333B-712A-416F-B323-35C1AB9C4F8F}" destId="{22C3AA91-357B-4315-94A4-335C6BED7739}" srcOrd="1" destOrd="0" presId="urn:microsoft.com/office/officeart/2005/8/layout/orgChart1"/>
    <dgm:cxn modelId="{270E7896-EEA1-48B9-A79A-29F5E1D2B977}" type="presParOf" srcId="{22C3AA91-357B-4315-94A4-335C6BED7739}" destId="{ECAAD804-F93E-4D79-BA21-9DF0578ECCF2}" srcOrd="0" destOrd="0" presId="urn:microsoft.com/office/officeart/2005/8/layout/orgChart1"/>
    <dgm:cxn modelId="{FCCEF85D-D6BA-4FE6-A333-CEA9898F613C}" type="presParOf" srcId="{ECAAD804-F93E-4D79-BA21-9DF0578ECCF2}" destId="{8B4B1D55-4109-4EAC-810B-1FE9ADCC136A}" srcOrd="0" destOrd="0" presId="urn:microsoft.com/office/officeart/2005/8/layout/orgChart1"/>
    <dgm:cxn modelId="{ADA699B4-79DB-4C75-B87C-D08C75F6ACD0}" type="presParOf" srcId="{ECAAD804-F93E-4D79-BA21-9DF0578ECCF2}" destId="{54AC4C62-5E7D-4180-A1ED-F587CA3A7225}" srcOrd="1" destOrd="0" presId="urn:microsoft.com/office/officeart/2005/8/layout/orgChart1"/>
    <dgm:cxn modelId="{684E1521-658E-4633-9ED5-F414E8E973A0}" type="presParOf" srcId="{22C3AA91-357B-4315-94A4-335C6BED7739}" destId="{0D76BF9B-2635-4D3B-96D4-5205ECCDF78E}" srcOrd="1" destOrd="0" presId="urn:microsoft.com/office/officeart/2005/8/layout/orgChart1"/>
    <dgm:cxn modelId="{679C9342-0594-4205-B04B-F04387DF5254}" type="presParOf" srcId="{22C3AA91-357B-4315-94A4-335C6BED7739}" destId="{1AA94337-7954-4806-84B0-029A381A2CD7}" srcOrd="2" destOrd="0" presId="urn:microsoft.com/office/officeart/2005/8/layout/orgChart1"/>
    <dgm:cxn modelId="{EBC0EA90-8F91-4B31-B393-E2F6490A6C1E}" type="presParOf" srcId="{18BF333B-712A-416F-B323-35C1AB9C4F8F}" destId="{88582297-885F-4C6B-96B5-5E53AFA2DD64}" srcOrd="2" destOrd="0" presId="urn:microsoft.com/office/officeart/2005/8/layout/orgChart1"/>
    <dgm:cxn modelId="{FA65B6E9-73A0-45CD-B31D-2DE665D9B3E5}" type="presParOf" srcId="{18BF333B-712A-416F-B323-35C1AB9C4F8F}" destId="{0520697E-B83B-438F-9038-0AADEB188CF7}" srcOrd="3" destOrd="0" presId="urn:microsoft.com/office/officeart/2005/8/layout/orgChart1"/>
    <dgm:cxn modelId="{4277BAE1-03C8-4B23-9514-C32E548DFF93}" type="presParOf" srcId="{0520697E-B83B-438F-9038-0AADEB188CF7}" destId="{1B0C15BA-FE55-44EE-BBA6-51C44D235186}" srcOrd="0" destOrd="0" presId="urn:microsoft.com/office/officeart/2005/8/layout/orgChart1"/>
    <dgm:cxn modelId="{6EF5121E-FD71-4DDD-8DB7-922CB4942EC7}" type="presParOf" srcId="{1B0C15BA-FE55-44EE-BBA6-51C44D235186}" destId="{706E8FA2-6936-4CBB-8726-895962EE0D8D}" srcOrd="0" destOrd="0" presId="urn:microsoft.com/office/officeart/2005/8/layout/orgChart1"/>
    <dgm:cxn modelId="{47ED760B-3129-43C9-802D-BC168699E36D}" type="presParOf" srcId="{1B0C15BA-FE55-44EE-BBA6-51C44D235186}" destId="{F9333ECD-B481-4663-ABE8-10E03B9D0957}" srcOrd="1" destOrd="0" presId="urn:microsoft.com/office/officeart/2005/8/layout/orgChart1"/>
    <dgm:cxn modelId="{ECA7E6E2-51D2-451B-8917-B3AF66CBB684}" type="presParOf" srcId="{0520697E-B83B-438F-9038-0AADEB188CF7}" destId="{EE49576C-0E00-4C13-BBB1-F93CC26F7725}" srcOrd="1" destOrd="0" presId="urn:microsoft.com/office/officeart/2005/8/layout/orgChart1"/>
    <dgm:cxn modelId="{D9612947-C357-4B42-9CD1-C5D793B0DF44}" type="presParOf" srcId="{0520697E-B83B-438F-9038-0AADEB188CF7}" destId="{B3836D88-8DE2-4805-A992-5CF3A93C4194}" srcOrd="2" destOrd="0" presId="urn:microsoft.com/office/officeart/2005/8/layout/orgChart1"/>
    <dgm:cxn modelId="{1D742995-DE03-4E08-BF36-D0EFEC9F7B60}" type="presParOf" srcId="{18BF333B-712A-416F-B323-35C1AB9C4F8F}" destId="{C7E63410-F838-4247-9498-21AC24F9CC4E}" srcOrd="4" destOrd="0" presId="urn:microsoft.com/office/officeart/2005/8/layout/orgChart1"/>
    <dgm:cxn modelId="{85983AD1-473B-42DE-8F79-9CDAA6305529}" type="presParOf" srcId="{18BF333B-712A-416F-B323-35C1AB9C4F8F}" destId="{2D8B11A9-D8A1-4985-A927-0FE673AC560F}" srcOrd="5" destOrd="0" presId="urn:microsoft.com/office/officeart/2005/8/layout/orgChart1"/>
    <dgm:cxn modelId="{C5ABD670-6546-4857-B0D8-21D3E61C80D7}" type="presParOf" srcId="{2D8B11A9-D8A1-4985-A927-0FE673AC560F}" destId="{5768554F-A4D9-49D8-AE41-5E390B1B83AD}" srcOrd="0" destOrd="0" presId="urn:microsoft.com/office/officeart/2005/8/layout/orgChart1"/>
    <dgm:cxn modelId="{288B00CC-0CD9-40B1-A088-C8857B8CA238}" type="presParOf" srcId="{5768554F-A4D9-49D8-AE41-5E390B1B83AD}" destId="{6A2C42B5-4165-4E54-87EF-4AD3FD852189}" srcOrd="0" destOrd="0" presId="urn:microsoft.com/office/officeart/2005/8/layout/orgChart1"/>
    <dgm:cxn modelId="{D083B3BC-DC87-4BF7-8F5C-B2A456DF4D3A}" type="presParOf" srcId="{5768554F-A4D9-49D8-AE41-5E390B1B83AD}" destId="{51CDA7CF-B507-4DA7-BC9B-0F9768863A20}" srcOrd="1" destOrd="0" presId="urn:microsoft.com/office/officeart/2005/8/layout/orgChart1"/>
    <dgm:cxn modelId="{A7D1DC11-37D4-489D-92EB-85595DDF48FE}" type="presParOf" srcId="{2D8B11A9-D8A1-4985-A927-0FE673AC560F}" destId="{24209A46-0810-4383-ADEE-AAF617F203A2}" srcOrd="1" destOrd="0" presId="urn:microsoft.com/office/officeart/2005/8/layout/orgChart1"/>
    <dgm:cxn modelId="{4400D2AF-E6B9-46B2-B666-EFCEC0D06E98}" type="presParOf" srcId="{2D8B11A9-D8A1-4985-A927-0FE673AC560F}" destId="{4BDBA313-189E-4C86-8953-62E2E6CFA19E}" srcOrd="2" destOrd="0" presId="urn:microsoft.com/office/officeart/2005/8/layout/orgChart1"/>
    <dgm:cxn modelId="{D15E8E37-0208-4B33-8DA8-A39152DC0B06}" type="presParOf" srcId="{18BF333B-712A-416F-B323-35C1AB9C4F8F}" destId="{753705B3-70AD-4043-A30B-9E45543CDD19}" srcOrd="6" destOrd="0" presId="urn:microsoft.com/office/officeart/2005/8/layout/orgChart1"/>
    <dgm:cxn modelId="{94937195-ECF6-4D99-906C-4AEEC1E1FA4D}" type="presParOf" srcId="{18BF333B-712A-416F-B323-35C1AB9C4F8F}" destId="{77412081-4290-49B1-8AF5-CC84958AD480}" srcOrd="7" destOrd="0" presId="urn:microsoft.com/office/officeart/2005/8/layout/orgChart1"/>
    <dgm:cxn modelId="{7CBEA5F8-2B07-486C-9D4B-1B0AC99CC290}" type="presParOf" srcId="{77412081-4290-49B1-8AF5-CC84958AD480}" destId="{7F9B84A6-3FDA-432A-8E77-6F3505917949}" srcOrd="0" destOrd="0" presId="urn:microsoft.com/office/officeart/2005/8/layout/orgChart1"/>
    <dgm:cxn modelId="{8BB348E6-1CD4-4FDE-9FE0-CFD282C08687}" type="presParOf" srcId="{7F9B84A6-3FDA-432A-8E77-6F3505917949}" destId="{B6B0517D-75EE-4348-A046-59D20D13D888}" srcOrd="0" destOrd="0" presId="urn:microsoft.com/office/officeart/2005/8/layout/orgChart1"/>
    <dgm:cxn modelId="{AA0ED01E-B6BE-4A7A-A2EF-40B66E4C6088}" type="presParOf" srcId="{7F9B84A6-3FDA-432A-8E77-6F3505917949}" destId="{57512722-7A43-4844-9D6C-EEF228AC7CA3}" srcOrd="1" destOrd="0" presId="urn:microsoft.com/office/officeart/2005/8/layout/orgChart1"/>
    <dgm:cxn modelId="{889CB821-53D9-4499-A4B2-2F0C0B091E0C}" type="presParOf" srcId="{77412081-4290-49B1-8AF5-CC84958AD480}" destId="{3662C584-D568-4CE9-BD98-196D5B6805BE}" srcOrd="1" destOrd="0" presId="urn:microsoft.com/office/officeart/2005/8/layout/orgChart1"/>
    <dgm:cxn modelId="{85F93973-BB9A-4A98-85E1-77227086F2DD}" type="presParOf" srcId="{77412081-4290-49B1-8AF5-CC84958AD480}" destId="{FD7F4C23-A8C5-4FE8-948C-41691CA7F141}" srcOrd="2" destOrd="0" presId="urn:microsoft.com/office/officeart/2005/8/layout/orgChart1"/>
    <dgm:cxn modelId="{0160417D-6DB3-4B92-9501-D1C1E55D55DE}" type="presParOf" srcId="{6E06E2DF-8855-4172-A388-3F9A04145F42}" destId="{C216F9B7-F781-4277-A9D8-DE19F48949FF}"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69B3FC-8034-49F1-B102-41CF72365BCC}" type="doc">
      <dgm:prSet loTypeId="urn:microsoft.com/office/officeart/2005/8/layout/orgChart1" loCatId="hierarchy" qsTypeId="urn:microsoft.com/office/officeart/2005/8/quickstyle/simple3" qsCatId="simple" csTypeId="urn:microsoft.com/office/officeart/2005/8/colors/accent1_2" csCatId="accent1" phldr="1"/>
      <dgm:spPr/>
      <dgm:t>
        <a:bodyPr/>
        <a:lstStyle/>
        <a:p>
          <a:endParaRPr lang="en-US"/>
        </a:p>
      </dgm:t>
    </dgm:pt>
    <dgm:pt modelId="{9BE8D8F3-5F3A-4A4D-B624-FDE1F3DC2903}">
      <dgm:prSet phldrT="[Text]" custT="1"/>
      <dgm:spPr/>
      <dgm:t>
        <a:bodyPr/>
        <a:lstStyle/>
        <a:p>
          <a:pPr algn="ctr"/>
          <a:r>
            <a:rPr lang="en-US" sz="1400" b="1" baseline="0" dirty="0"/>
            <a:t>Strain Gauge</a:t>
          </a:r>
        </a:p>
      </dgm:t>
    </dgm:pt>
    <dgm:pt modelId="{B9A79057-56B1-407D-9BDD-BC0113A5DFBC}" type="parTrans" cxnId="{1A8442F4-7CCE-43C4-8965-F31F8E6A6381}">
      <dgm:prSet/>
      <dgm:spPr/>
      <dgm:t>
        <a:bodyPr/>
        <a:lstStyle/>
        <a:p>
          <a:pPr algn="ctr"/>
          <a:endParaRPr lang="en-US"/>
        </a:p>
      </dgm:t>
    </dgm:pt>
    <dgm:pt modelId="{9C427495-851D-4A22-843F-0A609D21D552}" type="sibTrans" cxnId="{1A8442F4-7CCE-43C4-8965-F31F8E6A6381}">
      <dgm:prSet/>
      <dgm:spPr/>
      <dgm:t>
        <a:bodyPr/>
        <a:lstStyle/>
        <a:p>
          <a:pPr algn="ctr"/>
          <a:endParaRPr lang="en-US"/>
        </a:p>
      </dgm:t>
    </dgm:pt>
    <dgm:pt modelId="{CC748CC3-A0D6-4140-803E-7FE708C9400B}">
      <dgm:prSet phldrT="[Text]" custT="1"/>
      <dgm:spPr/>
      <dgm:t>
        <a:bodyPr/>
        <a:lstStyle/>
        <a:p>
          <a:pPr algn="ctr">
            <a:lnSpc>
              <a:spcPct val="100000"/>
            </a:lnSpc>
            <a:spcAft>
              <a:spcPts val="600"/>
            </a:spcAft>
          </a:pPr>
          <a:r>
            <a:rPr lang="en-US" sz="1600" b="1" dirty="0">
              <a:solidFill>
                <a:srgbClr val="C00000"/>
              </a:solidFill>
            </a:rPr>
            <a:t>Semiconductor Type</a:t>
          </a:r>
        </a:p>
      </dgm:t>
    </dgm:pt>
    <dgm:pt modelId="{4261D45D-7465-472D-B59C-167EFFA93603}" type="parTrans" cxnId="{87A618C6-6C69-462A-8488-685DC29616F0}">
      <dgm:prSet/>
      <dgm:spPr/>
      <dgm:t>
        <a:bodyPr/>
        <a:lstStyle/>
        <a:p>
          <a:pPr algn="ctr"/>
          <a:endParaRPr lang="en-US"/>
        </a:p>
      </dgm:t>
    </dgm:pt>
    <dgm:pt modelId="{7FE6606D-8767-4699-8AD9-D05451CB108E}" type="sibTrans" cxnId="{87A618C6-6C69-462A-8488-685DC29616F0}">
      <dgm:prSet/>
      <dgm:spPr/>
      <dgm:t>
        <a:bodyPr/>
        <a:lstStyle/>
        <a:p>
          <a:pPr algn="ctr"/>
          <a:endParaRPr lang="en-US"/>
        </a:p>
      </dgm:t>
    </dgm:pt>
    <dgm:pt modelId="{8AE2D20A-AD9D-4434-9E95-2C1AE02613E5}">
      <dgm:prSet phldrT="[Text]" custT="1"/>
      <dgm:spPr/>
      <dgm:t>
        <a:bodyPr/>
        <a:lstStyle/>
        <a:p>
          <a:pPr algn="ctr">
            <a:lnSpc>
              <a:spcPct val="100000"/>
            </a:lnSpc>
          </a:pPr>
          <a:r>
            <a:rPr lang="en-US" sz="1600" b="1" dirty="0">
              <a:solidFill>
                <a:srgbClr val="C00000"/>
              </a:solidFill>
            </a:rPr>
            <a:t>Resistive Type</a:t>
          </a:r>
        </a:p>
      </dgm:t>
    </dgm:pt>
    <dgm:pt modelId="{F56DDBC9-146F-43A3-A641-86F72C372B42}" type="parTrans" cxnId="{3515DD91-7FB2-4819-9567-91E9ABB7FFC7}">
      <dgm:prSet/>
      <dgm:spPr/>
      <dgm:t>
        <a:bodyPr/>
        <a:lstStyle/>
        <a:p>
          <a:pPr algn="ctr"/>
          <a:endParaRPr lang="en-US"/>
        </a:p>
      </dgm:t>
    </dgm:pt>
    <dgm:pt modelId="{494CDA74-221E-4FA0-AB1B-1072ADA354EF}" type="sibTrans" cxnId="{3515DD91-7FB2-4819-9567-91E9ABB7FFC7}">
      <dgm:prSet/>
      <dgm:spPr/>
      <dgm:t>
        <a:bodyPr/>
        <a:lstStyle/>
        <a:p>
          <a:pPr algn="ctr"/>
          <a:endParaRPr lang="en-US"/>
        </a:p>
      </dgm:t>
    </dgm:pt>
    <dgm:pt modelId="{EF4D40F2-8BA9-4F7B-BEFC-B32BCEB2049A}">
      <dgm:prSet phldrT="[Text]" custT="1"/>
      <dgm:spPr/>
      <dgm:t>
        <a:bodyPr/>
        <a:lstStyle/>
        <a:p>
          <a:pPr algn="ctr">
            <a:lnSpc>
              <a:spcPct val="100000"/>
            </a:lnSpc>
          </a:pPr>
          <a:r>
            <a:rPr lang="en-US" sz="1800" b="1" dirty="0">
              <a:solidFill>
                <a:srgbClr val="C00000"/>
              </a:solidFill>
            </a:rPr>
            <a:t>Foil</a:t>
          </a:r>
        </a:p>
      </dgm:t>
    </dgm:pt>
    <dgm:pt modelId="{ED55A357-9264-4D26-92D7-49FC53B37592}" type="parTrans" cxnId="{97F28153-B2BE-4C5B-AADC-0A2008E424D5}">
      <dgm:prSet/>
      <dgm:spPr/>
      <dgm:t>
        <a:bodyPr/>
        <a:lstStyle/>
        <a:p>
          <a:endParaRPr lang="en-US"/>
        </a:p>
      </dgm:t>
    </dgm:pt>
    <dgm:pt modelId="{662710AB-DF3A-448F-A6E0-316DB842D402}" type="sibTrans" cxnId="{97F28153-B2BE-4C5B-AADC-0A2008E424D5}">
      <dgm:prSet/>
      <dgm:spPr/>
      <dgm:t>
        <a:bodyPr/>
        <a:lstStyle/>
        <a:p>
          <a:endParaRPr lang="en-US"/>
        </a:p>
      </dgm:t>
    </dgm:pt>
    <dgm:pt modelId="{D478C441-99E5-460F-8714-4FC20249E39A}">
      <dgm:prSet phldrT="[Text]" custT="1"/>
      <dgm:spPr/>
      <dgm:t>
        <a:bodyPr/>
        <a:lstStyle/>
        <a:p>
          <a:pPr algn="ctr">
            <a:lnSpc>
              <a:spcPct val="100000"/>
            </a:lnSpc>
          </a:pPr>
          <a:r>
            <a:rPr lang="en-US" sz="1800" b="1" dirty="0">
              <a:solidFill>
                <a:srgbClr val="C00000"/>
              </a:solidFill>
            </a:rPr>
            <a:t>Bounded</a:t>
          </a:r>
        </a:p>
      </dgm:t>
    </dgm:pt>
    <dgm:pt modelId="{902139EF-43D1-477F-BCBA-819D62B2F964}" type="parTrans" cxnId="{17EDCF82-5ED6-4BC7-8E8A-E1DAEA208E82}">
      <dgm:prSet/>
      <dgm:spPr/>
      <dgm:t>
        <a:bodyPr/>
        <a:lstStyle/>
        <a:p>
          <a:endParaRPr lang="en-US"/>
        </a:p>
      </dgm:t>
    </dgm:pt>
    <dgm:pt modelId="{C883AC11-BB77-405C-ADCC-AD214895069F}" type="sibTrans" cxnId="{17EDCF82-5ED6-4BC7-8E8A-E1DAEA208E82}">
      <dgm:prSet/>
      <dgm:spPr/>
      <dgm:t>
        <a:bodyPr/>
        <a:lstStyle/>
        <a:p>
          <a:endParaRPr lang="en-US"/>
        </a:p>
      </dgm:t>
    </dgm:pt>
    <dgm:pt modelId="{4EE93129-A6C0-4C11-BF9F-D7DFC26426A4}">
      <dgm:prSet phldrT="[Text]" custT="1"/>
      <dgm:spPr/>
      <dgm:t>
        <a:bodyPr/>
        <a:lstStyle/>
        <a:p>
          <a:pPr algn="ctr">
            <a:lnSpc>
              <a:spcPct val="100000"/>
            </a:lnSpc>
          </a:pPr>
          <a:r>
            <a:rPr lang="en-US" sz="1800" b="1" dirty="0">
              <a:solidFill>
                <a:srgbClr val="C00000"/>
              </a:solidFill>
            </a:rPr>
            <a:t>Unbounded</a:t>
          </a:r>
        </a:p>
      </dgm:t>
    </dgm:pt>
    <dgm:pt modelId="{93155232-D078-42AA-88C2-D63EC2780E90}" type="parTrans" cxnId="{D0842254-BF4E-47B6-A979-0FCB3B4925B1}">
      <dgm:prSet/>
      <dgm:spPr/>
      <dgm:t>
        <a:bodyPr/>
        <a:lstStyle/>
        <a:p>
          <a:endParaRPr lang="en-US"/>
        </a:p>
      </dgm:t>
    </dgm:pt>
    <dgm:pt modelId="{A0093696-95B4-4302-B85B-8D79A5074714}" type="sibTrans" cxnId="{D0842254-BF4E-47B6-A979-0FCB3B4925B1}">
      <dgm:prSet/>
      <dgm:spPr/>
      <dgm:t>
        <a:bodyPr/>
        <a:lstStyle/>
        <a:p>
          <a:endParaRPr lang="en-US"/>
        </a:p>
      </dgm:t>
    </dgm:pt>
    <dgm:pt modelId="{DDB6ABAE-EFB4-4F19-957E-E93BE48A859F}" type="pres">
      <dgm:prSet presAssocID="{2869B3FC-8034-49F1-B102-41CF72365BCC}" presName="hierChild1" presStyleCnt="0">
        <dgm:presLayoutVars>
          <dgm:orgChart val="1"/>
          <dgm:chPref val="1"/>
          <dgm:dir val="rev"/>
          <dgm:animOne val="branch"/>
          <dgm:animLvl val="lvl"/>
          <dgm:resizeHandles/>
        </dgm:presLayoutVars>
      </dgm:prSet>
      <dgm:spPr/>
      <dgm:t>
        <a:bodyPr/>
        <a:lstStyle/>
        <a:p>
          <a:endParaRPr lang="en-US"/>
        </a:p>
      </dgm:t>
    </dgm:pt>
    <dgm:pt modelId="{6E06E2DF-8855-4172-A388-3F9A04145F42}" type="pres">
      <dgm:prSet presAssocID="{9BE8D8F3-5F3A-4A4D-B624-FDE1F3DC2903}" presName="hierRoot1" presStyleCnt="0">
        <dgm:presLayoutVars>
          <dgm:hierBranch/>
        </dgm:presLayoutVars>
      </dgm:prSet>
      <dgm:spPr/>
    </dgm:pt>
    <dgm:pt modelId="{0C51D5CE-CAB8-4D61-895F-C83EF65FE2AA}" type="pres">
      <dgm:prSet presAssocID="{9BE8D8F3-5F3A-4A4D-B624-FDE1F3DC2903}" presName="rootComposite1" presStyleCnt="0"/>
      <dgm:spPr/>
    </dgm:pt>
    <dgm:pt modelId="{ED511D09-0042-4A6E-982A-0223433166E3}" type="pres">
      <dgm:prSet presAssocID="{9BE8D8F3-5F3A-4A4D-B624-FDE1F3DC2903}" presName="rootText1" presStyleLbl="node0" presStyleIdx="0" presStyleCnt="1" custAng="0" custScaleX="35834" custScaleY="19898" custLinFactNeighborX="9558" custLinFactNeighborY="-67">
        <dgm:presLayoutVars>
          <dgm:chPref val="3"/>
        </dgm:presLayoutVars>
      </dgm:prSet>
      <dgm:spPr/>
      <dgm:t>
        <a:bodyPr/>
        <a:lstStyle/>
        <a:p>
          <a:endParaRPr lang="en-US"/>
        </a:p>
      </dgm:t>
    </dgm:pt>
    <dgm:pt modelId="{07C9B3F6-9CC9-4B1F-B2E0-5A39B75B1859}" type="pres">
      <dgm:prSet presAssocID="{9BE8D8F3-5F3A-4A4D-B624-FDE1F3DC2903}" presName="rootConnector1" presStyleLbl="node1" presStyleIdx="0" presStyleCnt="0"/>
      <dgm:spPr/>
      <dgm:t>
        <a:bodyPr/>
        <a:lstStyle/>
        <a:p>
          <a:endParaRPr lang="en-US"/>
        </a:p>
      </dgm:t>
    </dgm:pt>
    <dgm:pt modelId="{18BF333B-712A-416F-B323-35C1AB9C4F8F}" type="pres">
      <dgm:prSet presAssocID="{9BE8D8F3-5F3A-4A4D-B624-FDE1F3DC2903}" presName="hierChild2" presStyleCnt="0"/>
      <dgm:spPr/>
    </dgm:pt>
    <dgm:pt modelId="{2057CF09-687B-4EDB-96FC-93FFA978C767}" type="pres">
      <dgm:prSet presAssocID="{4261D45D-7465-472D-B59C-167EFFA93603}" presName="Name35" presStyleLbl="parChTrans1D2" presStyleIdx="0" presStyleCnt="2"/>
      <dgm:spPr/>
      <dgm:t>
        <a:bodyPr/>
        <a:lstStyle/>
        <a:p>
          <a:endParaRPr lang="en-US"/>
        </a:p>
      </dgm:t>
    </dgm:pt>
    <dgm:pt modelId="{22C3AA91-357B-4315-94A4-335C6BED7739}" type="pres">
      <dgm:prSet presAssocID="{CC748CC3-A0D6-4140-803E-7FE708C9400B}" presName="hierRoot2" presStyleCnt="0">
        <dgm:presLayoutVars>
          <dgm:hierBranch/>
        </dgm:presLayoutVars>
      </dgm:prSet>
      <dgm:spPr/>
    </dgm:pt>
    <dgm:pt modelId="{ECAAD804-F93E-4D79-BA21-9DF0578ECCF2}" type="pres">
      <dgm:prSet presAssocID="{CC748CC3-A0D6-4140-803E-7FE708C9400B}" presName="rootComposite" presStyleCnt="0"/>
      <dgm:spPr/>
    </dgm:pt>
    <dgm:pt modelId="{8B4B1D55-4109-4EAC-810B-1FE9ADCC136A}" type="pres">
      <dgm:prSet presAssocID="{CC748CC3-A0D6-4140-803E-7FE708C9400B}" presName="rootText" presStyleLbl="node2" presStyleIdx="0" presStyleCnt="2" custAng="0" custScaleX="41877" custScaleY="31165" custLinFactNeighborX="22851" custLinFactNeighborY="-14402">
        <dgm:presLayoutVars>
          <dgm:chPref val="3"/>
        </dgm:presLayoutVars>
      </dgm:prSet>
      <dgm:spPr/>
      <dgm:t>
        <a:bodyPr/>
        <a:lstStyle/>
        <a:p>
          <a:endParaRPr lang="en-US"/>
        </a:p>
      </dgm:t>
    </dgm:pt>
    <dgm:pt modelId="{54AC4C62-5E7D-4180-A1ED-F587CA3A7225}" type="pres">
      <dgm:prSet presAssocID="{CC748CC3-A0D6-4140-803E-7FE708C9400B}" presName="rootConnector" presStyleLbl="node2" presStyleIdx="0" presStyleCnt="2"/>
      <dgm:spPr/>
      <dgm:t>
        <a:bodyPr/>
        <a:lstStyle/>
        <a:p>
          <a:endParaRPr lang="en-US"/>
        </a:p>
      </dgm:t>
    </dgm:pt>
    <dgm:pt modelId="{0D76BF9B-2635-4D3B-96D4-5205ECCDF78E}" type="pres">
      <dgm:prSet presAssocID="{CC748CC3-A0D6-4140-803E-7FE708C9400B}" presName="hierChild4" presStyleCnt="0"/>
      <dgm:spPr/>
    </dgm:pt>
    <dgm:pt modelId="{1AA94337-7954-4806-84B0-029A381A2CD7}" type="pres">
      <dgm:prSet presAssocID="{CC748CC3-A0D6-4140-803E-7FE708C9400B}" presName="hierChild5" presStyleCnt="0"/>
      <dgm:spPr/>
    </dgm:pt>
    <dgm:pt modelId="{C7E63410-F838-4247-9498-21AC24F9CC4E}" type="pres">
      <dgm:prSet presAssocID="{F56DDBC9-146F-43A3-A641-86F72C372B42}" presName="Name35" presStyleLbl="parChTrans1D2" presStyleIdx="1" presStyleCnt="2"/>
      <dgm:spPr/>
      <dgm:t>
        <a:bodyPr/>
        <a:lstStyle/>
        <a:p>
          <a:endParaRPr lang="en-US"/>
        </a:p>
      </dgm:t>
    </dgm:pt>
    <dgm:pt modelId="{2D8B11A9-D8A1-4985-A927-0FE673AC560F}" type="pres">
      <dgm:prSet presAssocID="{8AE2D20A-AD9D-4434-9E95-2C1AE02613E5}" presName="hierRoot2" presStyleCnt="0">
        <dgm:presLayoutVars>
          <dgm:hierBranch/>
        </dgm:presLayoutVars>
      </dgm:prSet>
      <dgm:spPr/>
    </dgm:pt>
    <dgm:pt modelId="{5768554F-A4D9-49D8-AE41-5E390B1B83AD}" type="pres">
      <dgm:prSet presAssocID="{8AE2D20A-AD9D-4434-9E95-2C1AE02613E5}" presName="rootComposite" presStyleCnt="0"/>
      <dgm:spPr/>
    </dgm:pt>
    <dgm:pt modelId="{6A2C42B5-4165-4E54-87EF-4AD3FD852189}" type="pres">
      <dgm:prSet presAssocID="{8AE2D20A-AD9D-4434-9E95-2C1AE02613E5}" presName="rootText" presStyleLbl="node2" presStyleIdx="1" presStyleCnt="2" custScaleX="32996" custScaleY="28877" custLinFactNeighborX="1682" custLinFactNeighborY="-14402">
        <dgm:presLayoutVars>
          <dgm:chPref val="3"/>
        </dgm:presLayoutVars>
      </dgm:prSet>
      <dgm:spPr/>
      <dgm:t>
        <a:bodyPr/>
        <a:lstStyle/>
        <a:p>
          <a:endParaRPr lang="en-US"/>
        </a:p>
      </dgm:t>
    </dgm:pt>
    <dgm:pt modelId="{51CDA7CF-B507-4DA7-BC9B-0F9768863A20}" type="pres">
      <dgm:prSet presAssocID="{8AE2D20A-AD9D-4434-9E95-2C1AE02613E5}" presName="rootConnector" presStyleLbl="node2" presStyleIdx="1" presStyleCnt="2"/>
      <dgm:spPr/>
      <dgm:t>
        <a:bodyPr/>
        <a:lstStyle/>
        <a:p>
          <a:endParaRPr lang="en-US"/>
        </a:p>
      </dgm:t>
    </dgm:pt>
    <dgm:pt modelId="{24209A46-0810-4383-ADEE-AAF617F203A2}" type="pres">
      <dgm:prSet presAssocID="{8AE2D20A-AD9D-4434-9E95-2C1AE02613E5}" presName="hierChild4" presStyleCnt="0"/>
      <dgm:spPr/>
    </dgm:pt>
    <dgm:pt modelId="{C7B9E8A1-CE05-49A0-873D-D18ECC8437CC}" type="pres">
      <dgm:prSet presAssocID="{ED55A357-9264-4D26-92D7-49FC53B37592}" presName="Name35" presStyleLbl="parChTrans1D3" presStyleIdx="0" presStyleCnt="3"/>
      <dgm:spPr/>
      <dgm:t>
        <a:bodyPr/>
        <a:lstStyle/>
        <a:p>
          <a:endParaRPr lang="en-US"/>
        </a:p>
      </dgm:t>
    </dgm:pt>
    <dgm:pt modelId="{41AA1464-7A3A-4254-B4AD-AB2774CC16CB}" type="pres">
      <dgm:prSet presAssocID="{EF4D40F2-8BA9-4F7B-BEFC-B32BCEB2049A}" presName="hierRoot2" presStyleCnt="0">
        <dgm:presLayoutVars>
          <dgm:hierBranch val="init"/>
        </dgm:presLayoutVars>
      </dgm:prSet>
      <dgm:spPr/>
    </dgm:pt>
    <dgm:pt modelId="{02490511-3C93-4308-A875-C1E5EF7C04FF}" type="pres">
      <dgm:prSet presAssocID="{EF4D40F2-8BA9-4F7B-BEFC-B32BCEB2049A}" presName="rootComposite" presStyleCnt="0"/>
      <dgm:spPr/>
    </dgm:pt>
    <dgm:pt modelId="{F9A2946F-1337-4184-B787-D111F5BF7DD1}" type="pres">
      <dgm:prSet presAssocID="{EF4D40F2-8BA9-4F7B-BEFC-B32BCEB2049A}" presName="rootText" presStyleLbl="node3" presStyleIdx="0" presStyleCnt="3" custScaleX="22753" custScaleY="17078" custLinFactNeighborX="-10645" custLinFactNeighborY="-26158">
        <dgm:presLayoutVars>
          <dgm:chPref val="3"/>
        </dgm:presLayoutVars>
      </dgm:prSet>
      <dgm:spPr/>
      <dgm:t>
        <a:bodyPr/>
        <a:lstStyle/>
        <a:p>
          <a:endParaRPr lang="en-US"/>
        </a:p>
      </dgm:t>
    </dgm:pt>
    <dgm:pt modelId="{DF9BCB43-2EB1-462C-AA6B-4987653B04C7}" type="pres">
      <dgm:prSet presAssocID="{EF4D40F2-8BA9-4F7B-BEFC-B32BCEB2049A}" presName="rootConnector" presStyleLbl="node3" presStyleIdx="0" presStyleCnt="3"/>
      <dgm:spPr/>
      <dgm:t>
        <a:bodyPr/>
        <a:lstStyle/>
        <a:p>
          <a:endParaRPr lang="en-US"/>
        </a:p>
      </dgm:t>
    </dgm:pt>
    <dgm:pt modelId="{85EFFFE6-F0EE-4878-A286-F444400E93B6}" type="pres">
      <dgm:prSet presAssocID="{EF4D40F2-8BA9-4F7B-BEFC-B32BCEB2049A}" presName="hierChild4" presStyleCnt="0"/>
      <dgm:spPr/>
    </dgm:pt>
    <dgm:pt modelId="{BBD0499F-BA8D-4129-BBA7-C641DFC8205A}" type="pres">
      <dgm:prSet presAssocID="{EF4D40F2-8BA9-4F7B-BEFC-B32BCEB2049A}" presName="hierChild5" presStyleCnt="0"/>
      <dgm:spPr/>
    </dgm:pt>
    <dgm:pt modelId="{59DF6772-D86A-40D9-BFF9-A5A7B99F504C}" type="pres">
      <dgm:prSet presAssocID="{902139EF-43D1-477F-BCBA-819D62B2F964}" presName="Name35" presStyleLbl="parChTrans1D3" presStyleIdx="1" presStyleCnt="3"/>
      <dgm:spPr/>
      <dgm:t>
        <a:bodyPr/>
        <a:lstStyle/>
        <a:p>
          <a:endParaRPr lang="en-US"/>
        </a:p>
      </dgm:t>
    </dgm:pt>
    <dgm:pt modelId="{2A97929D-E911-41E1-B065-C0220D951DE7}" type="pres">
      <dgm:prSet presAssocID="{D478C441-99E5-460F-8714-4FC20249E39A}" presName="hierRoot2" presStyleCnt="0">
        <dgm:presLayoutVars>
          <dgm:hierBranch val="init"/>
        </dgm:presLayoutVars>
      </dgm:prSet>
      <dgm:spPr/>
    </dgm:pt>
    <dgm:pt modelId="{777EF6C4-34B7-4C1F-A510-F236419FC37F}" type="pres">
      <dgm:prSet presAssocID="{D478C441-99E5-460F-8714-4FC20249E39A}" presName="rootComposite" presStyleCnt="0"/>
      <dgm:spPr/>
    </dgm:pt>
    <dgm:pt modelId="{7FB517EB-3D1D-4912-B009-598EF25D2F6D}" type="pres">
      <dgm:prSet presAssocID="{D478C441-99E5-460F-8714-4FC20249E39A}" presName="rootText" presStyleLbl="node3" presStyleIdx="1" presStyleCnt="3" custScaleX="27439" custScaleY="16704" custLinFactNeighborX="-6092" custLinFactNeighborY="-27124">
        <dgm:presLayoutVars>
          <dgm:chPref val="3"/>
        </dgm:presLayoutVars>
      </dgm:prSet>
      <dgm:spPr/>
      <dgm:t>
        <a:bodyPr/>
        <a:lstStyle/>
        <a:p>
          <a:endParaRPr lang="en-US"/>
        </a:p>
      </dgm:t>
    </dgm:pt>
    <dgm:pt modelId="{F4072036-1494-4E58-BE0E-9E7E5329E5F0}" type="pres">
      <dgm:prSet presAssocID="{D478C441-99E5-460F-8714-4FC20249E39A}" presName="rootConnector" presStyleLbl="node3" presStyleIdx="1" presStyleCnt="3"/>
      <dgm:spPr/>
      <dgm:t>
        <a:bodyPr/>
        <a:lstStyle/>
        <a:p>
          <a:endParaRPr lang="en-US"/>
        </a:p>
      </dgm:t>
    </dgm:pt>
    <dgm:pt modelId="{21478D66-C2BD-4AE0-AE5C-959139D6F673}" type="pres">
      <dgm:prSet presAssocID="{D478C441-99E5-460F-8714-4FC20249E39A}" presName="hierChild4" presStyleCnt="0"/>
      <dgm:spPr/>
    </dgm:pt>
    <dgm:pt modelId="{3ACB043C-373A-40FB-994E-53C265D044DD}" type="pres">
      <dgm:prSet presAssocID="{D478C441-99E5-460F-8714-4FC20249E39A}" presName="hierChild5" presStyleCnt="0"/>
      <dgm:spPr/>
    </dgm:pt>
    <dgm:pt modelId="{0B0185E1-D90E-4198-8752-F757A30125C4}" type="pres">
      <dgm:prSet presAssocID="{93155232-D078-42AA-88C2-D63EC2780E90}" presName="Name35" presStyleLbl="parChTrans1D3" presStyleIdx="2" presStyleCnt="3"/>
      <dgm:spPr/>
      <dgm:t>
        <a:bodyPr/>
        <a:lstStyle/>
        <a:p>
          <a:endParaRPr lang="en-US"/>
        </a:p>
      </dgm:t>
    </dgm:pt>
    <dgm:pt modelId="{71FCCCAB-002C-410C-9206-321854D80E82}" type="pres">
      <dgm:prSet presAssocID="{4EE93129-A6C0-4C11-BF9F-D7DFC26426A4}" presName="hierRoot2" presStyleCnt="0">
        <dgm:presLayoutVars>
          <dgm:hierBranch val="init"/>
        </dgm:presLayoutVars>
      </dgm:prSet>
      <dgm:spPr/>
    </dgm:pt>
    <dgm:pt modelId="{87DE666F-1ED2-4820-B039-E6372AB0639D}" type="pres">
      <dgm:prSet presAssocID="{4EE93129-A6C0-4C11-BF9F-D7DFC26426A4}" presName="rootComposite" presStyleCnt="0"/>
      <dgm:spPr/>
    </dgm:pt>
    <dgm:pt modelId="{2D4B1EA4-2A58-41CC-BC07-87FC1375ADD9}" type="pres">
      <dgm:prSet presAssocID="{4EE93129-A6C0-4C11-BF9F-D7DFC26426A4}" presName="rootText" presStyleLbl="node3" presStyleIdx="2" presStyleCnt="3" custScaleX="37299" custScaleY="20732" custLinFactNeighborX="2051" custLinFactNeighborY="-25947">
        <dgm:presLayoutVars>
          <dgm:chPref val="3"/>
        </dgm:presLayoutVars>
      </dgm:prSet>
      <dgm:spPr/>
      <dgm:t>
        <a:bodyPr/>
        <a:lstStyle/>
        <a:p>
          <a:endParaRPr lang="en-US"/>
        </a:p>
      </dgm:t>
    </dgm:pt>
    <dgm:pt modelId="{2287D009-01F0-4D7F-8FE4-FE98E2D0C5D8}" type="pres">
      <dgm:prSet presAssocID="{4EE93129-A6C0-4C11-BF9F-D7DFC26426A4}" presName="rootConnector" presStyleLbl="node3" presStyleIdx="2" presStyleCnt="3"/>
      <dgm:spPr/>
      <dgm:t>
        <a:bodyPr/>
        <a:lstStyle/>
        <a:p>
          <a:endParaRPr lang="en-US"/>
        </a:p>
      </dgm:t>
    </dgm:pt>
    <dgm:pt modelId="{BD334D15-EFA3-45D2-9186-4AF8BC8338EB}" type="pres">
      <dgm:prSet presAssocID="{4EE93129-A6C0-4C11-BF9F-D7DFC26426A4}" presName="hierChild4" presStyleCnt="0"/>
      <dgm:spPr/>
    </dgm:pt>
    <dgm:pt modelId="{DE87A095-8C06-42A8-BD53-906B94F378E7}" type="pres">
      <dgm:prSet presAssocID="{4EE93129-A6C0-4C11-BF9F-D7DFC26426A4}" presName="hierChild5" presStyleCnt="0"/>
      <dgm:spPr/>
    </dgm:pt>
    <dgm:pt modelId="{4BDBA313-189E-4C86-8953-62E2E6CFA19E}" type="pres">
      <dgm:prSet presAssocID="{8AE2D20A-AD9D-4434-9E95-2C1AE02613E5}" presName="hierChild5" presStyleCnt="0"/>
      <dgm:spPr/>
    </dgm:pt>
    <dgm:pt modelId="{C216F9B7-F781-4277-A9D8-DE19F48949FF}" type="pres">
      <dgm:prSet presAssocID="{9BE8D8F3-5F3A-4A4D-B624-FDE1F3DC2903}" presName="hierChild3" presStyleCnt="0"/>
      <dgm:spPr/>
    </dgm:pt>
  </dgm:ptLst>
  <dgm:cxnLst>
    <dgm:cxn modelId="{E13C7B0E-75E0-4CFA-A0D2-3A5AF2A7FC2B}" type="presOf" srcId="{ED55A357-9264-4D26-92D7-49FC53B37592}" destId="{C7B9E8A1-CE05-49A0-873D-D18ECC8437CC}" srcOrd="0" destOrd="0" presId="urn:microsoft.com/office/officeart/2005/8/layout/orgChart1"/>
    <dgm:cxn modelId="{295F35C3-63E5-4A85-80C6-7F880D0BE743}" type="presOf" srcId="{EF4D40F2-8BA9-4F7B-BEFC-B32BCEB2049A}" destId="{DF9BCB43-2EB1-462C-AA6B-4987653B04C7}" srcOrd="1" destOrd="0" presId="urn:microsoft.com/office/officeart/2005/8/layout/orgChart1"/>
    <dgm:cxn modelId="{85259FBB-EBAC-4D5F-A3FC-DF968770B6C2}" type="presOf" srcId="{9BE8D8F3-5F3A-4A4D-B624-FDE1F3DC2903}" destId="{ED511D09-0042-4A6E-982A-0223433166E3}" srcOrd="0" destOrd="0" presId="urn:microsoft.com/office/officeart/2005/8/layout/orgChart1"/>
    <dgm:cxn modelId="{59FDF5E1-FAFA-40B1-96BB-81A412E4B394}" type="presOf" srcId="{8AE2D20A-AD9D-4434-9E95-2C1AE02613E5}" destId="{6A2C42B5-4165-4E54-87EF-4AD3FD852189}" srcOrd="0" destOrd="0" presId="urn:microsoft.com/office/officeart/2005/8/layout/orgChart1"/>
    <dgm:cxn modelId="{97F28153-B2BE-4C5B-AADC-0A2008E424D5}" srcId="{8AE2D20A-AD9D-4434-9E95-2C1AE02613E5}" destId="{EF4D40F2-8BA9-4F7B-BEFC-B32BCEB2049A}" srcOrd="0" destOrd="0" parTransId="{ED55A357-9264-4D26-92D7-49FC53B37592}" sibTransId="{662710AB-DF3A-448F-A6E0-316DB842D402}"/>
    <dgm:cxn modelId="{7B5F7D8D-48F6-4599-9F4A-A96EFDCEBF67}" type="presOf" srcId="{CC748CC3-A0D6-4140-803E-7FE708C9400B}" destId="{54AC4C62-5E7D-4180-A1ED-F587CA3A7225}" srcOrd="1" destOrd="0" presId="urn:microsoft.com/office/officeart/2005/8/layout/orgChart1"/>
    <dgm:cxn modelId="{D0CFE55C-B35E-494C-BEFA-D951A29824C4}" type="presOf" srcId="{4261D45D-7465-472D-B59C-167EFFA93603}" destId="{2057CF09-687B-4EDB-96FC-93FFA978C767}" srcOrd="0" destOrd="0" presId="urn:microsoft.com/office/officeart/2005/8/layout/orgChart1"/>
    <dgm:cxn modelId="{32925CE5-D369-4610-8ED0-07C9D0EDFEF0}" type="presOf" srcId="{4EE93129-A6C0-4C11-BF9F-D7DFC26426A4}" destId="{2D4B1EA4-2A58-41CC-BC07-87FC1375ADD9}" srcOrd="0" destOrd="0" presId="urn:microsoft.com/office/officeart/2005/8/layout/orgChart1"/>
    <dgm:cxn modelId="{17EDCF82-5ED6-4BC7-8E8A-E1DAEA208E82}" srcId="{8AE2D20A-AD9D-4434-9E95-2C1AE02613E5}" destId="{D478C441-99E5-460F-8714-4FC20249E39A}" srcOrd="1" destOrd="0" parTransId="{902139EF-43D1-477F-BCBA-819D62B2F964}" sibTransId="{C883AC11-BB77-405C-ADCC-AD214895069F}"/>
    <dgm:cxn modelId="{0F6ECE92-6C27-49AC-8C11-015622626DF5}" type="presOf" srcId="{4EE93129-A6C0-4C11-BF9F-D7DFC26426A4}" destId="{2287D009-01F0-4D7F-8FE4-FE98E2D0C5D8}" srcOrd="1" destOrd="0" presId="urn:microsoft.com/office/officeart/2005/8/layout/orgChart1"/>
    <dgm:cxn modelId="{1ED567D1-E181-43A2-A2B9-5DD668F2EC74}" type="presOf" srcId="{93155232-D078-42AA-88C2-D63EC2780E90}" destId="{0B0185E1-D90E-4198-8752-F757A30125C4}" srcOrd="0" destOrd="0" presId="urn:microsoft.com/office/officeart/2005/8/layout/orgChart1"/>
    <dgm:cxn modelId="{1A8442F4-7CCE-43C4-8965-F31F8E6A6381}" srcId="{2869B3FC-8034-49F1-B102-41CF72365BCC}" destId="{9BE8D8F3-5F3A-4A4D-B624-FDE1F3DC2903}" srcOrd="0" destOrd="0" parTransId="{B9A79057-56B1-407D-9BDD-BC0113A5DFBC}" sibTransId="{9C427495-851D-4A22-843F-0A609D21D552}"/>
    <dgm:cxn modelId="{3515DD91-7FB2-4819-9567-91E9ABB7FFC7}" srcId="{9BE8D8F3-5F3A-4A4D-B624-FDE1F3DC2903}" destId="{8AE2D20A-AD9D-4434-9E95-2C1AE02613E5}" srcOrd="1" destOrd="0" parTransId="{F56DDBC9-146F-43A3-A641-86F72C372B42}" sibTransId="{494CDA74-221E-4FA0-AB1B-1072ADA354EF}"/>
    <dgm:cxn modelId="{D0842254-BF4E-47B6-A979-0FCB3B4925B1}" srcId="{8AE2D20A-AD9D-4434-9E95-2C1AE02613E5}" destId="{4EE93129-A6C0-4C11-BF9F-D7DFC26426A4}" srcOrd="2" destOrd="0" parTransId="{93155232-D078-42AA-88C2-D63EC2780E90}" sibTransId="{A0093696-95B4-4302-B85B-8D79A5074714}"/>
    <dgm:cxn modelId="{E6165209-DA12-4FFD-9A78-DF1783CC569C}" type="presOf" srcId="{F56DDBC9-146F-43A3-A641-86F72C372B42}" destId="{C7E63410-F838-4247-9498-21AC24F9CC4E}" srcOrd="0" destOrd="0" presId="urn:microsoft.com/office/officeart/2005/8/layout/orgChart1"/>
    <dgm:cxn modelId="{C8B4A4A5-C104-49FF-945E-ED4B1737D01B}" type="presOf" srcId="{D478C441-99E5-460F-8714-4FC20249E39A}" destId="{F4072036-1494-4E58-BE0E-9E7E5329E5F0}" srcOrd="1" destOrd="0" presId="urn:microsoft.com/office/officeart/2005/8/layout/orgChart1"/>
    <dgm:cxn modelId="{78219EFB-EF6E-42FD-94BA-A933F1384F30}" type="presOf" srcId="{902139EF-43D1-477F-BCBA-819D62B2F964}" destId="{59DF6772-D86A-40D9-BFF9-A5A7B99F504C}" srcOrd="0" destOrd="0" presId="urn:microsoft.com/office/officeart/2005/8/layout/orgChart1"/>
    <dgm:cxn modelId="{446BDD39-BC40-4FBE-BB10-6DD654248377}" type="presOf" srcId="{EF4D40F2-8BA9-4F7B-BEFC-B32BCEB2049A}" destId="{F9A2946F-1337-4184-B787-D111F5BF7DD1}" srcOrd="0" destOrd="0" presId="urn:microsoft.com/office/officeart/2005/8/layout/orgChart1"/>
    <dgm:cxn modelId="{44B59A37-9F84-4813-B031-270BB62413F1}" type="presOf" srcId="{9BE8D8F3-5F3A-4A4D-B624-FDE1F3DC2903}" destId="{07C9B3F6-9CC9-4B1F-B2E0-5A39B75B1859}" srcOrd="1" destOrd="0" presId="urn:microsoft.com/office/officeart/2005/8/layout/orgChart1"/>
    <dgm:cxn modelId="{C1159739-CBC6-4888-B54E-C8004B1F7855}" type="presOf" srcId="{D478C441-99E5-460F-8714-4FC20249E39A}" destId="{7FB517EB-3D1D-4912-B009-598EF25D2F6D}" srcOrd="0" destOrd="0" presId="urn:microsoft.com/office/officeart/2005/8/layout/orgChart1"/>
    <dgm:cxn modelId="{8C5C2168-7021-49E5-9EFF-4ABE3E6FD0C3}" type="presOf" srcId="{8AE2D20A-AD9D-4434-9E95-2C1AE02613E5}" destId="{51CDA7CF-B507-4DA7-BC9B-0F9768863A20}" srcOrd="1" destOrd="0" presId="urn:microsoft.com/office/officeart/2005/8/layout/orgChart1"/>
    <dgm:cxn modelId="{87A618C6-6C69-462A-8488-685DC29616F0}" srcId="{9BE8D8F3-5F3A-4A4D-B624-FDE1F3DC2903}" destId="{CC748CC3-A0D6-4140-803E-7FE708C9400B}" srcOrd="0" destOrd="0" parTransId="{4261D45D-7465-472D-B59C-167EFFA93603}" sibTransId="{7FE6606D-8767-4699-8AD9-D05451CB108E}"/>
    <dgm:cxn modelId="{D4F11649-130F-4EA4-AC49-D97180B0CCA1}" type="presOf" srcId="{2869B3FC-8034-49F1-B102-41CF72365BCC}" destId="{DDB6ABAE-EFB4-4F19-957E-E93BE48A859F}" srcOrd="0" destOrd="0" presId="urn:microsoft.com/office/officeart/2005/8/layout/orgChart1"/>
    <dgm:cxn modelId="{A7E4E3A5-8FDF-4ACD-9818-636EC0A3BD81}" type="presOf" srcId="{CC748CC3-A0D6-4140-803E-7FE708C9400B}" destId="{8B4B1D55-4109-4EAC-810B-1FE9ADCC136A}" srcOrd="0" destOrd="0" presId="urn:microsoft.com/office/officeart/2005/8/layout/orgChart1"/>
    <dgm:cxn modelId="{654485E7-F90D-47EF-BCE8-727F6886A6EB}" type="presParOf" srcId="{DDB6ABAE-EFB4-4F19-957E-E93BE48A859F}" destId="{6E06E2DF-8855-4172-A388-3F9A04145F42}" srcOrd="0" destOrd="0" presId="urn:microsoft.com/office/officeart/2005/8/layout/orgChart1"/>
    <dgm:cxn modelId="{77500FA6-F678-4C38-BB92-5B4B38634922}" type="presParOf" srcId="{6E06E2DF-8855-4172-A388-3F9A04145F42}" destId="{0C51D5CE-CAB8-4D61-895F-C83EF65FE2AA}" srcOrd="0" destOrd="0" presId="urn:microsoft.com/office/officeart/2005/8/layout/orgChart1"/>
    <dgm:cxn modelId="{09B7D123-57F1-460F-9DB3-47C8D6F638C4}" type="presParOf" srcId="{0C51D5CE-CAB8-4D61-895F-C83EF65FE2AA}" destId="{ED511D09-0042-4A6E-982A-0223433166E3}" srcOrd="0" destOrd="0" presId="urn:microsoft.com/office/officeart/2005/8/layout/orgChart1"/>
    <dgm:cxn modelId="{9B1FECBC-5ACA-4376-8C1D-205D40470BDB}" type="presParOf" srcId="{0C51D5CE-CAB8-4D61-895F-C83EF65FE2AA}" destId="{07C9B3F6-9CC9-4B1F-B2E0-5A39B75B1859}" srcOrd="1" destOrd="0" presId="urn:microsoft.com/office/officeart/2005/8/layout/orgChart1"/>
    <dgm:cxn modelId="{9E59CBD4-F9C6-4EE7-A289-4395A22AB8D4}" type="presParOf" srcId="{6E06E2DF-8855-4172-A388-3F9A04145F42}" destId="{18BF333B-712A-416F-B323-35C1AB9C4F8F}" srcOrd="1" destOrd="0" presId="urn:microsoft.com/office/officeart/2005/8/layout/orgChart1"/>
    <dgm:cxn modelId="{BCED5D97-8FA5-4300-AE4B-AB3DDF7EE709}" type="presParOf" srcId="{18BF333B-712A-416F-B323-35C1AB9C4F8F}" destId="{2057CF09-687B-4EDB-96FC-93FFA978C767}" srcOrd="0" destOrd="0" presId="urn:microsoft.com/office/officeart/2005/8/layout/orgChart1"/>
    <dgm:cxn modelId="{42125E52-2295-44E8-A308-9F224A066D6A}" type="presParOf" srcId="{18BF333B-712A-416F-B323-35C1AB9C4F8F}" destId="{22C3AA91-357B-4315-94A4-335C6BED7739}" srcOrd="1" destOrd="0" presId="urn:microsoft.com/office/officeart/2005/8/layout/orgChart1"/>
    <dgm:cxn modelId="{4C55B448-E10C-410B-B3B4-59895EBF55D3}" type="presParOf" srcId="{22C3AA91-357B-4315-94A4-335C6BED7739}" destId="{ECAAD804-F93E-4D79-BA21-9DF0578ECCF2}" srcOrd="0" destOrd="0" presId="urn:microsoft.com/office/officeart/2005/8/layout/orgChart1"/>
    <dgm:cxn modelId="{D2D7E6E2-E617-4388-A6DB-AAD4ED557A79}" type="presParOf" srcId="{ECAAD804-F93E-4D79-BA21-9DF0578ECCF2}" destId="{8B4B1D55-4109-4EAC-810B-1FE9ADCC136A}" srcOrd="0" destOrd="0" presId="urn:microsoft.com/office/officeart/2005/8/layout/orgChart1"/>
    <dgm:cxn modelId="{C7EBE5A4-C615-419F-885C-238F1C6BFC45}" type="presParOf" srcId="{ECAAD804-F93E-4D79-BA21-9DF0578ECCF2}" destId="{54AC4C62-5E7D-4180-A1ED-F587CA3A7225}" srcOrd="1" destOrd="0" presId="urn:microsoft.com/office/officeart/2005/8/layout/orgChart1"/>
    <dgm:cxn modelId="{197D3346-B6FC-499D-9C16-83CB9030BC02}" type="presParOf" srcId="{22C3AA91-357B-4315-94A4-335C6BED7739}" destId="{0D76BF9B-2635-4D3B-96D4-5205ECCDF78E}" srcOrd="1" destOrd="0" presId="urn:microsoft.com/office/officeart/2005/8/layout/orgChart1"/>
    <dgm:cxn modelId="{FBDBD622-4964-478F-90D0-6D6DBBC1EF07}" type="presParOf" srcId="{22C3AA91-357B-4315-94A4-335C6BED7739}" destId="{1AA94337-7954-4806-84B0-029A381A2CD7}" srcOrd="2" destOrd="0" presId="urn:microsoft.com/office/officeart/2005/8/layout/orgChart1"/>
    <dgm:cxn modelId="{295CE14F-5B38-43E9-B1AD-DEA07F0BC137}" type="presParOf" srcId="{18BF333B-712A-416F-B323-35C1AB9C4F8F}" destId="{C7E63410-F838-4247-9498-21AC24F9CC4E}" srcOrd="2" destOrd="0" presId="urn:microsoft.com/office/officeart/2005/8/layout/orgChart1"/>
    <dgm:cxn modelId="{A971E3D4-CC6F-4D42-8A9C-1A0E4677B013}" type="presParOf" srcId="{18BF333B-712A-416F-B323-35C1AB9C4F8F}" destId="{2D8B11A9-D8A1-4985-A927-0FE673AC560F}" srcOrd="3" destOrd="0" presId="urn:microsoft.com/office/officeart/2005/8/layout/orgChart1"/>
    <dgm:cxn modelId="{7C18DC30-A46C-4619-A622-75CA9AD1229B}" type="presParOf" srcId="{2D8B11A9-D8A1-4985-A927-0FE673AC560F}" destId="{5768554F-A4D9-49D8-AE41-5E390B1B83AD}" srcOrd="0" destOrd="0" presId="urn:microsoft.com/office/officeart/2005/8/layout/orgChart1"/>
    <dgm:cxn modelId="{088780A1-AF9B-42A4-AA58-380B04B3D3BC}" type="presParOf" srcId="{5768554F-A4D9-49D8-AE41-5E390B1B83AD}" destId="{6A2C42B5-4165-4E54-87EF-4AD3FD852189}" srcOrd="0" destOrd="0" presId="urn:microsoft.com/office/officeart/2005/8/layout/orgChart1"/>
    <dgm:cxn modelId="{4D7EE5A0-10EC-4509-85AF-C19BF2B19207}" type="presParOf" srcId="{5768554F-A4D9-49D8-AE41-5E390B1B83AD}" destId="{51CDA7CF-B507-4DA7-BC9B-0F9768863A20}" srcOrd="1" destOrd="0" presId="urn:microsoft.com/office/officeart/2005/8/layout/orgChart1"/>
    <dgm:cxn modelId="{2D53784C-80AF-484F-BCBC-B9993BD9D6F8}" type="presParOf" srcId="{2D8B11A9-D8A1-4985-A927-0FE673AC560F}" destId="{24209A46-0810-4383-ADEE-AAF617F203A2}" srcOrd="1" destOrd="0" presId="urn:microsoft.com/office/officeart/2005/8/layout/orgChart1"/>
    <dgm:cxn modelId="{5EDD29BD-78AE-435D-8318-C53B6CBFBCC5}" type="presParOf" srcId="{24209A46-0810-4383-ADEE-AAF617F203A2}" destId="{C7B9E8A1-CE05-49A0-873D-D18ECC8437CC}" srcOrd="0" destOrd="0" presId="urn:microsoft.com/office/officeart/2005/8/layout/orgChart1"/>
    <dgm:cxn modelId="{A9B7CB55-9DD9-4D0B-A494-134282B3972D}" type="presParOf" srcId="{24209A46-0810-4383-ADEE-AAF617F203A2}" destId="{41AA1464-7A3A-4254-B4AD-AB2774CC16CB}" srcOrd="1" destOrd="0" presId="urn:microsoft.com/office/officeart/2005/8/layout/orgChart1"/>
    <dgm:cxn modelId="{DAD44DBA-D728-4234-90EE-6B865AF17EDA}" type="presParOf" srcId="{41AA1464-7A3A-4254-B4AD-AB2774CC16CB}" destId="{02490511-3C93-4308-A875-C1E5EF7C04FF}" srcOrd="0" destOrd="0" presId="urn:microsoft.com/office/officeart/2005/8/layout/orgChart1"/>
    <dgm:cxn modelId="{AEDBB0F3-DDBD-4691-A1A3-1B77D214725B}" type="presParOf" srcId="{02490511-3C93-4308-A875-C1E5EF7C04FF}" destId="{F9A2946F-1337-4184-B787-D111F5BF7DD1}" srcOrd="0" destOrd="0" presId="urn:microsoft.com/office/officeart/2005/8/layout/orgChart1"/>
    <dgm:cxn modelId="{FD5A2B02-5551-4D00-BC56-F51AA93577D0}" type="presParOf" srcId="{02490511-3C93-4308-A875-C1E5EF7C04FF}" destId="{DF9BCB43-2EB1-462C-AA6B-4987653B04C7}" srcOrd="1" destOrd="0" presId="urn:microsoft.com/office/officeart/2005/8/layout/orgChart1"/>
    <dgm:cxn modelId="{A3DAA9C0-E300-4A7E-BB22-1A1AD428026E}" type="presParOf" srcId="{41AA1464-7A3A-4254-B4AD-AB2774CC16CB}" destId="{85EFFFE6-F0EE-4878-A286-F444400E93B6}" srcOrd="1" destOrd="0" presId="urn:microsoft.com/office/officeart/2005/8/layout/orgChart1"/>
    <dgm:cxn modelId="{3F53CD92-650A-4AB4-BB88-486DC3F58F41}" type="presParOf" srcId="{41AA1464-7A3A-4254-B4AD-AB2774CC16CB}" destId="{BBD0499F-BA8D-4129-BBA7-C641DFC8205A}" srcOrd="2" destOrd="0" presId="urn:microsoft.com/office/officeart/2005/8/layout/orgChart1"/>
    <dgm:cxn modelId="{D7DC01F3-21C2-4A09-A538-DB4AF6CA1139}" type="presParOf" srcId="{24209A46-0810-4383-ADEE-AAF617F203A2}" destId="{59DF6772-D86A-40D9-BFF9-A5A7B99F504C}" srcOrd="2" destOrd="0" presId="urn:microsoft.com/office/officeart/2005/8/layout/orgChart1"/>
    <dgm:cxn modelId="{75BBEE70-20E1-4482-A85E-73AF9F2A5C8A}" type="presParOf" srcId="{24209A46-0810-4383-ADEE-AAF617F203A2}" destId="{2A97929D-E911-41E1-B065-C0220D951DE7}" srcOrd="3" destOrd="0" presId="urn:microsoft.com/office/officeart/2005/8/layout/orgChart1"/>
    <dgm:cxn modelId="{FAF3DDC4-D394-47E6-8162-A786C95D873B}" type="presParOf" srcId="{2A97929D-E911-41E1-B065-C0220D951DE7}" destId="{777EF6C4-34B7-4C1F-A510-F236419FC37F}" srcOrd="0" destOrd="0" presId="urn:microsoft.com/office/officeart/2005/8/layout/orgChart1"/>
    <dgm:cxn modelId="{662A25F9-73AB-48DD-85AF-5A52EF594F39}" type="presParOf" srcId="{777EF6C4-34B7-4C1F-A510-F236419FC37F}" destId="{7FB517EB-3D1D-4912-B009-598EF25D2F6D}" srcOrd="0" destOrd="0" presId="urn:microsoft.com/office/officeart/2005/8/layout/orgChart1"/>
    <dgm:cxn modelId="{9A5B23BB-2BFE-47E2-B3BC-9DDAD35FD788}" type="presParOf" srcId="{777EF6C4-34B7-4C1F-A510-F236419FC37F}" destId="{F4072036-1494-4E58-BE0E-9E7E5329E5F0}" srcOrd="1" destOrd="0" presId="urn:microsoft.com/office/officeart/2005/8/layout/orgChart1"/>
    <dgm:cxn modelId="{C0819EEF-7101-4572-8840-949300FECF07}" type="presParOf" srcId="{2A97929D-E911-41E1-B065-C0220D951DE7}" destId="{21478D66-C2BD-4AE0-AE5C-959139D6F673}" srcOrd="1" destOrd="0" presId="urn:microsoft.com/office/officeart/2005/8/layout/orgChart1"/>
    <dgm:cxn modelId="{C50F5567-1987-4A3F-A3CD-03C47C7CC681}" type="presParOf" srcId="{2A97929D-E911-41E1-B065-C0220D951DE7}" destId="{3ACB043C-373A-40FB-994E-53C265D044DD}" srcOrd="2" destOrd="0" presId="urn:microsoft.com/office/officeart/2005/8/layout/orgChart1"/>
    <dgm:cxn modelId="{AD5CA137-989C-4606-8DEF-447628B22829}" type="presParOf" srcId="{24209A46-0810-4383-ADEE-AAF617F203A2}" destId="{0B0185E1-D90E-4198-8752-F757A30125C4}" srcOrd="4" destOrd="0" presId="urn:microsoft.com/office/officeart/2005/8/layout/orgChart1"/>
    <dgm:cxn modelId="{560A48E1-CB44-4416-98F8-7C5D8D4B7211}" type="presParOf" srcId="{24209A46-0810-4383-ADEE-AAF617F203A2}" destId="{71FCCCAB-002C-410C-9206-321854D80E82}" srcOrd="5" destOrd="0" presId="urn:microsoft.com/office/officeart/2005/8/layout/orgChart1"/>
    <dgm:cxn modelId="{0737E2A2-2A81-4C56-AEF3-BD5618001C49}" type="presParOf" srcId="{71FCCCAB-002C-410C-9206-321854D80E82}" destId="{87DE666F-1ED2-4820-B039-E6372AB0639D}" srcOrd="0" destOrd="0" presId="urn:microsoft.com/office/officeart/2005/8/layout/orgChart1"/>
    <dgm:cxn modelId="{162C2040-80BA-409C-A31C-5A33DB095681}" type="presParOf" srcId="{87DE666F-1ED2-4820-B039-E6372AB0639D}" destId="{2D4B1EA4-2A58-41CC-BC07-87FC1375ADD9}" srcOrd="0" destOrd="0" presId="urn:microsoft.com/office/officeart/2005/8/layout/orgChart1"/>
    <dgm:cxn modelId="{BE63A8A5-6986-4D8D-B386-546EA906B137}" type="presParOf" srcId="{87DE666F-1ED2-4820-B039-E6372AB0639D}" destId="{2287D009-01F0-4D7F-8FE4-FE98E2D0C5D8}" srcOrd="1" destOrd="0" presId="urn:microsoft.com/office/officeart/2005/8/layout/orgChart1"/>
    <dgm:cxn modelId="{A811ABCA-D2E5-4A5A-8ADA-46D7CB6BE094}" type="presParOf" srcId="{71FCCCAB-002C-410C-9206-321854D80E82}" destId="{BD334D15-EFA3-45D2-9186-4AF8BC8338EB}" srcOrd="1" destOrd="0" presId="urn:microsoft.com/office/officeart/2005/8/layout/orgChart1"/>
    <dgm:cxn modelId="{AC529195-335B-43C2-8AE7-B7A2057BA950}" type="presParOf" srcId="{71FCCCAB-002C-410C-9206-321854D80E82}" destId="{DE87A095-8C06-42A8-BD53-906B94F378E7}" srcOrd="2" destOrd="0" presId="urn:microsoft.com/office/officeart/2005/8/layout/orgChart1"/>
    <dgm:cxn modelId="{FED0596E-44AB-4B6B-B511-D682255DCE31}" type="presParOf" srcId="{2D8B11A9-D8A1-4985-A927-0FE673AC560F}" destId="{4BDBA313-189E-4C86-8953-62E2E6CFA19E}" srcOrd="2" destOrd="0" presId="urn:microsoft.com/office/officeart/2005/8/layout/orgChart1"/>
    <dgm:cxn modelId="{C60F5F78-B118-4E79-945A-06E9107FB779}" type="presParOf" srcId="{6E06E2DF-8855-4172-A388-3F9A04145F42}" destId="{C216F9B7-F781-4277-A9D8-DE19F48949FF}" srcOrd="2" destOrd="0" presId="urn:microsoft.com/office/officeart/2005/8/layout/orgChart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3705B3-70AD-4043-A30B-9E45543CDD19}">
      <dsp:nvSpPr>
        <dsp:cNvPr id="0" name=""/>
        <dsp:cNvSpPr/>
      </dsp:nvSpPr>
      <dsp:spPr>
        <a:xfrm>
          <a:off x="3361521" y="516811"/>
          <a:ext cx="2998147" cy="325334"/>
        </a:xfrm>
        <a:custGeom>
          <a:avLst/>
          <a:gdLst/>
          <a:ahLst/>
          <a:cxnLst/>
          <a:rect l="0" t="0" r="0" b="0"/>
          <a:pathLst>
            <a:path>
              <a:moveTo>
                <a:pt x="0" y="0"/>
              </a:moveTo>
              <a:lnTo>
                <a:pt x="0" y="126913"/>
              </a:lnTo>
              <a:lnTo>
                <a:pt x="2998147" y="126913"/>
              </a:lnTo>
              <a:lnTo>
                <a:pt x="2998147" y="32533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E63410-F838-4247-9498-21AC24F9CC4E}">
      <dsp:nvSpPr>
        <dsp:cNvPr id="0" name=""/>
        <dsp:cNvSpPr/>
      </dsp:nvSpPr>
      <dsp:spPr>
        <a:xfrm>
          <a:off x="3361521" y="516811"/>
          <a:ext cx="1417168" cy="321460"/>
        </a:xfrm>
        <a:custGeom>
          <a:avLst/>
          <a:gdLst/>
          <a:ahLst/>
          <a:cxnLst/>
          <a:rect l="0" t="0" r="0" b="0"/>
          <a:pathLst>
            <a:path>
              <a:moveTo>
                <a:pt x="0" y="0"/>
              </a:moveTo>
              <a:lnTo>
                <a:pt x="0" y="123039"/>
              </a:lnTo>
              <a:lnTo>
                <a:pt x="1417168" y="123039"/>
              </a:lnTo>
              <a:lnTo>
                <a:pt x="1417168" y="3214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582297-885F-4C6B-96B5-5E53AFA2DD64}">
      <dsp:nvSpPr>
        <dsp:cNvPr id="0" name=""/>
        <dsp:cNvSpPr/>
      </dsp:nvSpPr>
      <dsp:spPr>
        <a:xfrm>
          <a:off x="2573828" y="516811"/>
          <a:ext cx="787692" cy="321337"/>
        </a:xfrm>
        <a:custGeom>
          <a:avLst/>
          <a:gdLst/>
          <a:ahLst/>
          <a:cxnLst/>
          <a:rect l="0" t="0" r="0" b="0"/>
          <a:pathLst>
            <a:path>
              <a:moveTo>
                <a:pt x="787692" y="0"/>
              </a:moveTo>
              <a:lnTo>
                <a:pt x="787692" y="122916"/>
              </a:lnTo>
              <a:lnTo>
                <a:pt x="0" y="122916"/>
              </a:lnTo>
              <a:lnTo>
                <a:pt x="0" y="3213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57CF09-687B-4EDB-96FC-93FFA978C767}">
      <dsp:nvSpPr>
        <dsp:cNvPr id="0" name=""/>
        <dsp:cNvSpPr/>
      </dsp:nvSpPr>
      <dsp:spPr>
        <a:xfrm>
          <a:off x="668015" y="516811"/>
          <a:ext cx="2693505" cy="325334"/>
        </a:xfrm>
        <a:custGeom>
          <a:avLst/>
          <a:gdLst/>
          <a:ahLst/>
          <a:cxnLst/>
          <a:rect l="0" t="0" r="0" b="0"/>
          <a:pathLst>
            <a:path>
              <a:moveTo>
                <a:pt x="2693505" y="0"/>
              </a:moveTo>
              <a:lnTo>
                <a:pt x="2693505" y="126913"/>
              </a:lnTo>
              <a:lnTo>
                <a:pt x="0" y="126913"/>
              </a:lnTo>
              <a:lnTo>
                <a:pt x="0" y="32533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511D09-0042-4A6E-982A-0223433166E3}">
      <dsp:nvSpPr>
        <dsp:cNvPr id="0" name=""/>
        <dsp:cNvSpPr/>
      </dsp:nvSpPr>
      <dsp:spPr>
        <a:xfrm>
          <a:off x="2589588" y="15062"/>
          <a:ext cx="1543864" cy="501749"/>
        </a:xfrm>
        <a:prstGeom prst="roundRect">
          <a:avLst/>
        </a:prstGeom>
        <a:solidFill>
          <a:schemeClr val="lt1"/>
        </a:solidFill>
        <a:ln w="25400" cap="flat" cmpd="sng" algn="ctr">
          <a:solidFill>
            <a:schemeClr val="accent4"/>
          </a:solidFill>
          <a:prstDash val="solid"/>
        </a:ln>
        <a:effectLst/>
        <a:scene3d>
          <a:camera prst="orthographicFront"/>
          <a:lightRig rig="flat" dir="t"/>
        </a:scene3d>
      </dsp:spPr>
      <dsp:style>
        <a:lnRef idx="2">
          <a:schemeClr val="accent4"/>
        </a:lnRef>
        <a:fillRef idx="1">
          <a:schemeClr val="lt1"/>
        </a:fillRef>
        <a:effectRef idx="0">
          <a:schemeClr val="accent4"/>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baseline="0" dirty="0"/>
            <a:t>Sensors</a:t>
          </a:r>
        </a:p>
        <a:p>
          <a:pPr marL="0" lvl="0" indent="0" algn="ctr" defTabSz="711200">
            <a:lnSpc>
              <a:spcPct val="90000"/>
            </a:lnSpc>
            <a:spcBef>
              <a:spcPct val="0"/>
            </a:spcBef>
            <a:spcAft>
              <a:spcPct val="35000"/>
            </a:spcAft>
            <a:buNone/>
          </a:pPr>
          <a:r>
            <a:rPr lang="en-US" sz="1600" b="1" kern="1200" baseline="0" dirty="0"/>
            <a:t>(Based upon)</a:t>
          </a:r>
        </a:p>
      </dsp:txBody>
      <dsp:txXfrm>
        <a:off x="2614081" y="39555"/>
        <a:ext cx="1494878" cy="452763"/>
      </dsp:txXfrm>
    </dsp:sp>
    <dsp:sp modelId="{8B4B1D55-4109-4EAC-810B-1FE9ADCC136A}">
      <dsp:nvSpPr>
        <dsp:cNvPr id="0" name=""/>
        <dsp:cNvSpPr/>
      </dsp:nvSpPr>
      <dsp:spPr>
        <a:xfrm>
          <a:off x="61301" y="842146"/>
          <a:ext cx="1213428" cy="583120"/>
        </a:xfrm>
        <a:prstGeom prst="roundRect">
          <a:avLst/>
        </a:prstGeom>
        <a:solidFill>
          <a:schemeClr val="lt1"/>
        </a:solidFill>
        <a:ln w="25400" cap="flat" cmpd="sng" algn="ctr">
          <a:solidFill>
            <a:schemeClr val="accent4"/>
          </a:solidFill>
          <a:prstDash val="solid"/>
        </a:ln>
        <a:effectLst/>
        <a:scene3d>
          <a:camera prst="orthographicFront"/>
          <a:lightRig rig="flat" dir="t"/>
        </a:scene3d>
      </dsp:spPr>
      <dsp:style>
        <a:lnRef idx="2">
          <a:schemeClr val="accent4"/>
        </a:lnRef>
        <a:fillRef idx="1">
          <a:schemeClr val="lt1"/>
        </a:fillRef>
        <a:effectRef idx="0">
          <a:schemeClr val="accent4"/>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600"/>
            </a:spcAft>
            <a:buNone/>
          </a:pPr>
          <a:r>
            <a:rPr lang="en-US" sz="1600" b="0" kern="1200" dirty="0">
              <a:solidFill>
                <a:srgbClr val="FF0000"/>
              </a:solidFill>
            </a:rPr>
            <a:t>transduction principle</a:t>
          </a:r>
        </a:p>
      </dsp:txBody>
      <dsp:txXfrm>
        <a:off x="89767" y="870612"/>
        <a:ext cx="1156496" cy="526188"/>
      </dsp:txXfrm>
    </dsp:sp>
    <dsp:sp modelId="{706E8FA2-6936-4CBB-8726-895962EE0D8D}">
      <dsp:nvSpPr>
        <dsp:cNvPr id="0" name=""/>
        <dsp:cNvSpPr/>
      </dsp:nvSpPr>
      <dsp:spPr>
        <a:xfrm>
          <a:off x="1612819" y="838149"/>
          <a:ext cx="1922017" cy="667723"/>
        </a:xfrm>
        <a:prstGeom prst="roundRect">
          <a:avLst/>
        </a:prstGeom>
        <a:solidFill>
          <a:schemeClr val="lt1"/>
        </a:solidFill>
        <a:ln w="25400" cap="flat" cmpd="sng" algn="ctr">
          <a:solidFill>
            <a:schemeClr val="accent4"/>
          </a:solidFill>
          <a:prstDash val="solid"/>
        </a:ln>
        <a:effectLst/>
        <a:scene3d>
          <a:camera prst="orthographicFront"/>
          <a:lightRig rig="flat" dir="t"/>
        </a:scene3d>
      </dsp:spPr>
      <dsp:style>
        <a:lnRef idx="2">
          <a:schemeClr val="accent4"/>
        </a:lnRef>
        <a:fillRef idx="1">
          <a:schemeClr val="lt1"/>
        </a:fillRef>
        <a:effectRef idx="0">
          <a:schemeClr val="accent4"/>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ts val="600"/>
            </a:spcAft>
            <a:buNone/>
          </a:pPr>
          <a:r>
            <a:rPr lang="en-US" sz="1400" b="0" kern="1200" dirty="0">
              <a:solidFill>
                <a:srgbClr val="FF0000"/>
              </a:solidFill>
            </a:rPr>
            <a:t>Need of excitation</a:t>
          </a:r>
          <a:r>
            <a:rPr lang="en-US" sz="1400" b="0" kern="1200" dirty="0"/>
            <a:t> for obtaining voltage / Current output</a:t>
          </a:r>
        </a:p>
      </dsp:txBody>
      <dsp:txXfrm>
        <a:off x="1645415" y="870745"/>
        <a:ext cx="1856825" cy="602531"/>
      </dsp:txXfrm>
    </dsp:sp>
    <dsp:sp modelId="{6A2C42B5-4165-4E54-87EF-4AD3FD852189}">
      <dsp:nvSpPr>
        <dsp:cNvPr id="0" name=""/>
        <dsp:cNvSpPr/>
      </dsp:nvSpPr>
      <dsp:spPr>
        <a:xfrm>
          <a:off x="3899232" y="838272"/>
          <a:ext cx="1758915" cy="578831"/>
        </a:xfrm>
        <a:prstGeom prst="roundRect">
          <a:avLst/>
        </a:prstGeom>
        <a:solidFill>
          <a:schemeClr val="lt1"/>
        </a:solidFill>
        <a:ln w="25400" cap="flat" cmpd="sng" algn="ctr">
          <a:solidFill>
            <a:schemeClr val="accent4"/>
          </a:solidFill>
          <a:prstDash val="solid"/>
        </a:ln>
        <a:effectLst/>
        <a:scene3d>
          <a:camera prst="orthographicFront"/>
          <a:lightRig rig="flat" dir="t"/>
        </a:scene3d>
      </dsp:spPr>
      <dsp:style>
        <a:lnRef idx="2">
          <a:schemeClr val="accent4"/>
        </a:lnRef>
        <a:fillRef idx="1">
          <a:schemeClr val="lt1"/>
        </a:fillRef>
        <a:effectRef idx="0">
          <a:schemeClr val="accent4"/>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100000"/>
            </a:lnSpc>
            <a:spcBef>
              <a:spcPct val="0"/>
            </a:spcBef>
            <a:spcAft>
              <a:spcPct val="35000"/>
            </a:spcAft>
            <a:buNone/>
          </a:pPr>
          <a:r>
            <a:rPr lang="en-US" sz="1400" b="0" kern="1200" dirty="0">
              <a:solidFill>
                <a:srgbClr val="FF0000"/>
              </a:solidFill>
            </a:rPr>
            <a:t>direct/indirect sensing </a:t>
          </a:r>
          <a:r>
            <a:rPr lang="en-US" sz="1400" b="0" kern="1200" dirty="0">
              <a:solidFill>
                <a:sysClr val="windowText" lastClr="000000"/>
              </a:solidFill>
            </a:rPr>
            <a:t>of measurand</a:t>
          </a:r>
          <a:endParaRPr lang="en-US" sz="1400" b="1" kern="1200" dirty="0">
            <a:solidFill>
              <a:sysClr val="windowText" lastClr="000000"/>
            </a:solidFill>
          </a:endParaRPr>
        </a:p>
      </dsp:txBody>
      <dsp:txXfrm>
        <a:off x="3927488" y="866528"/>
        <a:ext cx="1702403" cy="522319"/>
      </dsp:txXfrm>
    </dsp:sp>
    <dsp:sp modelId="{B6B0517D-75EE-4348-A046-59D20D13D888}">
      <dsp:nvSpPr>
        <dsp:cNvPr id="0" name=""/>
        <dsp:cNvSpPr/>
      </dsp:nvSpPr>
      <dsp:spPr>
        <a:xfrm>
          <a:off x="5937561" y="842146"/>
          <a:ext cx="844214" cy="582270"/>
        </a:xfrm>
        <a:prstGeom prst="roundRect">
          <a:avLst/>
        </a:prstGeom>
        <a:solidFill>
          <a:schemeClr val="lt1"/>
        </a:solidFill>
        <a:ln w="25400" cap="flat" cmpd="sng" algn="ctr">
          <a:solidFill>
            <a:schemeClr val="accent4"/>
          </a:solidFill>
          <a:prstDash val="solid"/>
        </a:ln>
        <a:effectLst/>
        <a:scene3d>
          <a:camera prst="orthographicFront"/>
          <a:lightRig rig="flat" dir="t"/>
        </a:scene3d>
      </dsp:spPr>
      <dsp:style>
        <a:lnRef idx="2">
          <a:schemeClr val="accent4"/>
        </a:lnRef>
        <a:fillRef idx="1">
          <a:schemeClr val="lt1"/>
        </a:fillRef>
        <a:effectRef idx="0">
          <a:schemeClr val="accent4"/>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ct val="35000"/>
            </a:spcAft>
            <a:buNone/>
          </a:pPr>
          <a:r>
            <a:rPr lang="en-US" sz="1600" b="0" kern="1200" dirty="0">
              <a:solidFill>
                <a:srgbClr val="FF0000"/>
              </a:solidFill>
            </a:rPr>
            <a:t>form of output</a:t>
          </a:r>
        </a:p>
      </dsp:txBody>
      <dsp:txXfrm>
        <a:off x="5965985" y="870570"/>
        <a:ext cx="787366" cy="5254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0185E1-D90E-4198-8752-F757A30125C4}">
      <dsp:nvSpPr>
        <dsp:cNvPr id="0" name=""/>
        <dsp:cNvSpPr/>
      </dsp:nvSpPr>
      <dsp:spPr>
        <a:xfrm>
          <a:off x="1479692" y="1364802"/>
          <a:ext cx="1633757" cy="544055"/>
        </a:xfrm>
        <a:custGeom>
          <a:avLst/>
          <a:gdLst/>
          <a:ahLst/>
          <a:cxnLst/>
          <a:rect l="0" t="0" r="0" b="0"/>
          <a:pathLst>
            <a:path>
              <a:moveTo>
                <a:pt x="1633757" y="0"/>
              </a:moveTo>
              <a:lnTo>
                <a:pt x="1633757" y="168906"/>
              </a:lnTo>
              <a:lnTo>
                <a:pt x="0" y="168906"/>
              </a:lnTo>
              <a:lnTo>
                <a:pt x="0" y="54405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9DF6772-D86A-40D9-BFF9-A5A7B99F504C}">
      <dsp:nvSpPr>
        <dsp:cNvPr id="0" name=""/>
        <dsp:cNvSpPr/>
      </dsp:nvSpPr>
      <dsp:spPr>
        <a:xfrm>
          <a:off x="3049830" y="1364802"/>
          <a:ext cx="91440" cy="523029"/>
        </a:xfrm>
        <a:custGeom>
          <a:avLst/>
          <a:gdLst/>
          <a:ahLst/>
          <a:cxnLst/>
          <a:rect l="0" t="0" r="0" b="0"/>
          <a:pathLst>
            <a:path>
              <a:moveTo>
                <a:pt x="63619" y="0"/>
              </a:moveTo>
              <a:lnTo>
                <a:pt x="63619" y="147880"/>
              </a:lnTo>
              <a:lnTo>
                <a:pt x="45720" y="147880"/>
              </a:lnTo>
              <a:lnTo>
                <a:pt x="45720" y="52302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B9E8A1-CE05-49A0-873D-D18ECC8437CC}">
      <dsp:nvSpPr>
        <dsp:cNvPr id="0" name=""/>
        <dsp:cNvSpPr/>
      </dsp:nvSpPr>
      <dsp:spPr>
        <a:xfrm>
          <a:off x="3113450" y="1364802"/>
          <a:ext cx="1466369" cy="540286"/>
        </a:xfrm>
        <a:custGeom>
          <a:avLst/>
          <a:gdLst/>
          <a:ahLst/>
          <a:cxnLst/>
          <a:rect l="0" t="0" r="0" b="0"/>
          <a:pathLst>
            <a:path>
              <a:moveTo>
                <a:pt x="0" y="0"/>
              </a:moveTo>
              <a:lnTo>
                <a:pt x="0" y="165137"/>
              </a:lnTo>
              <a:lnTo>
                <a:pt x="1466369" y="165137"/>
              </a:lnTo>
              <a:lnTo>
                <a:pt x="1466369" y="54028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E63410-F838-4247-9498-21AC24F9CC4E}">
      <dsp:nvSpPr>
        <dsp:cNvPr id="0" name=""/>
        <dsp:cNvSpPr/>
      </dsp:nvSpPr>
      <dsp:spPr>
        <a:xfrm>
          <a:off x="3113450" y="355463"/>
          <a:ext cx="1404648" cy="493473"/>
        </a:xfrm>
        <a:custGeom>
          <a:avLst/>
          <a:gdLst/>
          <a:ahLst/>
          <a:cxnLst/>
          <a:rect l="0" t="0" r="0" b="0"/>
          <a:pathLst>
            <a:path>
              <a:moveTo>
                <a:pt x="1404648" y="0"/>
              </a:moveTo>
              <a:lnTo>
                <a:pt x="1404648" y="118324"/>
              </a:lnTo>
              <a:lnTo>
                <a:pt x="0" y="118324"/>
              </a:lnTo>
              <a:lnTo>
                <a:pt x="0" y="4934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57CF09-687B-4EDB-96FC-93FFA978C767}">
      <dsp:nvSpPr>
        <dsp:cNvPr id="0" name=""/>
        <dsp:cNvSpPr/>
      </dsp:nvSpPr>
      <dsp:spPr>
        <a:xfrm>
          <a:off x="4518098" y="355463"/>
          <a:ext cx="1363199" cy="493473"/>
        </a:xfrm>
        <a:custGeom>
          <a:avLst/>
          <a:gdLst/>
          <a:ahLst/>
          <a:cxnLst/>
          <a:rect l="0" t="0" r="0" b="0"/>
          <a:pathLst>
            <a:path>
              <a:moveTo>
                <a:pt x="0" y="0"/>
              </a:moveTo>
              <a:lnTo>
                <a:pt x="0" y="118324"/>
              </a:lnTo>
              <a:lnTo>
                <a:pt x="1363199" y="118324"/>
              </a:lnTo>
              <a:lnTo>
                <a:pt x="1363199" y="4934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511D09-0042-4A6E-982A-0223433166E3}">
      <dsp:nvSpPr>
        <dsp:cNvPr id="0" name=""/>
        <dsp:cNvSpPr/>
      </dsp:nvSpPr>
      <dsp:spPr>
        <a:xfrm>
          <a:off x="3877951" y="0"/>
          <a:ext cx="1280295" cy="35546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baseline="0" dirty="0"/>
            <a:t>Strain Gauge</a:t>
          </a:r>
        </a:p>
      </dsp:txBody>
      <dsp:txXfrm>
        <a:off x="3877951" y="0"/>
        <a:ext cx="1280295" cy="355463"/>
      </dsp:txXfrm>
    </dsp:sp>
    <dsp:sp modelId="{8B4B1D55-4109-4EAC-810B-1FE9ADCC136A}">
      <dsp:nvSpPr>
        <dsp:cNvPr id="0" name=""/>
        <dsp:cNvSpPr/>
      </dsp:nvSpPr>
      <dsp:spPr>
        <a:xfrm>
          <a:off x="5133196" y="848936"/>
          <a:ext cx="1496203" cy="556739"/>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600"/>
            </a:spcAft>
            <a:buNone/>
          </a:pPr>
          <a:r>
            <a:rPr lang="en-US" sz="1600" b="1" kern="1200" dirty="0">
              <a:solidFill>
                <a:srgbClr val="C00000"/>
              </a:solidFill>
            </a:rPr>
            <a:t>Semiconductor Type</a:t>
          </a:r>
        </a:p>
      </dsp:txBody>
      <dsp:txXfrm>
        <a:off x="5133196" y="848936"/>
        <a:ext cx="1496203" cy="556739"/>
      </dsp:txXfrm>
    </dsp:sp>
    <dsp:sp modelId="{6A2C42B5-4165-4E54-87EF-4AD3FD852189}">
      <dsp:nvSpPr>
        <dsp:cNvPr id="0" name=""/>
        <dsp:cNvSpPr/>
      </dsp:nvSpPr>
      <dsp:spPr>
        <a:xfrm>
          <a:off x="2524001" y="848936"/>
          <a:ext cx="1178898" cy="51586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ct val="35000"/>
            </a:spcAft>
            <a:buNone/>
          </a:pPr>
          <a:r>
            <a:rPr lang="en-US" sz="1600" b="1" kern="1200" dirty="0">
              <a:solidFill>
                <a:srgbClr val="C00000"/>
              </a:solidFill>
            </a:rPr>
            <a:t>Resistive Type</a:t>
          </a:r>
        </a:p>
      </dsp:txBody>
      <dsp:txXfrm>
        <a:off x="2524001" y="848936"/>
        <a:ext cx="1178898" cy="515866"/>
      </dsp:txXfrm>
    </dsp:sp>
    <dsp:sp modelId="{F9A2946F-1337-4184-B787-D111F5BF7DD1}">
      <dsp:nvSpPr>
        <dsp:cNvPr id="0" name=""/>
        <dsp:cNvSpPr/>
      </dsp:nvSpPr>
      <dsp:spPr>
        <a:xfrm>
          <a:off x="4173354" y="1905089"/>
          <a:ext cx="812930" cy="305085"/>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rgbClr val="C00000"/>
              </a:solidFill>
            </a:rPr>
            <a:t>Foil</a:t>
          </a:r>
        </a:p>
      </dsp:txBody>
      <dsp:txXfrm>
        <a:off x="4173354" y="1905089"/>
        <a:ext cx="812930" cy="305085"/>
      </dsp:txXfrm>
    </dsp:sp>
    <dsp:sp modelId="{7FB517EB-3D1D-4912-B009-598EF25D2F6D}">
      <dsp:nvSpPr>
        <dsp:cNvPr id="0" name=""/>
        <dsp:cNvSpPr/>
      </dsp:nvSpPr>
      <dsp:spPr>
        <a:xfrm>
          <a:off x="2605372" y="1887832"/>
          <a:ext cx="980354" cy="29840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rgbClr val="C00000"/>
              </a:solidFill>
            </a:rPr>
            <a:t>Bounded</a:t>
          </a:r>
        </a:p>
      </dsp:txBody>
      <dsp:txXfrm>
        <a:off x="2605372" y="1887832"/>
        <a:ext cx="980354" cy="298404"/>
      </dsp:txXfrm>
    </dsp:sp>
    <dsp:sp modelId="{2D4B1EA4-2A58-41CC-BC07-87FC1375ADD9}">
      <dsp:nvSpPr>
        <dsp:cNvPr id="0" name=""/>
        <dsp:cNvSpPr/>
      </dsp:nvSpPr>
      <dsp:spPr>
        <a:xfrm>
          <a:off x="813373" y="1908858"/>
          <a:ext cx="1332637" cy="370361"/>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rgbClr val="C00000"/>
              </a:solidFill>
            </a:rPr>
            <a:t>Unbounded</a:t>
          </a:r>
        </a:p>
      </dsp:txBody>
      <dsp:txXfrm>
        <a:off x="813373" y="1908858"/>
        <a:ext cx="1332637" cy="37036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19D51B-505C-41E3-94C4-A71543C76588}" type="datetimeFigureOut">
              <a:rPr lang="en-US" smtClean="0"/>
              <a:pPr/>
              <a:t>11/29/2025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012B42-618D-49BA-9445-85BDD6FDEA17}" type="slidenum">
              <a:rPr lang="en-US" smtClean="0"/>
              <a:pPr/>
              <a:t>‹#›</a:t>
            </a:fld>
            <a:endParaRPr lang="en-US"/>
          </a:p>
        </p:txBody>
      </p:sp>
    </p:spTree>
    <p:extLst>
      <p:ext uri="{BB962C8B-B14F-4D97-AF65-F5344CB8AC3E}">
        <p14:creationId xmlns:p14="http://schemas.microsoft.com/office/powerpoint/2010/main" xmlns="" val="371017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C2F46C-7321-4DE7-B21B-DE3AA31BE5CA}" type="slidenum">
              <a:rPr lang="en-US" smtClean="0"/>
              <a:pPr/>
              <a:t>1</a:t>
            </a:fld>
            <a:endParaRPr lang="en-US"/>
          </a:p>
        </p:txBody>
      </p:sp>
    </p:spTree>
    <p:extLst>
      <p:ext uri="{BB962C8B-B14F-4D97-AF65-F5344CB8AC3E}">
        <p14:creationId xmlns:p14="http://schemas.microsoft.com/office/powerpoint/2010/main" xmlns="" val="541862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C2F46C-7321-4DE7-B21B-DE3AA31BE5CA}" type="slidenum">
              <a:rPr lang="en-US" smtClean="0"/>
              <a:pPr/>
              <a:t>2</a:t>
            </a:fld>
            <a:endParaRPr lang="en-US"/>
          </a:p>
        </p:txBody>
      </p:sp>
    </p:spTree>
    <p:extLst>
      <p:ext uri="{BB962C8B-B14F-4D97-AF65-F5344CB8AC3E}">
        <p14:creationId xmlns:p14="http://schemas.microsoft.com/office/powerpoint/2010/main" xmlns="" val="2862769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1968608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974274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3529042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249469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1382396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2212224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11774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1898879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54088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3462565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981D5F-832C-4A9C-8E65-11BCE28B795E}" type="datetimeFigureOut">
              <a:rPr lang="en-US" smtClean="0"/>
              <a:pPr/>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3627639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81D5F-832C-4A9C-8E65-11BCE28B795E}" type="datetimeFigureOut">
              <a:rPr lang="en-US" smtClean="0"/>
              <a:pPr/>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5DD4A-F986-4E71-BC03-15024DE274BF}" type="slidenum">
              <a:rPr lang="en-US" smtClean="0"/>
              <a:pPr/>
              <a:t>‹#›</a:t>
            </a:fld>
            <a:endParaRPr lang="en-US"/>
          </a:p>
        </p:txBody>
      </p:sp>
    </p:spTree>
    <p:extLst>
      <p:ext uri="{BB962C8B-B14F-4D97-AF65-F5344CB8AC3E}">
        <p14:creationId xmlns:p14="http://schemas.microsoft.com/office/powerpoint/2010/main" xmlns="" val="2236209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electrical4u.com/what-is-magnetic-field/" TargetMode="External"/><Relationship Id="rId2" Type="http://schemas.openxmlformats.org/officeDocument/2006/relationships/hyperlink" Target="https://www.electrical4u.com/transducer-types-of-transducer/"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7.png"/><Relationship Id="rId7" Type="http://schemas.openxmlformats.org/officeDocument/2006/relationships/diagramColors" Target="../diagrams/colors2.xml"/><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90625" y="4038600"/>
            <a:ext cx="6350209" cy="1752601"/>
          </a:xfrm>
        </p:spPr>
        <p:txBody>
          <a:bodyPr>
            <a:noAutofit/>
          </a:bodyPr>
          <a:lstStyle/>
          <a:p>
            <a:pPr algn="ctr"/>
            <a:r>
              <a:rPr lang="en-US" sz="2000" b="1" dirty="0">
                <a:solidFill>
                  <a:srgbClr val="C00000"/>
                </a:solidFill>
              </a:rPr>
              <a:t>Presented by</a:t>
            </a:r>
          </a:p>
          <a:p>
            <a:pPr algn="ctr"/>
            <a:r>
              <a:rPr lang="en-US" sz="2000" b="1" dirty="0">
                <a:solidFill>
                  <a:srgbClr val="7030A0"/>
                </a:solidFill>
              </a:rPr>
              <a:t>Mr. Aniruddha Nirmal</a:t>
            </a:r>
          </a:p>
          <a:p>
            <a:pPr algn="ctr"/>
            <a:r>
              <a:rPr lang="en-US" sz="2000" b="1" dirty="0">
                <a:solidFill>
                  <a:schemeClr val="tx1"/>
                </a:solidFill>
              </a:rPr>
              <a:t>Assistant Professor</a:t>
            </a:r>
          </a:p>
          <a:p>
            <a:pPr algn="ctr"/>
            <a:r>
              <a:rPr lang="en-US" sz="2000" b="1" dirty="0">
                <a:solidFill>
                  <a:schemeClr val="tx1"/>
                </a:solidFill>
              </a:rPr>
              <a:t>Department of </a:t>
            </a:r>
            <a:r>
              <a:rPr lang="en-US" sz="2000" b="1" dirty="0" smtClean="0">
                <a:solidFill>
                  <a:schemeClr val="tx1"/>
                </a:solidFill>
              </a:rPr>
              <a:t>First Year</a:t>
            </a:r>
            <a:r>
              <a:rPr lang="en-US" sz="2000" b="1" dirty="0" smtClean="0">
                <a:solidFill>
                  <a:schemeClr val="tx1"/>
                </a:solidFill>
              </a:rPr>
              <a:t> </a:t>
            </a:r>
            <a:r>
              <a:rPr lang="en-US" sz="2000" b="1" dirty="0">
                <a:solidFill>
                  <a:schemeClr val="tx1"/>
                </a:solidFill>
              </a:rPr>
              <a:t>Engineering</a:t>
            </a:r>
          </a:p>
          <a:p>
            <a:pPr algn="ctr"/>
            <a:r>
              <a:rPr lang="en-US" sz="2000" b="1" dirty="0">
                <a:solidFill>
                  <a:schemeClr val="tx1"/>
                </a:solidFill>
              </a:rPr>
              <a:t>DPCOE </a:t>
            </a:r>
            <a:r>
              <a:rPr lang="en-US" sz="2000" b="1" dirty="0" err="1">
                <a:solidFill>
                  <a:schemeClr val="tx1"/>
                </a:solidFill>
              </a:rPr>
              <a:t>Pune</a:t>
            </a:r>
            <a:endParaRPr lang="en-US" sz="2000" b="1" dirty="0">
              <a:solidFill>
                <a:schemeClr val="tx1"/>
              </a:solidFill>
            </a:endParaRPr>
          </a:p>
        </p:txBody>
      </p:sp>
      <p:sp>
        <p:nvSpPr>
          <p:cNvPr id="5" name="Title 1"/>
          <p:cNvSpPr txBox="1">
            <a:spLocks/>
          </p:cNvSpPr>
          <p:nvPr/>
        </p:nvSpPr>
        <p:spPr>
          <a:xfrm>
            <a:off x="1600200" y="2133600"/>
            <a:ext cx="6553200" cy="1447800"/>
          </a:xfrm>
          <a:prstGeom prst="rect">
            <a:avLst/>
          </a:prstGeom>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US" sz="12800" b="1" dirty="0">
                <a:solidFill>
                  <a:srgbClr val="7030A0"/>
                </a:solidFill>
              </a:rPr>
              <a:t>Basic Electronics </a:t>
            </a:r>
            <a:r>
              <a:rPr lang="en-US" sz="12800" b="1" dirty="0" smtClean="0">
                <a:solidFill>
                  <a:srgbClr val="7030A0"/>
                </a:solidFill>
              </a:rPr>
              <a:t>Engineering</a:t>
            </a:r>
            <a:r>
              <a:rPr lang="en-US" sz="11200" dirty="0">
                <a:solidFill>
                  <a:srgbClr val="7030A0"/>
                </a:solidFill>
              </a:rPr>
              <a:t/>
            </a:r>
            <a:br>
              <a:rPr lang="en-US" sz="11200" dirty="0">
                <a:solidFill>
                  <a:srgbClr val="7030A0"/>
                </a:solidFill>
              </a:rPr>
            </a:br>
            <a:r>
              <a:rPr lang="en-US" sz="11200" dirty="0">
                <a:solidFill>
                  <a:srgbClr val="FF0000"/>
                </a:solidFill>
              </a:rPr>
              <a:t>FE </a:t>
            </a:r>
            <a:r>
              <a:rPr lang="en-US" sz="11200" dirty="0" smtClean="0">
                <a:solidFill>
                  <a:srgbClr val="FF0000"/>
                </a:solidFill>
              </a:rPr>
              <a:t>2024 </a:t>
            </a:r>
            <a:r>
              <a:rPr lang="en-US" sz="11200" dirty="0">
                <a:solidFill>
                  <a:srgbClr val="FF0000"/>
                </a:solidFill>
              </a:rPr>
              <a:t>Course</a:t>
            </a:r>
            <a:endParaRPr lang="en-US" sz="12800" dirty="0">
              <a:solidFill>
                <a:srgbClr val="7030A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xmlns="" val="1548347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34499" cy="685800"/>
          </a:xfrm>
        </p:spPr>
        <p:txBody>
          <a:bodyPr>
            <a:noAutofit/>
          </a:bodyPr>
          <a:lstStyle/>
          <a:p>
            <a:pPr marL="457200" indent="-457200" algn="l">
              <a:buBlip>
                <a:blip r:embed="rId3"/>
              </a:buBlip>
            </a:pPr>
            <a:r>
              <a:rPr lang="en-US" sz="3600" b="1" dirty="0">
                <a:solidFill>
                  <a:srgbClr val="C00000"/>
                </a:solidFill>
              </a:rPr>
              <a:t>Unit </a:t>
            </a:r>
            <a:r>
              <a:rPr lang="en-US" sz="3600" b="1" dirty="0" smtClean="0">
                <a:solidFill>
                  <a:srgbClr val="C00000"/>
                </a:solidFill>
              </a:rPr>
              <a:t>5</a:t>
            </a:r>
            <a:r>
              <a:rPr lang="en-US" sz="3600" b="1" dirty="0" smtClean="0">
                <a:solidFill>
                  <a:srgbClr val="C00000"/>
                </a:solidFill>
              </a:rPr>
              <a:t> (</a:t>
            </a:r>
            <a:r>
              <a:rPr lang="en-US" sz="3600" b="1" dirty="0" err="1" smtClean="0">
                <a:solidFill>
                  <a:srgbClr val="C00000"/>
                </a:solidFill>
              </a:rPr>
              <a:t>i</a:t>
            </a:r>
            <a:r>
              <a:rPr lang="en-US" sz="3600" b="1" dirty="0" smtClean="0">
                <a:solidFill>
                  <a:srgbClr val="C00000"/>
                </a:solidFill>
              </a:rPr>
              <a:t>) </a:t>
            </a:r>
            <a:r>
              <a:rPr lang="en-US" sz="3600" b="1" dirty="0">
                <a:solidFill>
                  <a:srgbClr val="C00000"/>
                </a:solidFill>
              </a:rPr>
              <a:t>: Sensors</a:t>
            </a:r>
            <a:endParaRPr lang="en-US" sz="3600" dirty="0">
              <a:solidFill>
                <a:srgbClr val="C00000"/>
              </a:solidFill>
            </a:endParaRPr>
          </a:p>
        </p:txBody>
      </p:sp>
      <p:sp>
        <p:nvSpPr>
          <p:cNvPr id="3" name="Content Placeholder 2"/>
          <p:cNvSpPr>
            <a:spLocks noGrp="1"/>
          </p:cNvSpPr>
          <p:nvPr>
            <p:ph idx="1"/>
          </p:nvPr>
        </p:nvSpPr>
        <p:spPr>
          <a:xfrm>
            <a:off x="533400" y="990600"/>
            <a:ext cx="8229600" cy="5334000"/>
          </a:xfrm>
        </p:spPr>
        <p:txBody>
          <a:bodyPr>
            <a:normAutofit fontScale="92500" lnSpcReduction="10000"/>
          </a:bodyPr>
          <a:lstStyle/>
          <a:p>
            <a:pPr>
              <a:lnSpc>
                <a:spcPct val="120000"/>
              </a:lnSpc>
              <a:buBlip>
                <a:blip r:embed="rId3"/>
              </a:buBlip>
            </a:pPr>
            <a:r>
              <a:rPr lang="en-US" sz="4600" b="1" dirty="0">
                <a:solidFill>
                  <a:srgbClr val="00B0F0"/>
                </a:solidFill>
              </a:rPr>
              <a:t>Syllabus</a:t>
            </a:r>
          </a:p>
          <a:p>
            <a:pPr lvl="0"/>
            <a:r>
              <a:rPr lang="en-US" dirty="0">
                <a:solidFill>
                  <a:srgbClr val="7030A0"/>
                </a:solidFill>
              </a:rPr>
              <a:t>Classification of </a:t>
            </a:r>
            <a:r>
              <a:rPr lang="en-US" dirty="0" smtClean="0">
                <a:solidFill>
                  <a:srgbClr val="7030A0"/>
                </a:solidFill>
              </a:rPr>
              <a:t>sensors</a:t>
            </a:r>
            <a:endParaRPr lang="en-US" dirty="0">
              <a:solidFill>
                <a:srgbClr val="7030A0"/>
              </a:solidFill>
            </a:endParaRPr>
          </a:p>
          <a:p>
            <a:pPr lvl="0"/>
            <a:r>
              <a:rPr lang="en-US" dirty="0">
                <a:solidFill>
                  <a:srgbClr val="7030A0"/>
                </a:solidFill>
              </a:rPr>
              <a:t>Active /Passive Sensors</a:t>
            </a:r>
          </a:p>
          <a:p>
            <a:pPr lvl="0"/>
            <a:r>
              <a:rPr lang="en-US" dirty="0">
                <a:solidFill>
                  <a:srgbClr val="7030A0"/>
                </a:solidFill>
              </a:rPr>
              <a:t>Analog/Digital Sensors</a:t>
            </a:r>
          </a:p>
          <a:p>
            <a:pPr lvl="0"/>
            <a:r>
              <a:rPr lang="en-US" dirty="0">
                <a:solidFill>
                  <a:srgbClr val="7030A0"/>
                </a:solidFill>
              </a:rPr>
              <a:t>Motion Sensors (</a:t>
            </a:r>
            <a:r>
              <a:rPr lang="en-US" dirty="0" smtClean="0">
                <a:solidFill>
                  <a:srgbClr val="7030A0"/>
                </a:solidFill>
              </a:rPr>
              <a:t>LVDT)</a:t>
            </a:r>
            <a:endParaRPr lang="en-US" dirty="0">
              <a:solidFill>
                <a:srgbClr val="7030A0"/>
              </a:solidFill>
            </a:endParaRPr>
          </a:p>
          <a:p>
            <a:pPr lvl="0"/>
            <a:r>
              <a:rPr lang="en-US" dirty="0">
                <a:solidFill>
                  <a:srgbClr val="7030A0"/>
                </a:solidFill>
              </a:rPr>
              <a:t>Temperature Sensors (Thermocouple, Thermistor, RTD) </a:t>
            </a:r>
          </a:p>
          <a:p>
            <a:pPr lvl="0"/>
            <a:r>
              <a:rPr lang="en-US" dirty="0" smtClean="0">
                <a:solidFill>
                  <a:srgbClr val="7030A0"/>
                </a:solidFill>
              </a:rPr>
              <a:t>Mechanical </a:t>
            </a:r>
            <a:r>
              <a:rPr lang="en-US" dirty="0">
                <a:solidFill>
                  <a:srgbClr val="7030A0"/>
                </a:solidFill>
              </a:rPr>
              <a:t>Sensors (Strain </a:t>
            </a:r>
            <a:r>
              <a:rPr lang="en-US" dirty="0" smtClean="0">
                <a:solidFill>
                  <a:srgbClr val="7030A0"/>
                </a:solidFill>
              </a:rPr>
              <a:t>Gauge)</a:t>
            </a:r>
            <a:endParaRPr lang="en-US" dirty="0">
              <a:solidFill>
                <a:srgbClr val="7030A0"/>
              </a:solidFill>
            </a:endParaRPr>
          </a:p>
          <a:p>
            <a:r>
              <a:rPr lang="en-US" dirty="0" smtClean="0">
                <a:solidFill>
                  <a:srgbClr val="7030A0"/>
                </a:solidFill>
              </a:rPr>
              <a:t>Biosensors</a:t>
            </a:r>
            <a:r>
              <a:rPr lang="en-US" dirty="0" smtClean="0">
                <a:solidFill>
                  <a:srgbClr val="7030A0"/>
                </a:solidFill>
              </a:rPr>
              <a:t> </a:t>
            </a:r>
            <a:r>
              <a:rPr lang="en-US" dirty="0" smtClean="0">
                <a:solidFill>
                  <a:srgbClr val="7030A0"/>
                </a:solidFill>
              </a:rPr>
              <a:t>(Working </a:t>
            </a:r>
            <a:r>
              <a:rPr lang="en-US" dirty="0">
                <a:solidFill>
                  <a:srgbClr val="7030A0"/>
                </a:solidFill>
              </a:rPr>
              <a:t>Principle and one application</a:t>
            </a:r>
            <a:r>
              <a:rPr lang="en-US" dirty="0" smtClean="0">
                <a:solidFill>
                  <a:srgbClr val="7030A0"/>
                </a:solidFill>
              </a:rPr>
              <a:t>)</a:t>
            </a:r>
            <a:endParaRPr lang="en-US" sz="5900" dirty="0">
              <a:solidFill>
                <a:srgbClr val="7030A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xmlns="" val="264429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533400"/>
          </a:xfrm>
        </p:spPr>
        <p:txBody>
          <a:bodyPr>
            <a:noAutofit/>
          </a:bodyPr>
          <a:lstStyle/>
          <a:p>
            <a:pPr marL="571500" indent="-571500" algn="l">
              <a:buBlip>
                <a:blip r:embed="rId2"/>
              </a:buBlip>
            </a:pPr>
            <a:r>
              <a:rPr lang="en-US" sz="3600" b="1" dirty="0">
                <a:solidFill>
                  <a:srgbClr val="C00000"/>
                </a:solidFill>
                <a:latin typeface="Calibri Light" pitchFamily="34" charset="0"/>
              </a:rPr>
              <a:t>Sensors:</a:t>
            </a:r>
          </a:p>
        </p:txBody>
      </p:sp>
      <p:sp>
        <p:nvSpPr>
          <p:cNvPr id="3" name="Content Placeholder 2"/>
          <p:cNvSpPr>
            <a:spLocks noGrp="1"/>
          </p:cNvSpPr>
          <p:nvPr>
            <p:ph idx="1"/>
          </p:nvPr>
        </p:nvSpPr>
        <p:spPr>
          <a:xfrm>
            <a:off x="228600" y="762000"/>
            <a:ext cx="8610600" cy="5059363"/>
          </a:xfrm>
        </p:spPr>
        <p:txBody>
          <a:bodyPr>
            <a:normAutofit/>
          </a:bodyPr>
          <a:lstStyle/>
          <a:p>
            <a:pPr algn="just"/>
            <a:r>
              <a:rPr lang="en-US" sz="2000" b="1" dirty="0">
                <a:solidFill>
                  <a:srgbClr val="7030A0"/>
                </a:solidFill>
              </a:rPr>
              <a:t>Sensor: </a:t>
            </a:r>
            <a:r>
              <a:rPr lang="en-US" sz="2000" dirty="0"/>
              <a:t>A sensor is a device which detects one form of energy and produces corresponding electrical signal.</a:t>
            </a:r>
          </a:p>
          <a:p>
            <a:pPr algn="just"/>
            <a:r>
              <a:rPr lang="en-US" sz="2000" b="1" dirty="0">
                <a:solidFill>
                  <a:srgbClr val="7030A0"/>
                </a:solidFill>
              </a:rPr>
              <a:t>Transduces: </a:t>
            </a:r>
            <a:r>
              <a:rPr lang="en-US" sz="2000" dirty="0"/>
              <a:t>A transducer is a device that converts one form of energy into another form of energy.</a:t>
            </a:r>
          </a:p>
          <a:p>
            <a:pPr algn="just"/>
            <a:r>
              <a:rPr lang="en-US" sz="2000" dirty="0"/>
              <a:t>Thus sensor is type of transducer.</a:t>
            </a:r>
          </a:p>
          <a:p>
            <a:pPr algn="just"/>
            <a:r>
              <a:rPr lang="en-US" sz="2000" b="1" dirty="0">
                <a:solidFill>
                  <a:srgbClr val="7030A0"/>
                </a:solidFill>
              </a:rPr>
              <a:t>Sensors</a:t>
            </a:r>
            <a:r>
              <a:rPr lang="en-US" sz="2000" dirty="0"/>
              <a:t> - Devices which </a:t>
            </a:r>
            <a:r>
              <a:rPr lang="en-US" sz="2000" dirty="0">
                <a:solidFill>
                  <a:srgbClr val="FF0000"/>
                </a:solidFill>
              </a:rPr>
              <a:t>perform an “</a:t>
            </a:r>
            <a:r>
              <a:rPr lang="en-US" sz="2000" b="1" dirty="0">
                <a:solidFill>
                  <a:srgbClr val="FF0000"/>
                </a:solidFill>
              </a:rPr>
              <a:t>Input</a:t>
            </a:r>
            <a:r>
              <a:rPr lang="en-US" sz="2000" dirty="0">
                <a:solidFill>
                  <a:srgbClr val="FF0000"/>
                </a:solidFill>
              </a:rPr>
              <a:t>” function </a:t>
            </a:r>
            <a:r>
              <a:rPr lang="en-US" sz="2000" dirty="0"/>
              <a:t>are commonly called </a:t>
            </a:r>
            <a:r>
              <a:rPr lang="en-US" sz="2000" b="1" dirty="0"/>
              <a:t>Sensors</a:t>
            </a:r>
            <a:r>
              <a:rPr lang="en-US" sz="2000" dirty="0"/>
              <a:t> because they “sense” a physical change in some characteristic that changes in response to some excitation, for example heat or force and covert that into an electrical signal. </a:t>
            </a:r>
          </a:p>
          <a:p>
            <a:pPr algn="just"/>
            <a:r>
              <a:rPr lang="en-US" sz="2000" b="1" dirty="0">
                <a:solidFill>
                  <a:srgbClr val="7030A0"/>
                </a:solidFill>
              </a:rPr>
              <a:t>Actuators: </a:t>
            </a:r>
            <a:r>
              <a:rPr lang="en-US" sz="2000" dirty="0"/>
              <a:t>Devices which </a:t>
            </a:r>
            <a:r>
              <a:rPr lang="en-US" sz="2000" dirty="0">
                <a:solidFill>
                  <a:srgbClr val="FF0000"/>
                </a:solidFill>
              </a:rPr>
              <a:t>perform an “</a:t>
            </a:r>
            <a:r>
              <a:rPr lang="en-US" sz="2000" b="1" dirty="0">
                <a:solidFill>
                  <a:srgbClr val="FF0000"/>
                </a:solidFill>
              </a:rPr>
              <a:t>Output</a:t>
            </a:r>
            <a:r>
              <a:rPr lang="en-US" sz="2000" dirty="0">
                <a:solidFill>
                  <a:srgbClr val="FF0000"/>
                </a:solidFill>
              </a:rPr>
              <a:t>” function </a:t>
            </a:r>
            <a:r>
              <a:rPr lang="en-US" sz="2000" dirty="0"/>
              <a:t>are generally called </a:t>
            </a:r>
            <a:r>
              <a:rPr lang="en-US" sz="2000" b="1" dirty="0"/>
              <a:t>Actuators</a:t>
            </a:r>
            <a:r>
              <a:rPr lang="en-US" sz="2000" dirty="0"/>
              <a:t> and are used to control some external device, for example movement or sound.</a:t>
            </a:r>
          </a:p>
          <a:p>
            <a:pPr marL="0" indent="0">
              <a:buNone/>
            </a:pPr>
            <a:endParaRPr lang="en-US" dirty="0"/>
          </a:p>
        </p:txBody>
      </p:sp>
      <p:pic>
        <p:nvPicPr>
          <p:cNvPr id="7" name="Picture 6"/>
          <p:cNvPicPr/>
          <p:nvPr/>
        </p:nvPicPr>
        <p:blipFill>
          <a:blip r:embed="rId3">
            <a:extLst>
              <a:ext uri="{28A0092B-C50C-407E-A947-70E740481C1C}">
                <a14:useLocalDpi xmlns:a14="http://schemas.microsoft.com/office/drawing/2010/main" xmlns="" val="0"/>
              </a:ext>
            </a:extLst>
          </a:blip>
          <a:srcRect/>
          <a:stretch>
            <a:fillRect/>
          </a:stretch>
        </p:blipFill>
        <p:spPr bwMode="auto">
          <a:xfrm>
            <a:off x="2514600" y="4724400"/>
            <a:ext cx="4495800" cy="1803400"/>
          </a:xfrm>
          <a:prstGeom prst="rect">
            <a:avLst/>
          </a:prstGeom>
          <a:noFill/>
          <a:ln>
            <a:noFill/>
          </a:ln>
        </p:spPr>
      </p:pic>
    </p:spTree>
    <p:extLst>
      <p:ext uri="{BB962C8B-B14F-4D97-AF65-F5344CB8AC3E}">
        <p14:creationId xmlns:p14="http://schemas.microsoft.com/office/powerpoint/2010/main" xmlns="" val="228054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486400" cy="381000"/>
          </a:xfrm>
        </p:spPr>
        <p:txBody>
          <a:bodyPr>
            <a:noAutofit/>
          </a:bodyPr>
          <a:lstStyle/>
          <a:p>
            <a:pPr marL="571500" indent="-571500" algn="l">
              <a:buBlip>
                <a:blip r:embed="rId2"/>
              </a:buBlip>
            </a:pPr>
            <a:r>
              <a:rPr lang="en-US" sz="3600" b="1" dirty="0">
                <a:solidFill>
                  <a:srgbClr val="C00000"/>
                </a:solidFill>
                <a:latin typeface="Calibri Light" pitchFamily="34" charset="0"/>
              </a:rPr>
              <a:t>Classification of Sensors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4100338597"/>
              </p:ext>
            </p:extLst>
          </p:nvPr>
        </p:nvGraphicFramePr>
        <p:xfrm>
          <a:off x="1143000" y="533400"/>
          <a:ext cx="6934200" cy="160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a:spLocks noChangeArrowheads="1"/>
          </p:cNvSpPr>
          <p:nvPr/>
        </p:nvSpPr>
        <p:spPr bwMode="auto">
          <a:xfrm>
            <a:off x="152400" y="2050450"/>
            <a:ext cx="8915400" cy="48013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spcBef>
                <a:spcPct val="0"/>
              </a:spcBef>
              <a:spcAft>
                <a:spcPct val="0"/>
              </a:spcAft>
              <a:buClrTx/>
              <a:buSzTx/>
              <a:tabLst>
                <a:tab pos="228600" algn="l"/>
              </a:tabLst>
            </a:pPr>
            <a:r>
              <a:rPr kumimoji="0" lang="en-US" b="1" i="0" u="none" strike="noStrike" cap="none" normalizeH="0" baseline="0" dirty="0">
                <a:ln>
                  <a:noFill/>
                </a:ln>
                <a:solidFill>
                  <a:srgbClr val="00B050"/>
                </a:solidFill>
                <a:effectLst/>
                <a:latin typeface="Calibri Light" pitchFamily="34" charset="0"/>
                <a:ea typeface="Times New Roman" pitchFamily="18" charset="0"/>
                <a:cs typeface="Times New Roman" pitchFamily="18" charset="0"/>
              </a:rPr>
              <a:t>A) Based upon - Transduction principle used:</a:t>
            </a:r>
            <a:endParaRPr kumimoji="0" lang="en-US" b="0" i="0" u="none" strike="noStrike" cap="none" normalizeH="0" baseline="0" dirty="0">
              <a:ln>
                <a:noFill/>
              </a:ln>
              <a:solidFill>
                <a:srgbClr val="00B050"/>
              </a:solidFill>
              <a:effectLst/>
              <a:latin typeface="Calibri Light" pitchFamily="34" charset="0"/>
              <a:cs typeface="Arial" pitchFamily="34" charset="0"/>
            </a:endParaRPr>
          </a:p>
          <a:p>
            <a:pPr marL="285750" marR="0" lvl="0" indent="-285750" algn="l" defTabSz="914400" rtl="0" eaLnBrk="0" fontAlgn="base" latinLnBrk="0" hangingPunct="0">
              <a:spcBef>
                <a:spcPct val="0"/>
              </a:spcBef>
              <a:spcAft>
                <a:spcPct val="0"/>
              </a:spcAft>
              <a:buClrTx/>
              <a:buSzTx/>
              <a:buFont typeface="Arial" pitchFamily="34" charset="0"/>
              <a:buChar char="•"/>
              <a:tabLst>
                <a:tab pos="228600" algn="l"/>
              </a:tabLst>
            </a:pPr>
            <a:r>
              <a:rPr kumimoji="0" lang="en-US" b="1" i="0" u="none" strike="noStrike" cap="none" normalizeH="0" baseline="0" dirty="0">
                <a:ln>
                  <a:noFill/>
                </a:ln>
                <a:solidFill>
                  <a:srgbClr val="7030A0"/>
                </a:solidFill>
                <a:effectLst/>
                <a:latin typeface="Calibri Light" pitchFamily="34" charset="0"/>
                <a:ea typeface="Times New Roman" pitchFamily="18" charset="0"/>
                <a:cs typeface="Times New Roman" pitchFamily="18" charset="0"/>
              </a:rPr>
              <a:t>Resistive Sensor:</a:t>
            </a:r>
            <a:r>
              <a:rPr kumimoji="0" lang="en-US" b="0" i="0" u="none" strike="noStrike" cap="none" normalizeH="0" baseline="0" dirty="0">
                <a:ln>
                  <a:noFill/>
                </a:ln>
                <a:solidFill>
                  <a:srgbClr val="7030A0"/>
                </a:solidFill>
                <a:effectLst/>
                <a:latin typeface="Calibri Light" pitchFamily="34" charset="0"/>
                <a:ea typeface="Times New Roman" pitchFamily="18" charset="0"/>
                <a:cs typeface="Times New Roman" pitchFamily="18" charset="0"/>
              </a:rPr>
              <a:t> </a:t>
            </a:r>
            <a:r>
              <a:rPr kumimoji="0" lang="en-US" b="0" i="0" u="none" strike="noStrike" cap="none" normalizeH="0" baseline="0" dirty="0">
                <a:ln>
                  <a:noFill/>
                </a:ln>
                <a:solidFill>
                  <a:schemeClr val="tx1"/>
                </a:solidFill>
                <a:effectLst/>
                <a:latin typeface="Calibri Light" pitchFamily="34" charset="0"/>
                <a:ea typeface="Times New Roman" pitchFamily="18" charset="0"/>
                <a:cs typeface="Times New Roman" pitchFamily="18" charset="0"/>
              </a:rPr>
              <a:t> output is the </a:t>
            </a:r>
            <a:r>
              <a:rPr kumimoji="0" lang="en-US" b="0" i="0" u="none" strike="noStrike" cap="none" normalizeH="0" baseline="0" dirty="0">
                <a:ln>
                  <a:noFill/>
                </a:ln>
                <a:solidFill>
                  <a:srgbClr val="FF0000"/>
                </a:solidFill>
                <a:effectLst/>
                <a:latin typeface="Calibri Light" pitchFamily="34" charset="0"/>
                <a:ea typeface="Times New Roman" pitchFamily="18" charset="0"/>
                <a:cs typeface="Times New Roman" pitchFamily="18" charset="0"/>
              </a:rPr>
              <a:t>change in their resistance (R)</a:t>
            </a:r>
            <a:r>
              <a:rPr kumimoji="0" lang="en-US" b="0" i="0" u="none" strike="noStrike" cap="none" normalizeH="0" baseline="0" dirty="0">
                <a:ln>
                  <a:noFill/>
                </a:ln>
                <a:solidFill>
                  <a:schemeClr val="tx1"/>
                </a:solidFill>
                <a:effectLst/>
                <a:latin typeface="Calibri Light" pitchFamily="34" charset="0"/>
                <a:ea typeface="Times New Roman" pitchFamily="18" charset="0"/>
                <a:cs typeface="Times New Roman" pitchFamily="18" charset="0"/>
              </a:rPr>
              <a:t> corresponding to change in measurand.</a:t>
            </a:r>
            <a:endParaRPr kumimoji="0" lang="en-US" b="0" i="0" u="none" strike="noStrike" cap="none" normalizeH="0" baseline="0" dirty="0">
              <a:ln>
                <a:noFill/>
              </a:ln>
              <a:solidFill>
                <a:schemeClr val="tx1"/>
              </a:solidFill>
              <a:effectLst/>
              <a:latin typeface="Calibri Light" pitchFamily="34" charset="0"/>
              <a:cs typeface="Arial" pitchFamily="34" charset="0"/>
            </a:endParaRPr>
          </a:p>
          <a:p>
            <a:pPr marL="742950" marR="0" lvl="1" indent="-285750" algn="just" fontAlgn="base">
              <a:lnSpc>
                <a:spcPct val="80000"/>
              </a:lnSpc>
              <a:spcBef>
                <a:spcPct val="20000"/>
              </a:spcBef>
              <a:spcAft>
                <a:spcPct val="0"/>
              </a:spcAft>
              <a:buClrTx/>
              <a:buSzTx/>
              <a:buFont typeface="Arial" pitchFamily="34" charset="0"/>
              <a:buChar char="–"/>
              <a:tabLst>
                <a:tab pos="228600" algn="l"/>
              </a:tabLst>
            </a:pPr>
            <a:r>
              <a:rPr lang="en-US" sz="1700" b="1" i="1" dirty="0">
                <a:latin typeface="Calibri Light" pitchFamily="34" charset="0"/>
              </a:rPr>
              <a:t>Example: </a:t>
            </a:r>
            <a:r>
              <a:rPr lang="en-US" sz="1700" dirty="0">
                <a:latin typeface="Calibri Light" pitchFamily="34" charset="0"/>
              </a:rPr>
              <a:t>Resistance Temperature Detector (RTD), Strain gauge, Thermistor.</a:t>
            </a:r>
          </a:p>
          <a:p>
            <a:pPr marL="285750" marR="0" lvl="0" indent="-285750" algn="l" defTabSz="914400" rtl="0" eaLnBrk="0" fontAlgn="base" latinLnBrk="0" hangingPunct="0">
              <a:spcBef>
                <a:spcPct val="0"/>
              </a:spcBef>
              <a:spcAft>
                <a:spcPct val="0"/>
              </a:spcAft>
              <a:buClrTx/>
              <a:buSzTx/>
              <a:buFont typeface="Arial" pitchFamily="34" charset="0"/>
              <a:buChar char="•"/>
              <a:tabLst>
                <a:tab pos="228600" algn="l"/>
              </a:tabLst>
            </a:pPr>
            <a:r>
              <a:rPr kumimoji="0" lang="en-US" b="1" i="0" u="none" strike="noStrike" cap="none" normalizeH="0" baseline="0" dirty="0">
                <a:ln>
                  <a:noFill/>
                </a:ln>
                <a:solidFill>
                  <a:srgbClr val="7030A0"/>
                </a:solidFill>
                <a:effectLst/>
                <a:latin typeface="Calibri Light" pitchFamily="34" charset="0"/>
                <a:ea typeface="Times New Roman" pitchFamily="18" charset="0"/>
                <a:cs typeface="Times New Roman" pitchFamily="18" charset="0"/>
              </a:rPr>
              <a:t>Capacitive Sensor: </a:t>
            </a:r>
            <a:r>
              <a:rPr lang="en-US" dirty="0">
                <a:latin typeface="Calibri Light" pitchFamily="34" charset="0"/>
                <a:ea typeface="Times New Roman" pitchFamily="18" charset="0"/>
                <a:cs typeface="Times New Roman" pitchFamily="18" charset="0"/>
              </a:rPr>
              <a:t> </a:t>
            </a:r>
            <a:r>
              <a:rPr kumimoji="0" lang="en-US" b="0" i="0" u="none" strike="noStrike" cap="none" normalizeH="0" baseline="0" dirty="0">
                <a:ln>
                  <a:noFill/>
                </a:ln>
                <a:solidFill>
                  <a:schemeClr val="tx1"/>
                </a:solidFill>
                <a:effectLst/>
                <a:latin typeface="Calibri Light" pitchFamily="34" charset="0"/>
                <a:ea typeface="Times New Roman" pitchFamily="18" charset="0"/>
                <a:cs typeface="Times New Roman" pitchFamily="18" charset="0"/>
              </a:rPr>
              <a:t>output is the </a:t>
            </a:r>
            <a:r>
              <a:rPr kumimoji="0" lang="en-US" b="0" i="0" u="none" strike="noStrike" cap="none" normalizeH="0" baseline="0" dirty="0">
                <a:ln>
                  <a:noFill/>
                </a:ln>
                <a:solidFill>
                  <a:srgbClr val="FF0000"/>
                </a:solidFill>
                <a:effectLst/>
                <a:latin typeface="Calibri Light" pitchFamily="34" charset="0"/>
                <a:ea typeface="Times New Roman" pitchFamily="18" charset="0"/>
                <a:cs typeface="Times New Roman" pitchFamily="18" charset="0"/>
              </a:rPr>
              <a:t>change in their capacitance (C)</a:t>
            </a:r>
            <a:r>
              <a:rPr kumimoji="0" lang="en-US" b="0" i="0" u="none" strike="noStrike" cap="none" normalizeH="0" baseline="0" dirty="0">
                <a:ln>
                  <a:noFill/>
                </a:ln>
                <a:solidFill>
                  <a:schemeClr val="tx1"/>
                </a:solidFill>
                <a:effectLst/>
                <a:latin typeface="Calibri Light" pitchFamily="34" charset="0"/>
                <a:ea typeface="Times New Roman" pitchFamily="18" charset="0"/>
                <a:cs typeface="Times New Roman" pitchFamily="18" charset="0"/>
              </a:rPr>
              <a:t> corresponding to change in measurand.</a:t>
            </a:r>
            <a:endParaRPr kumimoji="0" lang="en-US" b="0" i="0" u="none" strike="noStrike" cap="none" normalizeH="0" baseline="0" dirty="0">
              <a:ln>
                <a:noFill/>
              </a:ln>
              <a:solidFill>
                <a:schemeClr val="tx1"/>
              </a:solidFill>
              <a:effectLst/>
              <a:latin typeface="Calibri Light" pitchFamily="34" charset="0"/>
              <a:cs typeface="Arial" pitchFamily="34" charset="0"/>
            </a:endParaRPr>
          </a:p>
          <a:p>
            <a:pPr marL="742950" lvl="1" indent="-285750" algn="just" fontAlgn="base">
              <a:lnSpc>
                <a:spcPct val="80000"/>
              </a:lnSpc>
              <a:spcBef>
                <a:spcPct val="20000"/>
              </a:spcBef>
              <a:spcAft>
                <a:spcPct val="0"/>
              </a:spcAft>
              <a:buFont typeface="Arial" pitchFamily="34" charset="0"/>
              <a:buChar char="–"/>
              <a:tabLst>
                <a:tab pos="228600" algn="l"/>
              </a:tabLst>
            </a:pPr>
            <a:r>
              <a:rPr lang="en-US" sz="1700" b="1" i="1" dirty="0">
                <a:latin typeface="Calibri Light" pitchFamily="34" charset="0"/>
              </a:rPr>
              <a:t>Example: </a:t>
            </a:r>
            <a:r>
              <a:rPr lang="en-US" sz="1700" dirty="0">
                <a:latin typeface="Calibri Light" pitchFamily="34" charset="0"/>
              </a:rPr>
              <a:t>Gang capacitor, Parallel plate capacitor</a:t>
            </a:r>
          </a:p>
          <a:p>
            <a:pPr marL="285750" marR="0" lvl="0" indent="-285750" algn="l" defTabSz="914400" rtl="0" eaLnBrk="0" fontAlgn="base" latinLnBrk="0" hangingPunct="0">
              <a:spcBef>
                <a:spcPct val="0"/>
              </a:spcBef>
              <a:spcAft>
                <a:spcPct val="0"/>
              </a:spcAft>
              <a:buClrTx/>
              <a:buSzTx/>
              <a:buFont typeface="Arial" pitchFamily="34" charset="0"/>
              <a:buChar char="•"/>
              <a:tabLst>
                <a:tab pos="228600" algn="l"/>
              </a:tabLst>
            </a:pPr>
            <a:r>
              <a:rPr kumimoji="0" lang="en-US" b="1" i="0" u="none" strike="noStrike" cap="none" normalizeH="0" baseline="0" dirty="0">
                <a:ln>
                  <a:noFill/>
                </a:ln>
                <a:solidFill>
                  <a:srgbClr val="7030A0"/>
                </a:solidFill>
                <a:effectLst/>
                <a:latin typeface="Calibri Light" pitchFamily="34" charset="0"/>
                <a:ea typeface="Times New Roman" pitchFamily="18" charset="0"/>
                <a:cs typeface="Times New Roman" pitchFamily="18" charset="0"/>
              </a:rPr>
              <a:t>Inductive Sensor:</a:t>
            </a:r>
            <a:r>
              <a:rPr kumimoji="0" lang="en-US" b="0" i="0" u="none" strike="noStrike" cap="none" normalizeH="0" baseline="0" dirty="0">
                <a:ln>
                  <a:noFill/>
                </a:ln>
                <a:solidFill>
                  <a:schemeClr val="tx1"/>
                </a:solidFill>
                <a:effectLst/>
                <a:latin typeface="Calibri Light" pitchFamily="34" charset="0"/>
                <a:ea typeface="Times New Roman" pitchFamily="18" charset="0"/>
                <a:cs typeface="Times New Roman" pitchFamily="18" charset="0"/>
              </a:rPr>
              <a:t> output is the </a:t>
            </a:r>
            <a:r>
              <a:rPr kumimoji="0" lang="en-US" b="0" i="0" u="none" strike="noStrike" cap="none" normalizeH="0" baseline="0" dirty="0">
                <a:ln>
                  <a:noFill/>
                </a:ln>
                <a:solidFill>
                  <a:srgbClr val="FF0000"/>
                </a:solidFill>
                <a:effectLst/>
                <a:latin typeface="Calibri Light" pitchFamily="34" charset="0"/>
                <a:ea typeface="Times New Roman" pitchFamily="18" charset="0"/>
                <a:cs typeface="Times New Roman" pitchFamily="18" charset="0"/>
              </a:rPr>
              <a:t>change in their inductance (L)</a:t>
            </a:r>
            <a:r>
              <a:rPr kumimoji="0" lang="en-US" b="0" i="0" u="none" strike="noStrike" cap="none" normalizeH="0" baseline="0" dirty="0">
                <a:ln>
                  <a:noFill/>
                </a:ln>
                <a:solidFill>
                  <a:schemeClr val="tx1"/>
                </a:solidFill>
                <a:effectLst/>
                <a:latin typeface="Calibri Light" pitchFamily="34" charset="0"/>
                <a:ea typeface="Times New Roman" pitchFamily="18" charset="0"/>
                <a:cs typeface="Times New Roman" pitchFamily="18" charset="0"/>
              </a:rPr>
              <a:t> corresponding to change in measurand.</a:t>
            </a:r>
            <a:endParaRPr kumimoji="0" lang="en-US" b="0" i="0" u="none" strike="noStrike" cap="none" normalizeH="0" baseline="0" dirty="0">
              <a:ln>
                <a:noFill/>
              </a:ln>
              <a:solidFill>
                <a:schemeClr val="tx1"/>
              </a:solidFill>
              <a:effectLst/>
              <a:latin typeface="Calibri Light" pitchFamily="34" charset="0"/>
              <a:cs typeface="Arial" pitchFamily="34" charset="0"/>
            </a:endParaRPr>
          </a:p>
          <a:p>
            <a:pPr marL="742950" marR="0" lvl="1" indent="-285750" algn="just" fontAlgn="base">
              <a:lnSpc>
                <a:spcPct val="80000"/>
              </a:lnSpc>
              <a:spcBef>
                <a:spcPct val="20000"/>
              </a:spcBef>
              <a:spcAft>
                <a:spcPct val="0"/>
              </a:spcAft>
              <a:buClrTx/>
              <a:buSzTx/>
              <a:buFont typeface="Arial" pitchFamily="34" charset="0"/>
              <a:buChar char="–"/>
              <a:tabLst>
                <a:tab pos="228600" algn="l"/>
              </a:tabLst>
            </a:pPr>
            <a:r>
              <a:rPr lang="en-US" sz="1700" b="1" i="1" dirty="0">
                <a:latin typeface="Calibri Light" pitchFamily="34" charset="0"/>
              </a:rPr>
              <a:t>Example: </a:t>
            </a:r>
            <a:r>
              <a:rPr lang="en-US" sz="1700" dirty="0">
                <a:latin typeface="Calibri Light" pitchFamily="34" charset="0"/>
              </a:rPr>
              <a:t>Linear Variable Differential Transformer (LVDT).</a:t>
            </a:r>
          </a:p>
          <a:p>
            <a:pPr marL="285750" lvl="0" indent="-285750">
              <a:buFont typeface="Arial" pitchFamily="34" charset="0"/>
              <a:buChar char="•"/>
            </a:pPr>
            <a:r>
              <a:rPr lang="en-US" b="1" dirty="0">
                <a:solidFill>
                  <a:srgbClr val="7030A0"/>
                </a:solidFill>
                <a:latin typeface="Calibri Light" pitchFamily="34" charset="0"/>
              </a:rPr>
              <a:t>Piezoelectric Sensor:  </a:t>
            </a:r>
            <a:r>
              <a:rPr lang="en-US" dirty="0">
                <a:latin typeface="Calibri Light" pitchFamily="34" charset="0"/>
              </a:rPr>
              <a:t>converts pressure signal into electrical signal. </a:t>
            </a:r>
          </a:p>
          <a:p>
            <a:pPr marL="742950" lvl="1" indent="-285750" algn="just" fontAlgn="base">
              <a:lnSpc>
                <a:spcPct val="80000"/>
              </a:lnSpc>
              <a:spcBef>
                <a:spcPct val="20000"/>
              </a:spcBef>
              <a:spcAft>
                <a:spcPct val="0"/>
              </a:spcAft>
              <a:buFont typeface="Arial" pitchFamily="34" charset="0"/>
              <a:buChar char="–"/>
              <a:tabLst>
                <a:tab pos="228600" algn="l"/>
              </a:tabLst>
            </a:pPr>
            <a:r>
              <a:rPr lang="en-US" sz="1700" b="1" i="1" dirty="0">
                <a:latin typeface="Calibri Light" pitchFamily="34" charset="0"/>
              </a:rPr>
              <a:t>Example: </a:t>
            </a:r>
            <a:r>
              <a:rPr lang="en-US" sz="1700" dirty="0">
                <a:latin typeface="Calibri Light" pitchFamily="34" charset="0"/>
              </a:rPr>
              <a:t>Quartz crystal</a:t>
            </a:r>
          </a:p>
          <a:p>
            <a:pPr marL="285750" lvl="0" indent="-285750">
              <a:buFont typeface="Arial" pitchFamily="34" charset="0"/>
              <a:buChar char="•"/>
            </a:pPr>
            <a:r>
              <a:rPr lang="en-US" b="1" dirty="0">
                <a:solidFill>
                  <a:srgbClr val="7030A0"/>
                </a:solidFill>
                <a:latin typeface="Calibri Light" pitchFamily="34" charset="0"/>
              </a:rPr>
              <a:t>Thermoelectric Sensor</a:t>
            </a:r>
            <a:r>
              <a:rPr lang="en-US" b="1" dirty="0">
                <a:latin typeface="Calibri Light" pitchFamily="34" charset="0"/>
              </a:rPr>
              <a:t>: </a:t>
            </a:r>
            <a:r>
              <a:rPr lang="en-US" dirty="0">
                <a:latin typeface="Calibri Light" pitchFamily="34" charset="0"/>
              </a:rPr>
              <a:t>converts thermal energy into voltage signal. </a:t>
            </a:r>
          </a:p>
          <a:p>
            <a:pPr marL="742950" lvl="1" indent="-285750" algn="just" fontAlgn="base">
              <a:lnSpc>
                <a:spcPct val="80000"/>
              </a:lnSpc>
              <a:spcBef>
                <a:spcPct val="20000"/>
              </a:spcBef>
              <a:spcAft>
                <a:spcPct val="0"/>
              </a:spcAft>
              <a:buFont typeface="Arial" pitchFamily="34" charset="0"/>
              <a:buChar char="–"/>
              <a:tabLst>
                <a:tab pos="228600" algn="l"/>
              </a:tabLst>
            </a:pPr>
            <a:r>
              <a:rPr lang="en-US" sz="1700" b="1" i="1" dirty="0">
                <a:latin typeface="Calibri Light" pitchFamily="34" charset="0"/>
              </a:rPr>
              <a:t> Example</a:t>
            </a:r>
            <a:r>
              <a:rPr lang="en-US" sz="1700" dirty="0">
                <a:latin typeface="Calibri Light" pitchFamily="34" charset="0"/>
              </a:rPr>
              <a:t>: Thermocouple.</a:t>
            </a:r>
          </a:p>
          <a:p>
            <a:pPr marL="285750" lvl="0" indent="-285750">
              <a:buFont typeface="Arial" pitchFamily="34" charset="0"/>
              <a:buChar char="•"/>
            </a:pPr>
            <a:r>
              <a:rPr lang="en-US" b="1" dirty="0">
                <a:solidFill>
                  <a:srgbClr val="7030A0"/>
                </a:solidFill>
                <a:latin typeface="Calibri Light" pitchFamily="34" charset="0"/>
              </a:rPr>
              <a:t>Photoelectric/Photovoltaic (Optical) Sensor: </a:t>
            </a:r>
            <a:r>
              <a:rPr lang="en-US" dirty="0">
                <a:latin typeface="Calibri Light" pitchFamily="34" charset="0"/>
              </a:rPr>
              <a:t>has change in electrical properties due to incident light</a:t>
            </a:r>
            <a:r>
              <a:rPr lang="en-US" b="1" dirty="0">
                <a:latin typeface="Calibri Light" pitchFamily="34" charset="0"/>
              </a:rPr>
              <a:t>.</a:t>
            </a:r>
            <a:endParaRPr lang="en-US" dirty="0">
              <a:latin typeface="Calibri Light" pitchFamily="34" charset="0"/>
            </a:endParaRPr>
          </a:p>
          <a:p>
            <a:pPr marL="742950" lvl="1" indent="-285750" algn="just" fontAlgn="base">
              <a:lnSpc>
                <a:spcPct val="80000"/>
              </a:lnSpc>
              <a:spcBef>
                <a:spcPct val="20000"/>
              </a:spcBef>
              <a:spcAft>
                <a:spcPct val="0"/>
              </a:spcAft>
              <a:buFont typeface="Arial" pitchFamily="34" charset="0"/>
              <a:buChar char="–"/>
              <a:tabLst>
                <a:tab pos="228600" algn="l"/>
              </a:tabLst>
            </a:pPr>
            <a:r>
              <a:rPr lang="en-US" sz="1700" b="1" i="1" dirty="0">
                <a:latin typeface="Calibri Light" pitchFamily="34" charset="0"/>
              </a:rPr>
              <a:t> Example: </a:t>
            </a:r>
            <a:r>
              <a:rPr lang="en-US" sz="1700" dirty="0">
                <a:latin typeface="Calibri Light" pitchFamily="34" charset="0"/>
              </a:rPr>
              <a:t>LDR, Photodiode, Photo transistor, Solar cell.</a:t>
            </a:r>
          </a:p>
        </p:txBody>
      </p:sp>
    </p:spTree>
    <p:extLst>
      <p:ext uri="{BB962C8B-B14F-4D97-AF65-F5344CB8AC3E}">
        <p14:creationId xmlns:p14="http://schemas.microsoft.com/office/powerpoint/2010/main" xmlns="" val="1001113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609600"/>
          </a:xfrm>
        </p:spPr>
        <p:txBody>
          <a:bodyPr>
            <a:noAutofit/>
          </a:bodyPr>
          <a:lstStyle/>
          <a:p>
            <a:pPr marL="571500" indent="-571500" algn="l">
              <a:buBlip>
                <a:blip r:embed="rId2"/>
              </a:buBlip>
            </a:pPr>
            <a:r>
              <a:rPr lang="en-US" sz="3600" b="1" dirty="0">
                <a:solidFill>
                  <a:srgbClr val="C00000"/>
                </a:solidFill>
                <a:latin typeface="Calibri Light" pitchFamily="34" charset="0"/>
              </a:rPr>
              <a:t>Sensors:</a:t>
            </a:r>
          </a:p>
        </p:txBody>
      </p:sp>
      <p:sp>
        <p:nvSpPr>
          <p:cNvPr id="3" name="Content Placeholder 2"/>
          <p:cNvSpPr>
            <a:spLocks noGrp="1"/>
          </p:cNvSpPr>
          <p:nvPr>
            <p:ph idx="1"/>
          </p:nvPr>
        </p:nvSpPr>
        <p:spPr>
          <a:xfrm>
            <a:off x="152400" y="762000"/>
            <a:ext cx="8763000" cy="5943600"/>
          </a:xfrm>
        </p:spPr>
        <p:txBody>
          <a:bodyPr>
            <a:normAutofit fontScale="32500" lnSpcReduction="20000"/>
          </a:bodyPr>
          <a:lstStyle/>
          <a:p>
            <a:pPr marL="0" lvl="0" indent="0" algn="just">
              <a:buNone/>
            </a:pPr>
            <a:r>
              <a:rPr lang="en-US" sz="5500" b="1" dirty="0">
                <a:solidFill>
                  <a:srgbClr val="00B050"/>
                </a:solidFill>
                <a:latin typeface="Calibri Light" pitchFamily="34" charset="0"/>
              </a:rPr>
              <a:t>B) Based upon - Need of excitation for obtaining voltage/current output:</a:t>
            </a:r>
            <a:endParaRPr lang="en-US" sz="5500" dirty="0">
              <a:solidFill>
                <a:srgbClr val="00B050"/>
              </a:solidFill>
              <a:latin typeface="Calibri Light" pitchFamily="34" charset="0"/>
            </a:endParaRPr>
          </a:p>
          <a:p>
            <a:pPr lvl="0" algn="just"/>
            <a:r>
              <a:rPr lang="en-US" sz="5500" b="1" dirty="0">
                <a:solidFill>
                  <a:srgbClr val="7030A0"/>
                </a:solidFill>
                <a:latin typeface="Calibri Light" pitchFamily="34" charset="0"/>
              </a:rPr>
              <a:t>Active sensor: </a:t>
            </a:r>
            <a:r>
              <a:rPr lang="en-US" sz="5500" dirty="0">
                <a:latin typeface="Calibri Light" pitchFamily="34" charset="0"/>
              </a:rPr>
              <a:t>Active sensor is sensor which does not require any external energy to generate voltage/current output upon applying input measurand. </a:t>
            </a:r>
          </a:p>
          <a:p>
            <a:pPr lvl="1" algn="just"/>
            <a:r>
              <a:rPr lang="en-US" sz="5100" b="1" i="1" dirty="0">
                <a:latin typeface="Calibri Light" pitchFamily="34" charset="0"/>
              </a:rPr>
              <a:t>Example: </a:t>
            </a:r>
            <a:r>
              <a:rPr lang="en-US" sz="5100" dirty="0">
                <a:latin typeface="Calibri Light" pitchFamily="34" charset="0"/>
              </a:rPr>
              <a:t>Thermocouple,</a:t>
            </a:r>
            <a:r>
              <a:rPr lang="en-US" sz="5100" b="1" dirty="0">
                <a:latin typeface="Calibri Light" pitchFamily="34" charset="0"/>
              </a:rPr>
              <a:t> </a:t>
            </a:r>
            <a:r>
              <a:rPr lang="en-US" sz="5100" dirty="0">
                <a:latin typeface="Calibri Light" pitchFamily="34" charset="0"/>
              </a:rPr>
              <a:t>Piezoelectric Sensor, Solar cell</a:t>
            </a:r>
          </a:p>
          <a:p>
            <a:pPr lvl="0" algn="just"/>
            <a:r>
              <a:rPr lang="en-US" sz="5500" b="1" dirty="0">
                <a:solidFill>
                  <a:srgbClr val="7030A0"/>
                </a:solidFill>
                <a:latin typeface="Calibri Light" pitchFamily="34" charset="0"/>
              </a:rPr>
              <a:t>Passive sensor: </a:t>
            </a:r>
            <a:r>
              <a:rPr lang="en-US" sz="5500" dirty="0">
                <a:latin typeface="Calibri Light" pitchFamily="34" charset="0"/>
              </a:rPr>
              <a:t>Passive sensor is sensor which requires external energy to generate voltage/current output upon applying input measurand. </a:t>
            </a:r>
          </a:p>
          <a:p>
            <a:pPr lvl="1" algn="just"/>
            <a:r>
              <a:rPr lang="en-US" sz="5100" b="1" i="1" dirty="0">
                <a:latin typeface="Calibri Light" pitchFamily="34" charset="0"/>
              </a:rPr>
              <a:t>Example: </a:t>
            </a:r>
            <a:r>
              <a:rPr lang="en-US" sz="5100" dirty="0">
                <a:latin typeface="Calibri Light" pitchFamily="34" charset="0"/>
              </a:rPr>
              <a:t>(R,L,C) Sensor, RTD, LVDT, LDR, Strain gauge.</a:t>
            </a:r>
          </a:p>
          <a:p>
            <a:pPr marL="0" indent="0" algn="just">
              <a:buNone/>
            </a:pPr>
            <a:endParaRPr lang="en-US" sz="5500" dirty="0">
              <a:latin typeface="Calibri Light" pitchFamily="34" charset="0"/>
            </a:endParaRPr>
          </a:p>
          <a:p>
            <a:pPr marL="0" lvl="0" indent="0" algn="just">
              <a:buNone/>
            </a:pPr>
            <a:r>
              <a:rPr lang="en-US" sz="5500" b="1" dirty="0">
                <a:solidFill>
                  <a:srgbClr val="00B050"/>
                </a:solidFill>
                <a:latin typeface="Calibri Light" pitchFamily="34" charset="0"/>
              </a:rPr>
              <a:t>C) Based upon – Direct/Indirect sensing of measurand:</a:t>
            </a:r>
            <a:endParaRPr lang="en-US" sz="5500" dirty="0">
              <a:solidFill>
                <a:srgbClr val="00B050"/>
              </a:solidFill>
              <a:latin typeface="Calibri Light" pitchFamily="34" charset="0"/>
            </a:endParaRPr>
          </a:p>
          <a:p>
            <a:pPr lvl="0" algn="just"/>
            <a:r>
              <a:rPr lang="en-US" sz="5500" b="1" dirty="0">
                <a:solidFill>
                  <a:srgbClr val="7030A0"/>
                </a:solidFill>
                <a:latin typeface="Calibri Light" pitchFamily="34" charset="0"/>
              </a:rPr>
              <a:t>Primary sensor: </a:t>
            </a:r>
            <a:r>
              <a:rPr lang="en-US" sz="5500" dirty="0">
                <a:latin typeface="Calibri Light" pitchFamily="34" charset="0"/>
              </a:rPr>
              <a:t>Primary sensor is a sensor which accepts measurand as input and converts it into another quantity corresponding to input.</a:t>
            </a:r>
          </a:p>
          <a:p>
            <a:pPr lvl="1" algn="just"/>
            <a:r>
              <a:rPr lang="en-US" sz="5100" b="1" i="1" dirty="0">
                <a:latin typeface="Calibri Light" pitchFamily="34" charset="0"/>
              </a:rPr>
              <a:t>Example: </a:t>
            </a:r>
            <a:r>
              <a:rPr lang="en-US" sz="5100" dirty="0">
                <a:latin typeface="Calibri Light" pitchFamily="34" charset="0"/>
              </a:rPr>
              <a:t>LVDT for displacement measurement, Strain gauge for pressure measurement</a:t>
            </a:r>
            <a:r>
              <a:rPr lang="en-US" sz="5100" b="1" dirty="0">
                <a:latin typeface="Calibri Light" pitchFamily="34" charset="0"/>
              </a:rPr>
              <a:t>.</a:t>
            </a:r>
            <a:endParaRPr lang="en-US" sz="5100" dirty="0">
              <a:latin typeface="Calibri Light" pitchFamily="34" charset="0"/>
            </a:endParaRPr>
          </a:p>
          <a:p>
            <a:pPr lvl="0" algn="just"/>
            <a:r>
              <a:rPr lang="en-US" sz="5500" b="1" dirty="0">
                <a:solidFill>
                  <a:srgbClr val="7030A0"/>
                </a:solidFill>
                <a:latin typeface="Calibri Light" pitchFamily="34" charset="0"/>
              </a:rPr>
              <a:t>Secondary sensor: </a:t>
            </a:r>
            <a:r>
              <a:rPr lang="en-US" sz="5500" dirty="0">
                <a:latin typeface="Calibri Light" pitchFamily="34" charset="0"/>
              </a:rPr>
              <a:t>Secondary sensor is sensor which accepts output of primary sensor as input and converts it into another quantity </a:t>
            </a:r>
          </a:p>
          <a:p>
            <a:pPr lvl="1" algn="just"/>
            <a:r>
              <a:rPr lang="en-US" sz="5100" b="1" i="1" dirty="0">
                <a:latin typeface="Calibri Light" pitchFamily="34" charset="0"/>
              </a:rPr>
              <a:t>Example: </a:t>
            </a:r>
            <a:r>
              <a:rPr lang="en-US" sz="5100" dirty="0">
                <a:latin typeface="Calibri Light" pitchFamily="34" charset="0"/>
              </a:rPr>
              <a:t>LVDT for pressure measurement, LVDT for accelerometer</a:t>
            </a:r>
            <a:r>
              <a:rPr lang="en-US" sz="5100" b="1" dirty="0">
                <a:latin typeface="Calibri Light" pitchFamily="34" charset="0"/>
              </a:rPr>
              <a:t>.</a:t>
            </a:r>
            <a:endParaRPr lang="en-US" sz="5100" dirty="0">
              <a:latin typeface="Calibri Light" pitchFamily="34" charset="0"/>
            </a:endParaRPr>
          </a:p>
          <a:p>
            <a:pPr algn="just"/>
            <a:endParaRPr lang="en-US" sz="5500" dirty="0">
              <a:latin typeface="Calibri Light" pitchFamily="34" charset="0"/>
            </a:endParaRPr>
          </a:p>
          <a:p>
            <a:pPr marL="0" lvl="0" indent="0" algn="just">
              <a:buNone/>
            </a:pPr>
            <a:r>
              <a:rPr lang="en-US" sz="5500" b="1" dirty="0">
                <a:solidFill>
                  <a:srgbClr val="00B050"/>
                </a:solidFill>
                <a:latin typeface="Calibri Light" pitchFamily="34" charset="0"/>
              </a:rPr>
              <a:t>D) Based upon – form of output:</a:t>
            </a:r>
            <a:endParaRPr lang="en-US" sz="5500" dirty="0">
              <a:solidFill>
                <a:srgbClr val="00B050"/>
              </a:solidFill>
              <a:latin typeface="Calibri Light" pitchFamily="34" charset="0"/>
            </a:endParaRPr>
          </a:p>
          <a:p>
            <a:pPr lvl="0" algn="just"/>
            <a:r>
              <a:rPr lang="en-US" sz="5500" b="1" dirty="0">
                <a:solidFill>
                  <a:srgbClr val="7030A0"/>
                </a:solidFill>
                <a:latin typeface="Calibri Light" pitchFamily="34" charset="0"/>
              </a:rPr>
              <a:t>Analog sensor: </a:t>
            </a:r>
            <a:r>
              <a:rPr lang="en-US" sz="5500" dirty="0">
                <a:latin typeface="Calibri Light" pitchFamily="34" charset="0"/>
              </a:rPr>
              <a:t>Analog sensor is a sensor whose output is in analog form (graph or waveform).</a:t>
            </a:r>
          </a:p>
          <a:p>
            <a:pPr lvl="1" algn="just"/>
            <a:r>
              <a:rPr lang="en-US" sz="5100" b="1" i="1" dirty="0">
                <a:latin typeface="Calibri Light" pitchFamily="34" charset="0"/>
              </a:rPr>
              <a:t>Example</a:t>
            </a:r>
            <a:r>
              <a:rPr lang="en-US" sz="5100" dirty="0">
                <a:latin typeface="Calibri Light" pitchFamily="34" charset="0"/>
              </a:rPr>
              <a:t>: LVDT, Strain gauge, Thermocouple</a:t>
            </a:r>
            <a:r>
              <a:rPr lang="en-US" sz="5100" b="1" dirty="0">
                <a:latin typeface="Calibri Light" pitchFamily="34" charset="0"/>
              </a:rPr>
              <a:t>.</a:t>
            </a:r>
            <a:endParaRPr lang="en-US" sz="5100" dirty="0">
              <a:latin typeface="Calibri Light" pitchFamily="34" charset="0"/>
            </a:endParaRPr>
          </a:p>
          <a:p>
            <a:pPr lvl="0" algn="just"/>
            <a:r>
              <a:rPr lang="en-US" sz="5500" b="1" dirty="0">
                <a:solidFill>
                  <a:srgbClr val="7030A0"/>
                </a:solidFill>
                <a:latin typeface="Calibri Light" pitchFamily="34" charset="0"/>
              </a:rPr>
              <a:t>Digital sensor:</a:t>
            </a:r>
            <a:r>
              <a:rPr lang="en-US" sz="5500" b="1" dirty="0">
                <a:latin typeface="Calibri Light" pitchFamily="34" charset="0"/>
              </a:rPr>
              <a:t> </a:t>
            </a:r>
            <a:r>
              <a:rPr lang="en-US" sz="5500" dirty="0">
                <a:latin typeface="Calibri Light" pitchFamily="34" charset="0"/>
              </a:rPr>
              <a:t>Digital sensor is a sensor whose output is in digital form (digital code).</a:t>
            </a:r>
          </a:p>
          <a:p>
            <a:pPr lvl="1" algn="just"/>
            <a:r>
              <a:rPr lang="en-US" sz="5100" b="1" i="1" dirty="0">
                <a:latin typeface="Calibri Light" pitchFamily="34" charset="0"/>
              </a:rPr>
              <a:t>Example: </a:t>
            </a:r>
            <a:r>
              <a:rPr lang="en-US" sz="5100" dirty="0">
                <a:latin typeface="Calibri Light" pitchFamily="34" charset="0"/>
              </a:rPr>
              <a:t>Rotary and absolute encoders, Stroboscope.</a:t>
            </a:r>
          </a:p>
          <a:p>
            <a:pPr marL="0" indent="0">
              <a:buNone/>
            </a:pPr>
            <a:endParaRPr lang="en-US" dirty="0"/>
          </a:p>
        </p:txBody>
      </p:sp>
    </p:spTree>
    <p:extLst>
      <p:ext uri="{BB962C8B-B14F-4D97-AF65-F5344CB8AC3E}">
        <p14:creationId xmlns:p14="http://schemas.microsoft.com/office/powerpoint/2010/main" xmlns="" val="3880675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457200"/>
          </a:xfrm>
        </p:spPr>
        <p:txBody>
          <a:bodyPr>
            <a:noAutofit/>
          </a:bodyPr>
          <a:lstStyle/>
          <a:p>
            <a:pPr lvl="0" algn="l"/>
            <a:r>
              <a:rPr lang="en-US" sz="2800" b="1" dirty="0">
                <a:solidFill>
                  <a:srgbClr val="C00000"/>
                </a:solidFill>
                <a:latin typeface="Arial" pitchFamily="34" charset="0"/>
                <a:ea typeface="Times New Roman" pitchFamily="18" charset="0"/>
                <a:cs typeface="Arial" pitchFamily="34" charset="0"/>
              </a:rPr>
              <a:t>Comparison between active &amp; passive sensors:</a:t>
            </a:r>
            <a:endParaRPr lang="en-US" sz="2800" b="1"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785697953"/>
              </p:ext>
            </p:extLst>
          </p:nvPr>
        </p:nvGraphicFramePr>
        <p:xfrm>
          <a:off x="381000" y="990600"/>
          <a:ext cx="8458200" cy="5222113"/>
        </p:xfrm>
        <a:graphic>
          <a:graphicData uri="http://schemas.openxmlformats.org/drawingml/2006/table">
            <a:tbl>
              <a:tblPr firstRow="1" firstCol="1" bandRow="1">
                <a:tableStyleId>{17292A2E-F333-43FB-9621-5CBBE7FDCDCB}</a:tableStyleId>
              </a:tblPr>
              <a:tblGrid>
                <a:gridCol w="4307417">
                  <a:extLst>
                    <a:ext uri="{9D8B030D-6E8A-4147-A177-3AD203B41FA5}">
                      <a16:colId xmlns:a16="http://schemas.microsoft.com/office/drawing/2014/main" xmlns="" val="20000"/>
                    </a:ext>
                  </a:extLst>
                </a:gridCol>
                <a:gridCol w="4150783">
                  <a:extLst>
                    <a:ext uri="{9D8B030D-6E8A-4147-A177-3AD203B41FA5}">
                      <a16:colId xmlns:a16="http://schemas.microsoft.com/office/drawing/2014/main" xmlns="" val="20001"/>
                    </a:ext>
                  </a:extLst>
                </a:gridCol>
              </a:tblGrid>
              <a:tr h="650113">
                <a:tc>
                  <a:txBody>
                    <a:bodyPr/>
                    <a:lstStyle/>
                    <a:p>
                      <a:pPr marL="0" marR="0" algn="ctr" defTabSz="914400" rtl="0" eaLnBrk="1" latinLnBrk="0" hangingPunct="1">
                        <a:lnSpc>
                          <a:spcPct val="150000"/>
                        </a:lnSpc>
                        <a:spcBef>
                          <a:spcPts val="300"/>
                        </a:spcBef>
                        <a:spcAft>
                          <a:spcPts val="300"/>
                        </a:spcAft>
                      </a:pPr>
                      <a:r>
                        <a:rPr lang="en-US" sz="2800" b="1" kern="1200" dirty="0">
                          <a:solidFill>
                            <a:schemeClr val="bg1"/>
                          </a:solidFill>
                          <a:effectLst/>
                          <a:latin typeface="Calibri"/>
                          <a:ea typeface="Times New Roman"/>
                          <a:cs typeface="+mn-cs"/>
                        </a:rPr>
                        <a:t>Active sensor</a:t>
                      </a:r>
                    </a:p>
                  </a:txBody>
                  <a:tcPr marL="68580" marR="68580" marT="0" marB="0" anchor="ctr"/>
                </a:tc>
                <a:tc>
                  <a:txBody>
                    <a:bodyPr/>
                    <a:lstStyle/>
                    <a:p>
                      <a:pPr marL="0" marR="0" algn="ctr" defTabSz="914400" rtl="0" eaLnBrk="1" latinLnBrk="0" hangingPunct="1">
                        <a:lnSpc>
                          <a:spcPct val="150000"/>
                        </a:lnSpc>
                        <a:spcBef>
                          <a:spcPts val="300"/>
                        </a:spcBef>
                        <a:spcAft>
                          <a:spcPts val="300"/>
                        </a:spcAft>
                      </a:pPr>
                      <a:r>
                        <a:rPr lang="en-US" sz="2800" b="1" kern="1200" dirty="0">
                          <a:solidFill>
                            <a:schemeClr val="bg1"/>
                          </a:solidFill>
                          <a:effectLst/>
                          <a:latin typeface="Calibri"/>
                          <a:ea typeface="Times New Roman"/>
                          <a:cs typeface="+mn-cs"/>
                        </a:rPr>
                        <a:t>Passive sensor</a:t>
                      </a:r>
                    </a:p>
                  </a:txBody>
                  <a:tcPr marL="68580" marR="68580" marT="0" marB="0" anchor="ctr"/>
                </a:tc>
                <a:extLst>
                  <a:ext uri="{0D108BD9-81ED-4DB2-BD59-A6C34878D82A}">
                    <a16:rowId xmlns:a16="http://schemas.microsoft.com/office/drawing/2014/main" xmlns="" val="10000"/>
                  </a:ext>
                </a:extLst>
              </a:tr>
              <a:tr h="297639">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They don’t require any external power or energy.</a:t>
                      </a:r>
                    </a:p>
                  </a:txBody>
                  <a:tcPr marL="68580" marR="68580" marT="0" marB="0"/>
                </a:tc>
                <a:tc>
                  <a:txBody>
                    <a:bodyPr/>
                    <a:lstStyle/>
                    <a:p>
                      <a:pPr marL="0" marR="0" algn="l" defTabSz="914400" rtl="0" eaLnBrk="1" latinLnBrk="0" hangingPunct="1">
                        <a:lnSpc>
                          <a:spcPct val="150000"/>
                        </a:lnSpc>
                        <a:spcBef>
                          <a:spcPts val="300"/>
                        </a:spcBef>
                        <a:spcAft>
                          <a:spcPts val="300"/>
                        </a:spcAft>
                      </a:pPr>
                      <a:r>
                        <a:rPr lang="en-US" sz="2000" b="0" kern="1200">
                          <a:solidFill>
                            <a:srgbClr val="000000"/>
                          </a:solidFill>
                          <a:effectLst/>
                          <a:latin typeface="Calibri"/>
                          <a:ea typeface="Times New Roman"/>
                          <a:cs typeface="+mn-cs"/>
                        </a:rPr>
                        <a:t>They require external power or energy.</a:t>
                      </a:r>
                    </a:p>
                  </a:txBody>
                  <a:tcPr marL="68580" marR="68580" marT="0" marB="0"/>
                </a:tc>
                <a:extLst>
                  <a:ext uri="{0D108BD9-81ED-4DB2-BD59-A6C34878D82A}">
                    <a16:rowId xmlns:a16="http://schemas.microsoft.com/office/drawing/2014/main" xmlns="" val="10001"/>
                  </a:ext>
                </a:extLst>
              </a:tr>
              <a:tr h="595278">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They produce V or I signal which is proportional to the physical quantity to be measured.</a:t>
                      </a:r>
                    </a:p>
                  </a:txBody>
                  <a:tcPr marL="68580" marR="68580" marT="0" marB="0"/>
                </a:tc>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They produce variations in R, L, C w.r.t. the physical quantity to be measured</a:t>
                      </a:r>
                    </a:p>
                  </a:txBody>
                  <a:tcPr marL="68580" marR="68580" marT="0" marB="0"/>
                </a:tc>
                <a:extLst>
                  <a:ext uri="{0D108BD9-81ED-4DB2-BD59-A6C34878D82A}">
                    <a16:rowId xmlns:a16="http://schemas.microsoft.com/office/drawing/2014/main" xmlns="" val="10002"/>
                  </a:ext>
                </a:extLst>
              </a:tr>
              <a:tr h="297639">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They are simple</a:t>
                      </a:r>
                    </a:p>
                  </a:txBody>
                  <a:tcPr marL="68580" marR="68580" marT="0" marB="0"/>
                </a:tc>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They are complex</a:t>
                      </a:r>
                    </a:p>
                  </a:txBody>
                  <a:tcPr marL="68580" marR="68580" marT="0" marB="0"/>
                </a:tc>
                <a:extLst>
                  <a:ext uri="{0D108BD9-81ED-4DB2-BD59-A6C34878D82A}">
                    <a16:rowId xmlns:a16="http://schemas.microsoft.com/office/drawing/2014/main" xmlns="" val="10003"/>
                  </a:ext>
                </a:extLst>
              </a:tr>
              <a:tr h="297639">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Size is small</a:t>
                      </a:r>
                    </a:p>
                  </a:txBody>
                  <a:tcPr marL="68580" marR="68580" marT="0" marB="0"/>
                </a:tc>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Size is bulky</a:t>
                      </a:r>
                    </a:p>
                  </a:txBody>
                  <a:tcPr marL="68580" marR="68580" marT="0" marB="0"/>
                </a:tc>
                <a:extLst>
                  <a:ext uri="{0D108BD9-81ED-4DB2-BD59-A6C34878D82A}">
                    <a16:rowId xmlns:a16="http://schemas.microsoft.com/office/drawing/2014/main" xmlns="" val="10004"/>
                  </a:ext>
                </a:extLst>
              </a:tr>
              <a:tr h="297639">
                <a:tc>
                  <a:txBody>
                    <a:bodyPr/>
                    <a:lstStyle/>
                    <a:p>
                      <a:pPr marL="0" marR="0" algn="l" defTabSz="914400" rtl="0" eaLnBrk="1" latinLnBrk="0" hangingPunct="1">
                        <a:lnSpc>
                          <a:spcPct val="150000"/>
                        </a:lnSpc>
                        <a:spcBef>
                          <a:spcPts val="300"/>
                        </a:spcBef>
                        <a:spcAft>
                          <a:spcPts val="300"/>
                        </a:spcAft>
                      </a:pPr>
                      <a:r>
                        <a:rPr lang="en-US" sz="2000" b="0" kern="1200">
                          <a:solidFill>
                            <a:srgbClr val="000000"/>
                          </a:solidFill>
                          <a:effectLst/>
                          <a:latin typeface="Calibri"/>
                          <a:ea typeface="Times New Roman"/>
                          <a:cs typeface="+mn-cs"/>
                        </a:rPr>
                        <a:t>Less expensive</a:t>
                      </a:r>
                    </a:p>
                  </a:txBody>
                  <a:tcPr marL="68580" marR="68580" marT="0" marB="0"/>
                </a:tc>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More expensive</a:t>
                      </a:r>
                    </a:p>
                  </a:txBody>
                  <a:tcPr marL="68580" marR="68580" marT="0" marB="0"/>
                </a:tc>
                <a:extLst>
                  <a:ext uri="{0D108BD9-81ED-4DB2-BD59-A6C34878D82A}">
                    <a16:rowId xmlns:a16="http://schemas.microsoft.com/office/drawing/2014/main" xmlns="" val="10005"/>
                  </a:ext>
                </a:extLst>
              </a:tr>
              <a:tr h="595278">
                <a:tc>
                  <a:txBody>
                    <a:bodyPr/>
                    <a:lstStyle/>
                    <a:p>
                      <a:pPr marL="0" marR="0" algn="l" defTabSz="914400" rtl="0" eaLnBrk="1" latinLnBrk="0" hangingPunct="1">
                        <a:lnSpc>
                          <a:spcPct val="150000"/>
                        </a:lnSpc>
                        <a:spcBef>
                          <a:spcPts val="300"/>
                        </a:spcBef>
                        <a:spcAft>
                          <a:spcPts val="300"/>
                        </a:spcAft>
                      </a:pPr>
                      <a:r>
                        <a:rPr lang="en-US" sz="2000" b="0" kern="1200">
                          <a:solidFill>
                            <a:srgbClr val="000000"/>
                          </a:solidFill>
                          <a:effectLst/>
                          <a:latin typeface="Calibri"/>
                          <a:ea typeface="Times New Roman"/>
                          <a:cs typeface="+mn-cs"/>
                        </a:rPr>
                        <a:t>Examples: Thermocouple, Piezoelectric devices, Photovoltaic cells etc.</a:t>
                      </a:r>
                    </a:p>
                  </a:txBody>
                  <a:tcPr marL="68580" marR="68580" marT="0" marB="0"/>
                </a:tc>
                <a:tc>
                  <a:txBody>
                    <a:bodyPr/>
                    <a:lstStyle/>
                    <a:p>
                      <a:pPr marL="0" marR="0" algn="l" defTabSz="914400" rtl="0" eaLnBrk="1" latinLnBrk="0" hangingPunct="1">
                        <a:lnSpc>
                          <a:spcPct val="150000"/>
                        </a:lnSpc>
                        <a:spcBef>
                          <a:spcPts val="300"/>
                        </a:spcBef>
                        <a:spcAft>
                          <a:spcPts val="300"/>
                        </a:spcAft>
                      </a:pPr>
                      <a:r>
                        <a:rPr lang="en-US" sz="2000" b="0" kern="1200" dirty="0">
                          <a:solidFill>
                            <a:srgbClr val="000000"/>
                          </a:solidFill>
                          <a:effectLst/>
                          <a:latin typeface="Calibri"/>
                          <a:ea typeface="Times New Roman"/>
                          <a:cs typeface="+mn-cs"/>
                        </a:rPr>
                        <a:t>Examples: Variable (R,L,C), LDR, RTD, LVDT etc.</a:t>
                      </a:r>
                    </a:p>
                  </a:txBody>
                  <a:tcPr marL="68580" marR="68580" marT="0" marB="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xmlns="" val="338619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305800" cy="457200"/>
          </a:xfrm>
        </p:spPr>
        <p:txBody>
          <a:bodyPr>
            <a:noAutofit/>
          </a:bodyPr>
          <a:lstStyle/>
          <a:p>
            <a:pPr lvl="0" algn="l"/>
            <a:r>
              <a:rPr lang="en-US" sz="2800" b="1" dirty="0">
                <a:solidFill>
                  <a:srgbClr val="C00000"/>
                </a:solidFill>
                <a:latin typeface="Arial" pitchFamily="34" charset="0"/>
                <a:ea typeface="Times New Roman" pitchFamily="18" charset="0"/>
                <a:cs typeface="Arial" pitchFamily="34" charset="0"/>
              </a:rPr>
              <a:t>Comparison between Analog &amp; Digital sensors:</a:t>
            </a:r>
            <a:endParaRPr lang="en-US" sz="2800" b="1"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3568330021"/>
              </p:ext>
            </p:extLst>
          </p:nvPr>
        </p:nvGraphicFramePr>
        <p:xfrm>
          <a:off x="304800" y="1371600"/>
          <a:ext cx="8382000" cy="3948878"/>
        </p:xfrm>
        <a:graphic>
          <a:graphicData uri="http://schemas.openxmlformats.org/drawingml/2006/table">
            <a:tbl>
              <a:tblPr firstRow="1" firstCol="1" bandRow="1">
                <a:tableStyleId>{17292A2E-F333-43FB-9621-5CBBE7FDCDCB}</a:tableStyleId>
              </a:tblPr>
              <a:tblGrid>
                <a:gridCol w="4079735">
                  <a:extLst>
                    <a:ext uri="{9D8B030D-6E8A-4147-A177-3AD203B41FA5}">
                      <a16:colId xmlns:a16="http://schemas.microsoft.com/office/drawing/2014/main" xmlns="" val="20000"/>
                    </a:ext>
                  </a:extLst>
                </a:gridCol>
                <a:gridCol w="4302265">
                  <a:extLst>
                    <a:ext uri="{9D8B030D-6E8A-4147-A177-3AD203B41FA5}">
                      <a16:colId xmlns:a16="http://schemas.microsoft.com/office/drawing/2014/main" xmlns="" val="20001"/>
                    </a:ext>
                  </a:extLst>
                </a:gridCol>
              </a:tblGrid>
              <a:tr h="611060">
                <a:tc>
                  <a:txBody>
                    <a:bodyPr/>
                    <a:lstStyle/>
                    <a:p>
                      <a:pPr marL="0" marR="0" algn="ctr">
                        <a:lnSpc>
                          <a:spcPct val="150000"/>
                        </a:lnSpc>
                        <a:spcBef>
                          <a:spcPts val="300"/>
                        </a:spcBef>
                        <a:spcAft>
                          <a:spcPts val="300"/>
                        </a:spcAft>
                      </a:pPr>
                      <a:r>
                        <a:rPr lang="en-US" sz="2800" dirty="0">
                          <a:effectLst/>
                        </a:rPr>
                        <a:t>Analog sensor</a:t>
                      </a:r>
                      <a:endParaRPr lang="en-US" sz="2400" dirty="0">
                        <a:effectLst/>
                        <a:latin typeface="Calibri"/>
                        <a:ea typeface="Times New Roman"/>
                        <a:cs typeface="Times New Roman"/>
                      </a:endParaRPr>
                    </a:p>
                  </a:txBody>
                  <a:tcPr marL="68580" marR="68580" marT="0" marB="0" anchor="ctr"/>
                </a:tc>
                <a:tc>
                  <a:txBody>
                    <a:bodyPr/>
                    <a:lstStyle/>
                    <a:p>
                      <a:pPr marL="0" marR="0" algn="ctr">
                        <a:lnSpc>
                          <a:spcPct val="150000"/>
                        </a:lnSpc>
                        <a:spcBef>
                          <a:spcPts val="300"/>
                        </a:spcBef>
                        <a:spcAft>
                          <a:spcPts val="300"/>
                        </a:spcAft>
                      </a:pPr>
                      <a:r>
                        <a:rPr lang="en-US" sz="2800" dirty="0">
                          <a:effectLst/>
                        </a:rPr>
                        <a:t>Digital sensor</a:t>
                      </a:r>
                      <a:endParaRPr lang="en-US" sz="2400" dirty="0">
                        <a:effectLst/>
                        <a:latin typeface="Calibri"/>
                        <a:ea typeface="Times New Roman"/>
                        <a:cs typeface="Times New Roman"/>
                      </a:endParaRPr>
                    </a:p>
                  </a:txBody>
                  <a:tcPr marL="68580" marR="68580" marT="0" marB="0" anchor="ctr"/>
                </a:tc>
                <a:extLst>
                  <a:ext uri="{0D108BD9-81ED-4DB2-BD59-A6C34878D82A}">
                    <a16:rowId xmlns:a16="http://schemas.microsoft.com/office/drawing/2014/main" xmlns="" val="10000"/>
                  </a:ext>
                </a:extLst>
              </a:tr>
              <a:tr h="463279">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Output is in analog form</a:t>
                      </a:r>
                      <a:endParaRPr lang="en-US" sz="2000" b="0" dirty="0">
                        <a:effectLst/>
                        <a:latin typeface="Calibri"/>
                        <a:ea typeface="Times New Roman"/>
                      </a:endParaRPr>
                    </a:p>
                  </a:txBody>
                  <a:tcPr marL="68580" marR="68580" marT="0" marB="0" anchor="ctr"/>
                </a:tc>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Output is in digital form</a:t>
                      </a:r>
                      <a:endParaRPr lang="en-US" sz="2000" b="0" dirty="0">
                        <a:effectLst/>
                        <a:latin typeface="Calibri"/>
                        <a:ea typeface="Times New Roman"/>
                      </a:endParaRPr>
                    </a:p>
                  </a:txBody>
                  <a:tcPr marL="68580" marR="68580" marT="0" marB="0" anchor="ctr"/>
                </a:tc>
                <a:extLst>
                  <a:ext uri="{0D108BD9-81ED-4DB2-BD59-A6C34878D82A}">
                    <a16:rowId xmlns:a16="http://schemas.microsoft.com/office/drawing/2014/main" xmlns="" val="10001"/>
                  </a:ext>
                </a:extLst>
              </a:tr>
              <a:tr h="358113">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Can be directly measured</a:t>
                      </a:r>
                      <a:endParaRPr lang="en-US" sz="2000" b="0" dirty="0">
                        <a:effectLst/>
                        <a:latin typeface="Calibri"/>
                        <a:ea typeface="Times New Roman"/>
                      </a:endParaRPr>
                    </a:p>
                  </a:txBody>
                  <a:tcPr marL="68580" marR="68580" marT="0" marB="0" anchor="ctr"/>
                </a:tc>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One line can transmit multiple sensors</a:t>
                      </a:r>
                      <a:endParaRPr lang="en-US" sz="2000" b="0" dirty="0">
                        <a:effectLst/>
                        <a:latin typeface="Calibri"/>
                        <a:ea typeface="Times New Roman"/>
                      </a:endParaRPr>
                    </a:p>
                  </a:txBody>
                  <a:tcPr marL="68580" marR="68580" marT="0" marB="0" anchor="ctr"/>
                </a:tc>
                <a:extLst>
                  <a:ext uri="{0D108BD9-81ED-4DB2-BD59-A6C34878D82A}">
                    <a16:rowId xmlns:a16="http://schemas.microsoft.com/office/drawing/2014/main" xmlns="" val="10002"/>
                  </a:ext>
                </a:extLst>
              </a:tr>
              <a:tr h="358113">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No compatibility issues</a:t>
                      </a:r>
                      <a:endParaRPr lang="en-US" sz="2000" b="0" dirty="0">
                        <a:effectLst/>
                        <a:latin typeface="Calibri"/>
                        <a:ea typeface="Times New Roman"/>
                      </a:endParaRPr>
                    </a:p>
                  </a:txBody>
                  <a:tcPr marL="68580" marR="68580" marT="0" marB="0" anchor="ctr"/>
                </a:tc>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Need to interpret the 1’s and 0’s</a:t>
                      </a:r>
                      <a:endParaRPr lang="en-US" sz="2000" b="0" dirty="0">
                        <a:effectLst/>
                        <a:latin typeface="Calibri"/>
                        <a:ea typeface="Times New Roman"/>
                      </a:endParaRPr>
                    </a:p>
                  </a:txBody>
                  <a:tcPr marL="68580" marR="68580" marT="0" marB="0" anchor="ctr"/>
                </a:tc>
                <a:extLst>
                  <a:ext uri="{0D108BD9-81ED-4DB2-BD59-A6C34878D82A}">
                    <a16:rowId xmlns:a16="http://schemas.microsoft.com/office/drawing/2014/main" xmlns="" val="10003"/>
                  </a:ext>
                </a:extLst>
              </a:tr>
              <a:tr h="429736">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More prone to noise</a:t>
                      </a:r>
                      <a:endParaRPr lang="en-US" sz="2000" b="0" dirty="0">
                        <a:effectLst/>
                        <a:latin typeface="Calibri"/>
                        <a:ea typeface="Times New Roman"/>
                      </a:endParaRPr>
                    </a:p>
                  </a:txBody>
                  <a:tcPr marL="68580" marR="68580" marT="0" marB="0" anchor="ctr"/>
                </a:tc>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Need to make sure clocks a synced up</a:t>
                      </a:r>
                      <a:endParaRPr lang="en-US" sz="2000" b="0" dirty="0">
                        <a:effectLst/>
                        <a:latin typeface="Calibri"/>
                        <a:ea typeface="Times New Roman"/>
                      </a:endParaRPr>
                    </a:p>
                  </a:txBody>
                  <a:tcPr marL="68580" marR="68580" marT="0" marB="0" anchor="ctr"/>
                </a:tc>
                <a:extLst>
                  <a:ext uri="{0D108BD9-81ED-4DB2-BD59-A6C34878D82A}">
                    <a16:rowId xmlns:a16="http://schemas.microsoft.com/office/drawing/2014/main" xmlns="" val="10004"/>
                  </a:ext>
                </a:extLst>
              </a:tr>
              <a:tr h="572981">
                <a:tc>
                  <a:txBody>
                    <a:bodyPr/>
                    <a:lstStyle/>
                    <a:p>
                      <a:pPr marL="0" marR="0">
                        <a:lnSpc>
                          <a:spcPct val="150000"/>
                        </a:lnSpc>
                        <a:spcBef>
                          <a:spcPts val="300"/>
                        </a:spcBef>
                        <a:spcAft>
                          <a:spcPts val="300"/>
                        </a:spcAft>
                      </a:pPr>
                      <a:r>
                        <a:rPr lang="en-US" sz="2000" b="0">
                          <a:solidFill>
                            <a:srgbClr val="000000"/>
                          </a:solidFill>
                          <a:effectLst/>
                          <a:latin typeface="Calibri"/>
                          <a:ea typeface="Times New Roman"/>
                        </a:rPr>
                        <a:t>Ex. </a:t>
                      </a:r>
                      <a:r>
                        <a:rPr lang="en-US" sz="2000" b="0">
                          <a:effectLst/>
                          <a:latin typeface="Calibri"/>
                          <a:ea typeface="Times New Roman"/>
                        </a:rPr>
                        <a:t>LVDT, Strain gauge, Thermocouple</a:t>
                      </a:r>
                    </a:p>
                  </a:txBody>
                  <a:tcPr marL="68580" marR="68580" marT="0" marB="0" anchor="ctr"/>
                </a:tc>
                <a:tc>
                  <a:txBody>
                    <a:bodyPr/>
                    <a:lstStyle/>
                    <a:p>
                      <a:pPr marL="0" marR="0">
                        <a:lnSpc>
                          <a:spcPct val="150000"/>
                        </a:lnSpc>
                        <a:spcBef>
                          <a:spcPts val="300"/>
                        </a:spcBef>
                        <a:spcAft>
                          <a:spcPts val="300"/>
                        </a:spcAft>
                      </a:pPr>
                      <a:r>
                        <a:rPr lang="en-US" sz="2000" b="0" dirty="0">
                          <a:effectLst/>
                          <a:latin typeface="Calibri"/>
                          <a:ea typeface="Times New Roman"/>
                        </a:rPr>
                        <a:t>Rotary and absolute encoders, Stroboscope</a:t>
                      </a:r>
                    </a:p>
                  </a:txBody>
                  <a:tcPr marL="68580" marR="68580" marT="0" marB="0" anchor="ctr"/>
                </a:tc>
                <a:extLst>
                  <a:ext uri="{0D108BD9-81ED-4DB2-BD59-A6C34878D82A}">
                    <a16:rowId xmlns:a16="http://schemas.microsoft.com/office/drawing/2014/main" xmlns="" val="10005"/>
                  </a:ext>
                </a:extLst>
              </a:tr>
              <a:tr h="559519">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Output is in analog form</a:t>
                      </a:r>
                      <a:endParaRPr lang="en-US" sz="2000" b="0" dirty="0">
                        <a:effectLst/>
                        <a:latin typeface="Calibri"/>
                        <a:ea typeface="Times New Roman"/>
                      </a:endParaRPr>
                    </a:p>
                  </a:txBody>
                  <a:tcPr marL="68580" marR="68580" marT="0" marB="0" anchor="ctr"/>
                </a:tc>
                <a:tc>
                  <a:txBody>
                    <a:bodyPr/>
                    <a:lstStyle/>
                    <a:p>
                      <a:pPr marL="0" marR="0">
                        <a:lnSpc>
                          <a:spcPct val="150000"/>
                        </a:lnSpc>
                        <a:spcBef>
                          <a:spcPts val="300"/>
                        </a:spcBef>
                        <a:spcAft>
                          <a:spcPts val="300"/>
                        </a:spcAft>
                      </a:pPr>
                      <a:r>
                        <a:rPr lang="en-US" sz="2000" b="0" dirty="0">
                          <a:solidFill>
                            <a:srgbClr val="000000"/>
                          </a:solidFill>
                          <a:effectLst/>
                          <a:latin typeface="Calibri"/>
                          <a:ea typeface="Times New Roman"/>
                        </a:rPr>
                        <a:t>Output is in digital form</a:t>
                      </a:r>
                      <a:endParaRPr lang="en-US" sz="2000" b="0" dirty="0">
                        <a:effectLst/>
                        <a:latin typeface="Calibri"/>
                        <a:ea typeface="Times New Roman"/>
                      </a:endParaRPr>
                    </a:p>
                  </a:txBody>
                  <a:tcPr marL="68580" marR="68580"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xmlns="" val="1350790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533400"/>
          </a:xfrm>
        </p:spPr>
        <p:txBody>
          <a:bodyPr>
            <a:noAutofit/>
          </a:bodyPr>
          <a:lstStyle/>
          <a:p>
            <a:r>
              <a:rPr lang="en-US" sz="2600" b="1" dirty="0">
                <a:solidFill>
                  <a:srgbClr val="C00000"/>
                </a:solidFill>
                <a:latin typeface="Calibri Light" pitchFamily="34" charset="0"/>
              </a:rPr>
              <a:t>#Linear variable differential transformers (</a:t>
            </a:r>
            <a:r>
              <a:rPr lang="en-US" sz="2600" b="1" dirty="0">
                <a:solidFill>
                  <a:srgbClr val="0000FF"/>
                </a:solidFill>
                <a:latin typeface="Calibri Light" pitchFamily="34" charset="0"/>
              </a:rPr>
              <a:t>LVDT</a:t>
            </a:r>
            <a:r>
              <a:rPr lang="en-US" sz="2600" b="1" dirty="0">
                <a:solidFill>
                  <a:srgbClr val="C00000"/>
                </a:solidFill>
                <a:latin typeface="Calibri Light" pitchFamily="34" charset="0"/>
              </a:rPr>
              <a:t>): </a:t>
            </a:r>
            <a:r>
              <a:rPr lang="en-US" sz="2600" b="1" dirty="0">
                <a:solidFill>
                  <a:srgbClr val="7030A0"/>
                </a:solidFill>
                <a:latin typeface="Calibri Light" pitchFamily="34" charset="0"/>
              </a:rPr>
              <a:t>motion sensor</a:t>
            </a:r>
            <a:endParaRPr lang="en-US" sz="2600" dirty="0">
              <a:solidFill>
                <a:srgbClr val="7030A0"/>
              </a:solidFill>
              <a:latin typeface="Calibri Light" pitchFamily="34" charset="0"/>
            </a:endParaRPr>
          </a:p>
        </p:txBody>
      </p:sp>
      <p:sp>
        <p:nvSpPr>
          <p:cNvPr id="3" name="Content Placeholder 2"/>
          <p:cNvSpPr>
            <a:spLocks noGrp="1"/>
          </p:cNvSpPr>
          <p:nvPr>
            <p:ph idx="1"/>
          </p:nvPr>
        </p:nvSpPr>
        <p:spPr>
          <a:xfrm>
            <a:off x="152400" y="655637"/>
            <a:ext cx="8686800" cy="5592763"/>
          </a:xfrm>
        </p:spPr>
        <p:txBody>
          <a:bodyPr>
            <a:normAutofit/>
          </a:bodyPr>
          <a:lstStyle/>
          <a:p>
            <a:pPr algn="just"/>
            <a:r>
              <a:rPr lang="en-US" sz="2400" b="1" i="1" dirty="0">
                <a:solidFill>
                  <a:srgbClr val="7030A0"/>
                </a:solidFill>
              </a:rPr>
              <a:t>LVDT -</a:t>
            </a:r>
            <a:r>
              <a:rPr lang="en-US" sz="2400" dirty="0"/>
              <a:t> </a:t>
            </a:r>
            <a:r>
              <a:rPr lang="en-US" sz="2400" i="1" dirty="0">
                <a:solidFill>
                  <a:srgbClr val="0000FF"/>
                </a:solidFill>
              </a:rPr>
              <a:t>Linear Variable Differential Transformer. </a:t>
            </a:r>
          </a:p>
          <a:p>
            <a:pPr algn="just"/>
            <a:r>
              <a:rPr lang="en-US" sz="2400" dirty="0"/>
              <a:t>It is </a:t>
            </a:r>
            <a:r>
              <a:rPr lang="en-US" sz="2400" dirty="0">
                <a:solidFill>
                  <a:srgbClr val="FF0000"/>
                </a:solidFill>
              </a:rPr>
              <a:t>inductive transducer </a:t>
            </a:r>
            <a:r>
              <a:rPr lang="en-US" sz="2400" dirty="0"/>
              <a:t>that </a:t>
            </a:r>
            <a:r>
              <a:rPr lang="en-US" sz="2400" dirty="0">
                <a:solidFill>
                  <a:srgbClr val="00B050"/>
                </a:solidFill>
              </a:rPr>
              <a:t>converts the linear motion into the electrical signal.</a:t>
            </a:r>
            <a:r>
              <a:rPr lang="en-US" sz="2400" dirty="0"/>
              <a:t> </a:t>
            </a:r>
          </a:p>
          <a:p>
            <a:pPr algn="just"/>
            <a:r>
              <a:rPr lang="en-US" sz="2400" dirty="0"/>
              <a:t>LVDTs are used to </a:t>
            </a:r>
            <a:r>
              <a:rPr lang="en-US" sz="2400" i="1" dirty="0">
                <a:solidFill>
                  <a:srgbClr val="0000FF"/>
                </a:solidFill>
              </a:rPr>
              <a:t>measure displacement. </a:t>
            </a:r>
          </a:p>
          <a:p>
            <a:pPr algn="just"/>
            <a:r>
              <a:rPr lang="en-US" sz="2400" dirty="0"/>
              <a:t>The o/p across secondary of this transformer is the </a:t>
            </a:r>
            <a:r>
              <a:rPr lang="en-US" sz="2400" i="1" dirty="0">
                <a:solidFill>
                  <a:srgbClr val="0000FF"/>
                </a:solidFill>
              </a:rPr>
              <a:t>differential. </a:t>
            </a:r>
          </a:p>
          <a:p>
            <a:pPr algn="just"/>
            <a:r>
              <a:rPr lang="en-US" sz="2400" dirty="0"/>
              <a:t>LVDT consists of a </a:t>
            </a:r>
            <a:r>
              <a:rPr lang="en-US" sz="2400" dirty="0">
                <a:solidFill>
                  <a:srgbClr val="FF0000"/>
                </a:solidFill>
              </a:rPr>
              <a:t>coil assembly </a:t>
            </a:r>
            <a:r>
              <a:rPr lang="en-US" sz="2400" dirty="0"/>
              <a:t>and a </a:t>
            </a:r>
            <a:r>
              <a:rPr lang="en-US" sz="2400" dirty="0">
                <a:solidFill>
                  <a:srgbClr val="FF0000"/>
                </a:solidFill>
              </a:rPr>
              <a:t>core</a:t>
            </a:r>
            <a:r>
              <a:rPr lang="en-US" sz="2400" dirty="0"/>
              <a:t>.</a:t>
            </a:r>
          </a:p>
          <a:p>
            <a:pPr algn="just"/>
            <a:r>
              <a:rPr lang="en-US" sz="2400" dirty="0"/>
              <a:t>Magnetic flux produced by the primary is coupled to the two secondary coils, inducing an AC voltage in each coil.</a:t>
            </a:r>
          </a:p>
          <a:p>
            <a:pPr marL="0" indent="0">
              <a:buNone/>
            </a:pPr>
            <a:endParaRPr lang="en-US" dirty="0"/>
          </a:p>
        </p:txBody>
      </p:sp>
      <p:pic>
        <p:nvPicPr>
          <p:cNvPr id="4" name="Picture 3"/>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800" y="4114800"/>
            <a:ext cx="2724150" cy="2514600"/>
          </a:xfrm>
          <a:prstGeom prst="rect">
            <a:avLst/>
          </a:prstGeom>
          <a:noFill/>
          <a:ln>
            <a:noFill/>
          </a:ln>
        </p:spPr>
      </p:pic>
      <p:pic>
        <p:nvPicPr>
          <p:cNvPr id="5" name="Picture 4"/>
          <p:cNvPicPr/>
          <p:nvPr/>
        </p:nvPicPr>
        <p:blipFill rotWithShape="1">
          <a:blip r:embed="rId3">
            <a:extLst>
              <a:ext uri="{28A0092B-C50C-407E-A947-70E740481C1C}">
                <a14:useLocalDpi xmlns:a14="http://schemas.microsoft.com/office/drawing/2010/main" xmlns="" val="0"/>
              </a:ext>
            </a:extLst>
          </a:blip>
          <a:srcRect l="5958" r="2331"/>
          <a:stretch/>
        </p:blipFill>
        <p:spPr bwMode="auto">
          <a:xfrm>
            <a:off x="5181600" y="3962400"/>
            <a:ext cx="3600450" cy="2880756"/>
          </a:xfrm>
          <a:prstGeom prst="rect">
            <a:avLst/>
          </a:prstGeom>
          <a:noFill/>
          <a:ln>
            <a:noFill/>
          </a:ln>
          <a:extLst>
            <a:ext uri="{53640926-AAD7-44D8-BBD7-CCE9431645EC}">
              <a14:shadowObscured xmlns:a14="http://schemas.microsoft.com/office/drawing/2010/main" xmlns=""/>
            </a:ext>
          </a:extLst>
        </p:spPr>
      </p:pic>
    </p:spTree>
    <p:extLst>
      <p:ext uri="{BB962C8B-B14F-4D97-AF65-F5344CB8AC3E}">
        <p14:creationId xmlns:p14="http://schemas.microsoft.com/office/powerpoint/2010/main" xmlns="" val="149286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5334000" cy="381000"/>
          </a:xfrm>
        </p:spPr>
        <p:txBody>
          <a:bodyPr>
            <a:noAutofit/>
          </a:bodyPr>
          <a:lstStyle/>
          <a:p>
            <a:pPr algn="l"/>
            <a:r>
              <a:rPr lang="en-US" sz="3600" b="1" dirty="0">
                <a:solidFill>
                  <a:srgbClr val="C00000"/>
                </a:solidFill>
                <a:latin typeface="Calibri Light" pitchFamily="34" charset="0"/>
              </a:rPr>
              <a:t>LVDT:</a:t>
            </a:r>
          </a:p>
        </p:txBody>
      </p:sp>
      <p:sp>
        <p:nvSpPr>
          <p:cNvPr id="3" name="Content Placeholder 2"/>
          <p:cNvSpPr>
            <a:spLocks noGrp="1"/>
          </p:cNvSpPr>
          <p:nvPr>
            <p:ph idx="1"/>
          </p:nvPr>
        </p:nvSpPr>
        <p:spPr>
          <a:xfrm>
            <a:off x="228600" y="609600"/>
            <a:ext cx="8534400" cy="5791200"/>
          </a:xfrm>
        </p:spPr>
        <p:txBody>
          <a:bodyPr>
            <a:normAutofit fontScale="55000" lnSpcReduction="20000"/>
          </a:bodyPr>
          <a:lstStyle/>
          <a:p>
            <a:pPr marL="0" indent="0" algn="just">
              <a:buNone/>
            </a:pPr>
            <a:r>
              <a:rPr lang="en-US" sz="4500" b="1" dirty="0">
                <a:solidFill>
                  <a:srgbClr val="0000FF"/>
                </a:solidFill>
                <a:latin typeface="Calibri Light" pitchFamily="34" charset="0"/>
              </a:rPr>
              <a:t>Main Features of Construction:</a:t>
            </a:r>
            <a:endParaRPr lang="en-US" sz="4500" dirty="0">
              <a:solidFill>
                <a:srgbClr val="0000FF"/>
              </a:solidFill>
              <a:latin typeface="Calibri Light" pitchFamily="34" charset="0"/>
            </a:endParaRPr>
          </a:p>
          <a:p>
            <a:pPr lvl="0" algn="just">
              <a:lnSpc>
                <a:spcPct val="120000"/>
              </a:lnSpc>
            </a:pPr>
            <a:r>
              <a:rPr lang="en-US" sz="3800" dirty="0">
                <a:latin typeface="Calibri Light" pitchFamily="34" charset="0"/>
              </a:rPr>
              <a:t>The LVDT consists of a </a:t>
            </a:r>
            <a:r>
              <a:rPr lang="en-US" sz="3800" i="1" dirty="0">
                <a:solidFill>
                  <a:srgbClr val="0000FF"/>
                </a:solidFill>
                <a:latin typeface="Calibri Light" pitchFamily="34" charset="0"/>
              </a:rPr>
              <a:t>primary winding </a:t>
            </a:r>
            <a:r>
              <a:rPr lang="en-US" sz="3800" dirty="0">
                <a:solidFill>
                  <a:srgbClr val="FF0000"/>
                </a:solidFill>
                <a:latin typeface="Calibri Light" pitchFamily="34" charset="0"/>
              </a:rPr>
              <a:t>P</a:t>
            </a:r>
            <a:r>
              <a:rPr lang="en-US" sz="3800" dirty="0">
                <a:latin typeface="Calibri Light" pitchFamily="34" charset="0"/>
              </a:rPr>
              <a:t> and </a:t>
            </a:r>
            <a:r>
              <a:rPr lang="en-US" sz="3800" i="1" dirty="0">
                <a:solidFill>
                  <a:srgbClr val="0000FF"/>
                </a:solidFill>
                <a:latin typeface="Calibri Light" pitchFamily="34" charset="0"/>
              </a:rPr>
              <a:t>two secondary windings </a:t>
            </a:r>
            <a:r>
              <a:rPr lang="en-US" sz="3800" dirty="0">
                <a:solidFill>
                  <a:srgbClr val="FF0000"/>
                </a:solidFill>
                <a:latin typeface="Calibri Light" pitchFamily="34" charset="0"/>
              </a:rPr>
              <a:t>S</a:t>
            </a:r>
            <a:r>
              <a:rPr lang="en-US" sz="3800" baseline="-25000" dirty="0">
                <a:solidFill>
                  <a:srgbClr val="FF0000"/>
                </a:solidFill>
                <a:latin typeface="Calibri Light" pitchFamily="34" charset="0"/>
              </a:rPr>
              <a:t>1</a:t>
            </a:r>
            <a:r>
              <a:rPr lang="en-US" sz="3800" dirty="0">
                <a:latin typeface="Calibri Light" pitchFamily="34" charset="0"/>
              </a:rPr>
              <a:t> and </a:t>
            </a:r>
            <a:r>
              <a:rPr lang="en-US" sz="3800" dirty="0">
                <a:solidFill>
                  <a:srgbClr val="FF0000"/>
                </a:solidFill>
                <a:latin typeface="Calibri Light" pitchFamily="34" charset="0"/>
              </a:rPr>
              <a:t>S</a:t>
            </a:r>
            <a:r>
              <a:rPr lang="en-US" sz="3800" baseline="-25000" dirty="0">
                <a:solidFill>
                  <a:srgbClr val="FF0000"/>
                </a:solidFill>
                <a:latin typeface="Calibri Light" pitchFamily="34" charset="0"/>
              </a:rPr>
              <a:t>2</a:t>
            </a:r>
            <a:r>
              <a:rPr lang="en-US" sz="3800" dirty="0">
                <a:latin typeface="Calibri Light" pitchFamily="34" charset="0"/>
              </a:rPr>
              <a:t> wound on a cylindrical former (which is hollow in nature and contains the core).</a:t>
            </a:r>
          </a:p>
          <a:p>
            <a:pPr lvl="0" algn="just">
              <a:lnSpc>
                <a:spcPct val="120000"/>
              </a:lnSpc>
            </a:pPr>
            <a:r>
              <a:rPr lang="en-US" sz="3800" dirty="0">
                <a:latin typeface="Calibri Light" pitchFamily="34" charset="0"/>
              </a:rPr>
              <a:t>Both the secondary windings have an </a:t>
            </a:r>
            <a:r>
              <a:rPr lang="en-US" sz="3800" dirty="0">
                <a:solidFill>
                  <a:srgbClr val="0000FF"/>
                </a:solidFill>
                <a:latin typeface="Calibri Light" pitchFamily="34" charset="0"/>
              </a:rPr>
              <a:t>equal number of turns</a:t>
            </a:r>
            <a:r>
              <a:rPr lang="en-US" sz="3800" dirty="0">
                <a:latin typeface="Calibri Light" pitchFamily="34" charset="0"/>
              </a:rPr>
              <a:t>, and we place them on either side of primary winding</a:t>
            </a:r>
          </a:p>
          <a:p>
            <a:pPr lvl="0" algn="just">
              <a:lnSpc>
                <a:spcPct val="120000"/>
              </a:lnSpc>
            </a:pPr>
            <a:r>
              <a:rPr lang="en-US" sz="3800" dirty="0">
                <a:latin typeface="Calibri Light" pitchFamily="34" charset="0"/>
              </a:rPr>
              <a:t>The primary winding is connected to an </a:t>
            </a:r>
            <a:r>
              <a:rPr lang="en-US" sz="3800" dirty="0">
                <a:solidFill>
                  <a:srgbClr val="0000FF"/>
                </a:solidFill>
                <a:latin typeface="Calibri Light" pitchFamily="34" charset="0"/>
              </a:rPr>
              <a:t>AC source </a:t>
            </a:r>
            <a:r>
              <a:rPr lang="en-US" sz="3800" dirty="0">
                <a:latin typeface="Calibri Light" pitchFamily="34" charset="0"/>
              </a:rPr>
              <a:t>which produces a flux in the air gap and voltages are induced in secondary windings.</a:t>
            </a:r>
          </a:p>
          <a:p>
            <a:pPr lvl="0" algn="just">
              <a:lnSpc>
                <a:spcPct val="120000"/>
              </a:lnSpc>
            </a:pPr>
            <a:r>
              <a:rPr lang="en-US" sz="3800" dirty="0">
                <a:latin typeface="Calibri Light" pitchFamily="34" charset="0"/>
              </a:rPr>
              <a:t>A movable soft iron core is placed inside the former and displacement to be measured is connected to the iron core.</a:t>
            </a:r>
          </a:p>
          <a:p>
            <a:pPr lvl="0" algn="just">
              <a:lnSpc>
                <a:spcPct val="120000"/>
              </a:lnSpc>
            </a:pPr>
            <a:r>
              <a:rPr lang="en-US" sz="3800" dirty="0">
                <a:latin typeface="Calibri Light" pitchFamily="34" charset="0"/>
              </a:rPr>
              <a:t>The iron core is generally of high permeability which helps in reducing </a:t>
            </a:r>
            <a:r>
              <a:rPr lang="en-US" sz="3800" i="1" dirty="0">
                <a:solidFill>
                  <a:srgbClr val="0000FF"/>
                </a:solidFill>
                <a:latin typeface="Calibri Light" pitchFamily="34" charset="0"/>
              </a:rPr>
              <a:t>harmonics</a:t>
            </a:r>
            <a:r>
              <a:rPr lang="en-US" sz="3800" dirty="0">
                <a:latin typeface="Calibri Light" pitchFamily="34" charset="0"/>
              </a:rPr>
              <a:t> and </a:t>
            </a:r>
            <a:r>
              <a:rPr lang="en-US" sz="3800" i="1" dirty="0">
                <a:solidFill>
                  <a:srgbClr val="0000FF"/>
                </a:solidFill>
                <a:latin typeface="Calibri Light" pitchFamily="34" charset="0"/>
              </a:rPr>
              <a:t>high sensitivity </a:t>
            </a:r>
            <a:r>
              <a:rPr lang="en-US" sz="3800" dirty="0">
                <a:latin typeface="Calibri Light" pitchFamily="34" charset="0"/>
              </a:rPr>
              <a:t>of LVDT.</a:t>
            </a:r>
          </a:p>
          <a:p>
            <a:pPr lvl="0" algn="just">
              <a:lnSpc>
                <a:spcPct val="120000"/>
              </a:lnSpc>
            </a:pPr>
            <a:r>
              <a:rPr lang="en-US" sz="3800" dirty="0">
                <a:latin typeface="Calibri Light" pitchFamily="34" charset="0"/>
              </a:rPr>
              <a:t>The LVDT is placed inside stainless steel housing because it will provide electrostatic and electromagnetic shielding.</a:t>
            </a:r>
          </a:p>
          <a:p>
            <a:pPr lvl="0" algn="just">
              <a:lnSpc>
                <a:spcPct val="120000"/>
              </a:lnSpc>
            </a:pPr>
            <a:r>
              <a:rPr lang="en-US" sz="3800" dirty="0">
                <a:latin typeface="Calibri Light" pitchFamily="34" charset="0"/>
              </a:rPr>
              <a:t>The both the secondary windings are connected in such a way that resulted output is the difference between the voltages of two windings.</a:t>
            </a:r>
          </a:p>
          <a:p>
            <a:pPr marL="0" indent="0">
              <a:buNone/>
            </a:pPr>
            <a:endParaRPr lang="en-US" dirty="0"/>
          </a:p>
        </p:txBody>
      </p:sp>
    </p:spTree>
    <p:extLst>
      <p:ext uri="{BB962C8B-B14F-4D97-AF65-F5344CB8AC3E}">
        <p14:creationId xmlns:p14="http://schemas.microsoft.com/office/powerpoint/2010/main" xmlns="" val="337257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5334000" cy="457200"/>
          </a:xfrm>
        </p:spPr>
        <p:txBody>
          <a:bodyPr>
            <a:noAutofit/>
          </a:bodyPr>
          <a:lstStyle/>
          <a:p>
            <a:pPr algn="l"/>
            <a:r>
              <a:rPr lang="en-US" sz="3600" b="1" dirty="0">
                <a:solidFill>
                  <a:srgbClr val="C00000"/>
                </a:solidFill>
                <a:latin typeface="Calibri Light" pitchFamily="34" charset="0"/>
              </a:rPr>
              <a:t>LVDT:</a:t>
            </a: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228600" y="762000"/>
                <a:ext cx="8305800" cy="5059363"/>
              </a:xfrm>
            </p:spPr>
            <p:txBody>
              <a:bodyPr>
                <a:normAutofit/>
              </a:bodyPr>
              <a:lstStyle/>
              <a:p>
                <a:pPr marL="0" indent="0">
                  <a:buNone/>
                </a:pPr>
                <a:r>
                  <a:rPr lang="en-US" sz="2400" b="1" dirty="0">
                    <a:solidFill>
                      <a:srgbClr val="0000FF"/>
                    </a:solidFill>
                    <a:latin typeface="Calibri Light" pitchFamily="34" charset="0"/>
                  </a:rPr>
                  <a:t>Principle of Operation and Working:</a:t>
                </a:r>
              </a:p>
              <a:p>
                <a:r>
                  <a:rPr lang="en-US" sz="2400" dirty="0">
                    <a:latin typeface="Calibri Light" pitchFamily="34" charset="0"/>
                  </a:rPr>
                  <a:t>As the primary is connected to an AC source so alternating </a:t>
                </a:r>
                <a:r>
                  <a:rPr lang="en-US" sz="2400" i="1" dirty="0">
                    <a:solidFill>
                      <a:srgbClr val="0000FF"/>
                    </a:solidFill>
                    <a:latin typeface="Calibri Light" pitchFamily="34" charset="0"/>
                  </a:rPr>
                  <a:t>current</a:t>
                </a:r>
                <a:r>
                  <a:rPr lang="en-US" sz="2400" dirty="0">
                    <a:latin typeface="Calibri Light" pitchFamily="34" charset="0"/>
                  </a:rPr>
                  <a:t> and voltages are produced in the secondary of the LVDT. The output in secondary S</a:t>
                </a:r>
                <a:r>
                  <a:rPr lang="en-US" sz="2400" baseline="-25000" dirty="0">
                    <a:latin typeface="Calibri Light" pitchFamily="34" charset="0"/>
                  </a:rPr>
                  <a:t>1</a:t>
                </a:r>
                <a:r>
                  <a:rPr lang="en-US" sz="2400" dirty="0">
                    <a:latin typeface="Calibri Light" pitchFamily="34" charset="0"/>
                  </a:rPr>
                  <a:t> is E</a:t>
                </a:r>
                <a:r>
                  <a:rPr lang="en-US" sz="2400" baseline="-25000" dirty="0">
                    <a:latin typeface="Calibri Light" pitchFamily="34" charset="0"/>
                  </a:rPr>
                  <a:t>1</a:t>
                </a:r>
                <a:r>
                  <a:rPr lang="en-US" sz="2400" dirty="0">
                    <a:latin typeface="Calibri Light" pitchFamily="34" charset="0"/>
                  </a:rPr>
                  <a:t> and in the secondary S</a:t>
                </a:r>
                <a:r>
                  <a:rPr lang="en-US" sz="2400" baseline="-25000" dirty="0">
                    <a:latin typeface="Calibri Light" pitchFamily="34" charset="0"/>
                  </a:rPr>
                  <a:t>2</a:t>
                </a:r>
                <a:r>
                  <a:rPr lang="en-US" sz="2400" dirty="0">
                    <a:latin typeface="Calibri Light" pitchFamily="34" charset="0"/>
                  </a:rPr>
                  <a:t> is E</a:t>
                </a:r>
                <a:r>
                  <a:rPr lang="en-US" sz="2400" baseline="-25000" dirty="0">
                    <a:latin typeface="Calibri Light" pitchFamily="34" charset="0"/>
                  </a:rPr>
                  <a:t>2</a:t>
                </a:r>
                <a:r>
                  <a:rPr lang="en-US" sz="2400" dirty="0">
                    <a:latin typeface="Calibri Light" pitchFamily="34" charset="0"/>
                  </a:rPr>
                  <a:t>. </a:t>
                </a:r>
              </a:p>
              <a:p>
                <a:r>
                  <a:rPr lang="en-US" sz="2400" dirty="0">
                    <a:latin typeface="Calibri Light" pitchFamily="34" charset="0"/>
                  </a:rPr>
                  <a:t>So the differential output is,</a:t>
                </a:r>
              </a:p>
              <a:p>
                <a:pPr marL="0" indent="0">
                  <a:buNone/>
                </a:pPr>
                <a:r>
                  <a:rPr lang="en-US" sz="2400" b="1" dirty="0"/>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a:rPr>
                          <m:t>𝐄</m:t>
                        </m:r>
                      </m:e>
                      <m:sub>
                        <m:r>
                          <a:rPr lang="en-US" sz="2400" b="1" i="1">
                            <a:latin typeface="Cambria Math"/>
                          </a:rPr>
                          <m:t>𝐨𝐮𝐭</m:t>
                        </m:r>
                      </m:sub>
                    </m:sSub>
                    <m:r>
                      <a:rPr lang="en-US" sz="2400" b="1">
                        <a:latin typeface="Cambria Math"/>
                      </a:rPr>
                      <m:t>= </m:t>
                    </m:r>
                    <m:sSub>
                      <m:sSubPr>
                        <m:ctrlPr>
                          <a:rPr lang="en-US" sz="2400" b="1" i="1">
                            <a:latin typeface="Cambria Math" panose="02040503050406030204" pitchFamily="18" charset="0"/>
                          </a:rPr>
                        </m:ctrlPr>
                      </m:sSubPr>
                      <m:e>
                        <m:r>
                          <a:rPr lang="en-US" sz="2400" b="1" i="1">
                            <a:latin typeface="Cambria Math"/>
                          </a:rPr>
                          <m:t>𝐄</m:t>
                        </m:r>
                      </m:e>
                      <m:sub>
                        <m:r>
                          <a:rPr lang="en-US" sz="2400" b="1" i="1">
                            <a:latin typeface="Cambria Math"/>
                          </a:rPr>
                          <m:t>𝟏</m:t>
                        </m:r>
                      </m:sub>
                    </m:sSub>
                    <m:r>
                      <a:rPr lang="en-US" sz="2400" b="1" i="1">
                        <a:latin typeface="Cambria Math"/>
                      </a:rPr>
                      <m:t>−</m:t>
                    </m:r>
                    <m:r>
                      <a:rPr lang="en-US" sz="2400" b="1">
                        <a:latin typeface="Cambria Math"/>
                      </a:rPr>
                      <m:t> </m:t>
                    </m:r>
                    <m:sSub>
                      <m:sSubPr>
                        <m:ctrlPr>
                          <a:rPr lang="en-US" sz="2400" b="1" i="1">
                            <a:latin typeface="Cambria Math" panose="02040503050406030204" pitchFamily="18" charset="0"/>
                          </a:rPr>
                        </m:ctrlPr>
                      </m:sSubPr>
                      <m:e>
                        <m:r>
                          <a:rPr lang="en-US" sz="2400" b="1" i="1">
                            <a:latin typeface="Cambria Math"/>
                          </a:rPr>
                          <m:t>𝐄</m:t>
                        </m:r>
                      </m:e>
                      <m:sub>
                        <m:r>
                          <a:rPr lang="en-US" sz="2400" b="1" i="1">
                            <a:latin typeface="Cambria Math"/>
                          </a:rPr>
                          <m:t>𝟐</m:t>
                        </m:r>
                      </m:sub>
                    </m:sSub>
                  </m:oMath>
                </a14:m>
                <a:br>
                  <a:rPr lang="en-US" sz="2400" dirty="0">
                    <a:latin typeface="Calibri Light" pitchFamily="34" charset="0"/>
                  </a:rPr>
                </a:br>
                <a:endParaRPr lang="en-US" sz="2400" dirty="0">
                  <a:latin typeface="Calibri Light" pitchFamily="34" charset="0"/>
                </a:endParaRPr>
              </a:p>
              <a:p>
                <a:pPr marL="0" indent="0">
                  <a:buNone/>
                </a:pPr>
                <a:r>
                  <a:rPr lang="en-US" sz="2400" dirty="0">
                    <a:latin typeface="Calibri Light" pitchFamily="34" charset="0"/>
                  </a:rPr>
                  <a:t>This equation explains the </a:t>
                </a:r>
                <a:r>
                  <a:rPr lang="en-US" sz="2400" b="1" dirty="0">
                    <a:latin typeface="Calibri Light" pitchFamily="34" charset="0"/>
                  </a:rPr>
                  <a:t>principle of Operation of LVDT</a:t>
                </a:r>
                <a:r>
                  <a:rPr lang="en-US" sz="2400" dirty="0">
                    <a:latin typeface="Calibri Light" pitchFamily="34" charset="0"/>
                  </a:rPr>
                  <a:t>.</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762000"/>
                <a:ext cx="8305800" cy="5059363"/>
              </a:xfrm>
              <a:blipFill rotWithShape="1">
                <a:blip r:embed="rId2"/>
                <a:stretch>
                  <a:fillRect l="-1909" t="-964" r="-1689"/>
                </a:stretch>
              </a:blipFill>
            </p:spPr>
            <p:txBody>
              <a:bodyPr/>
              <a:lstStyle/>
              <a:p>
                <a:r>
                  <a:rPr lang="en-US">
                    <a:noFill/>
                  </a:rPr>
                  <a:t> </a:t>
                </a:r>
              </a:p>
            </p:txBody>
          </p:sp>
        </mc:Fallback>
      </mc:AlternateContent>
    </p:spTree>
    <p:extLst>
      <p:ext uri="{BB962C8B-B14F-4D97-AF65-F5344CB8AC3E}">
        <p14:creationId xmlns:p14="http://schemas.microsoft.com/office/powerpoint/2010/main" xmlns="" val="47892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5334000" cy="533400"/>
          </a:xfrm>
        </p:spPr>
        <p:txBody>
          <a:bodyPr>
            <a:noAutofit/>
          </a:bodyPr>
          <a:lstStyle/>
          <a:p>
            <a:pPr algn="l"/>
            <a:r>
              <a:rPr lang="en-US" sz="3600" b="1" dirty="0">
                <a:solidFill>
                  <a:srgbClr val="C00000"/>
                </a:solidFill>
                <a:latin typeface="Calibri Light" pitchFamily="34" charset="0"/>
              </a:rPr>
              <a:t>LVDT:</a:t>
            </a:r>
          </a:p>
        </p:txBody>
      </p:sp>
      <p:pic>
        <p:nvPicPr>
          <p:cNvPr id="4" name="Picture 3"/>
          <p:cNvPicPr/>
          <p:nvPr/>
        </p:nvPicPr>
        <p:blipFill>
          <a:blip r:embed="rId2">
            <a:extLst>
              <a:ext uri="{28A0092B-C50C-407E-A947-70E740481C1C}">
                <a14:useLocalDpi xmlns:a14="http://schemas.microsoft.com/office/drawing/2010/main" xmlns="" val="0"/>
              </a:ext>
            </a:extLst>
          </a:blip>
          <a:srcRect/>
          <a:stretch>
            <a:fillRect/>
          </a:stretch>
        </p:blipFill>
        <p:spPr bwMode="auto">
          <a:xfrm>
            <a:off x="457200" y="457200"/>
            <a:ext cx="8382000" cy="6019800"/>
          </a:xfrm>
          <a:prstGeom prst="rect">
            <a:avLst/>
          </a:prstGeom>
          <a:noFill/>
          <a:ln>
            <a:noFill/>
          </a:ln>
        </p:spPr>
      </p:pic>
    </p:spTree>
    <p:extLst>
      <p:ext uri="{BB962C8B-B14F-4D97-AF65-F5344CB8AC3E}">
        <p14:creationId xmlns:p14="http://schemas.microsoft.com/office/powerpoint/2010/main" xmlns="" val="2422221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533400"/>
          </a:xfrm>
        </p:spPr>
        <p:txBody>
          <a:bodyPr>
            <a:noAutofit/>
          </a:bodyPr>
          <a:lstStyle/>
          <a:p>
            <a:pPr algn="l"/>
            <a:r>
              <a:rPr lang="en-US" sz="3600" b="1" dirty="0">
                <a:solidFill>
                  <a:srgbClr val="C00000"/>
                </a:solidFill>
                <a:latin typeface="Calibri Light" pitchFamily="34" charset="0"/>
              </a:rPr>
              <a:t>LVDT:</a:t>
            </a:r>
          </a:p>
        </p:txBody>
      </p:sp>
      <p:sp>
        <p:nvSpPr>
          <p:cNvPr id="3" name="Content Placeholder 2"/>
          <p:cNvSpPr>
            <a:spLocks noGrp="1"/>
          </p:cNvSpPr>
          <p:nvPr>
            <p:ph idx="1"/>
          </p:nvPr>
        </p:nvSpPr>
        <p:spPr>
          <a:xfrm>
            <a:off x="152400" y="914400"/>
            <a:ext cx="8839200" cy="5791200"/>
          </a:xfrm>
        </p:spPr>
        <p:txBody>
          <a:bodyPr>
            <a:normAutofit fontScale="77500" lnSpcReduction="20000"/>
          </a:bodyPr>
          <a:lstStyle/>
          <a:p>
            <a:pPr marL="0" indent="0" algn="just">
              <a:buNone/>
            </a:pPr>
            <a:r>
              <a:rPr lang="en-US" sz="2600" dirty="0">
                <a:latin typeface="Calibri Light" pitchFamily="34" charset="0"/>
              </a:rPr>
              <a:t>Now three cases arise according to the locations of core which explains the working of LVDT are discussed below as, </a:t>
            </a:r>
          </a:p>
          <a:p>
            <a:pPr lvl="0" algn="just"/>
            <a:r>
              <a:rPr lang="en-US" sz="2600" b="1" dirty="0">
                <a:solidFill>
                  <a:srgbClr val="7030A0"/>
                </a:solidFill>
                <a:latin typeface="Calibri Light" pitchFamily="34" charset="0"/>
              </a:rPr>
              <a:t>CASE I : (</a:t>
            </a:r>
            <a:r>
              <a:rPr lang="en-US" sz="2600" b="1" dirty="0" err="1">
                <a:solidFill>
                  <a:srgbClr val="7030A0"/>
                </a:solidFill>
                <a:latin typeface="Calibri Light" pitchFamily="34" charset="0"/>
              </a:rPr>
              <a:t>E</a:t>
            </a:r>
            <a:r>
              <a:rPr lang="en-US" sz="2600" b="1" baseline="-25000" dirty="0" err="1">
                <a:solidFill>
                  <a:srgbClr val="7030A0"/>
                </a:solidFill>
                <a:latin typeface="Calibri Light" pitchFamily="34" charset="0"/>
              </a:rPr>
              <a:t>out</a:t>
            </a:r>
            <a:r>
              <a:rPr lang="en-US" sz="2600" b="1" dirty="0">
                <a:solidFill>
                  <a:srgbClr val="7030A0"/>
                </a:solidFill>
                <a:latin typeface="Calibri Light" pitchFamily="34" charset="0"/>
              </a:rPr>
              <a:t> = 0</a:t>
            </a:r>
            <a:r>
              <a:rPr lang="en-US" sz="2600" b="1" dirty="0">
                <a:latin typeface="Calibri Light" pitchFamily="34" charset="0"/>
              </a:rPr>
              <a:t>) - </a:t>
            </a:r>
            <a:r>
              <a:rPr lang="en-US" sz="2600" dirty="0">
                <a:latin typeface="Calibri Light" pitchFamily="34" charset="0"/>
              </a:rPr>
              <a:t>When the core is at null position (for no displacement)</a:t>
            </a:r>
            <a:br>
              <a:rPr lang="en-US" sz="2600" dirty="0">
                <a:latin typeface="Calibri Light" pitchFamily="34" charset="0"/>
              </a:rPr>
            </a:br>
            <a:r>
              <a:rPr lang="en-US" sz="2600" dirty="0">
                <a:latin typeface="Calibri Light" pitchFamily="34" charset="0"/>
              </a:rPr>
              <a:t>	When the core is at null position then the flux linking with both the secondary windings is equal so the induced </a:t>
            </a:r>
            <a:r>
              <a:rPr lang="en-US" sz="2600" dirty="0" err="1">
                <a:latin typeface="Calibri Light" pitchFamily="34" charset="0"/>
              </a:rPr>
              <a:t>emf</a:t>
            </a:r>
            <a:r>
              <a:rPr lang="en-US" sz="2600" dirty="0">
                <a:latin typeface="Calibri Light" pitchFamily="34" charset="0"/>
              </a:rPr>
              <a:t> is equal in both the windings. So for no displacement, </a:t>
            </a:r>
            <a:r>
              <a:rPr lang="en-US" sz="2600" dirty="0" err="1">
                <a:latin typeface="Calibri Light" pitchFamily="34" charset="0"/>
              </a:rPr>
              <a:t>E</a:t>
            </a:r>
            <a:r>
              <a:rPr lang="en-US" sz="2600" baseline="-25000" dirty="0" err="1">
                <a:latin typeface="Calibri Light" pitchFamily="34" charset="0"/>
              </a:rPr>
              <a:t>out</a:t>
            </a:r>
            <a:r>
              <a:rPr lang="en-US" sz="2600" dirty="0">
                <a:latin typeface="Calibri Light" pitchFamily="34" charset="0"/>
              </a:rPr>
              <a:t> = 0 as E</a:t>
            </a:r>
            <a:r>
              <a:rPr lang="en-US" sz="2600" baseline="-25000" dirty="0">
                <a:latin typeface="Calibri Light" pitchFamily="34" charset="0"/>
              </a:rPr>
              <a:t>1</a:t>
            </a:r>
            <a:r>
              <a:rPr lang="en-US" sz="2600" dirty="0">
                <a:latin typeface="Calibri Light" pitchFamily="34" charset="0"/>
              </a:rPr>
              <a:t> = E</a:t>
            </a:r>
            <a:r>
              <a:rPr lang="en-US" sz="2600" baseline="-25000" dirty="0">
                <a:latin typeface="Calibri Light" pitchFamily="34" charset="0"/>
              </a:rPr>
              <a:t>2</a:t>
            </a:r>
            <a:r>
              <a:rPr lang="en-US" sz="2600" dirty="0">
                <a:latin typeface="Calibri Light" pitchFamily="34" charset="0"/>
              </a:rPr>
              <a:t>. So it shows that no displacement took place.</a:t>
            </a:r>
          </a:p>
          <a:p>
            <a:pPr lvl="0" algn="just"/>
            <a:endParaRPr lang="en-US" sz="2600" b="1" dirty="0">
              <a:solidFill>
                <a:srgbClr val="7030A0"/>
              </a:solidFill>
              <a:latin typeface="Calibri Light" pitchFamily="34" charset="0"/>
            </a:endParaRPr>
          </a:p>
          <a:p>
            <a:pPr lvl="0"/>
            <a:r>
              <a:rPr lang="en-US" sz="2600" b="1" dirty="0">
                <a:solidFill>
                  <a:srgbClr val="7030A0"/>
                </a:solidFill>
                <a:latin typeface="Calibri Light" pitchFamily="34" charset="0"/>
              </a:rPr>
              <a:t>CASE II : (</a:t>
            </a:r>
            <a:r>
              <a:rPr lang="en-US" sz="2600" b="1" dirty="0" err="1">
                <a:solidFill>
                  <a:srgbClr val="7030A0"/>
                </a:solidFill>
                <a:latin typeface="Calibri Light" pitchFamily="34" charset="0"/>
              </a:rPr>
              <a:t>E</a:t>
            </a:r>
            <a:r>
              <a:rPr lang="en-US" sz="2600" b="1" baseline="-25000" dirty="0" err="1">
                <a:solidFill>
                  <a:srgbClr val="7030A0"/>
                </a:solidFill>
                <a:latin typeface="Calibri Light" pitchFamily="34" charset="0"/>
              </a:rPr>
              <a:t>out</a:t>
            </a:r>
            <a:r>
              <a:rPr lang="en-US" sz="2600" b="1" dirty="0">
                <a:solidFill>
                  <a:srgbClr val="7030A0"/>
                </a:solidFill>
                <a:latin typeface="Calibri Light" pitchFamily="34" charset="0"/>
              </a:rPr>
              <a:t> = Positive) </a:t>
            </a:r>
            <a:r>
              <a:rPr lang="en-US" sz="2600" b="1" dirty="0">
                <a:latin typeface="Calibri Light" pitchFamily="34" charset="0"/>
              </a:rPr>
              <a:t>- </a:t>
            </a:r>
            <a:r>
              <a:rPr lang="en-US" sz="2600" dirty="0">
                <a:latin typeface="Calibri Light" pitchFamily="34" charset="0"/>
              </a:rPr>
              <a:t>When the core is moved to left of null position (For displacement to the upward of reference point)</a:t>
            </a:r>
            <a:br>
              <a:rPr lang="en-US" sz="2600" dirty="0">
                <a:latin typeface="Calibri Light" pitchFamily="34" charset="0"/>
              </a:rPr>
            </a:br>
            <a:r>
              <a:rPr lang="en-US" sz="2600" dirty="0">
                <a:latin typeface="Calibri Light" pitchFamily="34" charset="0"/>
              </a:rPr>
              <a:t>	In the this case the flux linking with secondary winding S</a:t>
            </a:r>
            <a:r>
              <a:rPr lang="en-US" sz="2600" baseline="-25000" dirty="0">
                <a:latin typeface="Calibri Light" pitchFamily="34" charset="0"/>
              </a:rPr>
              <a:t>1</a:t>
            </a:r>
            <a:r>
              <a:rPr lang="en-US" sz="2600" dirty="0">
                <a:latin typeface="Calibri Light" pitchFamily="34" charset="0"/>
              </a:rPr>
              <a:t> is more as compared to flux linking with S</a:t>
            </a:r>
            <a:r>
              <a:rPr lang="en-US" sz="2600" baseline="-25000" dirty="0">
                <a:latin typeface="Calibri Light" pitchFamily="34" charset="0"/>
              </a:rPr>
              <a:t>2</a:t>
            </a:r>
            <a:r>
              <a:rPr lang="en-US" sz="2600" dirty="0">
                <a:latin typeface="Calibri Light" pitchFamily="34" charset="0"/>
              </a:rPr>
              <a:t>. Due to this E</a:t>
            </a:r>
            <a:r>
              <a:rPr lang="en-US" sz="2600" baseline="-25000" dirty="0">
                <a:latin typeface="Calibri Light" pitchFamily="34" charset="0"/>
              </a:rPr>
              <a:t>1</a:t>
            </a:r>
            <a:r>
              <a:rPr lang="en-US" sz="2600" dirty="0">
                <a:latin typeface="Calibri Light" pitchFamily="34" charset="0"/>
              </a:rPr>
              <a:t> &gt; E</a:t>
            </a:r>
            <a:r>
              <a:rPr lang="en-US" sz="2600" baseline="-25000" dirty="0">
                <a:latin typeface="Calibri Light" pitchFamily="34" charset="0"/>
              </a:rPr>
              <a:t>2 </a:t>
            </a:r>
            <a:r>
              <a:rPr lang="en-US" sz="2600" dirty="0">
                <a:latin typeface="Calibri Light" pitchFamily="34" charset="0"/>
              </a:rPr>
              <a:t>=&gt; </a:t>
            </a:r>
            <a:r>
              <a:rPr lang="en-US" sz="2600" dirty="0" err="1">
                <a:latin typeface="Calibri Light" pitchFamily="34" charset="0"/>
              </a:rPr>
              <a:t>E</a:t>
            </a:r>
            <a:r>
              <a:rPr lang="en-US" sz="2600" baseline="-25000" dirty="0" err="1">
                <a:latin typeface="Calibri Light" pitchFamily="34" charset="0"/>
              </a:rPr>
              <a:t>out</a:t>
            </a:r>
            <a:r>
              <a:rPr lang="en-US" sz="2600" dirty="0">
                <a:latin typeface="Calibri Light" pitchFamily="34" charset="0"/>
              </a:rPr>
              <a:t> is positive.</a:t>
            </a:r>
          </a:p>
          <a:p>
            <a:pPr lvl="0" algn="just"/>
            <a:endParaRPr lang="en-US" sz="2600" b="1" dirty="0">
              <a:solidFill>
                <a:srgbClr val="7030A0"/>
              </a:solidFill>
              <a:latin typeface="Calibri Light" pitchFamily="34" charset="0"/>
            </a:endParaRPr>
          </a:p>
          <a:p>
            <a:pPr lvl="0"/>
            <a:r>
              <a:rPr lang="en-US" sz="2600" b="1" dirty="0">
                <a:solidFill>
                  <a:srgbClr val="7030A0"/>
                </a:solidFill>
                <a:latin typeface="Calibri Light" pitchFamily="34" charset="0"/>
              </a:rPr>
              <a:t>CASE III : (</a:t>
            </a:r>
            <a:r>
              <a:rPr lang="en-US" sz="2600" b="1" dirty="0" err="1">
                <a:solidFill>
                  <a:srgbClr val="7030A0"/>
                </a:solidFill>
                <a:latin typeface="Calibri Light" pitchFamily="34" charset="0"/>
              </a:rPr>
              <a:t>E</a:t>
            </a:r>
            <a:r>
              <a:rPr lang="en-US" sz="2600" b="1" baseline="-25000" dirty="0" err="1">
                <a:solidFill>
                  <a:srgbClr val="7030A0"/>
                </a:solidFill>
                <a:latin typeface="Calibri Light" pitchFamily="34" charset="0"/>
              </a:rPr>
              <a:t>out</a:t>
            </a:r>
            <a:r>
              <a:rPr lang="en-US" sz="2600" b="1" dirty="0">
                <a:solidFill>
                  <a:srgbClr val="7030A0"/>
                </a:solidFill>
                <a:latin typeface="Calibri Light" pitchFamily="34" charset="0"/>
              </a:rPr>
              <a:t> = Negative) </a:t>
            </a:r>
            <a:r>
              <a:rPr lang="en-US" sz="2600" b="1" dirty="0">
                <a:latin typeface="Calibri Light" pitchFamily="34" charset="0"/>
              </a:rPr>
              <a:t>- </a:t>
            </a:r>
            <a:r>
              <a:rPr lang="en-US" sz="2600" dirty="0">
                <a:latin typeface="Calibri Light" pitchFamily="34" charset="0"/>
              </a:rPr>
              <a:t>When the core is moved to right of null position (For displacement to the upward of reference point)</a:t>
            </a:r>
            <a:br>
              <a:rPr lang="en-US" sz="2600" dirty="0">
                <a:latin typeface="Calibri Light" pitchFamily="34" charset="0"/>
              </a:rPr>
            </a:br>
            <a:r>
              <a:rPr lang="en-US" sz="2600" dirty="0">
                <a:latin typeface="Calibri Light" pitchFamily="34" charset="0"/>
              </a:rPr>
              <a:t>	In the this case the flux linking with secondary winding S</a:t>
            </a:r>
            <a:r>
              <a:rPr lang="en-US" sz="2600" baseline="-25000" dirty="0">
                <a:latin typeface="Calibri Light" pitchFamily="34" charset="0"/>
              </a:rPr>
              <a:t>2</a:t>
            </a:r>
            <a:r>
              <a:rPr lang="en-US" sz="2600" dirty="0">
                <a:latin typeface="Calibri Light" pitchFamily="34" charset="0"/>
              </a:rPr>
              <a:t> is more as compared to flux linking with S</a:t>
            </a:r>
            <a:r>
              <a:rPr lang="en-US" sz="2600" baseline="-25000" dirty="0">
                <a:latin typeface="Calibri Light" pitchFamily="34" charset="0"/>
              </a:rPr>
              <a:t>1</a:t>
            </a:r>
            <a:r>
              <a:rPr lang="en-US" sz="2600" dirty="0">
                <a:latin typeface="Calibri Light" pitchFamily="34" charset="0"/>
              </a:rPr>
              <a:t>. Due to this E</a:t>
            </a:r>
            <a:r>
              <a:rPr lang="en-US" sz="2600" baseline="-25000" dirty="0">
                <a:latin typeface="Calibri Light" pitchFamily="34" charset="0"/>
              </a:rPr>
              <a:t>1</a:t>
            </a:r>
            <a:r>
              <a:rPr lang="en-US" sz="2600" dirty="0">
                <a:latin typeface="Calibri Light" pitchFamily="34" charset="0"/>
              </a:rPr>
              <a:t> &lt; E</a:t>
            </a:r>
            <a:r>
              <a:rPr lang="en-US" sz="2600" baseline="-25000" dirty="0">
                <a:latin typeface="Calibri Light" pitchFamily="34" charset="0"/>
              </a:rPr>
              <a:t>2 </a:t>
            </a:r>
            <a:r>
              <a:rPr lang="en-US" sz="2600" dirty="0">
                <a:latin typeface="Calibri Light" pitchFamily="34" charset="0"/>
              </a:rPr>
              <a:t>=&gt; </a:t>
            </a:r>
            <a:r>
              <a:rPr lang="en-US" sz="2600" dirty="0" err="1">
                <a:latin typeface="Calibri Light" pitchFamily="34" charset="0"/>
              </a:rPr>
              <a:t>E</a:t>
            </a:r>
            <a:r>
              <a:rPr lang="en-US" sz="2600" baseline="-25000" dirty="0" err="1">
                <a:latin typeface="Calibri Light" pitchFamily="34" charset="0"/>
              </a:rPr>
              <a:t>out</a:t>
            </a:r>
            <a:r>
              <a:rPr lang="en-US" sz="2600" dirty="0">
                <a:latin typeface="Calibri Light" pitchFamily="34" charset="0"/>
              </a:rPr>
              <a:t> is negative.</a:t>
            </a:r>
          </a:p>
          <a:p>
            <a:pPr marL="0" indent="0" algn="just">
              <a:buNone/>
            </a:pPr>
            <a:r>
              <a:rPr lang="en-US" sz="2600" dirty="0">
                <a:latin typeface="Calibri Light" pitchFamily="34" charset="0"/>
              </a:rPr>
              <a:t>	</a:t>
            </a:r>
          </a:p>
          <a:p>
            <a:pPr marL="0" indent="0" algn="just">
              <a:buNone/>
            </a:pPr>
            <a:r>
              <a:rPr lang="en-US" sz="2600" dirty="0">
                <a:latin typeface="Calibri Light" pitchFamily="34" charset="0"/>
              </a:rPr>
              <a:t>Output V</a:t>
            </a:r>
            <a:r>
              <a:rPr lang="en-US" sz="2600" baseline="-25000" dirty="0">
                <a:latin typeface="Calibri Light" pitchFamily="34" charset="0"/>
              </a:rPr>
              <a:t>S</a:t>
            </a:r>
            <a:r>
              <a:rPr lang="en-US" sz="2600" dirty="0">
                <a:latin typeface="Calibri Light" pitchFamily="34" charset="0"/>
              </a:rPr>
              <a:t> Core Displacement A linear curve shows that output voltage varies linearly with displacement of core.</a:t>
            </a:r>
          </a:p>
          <a:p>
            <a:pPr marL="0" indent="0">
              <a:buNone/>
            </a:pPr>
            <a:endParaRPr lang="en-US" dirty="0"/>
          </a:p>
        </p:txBody>
      </p:sp>
    </p:spTree>
    <p:extLst>
      <p:ext uri="{BB962C8B-B14F-4D97-AF65-F5344CB8AC3E}">
        <p14:creationId xmlns:p14="http://schemas.microsoft.com/office/powerpoint/2010/main" xmlns="" val="249664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6096"/>
            <a:ext cx="5334000" cy="523504"/>
          </a:xfrm>
        </p:spPr>
        <p:txBody>
          <a:bodyPr>
            <a:noAutofit/>
          </a:bodyPr>
          <a:lstStyle/>
          <a:p>
            <a:pPr algn="l"/>
            <a:r>
              <a:rPr lang="en-US" sz="3600" b="1" dirty="0">
                <a:solidFill>
                  <a:srgbClr val="C00000"/>
                </a:solidFill>
                <a:latin typeface="Calibri Light" pitchFamily="34" charset="0"/>
              </a:rPr>
              <a:t>LVDT:</a:t>
            </a:r>
          </a:p>
        </p:txBody>
      </p:sp>
      <p:sp>
        <p:nvSpPr>
          <p:cNvPr id="3" name="Content Placeholder 2"/>
          <p:cNvSpPr>
            <a:spLocks noGrp="1"/>
          </p:cNvSpPr>
          <p:nvPr>
            <p:ph idx="1"/>
          </p:nvPr>
        </p:nvSpPr>
        <p:spPr>
          <a:xfrm>
            <a:off x="228600" y="609600"/>
            <a:ext cx="8763000" cy="6019800"/>
          </a:xfrm>
        </p:spPr>
        <p:txBody>
          <a:bodyPr>
            <a:normAutofit fontScale="40000" lnSpcReduction="20000"/>
          </a:bodyPr>
          <a:lstStyle/>
          <a:p>
            <a:pPr marL="0" indent="0" algn="just">
              <a:buNone/>
            </a:pPr>
            <a:r>
              <a:rPr lang="en-US" sz="5000" b="1" dirty="0">
                <a:solidFill>
                  <a:srgbClr val="0000FF"/>
                </a:solidFill>
              </a:rPr>
              <a:t>Advantages: </a:t>
            </a:r>
            <a:endParaRPr lang="en-US" sz="5000" dirty="0">
              <a:solidFill>
                <a:srgbClr val="0000FF"/>
              </a:solidFill>
            </a:endParaRPr>
          </a:p>
          <a:p>
            <a:pPr lvl="0" algn="just"/>
            <a:r>
              <a:rPr lang="en-US" sz="4000" dirty="0"/>
              <a:t>High Range – The LVDTs have a very high range for measurement of displacement. They can used for measurement of displacements ranging from 1.25 mm to 250 mm.</a:t>
            </a:r>
          </a:p>
          <a:p>
            <a:pPr lvl="0" algn="just"/>
            <a:r>
              <a:rPr lang="en-US" sz="4000" dirty="0"/>
              <a:t>No Frictional Losses – As the core moves inside a hollow former so there is no loss of displacement input as frictional loss so it makes LVDT as very accurate device.</a:t>
            </a:r>
          </a:p>
          <a:p>
            <a:pPr lvl="0" algn="just"/>
            <a:r>
              <a:rPr lang="en-US" sz="4000" dirty="0"/>
              <a:t>High Input and High Sensitivity – The output of LVDT is so high that it doesn’t need any amplification. The </a:t>
            </a:r>
            <a:r>
              <a:rPr lang="en-US" sz="4000" u="sng" dirty="0">
                <a:hlinkClick r:id="rId2"/>
              </a:rPr>
              <a:t>transducer</a:t>
            </a:r>
            <a:r>
              <a:rPr lang="en-US" sz="4000" dirty="0"/>
              <a:t> possess a high sensitivity which is typically about 40V/mm.</a:t>
            </a:r>
          </a:p>
          <a:p>
            <a:pPr lvl="0" algn="just"/>
            <a:r>
              <a:rPr lang="en-US" sz="4000" dirty="0"/>
              <a:t>Low Hysteresis – LVDTs show a low hysteresis and hence repeatability is excellent under all conditions</a:t>
            </a:r>
          </a:p>
          <a:p>
            <a:pPr lvl="0" algn="just"/>
            <a:r>
              <a:rPr lang="en-US" sz="4000" dirty="0"/>
              <a:t>Low Power Consumption – The power is about 1W which is very as compared to other transducers.</a:t>
            </a:r>
          </a:p>
          <a:p>
            <a:pPr lvl="0" algn="just"/>
            <a:r>
              <a:rPr lang="en-US" sz="4000" dirty="0"/>
              <a:t>Direct Conversion to Electrical Signals – They convert the linear displacement to electrical voltage which are easy to process</a:t>
            </a:r>
          </a:p>
          <a:p>
            <a:pPr marL="0" indent="0" algn="just">
              <a:buNone/>
            </a:pPr>
            <a:endParaRPr lang="en-US" sz="3500" b="1" dirty="0">
              <a:solidFill>
                <a:srgbClr val="7030A0"/>
              </a:solidFill>
            </a:endParaRPr>
          </a:p>
          <a:p>
            <a:pPr marL="0" indent="0" algn="just">
              <a:buNone/>
            </a:pPr>
            <a:r>
              <a:rPr lang="en-US" sz="5000" b="1" dirty="0">
                <a:solidFill>
                  <a:srgbClr val="0000FF"/>
                </a:solidFill>
              </a:rPr>
              <a:t>Disadvantages:</a:t>
            </a:r>
            <a:endParaRPr lang="en-US" sz="5000" dirty="0">
              <a:solidFill>
                <a:srgbClr val="0000FF"/>
              </a:solidFill>
            </a:endParaRPr>
          </a:p>
          <a:p>
            <a:pPr lvl="0" algn="just"/>
            <a:r>
              <a:rPr lang="en-US" sz="4000" dirty="0"/>
              <a:t>LVDT is sensitive to stray </a:t>
            </a:r>
            <a:r>
              <a:rPr lang="en-US" sz="4000" u="sng" dirty="0">
                <a:hlinkClick r:id="rId3"/>
              </a:rPr>
              <a:t>magnetic fields</a:t>
            </a:r>
            <a:r>
              <a:rPr lang="en-US" sz="4000" dirty="0"/>
              <a:t> so it always requires a setup to protect them from stray magnetic fields.</a:t>
            </a:r>
          </a:p>
          <a:p>
            <a:pPr lvl="0" algn="just"/>
            <a:r>
              <a:rPr lang="en-US" sz="4000" dirty="0"/>
              <a:t>LVDT gets affected by vibrations and temperature.</a:t>
            </a:r>
          </a:p>
          <a:p>
            <a:pPr marL="0" indent="0" algn="just">
              <a:buNone/>
            </a:pPr>
            <a:endParaRPr lang="en-US" sz="3500" b="1" dirty="0">
              <a:solidFill>
                <a:srgbClr val="7030A0"/>
              </a:solidFill>
            </a:endParaRPr>
          </a:p>
          <a:p>
            <a:pPr marL="0" indent="0" algn="just">
              <a:buNone/>
            </a:pPr>
            <a:r>
              <a:rPr lang="en-US" sz="5000" b="1" dirty="0">
                <a:solidFill>
                  <a:srgbClr val="0000FF"/>
                </a:solidFill>
              </a:rPr>
              <a:t>Applications:</a:t>
            </a:r>
          </a:p>
          <a:p>
            <a:pPr lvl="0" algn="just"/>
            <a:r>
              <a:rPr lang="en-US" sz="4000" dirty="0"/>
              <a:t>We use LVDT in the applications where displacements to be measured are ranging from a fraction of mm to few </a:t>
            </a:r>
            <a:r>
              <a:rPr lang="en-US" sz="4000" dirty="0" err="1"/>
              <a:t>cms</a:t>
            </a:r>
            <a:r>
              <a:rPr lang="en-US" sz="4000" dirty="0"/>
              <a:t>. The </a:t>
            </a:r>
            <a:r>
              <a:rPr lang="en-US" sz="4000" b="1" dirty="0"/>
              <a:t>LVDT</a:t>
            </a:r>
            <a:r>
              <a:rPr lang="en-US" sz="4000" dirty="0"/>
              <a:t> acting as a primary transducer converts the displacement to electrical signal directly.</a:t>
            </a:r>
          </a:p>
          <a:p>
            <a:pPr lvl="0" algn="just"/>
            <a:r>
              <a:rPr lang="en-US" sz="4000" dirty="0"/>
              <a:t>The LVDT can also act as a secondary transducer. E.g. the Bourbon tube which acts as a primary transducer and it converts pressure into linear displacement and then LVDT coverts this displacement into an electrical signal which after calibration gives the readings of the pressure of fluid.</a:t>
            </a:r>
          </a:p>
          <a:p>
            <a:pPr marL="0" indent="0">
              <a:buNone/>
            </a:pPr>
            <a:endParaRPr lang="en-US" dirty="0"/>
          </a:p>
        </p:txBody>
      </p:sp>
    </p:spTree>
    <p:extLst>
      <p:ext uri="{BB962C8B-B14F-4D97-AF65-F5344CB8AC3E}">
        <p14:creationId xmlns:p14="http://schemas.microsoft.com/office/powerpoint/2010/main" xmlns="" val="2549900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477000" cy="609600"/>
          </a:xfrm>
        </p:spPr>
        <p:txBody>
          <a:bodyPr>
            <a:noAutofit/>
          </a:bodyPr>
          <a:lstStyle/>
          <a:p>
            <a:pPr marL="457200" indent="-457200" algn="l">
              <a:buBlip>
                <a:blip r:embed="rId2"/>
              </a:buBlip>
            </a:pPr>
            <a:r>
              <a:rPr lang="en-US" sz="3200" b="1" dirty="0">
                <a:solidFill>
                  <a:srgbClr val="C00000"/>
                </a:solidFill>
                <a:latin typeface="Calibri Light" pitchFamily="34" charset="0"/>
              </a:rPr>
              <a:t>Temperature Sensor &amp; its types</a:t>
            </a:r>
            <a:endParaRPr lang="en-US" sz="3200" b="1" i="1" dirty="0">
              <a:solidFill>
                <a:srgbClr val="C00000"/>
              </a:solidFill>
              <a:latin typeface="Calibri Light" pitchFamily="34" charset="0"/>
            </a:endParaRPr>
          </a:p>
        </p:txBody>
      </p:sp>
      <p:sp>
        <p:nvSpPr>
          <p:cNvPr id="3" name="Content Placeholder 2"/>
          <p:cNvSpPr>
            <a:spLocks noGrp="1"/>
          </p:cNvSpPr>
          <p:nvPr>
            <p:ph idx="1"/>
          </p:nvPr>
        </p:nvSpPr>
        <p:spPr>
          <a:xfrm>
            <a:off x="381000" y="1066800"/>
            <a:ext cx="8305800" cy="6019800"/>
          </a:xfrm>
        </p:spPr>
        <p:txBody>
          <a:bodyPr>
            <a:normAutofit/>
          </a:bodyPr>
          <a:lstStyle/>
          <a:p>
            <a:pPr marL="0" indent="0">
              <a:buNone/>
            </a:pPr>
            <a:r>
              <a:rPr lang="en-US" sz="2800" b="1" dirty="0">
                <a:solidFill>
                  <a:srgbClr val="0000FF"/>
                </a:solidFill>
              </a:rPr>
              <a:t>Temperature sensor: </a:t>
            </a:r>
            <a:r>
              <a:rPr lang="en-US" sz="2800" dirty="0"/>
              <a:t>The sensor that change their output with change in temperature.</a:t>
            </a:r>
          </a:p>
          <a:p>
            <a:r>
              <a:rPr lang="en-US" sz="2800" dirty="0"/>
              <a:t>Example:  Thermocouple, Thermistor, Resistance Temperature Detector (RTD)</a:t>
            </a:r>
          </a:p>
          <a:p>
            <a:pPr marL="0" indent="0">
              <a:buNone/>
            </a:pPr>
            <a:endParaRPr lang="en-US" b="1" dirty="0">
              <a:solidFill>
                <a:srgbClr val="0000FF"/>
              </a:solidFill>
            </a:endParaRPr>
          </a:p>
          <a:p>
            <a:pPr marL="0" indent="0">
              <a:buNone/>
            </a:pPr>
            <a:r>
              <a:rPr lang="en-US" sz="2800" b="1" dirty="0">
                <a:solidFill>
                  <a:srgbClr val="0000FF"/>
                </a:solidFill>
              </a:rPr>
              <a:t>Types of Temperature sensor:</a:t>
            </a:r>
          </a:p>
          <a:p>
            <a:pPr marL="0" indent="0">
              <a:buNone/>
            </a:pPr>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371600" y="4114800"/>
            <a:ext cx="6811904" cy="2514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22767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7505" y="0"/>
            <a:ext cx="5334000" cy="609600"/>
          </a:xfrm>
        </p:spPr>
        <p:txBody>
          <a:bodyPr>
            <a:noAutofit/>
          </a:bodyPr>
          <a:lstStyle/>
          <a:p>
            <a:r>
              <a:rPr lang="en-US" sz="2800" b="1" dirty="0">
                <a:solidFill>
                  <a:srgbClr val="C00000"/>
                </a:solidFill>
                <a:latin typeface="Calibri Light" pitchFamily="34" charset="0"/>
              </a:rPr>
              <a:t>Temperature Sensor - </a:t>
            </a:r>
            <a:r>
              <a:rPr lang="en-US" sz="2800" b="1" dirty="0">
                <a:solidFill>
                  <a:srgbClr val="0000FF"/>
                </a:solidFill>
                <a:latin typeface="Calibri Light" pitchFamily="34" charset="0"/>
              </a:rPr>
              <a:t>Thermocouple</a:t>
            </a:r>
            <a:endParaRPr lang="en-US" sz="2800" b="1" i="1" dirty="0">
              <a:solidFill>
                <a:srgbClr val="0000FF"/>
              </a:solidFill>
              <a:latin typeface="Calibri Light" pitchFamily="34" charset="0"/>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381000" y="685800"/>
                <a:ext cx="8305800" cy="6019800"/>
              </a:xfrm>
            </p:spPr>
            <p:txBody>
              <a:bodyPr>
                <a:normAutofit fontScale="70000" lnSpcReduction="20000"/>
              </a:bodyPr>
              <a:lstStyle/>
              <a:p>
                <a:pPr marL="0" indent="0">
                  <a:buNone/>
                </a:pPr>
                <a:r>
                  <a:rPr lang="en-US" sz="2800" b="1" dirty="0">
                    <a:solidFill>
                      <a:srgbClr val="0000FF"/>
                    </a:solidFill>
                  </a:rPr>
                  <a:t>Thermocouple: </a:t>
                </a:r>
                <a:r>
                  <a:rPr lang="en-US" sz="2800" dirty="0"/>
                  <a:t>It is an active temperature sensor which generates voltage proportional to applied temperature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sz="2900" b="1" dirty="0">
                  <a:solidFill>
                    <a:srgbClr val="0000FF"/>
                  </a:solidFill>
                </a:endParaRPr>
              </a:p>
              <a:p>
                <a:pPr marL="0" indent="0">
                  <a:buNone/>
                </a:pPr>
                <a:r>
                  <a:rPr lang="en-US" sz="2900" b="1" dirty="0">
                    <a:solidFill>
                      <a:srgbClr val="0000FF"/>
                    </a:solidFill>
                  </a:rPr>
                  <a:t>Principle: (work on </a:t>
                </a:r>
                <a:r>
                  <a:rPr lang="en-US" sz="2900" b="1" dirty="0" err="1">
                    <a:solidFill>
                      <a:srgbClr val="0000FF"/>
                    </a:solidFill>
                  </a:rPr>
                  <a:t>Seeback</a:t>
                </a:r>
                <a:r>
                  <a:rPr lang="en-US" sz="2900" b="1" dirty="0">
                    <a:solidFill>
                      <a:srgbClr val="0000FF"/>
                    </a:solidFill>
                  </a:rPr>
                  <a:t> effect)</a:t>
                </a:r>
                <a:endParaRPr lang="en-US" sz="2900" dirty="0">
                  <a:solidFill>
                    <a:srgbClr val="0000FF"/>
                  </a:solidFill>
                </a:endParaRPr>
              </a:p>
              <a:p>
                <a:r>
                  <a:rPr lang="en-US" sz="2900" dirty="0"/>
                  <a:t>If two dissimilar metals are joined together at each end to form a loop with two junctions and a temperature difference exists between two junctions then a thermo </a:t>
                </a:r>
                <a:r>
                  <a:rPr lang="en-US" sz="2900" dirty="0" err="1"/>
                  <a:t>emf</a:t>
                </a:r>
                <a:r>
                  <a:rPr lang="en-US" sz="2900" dirty="0"/>
                  <a:t> (voltage) proportional to temperature difference is generated.</a:t>
                </a:r>
              </a:p>
              <a:p>
                <a:pPr marL="0" indent="0">
                  <a:buNone/>
                </a:pPr>
                <a14:m>
                  <m:oMathPara xmlns:m="http://schemas.openxmlformats.org/officeDocument/2006/math">
                    <m:oMathParaPr>
                      <m:jc m:val="centerGroup"/>
                    </m:oMathParaPr>
                    <m:oMath xmlns:m="http://schemas.openxmlformats.org/officeDocument/2006/math">
                      <m:sSub>
                        <m:sSubPr>
                          <m:ctrlPr>
                            <a:rPr lang="en-US" sz="2900" i="1">
                              <a:latin typeface="Cambria Math" panose="02040503050406030204" pitchFamily="18" charset="0"/>
                            </a:rPr>
                          </m:ctrlPr>
                        </m:sSubPr>
                        <m:e>
                          <m:r>
                            <m:rPr>
                              <m:sty m:val="p"/>
                            </m:rPr>
                            <a:rPr lang="en-US" sz="2900">
                              <a:latin typeface="Cambria Math" panose="02040503050406030204" pitchFamily="18" charset="0"/>
                            </a:rPr>
                            <m:t>V</m:t>
                          </m:r>
                        </m:e>
                        <m:sub>
                          <m:r>
                            <a:rPr lang="en-US" sz="2900">
                              <a:latin typeface="Cambria Math" panose="02040503050406030204" pitchFamily="18" charset="0"/>
                            </a:rPr>
                            <m:t>0</m:t>
                          </m:r>
                        </m:sub>
                      </m:sSub>
                      <m:r>
                        <a:rPr lang="en-US" sz="2900">
                          <a:latin typeface="Cambria Math" panose="02040503050406030204" pitchFamily="18" charset="0"/>
                        </a:rPr>
                        <m:t> </m:t>
                      </m:r>
                      <m:r>
                        <m:rPr>
                          <m:sty m:val="p"/>
                        </m:rPr>
                        <a:rPr lang="en-US" sz="2900">
                          <a:latin typeface="Cambria Math" panose="02040503050406030204" pitchFamily="18" charset="0"/>
                        </a:rPr>
                        <m:t>α</m:t>
                      </m:r>
                      <m:r>
                        <a:rPr lang="en-US" sz="2900">
                          <a:latin typeface="Cambria Math" panose="02040503050406030204" pitchFamily="18" charset="0"/>
                        </a:rPr>
                        <m:t> (</m:t>
                      </m:r>
                      <m:sSub>
                        <m:sSubPr>
                          <m:ctrlPr>
                            <a:rPr lang="en-US" sz="2900" i="1">
                              <a:latin typeface="Cambria Math" panose="02040503050406030204" pitchFamily="18" charset="0"/>
                            </a:rPr>
                          </m:ctrlPr>
                        </m:sSubPr>
                        <m:e>
                          <m:r>
                            <m:rPr>
                              <m:sty m:val="p"/>
                            </m:rPr>
                            <a:rPr lang="en-US" sz="2900">
                              <a:latin typeface="Cambria Math" panose="02040503050406030204" pitchFamily="18" charset="0"/>
                            </a:rPr>
                            <m:t>T</m:t>
                          </m:r>
                        </m:e>
                        <m:sub>
                          <m:r>
                            <a:rPr lang="en-US" sz="2900">
                              <a:latin typeface="Cambria Math" panose="02040503050406030204" pitchFamily="18" charset="0"/>
                            </a:rPr>
                            <m:t>2</m:t>
                          </m:r>
                        </m:sub>
                      </m:sSub>
                      <m:r>
                        <a:rPr lang="en-US" sz="2900" i="1">
                          <a:latin typeface="Cambria Math" panose="02040503050406030204" pitchFamily="18" charset="0"/>
                        </a:rPr>
                        <m:t>−</m:t>
                      </m:r>
                      <m:r>
                        <a:rPr lang="en-US" sz="2900">
                          <a:latin typeface="Cambria Math" panose="02040503050406030204" pitchFamily="18" charset="0"/>
                        </a:rPr>
                        <m:t> </m:t>
                      </m:r>
                      <m:sSub>
                        <m:sSubPr>
                          <m:ctrlPr>
                            <a:rPr lang="en-US" sz="2900" i="1">
                              <a:latin typeface="Cambria Math" panose="02040503050406030204" pitchFamily="18" charset="0"/>
                            </a:rPr>
                          </m:ctrlPr>
                        </m:sSubPr>
                        <m:e>
                          <m:r>
                            <m:rPr>
                              <m:sty m:val="p"/>
                            </m:rPr>
                            <a:rPr lang="en-US" sz="2900">
                              <a:latin typeface="Cambria Math" panose="02040503050406030204" pitchFamily="18" charset="0"/>
                            </a:rPr>
                            <m:t>T</m:t>
                          </m:r>
                        </m:e>
                        <m:sub>
                          <m:r>
                            <a:rPr lang="en-US" sz="2900">
                              <a:latin typeface="Cambria Math" panose="02040503050406030204" pitchFamily="18" charset="0"/>
                            </a:rPr>
                            <m:t>1</m:t>
                          </m:r>
                        </m:sub>
                      </m:sSub>
                      <m:r>
                        <a:rPr lang="en-US" sz="2900">
                          <a:latin typeface="Cambria Math" panose="02040503050406030204" pitchFamily="18" charset="0"/>
                        </a:rPr>
                        <m:t> )</m:t>
                      </m:r>
                    </m:oMath>
                  </m:oMathPara>
                </a14:m>
                <a:endParaRPr lang="en-US" sz="2900" dirty="0"/>
              </a:p>
              <a:p>
                <a:pPr marL="0" indent="0">
                  <a:buNone/>
                </a:pPr>
                <a14:m>
                  <m:oMathPara xmlns:m="http://schemas.openxmlformats.org/officeDocument/2006/math">
                    <m:oMathParaPr>
                      <m:jc m:val="centerGroup"/>
                    </m:oMathParaPr>
                    <m:oMath xmlns:m="http://schemas.openxmlformats.org/officeDocument/2006/math">
                      <m:sSub>
                        <m:sSubPr>
                          <m:ctrlPr>
                            <a:rPr lang="en-US" sz="2900" i="1">
                              <a:latin typeface="Cambria Math" panose="02040503050406030204" pitchFamily="18" charset="0"/>
                            </a:rPr>
                          </m:ctrlPr>
                        </m:sSubPr>
                        <m:e>
                          <m:r>
                            <m:rPr>
                              <m:sty m:val="p"/>
                            </m:rPr>
                            <a:rPr lang="en-US" sz="2900">
                              <a:latin typeface="Cambria Math" panose="02040503050406030204" pitchFamily="18" charset="0"/>
                            </a:rPr>
                            <m:t>V</m:t>
                          </m:r>
                        </m:e>
                        <m:sub>
                          <m:r>
                            <a:rPr lang="en-US" sz="2900">
                              <a:latin typeface="Cambria Math" panose="02040503050406030204" pitchFamily="18" charset="0"/>
                            </a:rPr>
                            <m:t>0</m:t>
                          </m:r>
                        </m:sub>
                      </m:sSub>
                      <m:r>
                        <a:rPr lang="en-US" sz="2900">
                          <a:latin typeface="Cambria Math" panose="02040503050406030204" pitchFamily="18" charset="0"/>
                        </a:rPr>
                        <m:t>=</m:t>
                      </m:r>
                      <m:r>
                        <m:rPr>
                          <m:sty m:val="p"/>
                        </m:rPr>
                        <a:rPr lang="en-US" sz="2900">
                          <a:latin typeface="Cambria Math" panose="02040503050406030204" pitchFamily="18" charset="0"/>
                        </a:rPr>
                        <m:t>C</m:t>
                      </m:r>
                      <m:r>
                        <a:rPr lang="en-US" sz="2900">
                          <a:latin typeface="Cambria Math" panose="02040503050406030204" pitchFamily="18" charset="0"/>
                        </a:rPr>
                        <m:t>.(</m:t>
                      </m:r>
                      <m:sSub>
                        <m:sSubPr>
                          <m:ctrlPr>
                            <a:rPr lang="en-US" sz="2900" i="1">
                              <a:latin typeface="Cambria Math" panose="02040503050406030204" pitchFamily="18" charset="0"/>
                            </a:rPr>
                          </m:ctrlPr>
                        </m:sSubPr>
                        <m:e>
                          <m:r>
                            <m:rPr>
                              <m:sty m:val="p"/>
                            </m:rPr>
                            <a:rPr lang="en-US" sz="2900">
                              <a:latin typeface="Cambria Math" panose="02040503050406030204" pitchFamily="18" charset="0"/>
                            </a:rPr>
                            <m:t>T</m:t>
                          </m:r>
                        </m:e>
                        <m:sub>
                          <m:r>
                            <a:rPr lang="en-US" sz="2900">
                              <a:latin typeface="Cambria Math" panose="02040503050406030204" pitchFamily="18" charset="0"/>
                            </a:rPr>
                            <m:t>2</m:t>
                          </m:r>
                        </m:sub>
                      </m:sSub>
                      <m:r>
                        <a:rPr lang="en-US" sz="2900" i="1">
                          <a:latin typeface="Cambria Math" panose="02040503050406030204" pitchFamily="18" charset="0"/>
                        </a:rPr>
                        <m:t>−</m:t>
                      </m:r>
                      <m:r>
                        <a:rPr lang="en-US" sz="2900">
                          <a:latin typeface="Cambria Math" panose="02040503050406030204" pitchFamily="18" charset="0"/>
                        </a:rPr>
                        <m:t> </m:t>
                      </m:r>
                      <m:sSub>
                        <m:sSubPr>
                          <m:ctrlPr>
                            <a:rPr lang="en-US" sz="2900" i="1">
                              <a:latin typeface="Cambria Math" panose="02040503050406030204" pitchFamily="18" charset="0"/>
                            </a:rPr>
                          </m:ctrlPr>
                        </m:sSubPr>
                        <m:e>
                          <m:r>
                            <m:rPr>
                              <m:sty m:val="p"/>
                            </m:rPr>
                            <a:rPr lang="en-US" sz="2900">
                              <a:latin typeface="Cambria Math" panose="02040503050406030204" pitchFamily="18" charset="0"/>
                            </a:rPr>
                            <m:t>T</m:t>
                          </m:r>
                        </m:e>
                        <m:sub>
                          <m:r>
                            <a:rPr lang="en-US" sz="2900">
                              <a:latin typeface="Cambria Math" panose="02040503050406030204" pitchFamily="18" charset="0"/>
                            </a:rPr>
                            <m:t>1</m:t>
                          </m:r>
                        </m:sub>
                      </m:sSub>
                      <m:r>
                        <a:rPr lang="en-US" sz="2900">
                          <a:latin typeface="Cambria Math" panose="02040503050406030204" pitchFamily="18" charset="0"/>
                        </a:rPr>
                        <m:t> )</m:t>
                      </m:r>
                    </m:oMath>
                  </m:oMathPara>
                </a14:m>
                <a:endParaRPr lang="en-US" sz="2900" dirty="0"/>
              </a:p>
              <a:p>
                <a:pPr marL="0" indent="0">
                  <a:buNone/>
                </a:pPr>
                <a:r>
                  <a:rPr lang="en-US" sz="2900" dirty="0"/>
                  <a:t>Where C is sensitivity of thermocouple in mV/ </a:t>
                </a:r>
                <a:r>
                  <a:rPr lang="en-US" sz="2900" baseline="30000" dirty="0"/>
                  <a:t>0</a:t>
                </a:r>
                <a:r>
                  <a:rPr lang="en-US" sz="2900" dirty="0"/>
                  <a:t>C. </a:t>
                </a:r>
              </a:p>
              <a:p>
                <a:r>
                  <a:rPr lang="en-US" sz="2900" dirty="0"/>
                  <a:t>The above principle is known as </a:t>
                </a:r>
                <a:r>
                  <a:rPr lang="en-US" sz="2900" dirty="0" err="1"/>
                  <a:t>seeback</a:t>
                </a:r>
                <a:r>
                  <a:rPr lang="en-US" sz="2900" dirty="0"/>
                  <a:t> effect.</a:t>
                </a:r>
              </a:p>
              <a:p>
                <a:r>
                  <a:rPr lang="en-US" sz="2900" dirty="0"/>
                  <a:t>Thus by measuring the output voltage across the junction the temperature can be determined.</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81000" y="685800"/>
                <a:ext cx="8305800" cy="6019800"/>
              </a:xfrm>
              <a:blipFill rotWithShape="1">
                <a:blip r:embed="rId2"/>
                <a:stretch>
                  <a:fillRect l="-954" t="-1418" r="-881" b="-7396"/>
                </a:stretch>
              </a:blipFill>
            </p:spPr>
            <p:txBody>
              <a:bodyPr/>
              <a:lstStyle/>
              <a:p>
                <a:r>
                  <a:rPr lang="en-US">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33400" y="1366837"/>
            <a:ext cx="7682210" cy="20621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919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228600" y="762000"/>
                <a:ext cx="8305800" cy="5791200"/>
              </a:xfrm>
            </p:spPr>
            <p:txBody>
              <a:bodyPr>
                <a:normAutofit fontScale="62500" lnSpcReduction="20000"/>
              </a:bodyPr>
              <a:lstStyle/>
              <a:p>
                <a:pPr marL="0" indent="0">
                  <a:buNone/>
                </a:pPr>
                <a:r>
                  <a:rPr lang="en-US" sz="4500" b="1" dirty="0">
                    <a:solidFill>
                      <a:srgbClr val="0000FF"/>
                    </a:solidFill>
                  </a:rPr>
                  <a:t>Construction:</a:t>
                </a:r>
                <a:endParaRPr lang="en-US" sz="4500" dirty="0">
                  <a:solidFill>
                    <a:srgbClr val="0000FF"/>
                  </a:solidFill>
                </a:endParaRPr>
              </a:p>
              <a:p>
                <a:r>
                  <a:rPr lang="en-US" dirty="0"/>
                  <a:t>If two dissimilar metals are joined together to form two junctions. The thermocouple junctions are placed in protective casing of stainless steel and output terminals are made available for voltage measurement.</a:t>
                </a:r>
              </a:p>
              <a:p>
                <a:pPr marL="0" indent="0">
                  <a:buNone/>
                </a:pPr>
                <a:r>
                  <a:rPr lang="en-US" sz="4500" b="1" dirty="0">
                    <a:solidFill>
                      <a:srgbClr val="0000FF"/>
                    </a:solidFill>
                  </a:rPr>
                  <a:t>Working:</a:t>
                </a:r>
                <a:endParaRPr lang="en-US" sz="4500" dirty="0">
                  <a:solidFill>
                    <a:srgbClr val="0000FF"/>
                  </a:solidFill>
                </a:endParaRPr>
              </a:p>
              <a:p>
                <a:r>
                  <a:rPr lang="en-US" dirty="0"/>
                  <a:t>One of the thermocouple junction is kept as reference junction (J</a:t>
                </a:r>
                <a:r>
                  <a:rPr lang="en-US" baseline="-25000" dirty="0"/>
                  <a:t>1</a:t>
                </a:r>
                <a:r>
                  <a:rPr lang="en-US" dirty="0"/>
                  <a:t>) and other is considered as measuring junction (J</a:t>
                </a:r>
                <a:r>
                  <a:rPr lang="en-US" baseline="-25000" dirty="0"/>
                  <a:t>2</a:t>
                </a:r>
                <a:r>
                  <a:rPr lang="en-US" dirty="0"/>
                  <a:t>). The reference junction is kept at ambient temperature (T</a:t>
                </a:r>
                <a:r>
                  <a:rPr lang="en-US" baseline="-25000" dirty="0"/>
                  <a:t>1</a:t>
                </a:r>
                <a:r>
                  <a:rPr lang="en-US" dirty="0"/>
                  <a:t>) and the measuring junction is exposed to chamber whose temperature is to be measured. Then due to temperature difference the thermo </a:t>
                </a:r>
                <a:r>
                  <a:rPr lang="en-US" dirty="0" err="1"/>
                  <a:t>emf</a:t>
                </a:r>
                <a:r>
                  <a:rPr lang="en-US" dirty="0"/>
                  <a:t> (V</a:t>
                </a:r>
                <a:r>
                  <a:rPr lang="en-US" baseline="-25000" dirty="0"/>
                  <a:t>0</a:t>
                </a:r>
                <a:r>
                  <a:rPr lang="en-US" dirty="0"/>
                  <a:t>)  is generated.</a:t>
                </a:r>
              </a:p>
              <a:p>
                <a:r>
                  <a:rPr lang="en-US" dirty="0"/>
                  <a:t>We have,</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a:rPr>
                            <m:t>V</m:t>
                          </m:r>
                        </m:e>
                        <m:sub>
                          <m:r>
                            <a:rPr lang="en-US">
                              <a:latin typeface="Cambria Math"/>
                            </a:rPr>
                            <m:t>0</m:t>
                          </m:r>
                        </m:sub>
                      </m:sSub>
                      <m:r>
                        <a:rPr lang="en-US">
                          <a:latin typeface="Cambria Math"/>
                        </a:rPr>
                        <m:t>=</m:t>
                      </m:r>
                      <m:r>
                        <m:rPr>
                          <m:sty m:val="p"/>
                        </m:rPr>
                        <a:rPr lang="en-US">
                          <a:latin typeface="Cambria Math"/>
                        </a:rPr>
                        <m:t>C</m:t>
                      </m:r>
                      <m:r>
                        <a:rPr lang="en-US">
                          <a:latin typeface="Cambria Math"/>
                        </a:rPr>
                        <m:t>.(</m:t>
                      </m:r>
                      <m:sSub>
                        <m:sSubPr>
                          <m:ctrlPr>
                            <a:rPr lang="en-US" i="1">
                              <a:latin typeface="Cambria Math" panose="02040503050406030204" pitchFamily="18" charset="0"/>
                            </a:rPr>
                          </m:ctrlPr>
                        </m:sSubPr>
                        <m:e>
                          <m:r>
                            <m:rPr>
                              <m:sty m:val="p"/>
                            </m:rPr>
                            <a:rPr lang="en-US">
                              <a:latin typeface="Cambria Math"/>
                            </a:rPr>
                            <m:t>T</m:t>
                          </m:r>
                        </m:e>
                        <m:sub>
                          <m:r>
                            <a:rPr lang="en-US">
                              <a:latin typeface="Cambria Math"/>
                            </a:rPr>
                            <m:t>2</m:t>
                          </m:r>
                        </m:sub>
                      </m:sSub>
                      <m:r>
                        <a:rPr lang="en-US" i="1">
                          <a:latin typeface="Cambria Math"/>
                        </a:rPr>
                        <m:t>−</m:t>
                      </m:r>
                      <m:r>
                        <a:rPr lang="en-US">
                          <a:latin typeface="Cambria Math"/>
                        </a:rPr>
                        <m:t> </m:t>
                      </m:r>
                      <m:sSub>
                        <m:sSubPr>
                          <m:ctrlPr>
                            <a:rPr lang="en-US" i="1">
                              <a:latin typeface="Cambria Math" panose="02040503050406030204" pitchFamily="18" charset="0"/>
                            </a:rPr>
                          </m:ctrlPr>
                        </m:sSubPr>
                        <m:e>
                          <m:r>
                            <m:rPr>
                              <m:sty m:val="p"/>
                            </m:rPr>
                            <a:rPr lang="en-US">
                              <a:latin typeface="Cambria Math"/>
                            </a:rPr>
                            <m:t>T</m:t>
                          </m:r>
                        </m:e>
                        <m:sub>
                          <m:r>
                            <a:rPr lang="en-US">
                              <a:latin typeface="Cambria Math"/>
                            </a:rPr>
                            <m:t>1</m:t>
                          </m:r>
                        </m:sub>
                      </m:sSub>
                      <m:r>
                        <a:rPr lang="en-US">
                          <a:latin typeface="Cambria Math"/>
                        </a:rPr>
                        <m:t> )</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a:rPr>
                            <m:t>T</m:t>
                          </m:r>
                        </m:e>
                        <m:sub>
                          <m:r>
                            <a:rPr lang="en-US">
                              <a:latin typeface="Cambria Math"/>
                            </a:rPr>
                            <m:t>2</m:t>
                          </m:r>
                        </m:sub>
                      </m:sSub>
                      <m:r>
                        <a:rPr lang="en-US">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a:rPr>
                                <m:t>V</m:t>
                              </m:r>
                            </m:e>
                            <m:sub>
                              <m:r>
                                <a:rPr lang="en-US">
                                  <a:latin typeface="Cambria Math"/>
                                </a:rPr>
                                <m:t>0</m:t>
                              </m:r>
                            </m:sub>
                          </m:sSub>
                        </m:num>
                        <m:den>
                          <m:r>
                            <m:rPr>
                              <m:sty m:val="p"/>
                            </m:rPr>
                            <a:rPr lang="en-US">
                              <a:latin typeface="Cambria Math"/>
                            </a:rPr>
                            <m:t>C</m:t>
                          </m:r>
                        </m:den>
                      </m:f>
                      <m:r>
                        <a:rPr lang="en-US">
                          <a:latin typeface="Cambria Math"/>
                        </a:rPr>
                        <m:t>+</m:t>
                      </m:r>
                      <m:sSub>
                        <m:sSubPr>
                          <m:ctrlPr>
                            <a:rPr lang="en-US" i="1">
                              <a:latin typeface="Cambria Math" panose="02040503050406030204" pitchFamily="18" charset="0"/>
                            </a:rPr>
                          </m:ctrlPr>
                        </m:sSubPr>
                        <m:e>
                          <m:r>
                            <m:rPr>
                              <m:sty m:val="p"/>
                            </m:rPr>
                            <a:rPr lang="en-US">
                              <a:latin typeface="Cambria Math"/>
                            </a:rPr>
                            <m:t>T</m:t>
                          </m:r>
                        </m:e>
                        <m:sub>
                          <m:r>
                            <a:rPr lang="en-US">
                              <a:latin typeface="Cambria Math"/>
                            </a:rPr>
                            <m:t>1</m:t>
                          </m:r>
                        </m:sub>
                      </m:sSub>
                    </m:oMath>
                  </m:oMathPara>
                </a14:m>
                <a:endParaRPr lang="en-US" dirty="0"/>
              </a:p>
              <a:p>
                <a:r>
                  <a:rPr lang="en-US" dirty="0"/>
                  <a:t>For better accuracy, the reference junction is kept in ice bath to have T</a:t>
                </a:r>
                <a:r>
                  <a:rPr lang="en-US" baseline="-25000" dirty="0"/>
                  <a:t>1</a:t>
                </a:r>
                <a:r>
                  <a:rPr lang="en-US" dirty="0"/>
                  <a:t>=0, then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T</m:t>
                        </m:r>
                      </m:e>
                      <m:sub>
                        <m:r>
                          <a:rPr lang="en-US">
                            <a:latin typeface="Cambria Math"/>
                          </a:rPr>
                          <m:t>2</m:t>
                        </m:r>
                      </m:sub>
                    </m:sSub>
                    <m:r>
                      <a:rPr lang="en-US">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a:rPr>
                              <m:t>V</m:t>
                            </m:r>
                          </m:e>
                          <m:sub>
                            <m:r>
                              <a:rPr lang="en-US">
                                <a:latin typeface="Cambria Math"/>
                              </a:rPr>
                              <m:t>0</m:t>
                            </m:r>
                          </m:sub>
                        </m:sSub>
                      </m:num>
                      <m:den>
                        <m:r>
                          <m:rPr>
                            <m:sty m:val="p"/>
                          </m:rPr>
                          <a:rPr lang="en-US">
                            <a:latin typeface="Cambria Math"/>
                          </a:rPr>
                          <m:t>C</m:t>
                        </m:r>
                      </m:den>
                    </m:f>
                  </m:oMath>
                </a14:m>
                <a:endParaRPr lang="en-US" dirty="0"/>
              </a:p>
              <a:p>
                <a:r>
                  <a:rPr lang="en-US" dirty="0"/>
                  <a:t>This eliminates error due to fluctuations in ambient temperature </a:t>
                </a:r>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762000"/>
                <a:ext cx="8305800" cy="5791200"/>
              </a:xfrm>
              <a:blipFill rotWithShape="1">
                <a:blip r:embed="rId2"/>
                <a:stretch>
                  <a:fillRect l="-1542" t="-2316" r="-734"/>
                </a:stretch>
              </a:blipFill>
            </p:spPr>
            <p:txBody>
              <a:bodyPr/>
              <a:lstStyle/>
              <a:p>
                <a:r>
                  <a:rPr lang="en-US">
                    <a:noFill/>
                  </a:rPr>
                  <a:t> </a:t>
                </a:r>
              </a:p>
            </p:txBody>
          </p:sp>
        </mc:Fallback>
      </mc:AlternateContent>
      <p:sp>
        <p:nvSpPr>
          <p:cNvPr id="5" name="Title 1"/>
          <p:cNvSpPr>
            <a:spLocks noGrp="1"/>
          </p:cNvSpPr>
          <p:nvPr>
            <p:ph type="title"/>
          </p:nvPr>
        </p:nvSpPr>
        <p:spPr>
          <a:xfrm>
            <a:off x="457200" y="76200"/>
            <a:ext cx="5334000" cy="533400"/>
          </a:xfrm>
        </p:spPr>
        <p:txBody>
          <a:bodyPr>
            <a:noAutofit/>
          </a:bodyPr>
          <a:lstStyle/>
          <a:p>
            <a:pPr algn="l"/>
            <a:r>
              <a:rPr lang="en-US" sz="3200" b="1" dirty="0">
                <a:solidFill>
                  <a:srgbClr val="C00000"/>
                </a:solidFill>
                <a:latin typeface="Calibri Light" pitchFamily="34" charset="0"/>
              </a:rPr>
              <a:t>Thermocouple:</a:t>
            </a:r>
          </a:p>
        </p:txBody>
      </p:sp>
    </p:spTree>
    <p:extLst>
      <p:ext uri="{BB962C8B-B14F-4D97-AF65-F5344CB8AC3E}">
        <p14:creationId xmlns:p14="http://schemas.microsoft.com/office/powerpoint/2010/main" xmlns="" val="3491221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305800" cy="5943600"/>
          </a:xfrm>
        </p:spPr>
        <p:txBody>
          <a:bodyPr>
            <a:normAutofit fontScale="47500" lnSpcReduction="20000"/>
          </a:bodyPr>
          <a:lstStyle/>
          <a:p>
            <a:pPr marL="0" indent="0">
              <a:buNone/>
            </a:pPr>
            <a:r>
              <a:rPr lang="en-US" sz="5100" b="1" dirty="0">
                <a:solidFill>
                  <a:srgbClr val="0000FF"/>
                </a:solidFill>
              </a:rPr>
              <a:t>Advantages:</a:t>
            </a:r>
            <a:endParaRPr lang="en-US" sz="5100" dirty="0">
              <a:solidFill>
                <a:srgbClr val="0000FF"/>
              </a:solidFill>
            </a:endParaRPr>
          </a:p>
          <a:p>
            <a:pPr lvl="0"/>
            <a:r>
              <a:rPr lang="en-US" sz="3800" dirty="0"/>
              <a:t>External source not required.</a:t>
            </a:r>
          </a:p>
          <a:p>
            <a:pPr lvl="0"/>
            <a:r>
              <a:rPr lang="en-US" sz="3800" dirty="0"/>
              <a:t>Less expensive and compact in size.</a:t>
            </a:r>
          </a:p>
          <a:p>
            <a:pPr lvl="0"/>
            <a:r>
              <a:rPr lang="en-US" sz="3800" dirty="0"/>
              <a:t>Responds quickly to temperature changes.</a:t>
            </a:r>
          </a:p>
          <a:p>
            <a:pPr lvl="0"/>
            <a:r>
              <a:rPr lang="en-US" sz="3800" dirty="0"/>
              <a:t>High working range</a:t>
            </a:r>
          </a:p>
          <a:p>
            <a:r>
              <a:rPr lang="en-US" sz="3800" b="1" dirty="0"/>
              <a:t> </a:t>
            </a:r>
            <a:endParaRPr lang="en-US" sz="3800" dirty="0"/>
          </a:p>
          <a:p>
            <a:pPr marL="0" indent="0">
              <a:buNone/>
            </a:pPr>
            <a:r>
              <a:rPr lang="en-US" sz="5100" b="1" dirty="0">
                <a:solidFill>
                  <a:srgbClr val="0000FF"/>
                </a:solidFill>
              </a:rPr>
              <a:t>Disadvantages:</a:t>
            </a:r>
          </a:p>
          <a:p>
            <a:pPr lvl="0"/>
            <a:r>
              <a:rPr lang="en-US" sz="3800" dirty="0"/>
              <a:t>Their performance is affected by stray magnetic fields.</a:t>
            </a:r>
          </a:p>
          <a:p>
            <a:pPr lvl="0"/>
            <a:r>
              <a:rPr lang="en-US" sz="3800" dirty="0"/>
              <a:t>The generated output voltage is very small therefore it needs amplification.</a:t>
            </a:r>
          </a:p>
          <a:p>
            <a:pPr lvl="0"/>
            <a:r>
              <a:rPr lang="en-US" sz="3800" dirty="0"/>
              <a:t>Maintaining the junction temperature stable is difficult.</a:t>
            </a:r>
          </a:p>
          <a:p>
            <a:pPr lvl="0"/>
            <a:r>
              <a:rPr lang="en-US" sz="3800" dirty="0"/>
              <a:t>Characteristics V</a:t>
            </a:r>
            <a:r>
              <a:rPr lang="en-US" sz="3800" baseline="-25000" dirty="0"/>
              <a:t>0</a:t>
            </a:r>
            <a:r>
              <a:rPr lang="en-US" sz="3800" dirty="0"/>
              <a:t> </a:t>
            </a:r>
            <a:r>
              <a:rPr lang="en-US" sz="3800" i="1" dirty="0" err="1"/>
              <a:t>Vs</a:t>
            </a:r>
            <a:r>
              <a:rPr lang="en-US" sz="3800" dirty="0"/>
              <a:t> Temp. is non-linear.</a:t>
            </a:r>
          </a:p>
          <a:p>
            <a:pPr lvl="0"/>
            <a:r>
              <a:rPr lang="en-US" sz="3800" dirty="0"/>
              <a:t>The thermocouple system requires periodic maintenance.</a:t>
            </a:r>
          </a:p>
          <a:p>
            <a:r>
              <a:rPr lang="en-US" sz="3800" b="1" dirty="0"/>
              <a:t> </a:t>
            </a:r>
            <a:endParaRPr lang="en-US" sz="3800" dirty="0"/>
          </a:p>
          <a:p>
            <a:pPr marL="0" indent="0">
              <a:buNone/>
            </a:pPr>
            <a:r>
              <a:rPr lang="en-US" sz="5100" b="1" dirty="0">
                <a:solidFill>
                  <a:srgbClr val="0000FF"/>
                </a:solidFill>
              </a:rPr>
              <a:t>Application:</a:t>
            </a:r>
          </a:p>
          <a:p>
            <a:pPr lvl="0"/>
            <a:r>
              <a:rPr lang="en-US" sz="3800" dirty="0"/>
              <a:t>Cement manufacturing plants.</a:t>
            </a:r>
          </a:p>
          <a:p>
            <a:pPr lvl="0"/>
            <a:r>
              <a:rPr lang="en-US" sz="3800" dirty="0"/>
              <a:t>Tube mills.</a:t>
            </a:r>
          </a:p>
          <a:p>
            <a:pPr lvl="0"/>
            <a:r>
              <a:rPr lang="en-US" sz="3800" dirty="0"/>
              <a:t>Food industries, bakeries.</a:t>
            </a:r>
          </a:p>
          <a:p>
            <a:pPr lvl="0"/>
            <a:r>
              <a:rPr lang="en-US" sz="3800" dirty="0"/>
              <a:t>Heat treatment plants.</a:t>
            </a:r>
          </a:p>
          <a:p>
            <a:pPr lvl="0"/>
            <a:r>
              <a:rPr lang="en-US" sz="3800" dirty="0"/>
              <a:t>Semiconductor manufacturing plants.</a:t>
            </a:r>
          </a:p>
          <a:p>
            <a:pPr lvl="0"/>
            <a:r>
              <a:rPr lang="en-US" sz="3800" dirty="0"/>
              <a:t>Seamless pipes manufacturing plants.</a:t>
            </a:r>
          </a:p>
          <a:p>
            <a:pPr marL="0" indent="0">
              <a:buNone/>
            </a:pPr>
            <a:endParaRPr lang="en-US" dirty="0"/>
          </a:p>
        </p:txBody>
      </p:sp>
      <p:sp>
        <p:nvSpPr>
          <p:cNvPr id="5" name="Title 1"/>
          <p:cNvSpPr>
            <a:spLocks noGrp="1"/>
          </p:cNvSpPr>
          <p:nvPr>
            <p:ph type="title"/>
          </p:nvPr>
        </p:nvSpPr>
        <p:spPr>
          <a:xfrm>
            <a:off x="457200" y="76200"/>
            <a:ext cx="5334000" cy="533400"/>
          </a:xfrm>
        </p:spPr>
        <p:txBody>
          <a:bodyPr>
            <a:noAutofit/>
          </a:bodyPr>
          <a:lstStyle/>
          <a:p>
            <a:pPr algn="l"/>
            <a:r>
              <a:rPr lang="en-US" sz="3200" b="1" dirty="0">
                <a:solidFill>
                  <a:srgbClr val="C00000"/>
                </a:solidFill>
                <a:latin typeface="Calibri Light" pitchFamily="34" charset="0"/>
              </a:rPr>
              <a:t>Thermocouple:</a:t>
            </a:r>
          </a:p>
        </p:txBody>
      </p:sp>
    </p:spTree>
    <p:extLst>
      <p:ext uri="{BB962C8B-B14F-4D97-AF65-F5344CB8AC3E}">
        <p14:creationId xmlns:p14="http://schemas.microsoft.com/office/powerpoint/2010/main" xmlns="" val="1594141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315200" cy="457200"/>
          </a:xfrm>
        </p:spPr>
        <p:txBody>
          <a:bodyPr>
            <a:noAutofit/>
          </a:bodyPr>
          <a:lstStyle/>
          <a:p>
            <a:pPr algn="l"/>
            <a:r>
              <a:rPr lang="en-US" sz="3600" b="1" dirty="0">
                <a:solidFill>
                  <a:srgbClr val="C00000"/>
                </a:solidFill>
                <a:latin typeface="Calibri Light" pitchFamily="34" charset="0"/>
              </a:rPr>
              <a:t>Temperature Sensor: </a:t>
            </a:r>
            <a:r>
              <a:rPr lang="en-US" sz="3600" b="1" dirty="0">
                <a:solidFill>
                  <a:srgbClr val="0000FF"/>
                </a:solidFill>
                <a:latin typeface="Calibri Light" pitchFamily="34" charset="0"/>
              </a:rPr>
              <a:t>Thermistor</a:t>
            </a: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228600" y="762000"/>
                <a:ext cx="8534400" cy="5715000"/>
              </a:xfrm>
            </p:spPr>
            <p:txBody>
              <a:bodyPr>
                <a:normAutofit fontScale="70000" lnSpcReduction="20000"/>
              </a:bodyPr>
              <a:lstStyle/>
              <a:p>
                <a:pPr lvl="0"/>
                <a:r>
                  <a:rPr lang="en-US" dirty="0"/>
                  <a:t>A thermistor is a type of resistor whose </a:t>
                </a:r>
                <a:r>
                  <a:rPr lang="en-US" dirty="0">
                    <a:solidFill>
                      <a:srgbClr val="FF0000"/>
                    </a:solidFill>
                  </a:rPr>
                  <a:t>resistance is dependent on temperature</a:t>
                </a:r>
                <a:r>
                  <a:rPr lang="en-US" dirty="0"/>
                  <a:t>. </a:t>
                </a:r>
              </a:p>
              <a:p>
                <a:pPr lvl="0"/>
                <a:r>
                  <a:rPr lang="en-US" dirty="0"/>
                  <a:t>The word is a combination of </a:t>
                </a:r>
                <a:r>
                  <a:rPr lang="en-US" dirty="0">
                    <a:solidFill>
                      <a:srgbClr val="0000FF"/>
                    </a:solidFill>
                  </a:rPr>
                  <a:t>therm</a:t>
                </a:r>
                <a:r>
                  <a:rPr lang="en-US" dirty="0"/>
                  <a:t>al and res</a:t>
                </a:r>
                <a:r>
                  <a:rPr lang="en-US" dirty="0">
                    <a:solidFill>
                      <a:srgbClr val="0000FF"/>
                    </a:solidFill>
                  </a:rPr>
                  <a:t>istor</a:t>
                </a:r>
                <a:r>
                  <a:rPr lang="en-US" dirty="0"/>
                  <a:t>.</a:t>
                </a:r>
              </a:p>
              <a:p>
                <a:pPr lvl="0"/>
                <a:r>
                  <a:rPr lang="en-US" dirty="0"/>
                  <a:t>Thermistor is temperature sensing resistor.</a:t>
                </a:r>
              </a:p>
              <a:p>
                <a:pPr lvl="0"/>
                <a:r>
                  <a:rPr lang="en-US" dirty="0"/>
                  <a:t>It is manufactured using semiconductor materials having negative temperature coefficient.</a:t>
                </a:r>
              </a:p>
              <a:p>
                <a:pPr marL="0" indent="0">
                  <a:buNone/>
                </a:pPr>
                <a:endParaRPr lang="en-US" sz="4500" b="1" dirty="0">
                  <a:solidFill>
                    <a:srgbClr val="0000FF"/>
                  </a:solidFill>
                  <a:latin typeface="Calibri Light" pitchFamily="34" charset="0"/>
                </a:endParaRPr>
              </a:p>
              <a:p>
                <a:pPr marL="0" indent="0">
                  <a:buNone/>
                </a:pPr>
                <a:r>
                  <a:rPr lang="en-US" sz="4500" b="1" dirty="0">
                    <a:solidFill>
                      <a:srgbClr val="0000FF"/>
                    </a:solidFill>
                    <a:latin typeface="Calibri Light" pitchFamily="34" charset="0"/>
                  </a:rPr>
                  <a:t>Principle:</a:t>
                </a:r>
                <a:endParaRPr lang="en-US" sz="4500" dirty="0">
                  <a:solidFill>
                    <a:srgbClr val="0000FF"/>
                  </a:solidFill>
                  <a:latin typeface="Calibri Light" pitchFamily="34" charset="0"/>
                </a:endParaRPr>
              </a:p>
              <a:p>
                <a:pPr lvl="0"/>
                <a:r>
                  <a:rPr lang="en-US" dirty="0"/>
                  <a:t>The resistance of thermistor changes with change in temperature.</a:t>
                </a:r>
              </a:p>
              <a:p>
                <a:pPr lvl="0"/>
                <a:r>
                  <a:rPr lang="en-US" dirty="0"/>
                  <a:t>The relation between the resistance of thermistor and temperature is,</a:t>
                </a:r>
              </a:p>
              <a:p>
                <a:pPr marL="0"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a:rPr>
                            <m:t>𝐑</m:t>
                          </m:r>
                        </m:e>
                        <m:sub>
                          <m:r>
                            <a:rPr lang="en-US" b="1" i="1">
                              <a:latin typeface="Cambria Math"/>
                            </a:rPr>
                            <m:t>𝐓</m:t>
                          </m:r>
                          <m:r>
                            <a:rPr lang="en-US" b="1">
                              <a:latin typeface="Cambria Math"/>
                            </a:rPr>
                            <m:t> </m:t>
                          </m:r>
                        </m:sub>
                      </m:sSub>
                      <m:r>
                        <a:rPr lang="en-US" b="1">
                          <a:latin typeface="Cambria Math"/>
                        </a:rPr>
                        <m:t>=</m:t>
                      </m:r>
                      <m:sSub>
                        <m:sSubPr>
                          <m:ctrlPr>
                            <a:rPr lang="en-US" b="1" i="1">
                              <a:latin typeface="Cambria Math" panose="02040503050406030204" pitchFamily="18" charset="0"/>
                            </a:rPr>
                          </m:ctrlPr>
                        </m:sSubPr>
                        <m:e>
                          <m:r>
                            <a:rPr lang="en-US" b="1" i="1">
                              <a:latin typeface="Cambria Math"/>
                            </a:rPr>
                            <m:t>𝐑</m:t>
                          </m:r>
                        </m:e>
                        <m:sub>
                          <m:r>
                            <a:rPr lang="en-US" b="1" i="1">
                              <a:latin typeface="Cambria Math"/>
                            </a:rPr>
                            <m:t>𝟎</m:t>
                          </m:r>
                          <m:r>
                            <a:rPr lang="en-US" b="1">
                              <a:latin typeface="Cambria Math"/>
                            </a:rPr>
                            <m:t> </m:t>
                          </m:r>
                        </m:sub>
                      </m:sSub>
                      <m:r>
                        <a:rPr lang="en-US" b="1">
                          <a:latin typeface="Cambria Math"/>
                        </a:rPr>
                        <m:t>⋅ </m:t>
                      </m:r>
                      <m:sSup>
                        <m:sSupPr>
                          <m:ctrlPr>
                            <a:rPr lang="en-US" b="1" i="1">
                              <a:latin typeface="Cambria Math" panose="02040503050406030204" pitchFamily="18" charset="0"/>
                            </a:rPr>
                          </m:ctrlPr>
                        </m:sSupPr>
                        <m:e>
                          <m:r>
                            <a:rPr lang="en-US" b="1" i="1">
                              <a:latin typeface="Cambria Math"/>
                            </a:rPr>
                            <m:t>𝐞</m:t>
                          </m:r>
                        </m:e>
                        <m:sup>
                          <m:r>
                            <a:rPr lang="en-US" b="1" i="1">
                              <a:latin typeface="Cambria Math"/>
                            </a:rPr>
                            <m:t>𝛃</m:t>
                          </m:r>
                          <m:r>
                            <a:rPr lang="en-US" b="1">
                              <a:latin typeface="Cambria Math"/>
                            </a:rPr>
                            <m:t>⋅ (</m:t>
                          </m:r>
                          <m:f>
                            <m:fPr>
                              <m:ctrlPr>
                                <a:rPr lang="en-US" b="1" i="1">
                                  <a:latin typeface="Cambria Math" panose="02040503050406030204" pitchFamily="18" charset="0"/>
                                </a:rPr>
                              </m:ctrlPr>
                            </m:fPr>
                            <m:num>
                              <m:r>
                                <a:rPr lang="en-US" b="1" i="1">
                                  <a:latin typeface="Cambria Math"/>
                                </a:rPr>
                                <m:t>𝟏</m:t>
                              </m:r>
                            </m:num>
                            <m:den>
                              <m:r>
                                <a:rPr lang="en-US" b="1" i="1">
                                  <a:latin typeface="Cambria Math"/>
                                </a:rPr>
                                <m:t>𝐓</m:t>
                              </m:r>
                            </m:den>
                          </m:f>
                          <m:r>
                            <a:rPr lang="en-US" b="1">
                              <a:latin typeface="Cambria Math"/>
                            </a:rPr>
                            <m:t> </m:t>
                          </m:r>
                          <m:r>
                            <a:rPr lang="en-US" i="1">
                              <a:latin typeface="Cambria Math"/>
                            </a:rPr>
                            <m:t>−</m:t>
                          </m:r>
                          <m:r>
                            <a:rPr lang="en-US" b="1">
                              <a:latin typeface="Cambria Math"/>
                            </a:rPr>
                            <m:t> </m:t>
                          </m:r>
                          <m:f>
                            <m:fPr>
                              <m:ctrlPr>
                                <a:rPr lang="en-US" b="1" i="1">
                                  <a:latin typeface="Cambria Math" panose="02040503050406030204" pitchFamily="18" charset="0"/>
                                </a:rPr>
                              </m:ctrlPr>
                            </m:fPr>
                            <m:num>
                              <m:r>
                                <a:rPr lang="en-US" b="1" i="1">
                                  <a:latin typeface="Cambria Math"/>
                                </a:rPr>
                                <m:t>𝟏</m:t>
                              </m:r>
                            </m:num>
                            <m:den>
                              <m:sSub>
                                <m:sSubPr>
                                  <m:ctrlPr>
                                    <a:rPr lang="en-US" b="1" i="1">
                                      <a:latin typeface="Cambria Math" panose="02040503050406030204" pitchFamily="18" charset="0"/>
                                    </a:rPr>
                                  </m:ctrlPr>
                                </m:sSubPr>
                                <m:e>
                                  <m:r>
                                    <a:rPr lang="en-US" b="1" i="1">
                                      <a:latin typeface="Cambria Math"/>
                                    </a:rPr>
                                    <m:t>𝐓</m:t>
                                  </m:r>
                                </m:e>
                                <m:sub>
                                  <m:r>
                                    <a:rPr lang="en-US" b="1" i="1">
                                      <a:latin typeface="Cambria Math"/>
                                    </a:rPr>
                                    <m:t>𝟎</m:t>
                                  </m:r>
                                </m:sub>
                              </m:sSub>
                            </m:den>
                          </m:f>
                          <m:r>
                            <a:rPr lang="en-US" b="1">
                              <a:latin typeface="Cambria Math"/>
                            </a:rPr>
                            <m:t>)</m:t>
                          </m:r>
                        </m:sup>
                      </m:sSup>
                    </m:oMath>
                  </m:oMathPara>
                </a14:m>
                <a:endParaRPr lang="en-US" dirty="0"/>
              </a:p>
              <a:p>
                <a:pPr marL="0" indent="0">
                  <a:buNone/>
                </a:pPr>
                <a:r>
                  <a:rPr lang="en-US" b="1" dirty="0"/>
                  <a:t>Where,</a:t>
                </a:r>
                <a:endParaRPr lang="en-US" dirty="0"/>
              </a:p>
              <a:p>
                <a:pPr marL="0" indent="0">
                  <a:buNone/>
                </a:pPr>
                <a:r>
                  <a:rPr lang="en-US" dirty="0"/>
                  <a:t/>
                </a:r>
                <a14:m>
                  <m:oMath xmlns:m="http://schemas.openxmlformats.org/officeDocument/2006/math">
                    <m:sSub>
                      <m:sSubPr>
                        <m:ctrlPr>
                          <a:rPr lang="en-US" i="1" smtClean="0">
                            <a:solidFill>
                              <a:srgbClr val="0000FF"/>
                            </a:solidFill>
                            <a:latin typeface="Cambria Math" panose="02040503050406030204" pitchFamily="18" charset="0"/>
                          </a:rPr>
                        </m:ctrlPr>
                      </m:sSubPr>
                      <m:e>
                        <m:r>
                          <m:rPr>
                            <m:sty m:val="p"/>
                          </m:rPr>
                          <a:rPr lang="en-US">
                            <a:solidFill>
                              <a:srgbClr val="0000FF"/>
                            </a:solidFill>
                            <a:latin typeface="Cambria Math"/>
                          </a:rPr>
                          <m:t>R</m:t>
                        </m:r>
                      </m:e>
                      <m:sub>
                        <m:r>
                          <m:rPr>
                            <m:sty m:val="p"/>
                          </m:rPr>
                          <a:rPr lang="en-US">
                            <a:solidFill>
                              <a:srgbClr val="0000FF"/>
                            </a:solidFill>
                            <a:latin typeface="Cambria Math"/>
                          </a:rPr>
                          <m:t>T</m:t>
                        </m:r>
                      </m:sub>
                    </m:sSub>
                    <m:r>
                      <a:rPr lang="en-US" i="1">
                        <a:latin typeface="Cambria Math"/>
                      </a:rPr>
                      <m:t>−</m:t>
                    </m:r>
                    <m:r>
                      <a:rPr lang="en-US">
                        <a:latin typeface="Cambria Math"/>
                      </a:rPr>
                      <m:t> </m:t>
                    </m:r>
                  </m:oMath>
                </a14:m>
                <a:r>
                  <a:rPr lang="en-US" dirty="0"/>
                  <a:t>Resistance of thermistor at T </a:t>
                </a:r>
                <a:r>
                  <a:rPr lang="en-US" baseline="30000" dirty="0"/>
                  <a:t>0</a:t>
                </a:r>
                <a:r>
                  <a:rPr lang="en-US" dirty="0"/>
                  <a:t>C</a:t>
                </a:r>
              </a:p>
              <a:p>
                <a:pPr marL="0" indent="0">
                  <a:buNone/>
                </a:pPr>
                <a:r>
                  <a:rPr lang="en-US" dirty="0"/>
                  <a:t/>
                </a:r>
                <a14:m>
                  <m:oMath xmlns:m="http://schemas.openxmlformats.org/officeDocument/2006/math">
                    <m:sSub>
                      <m:sSubPr>
                        <m:ctrlPr>
                          <a:rPr lang="en-US" i="1" smtClean="0">
                            <a:solidFill>
                              <a:srgbClr val="0000FF"/>
                            </a:solidFill>
                            <a:latin typeface="Cambria Math" panose="02040503050406030204" pitchFamily="18" charset="0"/>
                          </a:rPr>
                        </m:ctrlPr>
                      </m:sSubPr>
                      <m:e>
                        <m:r>
                          <m:rPr>
                            <m:sty m:val="p"/>
                          </m:rPr>
                          <a:rPr lang="en-US">
                            <a:solidFill>
                              <a:srgbClr val="0000FF"/>
                            </a:solidFill>
                            <a:latin typeface="Cambria Math"/>
                          </a:rPr>
                          <m:t>R</m:t>
                        </m:r>
                      </m:e>
                      <m:sub>
                        <m:r>
                          <a:rPr lang="en-US">
                            <a:solidFill>
                              <a:srgbClr val="0000FF"/>
                            </a:solidFill>
                            <a:latin typeface="Cambria Math"/>
                          </a:rPr>
                          <m:t>0</m:t>
                        </m:r>
                      </m:sub>
                    </m:sSub>
                    <m:r>
                      <a:rPr lang="en-US" i="1">
                        <a:latin typeface="Cambria Math"/>
                      </a:rPr>
                      <m:t>−</m:t>
                    </m:r>
                    <m:r>
                      <a:rPr lang="en-US">
                        <a:latin typeface="Cambria Math"/>
                      </a:rPr>
                      <m:t> </m:t>
                    </m:r>
                  </m:oMath>
                </a14:m>
                <a:r>
                  <a:rPr lang="en-US" dirty="0"/>
                  <a:t>Resistance of thermistor at </a:t>
                </a:r>
                <a14:m>
                  <m:oMath xmlns:m="http://schemas.openxmlformats.org/officeDocument/2006/math">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m:rPr>
                                <m:sty m:val="p"/>
                              </m:rPr>
                              <a:rPr lang="en-US">
                                <a:latin typeface="Cambria Math"/>
                              </a:rPr>
                              <m:t>T</m:t>
                            </m:r>
                          </m:e>
                          <m:sub>
                            <m:r>
                              <a:rPr lang="en-US">
                                <a:latin typeface="Cambria Math"/>
                              </a:rPr>
                              <m:t>0</m:t>
                            </m:r>
                          </m:sub>
                        </m:sSub>
                      </m:e>
                      <m:sup>
                        <m:r>
                          <a:rPr lang="en-US">
                            <a:latin typeface="Cambria Math"/>
                          </a:rPr>
                          <m:t>0</m:t>
                        </m:r>
                      </m:sup>
                    </m:sSup>
                  </m:oMath>
                </a14:m>
                <a:r>
                  <a:rPr lang="en-US" dirty="0"/>
                  <a:t>C</a:t>
                </a:r>
              </a:p>
              <a:p>
                <a:pPr marL="0" indent="0">
                  <a:buNone/>
                </a:pPr>
                <a:r>
                  <a:rPr lang="en-US" dirty="0"/>
                  <a:t/>
                </a:r>
                <a:r>
                  <a:rPr lang="en-US" dirty="0">
                    <a:solidFill>
                      <a:srgbClr val="0000FF"/>
                    </a:solidFill>
                  </a:rPr>
                  <a:t>β</a:t>
                </a:r>
                <a:r>
                  <a:rPr lang="en-US" dirty="0"/>
                  <a:t> - Material constant</a:t>
                </a:r>
              </a:p>
              <a:p>
                <a:pPr marL="0" lvl="0" indent="0">
                  <a:buNone/>
                </a:pPr>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762000"/>
                <a:ext cx="8534400" cy="5715000"/>
              </a:xfrm>
              <a:blipFill rotWithShape="1">
                <a:blip r:embed="rId2"/>
                <a:stretch>
                  <a:fillRect l="-1786" t="-1706" r="-714" b="-8742"/>
                </a:stretch>
              </a:blipFill>
            </p:spPr>
            <p:txBody>
              <a:bodyPr/>
              <a:lstStyle/>
              <a:p>
                <a:r>
                  <a:rPr lang="en-US">
                    <a:noFill/>
                  </a:rPr>
                  <a:t> </a:t>
                </a:r>
              </a:p>
            </p:txBody>
          </p:sp>
        </mc:Fallback>
      </mc:AlternateContent>
    </p:spTree>
    <p:extLst>
      <p:ext uri="{BB962C8B-B14F-4D97-AF65-F5344CB8AC3E}">
        <p14:creationId xmlns:p14="http://schemas.microsoft.com/office/powerpoint/2010/main" xmlns="" val="70972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457200"/>
          </a:xfrm>
        </p:spPr>
        <p:txBody>
          <a:bodyPr>
            <a:noAutofit/>
          </a:bodyPr>
          <a:lstStyle/>
          <a:p>
            <a:pPr algn="l"/>
            <a:r>
              <a:rPr lang="en-US" sz="3600" b="1" dirty="0">
                <a:solidFill>
                  <a:srgbClr val="C00000"/>
                </a:solidFill>
                <a:latin typeface="Calibri Light" pitchFamily="34" charset="0"/>
              </a:rPr>
              <a:t>Thermistor:</a:t>
            </a:r>
          </a:p>
        </p:txBody>
      </p:sp>
      <p:pic>
        <p:nvPicPr>
          <p:cNvPr id="5142" name="Picture 2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228600" y="990600"/>
            <a:ext cx="8610600" cy="419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98570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533400"/>
          </a:xfrm>
        </p:spPr>
        <p:txBody>
          <a:bodyPr>
            <a:noAutofit/>
          </a:bodyPr>
          <a:lstStyle/>
          <a:p>
            <a:pPr algn="l"/>
            <a:r>
              <a:rPr lang="en-US" sz="3600" b="1" dirty="0">
                <a:solidFill>
                  <a:srgbClr val="C00000"/>
                </a:solidFill>
                <a:latin typeface="Calibri Light" pitchFamily="34" charset="0"/>
              </a:rPr>
              <a:t>Thermistor:</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45993" y="685800"/>
            <a:ext cx="8545607" cy="594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32045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609600"/>
          </a:xfrm>
        </p:spPr>
        <p:txBody>
          <a:bodyPr>
            <a:noAutofit/>
          </a:bodyPr>
          <a:lstStyle/>
          <a:p>
            <a:pPr algn="l"/>
            <a:r>
              <a:rPr lang="en-US" sz="2800" b="1" dirty="0">
                <a:solidFill>
                  <a:srgbClr val="C00000"/>
                </a:solidFill>
                <a:latin typeface="Calibri Light" pitchFamily="34" charset="0"/>
              </a:rPr>
              <a:t>Temp. Sensor : </a:t>
            </a:r>
            <a:r>
              <a:rPr lang="en-US" sz="3200" b="1" dirty="0">
                <a:solidFill>
                  <a:srgbClr val="0000FF"/>
                </a:solidFill>
                <a:latin typeface="Calibri Light" pitchFamily="34" charset="0"/>
              </a:rPr>
              <a:t>R</a:t>
            </a:r>
            <a:r>
              <a:rPr lang="en-US" sz="2800" b="1" dirty="0">
                <a:solidFill>
                  <a:srgbClr val="00B050"/>
                </a:solidFill>
                <a:latin typeface="Calibri Light" pitchFamily="34" charset="0"/>
              </a:rPr>
              <a:t>esistance</a:t>
            </a:r>
            <a:r>
              <a:rPr lang="en-US" sz="2800" b="1" dirty="0">
                <a:solidFill>
                  <a:srgbClr val="C00000"/>
                </a:solidFill>
                <a:latin typeface="Calibri Light" pitchFamily="34" charset="0"/>
              </a:rPr>
              <a:t> </a:t>
            </a:r>
            <a:r>
              <a:rPr lang="en-US" sz="3200" b="1" dirty="0">
                <a:solidFill>
                  <a:srgbClr val="0000FF"/>
                </a:solidFill>
                <a:latin typeface="Calibri Light" pitchFamily="34" charset="0"/>
              </a:rPr>
              <a:t>T</a:t>
            </a:r>
            <a:r>
              <a:rPr lang="en-US" sz="2800" b="1" dirty="0">
                <a:solidFill>
                  <a:srgbClr val="00B050"/>
                </a:solidFill>
                <a:latin typeface="Calibri Light" pitchFamily="34" charset="0"/>
              </a:rPr>
              <a:t>emperature</a:t>
            </a:r>
            <a:r>
              <a:rPr lang="en-US" sz="2800" b="1" dirty="0">
                <a:solidFill>
                  <a:srgbClr val="C00000"/>
                </a:solidFill>
                <a:latin typeface="Calibri Light" pitchFamily="34" charset="0"/>
              </a:rPr>
              <a:t> </a:t>
            </a:r>
            <a:r>
              <a:rPr lang="en-US" sz="3200" b="1" dirty="0">
                <a:solidFill>
                  <a:srgbClr val="0000FF"/>
                </a:solidFill>
                <a:latin typeface="Calibri Light" pitchFamily="34" charset="0"/>
              </a:rPr>
              <a:t>D</a:t>
            </a:r>
            <a:r>
              <a:rPr lang="en-US" sz="2800" b="1" dirty="0">
                <a:solidFill>
                  <a:srgbClr val="00B050"/>
                </a:solidFill>
                <a:latin typeface="Calibri Light" pitchFamily="34" charset="0"/>
              </a:rPr>
              <a:t>etector</a:t>
            </a:r>
            <a:r>
              <a:rPr lang="en-US" sz="2800" b="1" dirty="0">
                <a:solidFill>
                  <a:srgbClr val="C00000"/>
                </a:solidFill>
                <a:latin typeface="Calibri Light" pitchFamily="34" charset="0"/>
              </a:rPr>
              <a:t> (RTD):</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3400" y="761999"/>
            <a:ext cx="8458200" cy="59520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78283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76200"/>
            <a:ext cx="5334000" cy="533400"/>
          </a:xfrm>
        </p:spPr>
        <p:txBody>
          <a:bodyPr>
            <a:noAutofit/>
          </a:bodyPr>
          <a:lstStyle/>
          <a:p>
            <a:pPr algn="l"/>
            <a:r>
              <a:rPr lang="en-US" sz="3600" b="1" dirty="0">
                <a:solidFill>
                  <a:srgbClr val="C00000"/>
                </a:solidFill>
                <a:latin typeface="Calibri Light" pitchFamily="34" charset="0"/>
              </a:rPr>
              <a:t>RTD</a:t>
            </a:r>
            <a:r>
              <a:rPr lang="en-US" sz="3600" b="1" dirty="0">
                <a:solidFill>
                  <a:srgbClr val="C00000"/>
                </a:solidFill>
              </a:rPr>
              <a:t>:</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57200" y="762000"/>
            <a:ext cx="8522010" cy="3276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31114" y="3962400"/>
            <a:ext cx="4321886" cy="2598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05095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5334000" cy="457200"/>
          </a:xfrm>
        </p:spPr>
        <p:txBody>
          <a:bodyPr>
            <a:noAutofit/>
          </a:bodyPr>
          <a:lstStyle/>
          <a:p>
            <a:pPr algn="l"/>
            <a:r>
              <a:rPr lang="en-US" sz="3600" b="1" dirty="0">
                <a:solidFill>
                  <a:srgbClr val="C00000"/>
                </a:solidFill>
                <a:latin typeface="Calibri Light" pitchFamily="34" charset="0"/>
              </a:rPr>
              <a:t>RTD:</a:t>
            </a:r>
          </a:p>
        </p:txBody>
      </p:sp>
      <p:sp>
        <p:nvSpPr>
          <p:cNvPr id="4" name="Rectangle 3"/>
          <p:cNvSpPr/>
          <p:nvPr/>
        </p:nvSpPr>
        <p:spPr>
          <a:xfrm>
            <a:off x="381000" y="457200"/>
            <a:ext cx="8305800" cy="6463308"/>
          </a:xfrm>
          <a:prstGeom prst="rect">
            <a:avLst/>
          </a:prstGeom>
        </p:spPr>
        <p:txBody>
          <a:bodyPr wrap="square">
            <a:spAutoFit/>
          </a:bodyPr>
          <a:lstStyle/>
          <a:p>
            <a:r>
              <a:rPr lang="en-US" sz="2400" b="1" dirty="0">
                <a:solidFill>
                  <a:srgbClr val="0000FF"/>
                </a:solidFill>
                <a:latin typeface="Calibri Light" pitchFamily="34" charset="0"/>
              </a:rPr>
              <a:t>Advantages:</a:t>
            </a:r>
          </a:p>
          <a:p>
            <a:pPr marL="285750" lvl="0" indent="-285750">
              <a:buFont typeface="Arial" pitchFamily="34" charset="0"/>
              <a:buChar char="•"/>
            </a:pPr>
            <a:r>
              <a:rPr lang="en-US" dirty="0"/>
              <a:t>Due to no fluid present absolute temperature is recorded </a:t>
            </a:r>
          </a:p>
          <a:p>
            <a:pPr marL="285750" lvl="0" indent="-285750">
              <a:buFont typeface="Arial" pitchFamily="34" charset="0"/>
              <a:buChar char="•"/>
            </a:pPr>
            <a:r>
              <a:rPr lang="en-US" dirty="0"/>
              <a:t>It is highly sensitive and gives accurate results.</a:t>
            </a:r>
          </a:p>
          <a:p>
            <a:pPr marL="285750" lvl="0" indent="-285750">
              <a:buFont typeface="Arial" pitchFamily="34" charset="0"/>
              <a:buChar char="•"/>
            </a:pPr>
            <a:r>
              <a:rPr lang="en-US" dirty="0"/>
              <a:t>It has good range of temperature measurement.</a:t>
            </a:r>
          </a:p>
          <a:p>
            <a:pPr marL="285750" lvl="0" indent="-285750">
              <a:buFont typeface="Arial" pitchFamily="34" charset="0"/>
              <a:buChar char="•"/>
            </a:pPr>
            <a:r>
              <a:rPr lang="en-US" dirty="0"/>
              <a:t>High accuracy</a:t>
            </a:r>
          </a:p>
          <a:p>
            <a:pPr marL="285750" lvl="0" indent="-285750">
              <a:buFont typeface="Arial" pitchFamily="34" charset="0"/>
              <a:buChar char="•"/>
            </a:pPr>
            <a:r>
              <a:rPr lang="en-US" dirty="0"/>
              <a:t>Don’t need reference temperature.</a:t>
            </a:r>
          </a:p>
          <a:p>
            <a:pPr marL="285750" lvl="0" indent="-285750">
              <a:buFont typeface="Arial" pitchFamily="34" charset="0"/>
              <a:buChar char="•"/>
            </a:pPr>
            <a:r>
              <a:rPr lang="en-US" dirty="0"/>
              <a:t>Due to electrical output it can be used with PLCs and complete can be achieved </a:t>
            </a:r>
          </a:p>
          <a:p>
            <a:r>
              <a:rPr lang="en-US" b="1" dirty="0"/>
              <a:t> </a:t>
            </a:r>
            <a:endParaRPr lang="en-US" dirty="0"/>
          </a:p>
          <a:p>
            <a:r>
              <a:rPr lang="en-US" sz="2400" b="1" dirty="0">
                <a:solidFill>
                  <a:srgbClr val="0000FF"/>
                </a:solidFill>
                <a:latin typeface="Calibri Light" pitchFamily="34" charset="0"/>
              </a:rPr>
              <a:t>Disadvantages:</a:t>
            </a:r>
            <a:endParaRPr lang="en-US" sz="2400" dirty="0">
              <a:solidFill>
                <a:srgbClr val="0000FF"/>
              </a:solidFill>
              <a:latin typeface="Calibri Light" pitchFamily="34" charset="0"/>
            </a:endParaRPr>
          </a:p>
          <a:p>
            <a:pPr marL="285750" lvl="0" indent="-285750">
              <a:buFont typeface="Arial" pitchFamily="34" charset="0"/>
              <a:buChar char="•"/>
            </a:pPr>
            <a:r>
              <a:rPr lang="en-US" dirty="0"/>
              <a:t>It needs external power supply.</a:t>
            </a:r>
          </a:p>
          <a:p>
            <a:pPr marL="285750" lvl="0" indent="-285750">
              <a:buFont typeface="Arial" pitchFamily="34" charset="0"/>
              <a:buChar char="•"/>
            </a:pPr>
            <a:r>
              <a:rPr lang="en-US" dirty="0"/>
              <a:t>Its size is not compact.</a:t>
            </a:r>
          </a:p>
          <a:p>
            <a:pPr marL="285750" lvl="0" indent="-285750">
              <a:buFont typeface="Arial" pitchFamily="34" charset="0"/>
              <a:buChar char="•"/>
            </a:pPr>
            <a:r>
              <a:rPr lang="en-US" dirty="0"/>
              <a:t>It has low resolution</a:t>
            </a:r>
          </a:p>
          <a:p>
            <a:pPr marL="285750" lvl="0" indent="-285750">
              <a:buFont typeface="Arial" pitchFamily="34" charset="0"/>
              <a:buChar char="•"/>
            </a:pPr>
            <a:r>
              <a:rPr lang="en-US" dirty="0"/>
              <a:t>Cost is high</a:t>
            </a:r>
          </a:p>
          <a:p>
            <a:r>
              <a:rPr lang="en-US" b="1" dirty="0"/>
              <a:t> </a:t>
            </a:r>
            <a:endParaRPr lang="en-US" dirty="0"/>
          </a:p>
          <a:p>
            <a:r>
              <a:rPr lang="en-US" sz="2400" b="1" dirty="0">
                <a:solidFill>
                  <a:srgbClr val="0000FF"/>
                </a:solidFill>
                <a:latin typeface="Calibri Light" pitchFamily="34" charset="0"/>
              </a:rPr>
              <a:t>Applications:</a:t>
            </a:r>
          </a:p>
          <a:p>
            <a:pPr marL="285750" lvl="0" indent="-285750">
              <a:buFont typeface="Arial" pitchFamily="34" charset="0"/>
              <a:buChar char="•"/>
            </a:pPr>
            <a:r>
              <a:rPr lang="en-US" dirty="0"/>
              <a:t>Air conditioning and refrigeration servicing </a:t>
            </a:r>
          </a:p>
          <a:p>
            <a:pPr marL="285750" lvl="0" indent="-285750">
              <a:buFont typeface="Arial" pitchFamily="34" charset="0"/>
              <a:buChar char="•"/>
            </a:pPr>
            <a:r>
              <a:rPr lang="en-US" dirty="0"/>
              <a:t>Food Processing </a:t>
            </a:r>
          </a:p>
          <a:p>
            <a:pPr marL="285750" lvl="0" indent="-285750">
              <a:buFont typeface="Arial" pitchFamily="34" charset="0"/>
              <a:buChar char="•"/>
            </a:pPr>
            <a:r>
              <a:rPr lang="en-US" dirty="0"/>
              <a:t>Textile processing </a:t>
            </a:r>
          </a:p>
          <a:p>
            <a:pPr marL="285750" lvl="0" indent="-285750">
              <a:buFont typeface="Arial" pitchFamily="34" charset="0"/>
              <a:buChar char="•"/>
            </a:pPr>
            <a:r>
              <a:rPr lang="en-US" dirty="0"/>
              <a:t>Plastics processing </a:t>
            </a:r>
          </a:p>
          <a:p>
            <a:pPr marL="285750" lvl="0" indent="-285750">
              <a:buFont typeface="Arial" pitchFamily="34" charset="0"/>
              <a:buChar char="•"/>
            </a:pPr>
            <a:r>
              <a:rPr lang="en-US" dirty="0"/>
              <a:t>Petrochemical processing </a:t>
            </a:r>
          </a:p>
          <a:p>
            <a:pPr marL="285750" lvl="0" indent="-285750">
              <a:buFont typeface="Arial" pitchFamily="34" charset="0"/>
              <a:buChar char="•"/>
            </a:pPr>
            <a:r>
              <a:rPr lang="en-US" dirty="0"/>
              <a:t>Air, gas and liquid temperature measurement in pipes and tanks </a:t>
            </a:r>
          </a:p>
          <a:p>
            <a:pPr marL="285750" lvl="0" indent="-285750">
              <a:buFont typeface="Arial" pitchFamily="34" charset="0"/>
              <a:buChar char="•"/>
            </a:pPr>
            <a:r>
              <a:rPr lang="en-US" dirty="0"/>
              <a:t>Exhaust gas temperature measurement </a:t>
            </a:r>
          </a:p>
        </p:txBody>
      </p:sp>
    </p:spTree>
    <p:extLst>
      <p:ext uri="{BB962C8B-B14F-4D97-AF65-F5344CB8AC3E}">
        <p14:creationId xmlns:p14="http://schemas.microsoft.com/office/powerpoint/2010/main" xmlns="" val="3810974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6858000" cy="609600"/>
          </a:xfrm>
        </p:spPr>
        <p:txBody>
          <a:bodyPr>
            <a:noAutofit/>
          </a:bodyPr>
          <a:lstStyle/>
          <a:p>
            <a:pPr marL="457200" indent="-457200" algn="l">
              <a:buBlip>
                <a:blip r:embed="rId2"/>
              </a:buBlip>
            </a:pPr>
            <a:r>
              <a:rPr lang="en-US" sz="3200" b="1" dirty="0">
                <a:solidFill>
                  <a:srgbClr val="C00000"/>
                </a:solidFill>
                <a:latin typeface="Calibri Light" pitchFamily="34" charset="0"/>
              </a:rPr>
              <a:t>Mechanical Sensors:  Types</a:t>
            </a:r>
          </a:p>
        </p:txBody>
      </p:sp>
      <p:pic>
        <p:nvPicPr>
          <p:cNvPr id="4" name="Content Placeholder 3"/>
          <p:cNvPicPr>
            <a:picLocks noGrp="1"/>
          </p:cNvPicPr>
          <p:nvPr>
            <p:ph idx="1"/>
          </p:nvPr>
        </p:nvPicPr>
        <p:blipFill>
          <a:blip r:embed="rId3">
            <a:extLst>
              <a:ext uri="{28A0092B-C50C-407E-A947-70E740481C1C}">
                <a14:useLocalDpi xmlns:a14="http://schemas.microsoft.com/office/drawing/2010/main" xmlns="" val="0"/>
              </a:ext>
            </a:extLst>
          </a:blip>
          <a:srcRect/>
          <a:stretch>
            <a:fillRect/>
          </a:stretch>
        </p:blipFill>
        <p:spPr bwMode="auto">
          <a:xfrm>
            <a:off x="1676401" y="1066800"/>
            <a:ext cx="5333999" cy="1752600"/>
          </a:xfrm>
          <a:prstGeom prst="rect">
            <a:avLst/>
          </a:prstGeom>
          <a:noFill/>
          <a:ln>
            <a:noFill/>
          </a:ln>
        </p:spPr>
      </p:pic>
      <p:graphicFrame>
        <p:nvGraphicFramePr>
          <p:cNvPr id="5" name="Diagram 4"/>
          <p:cNvGraphicFramePr/>
          <p:nvPr>
            <p:extLst>
              <p:ext uri="{D42A27DB-BD31-4B8C-83A1-F6EECF244321}">
                <p14:modId xmlns:p14="http://schemas.microsoft.com/office/powerpoint/2010/main" xmlns="" val="1326389953"/>
              </p:ext>
            </p:extLst>
          </p:nvPr>
        </p:nvGraphicFramePr>
        <p:xfrm>
          <a:off x="762000" y="3962400"/>
          <a:ext cx="6629400" cy="2743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itle 1"/>
          <p:cNvSpPr txBox="1">
            <a:spLocks/>
          </p:cNvSpPr>
          <p:nvPr/>
        </p:nvSpPr>
        <p:spPr>
          <a:xfrm>
            <a:off x="381000" y="3048000"/>
            <a:ext cx="6858000" cy="6096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solidFill>
                  <a:srgbClr val="C00000"/>
                </a:solidFill>
                <a:latin typeface="Calibri Light" pitchFamily="34" charset="0"/>
              </a:rPr>
              <a:t>Strain gauges:  Types</a:t>
            </a:r>
          </a:p>
        </p:txBody>
      </p:sp>
    </p:spTree>
    <p:extLst>
      <p:ext uri="{BB962C8B-B14F-4D97-AF65-F5344CB8AC3E}">
        <p14:creationId xmlns:p14="http://schemas.microsoft.com/office/powerpoint/2010/main" xmlns="" val="22949808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457200"/>
          </a:xfrm>
        </p:spPr>
        <p:txBody>
          <a:bodyPr>
            <a:noAutofit/>
          </a:bodyPr>
          <a:lstStyle/>
          <a:p>
            <a:pPr algn="l"/>
            <a:r>
              <a:rPr lang="en-US" sz="3200" b="1" dirty="0">
                <a:solidFill>
                  <a:srgbClr val="C00000"/>
                </a:solidFill>
                <a:latin typeface="Calibri Light" pitchFamily="34" charset="0"/>
              </a:rPr>
              <a:t>Strain gauges:</a:t>
            </a: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228600" y="762000"/>
                <a:ext cx="8610600" cy="3657600"/>
              </a:xfrm>
            </p:spPr>
            <p:txBody>
              <a:bodyPr>
                <a:normAutofit/>
              </a:bodyPr>
              <a:lstStyle/>
              <a:p>
                <a:pPr algn="just"/>
                <a:r>
                  <a:rPr lang="en-US" sz="2000" dirty="0"/>
                  <a:t>Strain gauge is an elastic resistive transducer which converts mechanical elongation and compression (strain) into change in resistance. Strain gauge is widely used for measurement of strain, pressure, force and weight.</a:t>
                </a:r>
              </a:p>
              <a:p>
                <a:pPr marL="0" indent="0" algn="just">
                  <a:buNone/>
                </a:pPr>
                <a:r>
                  <a:rPr lang="en-US" sz="2200" b="1" dirty="0">
                    <a:solidFill>
                      <a:srgbClr val="0000FF"/>
                    </a:solidFill>
                  </a:rPr>
                  <a:t>Principle:</a:t>
                </a:r>
                <a:endParaRPr lang="en-US" sz="2200" dirty="0">
                  <a:solidFill>
                    <a:srgbClr val="0000FF"/>
                  </a:solidFill>
                </a:endParaRPr>
              </a:p>
              <a:p>
                <a:pPr algn="just"/>
                <a:r>
                  <a:rPr lang="en-US" sz="2000" dirty="0"/>
                  <a:t>Resistance of any conductor depends on its resistivity, length and cross sectional area. Hence if there is change in length or cross sectional area due to compression or elongation, resistance gets changed. Also in elastic material, upon application of stress, proportionate strain takes place in material and resistance gets changed. </a:t>
                </a:r>
              </a:p>
              <a:p>
                <a:pPr algn="just"/>
                <a:r>
                  <a:rPr lang="en-US" sz="2000" dirty="0"/>
                  <a:t>The resistance is given by,</a:t>
                </a:r>
                <a:r>
                  <a:rPr lang="en-US" sz="2000" b="1" dirty="0"/>
                  <a:t/>
                </a:r>
                <a14:m>
                  <m:oMath xmlns:m="http://schemas.openxmlformats.org/officeDocument/2006/math">
                    <m:r>
                      <a:rPr lang="en-US" sz="2000" b="1" i="1">
                        <a:latin typeface="Cambria Math"/>
                      </a:rPr>
                      <m:t>𝐑</m:t>
                    </m:r>
                    <m:r>
                      <a:rPr lang="en-US" sz="2000" b="1">
                        <a:latin typeface="Cambria Math"/>
                      </a:rPr>
                      <m:t>=</m:t>
                    </m:r>
                    <m:r>
                      <a:rPr lang="en-US" sz="2000" b="1" i="1">
                        <a:latin typeface="Cambria Math"/>
                      </a:rPr>
                      <m:t>𝛒</m:t>
                    </m:r>
                    <m:r>
                      <a:rPr lang="en-US" sz="2000" b="1">
                        <a:latin typeface="Cambria Math"/>
                      </a:rPr>
                      <m:t> </m:t>
                    </m:r>
                    <m:f>
                      <m:fPr>
                        <m:ctrlPr>
                          <a:rPr lang="en-US" sz="2000" b="1" i="1">
                            <a:latin typeface="Cambria Math" panose="02040503050406030204" pitchFamily="18" charset="0"/>
                          </a:rPr>
                        </m:ctrlPr>
                      </m:fPr>
                      <m:num>
                        <m:r>
                          <a:rPr lang="en-US" sz="2000" b="1" i="1">
                            <a:latin typeface="Cambria Math"/>
                          </a:rPr>
                          <m:t>𝐥</m:t>
                        </m:r>
                      </m:num>
                      <m:den>
                        <m:r>
                          <a:rPr lang="en-US" sz="2000" b="1" i="1">
                            <a:latin typeface="Cambria Math"/>
                          </a:rPr>
                          <m:t>𝐀</m:t>
                        </m:r>
                      </m:den>
                    </m:f>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28600" y="762000"/>
                <a:ext cx="8610600" cy="3657600"/>
              </a:xfrm>
              <a:blipFill rotWithShape="1">
                <a:blip r:embed="rId2"/>
                <a:stretch>
                  <a:fillRect l="-921" t="-833" r="-134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xmlns="" Requires="a14">
          <p:graphicFrame>
            <p:nvGraphicFramePr>
              <p:cNvPr id="4" name="Table 3"/>
              <p:cNvGraphicFramePr>
                <a:graphicFrameLocks noGrp="1"/>
              </p:cNvGraphicFramePr>
              <p:nvPr>
                <p:extLst>
                  <p:ext uri="{D42A27DB-BD31-4B8C-83A1-F6EECF244321}">
                    <p14:modId xmlns:p14="http://schemas.microsoft.com/office/powerpoint/2010/main" val="658117883"/>
                  </p:ext>
                </p:extLst>
              </p:nvPr>
            </p:nvGraphicFramePr>
            <p:xfrm>
              <a:off x="228600" y="4495800"/>
              <a:ext cx="8686800" cy="1987423"/>
            </p:xfrm>
            <a:graphic>
              <a:graphicData uri="http://schemas.openxmlformats.org/drawingml/2006/table">
                <a:tbl>
                  <a:tblPr firstRow="1" firstCol="1" bandRow="1">
                    <a:tableStyleId>{ED083AE6-46FA-4A59-8FB0-9F97EB10719F}</a:tableStyleId>
                  </a:tblPr>
                  <a:tblGrid>
                    <a:gridCol w="41910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1956054">
                    <a:tc>
                      <a:txBody>
                        <a:bodyPr/>
                        <a:lstStyle/>
                        <a:p>
                          <a:pPr marL="0" marR="0">
                            <a:lnSpc>
                              <a:spcPct val="150000"/>
                            </a:lnSpc>
                            <a:spcBef>
                              <a:spcPts val="1200"/>
                            </a:spcBef>
                            <a:spcAft>
                              <a:spcPts val="600"/>
                            </a:spcAft>
                            <a:tabLst>
                              <a:tab pos="1295400" algn="l"/>
                            </a:tabLst>
                          </a:pPr>
                          <a:r>
                            <a:rPr lang="en-US" sz="1200" dirty="0">
                              <a:effectLst/>
                            </a:rPr>
                            <a:t> </a:t>
                          </a:r>
                          <a:endParaRPr lang="en-US" sz="1100" dirty="0">
                            <a:effectLst/>
                          </a:endParaRPr>
                        </a:p>
                        <a:p>
                          <a:pPr marL="0" marR="0">
                            <a:lnSpc>
                              <a:spcPct val="150000"/>
                            </a:lnSpc>
                            <a:spcBef>
                              <a:spcPts val="1200"/>
                            </a:spcBef>
                            <a:spcAft>
                              <a:spcPts val="600"/>
                            </a:spcAft>
                            <a:tabLst>
                              <a:tab pos="1295400" algn="l"/>
                            </a:tabLst>
                          </a:pPr>
                          <a14:m>
                            <m:oMathPara xmlns:m="http://schemas.openxmlformats.org/officeDocument/2006/math">
                              <m:oMathParaPr>
                                <m:jc m:val="centerGroup"/>
                              </m:oMathParaPr>
                              <m:oMath xmlns:m="http://schemas.openxmlformats.org/officeDocument/2006/math">
                                <m:f>
                                  <m:fPr>
                                    <m:ctrlPr>
                                      <a:rPr lang="en-US" sz="1600" i="1" smtClean="0">
                                        <a:solidFill>
                                          <a:srgbClr val="0000FF"/>
                                        </a:solidFill>
                                        <a:effectLst/>
                                        <a:latin typeface="Cambria Math" panose="02040503050406030204" pitchFamily="18" charset="0"/>
                                      </a:rPr>
                                    </m:ctrlPr>
                                  </m:fPr>
                                  <m:num>
                                    <m:r>
                                      <a:rPr lang="en-US" sz="1600">
                                        <a:solidFill>
                                          <a:srgbClr val="0000FF"/>
                                        </a:solidFill>
                                        <a:effectLst/>
                                        <a:latin typeface="Cambria Math"/>
                                      </a:rPr>
                                      <m:t>𝒅𝑹</m:t>
                                    </m:r>
                                  </m:num>
                                  <m:den>
                                    <m:r>
                                      <a:rPr lang="en-US" sz="1600">
                                        <a:solidFill>
                                          <a:srgbClr val="0000FF"/>
                                        </a:solidFill>
                                        <a:effectLst/>
                                        <a:latin typeface="Cambria Math"/>
                                      </a:rPr>
                                      <m:t>𝑹</m:t>
                                    </m:r>
                                  </m:den>
                                </m:f>
                                <m:r>
                                  <a:rPr lang="en-US" sz="1600">
                                    <a:solidFill>
                                      <a:srgbClr val="0000FF"/>
                                    </a:solidFill>
                                    <a:effectLst/>
                                    <a:latin typeface="Cambria Math"/>
                                  </a:rPr>
                                  <m:t> =</m:t>
                                </m:r>
                                <m:d>
                                  <m:dPr>
                                    <m:ctrlPr>
                                      <a:rPr lang="en-US" sz="1600" i="1">
                                        <a:solidFill>
                                          <a:srgbClr val="0000FF"/>
                                        </a:solidFill>
                                        <a:effectLst/>
                                        <a:latin typeface="Cambria Math" panose="02040503050406030204" pitchFamily="18" charset="0"/>
                                      </a:rPr>
                                    </m:ctrlPr>
                                  </m:dPr>
                                  <m:e>
                                    <m:r>
                                      <a:rPr lang="en-US" sz="1600">
                                        <a:solidFill>
                                          <a:srgbClr val="0000FF"/>
                                        </a:solidFill>
                                        <a:effectLst/>
                                        <a:latin typeface="Cambria Math"/>
                                      </a:rPr>
                                      <m:t>𝟏</m:t>
                                    </m:r>
                                    <m:r>
                                      <a:rPr lang="en-US" sz="1600">
                                        <a:solidFill>
                                          <a:srgbClr val="0000FF"/>
                                        </a:solidFill>
                                        <a:effectLst/>
                                        <a:latin typeface="Cambria Math"/>
                                      </a:rPr>
                                      <m:t>+</m:t>
                                    </m:r>
                                    <m:r>
                                      <a:rPr lang="en-US" sz="1600">
                                        <a:solidFill>
                                          <a:srgbClr val="0000FF"/>
                                        </a:solidFill>
                                        <a:effectLst/>
                                        <a:latin typeface="Cambria Math"/>
                                      </a:rPr>
                                      <m:t>𝟐</m:t>
                                    </m:r>
                                    <m:r>
                                      <m:rPr>
                                        <m:nor/>
                                      </m:rPr>
                                      <a:rPr lang="en-US" sz="1600">
                                        <a:solidFill>
                                          <a:srgbClr val="0000FF"/>
                                        </a:solidFill>
                                        <a:effectLst/>
                                      </a:rPr>
                                      <m:t>v</m:t>
                                    </m:r>
                                  </m:e>
                                </m:d>
                                <m:sSub>
                                  <m:sSubPr>
                                    <m:ctrlPr>
                                      <a:rPr lang="en-US" sz="1600" i="1">
                                        <a:solidFill>
                                          <a:srgbClr val="0000FF"/>
                                        </a:solidFill>
                                        <a:effectLst/>
                                        <a:latin typeface="Cambria Math" panose="02040503050406030204" pitchFamily="18" charset="0"/>
                                      </a:rPr>
                                    </m:ctrlPr>
                                  </m:sSubPr>
                                  <m:e>
                                    <m:r>
                                      <a:rPr lang="en-US" sz="1600">
                                        <a:solidFill>
                                          <a:srgbClr val="0000FF"/>
                                        </a:solidFill>
                                        <a:effectLst/>
                                        <a:latin typeface="Cambria Math"/>
                                      </a:rPr>
                                      <m:t>𝛆</m:t>
                                    </m:r>
                                  </m:e>
                                  <m:sub>
                                    <m:r>
                                      <a:rPr lang="en-US" sz="1600">
                                        <a:solidFill>
                                          <a:srgbClr val="0000FF"/>
                                        </a:solidFill>
                                        <a:effectLst/>
                                        <a:latin typeface="Cambria Math"/>
                                      </a:rPr>
                                      <m:t>𝐚</m:t>
                                    </m:r>
                                    <m:r>
                                      <a:rPr lang="en-US" sz="1600">
                                        <a:solidFill>
                                          <a:srgbClr val="0000FF"/>
                                        </a:solidFill>
                                        <a:effectLst/>
                                        <a:latin typeface="Cambria Math"/>
                                      </a:rPr>
                                      <m:t> </m:t>
                                    </m:r>
                                  </m:sub>
                                </m:sSub>
                                <m:r>
                                  <a:rPr lang="en-US" sz="1600">
                                    <a:solidFill>
                                      <a:srgbClr val="0000FF"/>
                                    </a:solidFill>
                                    <a:effectLst/>
                                    <a:latin typeface="Cambria Math"/>
                                  </a:rPr>
                                  <m:t>=</m:t>
                                </m:r>
                                <m:r>
                                  <a:rPr lang="en-US" sz="1600">
                                    <a:solidFill>
                                      <a:srgbClr val="0000FF"/>
                                    </a:solidFill>
                                    <a:effectLst/>
                                    <a:latin typeface="Cambria Math"/>
                                  </a:rPr>
                                  <m:t>𝐆</m:t>
                                </m:r>
                                <m:r>
                                  <a:rPr lang="en-US" sz="1600">
                                    <a:solidFill>
                                      <a:srgbClr val="0000FF"/>
                                    </a:solidFill>
                                    <a:effectLst/>
                                    <a:latin typeface="Cambria Math"/>
                                  </a:rPr>
                                  <m:t>.</m:t>
                                </m:r>
                                <m:r>
                                  <a:rPr lang="en-US" sz="1600">
                                    <a:solidFill>
                                      <a:srgbClr val="0000FF"/>
                                    </a:solidFill>
                                    <a:effectLst/>
                                    <a:latin typeface="Cambria Math"/>
                                  </a:rPr>
                                  <m:t>𝐅</m:t>
                                </m:r>
                                <m:r>
                                  <a:rPr lang="en-US" sz="1600">
                                    <a:solidFill>
                                      <a:srgbClr val="0000FF"/>
                                    </a:solidFill>
                                    <a:effectLst/>
                                    <a:latin typeface="Cambria Math"/>
                                  </a:rPr>
                                  <m:t>. </m:t>
                                </m:r>
                                <m:sSub>
                                  <m:sSubPr>
                                    <m:ctrlPr>
                                      <a:rPr lang="en-US" sz="1600" i="1">
                                        <a:solidFill>
                                          <a:srgbClr val="0000FF"/>
                                        </a:solidFill>
                                        <a:effectLst/>
                                        <a:latin typeface="Cambria Math" panose="02040503050406030204" pitchFamily="18" charset="0"/>
                                      </a:rPr>
                                    </m:ctrlPr>
                                  </m:sSubPr>
                                  <m:e>
                                    <m:r>
                                      <a:rPr lang="en-US" sz="1600">
                                        <a:solidFill>
                                          <a:srgbClr val="0000FF"/>
                                        </a:solidFill>
                                        <a:effectLst/>
                                        <a:latin typeface="Cambria Math"/>
                                      </a:rPr>
                                      <m:t>𝐱</m:t>
                                    </m:r>
                                    <m:r>
                                      <a:rPr lang="en-US" sz="1600">
                                        <a:solidFill>
                                          <a:srgbClr val="0000FF"/>
                                        </a:solidFill>
                                        <a:effectLst/>
                                        <a:latin typeface="Cambria Math"/>
                                      </a:rPr>
                                      <m:t> </m:t>
                                    </m:r>
                                    <m:r>
                                      <a:rPr lang="en-US" sz="1600">
                                        <a:solidFill>
                                          <a:srgbClr val="0000FF"/>
                                        </a:solidFill>
                                        <a:effectLst/>
                                        <a:latin typeface="Cambria Math"/>
                                      </a:rPr>
                                      <m:t>𝛆</m:t>
                                    </m:r>
                                  </m:e>
                                  <m:sub>
                                    <m:r>
                                      <a:rPr lang="en-US" sz="1600">
                                        <a:solidFill>
                                          <a:srgbClr val="0000FF"/>
                                        </a:solidFill>
                                        <a:effectLst/>
                                        <a:latin typeface="Cambria Math"/>
                                      </a:rPr>
                                      <m:t>𝐚</m:t>
                                    </m:r>
                                    <m:r>
                                      <a:rPr lang="en-US" sz="1600">
                                        <a:solidFill>
                                          <a:srgbClr val="0000FF"/>
                                        </a:solidFill>
                                        <a:effectLst/>
                                        <a:latin typeface="Cambria Math"/>
                                      </a:rPr>
                                      <m:t> </m:t>
                                    </m:r>
                                  </m:sub>
                                </m:sSub>
                                <m:r>
                                  <a:rPr lang="en-US" sz="1600">
                                    <a:solidFill>
                                      <a:srgbClr val="0000FF"/>
                                    </a:solidFill>
                                    <a:effectLst/>
                                    <a:latin typeface="Cambria Math"/>
                                  </a:rPr>
                                  <m:t>= </m:t>
                                </m:r>
                                <m:r>
                                  <a:rPr lang="en-US" sz="1600">
                                    <a:solidFill>
                                      <a:srgbClr val="0000FF"/>
                                    </a:solidFill>
                                    <a:effectLst/>
                                    <a:latin typeface="Cambria Math"/>
                                  </a:rPr>
                                  <m:t>𝐆</m:t>
                                </m:r>
                                <m:r>
                                  <a:rPr lang="en-US" sz="1600">
                                    <a:solidFill>
                                      <a:srgbClr val="0000FF"/>
                                    </a:solidFill>
                                    <a:effectLst/>
                                    <a:latin typeface="Cambria Math"/>
                                  </a:rPr>
                                  <m:t>.</m:t>
                                </m:r>
                                <m:r>
                                  <a:rPr lang="en-US" sz="1600">
                                    <a:solidFill>
                                      <a:srgbClr val="0000FF"/>
                                    </a:solidFill>
                                    <a:effectLst/>
                                    <a:latin typeface="Cambria Math"/>
                                  </a:rPr>
                                  <m:t>𝐅</m:t>
                                </m:r>
                                <m:r>
                                  <a:rPr lang="en-US" sz="1600">
                                    <a:solidFill>
                                      <a:srgbClr val="0000FF"/>
                                    </a:solidFill>
                                    <a:effectLst/>
                                    <a:latin typeface="Cambria Math"/>
                                  </a:rPr>
                                  <m:t>. </m:t>
                                </m:r>
                                <m:sSub>
                                  <m:sSubPr>
                                    <m:ctrlPr>
                                      <a:rPr lang="en-US" sz="1600" i="1">
                                        <a:solidFill>
                                          <a:srgbClr val="0000FF"/>
                                        </a:solidFill>
                                        <a:effectLst/>
                                        <a:latin typeface="Cambria Math" panose="02040503050406030204" pitchFamily="18" charset="0"/>
                                      </a:rPr>
                                    </m:ctrlPr>
                                  </m:sSubPr>
                                  <m:e>
                                    <m:r>
                                      <a:rPr lang="en-US" sz="1600">
                                        <a:solidFill>
                                          <a:srgbClr val="0000FF"/>
                                        </a:solidFill>
                                        <a:effectLst/>
                                        <a:latin typeface="Cambria Math"/>
                                      </a:rPr>
                                      <m:t>𝐱</m:t>
                                    </m:r>
                                    <m:r>
                                      <a:rPr lang="en-US" sz="1600">
                                        <a:solidFill>
                                          <a:srgbClr val="0000FF"/>
                                        </a:solidFill>
                                        <a:effectLst/>
                                        <a:latin typeface="Cambria Math"/>
                                      </a:rPr>
                                      <m:t> </m:t>
                                    </m:r>
                                    <m:f>
                                      <m:fPr>
                                        <m:ctrlPr>
                                          <a:rPr lang="en-US" sz="1600" i="1">
                                            <a:solidFill>
                                              <a:srgbClr val="0000FF"/>
                                            </a:solidFill>
                                            <a:effectLst/>
                                            <a:latin typeface="Cambria Math" panose="02040503050406030204" pitchFamily="18" charset="0"/>
                                          </a:rPr>
                                        </m:ctrlPr>
                                      </m:fPr>
                                      <m:num>
                                        <m:r>
                                          <a:rPr lang="en-US" sz="1600">
                                            <a:solidFill>
                                              <a:srgbClr val="0000FF"/>
                                            </a:solidFill>
                                            <a:effectLst/>
                                            <a:latin typeface="Cambria Math"/>
                                          </a:rPr>
                                          <m:t>𝒅𝒍</m:t>
                                        </m:r>
                                      </m:num>
                                      <m:den>
                                        <m:r>
                                          <a:rPr lang="en-US" sz="1600">
                                            <a:solidFill>
                                              <a:srgbClr val="0000FF"/>
                                            </a:solidFill>
                                            <a:effectLst/>
                                            <a:latin typeface="Cambria Math"/>
                                          </a:rPr>
                                          <m:t>𝒍</m:t>
                                        </m:r>
                                      </m:den>
                                    </m:f>
                                  </m:e>
                                  <m:sub>
                                    <m:r>
                                      <a:rPr lang="en-US" sz="1600">
                                        <a:solidFill>
                                          <a:srgbClr val="0000FF"/>
                                        </a:solidFill>
                                        <a:effectLst/>
                                        <a:latin typeface="Cambria Math"/>
                                      </a:rPr>
                                      <m:t> </m:t>
                                    </m:r>
                                  </m:sub>
                                </m:sSub>
                              </m:oMath>
                            </m:oMathPara>
                          </a14:m>
                          <a:endParaRPr lang="en-US" sz="1100" dirty="0">
                            <a:effectLst/>
                          </a:endParaRPr>
                        </a:p>
                        <a:p>
                          <a:pPr marL="0" marR="0">
                            <a:lnSpc>
                              <a:spcPct val="115000"/>
                            </a:lnSpc>
                            <a:spcBef>
                              <a:spcPts val="600"/>
                            </a:spcBef>
                            <a:spcAft>
                              <a:spcPts val="0"/>
                            </a:spcAft>
                          </a:pPr>
                          <a:r>
                            <a:rPr lang="en-US" sz="1100" dirty="0">
                              <a:effectLst/>
                            </a:rPr>
                            <a:t> </a:t>
                          </a:r>
                          <a:endParaRPr lang="en-US" sz="1100" dirty="0">
                            <a:effectLst/>
                            <a:latin typeface="Calibri"/>
                            <a:ea typeface="Times New Roman"/>
                          </a:endParaRPr>
                        </a:p>
                      </a:txBody>
                      <a:tcPr marL="68580" marR="68580" marT="0" marB="0"/>
                    </a:tc>
                    <a:tc>
                      <a:txBody>
                        <a:bodyPr/>
                        <a:lstStyle/>
                        <a:p>
                          <a:pPr marL="0" marR="0" algn="just">
                            <a:lnSpc>
                              <a:spcPct val="115000"/>
                            </a:lnSpc>
                            <a:spcBef>
                              <a:spcPts val="0"/>
                            </a:spcBef>
                            <a:spcAft>
                              <a:spcPts val="0"/>
                            </a:spcAft>
                            <a:tabLst>
                              <a:tab pos="800100" algn="l"/>
                              <a:tab pos="914400" algn="l"/>
                            </a:tabLst>
                          </a:pPr>
                          <a:r>
                            <a:rPr lang="en-US" sz="1600" dirty="0">
                              <a:effectLst/>
                            </a:rPr>
                            <a:t>Where,</a:t>
                          </a:r>
                        </a:p>
                        <a:p>
                          <a:pPr marL="0" marR="0" algn="just">
                            <a:lnSpc>
                              <a:spcPct val="115000"/>
                            </a:lnSpc>
                            <a:spcBef>
                              <a:spcPts val="0"/>
                            </a:spcBef>
                            <a:spcAft>
                              <a:spcPts val="0"/>
                            </a:spcAft>
                            <a:tabLst>
                              <a:tab pos="800100" algn="l"/>
                              <a:tab pos="914400" algn="l"/>
                            </a:tabLst>
                          </a:pPr>
                          <a14:m>
                            <m:oMath xmlns:m="http://schemas.openxmlformats.org/officeDocument/2006/math">
                              <m:r>
                                <m:rPr>
                                  <m:sty m:val="p"/>
                                </m:rPr>
                                <a:rPr lang="en-US" sz="1600">
                                  <a:effectLst/>
                                  <a:latin typeface="Cambria Math"/>
                                </a:rPr>
                                <m:t>dR</m:t>
                              </m:r>
                              <m:r>
                                <a:rPr lang="en-US" sz="1600">
                                  <a:effectLst/>
                                  <a:latin typeface="Cambria Math"/>
                                </a:rPr>
                                <m:t>− </m:t>
                              </m:r>
                              <m:r>
                                <m:rPr>
                                  <m:sty m:val="p"/>
                                </m:rPr>
                                <a:rPr lang="en-US" sz="1600">
                                  <a:effectLst/>
                                  <a:latin typeface="Cambria Math"/>
                                </a:rPr>
                                <m:t>change</m:t>
                              </m:r>
                              <m:r>
                                <a:rPr lang="en-US" sz="1600">
                                  <a:effectLst/>
                                  <a:latin typeface="Cambria Math"/>
                                </a:rPr>
                                <m:t> </m:t>
                              </m:r>
                              <m:r>
                                <m:rPr>
                                  <m:sty m:val="p"/>
                                </m:rPr>
                                <a:rPr lang="en-US" sz="1600">
                                  <a:effectLst/>
                                  <a:latin typeface="Cambria Math"/>
                                </a:rPr>
                                <m:t>in</m:t>
                              </m:r>
                              <m:r>
                                <a:rPr lang="en-US" sz="1600">
                                  <a:effectLst/>
                                  <a:latin typeface="Cambria Math"/>
                                </a:rPr>
                                <m:t> </m:t>
                              </m:r>
                            </m:oMath>
                          </a14:m>
                          <a:r>
                            <a:rPr lang="en-US" sz="1600" dirty="0">
                              <a:effectLst/>
                            </a:rPr>
                            <a:t>Resistance</a:t>
                          </a:r>
                        </a:p>
                        <a:p>
                          <a:pPr marL="0" marR="0" algn="just">
                            <a:lnSpc>
                              <a:spcPct val="115000"/>
                            </a:lnSpc>
                            <a:spcBef>
                              <a:spcPts val="0"/>
                            </a:spcBef>
                            <a:spcAft>
                              <a:spcPts val="0"/>
                            </a:spcAft>
                            <a:tabLst>
                              <a:tab pos="1295400" algn="l"/>
                            </a:tabLst>
                          </a:pPr>
                          <a14:m>
                            <m:oMath xmlns:m="http://schemas.openxmlformats.org/officeDocument/2006/math">
                              <m:r>
                                <m:rPr>
                                  <m:sty m:val="p"/>
                                </m:rPr>
                                <a:rPr lang="en-US" sz="1600">
                                  <a:effectLst/>
                                  <a:latin typeface="Cambria Math"/>
                                </a:rPr>
                                <m:t>R</m:t>
                              </m:r>
                              <m:r>
                                <a:rPr lang="en-US" sz="1600">
                                  <a:effectLst/>
                                  <a:latin typeface="Cambria Math"/>
                                </a:rPr>
                                <m:t>− </m:t>
                              </m:r>
                            </m:oMath>
                          </a14:m>
                          <a:r>
                            <a:rPr lang="en-US" sz="1600" dirty="0">
                              <a:effectLst/>
                            </a:rPr>
                            <a:t>Resistance when no stress is applied</a:t>
                          </a:r>
                        </a:p>
                        <a:p>
                          <a:pPr marL="0" marR="0" algn="just">
                            <a:lnSpc>
                              <a:spcPct val="115000"/>
                            </a:lnSpc>
                            <a:spcBef>
                              <a:spcPts val="0"/>
                            </a:spcBef>
                            <a:spcAft>
                              <a:spcPts val="0"/>
                            </a:spcAft>
                            <a:tabLst>
                              <a:tab pos="1295400" algn="l"/>
                            </a:tabLst>
                          </a:pPr>
                          <a14:m>
                            <m:oMath xmlns:m="http://schemas.openxmlformats.org/officeDocument/2006/math">
                              <m:sSub>
                                <m:sSubPr>
                                  <m:ctrlPr>
                                    <a:rPr lang="en-US" sz="2000" i="1">
                                      <a:effectLst/>
                                      <a:latin typeface="Cambria Math" panose="02040503050406030204" pitchFamily="18" charset="0"/>
                                    </a:rPr>
                                  </m:ctrlPr>
                                </m:sSubPr>
                                <m:e>
                                  <m:r>
                                    <m:rPr>
                                      <m:sty m:val="p"/>
                                    </m:rPr>
                                    <a:rPr lang="en-US" sz="2000">
                                      <a:effectLst/>
                                      <a:latin typeface="Cambria Math"/>
                                    </a:rPr>
                                    <m:t>ε</m:t>
                                  </m:r>
                                </m:e>
                                <m:sub>
                                  <m:r>
                                    <m:rPr>
                                      <m:sty m:val="p"/>
                                    </m:rPr>
                                    <a:rPr lang="en-US" sz="2000">
                                      <a:effectLst/>
                                      <a:latin typeface="Cambria Math"/>
                                    </a:rPr>
                                    <m:t>a</m:t>
                                  </m:r>
                                  <m:r>
                                    <a:rPr lang="en-US" sz="2000">
                                      <a:effectLst/>
                                      <a:latin typeface="Cambria Math"/>
                                    </a:rPr>
                                    <m:t> </m:t>
                                  </m:r>
                                </m:sub>
                              </m:sSub>
                            </m:oMath>
                          </a14:m>
                          <a:r>
                            <a:rPr lang="en-US" sz="1600" dirty="0">
                              <a:effectLst/>
                            </a:rPr>
                            <a:t>– Axial strain = </a:t>
                          </a:r>
                          <a14:m>
                            <m:oMath xmlns:m="http://schemas.openxmlformats.org/officeDocument/2006/math">
                              <m:f>
                                <m:fPr>
                                  <m:ctrlPr>
                                    <a:rPr lang="en-US" sz="1600" i="1">
                                      <a:effectLst/>
                                      <a:latin typeface="Cambria Math" panose="02040503050406030204" pitchFamily="18" charset="0"/>
                                    </a:rPr>
                                  </m:ctrlPr>
                                </m:fPr>
                                <m:num>
                                  <m:r>
                                    <a:rPr lang="en-US" sz="1600">
                                      <a:effectLst/>
                                      <a:latin typeface="Cambria Math"/>
                                    </a:rPr>
                                    <m:t>𝑑𝑙</m:t>
                                  </m:r>
                                </m:num>
                                <m:den>
                                  <m:r>
                                    <a:rPr lang="en-US" sz="1600">
                                      <a:effectLst/>
                                      <a:latin typeface="Cambria Math"/>
                                    </a:rPr>
                                    <m:t>𝑙</m:t>
                                  </m:r>
                                </m:den>
                              </m:f>
                            </m:oMath>
                          </a14:m>
                          <a:r>
                            <a:rPr lang="en-US" sz="1600" dirty="0">
                              <a:effectLst/>
                            </a:rPr>
                            <a:t/>
                          </a:r>
                        </a:p>
                        <a:p>
                          <a:pPr marL="0" marR="0" algn="just">
                            <a:lnSpc>
                              <a:spcPct val="115000"/>
                            </a:lnSpc>
                            <a:spcBef>
                              <a:spcPts val="0"/>
                            </a:spcBef>
                            <a:spcAft>
                              <a:spcPts val="0"/>
                            </a:spcAft>
                            <a:tabLst>
                              <a:tab pos="1314450" algn="l"/>
                            </a:tabLst>
                          </a:pPr>
                          <a14:m>
                            <m:oMathPara xmlns:m="http://schemas.openxmlformats.org/officeDocument/2006/math">
                              <m:oMathParaPr>
                                <m:jc m:val="centerGroup"/>
                              </m:oMathParaPr>
                              <m:oMath xmlns:m="http://schemas.openxmlformats.org/officeDocument/2006/math">
                                <m:r>
                                  <m:rPr>
                                    <m:sty m:val="p"/>
                                  </m:rPr>
                                  <a:rPr lang="en-US" sz="1600">
                                    <a:effectLst/>
                                    <a:latin typeface="Cambria Math"/>
                                  </a:rPr>
                                  <m:t>v</m:t>
                                </m:r>
                                <m:r>
                                  <a:rPr lang="en-US" sz="1600">
                                    <a:effectLst/>
                                    <a:latin typeface="Cambria Math"/>
                                  </a:rPr>
                                  <m:t>− </m:t>
                                </m:r>
                                <m:sSup>
                                  <m:sSupPr>
                                    <m:ctrlPr>
                                      <a:rPr lang="en-US" sz="1600" i="1">
                                        <a:effectLst/>
                                        <a:latin typeface="Cambria Math" panose="02040503050406030204" pitchFamily="18" charset="0"/>
                                      </a:rPr>
                                    </m:ctrlPr>
                                  </m:sSupPr>
                                  <m:e>
                                    <m:r>
                                      <m:rPr>
                                        <m:sty m:val="p"/>
                                      </m:rPr>
                                      <a:rPr lang="en-US" sz="1600">
                                        <a:effectLst/>
                                        <a:latin typeface="Cambria Math"/>
                                      </a:rPr>
                                      <m:t>Possion</m:t>
                                    </m:r>
                                  </m:e>
                                  <m:sup>
                                    <m:r>
                                      <a:rPr lang="en-US" sz="1600">
                                        <a:effectLst/>
                                        <a:latin typeface="Cambria Math"/>
                                      </a:rPr>
                                      <m:t>′</m:t>
                                    </m:r>
                                  </m:sup>
                                </m:sSup>
                                <m:r>
                                  <m:rPr>
                                    <m:sty m:val="p"/>
                                  </m:rPr>
                                  <a:rPr lang="en-US" sz="1600">
                                    <a:effectLst/>
                                    <a:latin typeface="Cambria Math"/>
                                  </a:rPr>
                                  <m:t>s</m:t>
                                </m:r>
                                <m:r>
                                  <a:rPr lang="en-US" sz="1600">
                                    <a:effectLst/>
                                    <a:latin typeface="Cambria Math"/>
                                  </a:rPr>
                                  <m:t>  </m:t>
                                </m:r>
                                <m:r>
                                  <m:rPr>
                                    <m:sty m:val="p"/>
                                  </m:rPr>
                                  <a:rPr lang="en-US" sz="1600">
                                    <a:effectLst/>
                                    <a:latin typeface="Cambria Math"/>
                                  </a:rPr>
                                  <m:t>ratio</m:t>
                                </m:r>
                              </m:oMath>
                            </m:oMathPara>
                          </a14:m>
                          <a:endParaRPr lang="en-US" sz="1600" dirty="0">
                            <a:effectLst/>
                          </a:endParaRPr>
                        </a:p>
                        <a:p>
                          <a:pPr marL="0" marR="0" algn="just">
                            <a:lnSpc>
                              <a:spcPct val="115000"/>
                            </a:lnSpc>
                            <a:spcBef>
                              <a:spcPts val="0"/>
                            </a:spcBef>
                            <a:spcAft>
                              <a:spcPts val="0"/>
                            </a:spcAft>
                            <a:tabLst>
                              <a:tab pos="1314450" algn="l"/>
                            </a:tabLst>
                          </a:pPr>
                          <a14:m>
                            <m:oMathPara xmlns:m="http://schemas.openxmlformats.org/officeDocument/2006/math">
                              <m:oMathParaPr>
                                <m:jc m:val="centerGroup"/>
                              </m:oMathParaPr>
                              <m:oMath xmlns:m="http://schemas.openxmlformats.org/officeDocument/2006/math">
                                <m:r>
                                  <m:rPr>
                                    <m:sty m:val="p"/>
                                  </m:rPr>
                                  <a:rPr lang="en-US" sz="1600">
                                    <a:effectLst/>
                                    <a:latin typeface="Cambria Math"/>
                                  </a:rPr>
                                  <m:t>G</m:t>
                                </m:r>
                                <m:r>
                                  <a:rPr lang="en-US" sz="1600">
                                    <a:effectLst/>
                                    <a:latin typeface="Cambria Math"/>
                                  </a:rPr>
                                  <m:t>.</m:t>
                                </m:r>
                                <m:r>
                                  <m:rPr>
                                    <m:sty m:val="p"/>
                                  </m:rPr>
                                  <a:rPr lang="en-US" sz="1600">
                                    <a:effectLst/>
                                    <a:latin typeface="Cambria Math"/>
                                  </a:rPr>
                                  <m:t>F</m:t>
                                </m:r>
                                <m:r>
                                  <a:rPr lang="en-US" sz="1600">
                                    <a:effectLst/>
                                    <a:latin typeface="Cambria Math"/>
                                  </a:rPr>
                                  <m:t>. =</m:t>
                                </m:r>
                                <m:r>
                                  <m:rPr>
                                    <m:sty m:val="p"/>
                                  </m:rPr>
                                  <a:rPr lang="en-US" sz="1600">
                                    <a:effectLst/>
                                    <a:latin typeface="Cambria Math"/>
                                  </a:rPr>
                                  <m:t>Gauge</m:t>
                                </m:r>
                                <m:r>
                                  <a:rPr lang="en-US" sz="1600">
                                    <a:effectLst/>
                                    <a:latin typeface="Cambria Math"/>
                                  </a:rPr>
                                  <m:t> </m:t>
                                </m:r>
                                <m:r>
                                  <m:rPr>
                                    <m:sty m:val="p"/>
                                  </m:rPr>
                                  <a:rPr lang="en-US" sz="1600">
                                    <a:effectLst/>
                                    <a:latin typeface="Cambria Math"/>
                                  </a:rPr>
                                  <m:t>factor</m:t>
                                </m:r>
                                <m:r>
                                  <a:rPr lang="en-US" sz="1600">
                                    <a:effectLst/>
                                    <a:latin typeface="Cambria Math"/>
                                  </a:rPr>
                                  <m:t>= </m:t>
                                </m:r>
                                <m:d>
                                  <m:dPr>
                                    <m:ctrlPr>
                                      <a:rPr lang="en-US" sz="1600" i="1">
                                        <a:effectLst/>
                                        <a:latin typeface="Cambria Math" panose="02040503050406030204" pitchFamily="18" charset="0"/>
                                      </a:rPr>
                                    </m:ctrlPr>
                                  </m:dPr>
                                  <m:e>
                                    <m:r>
                                      <a:rPr lang="en-US" sz="1600">
                                        <a:effectLst/>
                                        <a:latin typeface="Cambria Math"/>
                                      </a:rPr>
                                      <m:t>𝟏</m:t>
                                    </m:r>
                                    <m:r>
                                      <a:rPr lang="en-US" sz="1600">
                                        <a:effectLst/>
                                        <a:latin typeface="Cambria Math"/>
                                      </a:rPr>
                                      <m:t>+</m:t>
                                    </m:r>
                                    <m:r>
                                      <a:rPr lang="en-US" sz="1600">
                                        <a:effectLst/>
                                        <a:latin typeface="Cambria Math"/>
                                      </a:rPr>
                                      <m:t>𝟐</m:t>
                                    </m:r>
                                    <m:r>
                                      <m:rPr>
                                        <m:nor/>
                                      </m:rPr>
                                      <a:rPr lang="en-US" sz="1600">
                                        <a:effectLst/>
                                      </a:rPr>
                                      <m:t>v</m:t>
                                    </m:r>
                                  </m:e>
                                </m:d>
                              </m:oMath>
                            </m:oMathPara>
                          </a14:m>
                          <a:endParaRPr lang="en-US" sz="1100" dirty="0">
                            <a:effectLst/>
                          </a:endParaRPr>
                        </a:p>
                        <a:p>
                          <a:pPr marL="0" marR="0">
                            <a:lnSpc>
                              <a:spcPct val="115000"/>
                            </a:lnSpc>
                            <a:spcBef>
                              <a:spcPts val="0"/>
                            </a:spcBef>
                            <a:spcAft>
                              <a:spcPts val="0"/>
                            </a:spcAft>
                          </a:pPr>
                          <a:r>
                            <a:rPr lang="en-US" sz="1100" dirty="0">
                              <a:effectLst/>
                            </a:rPr>
                            <a:t> </a:t>
                          </a:r>
                          <a:endParaRPr lang="en-US" sz="1100" dirty="0">
                            <a:effectLst/>
                            <a:latin typeface="Calibri"/>
                            <a:ea typeface="Times New Roman"/>
                          </a:endParaRPr>
                        </a:p>
                      </a:txBody>
                      <a:tcPr marL="68580" marR="68580" marT="0" marB="0"/>
                    </a:tc>
                    <a:extLst>
                      <a:ext uri="{0D108BD9-81ED-4DB2-BD59-A6C34878D82A}">
                        <a16:rowId xmlns:a16="http://schemas.microsoft.com/office/drawing/2014/main" val="10000"/>
                      </a:ext>
                    </a:extLst>
                  </a:tr>
                </a:tbl>
              </a:graphicData>
            </a:graphic>
          </p:graphicFrame>
        </mc:Choice>
        <mc:Fallback>
          <p:graphicFrame>
            <p:nvGraphicFramePr>
              <p:cNvPr id="4" name="Table 3"/>
              <p:cNvGraphicFramePr>
                <a:graphicFrameLocks noGrp="1"/>
              </p:cNvGraphicFramePr>
              <p:nvPr>
                <p:extLst>
                  <p:ext uri="{D42A27DB-BD31-4B8C-83A1-F6EECF244321}">
                    <p14:modId xmlns:p14="http://schemas.microsoft.com/office/powerpoint/2010/main" xmlns="" xmlns:a14="http://schemas.microsoft.com/office/drawing/2010/main" val="658117883"/>
                  </p:ext>
                </p:extLst>
              </p:nvPr>
            </p:nvGraphicFramePr>
            <p:xfrm>
              <a:off x="228600" y="4495800"/>
              <a:ext cx="8686800" cy="1998726"/>
            </p:xfrm>
            <a:graphic>
              <a:graphicData uri="http://schemas.openxmlformats.org/drawingml/2006/table">
                <a:tbl>
                  <a:tblPr firstRow="1" firstCol="1" bandRow="1">
                    <a:tableStyleId>{ED083AE6-46FA-4A59-8FB0-9F97EB10719F}</a:tableStyleId>
                  </a:tblPr>
                  <a:tblGrid>
                    <a:gridCol w="4191000"/>
                    <a:gridCol w="4495800"/>
                  </a:tblGrid>
                  <a:tr h="1998726">
                    <a:tc>
                      <a:txBody>
                        <a:bodyPr/>
                        <a:lstStyle/>
                        <a:p>
                          <a:endParaRPr lang="en-US"/>
                        </a:p>
                      </a:txBody>
                      <a:tcPr marL="68580" marR="68580" marT="0" marB="0">
                        <a:blipFill rotWithShape="1">
                          <a:blip r:embed="rId3"/>
                          <a:stretch>
                            <a:fillRect l="-145" t="-2141" r="-107122" b="-3976"/>
                          </a:stretch>
                        </a:blipFill>
                      </a:tcPr>
                    </a:tc>
                    <a:tc>
                      <a:txBody>
                        <a:bodyPr/>
                        <a:lstStyle/>
                        <a:p>
                          <a:endParaRPr lang="en-US"/>
                        </a:p>
                      </a:txBody>
                      <a:tcPr marL="68580" marR="68580" marT="0" marB="0">
                        <a:blipFill rotWithShape="1">
                          <a:blip r:embed="rId3"/>
                          <a:stretch>
                            <a:fillRect l="-93487" t="-2141" b="-3976"/>
                          </a:stretch>
                        </a:blipFill>
                      </a:tcPr>
                    </a:tc>
                  </a:tr>
                </a:tbl>
              </a:graphicData>
            </a:graphic>
          </p:graphicFrame>
        </mc:Fallback>
      </mc:AlternateContent>
    </p:spTree>
    <p:extLst>
      <p:ext uri="{BB962C8B-B14F-4D97-AF65-F5344CB8AC3E}">
        <p14:creationId xmlns:p14="http://schemas.microsoft.com/office/powerpoint/2010/main" xmlns="" val="45026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457200"/>
          </a:xfrm>
        </p:spPr>
        <p:txBody>
          <a:bodyPr>
            <a:noAutofit/>
          </a:bodyPr>
          <a:lstStyle/>
          <a:p>
            <a:pPr algn="l"/>
            <a:r>
              <a:rPr lang="en-US" sz="3600" b="1" dirty="0">
                <a:solidFill>
                  <a:srgbClr val="C00000"/>
                </a:solidFill>
                <a:latin typeface="Calibri Light" pitchFamily="34" charset="0"/>
              </a:rPr>
              <a:t>Load Cell:</a:t>
            </a:r>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380999" y="914400"/>
            <a:ext cx="8382001" cy="525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67696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609600"/>
          </a:xfrm>
        </p:spPr>
        <p:txBody>
          <a:bodyPr>
            <a:noAutofit/>
          </a:bodyPr>
          <a:lstStyle/>
          <a:p>
            <a:pPr marL="571500" indent="-571500" algn="l">
              <a:buBlip>
                <a:blip r:embed="rId2"/>
              </a:buBlip>
            </a:pPr>
            <a:r>
              <a:rPr lang="en-US" sz="3600" b="1" dirty="0">
                <a:solidFill>
                  <a:srgbClr val="C00000"/>
                </a:solidFill>
                <a:latin typeface="Calibri Light" pitchFamily="34" charset="0"/>
              </a:rPr>
              <a:t>Biosensor:</a:t>
            </a:r>
          </a:p>
        </p:txBody>
      </p:sp>
      <p:sp>
        <p:nvSpPr>
          <p:cNvPr id="3" name="Content Placeholder 2"/>
          <p:cNvSpPr>
            <a:spLocks noGrp="1"/>
          </p:cNvSpPr>
          <p:nvPr>
            <p:ph idx="1"/>
          </p:nvPr>
        </p:nvSpPr>
        <p:spPr>
          <a:xfrm>
            <a:off x="228600" y="762001"/>
            <a:ext cx="8458200" cy="4953000"/>
          </a:xfrm>
        </p:spPr>
        <p:txBody>
          <a:bodyPr>
            <a:normAutofit/>
          </a:bodyPr>
          <a:lstStyle/>
          <a:p>
            <a:pPr algn="just"/>
            <a:r>
              <a:rPr lang="en-US" sz="2000" dirty="0" err="1"/>
              <a:t>Bisensor</a:t>
            </a:r>
            <a:r>
              <a:rPr lang="en-US" sz="2000" dirty="0"/>
              <a:t> is a device which uses </a:t>
            </a:r>
            <a:r>
              <a:rPr lang="en-US" sz="2000" dirty="0">
                <a:solidFill>
                  <a:srgbClr val="FF0000"/>
                </a:solidFill>
              </a:rPr>
              <a:t>living organism</a:t>
            </a:r>
            <a:r>
              <a:rPr lang="en-US" sz="2000" dirty="0"/>
              <a:t> or </a:t>
            </a:r>
            <a:r>
              <a:rPr lang="en-US" sz="2000" dirty="0">
                <a:solidFill>
                  <a:srgbClr val="FF0000"/>
                </a:solidFill>
              </a:rPr>
              <a:t>biological molecule</a:t>
            </a:r>
            <a:r>
              <a:rPr lang="en-US" sz="2000" dirty="0"/>
              <a:t> (</a:t>
            </a:r>
            <a:r>
              <a:rPr lang="en-US" sz="2000" dirty="0" err="1"/>
              <a:t>bioreceptor</a:t>
            </a:r>
            <a:r>
              <a:rPr lang="en-US" sz="2000" dirty="0"/>
              <a:t>) to detect the </a:t>
            </a:r>
            <a:r>
              <a:rPr lang="en-US" sz="2000" dirty="0">
                <a:solidFill>
                  <a:srgbClr val="FF0000"/>
                </a:solidFill>
              </a:rPr>
              <a:t>presence of chemicals</a:t>
            </a:r>
            <a:r>
              <a:rPr lang="en-US" sz="2000" dirty="0"/>
              <a:t>.</a:t>
            </a:r>
          </a:p>
          <a:p>
            <a:pPr marL="0" indent="0" algn="just">
              <a:buNone/>
            </a:pPr>
            <a:r>
              <a:rPr lang="en-US" sz="2000" b="1" dirty="0">
                <a:solidFill>
                  <a:srgbClr val="0000FF"/>
                </a:solidFill>
              </a:rPr>
              <a:t>Principle:</a:t>
            </a:r>
            <a:endParaRPr lang="en-US" sz="2000" dirty="0">
              <a:solidFill>
                <a:srgbClr val="0000FF"/>
              </a:solidFill>
            </a:endParaRPr>
          </a:p>
          <a:p>
            <a:pPr algn="just"/>
            <a:r>
              <a:rPr lang="en-US" sz="2000" dirty="0"/>
              <a:t>A specific enzyme (type of </a:t>
            </a:r>
            <a:r>
              <a:rPr lang="en-US" sz="2000" dirty="0" err="1"/>
              <a:t>bireceptor</a:t>
            </a:r>
            <a:r>
              <a:rPr lang="en-US" sz="2000" dirty="0"/>
              <a:t>) or preferred biological molecule is deactivated. </a:t>
            </a:r>
          </a:p>
          <a:p>
            <a:pPr algn="just"/>
            <a:r>
              <a:rPr lang="en-US" sz="2000" dirty="0"/>
              <a:t>The change in properties of biomaterial is related to chemical under detection. </a:t>
            </a:r>
          </a:p>
          <a:p>
            <a:endParaRPr lang="en-US"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57200" y="3124200"/>
            <a:ext cx="8305800" cy="3505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61711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334000" cy="609600"/>
          </a:xfrm>
        </p:spPr>
        <p:txBody>
          <a:bodyPr>
            <a:noAutofit/>
          </a:bodyPr>
          <a:lstStyle/>
          <a:p>
            <a:pPr algn="l"/>
            <a:r>
              <a:rPr lang="en-US" sz="3600" b="1" dirty="0">
                <a:solidFill>
                  <a:srgbClr val="C00000"/>
                </a:solidFill>
                <a:latin typeface="Calibri Light" pitchFamily="34" charset="0"/>
              </a:rPr>
              <a:t>Biosensor: </a:t>
            </a:r>
          </a:p>
        </p:txBody>
      </p:sp>
      <p:sp>
        <p:nvSpPr>
          <p:cNvPr id="3" name="Content Placeholder 2"/>
          <p:cNvSpPr>
            <a:spLocks noGrp="1"/>
          </p:cNvSpPr>
          <p:nvPr>
            <p:ph idx="1"/>
          </p:nvPr>
        </p:nvSpPr>
        <p:spPr>
          <a:xfrm>
            <a:off x="228600" y="762000"/>
            <a:ext cx="8763000" cy="5715000"/>
          </a:xfrm>
        </p:spPr>
        <p:txBody>
          <a:bodyPr>
            <a:normAutofit fontScale="92500" lnSpcReduction="10000"/>
          </a:bodyPr>
          <a:lstStyle/>
          <a:p>
            <a:pPr marL="0" indent="0">
              <a:buNone/>
            </a:pPr>
            <a:r>
              <a:rPr lang="en-US" b="1" dirty="0">
                <a:solidFill>
                  <a:srgbClr val="0000FF"/>
                </a:solidFill>
              </a:rPr>
              <a:t>Explanation:</a:t>
            </a:r>
            <a:endParaRPr lang="en-US" sz="2800" dirty="0">
              <a:solidFill>
                <a:srgbClr val="0000FF"/>
              </a:solidFill>
            </a:endParaRPr>
          </a:p>
          <a:p>
            <a:pPr lvl="1" algn="just">
              <a:buFont typeface="Arial" pitchFamily="34" charset="0"/>
              <a:buChar char="•"/>
            </a:pPr>
            <a:r>
              <a:rPr lang="en-US" b="1" dirty="0" err="1">
                <a:solidFill>
                  <a:srgbClr val="0000FF"/>
                </a:solidFill>
              </a:rPr>
              <a:t>Bioreceptor</a:t>
            </a:r>
            <a:r>
              <a:rPr lang="en-US" b="1" dirty="0">
                <a:solidFill>
                  <a:srgbClr val="0000FF"/>
                </a:solidFill>
              </a:rPr>
              <a:t>:</a:t>
            </a:r>
            <a:r>
              <a:rPr lang="en-US" dirty="0">
                <a:solidFill>
                  <a:srgbClr val="0000FF"/>
                </a:solidFill>
              </a:rPr>
              <a:t> </a:t>
            </a:r>
            <a:r>
              <a:rPr lang="en-US" dirty="0"/>
              <a:t>The </a:t>
            </a:r>
            <a:r>
              <a:rPr lang="en-US" dirty="0" err="1"/>
              <a:t>bioreceptor</a:t>
            </a:r>
            <a:r>
              <a:rPr lang="en-US" dirty="0"/>
              <a:t> is in the vicinity of sample. Depending on the sample and its concentration the properties of </a:t>
            </a:r>
            <a:r>
              <a:rPr lang="en-US" dirty="0" err="1"/>
              <a:t>bioreceptor</a:t>
            </a:r>
            <a:r>
              <a:rPr lang="en-US" dirty="0"/>
              <a:t> changes. The </a:t>
            </a:r>
            <a:r>
              <a:rPr lang="en-US" dirty="0" err="1"/>
              <a:t>bioreceptor</a:t>
            </a:r>
            <a:r>
              <a:rPr lang="en-US" dirty="0"/>
              <a:t> can be enzymes, tissues, microorganisms or chemoreceptors.</a:t>
            </a:r>
            <a:endParaRPr lang="en-US" sz="2400" dirty="0"/>
          </a:p>
          <a:p>
            <a:pPr lvl="1" algn="just">
              <a:buFont typeface="Arial" pitchFamily="34" charset="0"/>
              <a:buChar char="•"/>
            </a:pPr>
            <a:r>
              <a:rPr lang="en-US" b="1" dirty="0">
                <a:solidFill>
                  <a:srgbClr val="0000FF"/>
                </a:solidFill>
              </a:rPr>
              <a:t>Transducer:</a:t>
            </a:r>
            <a:r>
              <a:rPr lang="en-US" dirty="0">
                <a:solidFill>
                  <a:srgbClr val="0000FF"/>
                </a:solidFill>
              </a:rPr>
              <a:t> </a:t>
            </a:r>
            <a:r>
              <a:rPr lang="en-US" dirty="0"/>
              <a:t>The transducer converts one form of signal into another form. In this case the change in properties of </a:t>
            </a:r>
            <a:r>
              <a:rPr lang="en-US" dirty="0" err="1"/>
              <a:t>bioreceptor</a:t>
            </a:r>
            <a:r>
              <a:rPr lang="en-US" dirty="0"/>
              <a:t> is converted into electrical signal.</a:t>
            </a:r>
            <a:endParaRPr lang="en-US" sz="2400" dirty="0"/>
          </a:p>
          <a:p>
            <a:pPr lvl="1" algn="just">
              <a:buFont typeface="Arial" pitchFamily="34" charset="0"/>
              <a:buChar char="•"/>
            </a:pPr>
            <a:r>
              <a:rPr lang="en-US" b="1" dirty="0">
                <a:solidFill>
                  <a:srgbClr val="0000FF"/>
                </a:solidFill>
              </a:rPr>
              <a:t>Amplifier:</a:t>
            </a:r>
            <a:r>
              <a:rPr lang="en-US" dirty="0">
                <a:solidFill>
                  <a:srgbClr val="0000FF"/>
                </a:solidFill>
              </a:rPr>
              <a:t> </a:t>
            </a:r>
            <a:r>
              <a:rPr lang="en-US" dirty="0"/>
              <a:t>The electrical signals produced by the transducer are very weak. Hence the output of transducer is amplified by using amplifier.</a:t>
            </a:r>
          </a:p>
          <a:p>
            <a:pPr lvl="1" algn="just">
              <a:buFont typeface="Arial" pitchFamily="34" charset="0"/>
              <a:buChar char="•"/>
            </a:pPr>
            <a:r>
              <a:rPr lang="en-US" sz="2400" dirty="0">
                <a:solidFill>
                  <a:srgbClr val="7030A0"/>
                </a:solidFill>
              </a:rPr>
              <a:t> </a:t>
            </a:r>
            <a:r>
              <a:rPr lang="en-US" b="1" dirty="0">
                <a:solidFill>
                  <a:srgbClr val="0000FF"/>
                </a:solidFill>
              </a:rPr>
              <a:t>Data Processing:</a:t>
            </a:r>
            <a:r>
              <a:rPr lang="en-US" dirty="0">
                <a:solidFill>
                  <a:srgbClr val="0000FF"/>
                </a:solidFill>
              </a:rPr>
              <a:t> </a:t>
            </a:r>
            <a:r>
              <a:rPr lang="en-US" dirty="0"/>
              <a:t>The amplified electrical signal is calibrated against composition and concentration of sample.</a:t>
            </a:r>
          </a:p>
        </p:txBody>
      </p:sp>
    </p:spTree>
    <p:extLst>
      <p:ext uri="{BB962C8B-B14F-4D97-AF65-F5344CB8AC3E}">
        <p14:creationId xmlns:p14="http://schemas.microsoft.com/office/powerpoint/2010/main" xmlns="" val="2530939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1379</TotalTime>
  <Words>1128</Words>
  <Application>Microsoft Office PowerPoint</Application>
  <PresentationFormat>On-screen Show (4:3)</PresentationFormat>
  <Paragraphs>218</Paragraphs>
  <Slides>28</Slides>
  <Notes>2</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Slide 1</vt:lpstr>
      <vt:lpstr>Unit 5 (i) : Sensors</vt:lpstr>
      <vt:lpstr>Sensors:</vt:lpstr>
      <vt:lpstr>Classification of Sensors</vt:lpstr>
      <vt:lpstr>Sensors:</vt:lpstr>
      <vt:lpstr>Comparison between active &amp; passive sensors:</vt:lpstr>
      <vt:lpstr>Comparison between Analog &amp; Digital sensors:</vt:lpstr>
      <vt:lpstr>#Linear variable differential transformers (LVDT): motion sensor</vt:lpstr>
      <vt:lpstr>LVDT:</vt:lpstr>
      <vt:lpstr>LVDT:</vt:lpstr>
      <vt:lpstr>LVDT:</vt:lpstr>
      <vt:lpstr>LVDT:</vt:lpstr>
      <vt:lpstr>LVDT:</vt:lpstr>
      <vt:lpstr>Temperature Sensor &amp; its types</vt:lpstr>
      <vt:lpstr>Temperature Sensor - Thermocouple</vt:lpstr>
      <vt:lpstr>Thermocouple:</vt:lpstr>
      <vt:lpstr>Thermocouple:</vt:lpstr>
      <vt:lpstr>Temperature Sensor: Thermistor</vt:lpstr>
      <vt:lpstr>Thermistor:</vt:lpstr>
      <vt:lpstr>Thermistor:</vt:lpstr>
      <vt:lpstr>Temp. Sensor : Resistance Temperature Detector (RTD):</vt:lpstr>
      <vt:lpstr>RTD:</vt:lpstr>
      <vt:lpstr>RTD:</vt:lpstr>
      <vt:lpstr>Mechanical Sensors:  Types</vt:lpstr>
      <vt:lpstr>Strain gauges:</vt:lpstr>
      <vt:lpstr>Load Cell:</vt:lpstr>
      <vt:lpstr>Biosensor:</vt:lpstr>
      <vt:lpstr>Biosensor: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RANE</dc:creator>
  <cp:lastModifiedBy>Admin</cp:lastModifiedBy>
  <cp:revision>127</cp:revision>
  <dcterms:created xsi:type="dcterms:W3CDTF">2020-04-02T13:22:55Z</dcterms:created>
  <dcterms:modified xsi:type="dcterms:W3CDTF">2025-11-29T05:27:18Z</dcterms:modified>
</cp:coreProperties>
</file>