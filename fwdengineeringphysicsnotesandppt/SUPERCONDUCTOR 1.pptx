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9" r:id="rId8"/>
    <p:sldId id="268" r:id="rId9"/>
    <p:sldId id="267" r:id="rId10"/>
    <p:sldId id="260" r:id="rId11"/>
    <p:sldId id="274" r:id="rId12"/>
    <p:sldId id="270" r:id="rId13"/>
    <p:sldId id="271" r:id="rId14"/>
    <p:sldId id="272" r:id="rId15"/>
    <p:sldId id="273" r:id="rId16"/>
    <p:sldId id="275" r:id="rId17"/>
    <p:sldId id="277" r:id="rId18"/>
    <p:sldId id="279" r:id="rId19"/>
    <p:sldId id="276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8045D1F-5A83-4157-8C23-974EE7616B10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0156E8A-5756-4F3B-B37E-3E5162689F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8045D1F-5A83-4157-8C23-974EE7616B10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0156E8A-5756-4F3B-B37E-3E5162689F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8045D1F-5A83-4157-8C23-974EE7616B10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0156E8A-5756-4F3B-B37E-3E5162689F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5D1F-5A83-4157-8C23-974EE7616B10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6E8A-5756-4F3B-B37E-3E5162689F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5D1F-5A83-4157-8C23-974EE7616B10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6E8A-5756-4F3B-B37E-3E5162689F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8045D1F-5A83-4157-8C23-974EE7616B10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0156E8A-5756-4F3B-B37E-3E5162689F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5D1F-5A83-4157-8C23-974EE7616B10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6E8A-5756-4F3B-B37E-3E5162689F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8045D1F-5A83-4157-8C23-974EE7616B10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0156E8A-5756-4F3B-B37E-3E5162689F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8045D1F-5A83-4157-8C23-974EE7616B10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0156E8A-5756-4F3B-B37E-3E5162689F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5D1F-5A83-4157-8C23-974EE7616B10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6E8A-5756-4F3B-B37E-3E5162689F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5D1F-5A83-4157-8C23-974EE7616B10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56E8A-5756-4F3B-B37E-3E5162689F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88045D1F-5A83-4157-8C23-974EE7616B10}" type="datetimeFigureOut">
              <a:rPr lang="en-US" smtClean="0"/>
              <a:pPr/>
              <a:t>6/28/2022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0156E8A-5756-4F3B-B37E-3E5162689F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2514600"/>
            <a:ext cx="7315200" cy="1143000"/>
          </a:xfrm>
          <a:solidFill>
            <a:schemeClr val="tx1"/>
          </a:solidFill>
          <a:ln>
            <a:solidFill>
              <a:srgbClr val="FFFF00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ctr"/>
            <a:r>
              <a:rPr lang="en-US" sz="4800" b="1" u="sng" dirty="0" smtClean="0">
                <a:solidFill>
                  <a:srgbClr val="FF0000"/>
                </a:solidFill>
                <a:latin typeface="Comic Sans MS" pitchFamily="66" charset="0"/>
              </a:rPr>
              <a:t>SUPERCONDUCTOR</a:t>
            </a:r>
            <a:endParaRPr lang="en-US" sz="4800" b="1" u="sng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609600" y="21336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6858000" cy="1143000"/>
          </a:xfrm>
        </p:spPr>
        <p:txBody>
          <a:bodyPr/>
          <a:lstStyle/>
          <a:p>
            <a:r>
              <a:rPr lang="en-US" b="1" dirty="0" smtClean="0"/>
              <a:t>Discoverer of Superconductivity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omic Sans MS" pitchFamily="66" charset="0"/>
              </a:rPr>
              <a:t>Superconductivity was first discovered in 1911 by the Dutch </a:t>
            </a:r>
            <a:r>
              <a:rPr lang="en-US" dirty="0" err="1" smtClean="0">
                <a:latin typeface="Comic Sans MS" pitchFamily="66" charset="0"/>
              </a:rPr>
              <a:t>physicist,Heike</a:t>
            </a: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err="1" smtClean="0">
                <a:latin typeface="Comic Sans MS" pitchFamily="66" charset="0"/>
              </a:rPr>
              <a:t>Kammerlingh</a:t>
            </a: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err="1" smtClean="0">
                <a:latin typeface="Comic Sans MS" pitchFamily="66" charset="0"/>
              </a:rPr>
              <a:t>Onnes</a:t>
            </a:r>
            <a:r>
              <a:rPr lang="en-US" dirty="0" smtClean="0">
                <a:latin typeface="Comic Sans MS" pitchFamily="66" charset="0"/>
              </a:rPr>
              <a:t>. </a:t>
            </a:r>
            <a:endParaRPr lang="en-US" sz="1800" dirty="0" smtClean="0">
              <a:latin typeface="Comic Sans MS" pitchFamily="66" charset="0"/>
            </a:endParaRPr>
          </a:p>
        </p:txBody>
      </p:sp>
      <p:pic>
        <p:nvPicPr>
          <p:cNvPr id="5" name="Picture 5" descr="http://www.ug-home.nottingham.ac.uk/~ppyttch/onnes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2819400"/>
            <a:ext cx="35052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7467600" cy="601675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accent3">
                    <a:lumMod val="75000"/>
                  </a:schemeClr>
                </a:solidFill>
                <a:latin typeface="Comic Sans MS" pitchFamily="66" charset="0"/>
              </a:rPr>
              <a:t>He successfully </a:t>
            </a:r>
            <a:r>
              <a:rPr lang="en-US" sz="2800" dirty="0" err="1" smtClean="0">
                <a:solidFill>
                  <a:schemeClr val="accent3">
                    <a:lumMod val="75000"/>
                  </a:schemeClr>
                </a:solidFill>
                <a:latin typeface="Comic Sans MS" pitchFamily="66" charset="0"/>
              </a:rPr>
              <a:t>liquified</a:t>
            </a:r>
            <a:r>
              <a:rPr lang="en-US" sz="2800" dirty="0" smtClean="0">
                <a:solidFill>
                  <a:schemeClr val="accent3">
                    <a:lumMod val="75000"/>
                  </a:schemeClr>
                </a:solidFill>
                <a:latin typeface="Comic Sans MS" pitchFamily="66" charset="0"/>
              </a:rPr>
              <a:t> helium .</a:t>
            </a:r>
          </a:p>
          <a:p>
            <a:r>
              <a:rPr lang="en-US" sz="2800" dirty="0" smtClean="0">
                <a:solidFill>
                  <a:schemeClr val="accent3">
                    <a:lumMod val="75000"/>
                  </a:schemeClr>
                </a:solidFill>
                <a:latin typeface="Comic Sans MS" pitchFamily="66" charset="0"/>
              </a:rPr>
              <a:t>As helium boils at 4.2K ,it therefore possible to study the properties of material at low temp.</a:t>
            </a:r>
          </a:p>
          <a:p>
            <a:r>
              <a:rPr lang="en-US" sz="2800" dirty="0" smtClean="0">
                <a:solidFill>
                  <a:schemeClr val="accent3">
                    <a:lumMod val="75000"/>
                  </a:schemeClr>
                </a:solidFill>
                <a:latin typeface="Comic Sans MS" pitchFamily="66" charset="0"/>
              </a:rPr>
              <a:t>In 1911 ,he observed that the electrical resistivity of pure mercury dropped suddenly to zero at about the boiling point of helium.</a:t>
            </a:r>
          </a:p>
          <a:p>
            <a:r>
              <a:rPr lang="en-US" sz="2800" dirty="0" smtClean="0">
                <a:solidFill>
                  <a:schemeClr val="accent3">
                    <a:lumMod val="75000"/>
                  </a:schemeClr>
                </a:solidFill>
                <a:latin typeface="Comic Sans MS" pitchFamily="66" charset="0"/>
              </a:rPr>
              <a:t>He concluded that mercury had passed in to new state, which he called the </a:t>
            </a:r>
            <a:r>
              <a:rPr lang="en-US" sz="2800" b="1" u="sng" dirty="0" smtClean="0">
                <a:solidFill>
                  <a:srgbClr val="00B050"/>
                </a:solidFill>
                <a:latin typeface="Comic Sans MS" pitchFamily="66" charset="0"/>
              </a:rPr>
              <a:t>superconducting state</a:t>
            </a:r>
            <a:r>
              <a:rPr lang="en-US" sz="2800" u="sng" dirty="0" smtClean="0">
                <a:solidFill>
                  <a:srgbClr val="00B050"/>
                </a:solidFill>
                <a:latin typeface="Comic Sans MS" pitchFamily="66" charset="0"/>
              </a:rPr>
              <a:t>.</a:t>
            </a:r>
          </a:p>
          <a:p>
            <a:pPr>
              <a:buNone/>
            </a:pPr>
            <a:endParaRPr lang="en-US" sz="2800" b="1" dirty="0" smtClean="0">
              <a:solidFill>
                <a:srgbClr val="FF0000"/>
              </a:solidFill>
              <a:latin typeface="Comic Sans MS" pitchFamily="66" charset="0"/>
            </a:endParaRPr>
          </a:p>
          <a:p>
            <a:endParaRPr lang="en-US" sz="2800" dirty="0">
              <a:solidFill>
                <a:schemeClr val="accent3">
                  <a:lumMod val="75000"/>
                </a:schemeClr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</a:br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> definition……….</a:t>
            </a:r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559552"/>
          </a:xfrm>
        </p:spPr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  <a:latin typeface="Comic Sans MS" pitchFamily="66" charset="0"/>
              </a:rPr>
              <a:t>T</a:t>
            </a:r>
            <a:r>
              <a:rPr lang="en-US" b="1" baseline="-25000" dirty="0" err="1" smtClean="0">
                <a:solidFill>
                  <a:srgbClr val="FF0000"/>
                </a:solidFill>
                <a:latin typeface="Comic Sans MS" pitchFamily="66" charset="0"/>
              </a:rPr>
              <a:t>c</a:t>
            </a:r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>:</a:t>
            </a: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Comic Sans MS" pitchFamily="66" charset="0"/>
              </a:rPr>
              <a:t>This is the critical temperature at which the resistivity of a superconductor goes to zero. Above this temperature the material is non-superconducting, while below it, the material becomes superconducting. 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>SUPERCONDUCTOR: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>   </a:t>
            </a:r>
            <a:r>
              <a:rPr lang="en-US" dirty="0" smtClean="0">
                <a:solidFill>
                  <a:srgbClr val="00B050"/>
                </a:solidFill>
                <a:latin typeface="Comic Sans MS" pitchFamily="66" charset="0"/>
              </a:rPr>
              <a:t>A conductor having zero or almost zero resistance is called a superconductor &amp; this phenomenon is called as superconductivity</a:t>
            </a:r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>.</a:t>
            </a:r>
          </a:p>
          <a:p>
            <a:endParaRPr lang="en-US" dirty="0"/>
          </a:p>
        </p:txBody>
      </p:sp>
      <p:pic>
        <p:nvPicPr>
          <p:cNvPr id="5" name="Picture 5" descr="T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4495800"/>
            <a:ext cx="3429000" cy="22098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u="sng" dirty="0" smtClean="0">
                <a:solidFill>
                  <a:srgbClr val="FF0000"/>
                </a:solidFill>
                <a:latin typeface="Comic Sans MS" pitchFamily="66" charset="0"/>
              </a:rPr>
              <a:t>Properties of superconductor</a:t>
            </a:r>
            <a:endParaRPr lang="en-US" sz="3600" b="1" u="sng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b="1" dirty="0" smtClean="0">
                <a:latin typeface="Comic Sans MS" pitchFamily="66" charset="0"/>
              </a:rPr>
              <a:t>zero electrical resistance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 err="1" smtClean="0">
                <a:latin typeface="Comic Sans MS" pitchFamily="66" charset="0"/>
              </a:rPr>
              <a:t>Meissner</a:t>
            </a:r>
            <a:r>
              <a:rPr lang="en-US" sz="3600" b="1" dirty="0" smtClean="0">
                <a:latin typeface="Comic Sans MS" pitchFamily="66" charset="0"/>
              </a:rPr>
              <a:t> effect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 smtClean="0">
                <a:latin typeface="Comic Sans MS" pitchFamily="66" charset="0"/>
              </a:rPr>
              <a:t>Critical field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 smtClean="0">
                <a:latin typeface="Comic Sans MS" pitchFamily="66" charset="0"/>
              </a:rPr>
              <a:t>Persistent current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 smtClean="0">
                <a:latin typeface="Comic Sans MS" pitchFamily="66" charset="0"/>
              </a:rPr>
              <a:t>Isotope effect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data:image/jpeg;base64,/9j/4AAQSkZJRgABAQAAAQABAAD/2wBDAAkGBwgHBgkIBwgKCgkLDRYPDQwMDRsUFRAWIB0iIiAdHx8kKDQsJCYxJx8fLT0tMTU3Ojo6Iys/RD84QzQ5Ojf/2wBDAQoKCg0MDRoPDxo3JR8lNzc3Nzc3Nzc3Nzc3Nzc3Nzc3Nzc3Nzc3Nzc3Nzc3Nzc3Nzc3Nzc3Nzc3Nzc3Nzc3Nzf/wAARCABaAFoDASIAAhEBAxEB/8QAGwAAAgIDAQAAAAAAAAAAAAAAAAUEBgEDBwL/xABCEAACAQMCAwQDDAcJAQAAAAABAgMABBEFIRIxUQYTIkE0YYEHFDIzQnFzdJGxs8IjUmKEobLBFRYkU2OCkqLR8P/EABoBAQADAQEBAAAAAAAAAAAAAAABAgUDBAb/xAAkEQACAgIBAwQDAAAAAAAAAAAAAQIDBBESBRMxISJBUWFxof/aAAwDAQACEQMRAD8A7jRRSeTtNpEdy9u97GJUneBlJ5OkfeMPYu9AMri6gtignlSMucKGOM//AGRW6qvd6z2e1V7Rnv1JDW/dhSPF74wYhuNuLg8sGpcna/Qo4Hna/jEaQyzE5+RFJ3bn/ltQD2iotlqNrfS3cVrKsj2kvczAfJfhDY+xhUqgCvE8qQQvNKeFI1LMegAyaX3+u2Gn6jb2F3MI57iGWZM8uGPBbPsOfYaTzduOzs+mTzTXP+GFlBcy52xHOSqj588x5ZFAWS0u4byLvbdiyZK5KkHI2Ox3rfVbl7SaHokt7ZtOVaze378FixBuH4VJJOT1PQYrdb9rtHuJreGO4y9xfy2CD/VjDFvZ4dj55HWgH1FAooAqtzaRpsl/I0mnWbM105ZmgQkkw75286slKH9Nb6034FALotH0tViI02yBBtGBFuuQQdjy5jrXifRtKFrKBpliALe5AAt02Ak2HLlTFB4I/wB1++vFx6NN9BdfiCgJmlWltaz35treGHjny3dxheLwLzxz5mmNRbP468+n/ItSWYKCTsBzPSgIV0iNqEBZFP6GXmM+a0tWKP3s36NPRLX5I/WattxeGWYyR8QyvBFgbqrblsfrNjYeQGTgZqM15aW4DX1xFBCeDAySWVfgqo5lQdy3nvjapSbekCdqEcZuJcxqcm1+SP8ANNZjjjElvhF9Nl8v2XqA+saXqExFlfxtM6hGhY8DNg5UpxY8QJJHkeR6jYly5OSVVhJ3inBAV/gn1hTkg53UnfIwamUZRepLQLBRWm2nWeMMoIIOGVuakcwa3VUBVT1zVGtL429sA1y9wzb7hB3IGatlczvrwf3vve9O63ZUZ6CIYrvj185PfwCNe2t/NEsk13cMcQ8pCAOmwpMnafVNDdkmlku7Ro5keOU5KgtuVPPPq5Vb7vUYXs0XABC29c57SzoVfBHwZf5q1caCt9s4+hVnc9EvINQglvLSQSQTuHjYeYKJXrV5QsQQgsnC0sqj5SIMke08Ix0Jqn+4nK8vY+UNnhS9lVT6vCf6mrXrOzhzsq203twUbH2KaycirtXSr+m0WQk1W5a1jYEh5WYpk8mbOGJHQsrbdEUcia0W2jG6iaeUl3PiZmOSahdsJGt7iCU7IJZFPz945H8CPtrZZ6+sdvwhtsb17KK5KlTh5ZDK72k01Iw23LpU3sJr82otNpt45ku7cK0Uj794hPCOLqQSFJ81ffkKXdo9USRWPEKUe5t3lz22aSPeOKDxny3kTH3Z9hrTtp7mHJ2eUtorvTOyabKFuI+Engk8AzzYcIdCfWF4lPXApzSHTxmWzxnwlAfn7lz+cU+r5ouFcr90LTrq01STWbRGkhabgnVRkoREPFjpjn0xXVKUSemN9ab8Cu1FzpnyQOGSdoMxAcflH59KRzTXes3YstPiaedw/hUZwM7k9AOtdruexPZu9ZJZ9JgDt73yYsx54jg5CkCp9lo2maPYzx6XYwWytb3Ibu0wWw4AyeZ9ta66rTCO64Pl/CvEk9hNDXs5oY0pX42hkzI/67lVLH7SfZTm/gMsKtGFMsTcaBuTHBBB+cEj1Zos/jrz6f8AItSqxJzlOTlLyyxTtY0+HUbB7aUkRsvgkPwl4cDJ6EYAboVBxjNc11bTde0hnDWVxcQg4E1uhcf7gMlT8+3Qkb12m7t1a74F8Hexs/EvNXXhCsPXg49YAHKokJ7oCaIcBWOGUAcuFyQyfNsSOhPTavViZs8b01tfRDWzhCWHaDWpDHZaZdY+VLNGY40HmSzYAFdM7Fdlo+ztkYnPf3lwf07gY4jjZBncbEjfkGZjjIAumol2mZS20Yi4BjIDu5XiI8yMAj1+zGpLaPwxgYSWdoSPMIoYkZ/aK5J5nNdsvqdmRDtpcY/j5/YS0btLiLt75Y8QwQjY+GScsw9WwA9Q9dM6wAAMCs1mkhSh/TW+tN+BTeoD2knftIWUKZjJufIx8P30BET4Ef7r99eLj0ab6C6/EFSo7VjGhWSNgvc5IO3gO9YazeaCRY5I24opkBByMu2RQEqz+OvPp/yLUqtFvE0clwzEYkk4hjpwqP6VvoCHcenwfQy/elLV9FP1S1/mam8sBe5jlDABEdcY55x/5S9IIy8lotzGZkt4VZPNQhJ4j6jn+FAe9Q9Ik+e1/GNZj+Mt/rsv8slEjW93dyRw3UTS8ML8AOSFRy2fbyqQtqwaM8Y8E7y8uYIYY/7UBLooooArBAIwRkVmigFqaPApt8M6iBiyiPCcWWzuRuR6s4PmDXvSrOWy98ROVMJlZ4guBgEkkYA6nqfZU+igCiiigCotxY2913wuIxIkyKjqx2IUkj+LGpVFAL/7N4buCeKZwsSBGRmJDAZxvkbjJ5558s70wHKiigCiiigP/9k="/>
          <p:cNvSpPr>
            <a:spLocks noChangeAspect="1" noChangeArrowheads="1"/>
          </p:cNvSpPr>
          <p:nvPr/>
        </p:nvSpPr>
        <p:spPr bwMode="auto">
          <a:xfrm>
            <a:off x="155575" y="-800100"/>
            <a:ext cx="1676400" cy="16764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 descr="C:\Documents and Settings\supriya\Desktop\220px-EfektMeisnera.sv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295400"/>
            <a:ext cx="6553200" cy="55626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1219200" y="457201"/>
            <a:ext cx="6324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 err="1" smtClean="0">
                <a:solidFill>
                  <a:srgbClr val="FF0000"/>
                </a:solidFill>
                <a:latin typeface="Comic Sans MS" pitchFamily="66" charset="0"/>
              </a:rPr>
              <a:t>Meissner</a:t>
            </a:r>
            <a:r>
              <a:rPr lang="en-US" sz="4800" dirty="0" smtClean="0">
                <a:solidFill>
                  <a:srgbClr val="FF0000"/>
                </a:solidFill>
                <a:latin typeface="Comic Sans MS" pitchFamily="66" charset="0"/>
              </a:rPr>
              <a:t> effect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85800"/>
            <a:ext cx="7467600" cy="5788152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B=µ</a:t>
            </a:r>
            <a:r>
              <a:rPr lang="en-US" sz="900" b="1" dirty="0" smtClean="0"/>
              <a:t>0 </a:t>
            </a:r>
            <a:r>
              <a:rPr lang="en-US" b="1" dirty="0" smtClean="0"/>
              <a:t>(H + M)       -------------------Normal state</a:t>
            </a:r>
          </a:p>
          <a:p>
            <a:pPr>
              <a:buNone/>
            </a:pPr>
            <a:endParaRPr lang="en-US" sz="900" b="1" dirty="0" smtClean="0"/>
          </a:p>
          <a:p>
            <a:pPr>
              <a:buNone/>
            </a:pPr>
            <a:r>
              <a:rPr lang="en-US" b="1" dirty="0" smtClean="0"/>
              <a:t> At T&lt; </a:t>
            </a:r>
            <a:r>
              <a:rPr lang="en-US" b="1" dirty="0" err="1" smtClean="0"/>
              <a:t>Tc</a:t>
            </a:r>
            <a:r>
              <a:rPr lang="en-US" b="1" dirty="0" smtClean="0"/>
              <a:t>  ,B = 0</a:t>
            </a:r>
          </a:p>
          <a:p>
            <a:pPr>
              <a:buNone/>
            </a:pPr>
            <a:r>
              <a:rPr lang="en-US" b="1" dirty="0" smtClean="0"/>
              <a:t> therefore, </a:t>
            </a:r>
          </a:p>
          <a:p>
            <a:pPr>
              <a:buNone/>
            </a:pPr>
            <a:r>
              <a:rPr lang="en-US" b="1" dirty="0" smtClean="0"/>
              <a:t>  </a:t>
            </a:r>
            <a:r>
              <a:rPr lang="en-US" dirty="0" smtClean="0"/>
              <a:t>µ</a:t>
            </a:r>
            <a:r>
              <a:rPr lang="en-US" sz="900" b="1" dirty="0" smtClean="0"/>
              <a:t>0 </a:t>
            </a:r>
            <a:r>
              <a:rPr lang="en-US" b="1" dirty="0" smtClean="0"/>
              <a:t>(H + M) = 0   ------Superconducting state</a:t>
            </a:r>
          </a:p>
          <a:p>
            <a:pPr>
              <a:buNone/>
            </a:pPr>
            <a:r>
              <a:rPr lang="en-US" b="1" dirty="0" smtClean="0"/>
              <a:t>        H + M =0</a:t>
            </a:r>
          </a:p>
          <a:p>
            <a:pPr>
              <a:buNone/>
            </a:pPr>
            <a:r>
              <a:rPr lang="en-US" b="1" dirty="0" smtClean="0"/>
              <a:t>                M= - H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The susceptibility of material= M/H =-1</a:t>
            </a:r>
          </a:p>
          <a:p>
            <a:pPr>
              <a:buNone/>
            </a:pPr>
            <a:r>
              <a:rPr lang="en-US" b="1" dirty="0" smtClean="0"/>
              <a:t>             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Comic Sans MS" pitchFamily="66" charset="0"/>
              </a:rPr>
              <a:t>Critical field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5602" name="AutoShape 2" descr="Figure 11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603" name="Picture 3" descr="C:\Documents and Settings\supriya\Desktop\smt359_1_011i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1981200"/>
            <a:ext cx="4038600" cy="3886200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Comic Sans MS" pitchFamily="66" charset="0"/>
              </a:rPr>
              <a:t>Persistent current</a:t>
            </a:r>
            <a:br>
              <a:rPr lang="en-US" sz="3600" b="1" dirty="0" smtClean="0">
                <a:solidFill>
                  <a:srgbClr val="FF0000"/>
                </a:solidFill>
                <a:latin typeface="Comic Sans MS" pitchFamily="66" charset="0"/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24578" name="Picture 2" descr="Fig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524000"/>
            <a:ext cx="6934200" cy="44958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001000" cy="381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3600" b="1" dirty="0" smtClean="0">
                <a:solidFill>
                  <a:srgbClr val="FF0000"/>
                </a:solidFill>
                <a:latin typeface="Comic Sans MS" pitchFamily="66" charset="0"/>
              </a:rPr>
              <a:t>BCS theory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33400"/>
            <a:ext cx="8229600" cy="6248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1957 by three American physicists-John </a:t>
            </a:r>
            <a:r>
              <a:rPr lang="en-US" sz="2000" b="1" u="sng" dirty="0" smtClean="0"/>
              <a:t>B</a:t>
            </a:r>
            <a:r>
              <a:rPr lang="en-US" sz="2000" dirty="0" smtClean="0"/>
              <a:t>ardeen, Leon </a:t>
            </a:r>
            <a:r>
              <a:rPr lang="en-US" sz="2000" b="1" u="sng" dirty="0" smtClean="0"/>
              <a:t>C</a:t>
            </a:r>
            <a:r>
              <a:rPr lang="en-US" sz="2000" dirty="0" smtClean="0"/>
              <a:t>ooper, and John </a:t>
            </a:r>
            <a:r>
              <a:rPr lang="en-US" sz="2000" b="1" u="sng" dirty="0" smtClean="0"/>
              <a:t>S</a:t>
            </a:r>
            <a:r>
              <a:rPr lang="en-US" sz="2000" dirty="0" smtClean="0"/>
              <a:t>chrieffer-----------------</a:t>
            </a:r>
            <a:r>
              <a:rPr lang="en-US" sz="2000" b="1" u="sng" dirty="0" smtClean="0"/>
              <a:t>BCS Theory</a:t>
            </a:r>
            <a:r>
              <a:rPr lang="en-US" sz="2000" dirty="0" smtClean="0"/>
              <a:t>. </a:t>
            </a:r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  <a:buNone/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Coulomb  attraction between free electron and   ions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 second free electron passing nearby ,takes advantage of deformation to lower its energy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Electron  - Lattice – Electron  interaction.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First electron emits phonon absorbed by second electron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In such interaction ,electrons have same energy &amp; equal &amp; opposite spin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Cooper pair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Attraction in cooper pair is very </a:t>
            </a:r>
            <a:r>
              <a:rPr lang="en-US" sz="2000" dirty="0" err="1" smtClean="0"/>
              <a:t>weaK</a:t>
            </a: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Can be </a:t>
            </a:r>
            <a:r>
              <a:rPr lang="en-US" sz="2000" dirty="0" err="1" smtClean="0"/>
              <a:t>seperated</a:t>
            </a:r>
            <a:r>
              <a:rPr lang="en-US" sz="2000" dirty="0" smtClean="0"/>
              <a:t> by increasing temp.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Low temp  --</a:t>
            </a:r>
            <a:r>
              <a:rPr lang="en-US" sz="2000" dirty="0" smtClean="0">
                <a:sym typeface="Wingdings" pitchFamily="2" charset="2"/>
              </a:rPr>
              <a:t> large density  small velocity for large current  collisions reduced  resistivity decreases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ym typeface="Wingdings" pitchFamily="2" charset="2"/>
              </a:rPr>
              <a:t>Critical field, </a:t>
            </a:r>
            <a:r>
              <a:rPr lang="en-US" sz="2000" dirty="0" err="1" smtClean="0">
                <a:sym typeface="Wingdings" pitchFamily="2" charset="2"/>
              </a:rPr>
              <a:t>Meissner</a:t>
            </a:r>
            <a:r>
              <a:rPr lang="en-US" sz="2000" dirty="0" smtClean="0">
                <a:sym typeface="Wingdings" pitchFamily="2" charset="2"/>
              </a:rPr>
              <a:t> effect ,isotopic effect.</a:t>
            </a: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ym typeface="Wingdings" pitchFamily="2" charset="2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ym typeface="Wingdings" pitchFamily="2" charset="2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ym typeface="Wingdings" pitchFamily="2" charset="2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sym typeface="Wingdings" pitchFamily="2" charset="2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endParaRPr lang="en-US" sz="2800" dirty="0" smtClean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219200"/>
            <a:ext cx="952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1219201"/>
            <a:ext cx="952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0000" y="1219201"/>
            <a:ext cx="952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2" dur="2000"/>
                                        <p:tgtEl>
                                          <p:spTgt spid="17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609600" y="0"/>
            <a:ext cx="7323810" cy="3371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5" descr="phonon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30415" y="3810000"/>
            <a:ext cx="375138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Comic Sans MS" pitchFamily="66" charset="0"/>
              </a:rPr>
              <a:t>TYPES OF SUPERCONDUCTOR</a:t>
            </a:r>
            <a:endParaRPr lang="en-US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>
              <a:latin typeface="Comic Sans MS" pitchFamily="66" charset="0"/>
            </a:endParaRPr>
          </a:p>
          <a:p>
            <a:pPr>
              <a:buNone/>
            </a:pPr>
            <a:endParaRPr lang="en-US" dirty="0" smtClean="0">
              <a:latin typeface="Comic Sans MS" pitchFamily="66" charset="0"/>
            </a:endParaRPr>
          </a:p>
          <a:p>
            <a:pPr algn="ctr"/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Comic Sans MS" pitchFamily="66" charset="0"/>
              </a:rPr>
              <a:t>TYPE I SUPERCONDUCTOR</a:t>
            </a:r>
          </a:p>
          <a:p>
            <a:pPr>
              <a:buNone/>
            </a:pPr>
            <a:endParaRPr lang="en-US" dirty="0" smtClean="0">
              <a:latin typeface="Comic Sans MS" pitchFamily="66" charset="0"/>
            </a:endParaRPr>
          </a:p>
          <a:p>
            <a:pPr>
              <a:buNone/>
            </a:pPr>
            <a:endParaRPr lang="en-US" dirty="0" smtClean="0">
              <a:latin typeface="Comic Sans MS" pitchFamily="66" charset="0"/>
            </a:endParaRPr>
          </a:p>
          <a:p>
            <a:pPr algn="ctr"/>
            <a:r>
              <a:rPr lang="en-US" b="1" dirty="0" smtClean="0">
                <a:solidFill>
                  <a:srgbClr val="00B050"/>
                </a:solidFill>
                <a:latin typeface="Comic Sans MS" pitchFamily="66" charset="0"/>
              </a:rPr>
              <a:t>TYPE II SUPERCONDUCTOR</a:t>
            </a:r>
            <a:endParaRPr lang="en-US" b="1" dirty="0">
              <a:solidFill>
                <a:srgbClr val="00B05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B050"/>
                </a:solidFill>
                <a:latin typeface="Comic Sans MS" pitchFamily="66" charset="0"/>
              </a:rPr>
              <a:t>        TYPE I SUPERCONDUCTOR</a:t>
            </a:r>
            <a:endParaRPr lang="en-US" dirty="0"/>
          </a:p>
        </p:txBody>
      </p:sp>
      <p:pic>
        <p:nvPicPr>
          <p:cNvPr id="4" name="il_fi" descr="http://www.ornl.gov/info/reports/m/ornlm3063r1/fig10.gif"/>
          <p:cNvPicPr>
            <a:picLocks noGrp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762000"/>
            <a:ext cx="34290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886200" y="838200"/>
            <a:ext cx="48006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200" dirty="0" smtClean="0"/>
              <a:t>It shows complete </a:t>
            </a:r>
            <a:r>
              <a:rPr lang="en-US" sz="2200" dirty="0" err="1" smtClean="0"/>
              <a:t>Meissner</a:t>
            </a:r>
            <a:r>
              <a:rPr lang="en-US" sz="2200" dirty="0" smtClean="0"/>
              <a:t> effect.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In type   I superconductor ,the transition from a superconducting state to normal state occurs sharply at the critical value </a:t>
            </a:r>
            <a:r>
              <a:rPr lang="en-US" sz="2200" dirty="0" err="1" smtClean="0"/>
              <a:t>H</a:t>
            </a:r>
            <a:r>
              <a:rPr lang="en-US" sz="2200" baseline="-25000" dirty="0" err="1" smtClean="0"/>
              <a:t>c</a:t>
            </a:r>
            <a:r>
              <a:rPr lang="en-US" sz="2200" dirty="0" smtClean="0"/>
              <a:t> </a:t>
            </a:r>
            <a:r>
              <a:rPr lang="en-US" sz="2200" baseline="-25000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 magnetization in the specimen is proportional to the applied  field and the specimen act as perfect diamagnetic.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H&gt; </a:t>
            </a:r>
            <a:r>
              <a:rPr lang="en-US" sz="2200" dirty="0" err="1" smtClean="0"/>
              <a:t>H</a:t>
            </a:r>
            <a:r>
              <a:rPr lang="en-US" sz="2200" baseline="-25000" dirty="0" err="1" smtClean="0"/>
              <a:t>c</a:t>
            </a:r>
            <a:r>
              <a:rPr lang="en-US" sz="2200" dirty="0" smtClean="0"/>
              <a:t>  , the magnetization is </a:t>
            </a:r>
            <a:r>
              <a:rPr lang="en-US" sz="2200" dirty="0" err="1" smtClean="0"/>
              <a:t>nigligible</a:t>
            </a:r>
            <a:r>
              <a:rPr lang="en-US" sz="2200" dirty="0" smtClean="0"/>
              <a:t> and specimen becomes normal conductor.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Also called as soft superconductor.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Example: </a:t>
            </a:r>
            <a:r>
              <a:rPr lang="en-US" sz="2200" dirty="0" err="1" smtClean="0"/>
              <a:t>Aluminium</a:t>
            </a:r>
            <a:r>
              <a:rPr lang="en-US" sz="2200" dirty="0" smtClean="0"/>
              <a:t> ,Lead.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  <a:latin typeface="Comic Sans MS" pitchFamily="66" charset="0"/>
              </a:rPr>
              <a:t>    TYPE II SUPERCONDUCTOR</a:t>
            </a:r>
            <a:br>
              <a:rPr lang="en-US" b="1" dirty="0" smtClean="0">
                <a:solidFill>
                  <a:srgbClr val="00B050"/>
                </a:solidFill>
                <a:latin typeface="Comic Sans MS" pitchFamily="66" charset="0"/>
              </a:rPr>
            </a:br>
            <a:endParaRPr lang="en-US" dirty="0"/>
          </a:p>
        </p:txBody>
      </p:sp>
      <p:pic>
        <p:nvPicPr>
          <p:cNvPr id="6" name="il_fi" descr="http://www.ornl.gov/info/reports/m/ornlm3063r1/fig11.gif"/>
          <p:cNvPicPr>
            <a:picLocks noGrp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00200"/>
            <a:ext cx="38862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267200" y="1371600"/>
            <a:ext cx="44196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Characterized by two critical fields  H</a:t>
            </a:r>
            <a:r>
              <a:rPr lang="en-US" sz="2400" baseline="-25000" dirty="0" smtClean="0"/>
              <a:t>c1 </a:t>
            </a:r>
            <a:r>
              <a:rPr lang="en-US" sz="2400" dirty="0" smtClean="0"/>
              <a:t>&amp; H</a:t>
            </a:r>
            <a:r>
              <a:rPr lang="en-US" sz="2400" baseline="-25000" dirty="0" smtClean="0"/>
              <a:t>c2</a:t>
            </a:r>
          </a:p>
          <a:p>
            <a:endParaRPr lang="en-US" sz="2400" baseline="-250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It exists in 3 state-</a:t>
            </a:r>
          </a:p>
          <a:p>
            <a:r>
              <a:rPr lang="en-US" sz="2400" dirty="0" smtClean="0"/>
              <a:t>                Superconducting</a:t>
            </a:r>
          </a:p>
          <a:p>
            <a:r>
              <a:rPr lang="en-US" sz="2400" dirty="0" smtClean="0"/>
              <a:t>                Mixed</a:t>
            </a:r>
          </a:p>
          <a:p>
            <a:r>
              <a:rPr lang="en-US" sz="2400" dirty="0" smtClean="0"/>
              <a:t>                Normal</a:t>
            </a:r>
          </a:p>
          <a:p>
            <a:r>
              <a:rPr lang="en-US" sz="2400" dirty="0" smtClean="0"/>
              <a:t>Hard superconductor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81000"/>
            <a:ext cx="7467600" cy="609295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Up to Hc1 , The system is in pure superconducting state .  Up to this state , the magnetic flux is completely expelled from the super conductor, the specimen is completely diamagnetic.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After Hc1 and before Hc2 , The system is in Mixed State .  In this state ,</a:t>
            </a:r>
            <a:r>
              <a:rPr lang="en-US" dirty="0" err="1" smtClean="0"/>
              <a:t>Maissner</a:t>
            </a:r>
            <a:r>
              <a:rPr lang="en-US" dirty="0" smtClean="0"/>
              <a:t> effect is incomplete, but </a:t>
            </a:r>
            <a:r>
              <a:rPr lang="en-US" dirty="0" err="1" smtClean="0"/>
              <a:t>ellectrically</a:t>
            </a:r>
            <a:r>
              <a:rPr lang="en-US" dirty="0" smtClean="0"/>
              <a:t> specimen is superconductor.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Mixed state is also called as Vortex state as the specimen is magnetically mixed, but electrically it is superconductor.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Value of Hc2 is 100 times more than </a:t>
            </a:r>
            <a:r>
              <a:rPr lang="en-US" dirty="0" err="1" smtClean="0"/>
              <a:t>Hc</a:t>
            </a:r>
            <a:r>
              <a:rPr lang="en-US" dirty="0" smtClean="0"/>
              <a:t>. </a:t>
            </a:r>
          </a:p>
          <a:p>
            <a:r>
              <a:rPr lang="en-US" dirty="0" smtClean="0"/>
              <a:t>Above Hc2,Specimen becomes normal conductor.</a:t>
            </a:r>
          </a:p>
          <a:p>
            <a:r>
              <a:rPr lang="en-US" dirty="0" smtClean="0"/>
              <a:t>It is also called as hard superconductor.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Josephson effect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 descr="http://hyperphysics.phy-astr.gsu.edu/hbase/Solids/imgsol/jjun.png"/>
          <p:cNvPicPr>
            <a:picLocks noGrp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05000"/>
            <a:ext cx="7391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r>
              <a:rPr lang="en-US" dirty="0" smtClean="0"/>
              <a:t>High temperature superconductor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483352"/>
          </a:xfrm>
        </p:spPr>
        <p:txBody>
          <a:bodyPr>
            <a:normAutofit/>
          </a:bodyPr>
          <a:lstStyle/>
          <a:p>
            <a:r>
              <a:rPr lang="en-US" dirty="0" smtClean="0"/>
              <a:t>In 1911,Kamerlingh </a:t>
            </a:r>
            <a:r>
              <a:rPr lang="en-US" dirty="0" err="1" smtClean="0"/>
              <a:t>onnes</a:t>
            </a:r>
            <a:r>
              <a:rPr lang="en-US" dirty="0" smtClean="0"/>
              <a:t> discovered superconductivity in mercury at critical temp.4.2 k</a:t>
            </a:r>
          </a:p>
          <a:p>
            <a:r>
              <a:rPr lang="en-US" dirty="0" smtClean="0"/>
              <a:t>Till about 1986,the highest critical </a:t>
            </a:r>
            <a:r>
              <a:rPr lang="en-US" dirty="0" err="1" smtClean="0"/>
              <a:t>temp.was</a:t>
            </a:r>
            <a:r>
              <a:rPr lang="en-US" dirty="0" smtClean="0"/>
              <a:t> observed to be nearly 20k</a:t>
            </a:r>
          </a:p>
          <a:p>
            <a:r>
              <a:rPr lang="en-US" dirty="0" smtClean="0"/>
              <a:t>In 1986,an Oxides of lanthanum ,barium, and copper( La</a:t>
            </a:r>
            <a:r>
              <a:rPr lang="en-US" baseline="-25000" dirty="0" smtClean="0"/>
              <a:t>1.85</a:t>
            </a:r>
            <a:r>
              <a:rPr lang="en-US" dirty="0" smtClean="0"/>
              <a:t> Ba</a:t>
            </a:r>
            <a:r>
              <a:rPr lang="en-US" baseline="-25000" dirty="0" smtClean="0"/>
              <a:t>0..15</a:t>
            </a:r>
            <a:r>
              <a:rPr lang="en-US" dirty="0" smtClean="0"/>
              <a:t> CuO</a:t>
            </a:r>
            <a:r>
              <a:rPr lang="en-US" baseline="-25000" dirty="0" smtClean="0"/>
              <a:t>4</a:t>
            </a:r>
            <a:r>
              <a:rPr lang="en-US" dirty="0" smtClean="0"/>
              <a:t> )was observed  to have critical temp. of 36K .</a:t>
            </a:r>
          </a:p>
          <a:p>
            <a:r>
              <a:rPr lang="en-US" dirty="0" smtClean="0"/>
              <a:t>In 1987,an Oxides of yttrium ,barium, and copper     ( Y Ba</a:t>
            </a:r>
            <a:r>
              <a:rPr lang="en-US" baseline="-25000" dirty="0" smtClean="0"/>
              <a:t>2</a:t>
            </a:r>
            <a:r>
              <a:rPr lang="en-US" dirty="0" smtClean="0"/>
              <a:t>Cu</a:t>
            </a:r>
            <a:r>
              <a:rPr lang="en-US" baseline="-25000" dirty="0" smtClean="0"/>
              <a:t>3</a:t>
            </a:r>
            <a:r>
              <a:rPr lang="en-US" dirty="0" smtClean="0"/>
              <a:t>O</a:t>
            </a:r>
            <a:r>
              <a:rPr lang="en-US" baseline="-25000" dirty="0" smtClean="0"/>
              <a:t>7</a:t>
            </a:r>
            <a:r>
              <a:rPr lang="en-US" dirty="0" smtClean="0"/>
              <a:t> )was observed  to have critical temp. of 90K .</a:t>
            </a:r>
          </a:p>
          <a:p>
            <a:r>
              <a:rPr lang="en-US" dirty="0" smtClean="0"/>
              <a:t>Oxides of thallium ,barium, calcium and copper        ( Tl</a:t>
            </a:r>
            <a:r>
              <a:rPr lang="en-US" baseline="-25000" dirty="0" smtClean="0"/>
              <a:t>2</a:t>
            </a:r>
            <a:r>
              <a:rPr lang="en-US" dirty="0" smtClean="0"/>
              <a:t> Ba</a:t>
            </a:r>
            <a:r>
              <a:rPr lang="en-US" baseline="-25000" dirty="0" smtClean="0"/>
              <a:t>2</a:t>
            </a:r>
            <a:r>
              <a:rPr lang="en-US" dirty="0" smtClean="0"/>
              <a:t> Ca</a:t>
            </a:r>
            <a:r>
              <a:rPr lang="en-US" baseline="-25000" dirty="0" smtClean="0"/>
              <a:t>2</a:t>
            </a:r>
            <a:r>
              <a:rPr lang="en-US" dirty="0" smtClean="0"/>
              <a:t>Cu</a:t>
            </a:r>
            <a:r>
              <a:rPr lang="en-US" baseline="-25000" dirty="0" smtClean="0"/>
              <a:t>3</a:t>
            </a:r>
            <a:r>
              <a:rPr lang="en-US" dirty="0" smtClean="0"/>
              <a:t>O</a:t>
            </a:r>
            <a:r>
              <a:rPr lang="en-US" baseline="-25000" dirty="0" smtClean="0"/>
              <a:t>10</a:t>
            </a:r>
            <a:r>
              <a:rPr lang="en-US" dirty="0" smtClean="0"/>
              <a:t> )was observed  to have critical temp. of 120K .</a:t>
            </a:r>
            <a:endParaRPr lang="en-US" smtClean="0"/>
          </a:p>
          <a:p>
            <a:endParaRPr lang="en-US" dirty="0" smtClean="0"/>
          </a:p>
          <a:p>
            <a:endParaRPr lang="en-IN" baseline="-25000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Application of superconductor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Superconducting Magnet</a:t>
            </a:r>
          </a:p>
          <a:p>
            <a:r>
              <a:rPr lang="en-US" dirty="0" smtClean="0"/>
              <a:t>Magnetic Levitation</a:t>
            </a:r>
          </a:p>
          <a:p>
            <a:r>
              <a:rPr lang="en-US" dirty="0" smtClean="0"/>
              <a:t>SQUID</a:t>
            </a:r>
          </a:p>
          <a:p>
            <a:r>
              <a:rPr lang="en-US" dirty="0" smtClean="0"/>
              <a:t>Superconducting Transmission Cable</a:t>
            </a:r>
          </a:p>
          <a:p>
            <a:r>
              <a:rPr lang="en-US" dirty="0" smtClean="0"/>
              <a:t>Bearing</a:t>
            </a:r>
          </a:p>
          <a:p>
            <a:r>
              <a:rPr lang="en-US" dirty="0" smtClean="0"/>
              <a:t>IC Fabrication</a:t>
            </a:r>
            <a:endParaRPr lang="en-IN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SQUID(Superconducting quantum interference device)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 descr="C:\Users\Admin\Downloads\graphics11.png"/>
          <p:cNvPicPr>
            <a:picLocks noGrp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752600"/>
            <a:ext cx="6400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4525</TotalTime>
  <Words>665</Words>
  <Application>Microsoft Office PowerPoint</Application>
  <PresentationFormat>On-screen Show (4:3)</PresentationFormat>
  <Paragraphs>97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Oriel</vt:lpstr>
      <vt:lpstr>SUPERCONDUCTOR</vt:lpstr>
      <vt:lpstr>Discoverer of Superconductivity</vt:lpstr>
      <vt:lpstr>Slide 3</vt:lpstr>
      <vt:lpstr>         definition………..</vt:lpstr>
      <vt:lpstr>Properties of superconductor</vt:lpstr>
      <vt:lpstr>Slide 6</vt:lpstr>
      <vt:lpstr>Slide 7</vt:lpstr>
      <vt:lpstr>Critical field</vt:lpstr>
      <vt:lpstr>Persistent current </vt:lpstr>
      <vt:lpstr>BCS theory</vt:lpstr>
      <vt:lpstr>Slide 11</vt:lpstr>
      <vt:lpstr>TYPES OF SUPERCONDUCTOR</vt:lpstr>
      <vt:lpstr>        TYPE I SUPERCONDUCTOR</vt:lpstr>
      <vt:lpstr>    TYPE II SUPERCONDUCTOR </vt:lpstr>
      <vt:lpstr>Slide 15</vt:lpstr>
      <vt:lpstr>Josephson effect</vt:lpstr>
      <vt:lpstr>High temperature superconductor</vt:lpstr>
      <vt:lpstr>Application of superconductor</vt:lpstr>
      <vt:lpstr>SQUID(Superconducting quantum interference device)</vt:lpstr>
      <vt:lpstr>Slide 20</vt:lpstr>
    </vt:vector>
  </TitlesOfParts>
  <Company>DPCOE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SUPERCONDUCTOR</dc:title>
  <dc:creator>supriya</dc:creator>
  <cp:lastModifiedBy>Admin</cp:lastModifiedBy>
  <cp:revision>65</cp:revision>
  <dcterms:created xsi:type="dcterms:W3CDTF">2012-11-02T05:52:49Z</dcterms:created>
  <dcterms:modified xsi:type="dcterms:W3CDTF">2022-06-28T05:11:25Z</dcterms:modified>
</cp:coreProperties>
</file>