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70" r:id="rId2"/>
    <p:sldId id="269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331" r:id="rId29"/>
    <p:sldId id="332" r:id="rId30"/>
    <p:sldId id="333" r:id="rId31"/>
    <p:sldId id="334" r:id="rId32"/>
    <p:sldId id="336" r:id="rId33"/>
    <p:sldId id="337" r:id="rId34"/>
    <p:sldId id="338" r:id="rId35"/>
    <p:sldId id="339" r:id="rId36"/>
    <p:sldId id="340" r:id="rId37"/>
    <p:sldId id="341" r:id="rId38"/>
    <p:sldId id="343" r:id="rId39"/>
    <p:sldId id="344" r:id="rId40"/>
    <p:sldId id="382" r:id="rId41"/>
    <p:sldId id="302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2417" autoAdjust="0"/>
    <p:restoredTop sz="92705" autoAdjust="0"/>
  </p:normalViewPr>
  <p:slideViewPr>
    <p:cSldViewPr>
      <p:cViewPr varScale="1">
        <p:scale>
          <a:sx n="79" d="100"/>
          <a:sy n="79" d="100"/>
        </p:scale>
        <p:origin x="-88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9D51B-505C-41E3-94C4-A71543C76588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12B42-618D-49BA-9445-85BDD6FDEA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1017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2F46C-7321-4DE7-B21B-DE3AA31BE5C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41862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2F46C-7321-4DE7-B21B-DE3AA31BE5C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62769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19E9AA8-DCE8-45B9-97D9-0D20AD7D73C3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8DD6844-AE2C-4D7D-913C-EA203706375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87045" name="Date Placeholder 7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Unit-II: Semiconductor Devices and Circuits</a:t>
            </a:r>
          </a:p>
        </p:txBody>
      </p:sp>
      <p:sp>
        <p:nvSpPr>
          <p:cNvPr id="87046" name="Footer Placeholder 8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Sinhgad College of Engineering, Pune - 41</a:t>
            </a:r>
          </a:p>
        </p:txBody>
      </p:sp>
      <p:sp>
        <p:nvSpPr>
          <p:cNvPr id="87047" name="Header Placeholder 9"/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FE - BEE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IN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BAC60D4-85D7-4BF5-AE60-E783391BD10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IN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2E35110-D95D-492E-999C-5D9A3C456187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3166B-D482-44F7-AD11-3B13CB3A0934}" type="datetime3">
              <a:rPr lang="en-US" smtClean="0"/>
              <a:pPr/>
              <a:t>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68608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674F4-3C8B-41B9-857F-12CD124A5939}" type="datetime3">
              <a:rPr lang="en-US" smtClean="0"/>
              <a:pPr/>
              <a:t>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74274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2C35-D02D-4065-BF99-D067A0D19AB4}" type="datetime3">
              <a:rPr lang="en-US" smtClean="0"/>
              <a:pPr/>
              <a:t>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2904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5C50-5884-40B4-9E17-87A3AEE202B4}" type="datetime3">
              <a:rPr lang="en-US" smtClean="0"/>
              <a:pPr/>
              <a:t>9 October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9469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18CF-15B3-493D-A088-0B206B6757FD}" type="datetime3">
              <a:rPr lang="en-US" smtClean="0"/>
              <a:pPr/>
              <a:t>9 October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82396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FFF0-3C6C-4E6F-BF7C-62327901E9F9}" type="datetime3">
              <a:rPr lang="en-US" smtClean="0"/>
              <a:pPr/>
              <a:t>9 October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12224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6B75-D2B0-4B1E-B32C-79CA10374F5D}" type="datetime3">
              <a:rPr lang="en-US" smtClean="0"/>
              <a:pPr/>
              <a:t>9 October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774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BC9B-D611-404E-AE96-EE019FCFE839}" type="datetime3">
              <a:rPr lang="en-US" smtClean="0"/>
              <a:pPr/>
              <a:t>9 October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98879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AD908-4F98-4EAB-AF18-672A87276153}" type="datetime3">
              <a:rPr lang="en-US" smtClean="0"/>
              <a:pPr/>
              <a:t>9 October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40889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B34A6-EE7B-4B54-9FA7-971678EBEA0A}" type="datetime3">
              <a:rPr lang="en-US" smtClean="0"/>
              <a:pPr/>
              <a:t>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62565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2080D-AA6D-44FE-9CAD-C5AC346CD1B0}" type="datetime3">
              <a:rPr lang="en-US" smtClean="0"/>
              <a:pPr/>
              <a:t>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27639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82EFB16-FB1E-4781-B705-ACA159927491}" type="datetime3">
              <a:rPr lang="en-US" smtClean="0"/>
              <a:pPr>
                <a:defRPr/>
              </a:pPr>
              <a:t>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ABEAA-5A39-46C5-99E2-4394FB4ACE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9148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7F490-F509-4B9B-8A56-E17BDC1D6061}" type="datetime3">
              <a:rPr lang="en-US" smtClean="0"/>
              <a:pPr/>
              <a:t>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3620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0625" y="4038600"/>
            <a:ext cx="6350209" cy="1752601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Presented by</a:t>
            </a:r>
          </a:p>
          <a:p>
            <a:pPr algn="ctr"/>
            <a:r>
              <a:rPr lang="en-US" sz="2000" b="1" dirty="0">
                <a:solidFill>
                  <a:srgbClr val="7030A0"/>
                </a:solidFill>
              </a:rPr>
              <a:t>Mr. Aniruddha Nirmal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Assistant Professor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Department </a:t>
            </a:r>
            <a:r>
              <a:rPr lang="en-US" sz="2000" b="1" dirty="0" smtClean="0">
                <a:solidFill>
                  <a:schemeClr val="tx1"/>
                </a:solidFill>
              </a:rPr>
              <a:t>of First Year </a:t>
            </a:r>
            <a:r>
              <a:rPr lang="en-US" sz="2000" b="1" dirty="0">
                <a:solidFill>
                  <a:schemeClr val="tx1"/>
                </a:solidFill>
              </a:rPr>
              <a:t>Engineering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DPCOE Pune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600200" y="2133600"/>
            <a:ext cx="6553200" cy="144780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2800" b="1" dirty="0">
                <a:solidFill>
                  <a:srgbClr val="7030A0"/>
                </a:solidFill>
              </a:rPr>
              <a:t>Basic Electronics </a:t>
            </a:r>
            <a:r>
              <a:rPr lang="en-US" sz="12800" b="1" dirty="0" smtClean="0">
                <a:solidFill>
                  <a:srgbClr val="7030A0"/>
                </a:solidFill>
              </a:rPr>
              <a:t>Engineering</a:t>
            </a:r>
            <a:r>
              <a:rPr lang="en-US" sz="11200" dirty="0">
                <a:solidFill>
                  <a:srgbClr val="7030A0"/>
                </a:solidFill>
              </a:rPr>
              <a:t/>
            </a:r>
            <a:br>
              <a:rPr lang="en-US" sz="11200" dirty="0">
                <a:solidFill>
                  <a:srgbClr val="7030A0"/>
                </a:solidFill>
              </a:rPr>
            </a:br>
            <a:r>
              <a:rPr lang="en-US" sz="11200" dirty="0">
                <a:solidFill>
                  <a:srgbClr val="FF0000"/>
                </a:solidFill>
              </a:rPr>
              <a:t>FE </a:t>
            </a:r>
            <a:r>
              <a:rPr lang="en-US" sz="11200" dirty="0" smtClean="0">
                <a:solidFill>
                  <a:srgbClr val="FF0000"/>
                </a:solidFill>
              </a:rPr>
              <a:t>2024 </a:t>
            </a:r>
            <a:r>
              <a:rPr lang="en-US" sz="11200" dirty="0">
                <a:solidFill>
                  <a:srgbClr val="FF0000"/>
                </a:solidFill>
              </a:rPr>
              <a:t>Course</a:t>
            </a:r>
            <a:endParaRPr lang="en-US" sz="12800" dirty="0">
              <a:solidFill>
                <a:srgbClr val="7030A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48347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334499" cy="685800"/>
          </a:xfrm>
        </p:spPr>
        <p:txBody>
          <a:bodyPr>
            <a:noAutofit/>
          </a:bodyPr>
          <a:lstStyle/>
          <a:p>
            <a:pPr marL="457200" indent="-457200" algn="l">
              <a:buBlip>
                <a:blip r:embed="rId3"/>
              </a:buBlip>
            </a:pPr>
            <a:r>
              <a:rPr lang="en-US" sz="3600" b="1" dirty="0">
                <a:solidFill>
                  <a:srgbClr val="C00000"/>
                </a:solidFill>
              </a:rPr>
              <a:t>Unit II : </a:t>
            </a:r>
            <a:r>
              <a:rPr lang="en-US" sz="3600" b="1" dirty="0" smtClean="0">
                <a:solidFill>
                  <a:srgbClr val="C00000"/>
                </a:solidFill>
              </a:rPr>
              <a:t>Transistors And Technology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8382000" cy="5867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buBlip>
                <a:blip r:embed="rId3"/>
              </a:buBlip>
            </a:pPr>
            <a:r>
              <a:rPr lang="en-US" sz="4600" b="1" dirty="0">
                <a:solidFill>
                  <a:srgbClr val="00B0F0"/>
                </a:solidFill>
              </a:rPr>
              <a:t>Syllabus</a:t>
            </a:r>
          </a:p>
          <a:p>
            <a:pPr marL="0" lvl="0" indent="0">
              <a:buNone/>
            </a:pPr>
            <a:r>
              <a:rPr lang="en-US" b="1" dirty="0">
                <a:solidFill>
                  <a:srgbClr val="0000FF"/>
                </a:solidFill>
              </a:rPr>
              <a:t>Bipolar Junction Transistor (BJT): </a:t>
            </a:r>
            <a:endParaRPr lang="en-US" dirty="0">
              <a:solidFill>
                <a:srgbClr val="0000FF"/>
              </a:solidFill>
            </a:endParaRPr>
          </a:p>
          <a:p>
            <a:pPr lvl="0"/>
            <a:r>
              <a:rPr lang="en-US" dirty="0"/>
              <a:t>Construction, type, Operation</a:t>
            </a:r>
          </a:p>
          <a:p>
            <a:pPr lvl="0"/>
            <a:r>
              <a:rPr lang="en-US" dirty="0"/>
              <a:t>V-I Characteristics</a:t>
            </a:r>
          </a:p>
          <a:p>
            <a:pPr lvl="0"/>
            <a:r>
              <a:rPr lang="en-US" dirty="0"/>
              <a:t>Region of operation </a:t>
            </a:r>
          </a:p>
          <a:p>
            <a:pPr lvl="0"/>
            <a:r>
              <a:rPr lang="en-US" dirty="0"/>
              <a:t>BJT as switch and CE amplifier </a:t>
            </a:r>
          </a:p>
          <a:p>
            <a:pPr marL="0" indent="0">
              <a:buNone/>
            </a:pPr>
            <a:r>
              <a:rPr lang="en-US" sz="3100" b="1" dirty="0" smtClean="0">
                <a:solidFill>
                  <a:srgbClr val="0000FF"/>
                </a:solidFill>
              </a:rPr>
              <a:t>Enhancement Metal </a:t>
            </a:r>
            <a:r>
              <a:rPr lang="en-US" sz="3100" b="1" dirty="0">
                <a:solidFill>
                  <a:srgbClr val="0000FF"/>
                </a:solidFill>
              </a:rPr>
              <a:t>Oxide Semiconductor Field Effect Transistors </a:t>
            </a:r>
            <a:r>
              <a:rPr lang="en-US" sz="3100" b="1" dirty="0" smtClean="0">
                <a:solidFill>
                  <a:srgbClr val="0000FF"/>
                </a:solidFill>
              </a:rPr>
              <a:t>(EMOSFET</a:t>
            </a:r>
            <a:r>
              <a:rPr lang="en-US" sz="3100" b="1" dirty="0">
                <a:solidFill>
                  <a:srgbClr val="0000FF"/>
                </a:solidFill>
              </a:rPr>
              <a:t>): </a:t>
            </a:r>
          </a:p>
          <a:p>
            <a:pPr lvl="0"/>
            <a:r>
              <a:rPr lang="en-US" dirty="0"/>
              <a:t>Construction, Types, Operation</a:t>
            </a:r>
          </a:p>
          <a:p>
            <a:pPr lvl="0"/>
            <a:r>
              <a:rPr lang="en-US" dirty="0"/>
              <a:t>V-I characteristics </a:t>
            </a:r>
          </a:p>
          <a:p>
            <a:pPr lvl="0"/>
            <a:r>
              <a:rPr lang="en-US" dirty="0"/>
              <a:t>Regions of operation</a:t>
            </a:r>
          </a:p>
          <a:p>
            <a:pPr lvl="0"/>
            <a:r>
              <a:rPr lang="en-US" dirty="0"/>
              <a:t>MOSFET as switch &amp; amplifier.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44291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sz="4000" b="1">
                <a:solidFill>
                  <a:srgbClr val="FF0000"/>
                </a:solidFill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334000"/>
          </a:xfrm>
        </p:spPr>
        <p:txBody>
          <a:bodyPr rtlCol="0">
            <a:normAutofit/>
          </a:bodyPr>
          <a:lstStyle/>
          <a:p>
            <a:pPr marL="114300" indent="-457200" algn="just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3300" b="1" dirty="0">
                <a:solidFill>
                  <a:srgbClr val="0000FF"/>
                </a:solidFill>
                <a:ea typeface="Calibri"/>
                <a:cs typeface="Times New Roman"/>
              </a:rPr>
              <a:t>Transistor (BJT) Structure </a:t>
            </a:r>
          </a:p>
          <a:p>
            <a:pPr marL="114300" indent="-457200" algn="just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3300" b="1" dirty="0">
                <a:solidFill>
                  <a:srgbClr val="0000FF"/>
                </a:solidFill>
                <a:ea typeface="Calibri"/>
                <a:cs typeface="Times New Roman"/>
              </a:rPr>
              <a:t>Transistor characteristics and parameters</a:t>
            </a:r>
          </a:p>
          <a:p>
            <a:pPr marL="114300" indent="-457200" algn="just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3300" b="1" dirty="0" smtClean="0">
                <a:solidFill>
                  <a:srgbClr val="0000FF"/>
                </a:solidFill>
                <a:ea typeface="Calibri"/>
                <a:cs typeface="Times New Roman"/>
              </a:rPr>
              <a:t>Transistor </a:t>
            </a:r>
            <a:r>
              <a:rPr lang="en-US" sz="3300" b="1" dirty="0">
                <a:solidFill>
                  <a:srgbClr val="0000FF"/>
                </a:solidFill>
                <a:ea typeface="Calibri"/>
                <a:cs typeface="Times New Roman"/>
              </a:rPr>
              <a:t>as an amplifier</a:t>
            </a:r>
          </a:p>
          <a:p>
            <a:pPr marL="114300" indent="-457200" algn="just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3300" b="1" dirty="0">
                <a:solidFill>
                  <a:srgbClr val="0000FF"/>
                </a:solidFill>
                <a:ea typeface="Calibri"/>
                <a:cs typeface="Times New Roman"/>
              </a:rPr>
              <a:t>Transistor as a switch</a:t>
            </a:r>
          </a:p>
          <a:p>
            <a:pPr marL="114300" indent="-457200" algn="just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3300" b="1" dirty="0" smtClean="0">
                <a:solidFill>
                  <a:srgbClr val="0000FF"/>
                </a:solidFill>
                <a:ea typeface="Calibri"/>
                <a:cs typeface="Times New Roman"/>
              </a:rPr>
              <a:t>EMOSFET</a:t>
            </a:r>
            <a:endParaRPr lang="en-US" sz="3300" b="1" dirty="0">
              <a:solidFill>
                <a:srgbClr val="0000FF"/>
              </a:solidFill>
              <a:ea typeface="Calibri"/>
              <a:cs typeface="Times New Roman"/>
            </a:endParaRPr>
          </a:p>
          <a:p>
            <a:pPr fontAlgn="auto">
              <a:spcAft>
                <a:spcPts val="0"/>
              </a:spcAft>
              <a:defRPr/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2E0B5B-6EEA-49DC-B3B0-27C743072D2A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10028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"/>
            <a:ext cx="8229600" cy="654050"/>
          </a:xfrm>
        </p:spPr>
        <p:txBody>
          <a:bodyPr/>
          <a:lstStyle/>
          <a:p>
            <a:r>
              <a:rPr lang="en-US" sz="3200" b="1">
                <a:solidFill>
                  <a:srgbClr val="FF0000"/>
                </a:solidFill>
              </a:rPr>
              <a:t>Introduction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400">
                <a:latin typeface="Times"/>
              </a:rPr>
              <a:t>The semiconductor device like a diode cannot amplify a signal, therefore its application area is limited.</a:t>
            </a:r>
          </a:p>
          <a:p>
            <a:pPr algn="just"/>
            <a:endParaRPr lang="en-US" sz="2400">
              <a:latin typeface="Times"/>
            </a:endParaRPr>
          </a:p>
          <a:p>
            <a:pPr algn="just"/>
            <a:r>
              <a:rPr lang="en-US" sz="2400">
                <a:latin typeface="Times"/>
              </a:rPr>
              <a:t>The next development of semiconductor device after diode is a BJT (bipolar junction transistor).</a:t>
            </a:r>
          </a:p>
          <a:p>
            <a:pPr algn="just"/>
            <a:endParaRPr lang="en-US" sz="2400">
              <a:latin typeface="Times"/>
            </a:endParaRPr>
          </a:p>
          <a:p>
            <a:pPr algn="just"/>
            <a:r>
              <a:rPr lang="en-US" sz="2400">
                <a:latin typeface="Times"/>
              </a:rPr>
              <a:t>It is a three terminal device. The terminals are – collector, emitter, and base. Out of which the base is a control terminal.</a:t>
            </a:r>
          </a:p>
          <a:p>
            <a:pPr algn="just"/>
            <a:endParaRPr lang="en-US" sz="2400">
              <a:latin typeface="Times"/>
            </a:endParaRPr>
          </a:p>
          <a:p>
            <a:pPr algn="just"/>
            <a:r>
              <a:rPr lang="en-US" sz="2400">
                <a:latin typeface="Times"/>
              </a:rPr>
              <a:t>A signal of small amplitude applied to the base is available in the “magnified” form at the collector of the transistor.</a:t>
            </a:r>
          </a:p>
          <a:p>
            <a:pPr algn="just"/>
            <a:endParaRPr lang="en-US" sz="2400">
              <a:latin typeface="Times"/>
            </a:endParaRPr>
          </a:p>
          <a:p>
            <a:pPr algn="just"/>
            <a:r>
              <a:rPr lang="en-US" sz="2400">
                <a:latin typeface="Times"/>
              </a:rPr>
              <a:t>Thus the large power signal is obtained from a small power signal.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74D97B-AC8E-46F4-ABAE-FC0C357E7AF5}" type="slidenum">
              <a:rPr lang="en-US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4370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4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tube-trans_histo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295400"/>
            <a:ext cx="4081463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155575" y="6542088"/>
            <a:ext cx="48752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Calibri" pitchFamily="34" charset="0"/>
              </a:rPr>
              <a:t>http://www.bellsystemmemorial.com/belllabs_transistor.html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History of Transistors</a:t>
            </a:r>
          </a:p>
        </p:txBody>
      </p:sp>
      <p:sp>
        <p:nvSpPr>
          <p:cNvPr id="6150" name="TextBox 1"/>
          <p:cNvSpPr txBox="1">
            <a:spLocks noChangeArrowheads="1"/>
          </p:cNvSpPr>
          <p:nvPr/>
        </p:nvSpPr>
        <p:spPr bwMode="auto">
          <a:xfrm>
            <a:off x="990600" y="5486400"/>
            <a:ext cx="7331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>
                <a:solidFill>
                  <a:srgbClr val="0000FF"/>
                </a:solidFill>
              </a:rPr>
              <a:t>1948 – The year of establishment of E&amp;TC - COEP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274D36-8992-4E81-A391-6675DE4506F3}" type="slidenum">
              <a:rPr lang="en-US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89457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3200">
                <a:solidFill>
                  <a:srgbClr val="FF0000"/>
                </a:solidFill>
              </a:rPr>
              <a:t>Why is it called transistor ?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19200"/>
            <a:ext cx="7848600" cy="2209800"/>
          </a:xfrm>
        </p:spPr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000" dirty="0">
                <a:latin typeface="Times New Roman" pitchFamily="18" charset="0"/>
              </a:rPr>
              <a:t>The term transistor was derived from the words  </a:t>
            </a:r>
            <a:r>
              <a:rPr lang="en-US" sz="3000" dirty="0">
                <a:solidFill>
                  <a:srgbClr val="0000FF"/>
                </a:solidFill>
                <a:latin typeface="Times New Roman" pitchFamily="18" charset="0"/>
              </a:rPr>
              <a:t>TRAN</a:t>
            </a:r>
            <a:r>
              <a:rPr lang="en-US" sz="3000" dirty="0">
                <a:solidFill>
                  <a:srgbClr val="FF0000"/>
                </a:solidFill>
                <a:latin typeface="Times New Roman" pitchFamily="18" charset="0"/>
              </a:rPr>
              <a:t>SFER</a:t>
            </a:r>
            <a:r>
              <a:rPr lang="en-US" sz="3000" dirty="0">
                <a:latin typeface="Times New Roman" pitchFamily="18" charset="0"/>
              </a:rPr>
              <a:t> &amp; </a:t>
            </a:r>
            <a:r>
              <a:rPr lang="en-US" sz="3000" dirty="0">
                <a:solidFill>
                  <a:srgbClr val="FF0000"/>
                </a:solidFill>
                <a:latin typeface="Times New Roman" pitchFamily="18" charset="0"/>
              </a:rPr>
              <a:t>RE</a:t>
            </a:r>
            <a:r>
              <a:rPr lang="en-US" sz="3000" dirty="0">
                <a:solidFill>
                  <a:srgbClr val="0000FF"/>
                </a:solidFill>
                <a:latin typeface="Times New Roman" pitchFamily="18" charset="0"/>
              </a:rPr>
              <a:t>SISTOR</a:t>
            </a:r>
            <a:r>
              <a:rPr lang="en-US" sz="3000" dirty="0">
                <a:latin typeface="Times New Roman" pitchFamily="18" charset="0"/>
              </a:rPr>
              <a:t>.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en-US" sz="3000" dirty="0">
              <a:latin typeface="Times New Roman" pitchFamily="18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3000" dirty="0">
                <a:latin typeface="Times New Roman" pitchFamily="18" charset="0"/>
              </a:rPr>
              <a:t>Transfers input signal current from a low resistance path to a high resistance path.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en-US" sz="3600" dirty="0">
              <a:latin typeface="Times New Roman" pitchFamily="18" charset="0"/>
            </a:endParaRPr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en-US" dirty="0">
              <a:latin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E5642F-4BB3-4D8D-95E8-03CC89DB55F2}" type="slidenum">
              <a:rPr lang="en-US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52307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54050"/>
          </a:xfrm>
        </p:spPr>
        <p:txBody>
          <a:bodyPr/>
          <a:lstStyle/>
          <a:p>
            <a:r>
              <a:rPr lang="en-US" sz="2800">
                <a:solidFill>
                  <a:schemeClr val="folHlink"/>
                </a:solidFill>
              </a:rPr>
              <a:t>N-P-N  transistor 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592263" y="2238375"/>
            <a:ext cx="958850" cy="134461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rgbClr val="FF0066"/>
                </a:solidFill>
                <a:latin typeface="Calibri" pitchFamily="34" charset="0"/>
              </a:rPr>
              <a:t>N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92263" y="4197350"/>
            <a:ext cx="958850" cy="88423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rgbClr val="FF0066"/>
                </a:solidFill>
                <a:latin typeface="Calibri" pitchFamily="34" charset="0"/>
              </a:rPr>
              <a:t>N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1592263" y="3582988"/>
            <a:ext cx="958850" cy="614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rgbClr val="FF0066"/>
                </a:solidFill>
                <a:latin typeface="Calibri" pitchFamily="34" charset="0"/>
              </a:rPr>
              <a:t>P</a:t>
            </a:r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 flipV="1">
            <a:off x="2052638" y="1624013"/>
            <a:ext cx="0" cy="6143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2152650" y="1471613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C</a:t>
            </a:r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 flipV="1">
            <a:off x="2052638" y="5080000"/>
            <a:ext cx="0" cy="614363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2128838" y="5367338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</a:t>
            </a:r>
          </a:p>
        </p:txBody>
      </p:sp>
      <p:sp>
        <p:nvSpPr>
          <p:cNvPr id="8202" name="Line 10"/>
          <p:cNvSpPr>
            <a:spLocks noChangeShapeType="1"/>
          </p:cNvSpPr>
          <p:nvPr/>
        </p:nvSpPr>
        <p:spPr bwMode="auto">
          <a:xfrm flipV="1">
            <a:off x="823913" y="3851275"/>
            <a:ext cx="7683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539750" y="392906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B</a:t>
            </a:r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1592263" y="3505200"/>
            <a:ext cx="958850" cy="7778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205" name="Text Box 13"/>
          <p:cNvSpPr txBox="1">
            <a:spLocks noChangeArrowheads="1"/>
          </p:cNvSpPr>
          <p:nvPr/>
        </p:nvSpPr>
        <p:spPr bwMode="auto">
          <a:xfrm>
            <a:off x="2749550" y="2852738"/>
            <a:ext cx="1733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Collector  Base</a:t>
            </a:r>
          </a:p>
          <a:p>
            <a:r>
              <a:rPr lang="en-US"/>
              <a:t>Junction  J</a:t>
            </a:r>
            <a:r>
              <a:rPr lang="en-US" baseline="-18000"/>
              <a:t>C</a:t>
            </a:r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 flipH="1">
            <a:off x="2551113" y="3467100"/>
            <a:ext cx="231775" cy="38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7" name="Rectangle 15"/>
          <p:cNvSpPr>
            <a:spLocks noChangeArrowheads="1"/>
          </p:cNvSpPr>
          <p:nvPr/>
        </p:nvSpPr>
        <p:spPr bwMode="auto">
          <a:xfrm>
            <a:off x="1592263" y="4157663"/>
            <a:ext cx="958850" cy="77787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208" name="Line 16"/>
          <p:cNvSpPr>
            <a:spLocks noChangeShapeType="1"/>
          </p:cNvSpPr>
          <p:nvPr/>
        </p:nvSpPr>
        <p:spPr bwMode="auto">
          <a:xfrm flipH="1">
            <a:off x="2551113" y="4159250"/>
            <a:ext cx="231775" cy="38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2743200" y="4094163"/>
            <a:ext cx="1492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Emitter Base</a:t>
            </a:r>
          </a:p>
          <a:p>
            <a:r>
              <a:rPr lang="en-US"/>
              <a:t>Junction J</a:t>
            </a:r>
            <a:r>
              <a:rPr lang="en-US" baseline="-18000"/>
              <a:t>E</a:t>
            </a:r>
          </a:p>
        </p:txBody>
      </p:sp>
      <p:sp>
        <p:nvSpPr>
          <p:cNvPr id="8210" name="Rectangle 18"/>
          <p:cNvSpPr>
            <a:spLocks noChangeArrowheads="1"/>
          </p:cNvSpPr>
          <p:nvPr/>
        </p:nvSpPr>
        <p:spPr bwMode="auto">
          <a:xfrm>
            <a:off x="1922463" y="2122488"/>
            <a:ext cx="268287" cy="115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211" name="Rectangle 19"/>
          <p:cNvSpPr>
            <a:spLocks noChangeArrowheads="1"/>
          </p:cNvSpPr>
          <p:nvPr/>
        </p:nvSpPr>
        <p:spPr bwMode="auto">
          <a:xfrm>
            <a:off x="1922463" y="5080000"/>
            <a:ext cx="268287" cy="115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212" name="Rectangle 20"/>
          <p:cNvSpPr>
            <a:spLocks noChangeArrowheads="1"/>
          </p:cNvSpPr>
          <p:nvPr/>
        </p:nvSpPr>
        <p:spPr bwMode="auto">
          <a:xfrm>
            <a:off x="1498600" y="3736975"/>
            <a:ext cx="115888" cy="2682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213" name="Oval 21"/>
          <p:cNvSpPr>
            <a:spLocks noChangeArrowheads="1"/>
          </p:cNvSpPr>
          <p:nvPr/>
        </p:nvSpPr>
        <p:spPr bwMode="auto">
          <a:xfrm>
            <a:off x="6032501" y="3006725"/>
            <a:ext cx="1130300" cy="12668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214" name="Line 22"/>
          <p:cNvSpPr>
            <a:spLocks noChangeShapeType="1"/>
          </p:cNvSpPr>
          <p:nvPr/>
        </p:nvSpPr>
        <p:spPr bwMode="auto">
          <a:xfrm>
            <a:off x="6338888" y="3236913"/>
            <a:ext cx="0" cy="8445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5" name="Line 23"/>
          <p:cNvSpPr>
            <a:spLocks noChangeShapeType="1"/>
          </p:cNvSpPr>
          <p:nvPr/>
        </p:nvSpPr>
        <p:spPr bwMode="auto">
          <a:xfrm>
            <a:off x="6376988" y="3851275"/>
            <a:ext cx="576262" cy="346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6" name="Line 24"/>
          <p:cNvSpPr>
            <a:spLocks noChangeShapeType="1"/>
          </p:cNvSpPr>
          <p:nvPr/>
        </p:nvSpPr>
        <p:spPr bwMode="auto">
          <a:xfrm flipV="1">
            <a:off x="6376988" y="3082925"/>
            <a:ext cx="500062" cy="384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7" name="Line 25"/>
          <p:cNvSpPr>
            <a:spLocks noChangeShapeType="1"/>
          </p:cNvSpPr>
          <p:nvPr/>
        </p:nvSpPr>
        <p:spPr bwMode="auto">
          <a:xfrm>
            <a:off x="6915150" y="4197350"/>
            <a:ext cx="0" cy="9985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8" name="Line 26"/>
          <p:cNvSpPr>
            <a:spLocks noChangeShapeType="1"/>
          </p:cNvSpPr>
          <p:nvPr/>
        </p:nvSpPr>
        <p:spPr bwMode="auto">
          <a:xfrm>
            <a:off x="6877050" y="2084388"/>
            <a:ext cx="0" cy="998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9" name="Line 27"/>
          <p:cNvSpPr>
            <a:spLocks noChangeShapeType="1"/>
          </p:cNvSpPr>
          <p:nvPr/>
        </p:nvSpPr>
        <p:spPr bwMode="auto">
          <a:xfrm>
            <a:off x="5302250" y="3659188"/>
            <a:ext cx="10366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0" name="Text Box 28"/>
          <p:cNvSpPr txBox="1">
            <a:spLocks noChangeArrowheads="1"/>
          </p:cNvSpPr>
          <p:nvPr/>
        </p:nvSpPr>
        <p:spPr bwMode="auto">
          <a:xfrm>
            <a:off x="6937375" y="4965700"/>
            <a:ext cx="908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</a:t>
            </a:r>
          </a:p>
          <a:p>
            <a:r>
              <a:rPr lang="en-US"/>
              <a:t>Emitter</a:t>
            </a:r>
          </a:p>
        </p:txBody>
      </p:sp>
      <p:sp>
        <p:nvSpPr>
          <p:cNvPr id="8221" name="Text Box 29"/>
          <p:cNvSpPr txBox="1">
            <a:spLocks noChangeArrowheads="1"/>
          </p:cNvSpPr>
          <p:nvPr/>
        </p:nvSpPr>
        <p:spPr bwMode="auto">
          <a:xfrm>
            <a:off x="5132388" y="3813175"/>
            <a:ext cx="704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B</a:t>
            </a:r>
          </a:p>
          <a:p>
            <a:r>
              <a:rPr lang="en-US"/>
              <a:t>Base</a:t>
            </a:r>
          </a:p>
        </p:txBody>
      </p:sp>
      <p:sp>
        <p:nvSpPr>
          <p:cNvPr id="8222" name="Text Box 30"/>
          <p:cNvSpPr txBox="1">
            <a:spLocks noChangeArrowheads="1"/>
          </p:cNvSpPr>
          <p:nvPr/>
        </p:nvSpPr>
        <p:spPr bwMode="auto">
          <a:xfrm>
            <a:off x="7053263" y="1854200"/>
            <a:ext cx="1085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C</a:t>
            </a:r>
          </a:p>
          <a:p>
            <a:r>
              <a:rPr lang="en-US"/>
              <a:t>Collector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00B50-3631-4F05-9BE1-3609BC54FA76}" type="slidenum">
              <a:rPr lang="en-US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98686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838200" y="411163"/>
            <a:ext cx="7620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200" b="1">
                <a:solidFill>
                  <a:srgbClr val="0000FF"/>
                </a:solidFill>
                <a:cs typeface="Times New Roman" pitchFamily="18" charset="0"/>
              </a:rPr>
              <a:t>The BJT – Bipolar Junction Transistor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52400" y="5715000"/>
            <a:ext cx="876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sz="2000" b="1">
                <a:solidFill>
                  <a:srgbClr val="00B050"/>
                </a:solidFill>
                <a:cs typeface="Times New Roman" pitchFamily="18" charset="0"/>
              </a:rPr>
              <a:t>Normally Emitter layer is heavily doped,  Base layer is lightly doped and Collector layer has Moderate doping.</a:t>
            </a:r>
          </a:p>
        </p:txBody>
      </p:sp>
      <p:sp>
        <p:nvSpPr>
          <p:cNvPr id="9220" name="Line 5"/>
          <p:cNvSpPr>
            <a:spLocks noChangeShapeType="1"/>
          </p:cNvSpPr>
          <p:nvPr/>
        </p:nvSpPr>
        <p:spPr bwMode="auto">
          <a:xfrm>
            <a:off x="4572000" y="1752600"/>
            <a:ext cx="0" cy="3276600"/>
          </a:xfrm>
          <a:prstGeom prst="line">
            <a:avLst/>
          </a:prstGeom>
          <a:noFill/>
          <a:ln w="38100">
            <a:solidFill>
              <a:srgbClr val="99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1371600" y="1752600"/>
            <a:ext cx="129540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npn</a:t>
            </a:r>
            <a:endParaRPr lang="en-US" sz="2400" b="1">
              <a:effectLst>
                <a:outerShdw blurRad="38100" dist="38100" dir="2700000" algn="tl">
                  <a:srgbClr val="C0C0C0"/>
                </a:outerShdw>
              </a:effectLst>
              <a:latin typeface="+mn-lt"/>
              <a:cs typeface="Times New Roman" pitchFamily="18" charset="0"/>
            </a:endParaRP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6324600" y="1752600"/>
            <a:ext cx="129540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pnp</a:t>
            </a: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838200" y="2362200"/>
            <a:ext cx="1066800" cy="838200"/>
          </a:xfrm>
          <a:prstGeom prst="rect">
            <a:avLst/>
          </a:prstGeom>
          <a:solidFill>
            <a:srgbClr val="C0C0C0"/>
          </a:solidFill>
          <a:ln w="381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cs typeface="Times New Roman" pitchFamily="18" charset="0"/>
              </a:rPr>
              <a:t>n</a:t>
            </a:r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1905000" y="2362200"/>
            <a:ext cx="685800" cy="838200"/>
          </a:xfrm>
          <a:prstGeom prst="rect">
            <a:avLst/>
          </a:prstGeom>
          <a:solidFill>
            <a:srgbClr val="969696"/>
          </a:solidFill>
          <a:ln w="381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cs typeface="Times New Roman" pitchFamily="18" charset="0"/>
              </a:rPr>
              <a:t>p</a:t>
            </a:r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2514600" y="2362200"/>
            <a:ext cx="685800" cy="838200"/>
          </a:xfrm>
          <a:prstGeom prst="rect">
            <a:avLst/>
          </a:prstGeom>
          <a:solidFill>
            <a:srgbClr val="C0C0C0"/>
          </a:solidFill>
          <a:ln w="381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cs typeface="Times New Roman" pitchFamily="18" charset="0"/>
              </a:rPr>
              <a:t>n</a:t>
            </a:r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 flipH="1">
            <a:off x="457200" y="2819400"/>
            <a:ext cx="381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9468" name="Line 12"/>
          <p:cNvSpPr>
            <a:spLocks noChangeShapeType="1"/>
          </p:cNvSpPr>
          <p:nvPr/>
        </p:nvSpPr>
        <p:spPr bwMode="auto">
          <a:xfrm>
            <a:off x="2133600" y="32004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>
            <a:off x="3200400" y="28194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9470" name="Oval 14"/>
          <p:cNvSpPr>
            <a:spLocks noChangeArrowheads="1"/>
          </p:cNvSpPr>
          <p:nvPr/>
        </p:nvSpPr>
        <p:spPr bwMode="auto">
          <a:xfrm>
            <a:off x="3505200" y="2743200"/>
            <a:ext cx="152400" cy="152400"/>
          </a:xfrm>
          <a:prstGeom prst="ellipse">
            <a:avLst/>
          </a:prstGeom>
          <a:solidFill>
            <a:srgbClr val="99CC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71" name="Oval 15"/>
          <p:cNvSpPr>
            <a:spLocks noChangeArrowheads="1"/>
          </p:cNvSpPr>
          <p:nvPr/>
        </p:nvSpPr>
        <p:spPr bwMode="auto">
          <a:xfrm>
            <a:off x="2057400" y="3505200"/>
            <a:ext cx="152400" cy="152400"/>
          </a:xfrm>
          <a:prstGeom prst="ellipse">
            <a:avLst/>
          </a:prstGeom>
          <a:solidFill>
            <a:srgbClr val="99CCFF"/>
          </a:solidFill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72" name="Oval 16"/>
          <p:cNvSpPr>
            <a:spLocks noChangeArrowheads="1"/>
          </p:cNvSpPr>
          <p:nvPr/>
        </p:nvSpPr>
        <p:spPr bwMode="auto">
          <a:xfrm>
            <a:off x="381000" y="2743200"/>
            <a:ext cx="152400" cy="152400"/>
          </a:xfrm>
          <a:prstGeom prst="ellipse">
            <a:avLst/>
          </a:prstGeom>
          <a:solidFill>
            <a:srgbClr val="99CC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19473" name="Text Box 17"/>
          <p:cNvSpPr txBox="1">
            <a:spLocks noChangeArrowheads="1"/>
          </p:cNvSpPr>
          <p:nvPr/>
        </p:nvSpPr>
        <p:spPr bwMode="auto">
          <a:xfrm>
            <a:off x="0" y="2590800"/>
            <a:ext cx="38100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E</a:t>
            </a:r>
          </a:p>
        </p:txBody>
      </p:sp>
      <p:sp>
        <p:nvSpPr>
          <p:cNvPr id="19474" name="Text Box 18"/>
          <p:cNvSpPr txBox="1">
            <a:spLocks noChangeArrowheads="1"/>
          </p:cNvSpPr>
          <p:nvPr/>
        </p:nvSpPr>
        <p:spPr bwMode="auto">
          <a:xfrm>
            <a:off x="1905000" y="3657600"/>
            <a:ext cx="38100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B</a:t>
            </a:r>
          </a:p>
        </p:txBody>
      </p:sp>
      <p:sp>
        <p:nvSpPr>
          <p:cNvPr id="19475" name="Text Box 19"/>
          <p:cNvSpPr txBox="1">
            <a:spLocks noChangeArrowheads="1"/>
          </p:cNvSpPr>
          <p:nvPr/>
        </p:nvSpPr>
        <p:spPr bwMode="auto">
          <a:xfrm>
            <a:off x="3657600" y="2590800"/>
            <a:ext cx="38100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C</a:t>
            </a:r>
          </a:p>
        </p:txBody>
      </p:sp>
      <p:sp>
        <p:nvSpPr>
          <p:cNvPr id="19476" name="Rectangle 20"/>
          <p:cNvSpPr>
            <a:spLocks noChangeArrowheads="1"/>
          </p:cNvSpPr>
          <p:nvPr/>
        </p:nvSpPr>
        <p:spPr bwMode="auto">
          <a:xfrm>
            <a:off x="5791200" y="2362200"/>
            <a:ext cx="1066800" cy="838200"/>
          </a:xfrm>
          <a:prstGeom prst="rect">
            <a:avLst/>
          </a:prstGeom>
          <a:solidFill>
            <a:srgbClr val="C0C0C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cs typeface="Times New Roman" pitchFamily="18" charset="0"/>
              </a:rPr>
              <a:t>p</a:t>
            </a:r>
          </a:p>
        </p:txBody>
      </p:sp>
      <p:sp>
        <p:nvSpPr>
          <p:cNvPr id="19477" name="Rectangle 21"/>
          <p:cNvSpPr>
            <a:spLocks noChangeArrowheads="1"/>
          </p:cNvSpPr>
          <p:nvPr/>
        </p:nvSpPr>
        <p:spPr bwMode="auto">
          <a:xfrm>
            <a:off x="6858000" y="2362200"/>
            <a:ext cx="685800" cy="838200"/>
          </a:xfrm>
          <a:prstGeom prst="rect">
            <a:avLst/>
          </a:prstGeom>
          <a:solidFill>
            <a:srgbClr val="96969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cs typeface="Times New Roman" pitchFamily="18" charset="0"/>
              </a:rPr>
              <a:t>n</a:t>
            </a:r>
          </a:p>
        </p:txBody>
      </p:sp>
      <p:sp>
        <p:nvSpPr>
          <p:cNvPr id="19478" name="Rectangle 22"/>
          <p:cNvSpPr>
            <a:spLocks noChangeArrowheads="1"/>
          </p:cNvSpPr>
          <p:nvPr/>
        </p:nvSpPr>
        <p:spPr bwMode="auto">
          <a:xfrm>
            <a:off x="7467600" y="2362200"/>
            <a:ext cx="685800" cy="838200"/>
          </a:xfrm>
          <a:prstGeom prst="rect">
            <a:avLst/>
          </a:prstGeom>
          <a:solidFill>
            <a:srgbClr val="C0C0C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cs typeface="Times New Roman" pitchFamily="18" charset="0"/>
              </a:rPr>
              <a:t>p</a:t>
            </a:r>
          </a:p>
        </p:txBody>
      </p:sp>
      <p:sp>
        <p:nvSpPr>
          <p:cNvPr id="19479" name="Line 23"/>
          <p:cNvSpPr>
            <a:spLocks noChangeShapeType="1"/>
          </p:cNvSpPr>
          <p:nvPr/>
        </p:nvSpPr>
        <p:spPr bwMode="auto">
          <a:xfrm flipH="1">
            <a:off x="5410200" y="28194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9480" name="Line 24"/>
          <p:cNvSpPr>
            <a:spLocks noChangeShapeType="1"/>
          </p:cNvSpPr>
          <p:nvPr/>
        </p:nvSpPr>
        <p:spPr bwMode="auto">
          <a:xfrm>
            <a:off x="7086600" y="32004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9481" name="Line 25"/>
          <p:cNvSpPr>
            <a:spLocks noChangeShapeType="1"/>
          </p:cNvSpPr>
          <p:nvPr/>
        </p:nvSpPr>
        <p:spPr bwMode="auto">
          <a:xfrm>
            <a:off x="8153400" y="28194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9482" name="Oval 26"/>
          <p:cNvSpPr>
            <a:spLocks noChangeArrowheads="1"/>
          </p:cNvSpPr>
          <p:nvPr/>
        </p:nvSpPr>
        <p:spPr bwMode="auto">
          <a:xfrm>
            <a:off x="8458200" y="2743200"/>
            <a:ext cx="152400" cy="152400"/>
          </a:xfrm>
          <a:prstGeom prst="ellipse">
            <a:avLst/>
          </a:prstGeom>
          <a:solidFill>
            <a:srgbClr val="99CC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83" name="Oval 27"/>
          <p:cNvSpPr>
            <a:spLocks noChangeArrowheads="1"/>
          </p:cNvSpPr>
          <p:nvPr/>
        </p:nvSpPr>
        <p:spPr bwMode="auto">
          <a:xfrm>
            <a:off x="7010400" y="3505200"/>
            <a:ext cx="152400" cy="152400"/>
          </a:xfrm>
          <a:prstGeom prst="ellipse">
            <a:avLst/>
          </a:prstGeom>
          <a:solidFill>
            <a:srgbClr val="99CC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84" name="Oval 28"/>
          <p:cNvSpPr>
            <a:spLocks noChangeArrowheads="1"/>
          </p:cNvSpPr>
          <p:nvPr/>
        </p:nvSpPr>
        <p:spPr bwMode="auto">
          <a:xfrm>
            <a:off x="5334000" y="2743200"/>
            <a:ext cx="152400" cy="152400"/>
          </a:xfrm>
          <a:prstGeom prst="ellipse">
            <a:avLst/>
          </a:prstGeom>
          <a:solidFill>
            <a:srgbClr val="99CC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85" name="Text Box 29"/>
          <p:cNvSpPr txBox="1">
            <a:spLocks noChangeArrowheads="1"/>
          </p:cNvSpPr>
          <p:nvPr/>
        </p:nvSpPr>
        <p:spPr bwMode="auto">
          <a:xfrm>
            <a:off x="4953000" y="2590800"/>
            <a:ext cx="38100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E</a:t>
            </a:r>
          </a:p>
        </p:txBody>
      </p:sp>
      <p:sp>
        <p:nvSpPr>
          <p:cNvPr id="19486" name="Text Box 30"/>
          <p:cNvSpPr txBox="1">
            <a:spLocks noChangeArrowheads="1"/>
          </p:cNvSpPr>
          <p:nvPr/>
        </p:nvSpPr>
        <p:spPr bwMode="auto">
          <a:xfrm>
            <a:off x="6858000" y="3657600"/>
            <a:ext cx="38100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B</a:t>
            </a:r>
          </a:p>
        </p:txBody>
      </p:sp>
      <p:sp>
        <p:nvSpPr>
          <p:cNvPr id="19487" name="Text Box 31"/>
          <p:cNvSpPr txBox="1">
            <a:spLocks noChangeArrowheads="1"/>
          </p:cNvSpPr>
          <p:nvPr/>
        </p:nvSpPr>
        <p:spPr bwMode="auto">
          <a:xfrm>
            <a:off x="8763000" y="2590800"/>
            <a:ext cx="38100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C</a:t>
            </a:r>
          </a:p>
        </p:txBody>
      </p:sp>
      <p:sp>
        <p:nvSpPr>
          <p:cNvPr id="19488" name="Text Box 32"/>
          <p:cNvSpPr txBox="1">
            <a:spLocks noChangeArrowheads="1"/>
          </p:cNvSpPr>
          <p:nvPr/>
        </p:nvSpPr>
        <p:spPr bwMode="auto">
          <a:xfrm>
            <a:off x="0" y="3352800"/>
            <a:ext cx="1600200" cy="3365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Cross Section</a:t>
            </a:r>
          </a:p>
        </p:txBody>
      </p:sp>
      <p:sp>
        <p:nvSpPr>
          <p:cNvPr id="19489" name="Text Box 33"/>
          <p:cNvSpPr txBox="1">
            <a:spLocks noChangeArrowheads="1"/>
          </p:cNvSpPr>
          <p:nvPr/>
        </p:nvSpPr>
        <p:spPr bwMode="auto">
          <a:xfrm>
            <a:off x="5029200" y="3352800"/>
            <a:ext cx="1600200" cy="3365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Cross Section</a:t>
            </a:r>
          </a:p>
        </p:txBody>
      </p:sp>
      <p:sp>
        <p:nvSpPr>
          <p:cNvPr id="19490" name="Oval 34"/>
          <p:cNvSpPr>
            <a:spLocks noChangeArrowheads="1"/>
          </p:cNvSpPr>
          <p:nvPr/>
        </p:nvSpPr>
        <p:spPr bwMode="auto">
          <a:xfrm>
            <a:off x="2895600" y="3886200"/>
            <a:ext cx="762000" cy="762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91" name="Line 35"/>
          <p:cNvSpPr>
            <a:spLocks noChangeShapeType="1"/>
          </p:cNvSpPr>
          <p:nvPr/>
        </p:nvSpPr>
        <p:spPr bwMode="auto">
          <a:xfrm>
            <a:off x="3124200" y="4038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92" name="Freeform 36"/>
          <p:cNvSpPr>
            <a:spLocks/>
          </p:cNvSpPr>
          <p:nvPr/>
        </p:nvSpPr>
        <p:spPr bwMode="auto">
          <a:xfrm>
            <a:off x="3124200" y="3940175"/>
            <a:ext cx="336550" cy="250825"/>
          </a:xfrm>
          <a:custGeom>
            <a:avLst/>
            <a:gdLst>
              <a:gd name="T0" fmla="*/ 0 w 212"/>
              <a:gd name="T1" fmla="*/ 2147483647 h 158"/>
              <a:gd name="T2" fmla="*/ 2147483647 w 212"/>
              <a:gd name="T3" fmla="*/ 0 h 158"/>
              <a:gd name="T4" fmla="*/ 0 60000 65536"/>
              <a:gd name="T5" fmla="*/ 0 60000 65536"/>
              <a:gd name="T6" fmla="*/ 0 w 212"/>
              <a:gd name="T7" fmla="*/ 0 h 158"/>
              <a:gd name="T8" fmla="*/ 212 w 212"/>
              <a:gd name="T9" fmla="*/ 158 h 15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2" h="158">
                <a:moveTo>
                  <a:pt x="0" y="158"/>
                </a:moveTo>
                <a:lnTo>
                  <a:pt x="212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>
              <a:latin typeface="Calibri" pitchFamily="34" charset="0"/>
            </a:endParaRPr>
          </a:p>
        </p:txBody>
      </p:sp>
      <p:sp>
        <p:nvSpPr>
          <p:cNvPr id="19493" name="Freeform 37"/>
          <p:cNvSpPr>
            <a:spLocks/>
          </p:cNvSpPr>
          <p:nvPr/>
        </p:nvSpPr>
        <p:spPr bwMode="auto">
          <a:xfrm>
            <a:off x="3124200" y="4343400"/>
            <a:ext cx="327025" cy="247650"/>
          </a:xfrm>
          <a:custGeom>
            <a:avLst/>
            <a:gdLst>
              <a:gd name="T0" fmla="*/ 0 w 206"/>
              <a:gd name="T1" fmla="*/ 0 h 156"/>
              <a:gd name="T2" fmla="*/ 2147483647 w 206"/>
              <a:gd name="T3" fmla="*/ 2147483647 h 156"/>
              <a:gd name="T4" fmla="*/ 0 60000 65536"/>
              <a:gd name="T5" fmla="*/ 0 60000 65536"/>
              <a:gd name="T6" fmla="*/ 0 w 206"/>
              <a:gd name="T7" fmla="*/ 0 h 156"/>
              <a:gd name="T8" fmla="*/ 206 w 206"/>
              <a:gd name="T9" fmla="*/ 156 h 15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06" h="156">
                <a:moveTo>
                  <a:pt x="0" y="0"/>
                </a:moveTo>
                <a:lnTo>
                  <a:pt x="206" y="15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>
              <a:latin typeface="Calibri" pitchFamily="34" charset="0"/>
            </a:endParaRPr>
          </a:p>
        </p:txBody>
      </p:sp>
      <p:sp>
        <p:nvSpPr>
          <p:cNvPr id="19494" name="Line 38"/>
          <p:cNvSpPr>
            <a:spLocks noChangeShapeType="1"/>
          </p:cNvSpPr>
          <p:nvPr/>
        </p:nvSpPr>
        <p:spPr bwMode="auto">
          <a:xfrm flipH="1">
            <a:off x="2667000" y="42672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95" name="Line 39"/>
          <p:cNvSpPr>
            <a:spLocks noChangeShapeType="1"/>
          </p:cNvSpPr>
          <p:nvPr/>
        </p:nvSpPr>
        <p:spPr bwMode="auto">
          <a:xfrm>
            <a:off x="3124200" y="43434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96" name="Text Box 40"/>
          <p:cNvSpPr txBox="1">
            <a:spLocks noChangeArrowheads="1"/>
          </p:cNvSpPr>
          <p:nvPr/>
        </p:nvSpPr>
        <p:spPr bwMode="auto">
          <a:xfrm>
            <a:off x="2362200" y="4038600"/>
            <a:ext cx="30480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B</a:t>
            </a:r>
          </a:p>
        </p:txBody>
      </p:sp>
      <p:sp>
        <p:nvSpPr>
          <p:cNvPr id="19497" name="Line 41"/>
          <p:cNvSpPr>
            <a:spLocks noChangeShapeType="1"/>
          </p:cNvSpPr>
          <p:nvPr/>
        </p:nvSpPr>
        <p:spPr bwMode="auto">
          <a:xfrm flipV="1">
            <a:off x="3429000" y="36576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98" name="Line 42"/>
          <p:cNvSpPr>
            <a:spLocks noChangeShapeType="1"/>
          </p:cNvSpPr>
          <p:nvPr/>
        </p:nvSpPr>
        <p:spPr bwMode="auto">
          <a:xfrm flipV="1">
            <a:off x="3429000" y="45720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99" name="Text Box 43"/>
          <p:cNvSpPr txBox="1">
            <a:spLocks noChangeArrowheads="1"/>
          </p:cNvSpPr>
          <p:nvPr/>
        </p:nvSpPr>
        <p:spPr bwMode="auto">
          <a:xfrm>
            <a:off x="3200400" y="3276600"/>
            <a:ext cx="38100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C</a:t>
            </a:r>
          </a:p>
        </p:txBody>
      </p:sp>
      <p:sp>
        <p:nvSpPr>
          <p:cNvPr id="19500" name="Text Box 44"/>
          <p:cNvSpPr txBox="1">
            <a:spLocks noChangeArrowheads="1"/>
          </p:cNvSpPr>
          <p:nvPr/>
        </p:nvSpPr>
        <p:spPr bwMode="auto">
          <a:xfrm>
            <a:off x="3200400" y="4876800"/>
            <a:ext cx="38100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E</a:t>
            </a:r>
          </a:p>
        </p:txBody>
      </p:sp>
      <p:sp>
        <p:nvSpPr>
          <p:cNvPr id="19501" name="Text Box 45"/>
          <p:cNvSpPr txBox="1">
            <a:spLocks noChangeArrowheads="1"/>
          </p:cNvSpPr>
          <p:nvPr/>
        </p:nvSpPr>
        <p:spPr bwMode="auto">
          <a:xfrm>
            <a:off x="1600200" y="4495800"/>
            <a:ext cx="1600200" cy="58102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Schematic Symbol</a:t>
            </a:r>
          </a:p>
        </p:txBody>
      </p:sp>
      <p:sp>
        <p:nvSpPr>
          <p:cNvPr id="19502" name="Oval 46"/>
          <p:cNvSpPr>
            <a:spLocks noChangeArrowheads="1"/>
          </p:cNvSpPr>
          <p:nvPr/>
        </p:nvSpPr>
        <p:spPr bwMode="auto">
          <a:xfrm>
            <a:off x="7924800" y="3886200"/>
            <a:ext cx="762000" cy="762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503" name="Line 47"/>
          <p:cNvSpPr>
            <a:spLocks noChangeShapeType="1"/>
          </p:cNvSpPr>
          <p:nvPr/>
        </p:nvSpPr>
        <p:spPr bwMode="auto">
          <a:xfrm>
            <a:off x="8153400" y="4038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04" name="Freeform 48"/>
          <p:cNvSpPr>
            <a:spLocks/>
          </p:cNvSpPr>
          <p:nvPr/>
        </p:nvSpPr>
        <p:spPr bwMode="auto">
          <a:xfrm>
            <a:off x="8153400" y="3940175"/>
            <a:ext cx="336550" cy="250825"/>
          </a:xfrm>
          <a:custGeom>
            <a:avLst/>
            <a:gdLst>
              <a:gd name="T0" fmla="*/ 0 w 212"/>
              <a:gd name="T1" fmla="*/ 2147483647 h 158"/>
              <a:gd name="T2" fmla="*/ 2147483647 w 212"/>
              <a:gd name="T3" fmla="*/ 0 h 158"/>
              <a:gd name="T4" fmla="*/ 0 60000 65536"/>
              <a:gd name="T5" fmla="*/ 0 60000 65536"/>
              <a:gd name="T6" fmla="*/ 0 w 212"/>
              <a:gd name="T7" fmla="*/ 0 h 158"/>
              <a:gd name="T8" fmla="*/ 212 w 212"/>
              <a:gd name="T9" fmla="*/ 158 h 15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2" h="158">
                <a:moveTo>
                  <a:pt x="0" y="158"/>
                </a:moveTo>
                <a:lnTo>
                  <a:pt x="212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>
              <a:latin typeface="Calibri" pitchFamily="34" charset="0"/>
            </a:endParaRPr>
          </a:p>
        </p:txBody>
      </p:sp>
      <p:sp>
        <p:nvSpPr>
          <p:cNvPr id="19505" name="Freeform 49"/>
          <p:cNvSpPr>
            <a:spLocks/>
          </p:cNvSpPr>
          <p:nvPr/>
        </p:nvSpPr>
        <p:spPr bwMode="auto">
          <a:xfrm>
            <a:off x="8153400" y="4343400"/>
            <a:ext cx="327025" cy="247650"/>
          </a:xfrm>
          <a:custGeom>
            <a:avLst/>
            <a:gdLst>
              <a:gd name="T0" fmla="*/ 0 w 206"/>
              <a:gd name="T1" fmla="*/ 0 h 156"/>
              <a:gd name="T2" fmla="*/ 2147483647 w 206"/>
              <a:gd name="T3" fmla="*/ 2147483647 h 156"/>
              <a:gd name="T4" fmla="*/ 0 60000 65536"/>
              <a:gd name="T5" fmla="*/ 0 60000 65536"/>
              <a:gd name="T6" fmla="*/ 0 w 206"/>
              <a:gd name="T7" fmla="*/ 0 h 156"/>
              <a:gd name="T8" fmla="*/ 206 w 206"/>
              <a:gd name="T9" fmla="*/ 156 h 15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06" h="156">
                <a:moveTo>
                  <a:pt x="0" y="0"/>
                </a:moveTo>
                <a:lnTo>
                  <a:pt x="206" y="156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>
              <a:latin typeface="Calibri" pitchFamily="34" charset="0"/>
            </a:endParaRPr>
          </a:p>
        </p:txBody>
      </p:sp>
      <p:sp>
        <p:nvSpPr>
          <p:cNvPr id="19506" name="Line 50"/>
          <p:cNvSpPr>
            <a:spLocks noChangeShapeType="1"/>
          </p:cNvSpPr>
          <p:nvPr/>
        </p:nvSpPr>
        <p:spPr bwMode="auto">
          <a:xfrm flipH="1">
            <a:off x="7696200" y="42672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07" name="Text Box 51"/>
          <p:cNvSpPr txBox="1">
            <a:spLocks noChangeArrowheads="1"/>
          </p:cNvSpPr>
          <p:nvPr/>
        </p:nvSpPr>
        <p:spPr bwMode="auto">
          <a:xfrm>
            <a:off x="7391400" y="4038600"/>
            <a:ext cx="30480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B</a:t>
            </a:r>
          </a:p>
        </p:txBody>
      </p:sp>
      <p:sp>
        <p:nvSpPr>
          <p:cNvPr id="19508" name="Line 52"/>
          <p:cNvSpPr>
            <a:spLocks noChangeShapeType="1"/>
          </p:cNvSpPr>
          <p:nvPr/>
        </p:nvSpPr>
        <p:spPr bwMode="auto">
          <a:xfrm flipV="1">
            <a:off x="8458200" y="36576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09" name="Line 53"/>
          <p:cNvSpPr>
            <a:spLocks noChangeShapeType="1"/>
          </p:cNvSpPr>
          <p:nvPr/>
        </p:nvSpPr>
        <p:spPr bwMode="auto">
          <a:xfrm flipV="1">
            <a:off x="8458200" y="45720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10" name="Text Box 54"/>
          <p:cNvSpPr txBox="1">
            <a:spLocks noChangeArrowheads="1"/>
          </p:cNvSpPr>
          <p:nvPr/>
        </p:nvSpPr>
        <p:spPr bwMode="auto">
          <a:xfrm>
            <a:off x="8229600" y="3276600"/>
            <a:ext cx="38100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C</a:t>
            </a:r>
          </a:p>
        </p:txBody>
      </p:sp>
      <p:sp>
        <p:nvSpPr>
          <p:cNvPr id="19511" name="Text Box 55"/>
          <p:cNvSpPr txBox="1">
            <a:spLocks noChangeArrowheads="1"/>
          </p:cNvSpPr>
          <p:nvPr/>
        </p:nvSpPr>
        <p:spPr bwMode="auto">
          <a:xfrm>
            <a:off x="8229600" y="4876800"/>
            <a:ext cx="38100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E</a:t>
            </a:r>
          </a:p>
        </p:txBody>
      </p:sp>
      <p:sp>
        <p:nvSpPr>
          <p:cNvPr id="19512" name="Text Box 56"/>
          <p:cNvSpPr txBox="1">
            <a:spLocks noChangeArrowheads="1"/>
          </p:cNvSpPr>
          <p:nvPr/>
        </p:nvSpPr>
        <p:spPr bwMode="auto">
          <a:xfrm>
            <a:off x="6629400" y="4495800"/>
            <a:ext cx="1600200" cy="58102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Times New Roman" pitchFamily="18" charset="0"/>
              </a:rPr>
              <a:t>Schematic Symbol</a:t>
            </a:r>
          </a:p>
        </p:txBody>
      </p:sp>
      <p:sp>
        <p:nvSpPr>
          <p:cNvPr id="19513" name="Line 57"/>
          <p:cNvSpPr>
            <a:spLocks noChangeShapeType="1"/>
          </p:cNvSpPr>
          <p:nvPr/>
        </p:nvSpPr>
        <p:spPr bwMode="auto">
          <a:xfrm flipH="1" flipV="1">
            <a:off x="8153400" y="43434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7E55BE-50CE-4FB9-BFD7-E32A2B3D8E67}" type="slidenum">
              <a:rPr lang="en-US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571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9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94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4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9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4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9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9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9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9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9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9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9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9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9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9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9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9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9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9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9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9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94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94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19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9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9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9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1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9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9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1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19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19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1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19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9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19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9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19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1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9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9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1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19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9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1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9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19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19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19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19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1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19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19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19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19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19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1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19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19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1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19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9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1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195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195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1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19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19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1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19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19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1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19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19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1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195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195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19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195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195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1000"/>
                                        <p:tgtEl>
                                          <p:spTgt spid="1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4" grpId="0" animBg="1"/>
      <p:bldP spid="19465" grpId="0" animBg="1"/>
      <p:bldP spid="19466" grpId="0" animBg="1"/>
      <p:bldP spid="19467" grpId="0" animBg="1"/>
      <p:bldP spid="19468" grpId="0" animBg="1"/>
      <p:bldP spid="19469" grpId="0" animBg="1"/>
      <p:bldP spid="19470" grpId="0" animBg="1"/>
      <p:bldP spid="19471" grpId="0" animBg="1"/>
      <p:bldP spid="19472" grpId="0" animBg="1"/>
      <p:bldP spid="19474" grpId="0"/>
      <p:bldP spid="19476" grpId="0" animBg="1"/>
      <p:bldP spid="19477" grpId="0" animBg="1"/>
      <p:bldP spid="19478" grpId="0" animBg="1"/>
      <p:bldP spid="19479" grpId="0" animBg="1"/>
      <p:bldP spid="19480" grpId="0" animBg="1"/>
      <p:bldP spid="19481" grpId="0" animBg="1"/>
      <p:bldP spid="19482" grpId="0" animBg="1"/>
      <p:bldP spid="19483" grpId="0" animBg="1"/>
      <p:bldP spid="19484" grpId="0" animBg="1"/>
      <p:bldP spid="19485" grpId="0"/>
      <p:bldP spid="19486" grpId="0"/>
      <p:bldP spid="19489" grpId="0"/>
      <p:bldP spid="19490" grpId="0" animBg="1"/>
      <p:bldP spid="19491" grpId="0" animBg="1"/>
      <p:bldP spid="19492" grpId="0" animBg="1"/>
      <p:bldP spid="19493" grpId="0" animBg="1"/>
      <p:bldP spid="19494" grpId="0" animBg="1"/>
      <p:bldP spid="19495" grpId="0" animBg="1"/>
      <p:bldP spid="19496" grpId="0"/>
      <p:bldP spid="19497" grpId="0" animBg="1"/>
      <p:bldP spid="19498" grpId="0" animBg="1"/>
      <p:bldP spid="19499" grpId="0"/>
      <p:bldP spid="19501" grpId="0"/>
      <p:bldP spid="19502" grpId="0" animBg="1"/>
      <p:bldP spid="19503" grpId="0" animBg="1"/>
      <p:bldP spid="19504" grpId="0" animBg="1"/>
      <p:bldP spid="19505" grpId="0" animBg="1"/>
      <p:bldP spid="19506" grpId="0" animBg="1"/>
      <p:bldP spid="19507" grpId="0"/>
      <p:bldP spid="19508" grpId="0" animBg="1"/>
      <p:bldP spid="19509" grpId="0" animBg="1"/>
      <p:bldP spid="19510" grpId="0"/>
      <p:bldP spid="19511" grpId="0"/>
      <p:bldP spid="19512" grpId="0"/>
      <p:bldP spid="195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44450"/>
            <a:ext cx="8229600" cy="654050"/>
          </a:xfrm>
        </p:spPr>
        <p:txBody>
          <a:bodyPr/>
          <a:lstStyle/>
          <a:p>
            <a:r>
              <a:rPr lang="en-US" sz="2800">
                <a:solidFill>
                  <a:schemeClr val="folHlink"/>
                </a:solidFill>
              </a:rPr>
              <a:t> transistor currents</a:t>
            </a:r>
          </a:p>
        </p:txBody>
      </p:sp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1592263" y="4197350"/>
            <a:ext cx="958850" cy="88423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rgbClr val="FF0066"/>
                </a:solidFill>
                <a:latin typeface="Calibri" pitchFamily="34" charset="0"/>
              </a:rPr>
              <a:t>N</a:t>
            </a:r>
          </a:p>
        </p:txBody>
      </p:sp>
      <p:sp>
        <p:nvSpPr>
          <p:cNvPr id="10244" name="Rectangle 5"/>
          <p:cNvSpPr>
            <a:spLocks noChangeArrowheads="1"/>
          </p:cNvSpPr>
          <p:nvPr/>
        </p:nvSpPr>
        <p:spPr bwMode="auto">
          <a:xfrm>
            <a:off x="1592263" y="3582988"/>
            <a:ext cx="958850" cy="614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rgbClr val="FF0066"/>
                </a:solidFill>
                <a:latin typeface="Calibri" pitchFamily="34" charset="0"/>
              </a:rPr>
              <a:t>P</a:t>
            </a:r>
          </a:p>
        </p:txBody>
      </p:sp>
      <p:sp>
        <p:nvSpPr>
          <p:cNvPr id="10245" name="Line 8"/>
          <p:cNvSpPr>
            <a:spLocks noChangeShapeType="1"/>
          </p:cNvSpPr>
          <p:nvPr/>
        </p:nvSpPr>
        <p:spPr bwMode="auto">
          <a:xfrm flipV="1">
            <a:off x="2052638" y="5080000"/>
            <a:ext cx="0" cy="614363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" name="Text Box 9"/>
          <p:cNvSpPr txBox="1">
            <a:spLocks noChangeArrowheads="1"/>
          </p:cNvSpPr>
          <p:nvPr/>
        </p:nvSpPr>
        <p:spPr bwMode="auto">
          <a:xfrm>
            <a:off x="2128838" y="5367338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</a:t>
            </a:r>
          </a:p>
        </p:txBody>
      </p:sp>
      <p:sp>
        <p:nvSpPr>
          <p:cNvPr id="10247" name="Line 10"/>
          <p:cNvSpPr>
            <a:spLocks noChangeShapeType="1"/>
          </p:cNvSpPr>
          <p:nvPr/>
        </p:nvSpPr>
        <p:spPr bwMode="auto">
          <a:xfrm flipV="1">
            <a:off x="823913" y="3851275"/>
            <a:ext cx="7683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8" name="Text Box 11"/>
          <p:cNvSpPr txBox="1">
            <a:spLocks noChangeArrowheads="1"/>
          </p:cNvSpPr>
          <p:nvPr/>
        </p:nvSpPr>
        <p:spPr bwMode="auto">
          <a:xfrm>
            <a:off x="539750" y="392906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B</a:t>
            </a:r>
          </a:p>
        </p:txBody>
      </p:sp>
      <p:sp>
        <p:nvSpPr>
          <p:cNvPr id="10249" name="Rectangle 12"/>
          <p:cNvSpPr>
            <a:spLocks noChangeArrowheads="1"/>
          </p:cNvSpPr>
          <p:nvPr/>
        </p:nvSpPr>
        <p:spPr bwMode="auto">
          <a:xfrm>
            <a:off x="1592263" y="3505200"/>
            <a:ext cx="958850" cy="7778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0250" name="Text Box 13"/>
          <p:cNvSpPr txBox="1">
            <a:spLocks noChangeArrowheads="1"/>
          </p:cNvSpPr>
          <p:nvPr/>
        </p:nvSpPr>
        <p:spPr bwMode="auto">
          <a:xfrm>
            <a:off x="2749550" y="2852738"/>
            <a:ext cx="1733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Collector  Base</a:t>
            </a:r>
          </a:p>
          <a:p>
            <a:r>
              <a:rPr lang="en-US"/>
              <a:t>Junction  J</a:t>
            </a:r>
            <a:r>
              <a:rPr lang="en-US" baseline="-18000"/>
              <a:t>C</a:t>
            </a:r>
          </a:p>
        </p:txBody>
      </p:sp>
      <p:sp>
        <p:nvSpPr>
          <p:cNvPr id="10251" name="Line 14"/>
          <p:cNvSpPr>
            <a:spLocks noChangeShapeType="1"/>
          </p:cNvSpPr>
          <p:nvPr/>
        </p:nvSpPr>
        <p:spPr bwMode="auto">
          <a:xfrm flipH="1">
            <a:off x="2551113" y="3467100"/>
            <a:ext cx="231775" cy="38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2" name="Rectangle 15"/>
          <p:cNvSpPr>
            <a:spLocks noChangeArrowheads="1"/>
          </p:cNvSpPr>
          <p:nvPr/>
        </p:nvSpPr>
        <p:spPr bwMode="auto">
          <a:xfrm>
            <a:off x="1592263" y="4157663"/>
            <a:ext cx="958850" cy="77787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0253" name="Line 16"/>
          <p:cNvSpPr>
            <a:spLocks noChangeShapeType="1"/>
          </p:cNvSpPr>
          <p:nvPr/>
        </p:nvSpPr>
        <p:spPr bwMode="auto">
          <a:xfrm flipH="1">
            <a:off x="2551113" y="4159250"/>
            <a:ext cx="231775" cy="38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4" name="Text Box 17"/>
          <p:cNvSpPr txBox="1">
            <a:spLocks noChangeArrowheads="1"/>
          </p:cNvSpPr>
          <p:nvPr/>
        </p:nvSpPr>
        <p:spPr bwMode="auto">
          <a:xfrm>
            <a:off x="2743200" y="4094163"/>
            <a:ext cx="1492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Emitter Base</a:t>
            </a:r>
          </a:p>
          <a:p>
            <a:r>
              <a:rPr lang="en-US"/>
              <a:t>Junction J</a:t>
            </a:r>
            <a:r>
              <a:rPr lang="en-US" baseline="-18000"/>
              <a:t>E</a:t>
            </a:r>
          </a:p>
        </p:txBody>
      </p:sp>
      <p:sp>
        <p:nvSpPr>
          <p:cNvPr id="10255" name="Rectangle 19"/>
          <p:cNvSpPr>
            <a:spLocks noChangeArrowheads="1"/>
          </p:cNvSpPr>
          <p:nvPr/>
        </p:nvSpPr>
        <p:spPr bwMode="auto">
          <a:xfrm>
            <a:off x="1922463" y="5080000"/>
            <a:ext cx="268287" cy="115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0256" name="Rectangle 20"/>
          <p:cNvSpPr>
            <a:spLocks noChangeArrowheads="1"/>
          </p:cNvSpPr>
          <p:nvPr/>
        </p:nvSpPr>
        <p:spPr bwMode="auto">
          <a:xfrm>
            <a:off x="1498600" y="3736975"/>
            <a:ext cx="115888" cy="2682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0257" name="Oval 21"/>
          <p:cNvSpPr>
            <a:spLocks noChangeArrowheads="1"/>
          </p:cNvSpPr>
          <p:nvPr/>
        </p:nvSpPr>
        <p:spPr bwMode="auto">
          <a:xfrm>
            <a:off x="6032500" y="3006725"/>
            <a:ext cx="1304925" cy="12668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0258" name="Line 22"/>
          <p:cNvSpPr>
            <a:spLocks noChangeShapeType="1"/>
          </p:cNvSpPr>
          <p:nvPr/>
        </p:nvSpPr>
        <p:spPr bwMode="auto">
          <a:xfrm>
            <a:off x="6338888" y="3236913"/>
            <a:ext cx="0" cy="8445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9" name="Line 23"/>
          <p:cNvSpPr>
            <a:spLocks noChangeShapeType="1"/>
          </p:cNvSpPr>
          <p:nvPr/>
        </p:nvSpPr>
        <p:spPr bwMode="auto">
          <a:xfrm>
            <a:off x="6376988" y="3851275"/>
            <a:ext cx="576262" cy="346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0" name="Line 24"/>
          <p:cNvSpPr>
            <a:spLocks noChangeShapeType="1"/>
          </p:cNvSpPr>
          <p:nvPr/>
        </p:nvSpPr>
        <p:spPr bwMode="auto">
          <a:xfrm flipV="1">
            <a:off x="6376988" y="3082925"/>
            <a:ext cx="500062" cy="384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1" name="Line 25"/>
          <p:cNvSpPr>
            <a:spLocks noChangeShapeType="1"/>
          </p:cNvSpPr>
          <p:nvPr/>
        </p:nvSpPr>
        <p:spPr bwMode="auto">
          <a:xfrm>
            <a:off x="6915150" y="4197350"/>
            <a:ext cx="0" cy="9985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2" name="Line 27"/>
          <p:cNvSpPr>
            <a:spLocks noChangeShapeType="1"/>
          </p:cNvSpPr>
          <p:nvPr/>
        </p:nvSpPr>
        <p:spPr bwMode="auto">
          <a:xfrm>
            <a:off x="5302250" y="3659188"/>
            <a:ext cx="10366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3" name="Text Box 28"/>
          <p:cNvSpPr txBox="1">
            <a:spLocks noChangeArrowheads="1"/>
          </p:cNvSpPr>
          <p:nvPr/>
        </p:nvSpPr>
        <p:spPr bwMode="auto">
          <a:xfrm>
            <a:off x="6937375" y="4965700"/>
            <a:ext cx="908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</a:t>
            </a:r>
          </a:p>
          <a:p>
            <a:r>
              <a:rPr lang="en-US"/>
              <a:t>Emitter</a:t>
            </a:r>
          </a:p>
        </p:txBody>
      </p:sp>
      <p:sp>
        <p:nvSpPr>
          <p:cNvPr id="10264" name="Text Box 29"/>
          <p:cNvSpPr txBox="1">
            <a:spLocks noChangeArrowheads="1"/>
          </p:cNvSpPr>
          <p:nvPr/>
        </p:nvSpPr>
        <p:spPr bwMode="auto">
          <a:xfrm>
            <a:off x="5132388" y="3813175"/>
            <a:ext cx="704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B</a:t>
            </a:r>
          </a:p>
          <a:p>
            <a:r>
              <a:rPr lang="en-US"/>
              <a:t>Base</a:t>
            </a:r>
          </a:p>
        </p:txBody>
      </p:sp>
      <p:pic>
        <p:nvPicPr>
          <p:cNvPr id="10265" name="Picture 33" descr="04-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3863" y="2209800"/>
            <a:ext cx="8378825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A331F9-5DFF-445B-A9AB-2C7F208767AC}" type="slidenum">
              <a:rPr lang="en-US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77842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7313"/>
            <a:ext cx="8229600" cy="654050"/>
          </a:xfrm>
        </p:spPr>
        <p:txBody>
          <a:bodyPr/>
          <a:lstStyle/>
          <a:p>
            <a:r>
              <a:rPr lang="en-US" sz="2800">
                <a:solidFill>
                  <a:schemeClr val="folHlink"/>
                </a:solidFill>
              </a:rPr>
              <a:t>Number of P-N junctions and equivalent circuit </a:t>
            </a:r>
          </a:p>
        </p:txBody>
      </p:sp>
      <p:sp>
        <p:nvSpPr>
          <p:cNvPr id="11267" name="AutoShape 3"/>
          <p:cNvSpPr>
            <a:spLocks noChangeArrowheads="1"/>
          </p:cNvSpPr>
          <p:nvPr/>
        </p:nvSpPr>
        <p:spPr bwMode="auto">
          <a:xfrm rot="10800000">
            <a:off x="3151188" y="4095750"/>
            <a:ext cx="690562" cy="53816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1268" name="Line 4"/>
          <p:cNvSpPr>
            <a:spLocks noChangeShapeType="1"/>
          </p:cNvSpPr>
          <p:nvPr/>
        </p:nvSpPr>
        <p:spPr bwMode="auto">
          <a:xfrm>
            <a:off x="3113088" y="4632325"/>
            <a:ext cx="7683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 flipV="1">
            <a:off x="3497263" y="3441700"/>
            <a:ext cx="0" cy="654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0" name="Line 6"/>
          <p:cNvSpPr>
            <a:spLocks noChangeShapeType="1"/>
          </p:cNvSpPr>
          <p:nvPr/>
        </p:nvSpPr>
        <p:spPr bwMode="auto">
          <a:xfrm flipV="1">
            <a:off x="3497263" y="4619625"/>
            <a:ext cx="0" cy="768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1" name="Oval 7"/>
          <p:cNvSpPr>
            <a:spLocks noChangeArrowheads="1"/>
          </p:cNvSpPr>
          <p:nvPr/>
        </p:nvSpPr>
        <p:spPr bwMode="auto">
          <a:xfrm>
            <a:off x="3419475" y="3390900"/>
            <a:ext cx="153988" cy="165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4687888" y="2276475"/>
            <a:ext cx="730250" cy="7302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N</a:t>
            </a:r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4687888" y="3006725"/>
            <a:ext cx="730250" cy="7302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P</a:t>
            </a:r>
          </a:p>
        </p:txBody>
      </p:sp>
      <p:sp>
        <p:nvSpPr>
          <p:cNvPr id="11274" name="Line 10"/>
          <p:cNvSpPr>
            <a:spLocks noChangeShapeType="1"/>
          </p:cNvSpPr>
          <p:nvPr/>
        </p:nvSpPr>
        <p:spPr bwMode="auto">
          <a:xfrm flipV="1">
            <a:off x="3497263" y="2736850"/>
            <a:ext cx="0" cy="654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5710238" y="250666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</a:t>
            </a:r>
          </a:p>
        </p:txBody>
      </p:sp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5724525" y="3197225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B</a:t>
            </a:r>
          </a:p>
        </p:txBody>
      </p:sp>
      <p:sp>
        <p:nvSpPr>
          <p:cNvPr id="11277" name="Rectangle 13"/>
          <p:cNvSpPr>
            <a:spLocks noChangeArrowheads="1"/>
          </p:cNvSpPr>
          <p:nvPr/>
        </p:nvSpPr>
        <p:spPr bwMode="auto">
          <a:xfrm>
            <a:off x="4683125" y="3006725"/>
            <a:ext cx="730250" cy="7302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P</a:t>
            </a:r>
          </a:p>
        </p:txBody>
      </p:sp>
      <p:sp>
        <p:nvSpPr>
          <p:cNvPr id="11278" name="Rectangle 14"/>
          <p:cNvSpPr>
            <a:spLocks noChangeArrowheads="1"/>
          </p:cNvSpPr>
          <p:nvPr/>
        </p:nvSpPr>
        <p:spPr bwMode="auto">
          <a:xfrm>
            <a:off x="4683125" y="3736975"/>
            <a:ext cx="730250" cy="7302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N</a:t>
            </a:r>
          </a:p>
        </p:txBody>
      </p:sp>
      <p:sp>
        <p:nvSpPr>
          <p:cNvPr id="11279" name="Text Box 15"/>
          <p:cNvSpPr txBox="1">
            <a:spLocks noChangeArrowheads="1"/>
          </p:cNvSpPr>
          <p:nvPr/>
        </p:nvSpPr>
        <p:spPr bwMode="auto">
          <a:xfrm>
            <a:off x="5721350" y="317976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B</a:t>
            </a:r>
          </a:p>
        </p:txBody>
      </p:sp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5721350" y="3968750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C</a:t>
            </a:r>
          </a:p>
        </p:txBody>
      </p:sp>
      <p:sp>
        <p:nvSpPr>
          <p:cNvPr id="11281" name="Oval 17"/>
          <p:cNvSpPr>
            <a:spLocks noChangeArrowheads="1"/>
          </p:cNvSpPr>
          <p:nvPr/>
        </p:nvSpPr>
        <p:spPr bwMode="auto">
          <a:xfrm>
            <a:off x="3419475" y="5299075"/>
            <a:ext cx="153988" cy="165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1282" name="Text Box 18"/>
          <p:cNvSpPr txBox="1">
            <a:spLocks noChangeArrowheads="1"/>
          </p:cNvSpPr>
          <p:nvPr/>
        </p:nvSpPr>
        <p:spPr bwMode="auto">
          <a:xfrm>
            <a:off x="2420938" y="1404938"/>
            <a:ext cx="908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</a:t>
            </a:r>
          </a:p>
          <a:p>
            <a:r>
              <a:rPr lang="en-US"/>
              <a:t>Emitter</a:t>
            </a:r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2344738" y="4735513"/>
            <a:ext cx="1085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C</a:t>
            </a:r>
          </a:p>
          <a:p>
            <a:r>
              <a:rPr lang="en-US"/>
              <a:t>Collector</a:t>
            </a:r>
          </a:p>
        </p:txBody>
      </p:sp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2098675" y="3160713"/>
            <a:ext cx="704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B</a:t>
            </a:r>
          </a:p>
          <a:p>
            <a:r>
              <a:rPr lang="en-US"/>
              <a:t>Base</a:t>
            </a:r>
          </a:p>
        </p:txBody>
      </p:sp>
      <p:sp>
        <p:nvSpPr>
          <p:cNvPr id="11285" name="Line 21"/>
          <p:cNvSpPr>
            <a:spLocks noChangeShapeType="1"/>
          </p:cNvSpPr>
          <p:nvPr/>
        </p:nvSpPr>
        <p:spPr bwMode="auto">
          <a:xfrm flipH="1">
            <a:off x="2767013" y="3467100"/>
            <a:ext cx="652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6" name="AutoShape 23"/>
          <p:cNvSpPr>
            <a:spLocks noChangeArrowheads="1"/>
          </p:cNvSpPr>
          <p:nvPr/>
        </p:nvSpPr>
        <p:spPr bwMode="auto">
          <a:xfrm>
            <a:off x="3151188" y="2200275"/>
            <a:ext cx="692150" cy="53816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1287" name="Line 24"/>
          <p:cNvSpPr>
            <a:spLocks noChangeShapeType="1"/>
          </p:cNvSpPr>
          <p:nvPr/>
        </p:nvSpPr>
        <p:spPr bwMode="auto">
          <a:xfrm>
            <a:off x="3113088" y="2200275"/>
            <a:ext cx="7683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8" name="Line 25"/>
          <p:cNvSpPr>
            <a:spLocks noChangeShapeType="1"/>
          </p:cNvSpPr>
          <p:nvPr/>
        </p:nvSpPr>
        <p:spPr bwMode="auto">
          <a:xfrm flipV="1">
            <a:off x="3497263" y="1466850"/>
            <a:ext cx="0" cy="703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9" name="Oval 26"/>
          <p:cNvSpPr>
            <a:spLocks noChangeArrowheads="1"/>
          </p:cNvSpPr>
          <p:nvPr/>
        </p:nvSpPr>
        <p:spPr bwMode="auto">
          <a:xfrm>
            <a:off x="3419475" y="3379788"/>
            <a:ext cx="153988" cy="165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pic>
        <p:nvPicPr>
          <p:cNvPr id="11290" name="Picture 28" descr="04-3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5613" y="820738"/>
            <a:ext cx="8231187" cy="548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7B75A0-934F-4101-B96F-A800A7E14EA7}" type="slidenum">
              <a:rPr lang="en-US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98928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54050"/>
          </a:xfrm>
        </p:spPr>
        <p:txBody>
          <a:bodyPr/>
          <a:lstStyle/>
          <a:p>
            <a:r>
              <a:rPr lang="en-US" sz="2800">
                <a:solidFill>
                  <a:schemeClr val="folHlink"/>
                </a:solidFill>
              </a:rPr>
              <a:t>An unbiased Transistor – Depletion region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3950"/>
            <a:ext cx="8229600" cy="998538"/>
          </a:xfrm>
        </p:spPr>
        <p:txBody>
          <a:bodyPr/>
          <a:lstStyle/>
          <a:p>
            <a:r>
              <a:rPr lang="en-US" sz="2400">
                <a:latin typeface="Times New Roman" pitchFamily="18" charset="0"/>
              </a:rPr>
              <a:t>For an unbiased transistor no external power supplies are connected to it</a:t>
            </a:r>
          </a:p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3398838" y="3275013"/>
            <a:ext cx="1979612" cy="19827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962025" y="3275013"/>
            <a:ext cx="2343150" cy="19827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2294" name="Text Box 12"/>
          <p:cNvSpPr txBox="1">
            <a:spLocks noChangeArrowheads="1"/>
          </p:cNvSpPr>
          <p:nvPr/>
        </p:nvSpPr>
        <p:spPr bwMode="auto">
          <a:xfrm>
            <a:off x="4184650" y="4159250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P</a:t>
            </a:r>
          </a:p>
        </p:txBody>
      </p:sp>
      <p:sp>
        <p:nvSpPr>
          <p:cNvPr id="12295" name="Text Box 13"/>
          <p:cNvSpPr txBox="1">
            <a:spLocks noChangeArrowheads="1"/>
          </p:cNvSpPr>
          <p:nvPr/>
        </p:nvSpPr>
        <p:spPr bwMode="auto">
          <a:xfrm>
            <a:off x="2997200" y="2392363"/>
            <a:ext cx="1035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Junction</a:t>
            </a:r>
          </a:p>
          <a:p>
            <a:r>
              <a:rPr lang="en-US"/>
              <a:t>J</a:t>
            </a:r>
            <a:r>
              <a:rPr lang="en-US" baseline="-18000"/>
              <a:t>EB</a:t>
            </a:r>
          </a:p>
        </p:txBody>
      </p:sp>
      <p:sp>
        <p:nvSpPr>
          <p:cNvPr id="12296" name="Line 14"/>
          <p:cNvSpPr>
            <a:spLocks noChangeShapeType="1"/>
          </p:cNvSpPr>
          <p:nvPr/>
        </p:nvSpPr>
        <p:spPr bwMode="auto">
          <a:xfrm>
            <a:off x="3381375" y="30083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7" name="Line 15"/>
          <p:cNvSpPr>
            <a:spLocks noChangeShapeType="1"/>
          </p:cNvSpPr>
          <p:nvPr/>
        </p:nvSpPr>
        <p:spPr bwMode="auto">
          <a:xfrm flipV="1">
            <a:off x="241300" y="4300538"/>
            <a:ext cx="720725" cy="1111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8" name="Line 16"/>
          <p:cNvSpPr>
            <a:spLocks noChangeShapeType="1"/>
          </p:cNvSpPr>
          <p:nvPr/>
        </p:nvSpPr>
        <p:spPr bwMode="auto">
          <a:xfrm>
            <a:off x="8067675" y="4273550"/>
            <a:ext cx="836613" cy="952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9" name="Text Box 17"/>
          <p:cNvSpPr txBox="1">
            <a:spLocks noChangeArrowheads="1"/>
          </p:cNvSpPr>
          <p:nvPr/>
        </p:nvSpPr>
        <p:spPr bwMode="auto">
          <a:xfrm>
            <a:off x="-36513" y="3851275"/>
            <a:ext cx="908051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Emitter</a:t>
            </a:r>
          </a:p>
        </p:txBody>
      </p:sp>
      <p:sp>
        <p:nvSpPr>
          <p:cNvPr id="12300" name="Text Box 18"/>
          <p:cNvSpPr txBox="1">
            <a:spLocks noChangeArrowheads="1"/>
          </p:cNvSpPr>
          <p:nvPr/>
        </p:nvSpPr>
        <p:spPr bwMode="auto">
          <a:xfrm>
            <a:off x="8067675" y="3830638"/>
            <a:ext cx="1035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collector</a:t>
            </a:r>
          </a:p>
        </p:txBody>
      </p:sp>
      <p:sp>
        <p:nvSpPr>
          <p:cNvPr id="12301" name="Rectangle 28"/>
          <p:cNvSpPr>
            <a:spLocks noChangeArrowheads="1"/>
          </p:cNvSpPr>
          <p:nvPr/>
        </p:nvSpPr>
        <p:spPr bwMode="auto">
          <a:xfrm>
            <a:off x="5454650" y="3275013"/>
            <a:ext cx="2613025" cy="19827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2302" name="Rectangle 29"/>
          <p:cNvSpPr>
            <a:spLocks noChangeArrowheads="1"/>
          </p:cNvSpPr>
          <p:nvPr/>
        </p:nvSpPr>
        <p:spPr bwMode="auto">
          <a:xfrm>
            <a:off x="5378450" y="3275013"/>
            <a:ext cx="96838" cy="19827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2303" name="Text Box 35"/>
          <p:cNvSpPr txBox="1">
            <a:spLocks noChangeArrowheads="1"/>
          </p:cNvSpPr>
          <p:nvPr/>
        </p:nvSpPr>
        <p:spPr bwMode="auto">
          <a:xfrm>
            <a:off x="1806575" y="4197350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N</a:t>
            </a:r>
          </a:p>
        </p:txBody>
      </p:sp>
      <p:sp>
        <p:nvSpPr>
          <p:cNvPr id="12304" name="Line 36"/>
          <p:cNvSpPr>
            <a:spLocks noChangeShapeType="1"/>
          </p:cNvSpPr>
          <p:nvPr/>
        </p:nvSpPr>
        <p:spPr bwMode="auto">
          <a:xfrm flipV="1">
            <a:off x="4418013" y="2698750"/>
            <a:ext cx="0" cy="57626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5" name="Text Box 37"/>
          <p:cNvSpPr txBox="1">
            <a:spLocks noChangeArrowheads="1"/>
          </p:cNvSpPr>
          <p:nvPr/>
        </p:nvSpPr>
        <p:spPr bwMode="auto">
          <a:xfrm>
            <a:off x="4249738" y="2238375"/>
            <a:ext cx="768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Base </a:t>
            </a:r>
          </a:p>
        </p:txBody>
      </p:sp>
      <p:sp>
        <p:nvSpPr>
          <p:cNvPr id="12306" name="Text Box 38"/>
          <p:cNvSpPr txBox="1">
            <a:spLocks noChangeArrowheads="1"/>
          </p:cNvSpPr>
          <p:nvPr/>
        </p:nvSpPr>
        <p:spPr bwMode="auto">
          <a:xfrm>
            <a:off x="5111750" y="2430463"/>
            <a:ext cx="1035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Junction</a:t>
            </a:r>
          </a:p>
          <a:p>
            <a:r>
              <a:rPr lang="en-US"/>
              <a:t>J</a:t>
            </a:r>
            <a:r>
              <a:rPr lang="en-US" baseline="-18000"/>
              <a:t>CB</a:t>
            </a:r>
          </a:p>
        </p:txBody>
      </p:sp>
      <p:sp>
        <p:nvSpPr>
          <p:cNvPr id="12307" name="Line 39"/>
          <p:cNvSpPr>
            <a:spLocks noChangeShapeType="1"/>
          </p:cNvSpPr>
          <p:nvPr/>
        </p:nvSpPr>
        <p:spPr bwMode="auto">
          <a:xfrm>
            <a:off x="5454650" y="30448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8" name="Rectangle 40"/>
          <p:cNvSpPr>
            <a:spLocks noChangeArrowheads="1"/>
          </p:cNvSpPr>
          <p:nvPr/>
        </p:nvSpPr>
        <p:spPr bwMode="auto">
          <a:xfrm>
            <a:off x="3305175" y="3275013"/>
            <a:ext cx="96838" cy="19827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2309" name="Line 52"/>
          <p:cNvSpPr>
            <a:spLocks noChangeShapeType="1"/>
          </p:cNvSpPr>
          <p:nvPr/>
        </p:nvSpPr>
        <p:spPr bwMode="auto">
          <a:xfrm>
            <a:off x="4648200" y="3236913"/>
            <a:ext cx="0" cy="2035175"/>
          </a:xfrm>
          <a:prstGeom prst="line">
            <a:avLst/>
          </a:prstGeom>
          <a:noFill/>
          <a:ln w="9525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0" name="Line 53"/>
          <p:cNvSpPr>
            <a:spLocks noChangeShapeType="1"/>
          </p:cNvSpPr>
          <p:nvPr/>
        </p:nvSpPr>
        <p:spPr bwMode="auto">
          <a:xfrm>
            <a:off x="5878513" y="3275013"/>
            <a:ext cx="0" cy="2035175"/>
          </a:xfrm>
          <a:prstGeom prst="line">
            <a:avLst/>
          </a:prstGeom>
          <a:noFill/>
          <a:ln w="9525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1" name="Line 54"/>
          <p:cNvSpPr>
            <a:spLocks noChangeShapeType="1"/>
          </p:cNvSpPr>
          <p:nvPr/>
        </p:nvSpPr>
        <p:spPr bwMode="auto">
          <a:xfrm>
            <a:off x="4149725" y="3236913"/>
            <a:ext cx="0" cy="2035175"/>
          </a:xfrm>
          <a:prstGeom prst="line">
            <a:avLst/>
          </a:prstGeom>
          <a:noFill/>
          <a:ln w="9525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2" name="Text Box 55"/>
          <p:cNvSpPr txBox="1">
            <a:spLocks noChangeArrowheads="1"/>
          </p:cNvSpPr>
          <p:nvPr/>
        </p:nvSpPr>
        <p:spPr bwMode="auto">
          <a:xfrm>
            <a:off x="6654800" y="4176713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N</a:t>
            </a:r>
          </a:p>
        </p:txBody>
      </p:sp>
      <p:sp>
        <p:nvSpPr>
          <p:cNvPr id="12313" name="Line 56"/>
          <p:cNvSpPr>
            <a:spLocks noChangeShapeType="1"/>
          </p:cNvSpPr>
          <p:nvPr/>
        </p:nvSpPr>
        <p:spPr bwMode="auto">
          <a:xfrm>
            <a:off x="2921000" y="5310188"/>
            <a:ext cx="0" cy="538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4" name="Line 57"/>
          <p:cNvSpPr>
            <a:spLocks noChangeShapeType="1"/>
          </p:cNvSpPr>
          <p:nvPr/>
        </p:nvSpPr>
        <p:spPr bwMode="auto">
          <a:xfrm>
            <a:off x="4149725" y="5310188"/>
            <a:ext cx="0" cy="538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5" name="Line 58"/>
          <p:cNvSpPr>
            <a:spLocks noChangeShapeType="1"/>
          </p:cNvSpPr>
          <p:nvPr/>
        </p:nvSpPr>
        <p:spPr bwMode="auto">
          <a:xfrm>
            <a:off x="4648200" y="5310188"/>
            <a:ext cx="0" cy="538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6" name="Line 59"/>
          <p:cNvSpPr>
            <a:spLocks noChangeShapeType="1"/>
          </p:cNvSpPr>
          <p:nvPr/>
        </p:nvSpPr>
        <p:spPr bwMode="auto">
          <a:xfrm>
            <a:off x="5878513" y="5310188"/>
            <a:ext cx="0" cy="538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7" name="AutoShape 60"/>
          <p:cNvSpPr>
            <a:spLocks/>
          </p:cNvSpPr>
          <p:nvPr/>
        </p:nvSpPr>
        <p:spPr bwMode="auto">
          <a:xfrm rot="5400000">
            <a:off x="3476625" y="5062538"/>
            <a:ext cx="77787" cy="1112838"/>
          </a:xfrm>
          <a:prstGeom prst="rightBrace">
            <a:avLst>
              <a:gd name="adj1" fmla="val 11921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2318" name="AutoShape 61"/>
          <p:cNvSpPr>
            <a:spLocks/>
          </p:cNvSpPr>
          <p:nvPr/>
        </p:nvSpPr>
        <p:spPr bwMode="auto">
          <a:xfrm rot="5400000">
            <a:off x="5205413" y="5062538"/>
            <a:ext cx="77787" cy="1112837"/>
          </a:xfrm>
          <a:prstGeom prst="rightBrace">
            <a:avLst>
              <a:gd name="adj1" fmla="val 11921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2319" name="Text Box 62"/>
          <p:cNvSpPr txBox="1">
            <a:spLocks noChangeArrowheads="1"/>
          </p:cNvSpPr>
          <p:nvPr/>
        </p:nvSpPr>
        <p:spPr bwMode="auto">
          <a:xfrm>
            <a:off x="2959100" y="5667375"/>
            <a:ext cx="1149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Depletion</a:t>
            </a:r>
          </a:p>
          <a:p>
            <a:r>
              <a:rPr lang="en-US"/>
              <a:t>region</a:t>
            </a:r>
          </a:p>
        </p:txBody>
      </p:sp>
      <p:sp>
        <p:nvSpPr>
          <p:cNvPr id="12320" name="Text Box 63"/>
          <p:cNvSpPr txBox="1">
            <a:spLocks noChangeArrowheads="1"/>
          </p:cNvSpPr>
          <p:nvPr/>
        </p:nvSpPr>
        <p:spPr bwMode="auto">
          <a:xfrm>
            <a:off x="4689475" y="5656263"/>
            <a:ext cx="1149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Depletion</a:t>
            </a:r>
          </a:p>
          <a:p>
            <a:r>
              <a:rPr lang="en-US"/>
              <a:t>region</a:t>
            </a:r>
          </a:p>
        </p:txBody>
      </p:sp>
      <p:sp>
        <p:nvSpPr>
          <p:cNvPr id="12321" name="Oval 64"/>
          <p:cNvSpPr>
            <a:spLocks noChangeArrowheads="1"/>
          </p:cNvSpPr>
          <p:nvPr/>
        </p:nvSpPr>
        <p:spPr bwMode="auto">
          <a:xfrm>
            <a:off x="5032375" y="485298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2322" name="Oval 65"/>
          <p:cNvSpPr>
            <a:spLocks noChangeArrowheads="1"/>
          </p:cNvSpPr>
          <p:nvPr/>
        </p:nvSpPr>
        <p:spPr bwMode="auto">
          <a:xfrm>
            <a:off x="5032375" y="447198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2323" name="Oval 66"/>
          <p:cNvSpPr>
            <a:spLocks noChangeArrowheads="1"/>
          </p:cNvSpPr>
          <p:nvPr/>
        </p:nvSpPr>
        <p:spPr bwMode="auto">
          <a:xfrm>
            <a:off x="5032375" y="409098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2324" name="Oval 67"/>
          <p:cNvSpPr>
            <a:spLocks noChangeArrowheads="1"/>
          </p:cNvSpPr>
          <p:nvPr/>
        </p:nvSpPr>
        <p:spPr bwMode="auto">
          <a:xfrm>
            <a:off x="5038725" y="370998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2325" name="Oval 68"/>
          <p:cNvSpPr>
            <a:spLocks noChangeArrowheads="1"/>
          </p:cNvSpPr>
          <p:nvPr/>
        </p:nvSpPr>
        <p:spPr bwMode="auto">
          <a:xfrm>
            <a:off x="5038725" y="332898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2326" name="Oval 69"/>
          <p:cNvSpPr>
            <a:spLocks noChangeArrowheads="1"/>
          </p:cNvSpPr>
          <p:nvPr/>
        </p:nvSpPr>
        <p:spPr bwMode="auto">
          <a:xfrm>
            <a:off x="5534025" y="485298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2327" name="Oval 70"/>
          <p:cNvSpPr>
            <a:spLocks noChangeArrowheads="1"/>
          </p:cNvSpPr>
          <p:nvPr/>
        </p:nvSpPr>
        <p:spPr bwMode="auto">
          <a:xfrm>
            <a:off x="5534025" y="447198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2328" name="Oval 71"/>
          <p:cNvSpPr>
            <a:spLocks noChangeArrowheads="1"/>
          </p:cNvSpPr>
          <p:nvPr/>
        </p:nvSpPr>
        <p:spPr bwMode="auto">
          <a:xfrm>
            <a:off x="5534025" y="409098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2329" name="Oval 72"/>
          <p:cNvSpPr>
            <a:spLocks noChangeArrowheads="1"/>
          </p:cNvSpPr>
          <p:nvPr/>
        </p:nvSpPr>
        <p:spPr bwMode="auto">
          <a:xfrm>
            <a:off x="5530850" y="374808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2330" name="Oval 73"/>
          <p:cNvSpPr>
            <a:spLocks noChangeArrowheads="1"/>
          </p:cNvSpPr>
          <p:nvPr/>
        </p:nvSpPr>
        <p:spPr bwMode="auto">
          <a:xfrm>
            <a:off x="5530850" y="336708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2331" name="Oval 74"/>
          <p:cNvSpPr>
            <a:spLocks noChangeArrowheads="1"/>
          </p:cNvSpPr>
          <p:nvPr/>
        </p:nvSpPr>
        <p:spPr bwMode="auto">
          <a:xfrm>
            <a:off x="4648200" y="48371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2332" name="Oval 75"/>
          <p:cNvSpPr>
            <a:spLocks noChangeArrowheads="1"/>
          </p:cNvSpPr>
          <p:nvPr/>
        </p:nvSpPr>
        <p:spPr bwMode="auto">
          <a:xfrm>
            <a:off x="4648200" y="44561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2333" name="Oval 76"/>
          <p:cNvSpPr>
            <a:spLocks noChangeArrowheads="1"/>
          </p:cNvSpPr>
          <p:nvPr/>
        </p:nvSpPr>
        <p:spPr bwMode="auto">
          <a:xfrm>
            <a:off x="4648200" y="40751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2334" name="Oval 77"/>
          <p:cNvSpPr>
            <a:spLocks noChangeArrowheads="1"/>
          </p:cNvSpPr>
          <p:nvPr/>
        </p:nvSpPr>
        <p:spPr bwMode="auto">
          <a:xfrm>
            <a:off x="4654550" y="36941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2335" name="Oval 78"/>
          <p:cNvSpPr>
            <a:spLocks noChangeArrowheads="1"/>
          </p:cNvSpPr>
          <p:nvPr/>
        </p:nvSpPr>
        <p:spPr bwMode="auto">
          <a:xfrm>
            <a:off x="4654550" y="33131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2336" name="Oval 79"/>
          <p:cNvSpPr>
            <a:spLocks noChangeArrowheads="1"/>
          </p:cNvSpPr>
          <p:nvPr/>
        </p:nvSpPr>
        <p:spPr bwMode="auto">
          <a:xfrm>
            <a:off x="2960688" y="483870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2337" name="Oval 80"/>
          <p:cNvSpPr>
            <a:spLocks noChangeArrowheads="1"/>
          </p:cNvSpPr>
          <p:nvPr/>
        </p:nvSpPr>
        <p:spPr bwMode="auto">
          <a:xfrm>
            <a:off x="2960688" y="445770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2338" name="Oval 81"/>
          <p:cNvSpPr>
            <a:spLocks noChangeArrowheads="1"/>
          </p:cNvSpPr>
          <p:nvPr/>
        </p:nvSpPr>
        <p:spPr bwMode="auto">
          <a:xfrm>
            <a:off x="2960688" y="407670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2339" name="Oval 82"/>
          <p:cNvSpPr>
            <a:spLocks noChangeArrowheads="1"/>
          </p:cNvSpPr>
          <p:nvPr/>
        </p:nvSpPr>
        <p:spPr bwMode="auto">
          <a:xfrm>
            <a:off x="2957513" y="373380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2340" name="Oval 83"/>
          <p:cNvSpPr>
            <a:spLocks noChangeArrowheads="1"/>
          </p:cNvSpPr>
          <p:nvPr/>
        </p:nvSpPr>
        <p:spPr bwMode="auto">
          <a:xfrm>
            <a:off x="2957513" y="335280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2341" name="Line 84"/>
          <p:cNvSpPr>
            <a:spLocks noChangeShapeType="1"/>
          </p:cNvSpPr>
          <p:nvPr/>
        </p:nvSpPr>
        <p:spPr bwMode="auto">
          <a:xfrm>
            <a:off x="2921000" y="3275013"/>
            <a:ext cx="0" cy="2035175"/>
          </a:xfrm>
          <a:prstGeom prst="line">
            <a:avLst/>
          </a:prstGeom>
          <a:noFill/>
          <a:ln w="9525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2" name="Oval 85"/>
          <p:cNvSpPr>
            <a:spLocks noChangeArrowheads="1"/>
          </p:cNvSpPr>
          <p:nvPr/>
        </p:nvSpPr>
        <p:spPr bwMode="auto">
          <a:xfrm>
            <a:off x="3800475" y="489108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2343" name="Oval 86"/>
          <p:cNvSpPr>
            <a:spLocks noChangeArrowheads="1"/>
          </p:cNvSpPr>
          <p:nvPr/>
        </p:nvSpPr>
        <p:spPr bwMode="auto">
          <a:xfrm>
            <a:off x="3800475" y="451008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2344" name="Oval 87"/>
          <p:cNvSpPr>
            <a:spLocks noChangeArrowheads="1"/>
          </p:cNvSpPr>
          <p:nvPr/>
        </p:nvSpPr>
        <p:spPr bwMode="auto">
          <a:xfrm>
            <a:off x="3800475" y="412908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2345" name="Oval 88"/>
          <p:cNvSpPr>
            <a:spLocks noChangeArrowheads="1"/>
          </p:cNvSpPr>
          <p:nvPr/>
        </p:nvSpPr>
        <p:spPr bwMode="auto">
          <a:xfrm>
            <a:off x="3806825" y="374808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2346" name="Oval 89"/>
          <p:cNvSpPr>
            <a:spLocks noChangeArrowheads="1"/>
          </p:cNvSpPr>
          <p:nvPr/>
        </p:nvSpPr>
        <p:spPr bwMode="auto">
          <a:xfrm>
            <a:off x="3806825" y="336708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2347" name="Oval 90"/>
          <p:cNvSpPr>
            <a:spLocks noChangeArrowheads="1"/>
          </p:cNvSpPr>
          <p:nvPr/>
        </p:nvSpPr>
        <p:spPr bwMode="auto">
          <a:xfrm>
            <a:off x="3416300" y="48752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2348" name="Oval 91"/>
          <p:cNvSpPr>
            <a:spLocks noChangeArrowheads="1"/>
          </p:cNvSpPr>
          <p:nvPr/>
        </p:nvSpPr>
        <p:spPr bwMode="auto">
          <a:xfrm>
            <a:off x="3416300" y="44942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2349" name="Oval 92"/>
          <p:cNvSpPr>
            <a:spLocks noChangeArrowheads="1"/>
          </p:cNvSpPr>
          <p:nvPr/>
        </p:nvSpPr>
        <p:spPr bwMode="auto">
          <a:xfrm>
            <a:off x="3416300" y="41132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2350" name="Oval 93"/>
          <p:cNvSpPr>
            <a:spLocks noChangeArrowheads="1"/>
          </p:cNvSpPr>
          <p:nvPr/>
        </p:nvSpPr>
        <p:spPr bwMode="auto">
          <a:xfrm>
            <a:off x="3422650" y="37322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2351" name="Oval 94"/>
          <p:cNvSpPr>
            <a:spLocks noChangeArrowheads="1"/>
          </p:cNvSpPr>
          <p:nvPr/>
        </p:nvSpPr>
        <p:spPr bwMode="auto">
          <a:xfrm>
            <a:off x="3422650" y="33512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695F1B-FB11-42D7-9E52-1C8790A79EBB}" type="slidenum">
              <a:rPr lang="en-US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5380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solidFill>
                  <a:schemeClr val="folHlink"/>
                </a:solidFill>
              </a:rPr>
              <a:t>Transistor biasing in the active region </a:t>
            </a:r>
          </a:p>
        </p:txBody>
      </p:sp>
      <p:graphicFrame>
        <p:nvGraphicFramePr>
          <p:cNvPr id="183343" name="Group 47"/>
          <p:cNvGraphicFramePr>
            <a:graphicFrameLocks noGrp="1"/>
          </p:cNvGraphicFramePr>
          <p:nvPr>
            <p:ph type="tbl" idx="1"/>
          </p:nvPr>
        </p:nvGraphicFramePr>
        <p:xfrm>
          <a:off x="152400" y="1600200"/>
          <a:ext cx="8909050" cy="3387725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28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6376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5423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93198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906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Sr.No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Region of operation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Base emitter junction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Collector base junction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application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230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Cutoff region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Reverse biased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Reverse biased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itchFamily="18" charset="0"/>
                        </a:rPr>
                        <a:t>transistor is OFF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351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Saturation region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Forward biased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Forward biased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itchFamily="18" charset="0"/>
                        </a:rPr>
                        <a:t>transistor is ON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230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Active region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Forward biased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Reverse biased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Amplifier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3347" name="Line 35"/>
          <p:cNvSpPr>
            <a:spLocks noChangeShapeType="1"/>
          </p:cNvSpPr>
          <p:nvPr/>
        </p:nvSpPr>
        <p:spPr bwMode="auto">
          <a:xfrm>
            <a:off x="7299325" y="3198813"/>
            <a:ext cx="460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8" name="Line 36"/>
          <p:cNvSpPr>
            <a:spLocks noChangeShapeType="1"/>
          </p:cNvSpPr>
          <p:nvPr/>
        </p:nvSpPr>
        <p:spPr bwMode="auto">
          <a:xfrm>
            <a:off x="8143875" y="3198813"/>
            <a:ext cx="460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9" name="Oval 37"/>
          <p:cNvSpPr>
            <a:spLocks noChangeArrowheads="1"/>
          </p:cNvSpPr>
          <p:nvPr/>
        </p:nvSpPr>
        <p:spPr bwMode="auto">
          <a:xfrm>
            <a:off x="7721600" y="3121025"/>
            <a:ext cx="114300" cy="115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3350" name="Oval 38"/>
          <p:cNvSpPr>
            <a:spLocks noChangeArrowheads="1"/>
          </p:cNvSpPr>
          <p:nvPr/>
        </p:nvSpPr>
        <p:spPr bwMode="auto">
          <a:xfrm>
            <a:off x="8067675" y="3121025"/>
            <a:ext cx="114300" cy="115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3351" name="Line 39"/>
          <p:cNvSpPr>
            <a:spLocks noChangeShapeType="1"/>
          </p:cNvSpPr>
          <p:nvPr/>
        </p:nvSpPr>
        <p:spPr bwMode="auto">
          <a:xfrm flipV="1">
            <a:off x="7797800" y="2928938"/>
            <a:ext cx="269875" cy="231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2" name="Line 40"/>
          <p:cNvSpPr>
            <a:spLocks noChangeShapeType="1"/>
          </p:cNvSpPr>
          <p:nvPr/>
        </p:nvSpPr>
        <p:spPr bwMode="auto">
          <a:xfrm>
            <a:off x="7299325" y="4005263"/>
            <a:ext cx="460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3" name="Line 41"/>
          <p:cNvSpPr>
            <a:spLocks noChangeShapeType="1"/>
          </p:cNvSpPr>
          <p:nvPr/>
        </p:nvSpPr>
        <p:spPr bwMode="auto">
          <a:xfrm>
            <a:off x="8143875" y="4005263"/>
            <a:ext cx="460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4" name="Oval 42"/>
          <p:cNvSpPr>
            <a:spLocks noChangeArrowheads="1"/>
          </p:cNvSpPr>
          <p:nvPr/>
        </p:nvSpPr>
        <p:spPr bwMode="auto">
          <a:xfrm>
            <a:off x="8067675" y="3927475"/>
            <a:ext cx="114300" cy="115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3355" name="Line 43"/>
          <p:cNvSpPr>
            <a:spLocks noChangeShapeType="1"/>
          </p:cNvSpPr>
          <p:nvPr/>
        </p:nvSpPr>
        <p:spPr bwMode="auto">
          <a:xfrm flipV="1">
            <a:off x="7797800" y="3967163"/>
            <a:ext cx="269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6" name="Oval 44"/>
          <p:cNvSpPr>
            <a:spLocks noChangeArrowheads="1"/>
          </p:cNvSpPr>
          <p:nvPr/>
        </p:nvSpPr>
        <p:spPr bwMode="auto">
          <a:xfrm>
            <a:off x="7721600" y="3929063"/>
            <a:ext cx="114300" cy="1158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90E012-BB9C-4124-89C2-DDB72E27B997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31521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54050"/>
          </a:xfrm>
        </p:spPr>
        <p:txBody>
          <a:bodyPr/>
          <a:lstStyle/>
          <a:p>
            <a:r>
              <a:rPr lang="en-US" sz="2800">
                <a:solidFill>
                  <a:schemeClr val="folHlink"/>
                </a:solidFill>
              </a:rPr>
              <a:t>Transistor operation in the active region P-N-P 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398838" y="1854200"/>
            <a:ext cx="1979612" cy="1982788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990600" y="1854200"/>
            <a:ext cx="2343150" cy="19827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4184650" y="2738438"/>
            <a:ext cx="33655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P</a:t>
            </a: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2997200" y="971550"/>
            <a:ext cx="1035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Junction</a:t>
            </a:r>
          </a:p>
          <a:p>
            <a:r>
              <a:rPr lang="en-US"/>
              <a:t>JEB</a:t>
            </a:r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3381375" y="15875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4" name="Line 8"/>
          <p:cNvSpPr>
            <a:spLocks noChangeShapeType="1"/>
          </p:cNvSpPr>
          <p:nvPr/>
        </p:nvSpPr>
        <p:spPr bwMode="auto">
          <a:xfrm flipV="1">
            <a:off x="241300" y="2879725"/>
            <a:ext cx="720725" cy="1111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5" name="Line 9"/>
          <p:cNvSpPr>
            <a:spLocks noChangeShapeType="1"/>
          </p:cNvSpPr>
          <p:nvPr/>
        </p:nvSpPr>
        <p:spPr bwMode="auto">
          <a:xfrm>
            <a:off x="8067675" y="2852738"/>
            <a:ext cx="836613" cy="952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-36513" y="2430463"/>
            <a:ext cx="908051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Emitter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8067675" y="2409825"/>
            <a:ext cx="1035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collector</a:t>
            </a:r>
          </a:p>
        </p:txBody>
      </p:sp>
      <p:sp>
        <p:nvSpPr>
          <p:cNvPr id="14348" name="Rectangle 12"/>
          <p:cNvSpPr>
            <a:spLocks noChangeArrowheads="1"/>
          </p:cNvSpPr>
          <p:nvPr/>
        </p:nvSpPr>
        <p:spPr bwMode="auto">
          <a:xfrm>
            <a:off x="5454650" y="1854200"/>
            <a:ext cx="2613025" cy="19827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5378450" y="1854200"/>
            <a:ext cx="96838" cy="198278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1806575" y="2776538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N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 flipV="1">
            <a:off x="4418013" y="3813175"/>
            <a:ext cx="0" cy="199707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2" name="Text Box 16"/>
          <p:cNvSpPr txBox="1">
            <a:spLocks noChangeArrowheads="1"/>
          </p:cNvSpPr>
          <p:nvPr/>
        </p:nvSpPr>
        <p:spPr bwMode="auto">
          <a:xfrm>
            <a:off x="3649663" y="5443538"/>
            <a:ext cx="768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Base </a:t>
            </a:r>
          </a:p>
        </p:txBody>
      </p:sp>
      <p:sp>
        <p:nvSpPr>
          <p:cNvPr id="14353" name="Text Box 17"/>
          <p:cNvSpPr txBox="1">
            <a:spLocks noChangeArrowheads="1"/>
          </p:cNvSpPr>
          <p:nvPr/>
        </p:nvSpPr>
        <p:spPr bwMode="auto">
          <a:xfrm>
            <a:off x="5111750" y="1009650"/>
            <a:ext cx="1035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Junction</a:t>
            </a:r>
          </a:p>
          <a:p>
            <a:r>
              <a:rPr lang="en-US"/>
              <a:t>JCB</a:t>
            </a:r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>
            <a:off x="5454650" y="16240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5" name="Rectangle 19"/>
          <p:cNvSpPr>
            <a:spLocks noChangeArrowheads="1"/>
          </p:cNvSpPr>
          <p:nvPr/>
        </p:nvSpPr>
        <p:spPr bwMode="auto">
          <a:xfrm>
            <a:off x="3305175" y="1854200"/>
            <a:ext cx="96838" cy="198278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356" name="Line 20"/>
          <p:cNvSpPr>
            <a:spLocks noChangeShapeType="1"/>
          </p:cNvSpPr>
          <p:nvPr/>
        </p:nvSpPr>
        <p:spPr bwMode="auto">
          <a:xfrm>
            <a:off x="233363" y="3851275"/>
            <a:ext cx="230187" cy="192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7" name="Line 21"/>
          <p:cNvSpPr>
            <a:spLocks noChangeShapeType="1"/>
          </p:cNvSpPr>
          <p:nvPr/>
        </p:nvSpPr>
        <p:spPr bwMode="auto">
          <a:xfrm>
            <a:off x="155575" y="4273550"/>
            <a:ext cx="346075" cy="2301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8" name="Line 22"/>
          <p:cNvSpPr>
            <a:spLocks noChangeShapeType="1"/>
          </p:cNvSpPr>
          <p:nvPr/>
        </p:nvSpPr>
        <p:spPr bwMode="auto">
          <a:xfrm>
            <a:off x="155575" y="4695825"/>
            <a:ext cx="230188" cy="192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9" name="Line 23"/>
          <p:cNvSpPr>
            <a:spLocks noChangeShapeType="1"/>
          </p:cNvSpPr>
          <p:nvPr/>
        </p:nvSpPr>
        <p:spPr bwMode="auto">
          <a:xfrm flipV="1">
            <a:off x="155575" y="4503738"/>
            <a:ext cx="346075" cy="192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0" name="Line 24"/>
          <p:cNvSpPr>
            <a:spLocks noChangeShapeType="1"/>
          </p:cNvSpPr>
          <p:nvPr/>
        </p:nvSpPr>
        <p:spPr bwMode="auto">
          <a:xfrm flipV="1">
            <a:off x="117475" y="4043363"/>
            <a:ext cx="384175" cy="2301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1" name="Line 25"/>
          <p:cNvSpPr>
            <a:spLocks noChangeShapeType="1"/>
          </p:cNvSpPr>
          <p:nvPr/>
        </p:nvSpPr>
        <p:spPr bwMode="auto">
          <a:xfrm>
            <a:off x="269875" y="2890838"/>
            <a:ext cx="0" cy="960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2" name="Line 26"/>
          <p:cNvSpPr>
            <a:spLocks noChangeShapeType="1"/>
          </p:cNvSpPr>
          <p:nvPr/>
        </p:nvSpPr>
        <p:spPr bwMode="auto">
          <a:xfrm>
            <a:off x="347663" y="4849813"/>
            <a:ext cx="0" cy="960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3" name="Line 27"/>
          <p:cNvSpPr>
            <a:spLocks noChangeShapeType="1"/>
          </p:cNvSpPr>
          <p:nvPr/>
        </p:nvSpPr>
        <p:spPr bwMode="auto">
          <a:xfrm flipH="1">
            <a:off x="347663" y="5810250"/>
            <a:ext cx="18811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4" name="Line 28"/>
          <p:cNvSpPr>
            <a:spLocks noChangeShapeType="1"/>
          </p:cNvSpPr>
          <p:nvPr/>
        </p:nvSpPr>
        <p:spPr bwMode="auto">
          <a:xfrm flipH="1">
            <a:off x="2767013" y="5810250"/>
            <a:ext cx="1689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5" name="Line 29"/>
          <p:cNvSpPr>
            <a:spLocks noChangeShapeType="1"/>
          </p:cNvSpPr>
          <p:nvPr/>
        </p:nvSpPr>
        <p:spPr bwMode="auto">
          <a:xfrm>
            <a:off x="2420938" y="5580063"/>
            <a:ext cx="0" cy="422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6" name="Line 30"/>
          <p:cNvSpPr>
            <a:spLocks noChangeShapeType="1"/>
          </p:cNvSpPr>
          <p:nvPr/>
        </p:nvSpPr>
        <p:spPr bwMode="auto">
          <a:xfrm flipH="1">
            <a:off x="2574925" y="5540375"/>
            <a:ext cx="0" cy="4619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7" name="Line 31"/>
          <p:cNvSpPr>
            <a:spLocks noChangeShapeType="1"/>
          </p:cNvSpPr>
          <p:nvPr/>
        </p:nvSpPr>
        <p:spPr bwMode="auto">
          <a:xfrm flipH="1">
            <a:off x="2228850" y="5426075"/>
            <a:ext cx="0" cy="766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174875" y="6272213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V</a:t>
            </a:r>
            <a:r>
              <a:rPr lang="en-US" baseline="-20000"/>
              <a:t>EE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601663" y="4235450"/>
            <a:ext cx="450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RE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1768475" y="5327650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+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852738" y="5195888"/>
            <a:ext cx="260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-</a:t>
            </a:r>
          </a:p>
        </p:txBody>
      </p:sp>
      <p:sp>
        <p:nvSpPr>
          <p:cNvPr id="14372" name="Line 36"/>
          <p:cNvSpPr>
            <a:spLocks noChangeShapeType="1"/>
          </p:cNvSpPr>
          <p:nvPr/>
        </p:nvSpPr>
        <p:spPr bwMode="auto">
          <a:xfrm>
            <a:off x="8821738" y="3775075"/>
            <a:ext cx="230187" cy="192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3" name="Line 37"/>
          <p:cNvSpPr>
            <a:spLocks noChangeShapeType="1"/>
          </p:cNvSpPr>
          <p:nvPr/>
        </p:nvSpPr>
        <p:spPr bwMode="auto">
          <a:xfrm>
            <a:off x="8743950" y="4197350"/>
            <a:ext cx="346075" cy="2301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4" name="Line 38"/>
          <p:cNvSpPr>
            <a:spLocks noChangeShapeType="1"/>
          </p:cNvSpPr>
          <p:nvPr/>
        </p:nvSpPr>
        <p:spPr bwMode="auto">
          <a:xfrm>
            <a:off x="8743950" y="4619625"/>
            <a:ext cx="230188" cy="192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5" name="Line 39"/>
          <p:cNvSpPr>
            <a:spLocks noChangeShapeType="1"/>
          </p:cNvSpPr>
          <p:nvPr/>
        </p:nvSpPr>
        <p:spPr bwMode="auto">
          <a:xfrm flipV="1">
            <a:off x="8743950" y="4427538"/>
            <a:ext cx="346075" cy="192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6" name="Line 40"/>
          <p:cNvSpPr>
            <a:spLocks noChangeShapeType="1"/>
          </p:cNvSpPr>
          <p:nvPr/>
        </p:nvSpPr>
        <p:spPr bwMode="auto">
          <a:xfrm flipV="1">
            <a:off x="8705850" y="3967163"/>
            <a:ext cx="384175" cy="2301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7" name="Line 41"/>
          <p:cNvSpPr>
            <a:spLocks noChangeShapeType="1"/>
          </p:cNvSpPr>
          <p:nvPr/>
        </p:nvSpPr>
        <p:spPr bwMode="auto">
          <a:xfrm>
            <a:off x="8950325" y="4735513"/>
            <a:ext cx="0" cy="11128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8" name="Text Box 42"/>
          <p:cNvSpPr txBox="1">
            <a:spLocks noChangeArrowheads="1"/>
          </p:cNvSpPr>
          <p:nvPr/>
        </p:nvSpPr>
        <p:spPr bwMode="auto">
          <a:xfrm>
            <a:off x="8143875" y="4159250"/>
            <a:ext cx="4587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RC</a:t>
            </a:r>
          </a:p>
        </p:txBody>
      </p:sp>
      <p:sp>
        <p:nvSpPr>
          <p:cNvPr id="14379" name="Line 43"/>
          <p:cNvSpPr>
            <a:spLocks noChangeShapeType="1"/>
          </p:cNvSpPr>
          <p:nvPr/>
        </p:nvSpPr>
        <p:spPr bwMode="auto">
          <a:xfrm flipH="1">
            <a:off x="4456113" y="5810250"/>
            <a:ext cx="18811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0" name="Line 44"/>
          <p:cNvSpPr>
            <a:spLocks noChangeShapeType="1"/>
          </p:cNvSpPr>
          <p:nvPr/>
        </p:nvSpPr>
        <p:spPr bwMode="auto">
          <a:xfrm flipH="1" flipV="1">
            <a:off x="6875463" y="5810250"/>
            <a:ext cx="2074862" cy="174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1" name="Line 45"/>
          <p:cNvSpPr>
            <a:spLocks noChangeShapeType="1"/>
          </p:cNvSpPr>
          <p:nvPr/>
        </p:nvSpPr>
        <p:spPr bwMode="auto">
          <a:xfrm flipH="1">
            <a:off x="6530975" y="5540375"/>
            <a:ext cx="0" cy="4619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2" name="Line 46"/>
          <p:cNvSpPr>
            <a:spLocks noChangeShapeType="1"/>
          </p:cNvSpPr>
          <p:nvPr/>
        </p:nvSpPr>
        <p:spPr bwMode="auto">
          <a:xfrm flipH="1">
            <a:off x="6877050" y="5541963"/>
            <a:ext cx="0" cy="4619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6283325" y="6254750"/>
            <a:ext cx="555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V</a:t>
            </a:r>
            <a:r>
              <a:rPr lang="en-US" baseline="-20000"/>
              <a:t>CC</a:t>
            </a:r>
          </a:p>
        </p:txBody>
      </p:sp>
      <p:sp>
        <p:nvSpPr>
          <p:cNvPr id="14384" name="Text Box 48"/>
          <p:cNvSpPr txBox="1">
            <a:spLocks noChangeArrowheads="1"/>
          </p:cNvSpPr>
          <p:nvPr/>
        </p:nvSpPr>
        <p:spPr bwMode="auto">
          <a:xfrm>
            <a:off x="6961188" y="5349875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-</a:t>
            </a:r>
          </a:p>
        </p:txBody>
      </p:sp>
      <p:sp>
        <p:nvSpPr>
          <p:cNvPr id="14385" name="Line 49"/>
          <p:cNvSpPr>
            <a:spLocks noChangeShapeType="1"/>
          </p:cNvSpPr>
          <p:nvPr/>
        </p:nvSpPr>
        <p:spPr bwMode="auto">
          <a:xfrm>
            <a:off x="8874125" y="2852738"/>
            <a:ext cx="0" cy="960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6" name="Oval 50"/>
          <p:cNvSpPr>
            <a:spLocks noChangeArrowheads="1"/>
          </p:cNvSpPr>
          <p:nvPr/>
        </p:nvSpPr>
        <p:spPr bwMode="auto">
          <a:xfrm>
            <a:off x="4302125" y="5656263"/>
            <a:ext cx="231775" cy="268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387" name="Oval 51"/>
          <p:cNvSpPr>
            <a:spLocks noChangeArrowheads="1"/>
          </p:cNvSpPr>
          <p:nvPr/>
        </p:nvSpPr>
        <p:spPr bwMode="auto">
          <a:xfrm>
            <a:off x="8758238" y="2738438"/>
            <a:ext cx="231775" cy="268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388" name="Oval 52"/>
          <p:cNvSpPr>
            <a:spLocks noChangeArrowheads="1"/>
          </p:cNvSpPr>
          <p:nvPr/>
        </p:nvSpPr>
        <p:spPr bwMode="auto">
          <a:xfrm>
            <a:off x="153988" y="2738438"/>
            <a:ext cx="231775" cy="268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389" name="Rectangle 53"/>
          <p:cNvSpPr>
            <a:spLocks noChangeArrowheads="1"/>
          </p:cNvSpPr>
          <p:nvPr/>
        </p:nvSpPr>
        <p:spPr bwMode="auto">
          <a:xfrm>
            <a:off x="5378450" y="1854200"/>
            <a:ext cx="96838" cy="1982788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390" name="Rectangle 54"/>
          <p:cNvSpPr>
            <a:spLocks noChangeArrowheads="1"/>
          </p:cNvSpPr>
          <p:nvPr/>
        </p:nvSpPr>
        <p:spPr bwMode="auto">
          <a:xfrm>
            <a:off x="3305175" y="1854200"/>
            <a:ext cx="96838" cy="1982788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391" name="AutoShape 55"/>
          <p:cNvSpPr>
            <a:spLocks noChangeArrowheads="1"/>
          </p:cNvSpPr>
          <p:nvPr/>
        </p:nvSpPr>
        <p:spPr bwMode="auto">
          <a:xfrm>
            <a:off x="1882775" y="1968500"/>
            <a:ext cx="5376863" cy="1690688"/>
          </a:xfrm>
          <a:prstGeom prst="rightArrow">
            <a:avLst>
              <a:gd name="adj1" fmla="val 50000"/>
              <a:gd name="adj2" fmla="val 79507"/>
            </a:avLst>
          </a:prstGeom>
          <a:solidFill>
            <a:srgbClr val="FF00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392" name="AutoShape 56"/>
          <p:cNvSpPr>
            <a:spLocks noChangeArrowheads="1"/>
          </p:cNvSpPr>
          <p:nvPr/>
        </p:nvSpPr>
        <p:spPr bwMode="auto">
          <a:xfrm>
            <a:off x="4111625" y="3236913"/>
            <a:ext cx="652463" cy="576262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393" name="Oval 57"/>
          <p:cNvSpPr>
            <a:spLocks noChangeArrowheads="1"/>
          </p:cNvSpPr>
          <p:nvPr/>
        </p:nvSpPr>
        <p:spPr bwMode="auto">
          <a:xfrm>
            <a:off x="1960563" y="2700338"/>
            <a:ext cx="230187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394" name="Oval 58"/>
          <p:cNvSpPr>
            <a:spLocks noChangeArrowheads="1"/>
          </p:cNvSpPr>
          <p:nvPr/>
        </p:nvSpPr>
        <p:spPr bwMode="auto">
          <a:xfrm>
            <a:off x="1960563" y="2968625"/>
            <a:ext cx="230187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395" name="Oval 59"/>
          <p:cNvSpPr>
            <a:spLocks noChangeArrowheads="1"/>
          </p:cNvSpPr>
          <p:nvPr/>
        </p:nvSpPr>
        <p:spPr bwMode="auto">
          <a:xfrm>
            <a:off x="1960563" y="2430463"/>
            <a:ext cx="230187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396" name="Oval 60"/>
          <p:cNvSpPr>
            <a:spLocks noChangeArrowheads="1"/>
          </p:cNvSpPr>
          <p:nvPr/>
        </p:nvSpPr>
        <p:spPr bwMode="auto">
          <a:xfrm>
            <a:off x="2266950" y="2700338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397" name="Oval 61"/>
          <p:cNvSpPr>
            <a:spLocks noChangeArrowheads="1"/>
          </p:cNvSpPr>
          <p:nvPr/>
        </p:nvSpPr>
        <p:spPr bwMode="auto">
          <a:xfrm>
            <a:off x="2266950" y="2968625"/>
            <a:ext cx="230188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398" name="Oval 62"/>
          <p:cNvSpPr>
            <a:spLocks noChangeArrowheads="1"/>
          </p:cNvSpPr>
          <p:nvPr/>
        </p:nvSpPr>
        <p:spPr bwMode="auto">
          <a:xfrm>
            <a:off x="2266950" y="2430463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399" name="Oval 63"/>
          <p:cNvSpPr>
            <a:spLocks noChangeArrowheads="1"/>
          </p:cNvSpPr>
          <p:nvPr/>
        </p:nvSpPr>
        <p:spPr bwMode="auto">
          <a:xfrm>
            <a:off x="2574925" y="2700338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00" name="Oval 64"/>
          <p:cNvSpPr>
            <a:spLocks noChangeArrowheads="1"/>
          </p:cNvSpPr>
          <p:nvPr/>
        </p:nvSpPr>
        <p:spPr bwMode="auto">
          <a:xfrm>
            <a:off x="2574925" y="2968625"/>
            <a:ext cx="230188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01" name="Oval 65"/>
          <p:cNvSpPr>
            <a:spLocks noChangeArrowheads="1"/>
          </p:cNvSpPr>
          <p:nvPr/>
        </p:nvSpPr>
        <p:spPr bwMode="auto">
          <a:xfrm>
            <a:off x="2574925" y="2430463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02" name="Oval 66"/>
          <p:cNvSpPr>
            <a:spLocks noChangeArrowheads="1"/>
          </p:cNvSpPr>
          <p:nvPr/>
        </p:nvSpPr>
        <p:spPr bwMode="auto">
          <a:xfrm>
            <a:off x="2921000" y="2700338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03" name="Oval 67"/>
          <p:cNvSpPr>
            <a:spLocks noChangeArrowheads="1"/>
          </p:cNvSpPr>
          <p:nvPr/>
        </p:nvSpPr>
        <p:spPr bwMode="auto">
          <a:xfrm>
            <a:off x="2921000" y="2968625"/>
            <a:ext cx="230188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04" name="Oval 68"/>
          <p:cNvSpPr>
            <a:spLocks noChangeArrowheads="1"/>
          </p:cNvSpPr>
          <p:nvPr/>
        </p:nvSpPr>
        <p:spPr bwMode="auto">
          <a:xfrm>
            <a:off x="2921000" y="2430463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05" name="Oval 69"/>
          <p:cNvSpPr>
            <a:spLocks noChangeArrowheads="1"/>
          </p:cNvSpPr>
          <p:nvPr/>
        </p:nvSpPr>
        <p:spPr bwMode="auto">
          <a:xfrm>
            <a:off x="3227388" y="2700338"/>
            <a:ext cx="230187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06" name="Oval 70"/>
          <p:cNvSpPr>
            <a:spLocks noChangeArrowheads="1"/>
          </p:cNvSpPr>
          <p:nvPr/>
        </p:nvSpPr>
        <p:spPr bwMode="auto">
          <a:xfrm>
            <a:off x="3227388" y="2968625"/>
            <a:ext cx="230187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07" name="Oval 71"/>
          <p:cNvSpPr>
            <a:spLocks noChangeArrowheads="1"/>
          </p:cNvSpPr>
          <p:nvPr/>
        </p:nvSpPr>
        <p:spPr bwMode="auto">
          <a:xfrm>
            <a:off x="3227388" y="2430463"/>
            <a:ext cx="230187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08" name="Oval 72"/>
          <p:cNvSpPr>
            <a:spLocks noChangeArrowheads="1"/>
          </p:cNvSpPr>
          <p:nvPr/>
        </p:nvSpPr>
        <p:spPr bwMode="auto">
          <a:xfrm>
            <a:off x="3651250" y="2700338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09" name="Oval 73"/>
          <p:cNvSpPr>
            <a:spLocks noChangeArrowheads="1"/>
          </p:cNvSpPr>
          <p:nvPr/>
        </p:nvSpPr>
        <p:spPr bwMode="auto">
          <a:xfrm>
            <a:off x="3651250" y="2968625"/>
            <a:ext cx="230188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10" name="Oval 74"/>
          <p:cNvSpPr>
            <a:spLocks noChangeArrowheads="1"/>
          </p:cNvSpPr>
          <p:nvPr/>
        </p:nvSpPr>
        <p:spPr bwMode="auto">
          <a:xfrm>
            <a:off x="3651250" y="2430463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11" name="Oval 75"/>
          <p:cNvSpPr>
            <a:spLocks noChangeArrowheads="1"/>
          </p:cNvSpPr>
          <p:nvPr/>
        </p:nvSpPr>
        <p:spPr bwMode="auto">
          <a:xfrm>
            <a:off x="3995738" y="2700338"/>
            <a:ext cx="230187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12" name="Oval 76"/>
          <p:cNvSpPr>
            <a:spLocks noChangeArrowheads="1"/>
          </p:cNvSpPr>
          <p:nvPr/>
        </p:nvSpPr>
        <p:spPr bwMode="auto">
          <a:xfrm>
            <a:off x="3995738" y="2968625"/>
            <a:ext cx="230187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13" name="Oval 77"/>
          <p:cNvSpPr>
            <a:spLocks noChangeArrowheads="1"/>
          </p:cNvSpPr>
          <p:nvPr/>
        </p:nvSpPr>
        <p:spPr bwMode="auto">
          <a:xfrm>
            <a:off x="3995738" y="2430463"/>
            <a:ext cx="230187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14" name="Oval 78"/>
          <p:cNvSpPr>
            <a:spLocks noChangeArrowheads="1"/>
          </p:cNvSpPr>
          <p:nvPr/>
        </p:nvSpPr>
        <p:spPr bwMode="auto">
          <a:xfrm>
            <a:off x="4302125" y="2700338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15" name="Oval 79"/>
          <p:cNvSpPr>
            <a:spLocks noChangeArrowheads="1"/>
          </p:cNvSpPr>
          <p:nvPr/>
        </p:nvSpPr>
        <p:spPr bwMode="auto">
          <a:xfrm>
            <a:off x="4302125" y="2968625"/>
            <a:ext cx="230188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16" name="Oval 80"/>
          <p:cNvSpPr>
            <a:spLocks noChangeArrowheads="1"/>
          </p:cNvSpPr>
          <p:nvPr/>
        </p:nvSpPr>
        <p:spPr bwMode="auto">
          <a:xfrm>
            <a:off x="4302125" y="2430463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17" name="Oval 81"/>
          <p:cNvSpPr>
            <a:spLocks noChangeArrowheads="1"/>
          </p:cNvSpPr>
          <p:nvPr/>
        </p:nvSpPr>
        <p:spPr bwMode="auto">
          <a:xfrm>
            <a:off x="4610100" y="2700338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18" name="Oval 82"/>
          <p:cNvSpPr>
            <a:spLocks noChangeArrowheads="1"/>
          </p:cNvSpPr>
          <p:nvPr/>
        </p:nvSpPr>
        <p:spPr bwMode="auto">
          <a:xfrm>
            <a:off x="4610100" y="2968625"/>
            <a:ext cx="230188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19" name="Oval 83"/>
          <p:cNvSpPr>
            <a:spLocks noChangeArrowheads="1"/>
          </p:cNvSpPr>
          <p:nvPr/>
        </p:nvSpPr>
        <p:spPr bwMode="auto">
          <a:xfrm>
            <a:off x="4610100" y="2430463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20" name="Oval 84"/>
          <p:cNvSpPr>
            <a:spLocks noChangeArrowheads="1"/>
          </p:cNvSpPr>
          <p:nvPr/>
        </p:nvSpPr>
        <p:spPr bwMode="auto">
          <a:xfrm>
            <a:off x="4918075" y="2700338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21" name="Oval 85"/>
          <p:cNvSpPr>
            <a:spLocks noChangeArrowheads="1"/>
          </p:cNvSpPr>
          <p:nvPr/>
        </p:nvSpPr>
        <p:spPr bwMode="auto">
          <a:xfrm>
            <a:off x="4918075" y="2968625"/>
            <a:ext cx="230188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22" name="Oval 86"/>
          <p:cNvSpPr>
            <a:spLocks noChangeArrowheads="1"/>
          </p:cNvSpPr>
          <p:nvPr/>
        </p:nvSpPr>
        <p:spPr bwMode="auto">
          <a:xfrm>
            <a:off x="4918075" y="2430463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23" name="Oval 87"/>
          <p:cNvSpPr>
            <a:spLocks noChangeArrowheads="1"/>
          </p:cNvSpPr>
          <p:nvPr/>
        </p:nvSpPr>
        <p:spPr bwMode="auto">
          <a:xfrm>
            <a:off x="5224463" y="2700338"/>
            <a:ext cx="230187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24" name="Oval 88"/>
          <p:cNvSpPr>
            <a:spLocks noChangeArrowheads="1"/>
          </p:cNvSpPr>
          <p:nvPr/>
        </p:nvSpPr>
        <p:spPr bwMode="auto">
          <a:xfrm>
            <a:off x="5224463" y="2968625"/>
            <a:ext cx="230187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25" name="Oval 89"/>
          <p:cNvSpPr>
            <a:spLocks noChangeArrowheads="1"/>
          </p:cNvSpPr>
          <p:nvPr/>
        </p:nvSpPr>
        <p:spPr bwMode="auto">
          <a:xfrm>
            <a:off x="5224463" y="2430463"/>
            <a:ext cx="230187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26" name="Oval 90"/>
          <p:cNvSpPr>
            <a:spLocks noChangeArrowheads="1"/>
          </p:cNvSpPr>
          <p:nvPr/>
        </p:nvSpPr>
        <p:spPr bwMode="auto">
          <a:xfrm>
            <a:off x="5532438" y="2700338"/>
            <a:ext cx="230187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27" name="Oval 91"/>
          <p:cNvSpPr>
            <a:spLocks noChangeArrowheads="1"/>
          </p:cNvSpPr>
          <p:nvPr/>
        </p:nvSpPr>
        <p:spPr bwMode="auto">
          <a:xfrm>
            <a:off x="5532438" y="2968625"/>
            <a:ext cx="230187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28" name="Oval 92"/>
          <p:cNvSpPr>
            <a:spLocks noChangeArrowheads="1"/>
          </p:cNvSpPr>
          <p:nvPr/>
        </p:nvSpPr>
        <p:spPr bwMode="auto">
          <a:xfrm>
            <a:off x="5532438" y="2430463"/>
            <a:ext cx="230187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29" name="Oval 93"/>
          <p:cNvSpPr>
            <a:spLocks noChangeArrowheads="1"/>
          </p:cNvSpPr>
          <p:nvPr/>
        </p:nvSpPr>
        <p:spPr bwMode="auto">
          <a:xfrm>
            <a:off x="5878513" y="2700338"/>
            <a:ext cx="230187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30" name="Oval 94"/>
          <p:cNvSpPr>
            <a:spLocks noChangeArrowheads="1"/>
          </p:cNvSpPr>
          <p:nvPr/>
        </p:nvSpPr>
        <p:spPr bwMode="auto">
          <a:xfrm>
            <a:off x="5878513" y="2968625"/>
            <a:ext cx="230187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31" name="Oval 95"/>
          <p:cNvSpPr>
            <a:spLocks noChangeArrowheads="1"/>
          </p:cNvSpPr>
          <p:nvPr/>
        </p:nvSpPr>
        <p:spPr bwMode="auto">
          <a:xfrm>
            <a:off x="5878513" y="2430463"/>
            <a:ext cx="230187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32" name="Oval 96"/>
          <p:cNvSpPr>
            <a:spLocks noChangeArrowheads="1"/>
          </p:cNvSpPr>
          <p:nvPr/>
        </p:nvSpPr>
        <p:spPr bwMode="auto">
          <a:xfrm>
            <a:off x="6184900" y="2700338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33" name="Oval 97"/>
          <p:cNvSpPr>
            <a:spLocks noChangeArrowheads="1"/>
          </p:cNvSpPr>
          <p:nvPr/>
        </p:nvSpPr>
        <p:spPr bwMode="auto">
          <a:xfrm>
            <a:off x="6184900" y="2968625"/>
            <a:ext cx="230188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34" name="Oval 98"/>
          <p:cNvSpPr>
            <a:spLocks noChangeArrowheads="1"/>
          </p:cNvSpPr>
          <p:nvPr/>
        </p:nvSpPr>
        <p:spPr bwMode="auto">
          <a:xfrm>
            <a:off x="6184900" y="2430463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35" name="Oval 99"/>
          <p:cNvSpPr>
            <a:spLocks noChangeArrowheads="1"/>
          </p:cNvSpPr>
          <p:nvPr/>
        </p:nvSpPr>
        <p:spPr bwMode="auto">
          <a:xfrm>
            <a:off x="6492875" y="2700338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36" name="Oval 100"/>
          <p:cNvSpPr>
            <a:spLocks noChangeArrowheads="1"/>
          </p:cNvSpPr>
          <p:nvPr/>
        </p:nvSpPr>
        <p:spPr bwMode="auto">
          <a:xfrm>
            <a:off x="6492875" y="2968625"/>
            <a:ext cx="230188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37" name="Oval 101"/>
          <p:cNvSpPr>
            <a:spLocks noChangeArrowheads="1"/>
          </p:cNvSpPr>
          <p:nvPr/>
        </p:nvSpPr>
        <p:spPr bwMode="auto">
          <a:xfrm>
            <a:off x="6492875" y="2430463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38" name="Oval 102"/>
          <p:cNvSpPr>
            <a:spLocks noChangeArrowheads="1"/>
          </p:cNvSpPr>
          <p:nvPr/>
        </p:nvSpPr>
        <p:spPr bwMode="auto">
          <a:xfrm>
            <a:off x="4303713" y="3236913"/>
            <a:ext cx="230187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39" name="Oval 103"/>
          <p:cNvSpPr>
            <a:spLocks noChangeArrowheads="1"/>
          </p:cNvSpPr>
          <p:nvPr/>
        </p:nvSpPr>
        <p:spPr bwMode="auto">
          <a:xfrm>
            <a:off x="4303713" y="3506788"/>
            <a:ext cx="230187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40" name="Oval 104"/>
          <p:cNvSpPr>
            <a:spLocks noChangeArrowheads="1"/>
          </p:cNvSpPr>
          <p:nvPr/>
        </p:nvSpPr>
        <p:spPr bwMode="auto">
          <a:xfrm>
            <a:off x="6838950" y="2698750"/>
            <a:ext cx="230188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41" name="Oval 105"/>
          <p:cNvSpPr>
            <a:spLocks noChangeArrowheads="1"/>
          </p:cNvSpPr>
          <p:nvPr/>
        </p:nvSpPr>
        <p:spPr bwMode="auto">
          <a:xfrm>
            <a:off x="5992813" y="2162175"/>
            <a:ext cx="230187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42" name="Oval 106"/>
          <p:cNvSpPr>
            <a:spLocks noChangeArrowheads="1"/>
          </p:cNvSpPr>
          <p:nvPr/>
        </p:nvSpPr>
        <p:spPr bwMode="auto">
          <a:xfrm>
            <a:off x="5992813" y="3236913"/>
            <a:ext cx="230187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43" name="Text Box 107"/>
          <p:cNvSpPr txBox="1">
            <a:spLocks noChangeArrowheads="1"/>
          </p:cNvSpPr>
          <p:nvPr/>
        </p:nvSpPr>
        <p:spPr bwMode="auto">
          <a:xfrm>
            <a:off x="1038225" y="3254375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holes emitted</a:t>
            </a:r>
          </a:p>
        </p:txBody>
      </p:sp>
      <p:sp>
        <p:nvSpPr>
          <p:cNvPr id="14444" name="Text Box 108"/>
          <p:cNvSpPr txBox="1">
            <a:spLocks noChangeArrowheads="1"/>
          </p:cNvSpPr>
          <p:nvPr/>
        </p:nvSpPr>
        <p:spPr bwMode="auto">
          <a:xfrm>
            <a:off x="5992813" y="3484563"/>
            <a:ext cx="1835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holes collected</a:t>
            </a:r>
          </a:p>
        </p:txBody>
      </p:sp>
      <p:sp>
        <p:nvSpPr>
          <p:cNvPr id="14445" name="Text Box 110"/>
          <p:cNvSpPr txBox="1">
            <a:spLocks noChangeArrowheads="1"/>
          </p:cNvSpPr>
          <p:nvPr/>
        </p:nvSpPr>
        <p:spPr bwMode="auto">
          <a:xfrm>
            <a:off x="231775" y="6013450"/>
            <a:ext cx="1517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>
                <a:solidFill>
                  <a:srgbClr val="C00000"/>
                </a:solidFill>
              </a:rPr>
              <a:t>Conventional</a:t>
            </a:r>
          </a:p>
          <a:p>
            <a:r>
              <a:rPr lang="en-US">
                <a:solidFill>
                  <a:srgbClr val="C00000"/>
                </a:solidFill>
              </a:rPr>
              <a:t>current</a:t>
            </a:r>
          </a:p>
        </p:txBody>
      </p:sp>
      <p:sp>
        <p:nvSpPr>
          <p:cNvPr id="14446" name="Line 111"/>
          <p:cNvSpPr>
            <a:spLocks noChangeShapeType="1"/>
          </p:cNvSpPr>
          <p:nvPr/>
        </p:nvSpPr>
        <p:spPr bwMode="auto">
          <a:xfrm flipH="1">
            <a:off x="654050" y="5541963"/>
            <a:ext cx="654050" cy="0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47" name="Line 112"/>
          <p:cNvSpPr>
            <a:spLocks noChangeShapeType="1"/>
          </p:cNvSpPr>
          <p:nvPr/>
        </p:nvSpPr>
        <p:spPr bwMode="auto">
          <a:xfrm flipV="1">
            <a:off x="539750" y="5656263"/>
            <a:ext cx="384175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48" name="Line 113"/>
          <p:cNvSpPr>
            <a:spLocks noChangeShapeType="1"/>
          </p:cNvSpPr>
          <p:nvPr/>
        </p:nvSpPr>
        <p:spPr bwMode="auto">
          <a:xfrm flipV="1">
            <a:off x="615950" y="4581525"/>
            <a:ext cx="0" cy="536575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49" name="Line 114"/>
          <p:cNvSpPr>
            <a:spLocks noChangeShapeType="1"/>
          </p:cNvSpPr>
          <p:nvPr/>
        </p:nvSpPr>
        <p:spPr bwMode="auto">
          <a:xfrm flipV="1">
            <a:off x="461963" y="3236913"/>
            <a:ext cx="0" cy="536575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50" name="Line 115"/>
          <p:cNvSpPr>
            <a:spLocks noChangeShapeType="1"/>
          </p:cNvSpPr>
          <p:nvPr/>
        </p:nvSpPr>
        <p:spPr bwMode="auto">
          <a:xfrm>
            <a:off x="423863" y="3121025"/>
            <a:ext cx="498475" cy="1588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51" name="Line 116"/>
          <p:cNvSpPr>
            <a:spLocks noChangeShapeType="1"/>
          </p:cNvSpPr>
          <p:nvPr/>
        </p:nvSpPr>
        <p:spPr bwMode="auto">
          <a:xfrm>
            <a:off x="4071938" y="4119563"/>
            <a:ext cx="0" cy="692150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52" name="Line 117"/>
          <p:cNvSpPr>
            <a:spLocks noChangeShapeType="1"/>
          </p:cNvSpPr>
          <p:nvPr/>
        </p:nvSpPr>
        <p:spPr bwMode="auto">
          <a:xfrm flipH="1">
            <a:off x="3419475" y="5694363"/>
            <a:ext cx="115888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53" name="Line 118"/>
          <p:cNvSpPr>
            <a:spLocks noChangeShapeType="1"/>
          </p:cNvSpPr>
          <p:nvPr/>
        </p:nvSpPr>
        <p:spPr bwMode="auto">
          <a:xfrm flipH="1">
            <a:off x="3073400" y="5695950"/>
            <a:ext cx="654050" cy="0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54" name="Line 119"/>
          <p:cNvSpPr>
            <a:spLocks noChangeShapeType="1"/>
          </p:cNvSpPr>
          <p:nvPr/>
        </p:nvSpPr>
        <p:spPr bwMode="auto">
          <a:xfrm>
            <a:off x="8221663" y="3275013"/>
            <a:ext cx="498475" cy="1587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55" name="Line 120"/>
          <p:cNvSpPr>
            <a:spLocks noChangeShapeType="1"/>
          </p:cNvSpPr>
          <p:nvPr/>
        </p:nvSpPr>
        <p:spPr bwMode="auto">
          <a:xfrm flipH="1">
            <a:off x="8602663" y="3506788"/>
            <a:ext cx="1587" cy="690562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56" name="Line 121"/>
          <p:cNvSpPr>
            <a:spLocks noChangeShapeType="1"/>
          </p:cNvSpPr>
          <p:nvPr/>
        </p:nvSpPr>
        <p:spPr bwMode="auto">
          <a:xfrm flipH="1">
            <a:off x="8604250" y="4659313"/>
            <a:ext cx="1588" cy="690562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57" name="Line 122"/>
          <p:cNvSpPr>
            <a:spLocks noChangeShapeType="1"/>
          </p:cNvSpPr>
          <p:nvPr/>
        </p:nvSpPr>
        <p:spPr bwMode="auto">
          <a:xfrm flipH="1" flipV="1">
            <a:off x="7451725" y="5541963"/>
            <a:ext cx="962025" cy="1587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58" name="Line 123"/>
          <p:cNvSpPr>
            <a:spLocks noChangeShapeType="1"/>
          </p:cNvSpPr>
          <p:nvPr/>
        </p:nvSpPr>
        <p:spPr bwMode="auto">
          <a:xfrm flipH="1" flipV="1">
            <a:off x="4840288" y="5580063"/>
            <a:ext cx="962025" cy="1587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59" name="Text Box 124"/>
          <p:cNvSpPr txBox="1">
            <a:spLocks noChangeArrowheads="1"/>
          </p:cNvSpPr>
          <p:nvPr/>
        </p:nvSpPr>
        <p:spPr bwMode="auto">
          <a:xfrm>
            <a:off x="6616700" y="4516438"/>
            <a:ext cx="1466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>
                <a:solidFill>
                  <a:srgbClr val="C00000"/>
                </a:solidFill>
              </a:rPr>
              <a:t>conventional</a:t>
            </a:r>
          </a:p>
          <a:p>
            <a:r>
              <a:rPr lang="en-US">
                <a:solidFill>
                  <a:srgbClr val="C00000"/>
                </a:solidFill>
              </a:rPr>
              <a:t>current</a:t>
            </a:r>
          </a:p>
        </p:txBody>
      </p:sp>
      <p:sp>
        <p:nvSpPr>
          <p:cNvPr id="14460" name="Line 125"/>
          <p:cNvSpPr>
            <a:spLocks noChangeShapeType="1"/>
          </p:cNvSpPr>
          <p:nvPr/>
        </p:nvSpPr>
        <p:spPr bwMode="auto">
          <a:xfrm>
            <a:off x="7545388" y="4976813"/>
            <a:ext cx="920750" cy="77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61" name="AutoShape 126"/>
          <p:cNvSpPr>
            <a:spLocks noChangeArrowheads="1"/>
          </p:cNvSpPr>
          <p:nvPr/>
        </p:nvSpPr>
        <p:spPr bwMode="auto">
          <a:xfrm rot="5400000">
            <a:off x="3113088" y="3044825"/>
            <a:ext cx="652462" cy="808038"/>
          </a:xfrm>
          <a:prstGeom prst="downArrow">
            <a:avLst>
              <a:gd name="adj1" fmla="val 50000"/>
              <a:gd name="adj2" fmla="val 30961"/>
            </a:avLst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62" name="Rectangle 127"/>
          <p:cNvSpPr>
            <a:spLocks noChangeArrowheads="1"/>
          </p:cNvSpPr>
          <p:nvPr/>
        </p:nvSpPr>
        <p:spPr bwMode="auto">
          <a:xfrm>
            <a:off x="3765550" y="3275013"/>
            <a:ext cx="346075" cy="538162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63" name="Oval 128"/>
          <p:cNvSpPr>
            <a:spLocks noChangeArrowheads="1"/>
          </p:cNvSpPr>
          <p:nvPr/>
        </p:nvSpPr>
        <p:spPr bwMode="auto">
          <a:xfrm>
            <a:off x="3803650" y="3582988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64" name="Oval 129"/>
          <p:cNvSpPr>
            <a:spLocks noChangeArrowheads="1"/>
          </p:cNvSpPr>
          <p:nvPr/>
        </p:nvSpPr>
        <p:spPr bwMode="auto">
          <a:xfrm>
            <a:off x="3803650" y="3313113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65" name="Oval 130"/>
          <p:cNvSpPr>
            <a:spLocks noChangeArrowheads="1"/>
          </p:cNvSpPr>
          <p:nvPr/>
        </p:nvSpPr>
        <p:spPr bwMode="auto">
          <a:xfrm>
            <a:off x="3535363" y="3313113"/>
            <a:ext cx="230187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66" name="Oval 131"/>
          <p:cNvSpPr>
            <a:spLocks noChangeArrowheads="1"/>
          </p:cNvSpPr>
          <p:nvPr/>
        </p:nvSpPr>
        <p:spPr bwMode="auto">
          <a:xfrm>
            <a:off x="3227388" y="3313113"/>
            <a:ext cx="230187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467" name="Line 132"/>
          <p:cNvSpPr>
            <a:spLocks noChangeShapeType="1"/>
          </p:cNvSpPr>
          <p:nvPr/>
        </p:nvSpPr>
        <p:spPr bwMode="auto">
          <a:xfrm flipH="1">
            <a:off x="2574925" y="5426075"/>
            <a:ext cx="0" cy="766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68" name="Line 133"/>
          <p:cNvSpPr>
            <a:spLocks noChangeShapeType="1"/>
          </p:cNvSpPr>
          <p:nvPr/>
        </p:nvSpPr>
        <p:spPr bwMode="auto">
          <a:xfrm>
            <a:off x="2767013" y="5618163"/>
            <a:ext cx="0" cy="422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69" name="Line 134"/>
          <p:cNvSpPr>
            <a:spLocks noChangeShapeType="1"/>
          </p:cNvSpPr>
          <p:nvPr/>
        </p:nvSpPr>
        <p:spPr bwMode="auto">
          <a:xfrm>
            <a:off x="6376988" y="5426075"/>
            <a:ext cx="0" cy="768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70" name="Line 135"/>
          <p:cNvSpPr>
            <a:spLocks noChangeShapeType="1"/>
          </p:cNvSpPr>
          <p:nvPr/>
        </p:nvSpPr>
        <p:spPr bwMode="auto">
          <a:xfrm>
            <a:off x="6684963" y="5426075"/>
            <a:ext cx="0" cy="768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71" name="Text Box 136"/>
          <p:cNvSpPr txBox="1">
            <a:spLocks noChangeArrowheads="1"/>
          </p:cNvSpPr>
          <p:nvPr/>
        </p:nvSpPr>
        <p:spPr bwMode="auto">
          <a:xfrm>
            <a:off x="5992813" y="5367338"/>
            <a:ext cx="317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+</a:t>
            </a:r>
          </a:p>
        </p:txBody>
      </p:sp>
      <p:sp>
        <p:nvSpPr>
          <p:cNvPr id="14472" name="Text Box 137"/>
          <p:cNvSpPr txBox="1">
            <a:spLocks noChangeArrowheads="1"/>
          </p:cNvSpPr>
          <p:nvPr/>
        </p:nvSpPr>
        <p:spPr bwMode="auto">
          <a:xfrm>
            <a:off x="1830388" y="1970088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14473" name="Text Box 138"/>
          <p:cNvSpPr txBox="1">
            <a:spLocks noChangeArrowheads="1"/>
          </p:cNvSpPr>
          <p:nvPr/>
        </p:nvSpPr>
        <p:spPr bwMode="auto">
          <a:xfrm>
            <a:off x="6808788" y="1930400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14474" name="Text Box 139"/>
          <p:cNvSpPr txBox="1">
            <a:spLocks noChangeArrowheads="1"/>
          </p:cNvSpPr>
          <p:nvPr/>
        </p:nvSpPr>
        <p:spPr bwMode="auto">
          <a:xfrm>
            <a:off x="4043363" y="1930400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14475" name="Rectangle 140"/>
          <p:cNvSpPr>
            <a:spLocks noChangeArrowheads="1"/>
          </p:cNvSpPr>
          <p:nvPr/>
        </p:nvSpPr>
        <p:spPr bwMode="auto">
          <a:xfrm>
            <a:off x="3343275" y="6172200"/>
            <a:ext cx="2151063" cy="587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sz="2400" b="1">
                <a:solidFill>
                  <a:srgbClr val="C00000"/>
                </a:solidFill>
                <a:latin typeface="Calibri" pitchFamily="34" charset="0"/>
              </a:rPr>
              <a:t>I</a:t>
            </a:r>
            <a:r>
              <a:rPr lang="en-US" sz="2000" b="1">
                <a:solidFill>
                  <a:srgbClr val="C00000"/>
                </a:solidFill>
                <a:latin typeface="Calibri" pitchFamily="34" charset="0"/>
              </a:rPr>
              <a:t>E </a:t>
            </a:r>
            <a:r>
              <a:rPr lang="en-US" sz="2400" b="1">
                <a:solidFill>
                  <a:srgbClr val="C00000"/>
                </a:solidFill>
                <a:latin typeface="Calibri" pitchFamily="34" charset="0"/>
              </a:rPr>
              <a:t>= I</a:t>
            </a:r>
            <a:r>
              <a:rPr lang="en-US" sz="2000" b="1">
                <a:solidFill>
                  <a:srgbClr val="C00000"/>
                </a:solidFill>
                <a:latin typeface="Calibri" pitchFamily="34" charset="0"/>
              </a:rPr>
              <a:t>C </a:t>
            </a:r>
            <a:r>
              <a:rPr lang="en-US" sz="2400" b="1">
                <a:solidFill>
                  <a:srgbClr val="C00000"/>
                </a:solidFill>
                <a:latin typeface="Calibri" pitchFamily="34" charset="0"/>
              </a:rPr>
              <a:t>+ I</a:t>
            </a:r>
            <a:r>
              <a:rPr lang="en-US" sz="2000" b="1">
                <a:solidFill>
                  <a:srgbClr val="C00000"/>
                </a:solidFill>
                <a:latin typeface="Calibri" pitchFamily="34" charset="0"/>
              </a:rPr>
              <a:t>B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9EAC7-D331-4FAC-97E8-9FEDECED99AB}" type="slidenum">
              <a:rPr lang="en-US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21458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54050"/>
          </a:xfrm>
        </p:spPr>
        <p:txBody>
          <a:bodyPr/>
          <a:lstStyle/>
          <a:p>
            <a:r>
              <a:rPr lang="en-US" sz="2800">
                <a:solidFill>
                  <a:schemeClr val="folHlink"/>
                </a:solidFill>
              </a:rPr>
              <a:t>Transistor configuration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3950"/>
            <a:ext cx="8229600" cy="5006975"/>
          </a:xfrm>
        </p:spPr>
        <p:txBody>
          <a:bodyPr/>
          <a:lstStyle/>
          <a:p>
            <a:r>
              <a:rPr lang="en-US" sz="2400">
                <a:latin typeface="Times New Roman" pitchFamily="18" charset="0"/>
              </a:rPr>
              <a:t>Depending on which terminal is made common to input and output port there are three possible configurations of the transistor. They are as follows:</a:t>
            </a:r>
          </a:p>
          <a:p>
            <a:endParaRPr lang="en-US" sz="2400">
              <a:latin typeface="Times New Roman" pitchFamily="18" charset="0"/>
            </a:endParaRPr>
          </a:p>
          <a:p>
            <a:r>
              <a:rPr lang="en-US" sz="2400">
                <a:solidFill>
                  <a:srgbClr val="C00000"/>
                </a:solidFill>
                <a:latin typeface="Times New Roman" pitchFamily="18" charset="0"/>
              </a:rPr>
              <a:t>Common base configuration</a:t>
            </a:r>
          </a:p>
          <a:p>
            <a:endParaRPr lang="en-US" sz="2400">
              <a:solidFill>
                <a:srgbClr val="C00000"/>
              </a:solidFill>
              <a:latin typeface="Times New Roman" pitchFamily="18" charset="0"/>
            </a:endParaRPr>
          </a:p>
          <a:p>
            <a:r>
              <a:rPr lang="en-US" sz="2400">
                <a:solidFill>
                  <a:srgbClr val="C00000"/>
                </a:solidFill>
                <a:latin typeface="Times New Roman" pitchFamily="18" charset="0"/>
              </a:rPr>
              <a:t>Common emitter configuration</a:t>
            </a:r>
          </a:p>
          <a:p>
            <a:endParaRPr lang="en-US" sz="2400">
              <a:solidFill>
                <a:srgbClr val="C00000"/>
              </a:solidFill>
              <a:latin typeface="Times New Roman" pitchFamily="18" charset="0"/>
            </a:endParaRPr>
          </a:p>
          <a:p>
            <a:r>
              <a:rPr lang="en-US" sz="2400">
                <a:solidFill>
                  <a:srgbClr val="C00000"/>
                </a:solidFill>
                <a:latin typeface="Times New Roman" pitchFamily="18" charset="0"/>
              </a:rPr>
              <a:t>Common collector configuration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1B420-0414-4A5B-A293-44147D420679}" type="slidenum">
              <a:rPr lang="en-US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08689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229600" cy="65405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 dirty="0">
                <a:solidFill>
                  <a:schemeClr val="folHlink"/>
                </a:solidFill>
              </a:rPr>
              <a:t>Transistor operation in the active region N-P-N</a:t>
            </a:r>
            <a:br>
              <a:rPr lang="en-US" sz="2800" dirty="0">
                <a:solidFill>
                  <a:schemeClr val="folHlink"/>
                </a:solidFill>
              </a:rPr>
            </a:br>
            <a:r>
              <a:rPr lang="en-US" sz="2800" dirty="0">
                <a:solidFill>
                  <a:schemeClr val="folHlink"/>
                </a:solidFill>
              </a:rPr>
              <a:t> common base configuration 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3398838" y="1854200"/>
            <a:ext cx="1979612" cy="1982788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962025" y="1854200"/>
            <a:ext cx="2343150" cy="19827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4184650" y="2738438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P</a:t>
            </a: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2997200" y="971550"/>
            <a:ext cx="1035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Junction</a:t>
            </a:r>
          </a:p>
          <a:p>
            <a:r>
              <a:rPr lang="en-US"/>
              <a:t>JEB</a:t>
            </a:r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>
            <a:off x="3381375" y="15875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2" name="Line 8"/>
          <p:cNvSpPr>
            <a:spLocks noChangeShapeType="1"/>
          </p:cNvSpPr>
          <p:nvPr/>
        </p:nvSpPr>
        <p:spPr bwMode="auto">
          <a:xfrm flipV="1">
            <a:off x="241300" y="2879725"/>
            <a:ext cx="720725" cy="1111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3" name="Line 9"/>
          <p:cNvSpPr>
            <a:spLocks noChangeShapeType="1"/>
          </p:cNvSpPr>
          <p:nvPr/>
        </p:nvSpPr>
        <p:spPr bwMode="auto">
          <a:xfrm>
            <a:off x="7913688" y="2852738"/>
            <a:ext cx="836612" cy="952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-36513" y="2430463"/>
            <a:ext cx="908051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Emitter</a:t>
            </a:r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8067675" y="2409825"/>
            <a:ext cx="1035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collector</a:t>
            </a:r>
          </a:p>
        </p:txBody>
      </p:sp>
      <p:sp>
        <p:nvSpPr>
          <p:cNvPr id="16396" name="Rectangle 12"/>
          <p:cNvSpPr>
            <a:spLocks noChangeArrowheads="1"/>
          </p:cNvSpPr>
          <p:nvPr/>
        </p:nvSpPr>
        <p:spPr bwMode="auto">
          <a:xfrm>
            <a:off x="5454650" y="1854200"/>
            <a:ext cx="2613025" cy="19827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397" name="Rectangle 13"/>
          <p:cNvSpPr>
            <a:spLocks noChangeArrowheads="1"/>
          </p:cNvSpPr>
          <p:nvPr/>
        </p:nvSpPr>
        <p:spPr bwMode="auto">
          <a:xfrm>
            <a:off x="5378450" y="1854200"/>
            <a:ext cx="96838" cy="198278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1806575" y="2776538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N</a:t>
            </a:r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 flipV="1">
            <a:off x="4418013" y="3813175"/>
            <a:ext cx="0" cy="199707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0" name="Text Box 16"/>
          <p:cNvSpPr txBox="1">
            <a:spLocks noChangeArrowheads="1"/>
          </p:cNvSpPr>
          <p:nvPr/>
        </p:nvSpPr>
        <p:spPr bwMode="auto">
          <a:xfrm>
            <a:off x="3649663" y="5443538"/>
            <a:ext cx="768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Base </a:t>
            </a:r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5111750" y="1009650"/>
            <a:ext cx="1035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Junction</a:t>
            </a:r>
          </a:p>
          <a:p>
            <a:r>
              <a:rPr lang="en-US"/>
              <a:t>JCB</a:t>
            </a:r>
          </a:p>
        </p:txBody>
      </p:sp>
      <p:sp>
        <p:nvSpPr>
          <p:cNvPr id="16402" name="Line 18"/>
          <p:cNvSpPr>
            <a:spLocks noChangeShapeType="1"/>
          </p:cNvSpPr>
          <p:nvPr/>
        </p:nvSpPr>
        <p:spPr bwMode="auto">
          <a:xfrm>
            <a:off x="5454650" y="16240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3" name="Rectangle 19"/>
          <p:cNvSpPr>
            <a:spLocks noChangeArrowheads="1"/>
          </p:cNvSpPr>
          <p:nvPr/>
        </p:nvSpPr>
        <p:spPr bwMode="auto">
          <a:xfrm>
            <a:off x="3305175" y="1854200"/>
            <a:ext cx="96838" cy="198278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04" name="Text Box 20"/>
          <p:cNvSpPr txBox="1">
            <a:spLocks noChangeArrowheads="1"/>
          </p:cNvSpPr>
          <p:nvPr/>
        </p:nvSpPr>
        <p:spPr bwMode="auto">
          <a:xfrm>
            <a:off x="6654800" y="2755900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N</a:t>
            </a:r>
          </a:p>
        </p:txBody>
      </p:sp>
      <p:sp>
        <p:nvSpPr>
          <p:cNvPr id="16405" name="Line 21"/>
          <p:cNvSpPr>
            <a:spLocks noChangeShapeType="1"/>
          </p:cNvSpPr>
          <p:nvPr/>
        </p:nvSpPr>
        <p:spPr bwMode="auto">
          <a:xfrm>
            <a:off x="233363" y="3851275"/>
            <a:ext cx="230187" cy="192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6" name="Line 22"/>
          <p:cNvSpPr>
            <a:spLocks noChangeShapeType="1"/>
          </p:cNvSpPr>
          <p:nvPr/>
        </p:nvSpPr>
        <p:spPr bwMode="auto">
          <a:xfrm>
            <a:off x="155575" y="4273550"/>
            <a:ext cx="346075" cy="2301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7" name="Line 23"/>
          <p:cNvSpPr>
            <a:spLocks noChangeShapeType="1"/>
          </p:cNvSpPr>
          <p:nvPr/>
        </p:nvSpPr>
        <p:spPr bwMode="auto">
          <a:xfrm>
            <a:off x="155575" y="4695825"/>
            <a:ext cx="230188" cy="192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8" name="Line 24"/>
          <p:cNvSpPr>
            <a:spLocks noChangeShapeType="1"/>
          </p:cNvSpPr>
          <p:nvPr/>
        </p:nvSpPr>
        <p:spPr bwMode="auto">
          <a:xfrm flipV="1">
            <a:off x="155575" y="4503738"/>
            <a:ext cx="346075" cy="192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9" name="Line 25"/>
          <p:cNvSpPr>
            <a:spLocks noChangeShapeType="1"/>
          </p:cNvSpPr>
          <p:nvPr/>
        </p:nvSpPr>
        <p:spPr bwMode="auto">
          <a:xfrm flipV="1">
            <a:off x="117475" y="4043363"/>
            <a:ext cx="384175" cy="2301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10" name="Line 26"/>
          <p:cNvSpPr>
            <a:spLocks noChangeShapeType="1"/>
          </p:cNvSpPr>
          <p:nvPr/>
        </p:nvSpPr>
        <p:spPr bwMode="auto">
          <a:xfrm>
            <a:off x="269875" y="2890838"/>
            <a:ext cx="0" cy="960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11" name="Line 27"/>
          <p:cNvSpPr>
            <a:spLocks noChangeShapeType="1"/>
          </p:cNvSpPr>
          <p:nvPr/>
        </p:nvSpPr>
        <p:spPr bwMode="auto">
          <a:xfrm>
            <a:off x="347663" y="4849813"/>
            <a:ext cx="0" cy="960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12" name="Line 28"/>
          <p:cNvSpPr>
            <a:spLocks noChangeShapeType="1"/>
          </p:cNvSpPr>
          <p:nvPr/>
        </p:nvSpPr>
        <p:spPr bwMode="auto">
          <a:xfrm flipH="1">
            <a:off x="347663" y="5810250"/>
            <a:ext cx="18811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13" name="Line 29"/>
          <p:cNvSpPr>
            <a:spLocks noChangeShapeType="1"/>
          </p:cNvSpPr>
          <p:nvPr/>
        </p:nvSpPr>
        <p:spPr bwMode="auto">
          <a:xfrm flipH="1">
            <a:off x="2767013" y="5810250"/>
            <a:ext cx="1689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14" name="Line 30"/>
          <p:cNvSpPr>
            <a:spLocks noChangeShapeType="1"/>
          </p:cNvSpPr>
          <p:nvPr/>
        </p:nvSpPr>
        <p:spPr bwMode="auto">
          <a:xfrm>
            <a:off x="2767013" y="5426075"/>
            <a:ext cx="0" cy="768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15" name="Line 31"/>
          <p:cNvSpPr>
            <a:spLocks noChangeShapeType="1"/>
          </p:cNvSpPr>
          <p:nvPr/>
        </p:nvSpPr>
        <p:spPr bwMode="auto">
          <a:xfrm>
            <a:off x="2420938" y="5426075"/>
            <a:ext cx="0" cy="768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16" name="Line 32"/>
          <p:cNvSpPr>
            <a:spLocks noChangeShapeType="1"/>
          </p:cNvSpPr>
          <p:nvPr/>
        </p:nvSpPr>
        <p:spPr bwMode="auto">
          <a:xfrm flipH="1">
            <a:off x="2574925" y="5540375"/>
            <a:ext cx="0" cy="4619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17" name="Line 33"/>
          <p:cNvSpPr>
            <a:spLocks noChangeShapeType="1"/>
          </p:cNvSpPr>
          <p:nvPr/>
        </p:nvSpPr>
        <p:spPr bwMode="auto">
          <a:xfrm flipH="1">
            <a:off x="2228850" y="5541963"/>
            <a:ext cx="0" cy="4619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18" name="Text Box 34"/>
          <p:cNvSpPr txBox="1">
            <a:spLocks noChangeArrowheads="1"/>
          </p:cNvSpPr>
          <p:nvPr/>
        </p:nvSpPr>
        <p:spPr bwMode="auto">
          <a:xfrm>
            <a:off x="2174875" y="6272213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V</a:t>
            </a:r>
            <a:r>
              <a:rPr lang="en-US" baseline="-20000"/>
              <a:t>EE</a:t>
            </a:r>
          </a:p>
        </p:txBody>
      </p:sp>
      <p:sp>
        <p:nvSpPr>
          <p:cNvPr id="16419" name="Text Box 35"/>
          <p:cNvSpPr txBox="1">
            <a:spLocks noChangeArrowheads="1"/>
          </p:cNvSpPr>
          <p:nvPr/>
        </p:nvSpPr>
        <p:spPr bwMode="auto">
          <a:xfrm>
            <a:off x="601663" y="4235450"/>
            <a:ext cx="450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RE</a:t>
            </a:r>
          </a:p>
        </p:txBody>
      </p:sp>
      <p:sp>
        <p:nvSpPr>
          <p:cNvPr id="16420" name="Text Box 36"/>
          <p:cNvSpPr txBox="1">
            <a:spLocks noChangeArrowheads="1"/>
          </p:cNvSpPr>
          <p:nvPr/>
        </p:nvSpPr>
        <p:spPr bwMode="auto">
          <a:xfrm>
            <a:off x="2828925" y="5273675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+</a:t>
            </a:r>
          </a:p>
        </p:txBody>
      </p:sp>
      <p:sp>
        <p:nvSpPr>
          <p:cNvPr id="16421" name="Text Box 37"/>
          <p:cNvSpPr txBox="1">
            <a:spLocks noChangeArrowheads="1"/>
          </p:cNvSpPr>
          <p:nvPr/>
        </p:nvSpPr>
        <p:spPr bwMode="auto">
          <a:xfrm>
            <a:off x="1806575" y="5349875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-</a:t>
            </a:r>
          </a:p>
        </p:txBody>
      </p:sp>
      <p:sp>
        <p:nvSpPr>
          <p:cNvPr id="16422" name="Line 38"/>
          <p:cNvSpPr>
            <a:spLocks noChangeShapeType="1"/>
          </p:cNvSpPr>
          <p:nvPr/>
        </p:nvSpPr>
        <p:spPr bwMode="auto">
          <a:xfrm>
            <a:off x="8821738" y="3775075"/>
            <a:ext cx="230187" cy="192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23" name="Line 39"/>
          <p:cNvSpPr>
            <a:spLocks noChangeShapeType="1"/>
          </p:cNvSpPr>
          <p:nvPr/>
        </p:nvSpPr>
        <p:spPr bwMode="auto">
          <a:xfrm>
            <a:off x="8743950" y="4197350"/>
            <a:ext cx="346075" cy="2301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24" name="Line 40"/>
          <p:cNvSpPr>
            <a:spLocks noChangeShapeType="1"/>
          </p:cNvSpPr>
          <p:nvPr/>
        </p:nvSpPr>
        <p:spPr bwMode="auto">
          <a:xfrm>
            <a:off x="8743950" y="4619625"/>
            <a:ext cx="230188" cy="192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25" name="Line 41"/>
          <p:cNvSpPr>
            <a:spLocks noChangeShapeType="1"/>
          </p:cNvSpPr>
          <p:nvPr/>
        </p:nvSpPr>
        <p:spPr bwMode="auto">
          <a:xfrm flipV="1">
            <a:off x="8743950" y="4427538"/>
            <a:ext cx="346075" cy="192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26" name="Line 42"/>
          <p:cNvSpPr>
            <a:spLocks noChangeShapeType="1"/>
          </p:cNvSpPr>
          <p:nvPr/>
        </p:nvSpPr>
        <p:spPr bwMode="auto">
          <a:xfrm flipV="1">
            <a:off x="8705850" y="3967163"/>
            <a:ext cx="384175" cy="2301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27" name="Line 43"/>
          <p:cNvSpPr>
            <a:spLocks noChangeShapeType="1"/>
          </p:cNvSpPr>
          <p:nvPr/>
        </p:nvSpPr>
        <p:spPr bwMode="auto">
          <a:xfrm>
            <a:off x="8950325" y="4735513"/>
            <a:ext cx="0" cy="11128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28" name="Text Box 44"/>
          <p:cNvSpPr txBox="1">
            <a:spLocks noChangeArrowheads="1"/>
          </p:cNvSpPr>
          <p:nvPr/>
        </p:nvSpPr>
        <p:spPr bwMode="auto">
          <a:xfrm>
            <a:off x="8299450" y="4043363"/>
            <a:ext cx="4587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RC</a:t>
            </a:r>
          </a:p>
        </p:txBody>
      </p:sp>
      <p:sp>
        <p:nvSpPr>
          <p:cNvPr id="16429" name="Line 45"/>
          <p:cNvSpPr>
            <a:spLocks noChangeShapeType="1"/>
          </p:cNvSpPr>
          <p:nvPr/>
        </p:nvSpPr>
        <p:spPr bwMode="auto">
          <a:xfrm flipH="1">
            <a:off x="4456113" y="5810250"/>
            <a:ext cx="18811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30" name="Line 46"/>
          <p:cNvSpPr>
            <a:spLocks noChangeShapeType="1"/>
          </p:cNvSpPr>
          <p:nvPr/>
        </p:nvSpPr>
        <p:spPr bwMode="auto">
          <a:xfrm flipH="1" flipV="1">
            <a:off x="6875463" y="5810250"/>
            <a:ext cx="2074862" cy="174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31" name="Line 47"/>
          <p:cNvSpPr>
            <a:spLocks noChangeShapeType="1"/>
          </p:cNvSpPr>
          <p:nvPr/>
        </p:nvSpPr>
        <p:spPr bwMode="auto">
          <a:xfrm>
            <a:off x="6875463" y="5426075"/>
            <a:ext cx="0" cy="768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32" name="Line 48"/>
          <p:cNvSpPr>
            <a:spLocks noChangeShapeType="1"/>
          </p:cNvSpPr>
          <p:nvPr/>
        </p:nvSpPr>
        <p:spPr bwMode="auto">
          <a:xfrm>
            <a:off x="6529388" y="5426075"/>
            <a:ext cx="0" cy="768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33" name="Line 49"/>
          <p:cNvSpPr>
            <a:spLocks noChangeShapeType="1"/>
          </p:cNvSpPr>
          <p:nvPr/>
        </p:nvSpPr>
        <p:spPr bwMode="auto">
          <a:xfrm flipH="1">
            <a:off x="6683375" y="5540375"/>
            <a:ext cx="0" cy="4619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34" name="Line 50"/>
          <p:cNvSpPr>
            <a:spLocks noChangeShapeType="1"/>
          </p:cNvSpPr>
          <p:nvPr/>
        </p:nvSpPr>
        <p:spPr bwMode="auto">
          <a:xfrm flipH="1">
            <a:off x="6337300" y="5541963"/>
            <a:ext cx="0" cy="4619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35" name="Text Box 51"/>
          <p:cNvSpPr txBox="1">
            <a:spLocks noChangeArrowheads="1"/>
          </p:cNvSpPr>
          <p:nvPr/>
        </p:nvSpPr>
        <p:spPr bwMode="auto">
          <a:xfrm>
            <a:off x="6283325" y="6254750"/>
            <a:ext cx="555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V</a:t>
            </a:r>
            <a:r>
              <a:rPr lang="en-US" baseline="-20000"/>
              <a:t>CC</a:t>
            </a:r>
          </a:p>
        </p:txBody>
      </p:sp>
      <p:sp>
        <p:nvSpPr>
          <p:cNvPr id="16436" name="Text Box 52"/>
          <p:cNvSpPr txBox="1">
            <a:spLocks noChangeArrowheads="1"/>
          </p:cNvSpPr>
          <p:nvPr/>
        </p:nvSpPr>
        <p:spPr bwMode="auto">
          <a:xfrm>
            <a:off x="6937375" y="5273675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+</a:t>
            </a:r>
          </a:p>
        </p:txBody>
      </p:sp>
      <p:sp>
        <p:nvSpPr>
          <p:cNvPr id="16437" name="Text Box 53"/>
          <p:cNvSpPr txBox="1">
            <a:spLocks noChangeArrowheads="1"/>
          </p:cNvSpPr>
          <p:nvPr/>
        </p:nvSpPr>
        <p:spPr bwMode="auto">
          <a:xfrm>
            <a:off x="5915025" y="5349875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-</a:t>
            </a:r>
          </a:p>
        </p:txBody>
      </p:sp>
      <p:sp>
        <p:nvSpPr>
          <p:cNvPr id="16438" name="Line 54"/>
          <p:cNvSpPr>
            <a:spLocks noChangeShapeType="1"/>
          </p:cNvSpPr>
          <p:nvPr/>
        </p:nvSpPr>
        <p:spPr bwMode="auto">
          <a:xfrm>
            <a:off x="8874125" y="2852738"/>
            <a:ext cx="0" cy="960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39" name="Oval 55"/>
          <p:cNvSpPr>
            <a:spLocks noChangeArrowheads="1"/>
          </p:cNvSpPr>
          <p:nvPr/>
        </p:nvSpPr>
        <p:spPr bwMode="auto">
          <a:xfrm>
            <a:off x="4302125" y="5656263"/>
            <a:ext cx="231775" cy="268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40" name="Oval 56"/>
          <p:cNvSpPr>
            <a:spLocks noChangeArrowheads="1"/>
          </p:cNvSpPr>
          <p:nvPr/>
        </p:nvSpPr>
        <p:spPr bwMode="auto">
          <a:xfrm>
            <a:off x="8758238" y="2738438"/>
            <a:ext cx="231775" cy="268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41" name="Oval 57"/>
          <p:cNvSpPr>
            <a:spLocks noChangeArrowheads="1"/>
          </p:cNvSpPr>
          <p:nvPr/>
        </p:nvSpPr>
        <p:spPr bwMode="auto">
          <a:xfrm>
            <a:off x="153988" y="2738438"/>
            <a:ext cx="231775" cy="268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42" name="Rectangle 58"/>
          <p:cNvSpPr>
            <a:spLocks noChangeArrowheads="1"/>
          </p:cNvSpPr>
          <p:nvPr/>
        </p:nvSpPr>
        <p:spPr bwMode="auto">
          <a:xfrm>
            <a:off x="5378450" y="1854200"/>
            <a:ext cx="96838" cy="1982788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43" name="Rectangle 59"/>
          <p:cNvSpPr>
            <a:spLocks noChangeArrowheads="1"/>
          </p:cNvSpPr>
          <p:nvPr/>
        </p:nvSpPr>
        <p:spPr bwMode="auto">
          <a:xfrm>
            <a:off x="3305175" y="1854200"/>
            <a:ext cx="96838" cy="1982788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44" name="AutoShape 60"/>
          <p:cNvSpPr>
            <a:spLocks noChangeArrowheads="1"/>
          </p:cNvSpPr>
          <p:nvPr/>
        </p:nvSpPr>
        <p:spPr bwMode="auto">
          <a:xfrm>
            <a:off x="1882775" y="1970088"/>
            <a:ext cx="5376863" cy="1690687"/>
          </a:xfrm>
          <a:prstGeom prst="rightArrow">
            <a:avLst>
              <a:gd name="adj1" fmla="val 50000"/>
              <a:gd name="adj2" fmla="val 79507"/>
            </a:avLst>
          </a:prstGeom>
          <a:solidFill>
            <a:srgbClr val="FF00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45" name="AutoShape 61"/>
          <p:cNvSpPr>
            <a:spLocks noChangeArrowheads="1"/>
          </p:cNvSpPr>
          <p:nvPr/>
        </p:nvSpPr>
        <p:spPr bwMode="auto">
          <a:xfrm>
            <a:off x="4111625" y="3236913"/>
            <a:ext cx="652463" cy="576262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46" name="Oval 62"/>
          <p:cNvSpPr>
            <a:spLocks noChangeArrowheads="1"/>
          </p:cNvSpPr>
          <p:nvPr/>
        </p:nvSpPr>
        <p:spPr bwMode="auto">
          <a:xfrm>
            <a:off x="1960563" y="2700338"/>
            <a:ext cx="230187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47" name="Oval 63"/>
          <p:cNvSpPr>
            <a:spLocks noChangeArrowheads="1"/>
          </p:cNvSpPr>
          <p:nvPr/>
        </p:nvSpPr>
        <p:spPr bwMode="auto">
          <a:xfrm>
            <a:off x="1960563" y="2968625"/>
            <a:ext cx="230187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48" name="Oval 64"/>
          <p:cNvSpPr>
            <a:spLocks noChangeArrowheads="1"/>
          </p:cNvSpPr>
          <p:nvPr/>
        </p:nvSpPr>
        <p:spPr bwMode="auto">
          <a:xfrm>
            <a:off x="1960563" y="2430463"/>
            <a:ext cx="230187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49" name="Oval 65"/>
          <p:cNvSpPr>
            <a:spLocks noChangeArrowheads="1"/>
          </p:cNvSpPr>
          <p:nvPr/>
        </p:nvSpPr>
        <p:spPr bwMode="auto">
          <a:xfrm>
            <a:off x="2266950" y="2700338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50" name="Oval 66"/>
          <p:cNvSpPr>
            <a:spLocks noChangeArrowheads="1"/>
          </p:cNvSpPr>
          <p:nvPr/>
        </p:nvSpPr>
        <p:spPr bwMode="auto">
          <a:xfrm>
            <a:off x="2266950" y="2968625"/>
            <a:ext cx="230188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51" name="Oval 67"/>
          <p:cNvSpPr>
            <a:spLocks noChangeArrowheads="1"/>
          </p:cNvSpPr>
          <p:nvPr/>
        </p:nvSpPr>
        <p:spPr bwMode="auto">
          <a:xfrm>
            <a:off x="2266950" y="2430463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52" name="Oval 68"/>
          <p:cNvSpPr>
            <a:spLocks noChangeArrowheads="1"/>
          </p:cNvSpPr>
          <p:nvPr/>
        </p:nvSpPr>
        <p:spPr bwMode="auto">
          <a:xfrm>
            <a:off x="2574925" y="2700338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53" name="Oval 69"/>
          <p:cNvSpPr>
            <a:spLocks noChangeArrowheads="1"/>
          </p:cNvSpPr>
          <p:nvPr/>
        </p:nvSpPr>
        <p:spPr bwMode="auto">
          <a:xfrm>
            <a:off x="2574925" y="2968625"/>
            <a:ext cx="230188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54" name="Oval 70"/>
          <p:cNvSpPr>
            <a:spLocks noChangeArrowheads="1"/>
          </p:cNvSpPr>
          <p:nvPr/>
        </p:nvSpPr>
        <p:spPr bwMode="auto">
          <a:xfrm>
            <a:off x="2574925" y="2430463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55" name="Oval 71"/>
          <p:cNvSpPr>
            <a:spLocks noChangeArrowheads="1"/>
          </p:cNvSpPr>
          <p:nvPr/>
        </p:nvSpPr>
        <p:spPr bwMode="auto">
          <a:xfrm>
            <a:off x="2921000" y="2700338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56" name="Oval 72"/>
          <p:cNvSpPr>
            <a:spLocks noChangeArrowheads="1"/>
          </p:cNvSpPr>
          <p:nvPr/>
        </p:nvSpPr>
        <p:spPr bwMode="auto">
          <a:xfrm>
            <a:off x="2921000" y="2968625"/>
            <a:ext cx="230188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57" name="Oval 73"/>
          <p:cNvSpPr>
            <a:spLocks noChangeArrowheads="1"/>
          </p:cNvSpPr>
          <p:nvPr/>
        </p:nvSpPr>
        <p:spPr bwMode="auto">
          <a:xfrm>
            <a:off x="2921000" y="2430463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58" name="Oval 74"/>
          <p:cNvSpPr>
            <a:spLocks noChangeArrowheads="1"/>
          </p:cNvSpPr>
          <p:nvPr/>
        </p:nvSpPr>
        <p:spPr bwMode="auto">
          <a:xfrm>
            <a:off x="3227388" y="2700338"/>
            <a:ext cx="230187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59" name="Oval 75"/>
          <p:cNvSpPr>
            <a:spLocks noChangeArrowheads="1"/>
          </p:cNvSpPr>
          <p:nvPr/>
        </p:nvSpPr>
        <p:spPr bwMode="auto">
          <a:xfrm>
            <a:off x="3227388" y="2968625"/>
            <a:ext cx="230187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60" name="Oval 76"/>
          <p:cNvSpPr>
            <a:spLocks noChangeArrowheads="1"/>
          </p:cNvSpPr>
          <p:nvPr/>
        </p:nvSpPr>
        <p:spPr bwMode="auto">
          <a:xfrm>
            <a:off x="3227388" y="2430463"/>
            <a:ext cx="230187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61" name="Oval 77"/>
          <p:cNvSpPr>
            <a:spLocks noChangeArrowheads="1"/>
          </p:cNvSpPr>
          <p:nvPr/>
        </p:nvSpPr>
        <p:spPr bwMode="auto">
          <a:xfrm>
            <a:off x="3651250" y="2700338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62" name="Oval 78"/>
          <p:cNvSpPr>
            <a:spLocks noChangeArrowheads="1"/>
          </p:cNvSpPr>
          <p:nvPr/>
        </p:nvSpPr>
        <p:spPr bwMode="auto">
          <a:xfrm>
            <a:off x="3651250" y="2968625"/>
            <a:ext cx="230188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63" name="Oval 79"/>
          <p:cNvSpPr>
            <a:spLocks noChangeArrowheads="1"/>
          </p:cNvSpPr>
          <p:nvPr/>
        </p:nvSpPr>
        <p:spPr bwMode="auto">
          <a:xfrm>
            <a:off x="3651250" y="2430463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64" name="Oval 80"/>
          <p:cNvSpPr>
            <a:spLocks noChangeArrowheads="1"/>
          </p:cNvSpPr>
          <p:nvPr/>
        </p:nvSpPr>
        <p:spPr bwMode="auto">
          <a:xfrm>
            <a:off x="3995738" y="2700338"/>
            <a:ext cx="230187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65" name="Oval 81"/>
          <p:cNvSpPr>
            <a:spLocks noChangeArrowheads="1"/>
          </p:cNvSpPr>
          <p:nvPr/>
        </p:nvSpPr>
        <p:spPr bwMode="auto">
          <a:xfrm>
            <a:off x="3995738" y="2968625"/>
            <a:ext cx="230187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66" name="Oval 82"/>
          <p:cNvSpPr>
            <a:spLocks noChangeArrowheads="1"/>
          </p:cNvSpPr>
          <p:nvPr/>
        </p:nvSpPr>
        <p:spPr bwMode="auto">
          <a:xfrm>
            <a:off x="3995738" y="2430463"/>
            <a:ext cx="230187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67" name="Oval 83"/>
          <p:cNvSpPr>
            <a:spLocks noChangeArrowheads="1"/>
          </p:cNvSpPr>
          <p:nvPr/>
        </p:nvSpPr>
        <p:spPr bwMode="auto">
          <a:xfrm>
            <a:off x="4302125" y="2700338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68" name="Oval 84"/>
          <p:cNvSpPr>
            <a:spLocks noChangeArrowheads="1"/>
          </p:cNvSpPr>
          <p:nvPr/>
        </p:nvSpPr>
        <p:spPr bwMode="auto">
          <a:xfrm>
            <a:off x="4302125" y="2968625"/>
            <a:ext cx="230188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69" name="Oval 85"/>
          <p:cNvSpPr>
            <a:spLocks noChangeArrowheads="1"/>
          </p:cNvSpPr>
          <p:nvPr/>
        </p:nvSpPr>
        <p:spPr bwMode="auto">
          <a:xfrm>
            <a:off x="4302125" y="2430463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70" name="Oval 86"/>
          <p:cNvSpPr>
            <a:spLocks noChangeArrowheads="1"/>
          </p:cNvSpPr>
          <p:nvPr/>
        </p:nvSpPr>
        <p:spPr bwMode="auto">
          <a:xfrm>
            <a:off x="4610100" y="2700338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71" name="Oval 87"/>
          <p:cNvSpPr>
            <a:spLocks noChangeArrowheads="1"/>
          </p:cNvSpPr>
          <p:nvPr/>
        </p:nvSpPr>
        <p:spPr bwMode="auto">
          <a:xfrm>
            <a:off x="4610100" y="2968625"/>
            <a:ext cx="230188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72" name="Oval 88"/>
          <p:cNvSpPr>
            <a:spLocks noChangeArrowheads="1"/>
          </p:cNvSpPr>
          <p:nvPr/>
        </p:nvSpPr>
        <p:spPr bwMode="auto">
          <a:xfrm>
            <a:off x="4610100" y="2430463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73" name="Oval 89"/>
          <p:cNvSpPr>
            <a:spLocks noChangeArrowheads="1"/>
          </p:cNvSpPr>
          <p:nvPr/>
        </p:nvSpPr>
        <p:spPr bwMode="auto">
          <a:xfrm>
            <a:off x="4918075" y="2700338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74" name="Oval 90"/>
          <p:cNvSpPr>
            <a:spLocks noChangeArrowheads="1"/>
          </p:cNvSpPr>
          <p:nvPr/>
        </p:nvSpPr>
        <p:spPr bwMode="auto">
          <a:xfrm>
            <a:off x="4918075" y="2968625"/>
            <a:ext cx="230188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75" name="Oval 91"/>
          <p:cNvSpPr>
            <a:spLocks noChangeArrowheads="1"/>
          </p:cNvSpPr>
          <p:nvPr/>
        </p:nvSpPr>
        <p:spPr bwMode="auto">
          <a:xfrm>
            <a:off x="4918075" y="2430463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76" name="Oval 92"/>
          <p:cNvSpPr>
            <a:spLocks noChangeArrowheads="1"/>
          </p:cNvSpPr>
          <p:nvPr/>
        </p:nvSpPr>
        <p:spPr bwMode="auto">
          <a:xfrm>
            <a:off x="5224463" y="2700338"/>
            <a:ext cx="230187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77" name="Oval 93"/>
          <p:cNvSpPr>
            <a:spLocks noChangeArrowheads="1"/>
          </p:cNvSpPr>
          <p:nvPr/>
        </p:nvSpPr>
        <p:spPr bwMode="auto">
          <a:xfrm>
            <a:off x="5224463" y="2968625"/>
            <a:ext cx="230187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78" name="Oval 94"/>
          <p:cNvSpPr>
            <a:spLocks noChangeArrowheads="1"/>
          </p:cNvSpPr>
          <p:nvPr/>
        </p:nvSpPr>
        <p:spPr bwMode="auto">
          <a:xfrm>
            <a:off x="5224463" y="2430463"/>
            <a:ext cx="230187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79" name="Oval 95"/>
          <p:cNvSpPr>
            <a:spLocks noChangeArrowheads="1"/>
          </p:cNvSpPr>
          <p:nvPr/>
        </p:nvSpPr>
        <p:spPr bwMode="auto">
          <a:xfrm>
            <a:off x="5532438" y="2700338"/>
            <a:ext cx="230187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80" name="Oval 96"/>
          <p:cNvSpPr>
            <a:spLocks noChangeArrowheads="1"/>
          </p:cNvSpPr>
          <p:nvPr/>
        </p:nvSpPr>
        <p:spPr bwMode="auto">
          <a:xfrm>
            <a:off x="5532438" y="2968625"/>
            <a:ext cx="230187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81" name="Oval 97"/>
          <p:cNvSpPr>
            <a:spLocks noChangeArrowheads="1"/>
          </p:cNvSpPr>
          <p:nvPr/>
        </p:nvSpPr>
        <p:spPr bwMode="auto">
          <a:xfrm>
            <a:off x="5532438" y="2430463"/>
            <a:ext cx="230187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82" name="Oval 98"/>
          <p:cNvSpPr>
            <a:spLocks noChangeArrowheads="1"/>
          </p:cNvSpPr>
          <p:nvPr/>
        </p:nvSpPr>
        <p:spPr bwMode="auto">
          <a:xfrm>
            <a:off x="5878513" y="2700338"/>
            <a:ext cx="230187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83" name="Oval 99"/>
          <p:cNvSpPr>
            <a:spLocks noChangeArrowheads="1"/>
          </p:cNvSpPr>
          <p:nvPr/>
        </p:nvSpPr>
        <p:spPr bwMode="auto">
          <a:xfrm>
            <a:off x="5878513" y="2968625"/>
            <a:ext cx="230187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84" name="Oval 100"/>
          <p:cNvSpPr>
            <a:spLocks noChangeArrowheads="1"/>
          </p:cNvSpPr>
          <p:nvPr/>
        </p:nvSpPr>
        <p:spPr bwMode="auto">
          <a:xfrm>
            <a:off x="5878513" y="2430463"/>
            <a:ext cx="230187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85" name="Oval 101"/>
          <p:cNvSpPr>
            <a:spLocks noChangeArrowheads="1"/>
          </p:cNvSpPr>
          <p:nvPr/>
        </p:nvSpPr>
        <p:spPr bwMode="auto">
          <a:xfrm>
            <a:off x="6184900" y="2700338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86" name="Oval 102"/>
          <p:cNvSpPr>
            <a:spLocks noChangeArrowheads="1"/>
          </p:cNvSpPr>
          <p:nvPr/>
        </p:nvSpPr>
        <p:spPr bwMode="auto">
          <a:xfrm>
            <a:off x="6184900" y="2968625"/>
            <a:ext cx="230188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87" name="Oval 103"/>
          <p:cNvSpPr>
            <a:spLocks noChangeArrowheads="1"/>
          </p:cNvSpPr>
          <p:nvPr/>
        </p:nvSpPr>
        <p:spPr bwMode="auto">
          <a:xfrm>
            <a:off x="6184900" y="2430463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88" name="Oval 104"/>
          <p:cNvSpPr>
            <a:spLocks noChangeArrowheads="1"/>
          </p:cNvSpPr>
          <p:nvPr/>
        </p:nvSpPr>
        <p:spPr bwMode="auto">
          <a:xfrm>
            <a:off x="6492875" y="2700338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89" name="Oval 105"/>
          <p:cNvSpPr>
            <a:spLocks noChangeArrowheads="1"/>
          </p:cNvSpPr>
          <p:nvPr/>
        </p:nvSpPr>
        <p:spPr bwMode="auto">
          <a:xfrm>
            <a:off x="6492875" y="2968625"/>
            <a:ext cx="230188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90" name="Oval 106"/>
          <p:cNvSpPr>
            <a:spLocks noChangeArrowheads="1"/>
          </p:cNvSpPr>
          <p:nvPr/>
        </p:nvSpPr>
        <p:spPr bwMode="auto">
          <a:xfrm>
            <a:off x="6492875" y="2430463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91" name="Oval 107"/>
          <p:cNvSpPr>
            <a:spLocks noChangeArrowheads="1"/>
          </p:cNvSpPr>
          <p:nvPr/>
        </p:nvSpPr>
        <p:spPr bwMode="auto">
          <a:xfrm>
            <a:off x="4303713" y="3236913"/>
            <a:ext cx="230187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92" name="Oval 108"/>
          <p:cNvSpPr>
            <a:spLocks noChangeArrowheads="1"/>
          </p:cNvSpPr>
          <p:nvPr/>
        </p:nvSpPr>
        <p:spPr bwMode="auto">
          <a:xfrm>
            <a:off x="4303713" y="3506788"/>
            <a:ext cx="230187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93" name="Oval 109"/>
          <p:cNvSpPr>
            <a:spLocks noChangeArrowheads="1"/>
          </p:cNvSpPr>
          <p:nvPr/>
        </p:nvSpPr>
        <p:spPr bwMode="auto">
          <a:xfrm>
            <a:off x="6838950" y="2698750"/>
            <a:ext cx="230188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94" name="Oval 110"/>
          <p:cNvSpPr>
            <a:spLocks noChangeArrowheads="1"/>
          </p:cNvSpPr>
          <p:nvPr/>
        </p:nvSpPr>
        <p:spPr bwMode="auto">
          <a:xfrm>
            <a:off x="5992813" y="2162175"/>
            <a:ext cx="230187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95" name="Oval 111"/>
          <p:cNvSpPr>
            <a:spLocks noChangeArrowheads="1"/>
          </p:cNvSpPr>
          <p:nvPr/>
        </p:nvSpPr>
        <p:spPr bwMode="auto">
          <a:xfrm>
            <a:off x="5992813" y="3236913"/>
            <a:ext cx="230187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496" name="Text Box 112"/>
          <p:cNvSpPr txBox="1">
            <a:spLocks noChangeArrowheads="1"/>
          </p:cNvSpPr>
          <p:nvPr/>
        </p:nvSpPr>
        <p:spPr bwMode="auto">
          <a:xfrm>
            <a:off x="885825" y="3254375"/>
            <a:ext cx="1974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Electron emitted</a:t>
            </a:r>
          </a:p>
        </p:txBody>
      </p:sp>
      <p:sp>
        <p:nvSpPr>
          <p:cNvPr id="16497" name="Text Box 113"/>
          <p:cNvSpPr txBox="1">
            <a:spLocks noChangeArrowheads="1"/>
          </p:cNvSpPr>
          <p:nvPr/>
        </p:nvSpPr>
        <p:spPr bwMode="auto">
          <a:xfrm>
            <a:off x="5992813" y="3484563"/>
            <a:ext cx="215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Electron collected</a:t>
            </a:r>
          </a:p>
        </p:txBody>
      </p:sp>
      <p:sp>
        <p:nvSpPr>
          <p:cNvPr id="16498" name="Text Box 114"/>
          <p:cNvSpPr txBox="1">
            <a:spLocks noChangeArrowheads="1"/>
          </p:cNvSpPr>
          <p:nvPr/>
        </p:nvSpPr>
        <p:spPr bwMode="auto">
          <a:xfrm>
            <a:off x="231775" y="6013450"/>
            <a:ext cx="1847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>
                <a:solidFill>
                  <a:srgbClr val="C00000"/>
                </a:solidFill>
              </a:rPr>
              <a:t>Emitter  electron</a:t>
            </a:r>
          </a:p>
          <a:p>
            <a:r>
              <a:rPr lang="en-US">
                <a:solidFill>
                  <a:srgbClr val="C00000"/>
                </a:solidFill>
              </a:rPr>
              <a:t>current</a:t>
            </a:r>
          </a:p>
        </p:txBody>
      </p:sp>
      <p:sp>
        <p:nvSpPr>
          <p:cNvPr id="16499" name="Line 115"/>
          <p:cNvSpPr>
            <a:spLocks noChangeShapeType="1"/>
          </p:cNvSpPr>
          <p:nvPr/>
        </p:nvSpPr>
        <p:spPr bwMode="auto">
          <a:xfrm>
            <a:off x="7759700" y="5541963"/>
            <a:ext cx="8445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00" name="Line 116"/>
          <p:cNvSpPr>
            <a:spLocks noChangeShapeType="1"/>
          </p:cNvSpPr>
          <p:nvPr/>
        </p:nvSpPr>
        <p:spPr bwMode="auto">
          <a:xfrm flipV="1">
            <a:off x="8642350" y="4657725"/>
            <a:ext cx="0" cy="69215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01" name="Line 117"/>
          <p:cNvSpPr>
            <a:spLocks noChangeShapeType="1"/>
          </p:cNvSpPr>
          <p:nvPr/>
        </p:nvSpPr>
        <p:spPr bwMode="auto">
          <a:xfrm flipV="1">
            <a:off x="8642350" y="3121025"/>
            <a:ext cx="0" cy="69215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02" name="Line 118"/>
          <p:cNvSpPr>
            <a:spLocks noChangeShapeType="1"/>
          </p:cNvSpPr>
          <p:nvPr/>
        </p:nvSpPr>
        <p:spPr bwMode="auto">
          <a:xfrm flipH="1">
            <a:off x="8143875" y="3121025"/>
            <a:ext cx="42227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03" name="Line 119"/>
          <p:cNvSpPr>
            <a:spLocks noChangeShapeType="1"/>
          </p:cNvSpPr>
          <p:nvPr/>
        </p:nvSpPr>
        <p:spPr bwMode="auto">
          <a:xfrm flipV="1">
            <a:off x="4648200" y="4081463"/>
            <a:ext cx="0" cy="69215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04" name="Line 120"/>
          <p:cNvSpPr>
            <a:spLocks noChangeShapeType="1"/>
          </p:cNvSpPr>
          <p:nvPr/>
        </p:nvSpPr>
        <p:spPr bwMode="auto">
          <a:xfrm flipH="1">
            <a:off x="501650" y="3121025"/>
            <a:ext cx="422275" cy="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05" name="Line 121"/>
          <p:cNvSpPr>
            <a:spLocks noChangeShapeType="1"/>
          </p:cNvSpPr>
          <p:nvPr/>
        </p:nvSpPr>
        <p:spPr bwMode="auto">
          <a:xfrm flipH="1">
            <a:off x="539750" y="3275013"/>
            <a:ext cx="0" cy="84455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06" name="Line 122"/>
          <p:cNvSpPr>
            <a:spLocks noChangeShapeType="1"/>
          </p:cNvSpPr>
          <p:nvPr/>
        </p:nvSpPr>
        <p:spPr bwMode="auto">
          <a:xfrm flipH="1">
            <a:off x="539750" y="4735513"/>
            <a:ext cx="0" cy="84455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07" name="Line 123"/>
          <p:cNvSpPr>
            <a:spLocks noChangeShapeType="1"/>
          </p:cNvSpPr>
          <p:nvPr/>
        </p:nvSpPr>
        <p:spPr bwMode="auto">
          <a:xfrm flipV="1">
            <a:off x="846138" y="5541963"/>
            <a:ext cx="882650" cy="1587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08" name="Text Box 124"/>
          <p:cNvSpPr txBox="1">
            <a:spLocks noChangeArrowheads="1"/>
          </p:cNvSpPr>
          <p:nvPr/>
        </p:nvSpPr>
        <p:spPr bwMode="auto">
          <a:xfrm>
            <a:off x="7107238" y="4554538"/>
            <a:ext cx="15557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>
                <a:solidFill>
                  <a:srgbClr val="C00000"/>
                </a:solidFill>
              </a:rPr>
              <a:t>Direction </a:t>
            </a:r>
          </a:p>
          <a:p>
            <a:r>
              <a:rPr lang="en-US">
                <a:solidFill>
                  <a:srgbClr val="C00000"/>
                </a:solidFill>
              </a:rPr>
              <a:t>Conventional</a:t>
            </a:r>
          </a:p>
          <a:p>
            <a:r>
              <a:rPr lang="en-US">
                <a:solidFill>
                  <a:srgbClr val="C00000"/>
                </a:solidFill>
              </a:rPr>
              <a:t>Current IC (INJ)</a:t>
            </a:r>
          </a:p>
        </p:txBody>
      </p:sp>
      <p:sp>
        <p:nvSpPr>
          <p:cNvPr id="16509" name="Text Box 125"/>
          <p:cNvSpPr txBox="1">
            <a:spLocks noChangeArrowheads="1"/>
          </p:cNvSpPr>
          <p:nvPr/>
        </p:nvSpPr>
        <p:spPr bwMode="auto">
          <a:xfrm>
            <a:off x="4725988" y="4235450"/>
            <a:ext cx="15176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>
                <a:solidFill>
                  <a:srgbClr val="C00000"/>
                </a:solidFill>
              </a:rPr>
              <a:t>Direction </a:t>
            </a:r>
          </a:p>
          <a:p>
            <a:r>
              <a:rPr lang="en-US">
                <a:solidFill>
                  <a:srgbClr val="C00000"/>
                </a:solidFill>
              </a:rPr>
              <a:t>Conventional</a:t>
            </a:r>
          </a:p>
          <a:p>
            <a:r>
              <a:rPr lang="en-US">
                <a:solidFill>
                  <a:srgbClr val="C00000"/>
                </a:solidFill>
              </a:rPr>
              <a:t>Current IB</a:t>
            </a:r>
          </a:p>
        </p:txBody>
      </p:sp>
      <p:sp>
        <p:nvSpPr>
          <p:cNvPr id="16510" name="Text Box 126"/>
          <p:cNvSpPr txBox="1">
            <a:spLocks noChangeArrowheads="1"/>
          </p:cNvSpPr>
          <p:nvPr/>
        </p:nvSpPr>
        <p:spPr bwMode="auto">
          <a:xfrm>
            <a:off x="693738" y="4548188"/>
            <a:ext cx="15176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>
                <a:solidFill>
                  <a:srgbClr val="C00000"/>
                </a:solidFill>
              </a:rPr>
              <a:t>Direction </a:t>
            </a:r>
          </a:p>
          <a:p>
            <a:r>
              <a:rPr lang="en-US">
                <a:solidFill>
                  <a:srgbClr val="C00000"/>
                </a:solidFill>
              </a:rPr>
              <a:t>Conventional</a:t>
            </a:r>
          </a:p>
          <a:p>
            <a:r>
              <a:rPr lang="en-US">
                <a:solidFill>
                  <a:srgbClr val="C00000"/>
                </a:solidFill>
              </a:rPr>
              <a:t>Current IE</a:t>
            </a:r>
          </a:p>
        </p:txBody>
      </p:sp>
      <p:sp>
        <p:nvSpPr>
          <p:cNvPr id="16511" name="AutoShape 127"/>
          <p:cNvSpPr>
            <a:spLocks noChangeArrowheads="1"/>
          </p:cNvSpPr>
          <p:nvPr/>
        </p:nvSpPr>
        <p:spPr bwMode="auto">
          <a:xfrm rot="5400000">
            <a:off x="3113088" y="3044825"/>
            <a:ext cx="652462" cy="808038"/>
          </a:xfrm>
          <a:prstGeom prst="downArrow">
            <a:avLst>
              <a:gd name="adj1" fmla="val 50000"/>
              <a:gd name="adj2" fmla="val 30961"/>
            </a:avLst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512" name="Rectangle 128"/>
          <p:cNvSpPr>
            <a:spLocks noChangeArrowheads="1"/>
          </p:cNvSpPr>
          <p:nvPr/>
        </p:nvSpPr>
        <p:spPr bwMode="auto">
          <a:xfrm>
            <a:off x="3765550" y="3275013"/>
            <a:ext cx="346075" cy="538162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513" name="Oval 129"/>
          <p:cNvSpPr>
            <a:spLocks noChangeArrowheads="1"/>
          </p:cNvSpPr>
          <p:nvPr/>
        </p:nvSpPr>
        <p:spPr bwMode="auto">
          <a:xfrm>
            <a:off x="3803650" y="3582988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514" name="Oval 130"/>
          <p:cNvSpPr>
            <a:spLocks noChangeArrowheads="1"/>
          </p:cNvSpPr>
          <p:nvPr/>
        </p:nvSpPr>
        <p:spPr bwMode="auto">
          <a:xfrm>
            <a:off x="3803650" y="3313113"/>
            <a:ext cx="230188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515" name="Oval 131"/>
          <p:cNvSpPr>
            <a:spLocks noChangeArrowheads="1"/>
          </p:cNvSpPr>
          <p:nvPr/>
        </p:nvSpPr>
        <p:spPr bwMode="auto">
          <a:xfrm>
            <a:off x="3535363" y="3313113"/>
            <a:ext cx="230187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516" name="Oval 132"/>
          <p:cNvSpPr>
            <a:spLocks noChangeArrowheads="1"/>
          </p:cNvSpPr>
          <p:nvPr/>
        </p:nvSpPr>
        <p:spPr bwMode="auto">
          <a:xfrm>
            <a:off x="3227388" y="3313113"/>
            <a:ext cx="230187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517" name="Text Box 133"/>
          <p:cNvSpPr txBox="1">
            <a:spLocks noChangeArrowheads="1"/>
          </p:cNvSpPr>
          <p:nvPr/>
        </p:nvSpPr>
        <p:spPr bwMode="auto">
          <a:xfrm>
            <a:off x="5608638" y="4043363"/>
            <a:ext cx="2813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>
                <a:solidFill>
                  <a:srgbClr val="FF0066"/>
                </a:solidFill>
              </a:rPr>
              <a:t>(injected collector current)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B406A5-BF13-4EAC-AAA1-011274E16045}" type="slidenum">
              <a:rPr lang="en-US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60427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65405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>
                <a:solidFill>
                  <a:schemeClr val="folHlink"/>
                </a:solidFill>
              </a:rPr>
              <a:t>Transistor operation in the active region N-P-N</a:t>
            </a:r>
            <a:br>
              <a:rPr lang="en-US" sz="2800">
                <a:solidFill>
                  <a:schemeClr val="folHlink"/>
                </a:solidFill>
              </a:rPr>
            </a:br>
            <a:r>
              <a:rPr lang="en-US" sz="2800">
                <a:solidFill>
                  <a:schemeClr val="folHlink"/>
                </a:solidFill>
              </a:rPr>
              <a:t>common base configuration 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3398838" y="1720850"/>
            <a:ext cx="1979612" cy="1982788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962025" y="1720850"/>
            <a:ext cx="2343150" cy="19827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149725" y="3330575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P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3071813" y="1085850"/>
            <a:ext cx="471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J</a:t>
            </a:r>
            <a:r>
              <a:rPr lang="en-US" sz="1600"/>
              <a:t>EB</a:t>
            </a:r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>
            <a:off x="3381375" y="14541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 flipV="1">
            <a:off x="241300" y="2746375"/>
            <a:ext cx="720725" cy="1111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8067675" y="2719388"/>
            <a:ext cx="836613" cy="952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-36513" y="2297113"/>
            <a:ext cx="908051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Emitter</a:t>
            </a:r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8067675" y="2276475"/>
            <a:ext cx="1035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collector</a:t>
            </a:r>
          </a:p>
        </p:txBody>
      </p:sp>
      <p:sp>
        <p:nvSpPr>
          <p:cNvPr id="17420" name="Rectangle 12"/>
          <p:cNvSpPr>
            <a:spLocks noChangeArrowheads="1"/>
          </p:cNvSpPr>
          <p:nvPr/>
        </p:nvSpPr>
        <p:spPr bwMode="auto">
          <a:xfrm>
            <a:off x="5454650" y="1720850"/>
            <a:ext cx="2613025" cy="19827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21" name="Rectangle 13"/>
          <p:cNvSpPr>
            <a:spLocks noChangeArrowheads="1"/>
          </p:cNvSpPr>
          <p:nvPr/>
        </p:nvSpPr>
        <p:spPr bwMode="auto">
          <a:xfrm>
            <a:off x="5378450" y="1720850"/>
            <a:ext cx="96838" cy="198278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1806575" y="2643188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N</a:t>
            </a:r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flipV="1">
            <a:off x="4418013" y="3679825"/>
            <a:ext cx="0" cy="199707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3649663" y="5310188"/>
            <a:ext cx="768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Base </a:t>
            </a:r>
          </a:p>
        </p:txBody>
      </p:sp>
      <p:sp>
        <p:nvSpPr>
          <p:cNvPr id="17425" name="Text Box 17"/>
          <p:cNvSpPr txBox="1">
            <a:spLocks noChangeArrowheads="1"/>
          </p:cNvSpPr>
          <p:nvPr/>
        </p:nvSpPr>
        <p:spPr bwMode="auto">
          <a:xfrm>
            <a:off x="5176838" y="1085850"/>
            <a:ext cx="47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J</a:t>
            </a:r>
            <a:r>
              <a:rPr lang="en-US" sz="1600"/>
              <a:t>CB</a:t>
            </a:r>
          </a:p>
        </p:txBody>
      </p:sp>
      <p:sp>
        <p:nvSpPr>
          <p:cNvPr id="17426" name="Line 18"/>
          <p:cNvSpPr>
            <a:spLocks noChangeShapeType="1"/>
          </p:cNvSpPr>
          <p:nvPr/>
        </p:nvSpPr>
        <p:spPr bwMode="auto">
          <a:xfrm>
            <a:off x="5454650" y="149066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7" name="Rectangle 19"/>
          <p:cNvSpPr>
            <a:spLocks noChangeArrowheads="1"/>
          </p:cNvSpPr>
          <p:nvPr/>
        </p:nvSpPr>
        <p:spPr bwMode="auto">
          <a:xfrm>
            <a:off x="3305175" y="1720850"/>
            <a:ext cx="96838" cy="198278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28" name="Line 20"/>
          <p:cNvSpPr>
            <a:spLocks noChangeShapeType="1"/>
          </p:cNvSpPr>
          <p:nvPr/>
        </p:nvSpPr>
        <p:spPr bwMode="auto">
          <a:xfrm>
            <a:off x="4648200" y="1682750"/>
            <a:ext cx="0" cy="2035175"/>
          </a:xfrm>
          <a:prstGeom prst="line">
            <a:avLst/>
          </a:prstGeom>
          <a:noFill/>
          <a:ln w="9525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9" name="Line 21"/>
          <p:cNvSpPr>
            <a:spLocks noChangeShapeType="1"/>
          </p:cNvSpPr>
          <p:nvPr/>
        </p:nvSpPr>
        <p:spPr bwMode="auto">
          <a:xfrm>
            <a:off x="5878513" y="1720850"/>
            <a:ext cx="0" cy="2035175"/>
          </a:xfrm>
          <a:prstGeom prst="line">
            <a:avLst/>
          </a:prstGeom>
          <a:noFill/>
          <a:ln w="9525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0" name="Line 22"/>
          <p:cNvSpPr>
            <a:spLocks noChangeShapeType="1"/>
          </p:cNvSpPr>
          <p:nvPr/>
        </p:nvSpPr>
        <p:spPr bwMode="auto">
          <a:xfrm>
            <a:off x="4149725" y="1682750"/>
            <a:ext cx="0" cy="2035175"/>
          </a:xfrm>
          <a:prstGeom prst="line">
            <a:avLst/>
          </a:prstGeom>
          <a:noFill/>
          <a:ln w="9525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1" name="Text Box 23"/>
          <p:cNvSpPr txBox="1">
            <a:spLocks noChangeArrowheads="1"/>
          </p:cNvSpPr>
          <p:nvPr/>
        </p:nvSpPr>
        <p:spPr bwMode="auto">
          <a:xfrm>
            <a:off x="7683500" y="2622550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N</a:t>
            </a:r>
          </a:p>
        </p:txBody>
      </p:sp>
      <p:sp>
        <p:nvSpPr>
          <p:cNvPr id="17432" name="Line 24"/>
          <p:cNvSpPr>
            <a:spLocks noChangeShapeType="1"/>
          </p:cNvSpPr>
          <p:nvPr/>
        </p:nvSpPr>
        <p:spPr bwMode="auto">
          <a:xfrm>
            <a:off x="2921000" y="3756025"/>
            <a:ext cx="0" cy="538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3" name="Line 25"/>
          <p:cNvSpPr>
            <a:spLocks noChangeShapeType="1"/>
          </p:cNvSpPr>
          <p:nvPr/>
        </p:nvSpPr>
        <p:spPr bwMode="auto">
          <a:xfrm>
            <a:off x="4149725" y="3756025"/>
            <a:ext cx="0" cy="538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4" name="Line 26"/>
          <p:cNvSpPr>
            <a:spLocks noChangeShapeType="1"/>
          </p:cNvSpPr>
          <p:nvPr/>
        </p:nvSpPr>
        <p:spPr bwMode="auto">
          <a:xfrm>
            <a:off x="4648200" y="3756025"/>
            <a:ext cx="0" cy="538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5" name="Line 27"/>
          <p:cNvSpPr>
            <a:spLocks noChangeShapeType="1"/>
          </p:cNvSpPr>
          <p:nvPr/>
        </p:nvSpPr>
        <p:spPr bwMode="auto">
          <a:xfrm>
            <a:off x="5878513" y="3756025"/>
            <a:ext cx="0" cy="538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6" name="AutoShape 28"/>
          <p:cNvSpPr>
            <a:spLocks/>
          </p:cNvSpPr>
          <p:nvPr/>
        </p:nvSpPr>
        <p:spPr bwMode="auto">
          <a:xfrm rot="5400000">
            <a:off x="3476625" y="3508375"/>
            <a:ext cx="77788" cy="1112838"/>
          </a:xfrm>
          <a:prstGeom prst="rightBrace">
            <a:avLst>
              <a:gd name="adj1" fmla="val 1192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37" name="AutoShape 29"/>
          <p:cNvSpPr>
            <a:spLocks/>
          </p:cNvSpPr>
          <p:nvPr/>
        </p:nvSpPr>
        <p:spPr bwMode="auto">
          <a:xfrm rot="5400000">
            <a:off x="5205413" y="3508375"/>
            <a:ext cx="77788" cy="1112837"/>
          </a:xfrm>
          <a:prstGeom prst="rightBrace">
            <a:avLst>
              <a:gd name="adj1" fmla="val 1192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38" name="Text Box 30"/>
          <p:cNvSpPr txBox="1">
            <a:spLocks noChangeArrowheads="1"/>
          </p:cNvSpPr>
          <p:nvPr/>
        </p:nvSpPr>
        <p:spPr bwMode="auto">
          <a:xfrm>
            <a:off x="2959100" y="4113213"/>
            <a:ext cx="1149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Depletion</a:t>
            </a:r>
          </a:p>
          <a:p>
            <a:r>
              <a:rPr lang="en-US"/>
              <a:t>region</a:t>
            </a:r>
          </a:p>
        </p:txBody>
      </p:sp>
      <p:sp>
        <p:nvSpPr>
          <p:cNvPr id="17439" name="Text Box 31"/>
          <p:cNvSpPr txBox="1">
            <a:spLocks noChangeArrowheads="1"/>
          </p:cNvSpPr>
          <p:nvPr/>
        </p:nvSpPr>
        <p:spPr bwMode="auto">
          <a:xfrm>
            <a:off x="4689475" y="4102100"/>
            <a:ext cx="1149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Depletion</a:t>
            </a:r>
          </a:p>
          <a:p>
            <a:r>
              <a:rPr lang="en-US"/>
              <a:t>region</a:t>
            </a:r>
          </a:p>
        </p:txBody>
      </p:sp>
      <p:sp>
        <p:nvSpPr>
          <p:cNvPr id="17440" name="Oval 32"/>
          <p:cNvSpPr>
            <a:spLocks noChangeArrowheads="1"/>
          </p:cNvSpPr>
          <p:nvPr/>
        </p:nvSpPr>
        <p:spPr bwMode="auto">
          <a:xfrm>
            <a:off x="5032375" y="3298825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41" name="Oval 33"/>
          <p:cNvSpPr>
            <a:spLocks noChangeArrowheads="1"/>
          </p:cNvSpPr>
          <p:nvPr/>
        </p:nvSpPr>
        <p:spPr bwMode="auto">
          <a:xfrm>
            <a:off x="5032375" y="2917825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42" name="Oval 34"/>
          <p:cNvSpPr>
            <a:spLocks noChangeArrowheads="1"/>
          </p:cNvSpPr>
          <p:nvPr/>
        </p:nvSpPr>
        <p:spPr bwMode="auto">
          <a:xfrm>
            <a:off x="5032375" y="2536825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43" name="Oval 35"/>
          <p:cNvSpPr>
            <a:spLocks noChangeArrowheads="1"/>
          </p:cNvSpPr>
          <p:nvPr/>
        </p:nvSpPr>
        <p:spPr bwMode="auto">
          <a:xfrm>
            <a:off x="5038725" y="2155825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44" name="Oval 36"/>
          <p:cNvSpPr>
            <a:spLocks noChangeArrowheads="1"/>
          </p:cNvSpPr>
          <p:nvPr/>
        </p:nvSpPr>
        <p:spPr bwMode="auto">
          <a:xfrm>
            <a:off x="5038725" y="1774825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45" name="Oval 37"/>
          <p:cNvSpPr>
            <a:spLocks noChangeArrowheads="1"/>
          </p:cNvSpPr>
          <p:nvPr/>
        </p:nvSpPr>
        <p:spPr bwMode="auto">
          <a:xfrm>
            <a:off x="5534025" y="3298825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7446" name="Oval 38"/>
          <p:cNvSpPr>
            <a:spLocks noChangeArrowheads="1"/>
          </p:cNvSpPr>
          <p:nvPr/>
        </p:nvSpPr>
        <p:spPr bwMode="auto">
          <a:xfrm>
            <a:off x="5534025" y="2917825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7447" name="Oval 39"/>
          <p:cNvSpPr>
            <a:spLocks noChangeArrowheads="1"/>
          </p:cNvSpPr>
          <p:nvPr/>
        </p:nvSpPr>
        <p:spPr bwMode="auto">
          <a:xfrm>
            <a:off x="5534025" y="2536825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7448" name="Oval 40"/>
          <p:cNvSpPr>
            <a:spLocks noChangeArrowheads="1"/>
          </p:cNvSpPr>
          <p:nvPr/>
        </p:nvSpPr>
        <p:spPr bwMode="auto">
          <a:xfrm>
            <a:off x="5530850" y="2193925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7449" name="Oval 41"/>
          <p:cNvSpPr>
            <a:spLocks noChangeArrowheads="1"/>
          </p:cNvSpPr>
          <p:nvPr/>
        </p:nvSpPr>
        <p:spPr bwMode="auto">
          <a:xfrm>
            <a:off x="5530850" y="1812925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7450" name="Oval 42"/>
          <p:cNvSpPr>
            <a:spLocks noChangeArrowheads="1"/>
          </p:cNvSpPr>
          <p:nvPr/>
        </p:nvSpPr>
        <p:spPr bwMode="auto">
          <a:xfrm>
            <a:off x="4648200" y="32829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51" name="Oval 43"/>
          <p:cNvSpPr>
            <a:spLocks noChangeArrowheads="1"/>
          </p:cNvSpPr>
          <p:nvPr/>
        </p:nvSpPr>
        <p:spPr bwMode="auto">
          <a:xfrm>
            <a:off x="4648200" y="29019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52" name="Oval 44"/>
          <p:cNvSpPr>
            <a:spLocks noChangeArrowheads="1"/>
          </p:cNvSpPr>
          <p:nvPr/>
        </p:nvSpPr>
        <p:spPr bwMode="auto">
          <a:xfrm>
            <a:off x="4648200" y="25209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53" name="Oval 45"/>
          <p:cNvSpPr>
            <a:spLocks noChangeArrowheads="1"/>
          </p:cNvSpPr>
          <p:nvPr/>
        </p:nvSpPr>
        <p:spPr bwMode="auto">
          <a:xfrm>
            <a:off x="4654550" y="21399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54" name="Oval 46"/>
          <p:cNvSpPr>
            <a:spLocks noChangeArrowheads="1"/>
          </p:cNvSpPr>
          <p:nvPr/>
        </p:nvSpPr>
        <p:spPr bwMode="auto">
          <a:xfrm>
            <a:off x="4654550" y="17589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55" name="Oval 47"/>
          <p:cNvSpPr>
            <a:spLocks noChangeArrowheads="1"/>
          </p:cNvSpPr>
          <p:nvPr/>
        </p:nvSpPr>
        <p:spPr bwMode="auto">
          <a:xfrm>
            <a:off x="2960688" y="328453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7456" name="Oval 48"/>
          <p:cNvSpPr>
            <a:spLocks noChangeArrowheads="1"/>
          </p:cNvSpPr>
          <p:nvPr/>
        </p:nvSpPr>
        <p:spPr bwMode="auto">
          <a:xfrm>
            <a:off x="2960688" y="290353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7457" name="Oval 49"/>
          <p:cNvSpPr>
            <a:spLocks noChangeArrowheads="1"/>
          </p:cNvSpPr>
          <p:nvPr/>
        </p:nvSpPr>
        <p:spPr bwMode="auto">
          <a:xfrm>
            <a:off x="2960688" y="252253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7458" name="Oval 50"/>
          <p:cNvSpPr>
            <a:spLocks noChangeArrowheads="1"/>
          </p:cNvSpPr>
          <p:nvPr/>
        </p:nvSpPr>
        <p:spPr bwMode="auto">
          <a:xfrm>
            <a:off x="2957513" y="217963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7459" name="Oval 51"/>
          <p:cNvSpPr>
            <a:spLocks noChangeArrowheads="1"/>
          </p:cNvSpPr>
          <p:nvPr/>
        </p:nvSpPr>
        <p:spPr bwMode="auto">
          <a:xfrm>
            <a:off x="2957513" y="1798638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17460" name="Line 52"/>
          <p:cNvSpPr>
            <a:spLocks noChangeShapeType="1"/>
          </p:cNvSpPr>
          <p:nvPr/>
        </p:nvSpPr>
        <p:spPr bwMode="auto">
          <a:xfrm>
            <a:off x="2921000" y="1720850"/>
            <a:ext cx="0" cy="2035175"/>
          </a:xfrm>
          <a:prstGeom prst="line">
            <a:avLst/>
          </a:prstGeom>
          <a:noFill/>
          <a:ln w="9525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61" name="Oval 53"/>
          <p:cNvSpPr>
            <a:spLocks noChangeArrowheads="1"/>
          </p:cNvSpPr>
          <p:nvPr/>
        </p:nvSpPr>
        <p:spPr bwMode="auto">
          <a:xfrm>
            <a:off x="3800475" y="3336925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62" name="Oval 54"/>
          <p:cNvSpPr>
            <a:spLocks noChangeArrowheads="1"/>
          </p:cNvSpPr>
          <p:nvPr/>
        </p:nvSpPr>
        <p:spPr bwMode="auto">
          <a:xfrm>
            <a:off x="3800475" y="2955925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63" name="Oval 55"/>
          <p:cNvSpPr>
            <a:spLocks noChangeArrowheads="1"/>
          </p:cNvSpPr>
          <p:nvPr/>
        </p:nvSpPr>
        <p:spPr bwMode="auto">
          <a:xfrm>
            <a:off x="3800475" y="2574925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64" name="Oval 56"/>
          <p:cNvSpPr>
            <a:spLocks noChangeArrowheads="1"/>
          </p:cNvSpPr>
          <p:nvPr/>
        </p:nvSpPr>
        <p:spPr bwMode="auto">
          <a:xfrm>
            <a:off x="3806825" y="2193925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65" name="Oval 57"/>
          <p:cNvSpPr>
            <a:spLocks noChangeArrowheads="1"/>
          </p:cNvSpPr>
          <p:nvPr/>
        </p:nvSpPr>
        <p:spPr bwMode="auto">
          <a:xfrm>
            <a:off x="3806825" y="1812925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66" name="Oval 58"/>
          <p:cNvSpPr>
            <a:spLocks noChangeArrowheads="1"/>
          </p:cNvSpPr>
          <p:nvPr/>
        </p:nvSpPr>
        <p:spPr bwMode="auto">
          <a:xfrm>
            <a:off x="3416300" y="33210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67" name="Oval 59"/>
          <p:cNvSpPr>
            <a:spLocks noChangeArrowheads="1"/>
          </p:cNvSpPr>
          <p:nvPr/>
        </p:nvSpPr>
        <p:spPr bwMode="auto">
          <a:xfrm>
            <a:off x="3416300" y="29400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68" name="Oval 60"/>
          <p:cNvSpPr>
            <a:spLocks noChangeArrowheads="1"/>
          </p:cNvSpPr>
          <p:nvPr/>
        </p:nvSpPr>
        <p:spPr bwMode="auto">
          <a:xfrm>
            <a:off x="3416300" y="25590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69" name="Oval 61"/>
          <p:cNvSpPr>
            <a:spLocks noChangeArrowheads="1"/>
          </p:cNvSpPr>
          <p:nvPr/>
        </p:nvSpPr>
        <p:spPr bwMode="auto">
          <a:xfrm>
            <a:off x="3422650" y="21780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70" name="Oval 62"/>
          <p:cNvSpPr>
            <a:spLocks noChangeArrowheads="1"/>
          </p:cNvSpPr>
          <p:nvPr/>
        </p:nvSpPr>
        <p:spPr bwMode="auto">
          <a:xfrm>
            <a:off x="3422650" y="17970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17471" name="Line 80"/>
          <p:cNvSpPr>
            <a:spLocks noChangeShapeType="1"/>
          </p:cNvSpPr>
          <p:nvPr/>
        </p:nvSpPr>
        <p:spPr bwMode="auto">
          <a:xfrm>
            <a:off x="8821738" y="3641725"/>
            <a:ext cx="230187" cy="192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72" name="Line 81"/>
          <p:cNvSpPr>
            <a:spLocks noChangeShapeType="1"/>
          </p:cNvSpPr>
          <p:nvPr/>
        </p:nvSpPr>
        <p:spPr bwMode="auto">
          <a:xfrm>
            <a:off x="8743950" y="4064000"/>
            <a:ext cx="346075" cy="2301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73" name="Line 82"/>
          <p:cNvSpPr>
            <a:spLocks noChangeShapeType="1"/>
          </p:cNvSpPr>
          <p:nvPr/>
        </p:nvSpPr>
        <p:spPr bwMode="auto">
          <a:xfrm>
            <a:off x="8743950" y="4486275"/>
            <a:ext cx="230188" cy="192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74" name="Line 83"/>
          <p:cNvSpPr>
            <a:spLocks noChangeShapeType="1"/>
          </p:cNvSpPr>
          <p:nvPr/>
        </p:nvSpPr>
        <p:spPr bwMode="auto">
          <a:xfrm flipV="1">
            <a:off x="8743950" y="4294188"/>
            <a:ext cx="346075" cy="192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75" name="Line 84"/>
          <p:cNvSpPr>
            <a:spLocks noChangeShapeType="1"/>
          </p:cNvSpPr>
          <p:nvPr/>
        </p:nvSpPr>
        <p:spPr bwMode="auto">
          <a:xfrm flipV="1">
            <a:off x="8705850" y="3833813"/>
            <a:ext cx="384175" cy="2301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76" name="Line 85"/>
          <p:cNvSpPr>
            <a:spLocks noChangeShapeType="1"/>
          </p:cNvSpPr>
          <p:nvPr/>
        </p:nvSpPr>
        <p:spPr bwMode="auto">
          <a:xfrm>
            <a:off x="8950325" y="4602163"/>
            <a:ext cx="0" cy="11128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77" name="Text Box 86"/>
          <p:cNvSpPr txBox="1">
            <a:spLocks noChangeArrowheads="1"/>
          </p:cNvSpPr>
          <p:nvPr/>
        </p:nvSpPr>
        <p:spPr bwMode="auto">
          <a:xfrm>
            <a:off x="8143875" y="4025900"/>
            <a:ext cx="419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R</a:t>
            </a:r>
            <a:r>
              <a:rPr lang="en-US" sz="1600"/>
              <a:t>C</a:t>
            </a:r>
          </a:p>
        </p:txBody>
      </p:sp>
      <p:sp>
        <p:nvSpPr>
          <p:cNvPr id="17478" name="Line 87"/>
          <p:cNvSpPr>
            <a:spLocks noChangeShapeType="1"/>
          </p:cNvSpPr>
          <p:nvPr/>
        </p:nvSpPr>
        <p:spPr bwMode="auto">
          <a:xfrm flipH="1">
            <a:off x="4456113" y="5676900"/>
            <a:ext cx="18811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79" name="Line 88"/>
          <p:cNvSpPr>
            <a:spLocks noChangeShapeType="1"/>
          </p:cNvSpPr>
          <p:nvPr/>
        </p:nvSpPr>
        <p:spPr bwMode="auto">
          <a:xfrm flipH="1" flipV="1">
            <a:off x="6875463" y="5676900"/>
            <a:ext cx="2074862" cy="174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80" name="Line 89"/>
          <p:cNvSpPr>
            <a:spLocks noChangeShapeType="1"/>
          </p:cNvSpPr>
          <p:nvPr/>
        </p:nvSpPr>
        <p:spPr bwMode="auto">
          <a:xfrm>
            <a:off x="6875463" y="5292725"/>
            <a:ext cx="0" cy="768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81" name="Line 90"/>
          <p:cNvSpPr>
            <a:spLocks noChangeShapeType="1"/>
          </p:cNvSpPr>
          <p:nvPr/>
        </p:nvSpPr>
        <p:spPr bwMode="auto">
          <a:xfrm>
            <a:off x="6529388" y="5292725"/>
            <a:ext cx="0" cy="768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82" name="Line 91"/>
          <p:cNvSpPr>
            <a:spLocks noChangeShapeType="1"/>
          </p:cNvSpPr>
          <p:nvPr/>
        </p:nvSpPr>
        <p:spPr bwMode="auto">
          <a:xfrm flipH="1">
            <a:off x="6683375" y="5407025"/>
            <a:ext cx="0" cy="4619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83" name="Line 92"/>
          <p:cNvSpPr>
            <a:spLocks noChangeShapeType="1"/>
          </p:cNvSpPr>
          <p:nvPr/>
        </p:nvSpPr>
        <p:spPr bwMode="auto">
          <a:xfrm flipH="1">
            <a:off x="6337300" y="5408613"/>
            <a:ext cx="0" cy="4619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84" name="Text Box 93"/>
          <p:cNvSpPr txBox="1">
            <a:spLocks noChangeArrowheads="1"/>
          </p:cNvSpPr>
          <p:nvPr/>
        </p:nvSpPr>
        <p:spPr bwMode="auto">
          <a:xfrm>
            <a:off x="6283325" y="4887913"/>
            <a:ext cx="555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V</a:t>
            </a:r>
            <a:r>
              <a:rPr lang="en-US" baseline="-20000"/>
              <a:t>CC</a:t>
            </a:r>
          </a:p>
        </p:txBody>
      </p:sp>
      <p:sp>
        <p:nvSpPr>
          <p:cNvPr id="17485" name="Text Box 94"/>
          <p:cNvSpPr txBox="1">
            <a:spLocks noChangeArrowheads="1"/>
          </p:cNvSpPr>
          <p:nvPr/>
        </p:nvSpPr>
        <p:spPr bwMode="auto">
          <a:xfrm>
            <a:off x="6937375" y="5140325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+</a:t>
            </a:r>
          </a:p>
        </p:txBody>
      </p:sp>
      <p:sp>
        <p:nvSpPr>
          <p:cNvPr id="17486" name="Text Box 95"/>
          <p:cNvSpPr txBox="1">
            <a:spLocks noChangeArrowheads="1"/>
          </p:cNvSpPr>
          <p:nvPr/>
        </p:nvSpPr>
        <p:spPr bwMode="auto">
          <a:xfrm>
            <a:off x="5915025" y="5216525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-</a:t>
            </a:r>
          </a:p>
        </p:txBody>
      </p:sp>
      <p:sp>
        <p:nvSpPr>
          <p:cNvPr id="17487" name="Line 96"/>
          <p:cNvSpPr>
            <a:spLocks noChangeShapeType="1"/>
          </p:cNvSpPr>
          <p:nvPr/>
        </p:nvSpPr>
        <p:spPr bwMode="auto">
          <a:xfrm>
            <a:off x="8874125" y="2719388"/>
            <a:ext cx="0" cy="960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88" name="Oval 97"/>
          <p:cNvSpPr>
            <a:spLocks noChangeArrowheads="1"/>
          </p:cNvSpPr>
          <p:nvPr/>
        </p:nvSpPr>
        <p:spPr bwMode="auto">
          <a:xfrm>
            <a:off x="4302125" y="5522913"/>
            <a:ext cx="231775" cy="268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89" name="Oval 98"/>
          <p:cNvSpPr>
            <a:spLocks noChangeArrowheads="1"/>
          </p:cNvSpPr>
          <p:nvPr/>
        </p:nvSpPr>
        <p:spPr bwMode="auto">
          <a:xfrm>
            <a:off x="8758238" y="2605088"/>
            <a:ext cx="231775" cy="268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90" name="Oval 99"/>
          <p:cNvSpPr>
            <a:spLocks noChangeArrowheads="1"/>
          </p:cNvSpPr>
          <p:nvPr/>
        </p:nvSpPr>
        <p:spPr bwMode="auto">
          <a:xfrm>
            <a:off x="153988" y="2605088"/>
            <a:ext cx="231775" cy="268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91" name="Rectangle 100"/>
          <p:cNvSpPr>
            <a:spLocks noChangeArrowheads="1"/>
          </p:cNvSpPr>
          <p:nvPr/>
        </p:nvSpPr>
        <p:spPr bwMode="auto">
          <a:xfrm>
            <a:off x="5378450" y="1720850"/>
            <a:ext cx="96838" cy="1982788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92" name="Rectangle 101"/>
          <p:cNvSpPr>
            <a:spLocks noChangeArrowheads="1"/>
          </p:cNvSpPr>
          <p:nvPr/>
        </p:nvSpPr>
        <p:spPr bwMode="auto">
          <a:xfrm>
            <a:off x="3305175" y="1720850"/>
            <a:ext cx="96838" cy="1982788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93" name="Oval 102"/>
          <p:cNvSpPr>
            <a:spLocks noChangeArrowheads="1"/>
          </p:cNvSpPr>
          <p:nvPr/>
        </p:nvSpPr>
        <p:spPr bwMode="auto">
          <a:xfrm>
            <a:off x="7299325" y="2259013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94" name="Oval 103"/>
          <p:cNvSpPr>
            <a:spLocks noChangeArrowheads="1"/>
          </p:cNvSpPr>
          <p:nvPr/>
        </p:nvSpPr>
        <p:spPr bwMode="auto">
          <a:xfrm>
            <a:off x="7299325" y="2603500"/>
            <a:ext cx="230188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95" name="Oval 104"/>
          <p:cNvSpPr>
            <a:spLocks noChangeArrowheads="1"/>
          </p:cNvSpPr>
          <p:nvPr/>
        </p:nvSpPr>
        <p:spPr bwMode="auto">
          <a:xfrm>
            <a:off x="7299325" y="2949575"/>
            <a:ext cx="230188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96" name="Oval 105"/>
          <p:cNvSpPr>
            <a:spLocks noChangeArrowheads="1"/>
          </p:cNvSpPr>
          <p:nvPr/>
        </p:nvSpPr>
        <p:spPr bwMode="auto">
          <a:xfrm>
            <a:off x="7299325" y="1874838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97" name="Oval 106"/>
          <p:cNvSpPr>
            <a:spLocks noChangeArrowheads="1"/>
          </p:cNvSpPr>
          <p:nvPr/>
        </p:nvSpPr>
        <p:spPr bwMode="auto">
          <a:xfrm>
            <a:off x="7299325" y="3257550"/>
            <a:ext cx="230188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98" name="Oval 107"/>
          <p:cNvSpPr>
            <a:spLocks noChangeArrowheads="1"/>
          </p:cNvSpPr>
          <p:nvPr/>
        </p:nvSpPr>
        <p:spPr bwMode="auto">
          <a:xfrm>
            <a:off x="6300788" y="2259013"/>
            <a:ext cx="230187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99" name="Oval 108"/>
          <p:cNvSpPr>
            <a:spLocks noChangeArrowheads="1"/>
          </p:cNvSpPr>
          <p:nvPr/>
        </p:nvSpPr>
        <p:spPr bwMode="auto">
          <a:xfrm>
            <a:off x="6300788" y="2603500"/>
            <a:ext cx="230187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500" name="Oval 109"/>
          <p:cNvSpPr>
            <a:spLocks noChangeArrowheads="1"/>
          </p:cNvSpPr>
          <p:nvPr/>
        </p:nvSpPr>
        <p:spPr bwMode="auto">
          <a:xfrm>
            <a:off x="6300788" y="2949575"/>
            <a:ext cx="230187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501" name="Oval 110"/>
          <p:cNvSpPr>
            <a:spLocks noChangeArrowheads="1"/>
          </p:cNvSpPr>
          <p:nvPr/>
        </p:nvSpPr>
        <p:spPr bwMode="auto">
          <a:xfrm>
            <a:off x="6300788" y="1874838"/>
            <a:ext cx="230187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502" name="Oval 111"/>
          <p:cNvSpPr>
            <a:spLocks noChangeArrowheads="1"/>
          </p:cNvSpPr>
          <p:nvPr/>
        </p:nvSpPr>
        <p:spPr bwMode="auto">
          <a:xfrm>
            <a:off x="6300788" y="3257550"/>
            <a:ext cx="230187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503" name="Oval 112"/>
          <p:cNvSpPr>
            <a:spLocks noChangeArrowheads="1"/>
          </p:cNvSpPr>
          <p:nvPr/>
        </p:nvSpPr>
        <p:spPr bwMode="auto">
          <a:xfrm>
            <a:off x="6991350" y="2259013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504" name="Oval 113"/>
          <p:cNvSpPr>
            <a:spLocks noChangeArrowheads="1"/>
          </p:cNvSpPr>
          <p:nvPr/>
        </p:nvSpPr>
        <p:spPr bwMode="auto">
          <a:xfrm>
            <a:off x="6991350" y="2603500"/>
            <a:ext cx="230188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505" name="Oval 114"/>
          <p:cNvSpPr>
            <a:spLocks noChangeArrowheads="1"/>
          </p:cNvSpPr>
          <p:nvPr/>
        </p:nvSpPr>
        <p:spPr bwMode="auto">
          <a:xfrm>
            <a:off x="6991350" y="2949575"/>
            <a:ext cx="230188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506" name="Oval 115"/>
          <p:cNvSpPr>
            <a:spLocks noChangeArrowheads="1"/>
          </p:cNvSpPr>
          <p:nvPr/>
        </p:nvSpPr>
        <p:spPr bwMode="auto">
          <a:xfrm>
            <a:off x="6991350" y="1874838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507" name="Oval 116"/>
          <p:cNvSpPr>
            <a:spLocks noChangeArrowheads="1"/>
          </p:cNvSpPr>
          <p:nvPr/>
        </p:nvSpPr>
        <p:spPr bwMode="auto">
          <a:xfrm>
            <a:off x="6991350" y="3257550"/>
            <a:ext cx="230188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508" name="Oval 117"/>
          <p:cNvSpPr>
            <a:spLocks noChangeArrowheads="1"/>
          </p:cNvSpPr>
          <p:nvPr/>
        </p:nvSpPr>
        <p:spPr bwMode="auto">
          <a:xfrm>
            <a:off x="6645275" y="2259013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509" name="Oval 118"/>
          <p:cNvSpPr>
            <a:spLocks noChangeArrowheads="1"/>
          </p:cNvSpPr>
          <p:nvPr/>
        </p:nvSpPr>
        <p:spPr bwMode="auto">
          <a:xfrm>
            <a:off x="6645275" y="2603500"/>
            <a:ext cx="230188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510" name="Oval 119"/>
          <p:cNvSpPr>
            <a:spLocks noChangeArrowheads="1"/>
          </p:cNvSpPr>
          <p:nvPr/>
        </p:nvSpPr>
        <p:spPr bwMode="auto">
          <a:xfrm>
            <a:off x="6645275" y="2949575"/>
            <a:ext cx="230188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511" name="Oval 120"/>
          <p:cNvSpPr>
            <a:spLocks noChangeArrowheads="1"/>
          </p:cNvSpPr>
          <p:nvPr/>
        </p:nvSpPr>
        <p:spPr bwMode="auto">
          <a:xfrm>
            <a:off x="6645275" y="1874838"/>
            <a:ext cx="230188" cy="2301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512" name="Oval 121"/>
          <p:cNvSpPr>
            <a:spLocks noChangeArrowheads="1"/>
          </p:cNvSpPr>
          <p:nvPr/>
        </p:nvSpPr>
        <p:spPr bwMode="auto">
          <a:xfrm>
            <a:off x="6645275" y="3257550"/>
            <a:ext cx="230188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513" name="Line 122"/>
          <p:cNvSpPr>
            <a:spLocks noChangeShapeType="1"/>
          </p:cNvSpPr>
          <p:nvPr/>
        </p:nvSpPr>
        <p:spPr bwMode="auto">
          <a:xfrm>
            <a:off x="7797800" y="5427663"/>
            <a:ext cx="8445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4" name="Line 123"/>
          <p:cNvSpPr>
            <a:spLocks noChangeShapeType="1"/>
          </p:cNvSpPr>
          <p:nvPr/>
        </p:nvSpPr>
        <p:spPr bwMode="auto">
          <a:xfrm flipV="1">
            <a:off x="8680450" y="4543425"/>
            <a:ext cx="0" cy="69215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5" name="Line 124"/>
          <p:cNvSpPr>
            <a:spLocks noChangeShapeType="1"/>
          </p:cNvSpPr>
          <p:nvPr/>
        </p:nvSpPr>
        <p:spPr bwMode="auto">
          <a:xfrm flipV="1">
            <a:off x="8680450" y="3006725"/>
            <a:ext cx="0" cy="69215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6" name="Line 125"/>
          <p:cNvSpPr>
            <a:spLocks noChangeShapeType="1"/>
          </p:cNvSpPr>
          <p:nvPr/>
        </p:nvSpPr>
        <p:spPr bwMode="auto">
          <a:xfrm flipH="1">
            <a:off x="8181975" y="3006725"/>
            <a:ext cx="42227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7" name="Line 126"/>
          <p:cNvSpPr>
            <a:spLocks noChangeShapeType="1"/>
          </p:cNvSpPr>
          <p:nvPr/>
        </p:nvSpPr>
        <p:spPr bwMode="auto">
          <a:xfrm>
            <a:off x="4994275" y="5387975"/>
            <a:ext cx="8445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8" name="Text Box 127"/>
          <p:cNvSpPr txBox="1">
            <a:spLocks noChangeArrowheads="1"/>
          </p:cNvSpPr>
          <p:nvPr/>
        </p:nvSpPr>
        <p:spPr bwMode="auto">
          <a:xfrm>
            <a:off x="7827963" y="4713288"/>
            <a:ext cx="8921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C00000"/>
                </a:solidFill>
              </a:rPr>
              <a:t>IC=ICBO</a:t>
            </a:r>
          </a:p>
        </p:txBody>
      </p:sp>
      <p:sp>
        <p:nvSpPr>
          <p:cNvPr id="17519" name="Text Box 128"/>
          <p:cNvSpPr txBox="1">
            <a:spLocks noChangeArrowheads="1"/>
          </p:cNvSpPr>
          <p:nvPr/>
        </p:nvSpPr>
        <p:spPr bwMode="auto">
          <a:xfrm>
            <a:off x="5032375" y="5867400"/>
            <a:ext cx="42370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000" b="1">
                <a:solidFill>
                  <a:srgbClr val="FF0000"/>
                </a:solidFill>
              </a:rPr>
              <a:t>I</a:t>
            </a:r>
            <a:r>
              <a:rPr lang="en-US" sz="2000" b="1" baseline="-20000">
                <a:solidFill>
                  <a:srgbClr val="FF0000"/>
                </a:solidFill>
              </a:rPr>
              <a:t>CBO</a:t>
            </a:r>
          </a:p>
          <a:p>
            <a:r>
              <a:rPr lang="en-US" b="1">
                <a:solidFill>
                  <a:srgbClr val="C00000"/>
                </a:solidFill>
              </a:rPr>
              <a:t>Is a collector to base leakage current</a:t>
            </a:r>
          </a:p>
          <a:p>
            <a:r>
              <a:rPr lang="en-US" b="1">
                <a:solidFill>
                  <a:srgbClr val="C00000"/>
                </a:solidFill>
              </a:rPr>
              <a:t>With open emitter</a:t>
            </a:r>
          </a:p>
        </p:txBody>
      </p:sp>
      <p:sp>
        <p:nvSpPr>
          <p:cNvPr id="17520" name="Line 129"/>
          <p:cNvSpPr>
            <a:spLocks noChangeShapeType="1"/>
          </p:cNvSpPr>
          <p:nvPr/>
        </p:nvSpPr>
        <p:spPr bwMode="auto">
          <a:xfrm flipV="1">
            <a:off x="7913688" y="5426075"/>
            <a:ext cx="76200" cy="84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1" name="Text Box 130"/>
          <p:cNvSpPr txBox="1">
            <a:spLocks noChangeArrowheads="1"/>
          </p:cNvSpPr>
          <p:nvPr/>
        </p:nvSpPr>
        <p:spPr bwMode="auto">
          <a:xfrm>
            <a:off x="1588" y="4794250"/>
            <a:ext cx="4576762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"/>
            <a:r>
              <a:rPr lang="en-US" sz="2000" b="1">
                <a:solidFill>
                  <a:srgbClr val="FF0000"/>
                </a:solidFill>
              </a:rPr>
              <a:t>I</a:t>
            </a:r>
            <a:r>
              <a:rPr lang="en-US" sz="1600" b="1">
                <a:solidFill>
                  <a:srgbClr val="FF0000"/>
                </a:solidFill>
              </a:rPr>
              <a:t>CBO</a:t>
            </a:r>
            <a:r>
              <a:rPr lang="en-US" b="1">
                <a:solidFill>
                  <a:srgbClr val="C00000"/>
                </a:solidFill>
              </a:rPr>
              <a:t> is a reverse saturation</a:t>
            </a:r>
          </a:p>
          <a:p>
            <a:pPr algn="just"/>
            <a:r>
              <a:rPr lang="en-US" b="1">
                <a:solidFill>
                  <a:srgbClr val="C00000"/>
                </a:solidFill>
              </a:rPr>
              <a:t>Current flowing due to the </a:t>
            </a:r>
          </a:p>
          <a:p>
            <a:pPr algn="just"/>
            <a:r>
              <a:rPr lang="en-US" b="1">
                <a:solidFill>
                  <a:srgbClr val="C00000"/>
                </a:solidFill>
              </a:rPr>
              <a:t>Minority carriers between </a:t>
            </a:r>
          </a:p>
          <a:p>
            <a:pPr algn="just"/>
            <a:r>
              <a:rPr lang="en-US" b="1">
                <a:solidFill>
                  <a:srgbClr val="C00000"/>
                </a:solidFill>
              </a:rPr>
              <a:t>Collector and base when the</a:t>
            </a:r>
          </a:p>
          <a:p>
            <a:pPr algn="just"/>
            <a:r>
              <a:rPr lang="en-US" b="1">
                <a:solidFill>
                  <a:srgbClr val="C00000"/>
                </a:solidFill>
              </a:rPr>
              <a:t>Emitter is open. ICBO flows due to the reverse</a:t>
            </a:r>
          </a:p>
          <a:p>
            <a:pPr algn="just"/>
            <a:r>
              <a:rPr lang="en-US" b="1">
                <a:solidFill>
                  <a:srgbClr val="C00000"/>
                </a:solidFill>
              </a:rPr>
              <a:t>Biased collector base junction.</a:t>
            </a:r>
          </a:p>
          <a:p>
            <a:pPr algn="just"/>
            <a:r>
              <a:rPr lang="en-US" b="1">
                <a:solidFill>
                  <a:srgbClr val="C00000"/>
                </a:solidFill>
              </a:rPr>
              <a:t>I</a:t>
            </a:r>
            <a:r>
              <a:rPr lang="en-US" b="1" baseline="-16000">
                <a:solidFill>
                  <a:srgbClr val="C00000"/>
                </a:solidFill>
              </a:rPr>
              <a:t>CBO</a:t>
            </a:r>
            <a:r>
              <a:rPr lang="en-US" b="1">
                <a:solidFill>
                  <a:srgbClr val="C00000"/>
                </a:solidFill>
              </a:rPr>
              <a:t> is neglected as compared to I</a:t>
            </a:r>
            <a:r>
              <a:rPr lang="en-US" sz="1600" b="1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7522" name="Oval 131"/>
          <p:cNvSpPr>
            <a:spLocks noChangeArrowheads="1"/>
          </p:cNvSpPr>
          <p:nvPr/>
        </p:nvSpPr>
        <p:spPr bwMode="auto">
          <a:xfrm>
            <a:off x="4265613" y="2162175"/>
            <a:ext cx="230187" cy="2301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523" name="Oval 132"/>
          <p:cNvSpPr>
            <a:spLocks noChangeArrowheads="1"/>
          </p:cNvSpPr>
          <p:nvPr/>
        </p:nvSpPr>
        <p:spPr bwMode="auto">
          <a:xfrm>
            <a:off x="4265613" y="2506663"/>
            <a:ext cx="230187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524" name="Oval 133"/>
          <p:cNvSpPr>
            <a:spLocks noChangeArrowheads="1"/>
          </p:cNvSpPr>
          <p:nvPr/>
        </p:nvSpPr>
        <p:spPr bwMode="auto">
          <a:xfrm>
            <a:off x="4265613" y="2852738"/>
            <a:ext cx="230187" cy="230187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525" name="Oval 134"/>
          <p:cNvSpPr>
            <a:spLocks noChangeArrowheads="1"/>
          </p:cNvSpPr>
          <p:nvPr/>
        </p:nvSpPr>
        <p:spPr bwMode="auto">
          <a:xfrm>
            <a:off x="4265613" y="1778000"/>
            <a:ext cx="230187" cy="230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526" name="Oval 135"/>
          <p:cNvSpPr>
            <a:spLocks noChangeArrowheads="1"/>
          </p:cNvSpPr>
          <p:nvPr/>
        </p:nvSpPr>
        <p:spPr bwMode="auto">
          <a:xfrm>
            <a:off x="4265613" y="3160713"/>
            <a:ext cx="230187" cy="2301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CAD814-16BF-41D8-98C3-A438A5DC05A2}" type="slidenum">
              <a:rPr lang="en-US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11338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9213"/>
            <a:ext cx="8229600" cy="654050"/>
          </a:xfrm>
        </p:spPr>
        <p:txBody>
          <a:bodyPr/>
          <a:lstStyle/>
          <a:p>
            <a:r>
              <a:rPr lang="en-US" sz="2800">
                <a:solidFill>
                  <a:schemeClr val="folHlink"/>
                </a:solidFill>
              </a:rPr>
              <a:t>Current relations in CB configuration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893763"/>
            <a:ext cx="8229600" cy="5964237"/>
          </a:xfrm>
        </p:spPr>
        <p:txBody>
          <a:bodyPr/>
          <a:lstStyle/>
          <a:p>
            <a:r>
              <a:rPr lang="en-US" sz="2400">
                <a:solidFill>
                  <a:srgbClr val="FF0066"/>
                </a:solidFill>
                <a:latin typeface="Times New Roman" pitchFamily="18" charset="0"/>
              </a:rPr>
              <a:t>Current amplification factor ( </a:t>
            </a:r>
            <a:r>
              <a:rPr lang="el-GR" sz="240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sz="2400" baseline="-1800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dc</a:t>
            </a:r>
            <a:r>
              <a:rPr lang="en-US" sz="240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>
                <a:latin typeface="Times New Roman" pitchFamily="18" charset="0"/>
              </a:rPr>
              <a:t> </a:t>
            </a:r>
            <a:endParaRPr lang="en-US" sz="2400" baseline="-18000">
              <a:latin typeface="Times New Roman" pitchFamily="18" charset="0"/>
            </a:endParaRPr>
          </a:p>
          <a:p>
            <a:r>
              <a:rPr lang="en-US" sz="2400">
                <a:latin typeface="Times New Roman" pitchFamily="18" charset="0"/>
              </a:rPr>
              <a:t>the current amplification factor is the ratio of collector current due to the injection of total emitter current</a:t>
            </a: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                                  </a:t>
            </a:r>
          </a:p>
          <a:p>
            <a:pPr>
              <a:buFont typeface="Wingdings" pitchFamily="2" charset="2"/>
              <a:buNone/>
            </a:pPr>
            <a:r>
              <a:rPr lang="en-US" b="1">
                <a:solidFill>
                  <a:schemeClr val="accent1"/>
                </a:solidFill>
                <a:latin typeface="Times New Roman" pitchFamily="18" charset="0"/>
              </a:rPr>
              <a:t>           </a:t>
            </a:r>
            <a:r>
              <a:rPr lang="en-US" sz="2400" b="1">
                <a:solidFill>
                  <a:schemeClr val="accent1"/>
                </a:solidFill>
                <a:latin typeface="Times New Roman" pitchFamily="18" charset="0"/>
              </a:rPr>
              <a:t>I</a:t>
            </a:r>
            <a:r>
              <a:rPr lang="en-US" sz="2400" b="1" baseline="-18000">
                <a:solidFill>
                  <a:schemeClr val="accent1"/>
                </a:solidFill>
                <a:latin typeface="Times New Roman" pitchFamily="18" charset="0"/>
              </a:rPr>
              <a:t>C</a:t>
            </a:r>
            <a:r>
              <a:rPr lang="en-US" sz="2400" b="1">
                <a:solidFill>
                  <a:schemeClr val="accent1"/>
                </a:solidFill>
                <a:latin typeface="Times New Roman" pitchFamily="18" charset="0"/>
              </a:rPr>
              <a:t> = I</a:t>
            </a:r>
            <a:r>
              <a:rPr lang="en-US" sz="2400" b="1" baseline="-16000">
                <a:solidFill>
                  <a:schemeClr val="accent1"/>
                </a:solidFill>
                <a:latin typeface="Times New Roman" pitchFamily="18" charset="0"/>
              </a:rPr>
              <a:t>C(INJ)</a:t>
            </a:r>
            <a:r>
              <a:rPr lang="en-US" sz="2400" b="1">
                <a:solidFill>
                  <a:schemeClr val="accent1"/>
                </a:solidFill>
                <a:latin typeface="Times New Roman" pitchFamily="18" charset="0"/>
              </a:rPr>
              <a:t> + I</a:t>
            </a:r>
            <a:r>
              <a:rPr lang="en-US" sz="2400" b="1" baseline="-18000">
                <a:solidFill>
                  <a:schemeClr val="accent1"/>
                </a:solidFill>
                <a:latin typeface="Times New Roman" pitchFamily="18" charset="0"/>
              </a:rPr>
              <a:t>CBO</a:t>
            </a:r>
            <a:endParaRPr lang="en-US" sz="2400" b="1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           </a:t>
            </a:r>
            <a:r>
              <a:rPr lang="el-GR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sz="2400" b="1" baseline="-18000">
                <a:solidFill>
                  <a:schemeClr val="accent1"/>
                </a:solidFill>
                <a:latin typeface="Times New Roman" pitchFamily="18" charset="0"/>
              </a:rPr>
              <a:t>dc</a:t>
            </a:r>
            <a:r>
              <a:rPr lang="en-US" sz="2400" b="1">
                <a:solidFill>
                  <a:schemeClr val="accent1"/>
                </a:solidFill>
                <a:latin typeface="Times New Roman" pitchFamily="18" charset="0"/>
              </a:rPr>
              <a:t> = I</a:t>
            </a:r>
            <a:r>
              <a:rPr lang="en-US" sz="2400" b="1" baseline="-16000">
                <a:solidFill>
                  <a:schemeClr val="accent1"/>
                </a:solidFill>
                <a:latin typeface="Times New Roman" pitchFamily="18" charset="0"/>
              </a:rPr>
              <a:t>C(INJ) </a:t>
            </a:r>
            <a:r>
              <a:rPr lang="en-US" sz="2400" b="1">
                <a:solidFill>
                  <a:schemeClr val="accent1"/>
                </a:solidFill>
                <a:latin typeface="Times New Roman" pitchFamily="18" charset="0"/>
              </a:rPr>
              <a:t>/ I</a:t>
            </a:r>
            <a:r>
              <a:rPr lang="en-US" sz="2400" b="1" baseline="-16000">
                <a:solidFill>
                  <a:schemeClr val="accent1"/>
                </a:solidFill>
                <a:latin typeface="Times New Roman" pitchFamily="18" charset="0"/>
              </a:rPr>
              <a:t>E</a:t>
            </a:r>
          </a:p>
          <a:p>
            <a:pPr>
              <a:buFont typeface="Wingdings" pitchFamily="2" charset="2"/>
              <a:buNone/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</a:rPr>
              <a:t>              I</a:t>
            </a:r>
            <a:r>
              <a:rPr lang="en-US" sz="2400" b="1" baseline="-16000">
                <a:solidFill>
                  <a:schemeClr val="accent1"/>
                </a:solidFill>
                <a:latin typeface="Times New Roman" pitchFamily="18" charset="0"/>
              </a:rPr>
              <a:t>C(INJ) </a:t>
            </a:r>
            <a:r>
              <a:rPr lang="en-US" sz="2400" b="1">
                <a:solidFill>
                  <a:schemeClr val="accent1"/>
                </a:solidFill>
                <a:latin typeface="Times New Roman" pitchFamily="18" charset="0"/>
              </a:rPr>
              <a:t>= </a:t>
            </a:r>
            <a:r>
              <a:rPr lang="el-GR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sz="2400" b="1" baseline="-18000">
                <a:solidFill>
                  <a:schemeClr val="accent1"/>
                </a:solidFill>
                <a:latin typeface="Times New Roman" pitchFamily="18" charset="0"/>
              </a:rPr>
              <a:t>dc </a:t>
            </a:r>
            <a:r>
              <a:rPr lang="en-US" sz="2400" b="1">
                <a:solidFill>
                  <a:schemeClr val="accent1"/>
                </a:solidFill>
                <a:latin typeface="Times New Roman" pitchFamily="18" charset="0"/>
              </a:rPr>
              <a:t>I</a:t>
            </a:r>
            <a:r>
              <a:rPr lang="en-US" sz="2400" b="1" baseline="-16000">
                <a:solidFill>
                  <a:schemeClr val="accent1"/>
                </a:solidFill>
                <a:latin typeface="Times New Roman" pitchFamily="18" charset="0"/>
              </a:rPr>
              <a:t>E</a:t>
            </a:r>
            <a:r>
              <a:rPr lang="en-US" sz="2400" b="1">
                <a:solidFill>
                  <a:schemeClr val="accent1"/>
                </a:solidFill>
                <a:latin typeface="Times New Roman" pitchFamily="18" charset="0"/>
              </a:rPr>
              <a:t> </a:t>
            </a:r>
          </a:p>
          <a:p>
            <a:pPr>
              <a:buFont typeface="Wingdings" pitchFamily="2" charset="2"/>
              <a:buNone/>
            </a:pPr>
            <a:endParaRPr lang="en-US" sz="2400" b="1">
              <a:solidFill>
                <a:schemeClr val="accent1"/>
              </a:solidFill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sz="800" b="1">
              <a:solidFill>
                <a:schemeClr val="accent1"/>
              </a:solidFill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 b="1">
                <a:latin typeface="Times New Roman" pitchFamily="18" charset="0"/>
              </a:rPr>
              <a:t>    </a:t>
            </a:r>
            <a:r>
              <a:rPr lang="en-US" sz="2400">
                <a:latin typeface="Times New Roman" pitchFamily="18" charset="0"/>
              </a:rPr>
              <a:t>But I</a:t>
            </a:r>
            <a:r>
              <a:rPr lang="en-US" sz="2400" baseline="-18000">
                <a:latin typeface="Times New Roman" pitchFamily="18" charset="0"/>
              </a:rPr>
              <a:t>CBO </a:t>
            </a:r>
            <a:r>
              <a:rPr lang="en-US" sz="2400">
                <a:latin typeface="Times New Roman" pitchFamily="18" charset="0"/>
              </a:rPr>
              <a:t>is negligibly small</a:t>
            </a:r>
          </a:p>
          <a:p>
            <a:pPr>
              <a:buFont typeface="Wingdings" pitchFamily="2" charset="2"/>
              <a:buNone/>
            </a:pPr>
            <a:endParaRPr lang="en-US" sz="2400" b="1">
              <a:solidFill>
                <a:schemeClr val="accent1"/>
              </a:solidFill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sz="2400" b="1">
              <a:solidFill>
                <a:schemeClr val="accent1"/>
              </a:solidFill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 b="1">
                <a:latin typeface="Times New Roman" pitchFamily="18" charset="0"/>
              </a:rPr>
              <a:t>    </a:t>
            </a:r>
            <a:r>
              <a:rPr lang="en-US" sz="2400">
                <a:latin typeface="Times New Roman" pitchFamily="18" charset="0"/>
              </a:rPr>
              <a:t>Therefore the current amplification factor</a:t>
            </a:r>
            <a:endParaRPr lang="el-GR" sz="2400">
              <a:latin typeface="Times New Roman" pitchFamily="18" charset="0"/>
            </a:endParaRP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2714625" y="3736975"/>
            <a:ext cx="3686175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sz="2400">
                <a:solidFill>
                  <a:srgbClr val="FF0066"/>
                </a:solidFill>
                <a:latin typeface="Calibri" pitchFamily="34" charset="0"/>
              </a:rPr>
              <a:t> </a:t>
            </a:r>
            <a:r>
              <a:rPr lang="en-US" sz="2400" b="1">
                <a:latin typeface="Calibri" pitchFamily="34" charset="0"/>
              </a:rPr>
              <a:t>I</a:t>
            </a:r>
            <a:r>
              <a:rPr lang="en-US" sz="2000" b="1">
                <a:latin typeface="Calibri" pitchFamily="34" charset="0"/>
              </a:rPr>
              <a:t>C</a:t>
            </a:r>
            <a:r>
              <a:rPr lang="en-US" sz="2400" b="1">
                <a:latin typeface="Calibri" pitchFamily="34" charset="0"/>
              </a:rPr>
              <a:t> =  </a:t>
            </a:r>
            <a:r>
              <a:rPr lang="el-GR" sz="2400" b="1">
                <a:latin typeface="Calibri" pitchFamily="34" charset="0"/>
              </a:rPr>
              <a:t>α</a:t>
            </a:r>
            <a:r>
              <a:rPr lang="en-US" sz="2400" b="1">
                <a:latin typeface="Calibri" pitchFamily="34" charset="0"/>
              </a:rPr>
              <a:t>dcI</a:t>
            </a:r>
            <a:r>
              <a:rPr lang="en-US" sz="2000" b="1">
                <a:latin typeface="Calibri" pitchFamily="34" charset="0"/>
              </a:rPr>
              <a:t>E</a:t>
            </a:r>
            <a:r>
              <a:rPr lang="en-US" sz="2400">
                <a:latin typeface="Calibri" pitchFamily="34" charset="0"/>
              </a:rPr>
              <a:t> </a:t>
            </a:r>
            <a:r>
              <a:rPr lang="en-US" sz="2400" b="1">
                <a:latin typeface="Calibri" pitchFamily="34" charset="0"/>
              </a:rPr>
              <a:t>+ I</a:t>
            </a:r>
            <a:r>
              <a:rPr lang="en-US" sz="2000" b="1">
                <a:latin typeface="Calibri" pitchFamily="34" charset="0"/>
              </a:rPr>
              <a:t>CBO</a:t>
            </a:r>
            <a:r>
              <a:rPr lang="en-US" sz="2400">
                <a:latin typeface="Calibri" pitchFamily="34" charset="0"/>
              </a:rPr>
              <a:t>  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2714625" y="4948238"/>
            <a:ext cx="3686175" cy="461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n-US" sz="2400">
                <a:solidFill>
                  <a:srgbClr val="FF0066"/>
                </a:solidFill>
                <a:latin typeface="Calibri" pitchFamily="34" charset="0"/>
              </a:rPr>
              <a:t> </a:t>
            </a:r>
            <a:r>
              <a:rPr lang="en-US" sz="2400" b="1">
                <a:latin typeface="Calibri" pitchFamily="34" charset="0"/>
              </a:rPr>
              <a:t>I</a:t>
            </a:r>
            <a:r>
              <a:rPr lang="en-US" sz="2000" b="1">
                <a:latin typeface="Calibri" pitchFamily="34" charset="0"/>
              </a:rPr>
              <a:t>C </a:t>
            </a:r>
            <a:r>
              <a:rPr lang="en-US" sz="2400" b="1">
                <a:latin typeface="Calibri" pitchFamily="34" charset="0"/>
              </a:rPr>
              <a:t>=  </a:t>
            </a:r>
            <a:r>
              <a:rPr lang="el-GR" sz="2400" b="1">
                <a:latin typeface="Calibri" pitchFamily="34" charset="0"/>
              </a:rPr>
              <a:t>α</a:t>
            </a:r>
            <a:r>
              <a:rPr lang="en-US" sz="2400" b="1">
                <a:latin typeface="Calibri" pitchFamily="34" charset="0"/>
              </a:rPr>
              <a:t>dcI</a:t>
            </a:r>
            <a:r>
              <a:rPr lang="en-US" sz="2000" b="1">
                <a:latin typeface="Calibri" pitchFamily="34" charset="0"/>
              </a:rPr>
              <a:t>E</a:t>
            </a:r>
            <a:r>
              <a:rPr lang="en-US" sz="2400">
                <a:latin typeface="Calibri" pitchFamily="34" charset="0"/>
              </a:rPr>
              <a:t> </a:t>
            </a: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2743200" y="6078538"/>
            <a:ext cx="3686175" cy="461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lang="el-GR" sz="2400" b="1">
                <a:latin typeface="Calibri" pitchFamily="34" charset="0"/>
              </a:rPr>
              <a:t>α</a:t>
            </a:r>
            <a:r>
              <a:rPr lang="en-US" sz="2400" b="1">
                <a:latin typeface="Calibri" pitchFamily="34" charset="0"/>
              </a:rPr>
              <a:t>dc= I</a:t>
            </a:r>
            <a:r>
              <a:rPr lang="en-US" sz="2000" b="1">
                <a:latin typeface="Calibri" pitchFamily="34" charset="0"/>
              </a:rPr>
              <a:t>C </a:t>
            </a:r>
            <a:r>
              <a:rPr lang="en-US" sz="2400" b="1">
                <a:latin typeface="Calibri" pitchFamily="34" charset="0"/>
              </a:rPr>
              <a:t>/ I</a:t>
            </a:r>
            <a:r>
              <a:rPr lang="en-US" sz="2000" b="1">
                <a:latin typeface="Calibri" pitchFamily="34" charset="0"/>
              </a:rPr>
              <a:t>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EE1ECC-BC69-47A8-AABD-0B279BB424E5}" type="slidenum">
              <a:rPr lang="en-US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85186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9213"/>
            <a:ext cx="8229600" cy="654050"/>
          </a:xfrm>
        </p:spPr>
        <p:txBody>
          <a:bodyPr/>
          <a:lstStyle/>
          <a:p>
            <a:r>
              <a:rPr lang="en-US" sz="2800">
                <a:solidFill>
                  <a:schemeClr val="folHlink"/>
                </a:solidFill>
              </a:rPr>
              <a:t>Characteristics of a transistor in CB configuration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663575"/>
            <a:ext cx="8229600" cy="61436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Input characteristics</a:t>
            </a:r>
          </a:p>
          <a:p>
            <a:endParaRPr lang="en-US" sz="24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3106738" y="1624013"/>
            <a:ext cx="1154112" cy="6905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400" b="1">
                <a:solidFill>
                  <a:srgbClr val="FF0066"/>
                </a:solidFill>
                <a:latin typeface="Calibri" pitchFamily="34" charset="0"/>
              </a:rPr>
              <a:t>N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2301875" y="1624013"/>
            <a:ext cx="728663" cy="6905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400" b="1">
                <a:solidFill>
                  <a:srgbClr val="FF0066"/>
                </a:solidFill>
                <a:latin typeface="Calibri" pitchFamily="34" charset="0"/>
              </a:rPr>
              <a:t>P</a:t>
            </a:r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2225675" y="1624013"/>
            <a:ext cx="74613" cy="690562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2890838" y="2332038"/>
            <a:ext cx="4079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JC</a:t>
            </a: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2054225" y="2314575"/>
            <a:ext cx="400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JE</a:t>
            </a:r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4259263" y="1778000"/>
            <a:ext cx="115887" cy="384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2492375" y="2314575"/>
            <a:ext cx="268288" cy="115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3030538" y="1624013"/>
            <a:ext cx="74612" cy="690562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1457325" y="1624013"/>
            <a:ext cx="766763" cy="6905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400" b="1">
                <a:solidFill>
                  <a:srgbClr val="FF0066"/>
                </a:solidFill>
                <a:latin typeface="Calibri" pitchFamily="34" charset="0"/>
              </a:rPr>
              <a:t>N</a:t>
            </a:r>
          </a:p>
        </p:txBody>
      </p:sp>
      <p:sp>
        <p:nvSpPr>
          <p:cNvPr id="19469" name="Rectangle 13"/>
          <p:cNvSpPr>
            <a:spLocks noChangeArrowheads="1"/>
          </p:cNvSpPr>
          <p:nvPr/>
        </p:nvSpPr>
        <p:spPr bwMode="auto">
          <a:xfrm>
            <a:off x="1339850" y="1778000"/>
            <a:ext cx="115888" cy="384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70" name="Oval 14"/>
          <p:cNvSpPr>
            <a:spLocks noChangeArrowheads="1"/>
          </p:cNvSpPr>
          <p:nvPr/>
        </p:nvSpPr>
        <p:spPr bwMode="auto">
          <a:xfrm>
            <a:off x="2532063" y="3294063"/>
            <a:ext cx="153987" cy="153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V="1">
            <a:off x="573088" y="1968500"/>
            <a:ext cx="7683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2" name="Oval 16"/>
          <p:cNvSpPr>
            <a:spLocks noChangeArrowheads="1"/>
          </p:cNvSpPr>
          <p:nvPr/>
        </p:nvSpPr>
        <p:spPr bwMode="auto">
          <a:xfrm>
            <a:off x="419100" y="1892300"/>
            <a:ext cx="153988" cy="153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73" name="Line 17"/>
          <p:cNvSpPr>
            <a:spLocks noChangeShapeType="1"/>
          </p:cNvSpPr>
          <p:nvPr/>
        </p:nvSpPr>
        <p:spPr bwMode="auto">
          <a:xfrm flipV="1">
            <a:off x="4375150" y="1968500"/>
            <a:ext cx="7683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4" name="Oval 18"/>
          <p:cNvSpPr>
            <a:spLocks noChangeArrowheads="1"/>
          </p:cNvSpPr>
          <p:nvPr/>
        </p:nvSpPr>
        <p:spPr bwMode="auto">
          <a:xfrm>
            <a:off x="5105400" y="1892300"/>
            <a:ext cx="153988" cy="153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75" name="Text Box 19"/>
          <p:cNvSpPr txBox="1">
            <a:spLocks noChangeArrowheads="1"/>
          </p:cNvSpPr>
          <p:nvPr/>
        </p:nvSpPr>
        <p:spPr bwMode="auto">
          <a:xfrm>
            <a:off x="2455863" y="344646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B</a:t>
            </a:r>
          </a:p>
        </p:txBody>
      </p:sp>
      <p:sp>
        <p:nvSpPr>
          <p:cNvPr id="19476" name="Text Box 20"/>
          <p:cNvSpPr txBox="1">
            <a:spLocks noChangeArrowheads="1"/>
          </p:cNvSpPr>
          <p:nvPr/>
        </p:nvSpPr>
        <p:spPr bwMode="auto">
          <a:xfrm>
            <a:off x="5067300" y="1431925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C</a:t>
            </a:r>
          </a:p>
        </p:txBody>
      </p:sp>
      <p:sp>
        <p:nvSpPr>
          <p:cNvPr id="19477" name="Text Box 21"/>
          <p:cNvSpPr txBox="1">
            <a:spLocks noChangeArrowheads="1"/>
          </p:cNvSpPr>
          <p:nvPr/>
        </p:nvSpPr>
        <p:spPr bwMode="auto">
          <a:xfrm>
            <a:off x="342900" y="1470025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</a:t>
            </a:r>
          </a:p>
        </p:txBody>
      </p:sp>
      <p:sp>
        <p:nvSpPr>
          <p:cNvPr id="19478" name="Line 22"/>
          <p:cNvSpPr>
            <a:spLocks noChangeShapeType="1"/>
          </p:cNvSpPr>
          <p:nvPr/>
        </p:nvSpPr>
        <p:spPr bwMode="auto">
          <a:xfrm flipH="1" flipV="1">
            <a:off x="496888" y="2046288"/>
            <a:ext cx="4762" cy="2301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9" name="Line 23"/>
          <p:cNvSpPr>
            <a:spLocks noChangeShapeType="1"/>
          </p:cNvSpPr>
          <p:nvPr/>
        </p:nvSpPr>
        <p:spPr bwMode="auto">
          <a:xfrm flipV="1">
            <a:off x="458788" y="3368675"/>
            <a:ext cx="9588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0" name="Line 24"/>
          <p:cNvSpPr>
            <a:spLocks noChangeShapeType="1"/>
          </p:cNvSpPr>
          <p:nvPr/>
        </p:nvSpPr>
        <p:spPr bwMode="auto">
          <a:xfrm flipV="1">
            <a:off x="1763713" y="3368675"/>
            <a:ext cx="7683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1" name="Line 25"/>
          <p:cNvSpPr>
            <a:spLocks noChangeShapeType="1"/>
          </p:cNvSpPr>
          <p:nvPr/>
        </p:nvSpPr>
        <p:spPr bwMode="auto">
          <a:xfrm>
            <a:off x="2686050" y="3368675"/>
            <a:ext cx="2538413" cy="1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2" name="Line 26"/>
          <p:cNvSpPr>
            <a:spLocks noChangeShapeType="1"/>
          </p:cNvSpPr>
          <p:nvPr/>
        </p:nvSpPr>
        <p:spPr bwMode="auto">
          <a:xfrm>
            <a:off x="1763713" y="3044825"/>
            <a:ext cx="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3" name="Line 27"/>
          <p:cNvSpPr>
            <a:spLocks noChangeShapeType="1"/>
          </p:cNvSpPr>
          <p:nvPr/>
        </p:nvSpPr>
        <p:spPr bwMode="auto">
          <a:xfrm>
            <a:off x="1647825" y="3197225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4" name="Line 28"/>
          <p:cNvSpPr>
            <a:spLocks noChangeShapeType="1"/>
          </p:cNvSpPr>
          <p:nvPr/>
        </p:nvSpPr>
        <p:spPr bwMode="auto">
          <a:xfrm>
            <a:off x="1533525" y="3044825"/>
            <a:ext cx="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5" name="Line 29"/>
          <p:cNvSpPr>
            <a:spLocks noChangeShapeType="1"/>
          </p:cNvSpPr>
          <p:nvPr/>
        </p:nvSpPr>
        <p:spPr bwMode="auto">
          <a:xfrm>
            <a:off x="1417638" y="3197225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6" name="Text Box 30"/>
          <p:cNvSpPr txBox="1">
            <a:spLocks noChangeArrowheads="1"/>
          </p:cNvSpPr>
          <p:nvPr/>
        </p:nvSpPr>
        <p:spPr bwMode="auto">
          <a:xfrm>
            <a:off x="1792288" y="3044825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+</a:t>
            </a:r>
          </a:p>
        </p:txBody>
      </p:sp>
      <p:sp>
        <p:nvSpPr>
          <p:cNvPr id="19487" name="Text Box 31"/>
          <p:cNvSpPr txBox="1">
            <a:spLocks noChangeArrowheads="1"/>
          </p:cNvSpPr>
          <p:nvPr/>
        </p:nvSpPr>
        <p:spPr bwMode="auto">
          <a:xfrm>
            <a:off x="1095375" y="3044825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-</a:t>
            </a:r>
          </a:p>
        </p:txBody>
      </p:sp>
      <p:sp>
        <p:nvSpPr>
          <p:cNvPr id="19488" name="Oval 32"/>
          <p:cNvSpPr>
            <a:spLocks noChangeArrowheads="1"/>
          </p:cNvSpPr>
          <p:nvPr/>
        </p:nvSpPr>
        <p:spPr bwMode="auto">
          <a:xfrm>
            <a:off x="2303463" y="4695825"/>
            <a:ext cx="844550" cy="8064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89" name="Line 33"/>
          <p:cNvSpPr>
            <a:spLocks noChangeShapeType="1"/>
          </p:cNvSpPr>
          <p:nvPr/>
        </p:nvSpPr>
        <p:spPr bwMode="auto">
          <a:xfrm>
            <a:off x="2417763" y="5272088"/>
            <a:ext cx="614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0" name="Line 34"/>
          <p:cNvSpPr>
            <a:spLocks noChangeShapeType="1"/>
          </p:cNvSpPr>
          <p:nvPr/>
        </p:nvSpPr>
        <p:spPr bwMode="auto">
          <a:xfrm flipV="1">
            <a:off x="2840038" y="4849813"/>
            <a:ext cx="192087" cy="422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1" name="Line 35"/>
          <p:cNvSpPr>
            <a:spLocks noChangeShapeType="1"/>
          </p:cNvSpPr>
          <p:nvPr/>
        </p:nvSpPr>
        <p:spPr bwMode="auto">
          <a:xfrm flipH="1" flipV="1">
            <a:off x="2417763" y="4849813"/>
            <a:ext cx="192087" cy="422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2" name="Line 36"/>
          <p:cNvSpPr>
            <a:spLocks noChangeShapeType="1"/>
          </p:cNvSpPr>
          <p:nvPr/>
        </p:nvSpPr>
        <p:spPr bwMode="auto">
          <a:xfrm>
            <a:off x="3032125" y="4848225"/>
            <a:ext cx="2305050" cy="1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3" name="Oval 37"/>
          <p:cNvSpPr>
            <a:spLocks noChangeArrowheads="1"/>
          </p:cNvSpPr>
          <p:nvPr/>
        </p:nvSpPr>
        <p:spPr bwMode="auto">
          <a:xfrm>
            <a:off x="5221288" y="4772025"/>
            <a:ext cx="153987" cy="153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94" name="Line 38"/>
          <p:cNvSpPr>
            <a:spLocks noChangeShapeType="1"/>
          </p:cNvSpPr>
          <p:nvPr/>
        </p:nvSpPr>
        <p:spPr bwMode="auto">
          <a:xfrm flipV="1">
            <a:off x="536575" y="4887913"/>
            <a:ext cx="1843088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5" name="Oval 39"/>
          <p:cNvSpPr>
            <a:spLocks noChangeArrowheads="1"/>
          </p:cNvSpPr>
          <p:nvPr/>
        </p:nvSpPr>
        <p:spPr bwMode="auto">
          <a:xfrm>
            <a:off x="496888" y="4810125"/>
            <a:ext cx="153987" cy="153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96" name="Oval 40"/>
          <p:cNvSpPr>
            <a:spLocks noChangeArrowheads="1"/>
          </p:cNvSpPr>
          <p:nvPr/>
        </p:nvSpPr>
        <p:spPr bwMode="auto">
          <a:xfrm>
            <a:off x="2647950" y="6002338"/>
            <a:ext cx="153988" cy="153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97" name="Text Box 41"/>
          <p:cNvSpPr txBox="1">
            <a:spLocks noChangeArrowheads="1"/>
          </p:cNvSpPr>
          <p:nvPr/>
        </p:nvSpPr>
        <p:spPr bwMode="auto">
          <a:xfrm>
            <a:off x="2533650" y="6364288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B</a:t>
            </a:r>
          </a:p>
        </p:txBody>
      </p:sp>
      <p:sp>
        <p:nvSpPr>
          <p:cNvPr id="19498" name="Line 42"/>
          <p:cNvSpPr>
            <a:spLocks noChangeShapeType="1"/>
          </p:cNvSpPr>
          <p:nvPr/>
        </p:nvSpPr>
        <p:spPr bwMode="auto">
          <a:xfrm flipV="1">
            <a:off x="536575" y="6076950"/>
            <a:ext cx="9969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9" name="Line 43"/>
          <p:cNvSpPr>
            <a:spLocks noChangeShapeType="1"/>
          </p:cNvSpPr>
          <p:nvPr/>
        </p:nvSpPr>
        <p:spPr bwMode="auto">
          <a:xfrm flipV="1">
            <a:off x="1879600" y="6076950"/>
            <a:ext cx="7683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0" name="Line 44"/>
          <p:cNvSpPr>
            <a:spLocks noChangeShapeType="1"/>
          </p:cNvSpPr>
          <p:nvPr/>
        </p:nvSpPr>
        <p:spPr bwMode="auto">
          <a:xfrm>
            <a:off x="2801938" y="6076950"/>
            <a:ext cx="2500312" cy="1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1" name="Line 45"/>
          <p:cNvSpPr>
            <a:spLocks noChangeShapeType="1"/>
          </p:cNvSpPr>
          <p:nvPr/>
        </p:nvSpPr>
        <p:spPr bwMode="auto">
          <a:xfrm flipV="1">
            <a:off x="2725738" y="5272088"/>
            <a:ext cx="0" cy="7286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2" name="Text Box 46"/>
          <p:cNvSpPr txBox="1">
            <a:spLocks noChangeArrowheads="1"/>
          </p:cNvSpPr>
          <p:nvPr/>
        </p:nvSpPr>
        <p:spPr bwMode="auto">
          <a:xfrm>
            <a:off x="5145088" y="4445000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C</a:t>
            </a:r>
          </a:p>
        </p:txBody>
      </p:sp>
      <p:sp>
        <p:nvSpPr>
          <p:cNvPr id="19503" name="Text Box 47"/>
          <p:cNvSpPr txBox="1">
            <a:spLocks noChangeArrowheads="1"/>
          </p:cNvSpPr>
          <p:nvPr/>
        </p:nvSpPr>
        <p:spPr bwMode="auto">
          <a:xfrm>
            <a:off x="420688" y="4483100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</a:t>
            </a:r>
          </a:p>
        </p:txBody>
      </p:sp>
      <p:sp>
        <p:nvSpPr>
          <p:cNvPr id="19504" name="Line 48"/>
          <p:cNvSpPr>
            <a:spLocks noChangeShapeType="1"/>
          </p:cNvSpPr>
          <p:nvPr/>
        </p:nvSpPr>
        <p:spPr bwMode="auto">
          <a:xfrm>
            <a:off x="1879600" y="5732463"/>
            <a:ext cx="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5" name="Line 49"/>
          <p:cNvSpPr>
            <a:spLocks noChangeShapeType="1"/>
          </p:cNvSpPr>
          <p:nvPr/>
        </p:nvSpPr>
        <p:spPr bwMode="auto">
          <a:xfrm>
            <a:off x="1763713" y="5884863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6" name="Line 50"/>
          <p:cNvSpPr>
            <a:spLocks noChangeShapeType="1"/>
          </p:cNvSpPr>
          <p:nvPr/>
        </p:nvSpPr>
        <p:spPr bwMode="auto">
          <a:xfrm>
            <a:off x="1649413" y="5732463"/>
            <a:ext cx="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7" name="Line 51"/>
          <p:cNvSpPr>
            <a:spLocks noChangeShapeType="1"/>
          </p:cNvSpPr>
          <p:nvPr/>
        </p:nvSpPr>
        <p:spPr bwMode="auto">
          <a:xfrm>
            <a:off x="1533525" y="5884863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8" name="Text Box 52"/>
          <p:cNvSpPr txBox="1">
            <a:spLocks noChangeArrowheads="1"/>
          </p:cNvSpPr>
          <p:nvPr/>
        </p:nvSpPr>
        <p:spPr bwMode="auto">
          <a:xfrm>
            <a:off x="1908175" y="5749925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+</a:t>
            </a:r>
          </a:p>
        </p:txBody>
      </p:sp>
      <p:sp>
        <p:nvSpPr>
          <p:cNvPr id="19509" name="Text Box 53"/>
          <p:cNvSpPr txBox="1">
            <a:spLocks noChangeArrowheads="1"/>
          </p:cNvSpPr>
          <p:nvPr/>
        </p:nvSpPr>
        <p:spPr bwMode="auto">
          <a:xfrm>
            <a:off x="1150938" y="5749925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-</a:t>
            </a:r>
          </a:p>
        </p:txBody>
      </p:sp>
      <p:sp>
        <p:nvSpPr>
          <p:cNvPr id="19510" name="Text Box 54"/>
          <p:cNvSpPr txBox="1">
            <a:spLocks noChangeArrowheads="1"/>
          </p:cNvSpPr>
          <p:nvPr/>
        </p:nvSpPr>
        <p:spPr bwMode="auto">
          <a:xfrm>
            <a:off x="1173163" y="3600450"/>
            <a:ext cx="492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V</a:t>
            </a:r>
            <a:r>
              <a:rPr lang="en-US" sz="1400"/>
              <a:t>EE</a:t>
            </a:r>
          </a:p>
        </p:txBody>
      </p:sp>
      <p:sp>
        <p:nvSpPr>
          <p:cNvPr id="19511" name="Text Box 55"/>
          <p:cNvSpPr txBox="1">
            <a:spLocks noChangeArrowheads="1"/>
          </p:cNvSpPr>
          <p:nvPr/>
        </p:nvSpPr>
        <p:spPr bwMode="auto">
          <a:xfrm>
            <a:off x="1343025" y="6442075"/>
            <a:ext cx="492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V</a:t>
            </a:r>
            <a:r>
              <a:rPr lang="en-US" sz="1400"/>
              <a:t>EE</a:t>
            </a:r>
          </a:p>
        </p:txBody>
      </p:sp>
      <p:sp>
        <p:nvSpPr>
          <p:cNvPr id="19512" name="Line 56"/>
          <p:cNvSpPr>
            <a:spLocks noChangeShapeType="1"/>
          </p:cNvSpPr>
          <p:nvPr/>
        </p:nvSpPr>
        <p:spPr bwMode="auto">
          <a:xfrm>
            <a:off x="458788" y="2276475"/>
            <a:ext cx="192087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3" name="Line 57"/>
          <p:cNvSpPr>
            <a:spLocks noChangeShapeType="1"/>
          </p:cNvSpPr>
          <p:nvPr/>
        </p:nvSpPr>
        <p:spPr bwMode="auto">
          <a:xfrm>
            <a:off x="381000" y="2468563"/>
            <a:ext cx="269875" cy="1539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4" name="Line 58"/>
          <p:cNvSpPr>
            <a:spLocks noChangeShapeType="1"/>
          </p:cNvSpPr>
          <p:nvPr/>
        </p:nvSpPr>
        <p:spPr bwMode="auto">
          <a:xfrm>
            <a:off x="381000" y="2736850"/>
            <a:ext cx="269875" cy="1539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5" name="Line 59"/>
          <p:cNvSpPr>
            <a:spLocks noChangeShapeType="1"/>
          </p:cNvSpPr>
          <p:nvPr/>
        </p:nvSpPr>
        <p:spPr bwMode="auto">
          <a:xfrm flipV="1">
            <a:off x="381000" y="2352675"/>
            <a:ext cx="269875" cy="115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6" name="Line 60"/>
          <p:cNvSpPr>
            <a:spLocks noChangeShapeType="1"/>
          </p:cNvSpPr>
          <p:nvPr/>
        </p:nvSpPr>
        <p:spPr bwMode="auto">
          <a:xfrm flipV="1">
            <a:off x="381000" y="2620963"/>
            <a:ext cx="269875" cy="1158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7" name="Line 61"/>
          <p:cNvSpPr>
            <a:spLocks noChangeShapeType="1"/>
          </p:cNvSpPr>
          <p:nvPr/>
        </p:nvSpPr>
        <p:spPr bwMode="auto">
          <a:xfrm flipV="1">
            <a:off x="496888" y="2889250"/>
            <a:ext cx="153987" cy="396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8" name="Line 62"/>
          <p:cNvSpPr>
            <a:spLocks noChangeShapeType="1"/>
          </p:cNvSpPr>
          <p:nvPr/>
        </p:nvSpPr>
        <p:spPr bwMode="auto">
          <a:xfrm flipH="1" flipV="1">
            <a:off x="496888" y="2890838"/>
            <a:ext cx="4762" cy="5381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9" name="Line 63"/>
          <p:cNvSpPr>
            <a:spLocks noChangeShapeType="1"/>
          </p:cNvSpPr>
          <p:nvPr/>
        </p:nvSpPr>
        <p:spPr bwMode="auto">
          <a:xfrm flipV="1">
            <a:off x="574675" y="4965700"/>
            <a:ext cx="0" cy="1539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20" name="Line 64"/>
          <p:cNvSpPr>
            <a:spLocks noChangeShapeType="1"/>
          </p:cNvSpPr>
          <p:nvPr/>
        </p:nvSpPr>
        <p:spPr bwMode="auto">
          <a:xfrm>
            <a:off x="536575" y="5081588"/>
            <a:ext cx="192088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21" name="Line 65"/>
          <p:cNvSpPr>
            <a:spLocks noChangeShapeType="1"/>
          </p:cNvSpPr>
          <p:nvPr/>
        </p:nvSpPr>
        <p:spPr bwMode="auto">
          <a:xfrm>
            <a:off x="458788" y="5273675"/>
            <a:ext cx="269875" cy="1539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22" name="Line 66"/>
          <p:cNvSpPr>
            <a:spLocks noChangeShapeType="1"/>
          </p:cNvSpPr>
          <p:nvPr/>
        </p:nvSpPr>
        <p:spPr bwMode="auto">
          <a:xfrm>
            <a:off x="458788" y="5541963"/>
            <a:ext cx="269875" cy="1539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23" name="Line 67"/>
          <p:cNvSpPr>
            <a:spLocks noChangeShapeType="1"/>
          </p:cNvSpPr>
          <p:nvPr/>
        </p:nvSpPr>
        <p:spPr bwMode="auto">
          <a:xfrm flipV="1">
            <a:off x="458788" y="5157788"/>
            <a:ext cx="269875" cy="1158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24" name="Line 68"/>
          <p:cNvSpPr>
            <a:spLocks noChangeShapeType="1"/>
          </p:cNvSpPr>
          <p:nvPr/>
        </p:nvSpPr>
        <p:spPr bwMode="auto">
          <a:xfrm flipV="1">
            <a:off x="458788" y="5426075"/>
            <a:ext cx="269875" cy="115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25" name="Line 69"/>
          <p:cNvSpPr>
            <a:spLocks noChangeShapeType="1"/>
          </p:cNvSpPr>
          <p:nvPr/>
        </p:nvSpPr>
        <p:spPr bwMode="auto">
          <a:xfrm flipV="1">
            <a:off x="574675" y="5694363"/>
            <a:ext cx="153988" cy="396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26" name="Line 70"/>
          <p:cNvSpPr>
            <a:spLocks noChangeShapeType="1"/>
          </p:cNvSpPr>
          <p:nvPr/>
        </p:nvSpPr>
        <p:spPr bwMode="auto">
          <a:xfrm flipV="1">
            <a:off x="574675" y="5695950"/>
            <a:ext cx="0" cy="382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27" name="Text Box 71"/>
          <p:cNvSpPr txBox="1">
            <a:spLocks noChangeArrowheads="1"/>
          </p:cNvSpPr>
          <p:nvPr/>
        </p:nvSpPr>
        <p:spPr bwMode="auto">
          <a:xfrm>
            <a:off x="46038" y="5195888"/>
            <a:ext cx="4111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R</a:t>
            </a:r>
            <a:r>
              <a:rPr lang="en-US" sz="1400"/>
              <a:t>E</a:t>
            </a:r>
          </a:p>
        </p:txBody>
      </p:sp>
      <p:sp>
        <p:nvSpPr>
          <p:cNvPr id="19528" name="Text Box 72"/>
          <p:cNvSpPr txBox="1">
            <a:spLocks noChangeArrowheads="1"/>
          </p:cNvSpPr>
          <p:nvPr/>
        </p:nvSpPr>
        <p:spPr bwMode="auto">
          <a:xfrm>
            <a:off x="7938" y="2314575"/>
            <a:ext cx="411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R</a:t>
            </a:r>
            <a:r>
              <a:rPr lang="en-US" sz="1400"/>
              <a:t>E</a:t>
            </a:r>
          </a:p>
        </p:txBody>
      </p:sp>
      <p:sp>
        <p:nvSpPr>
          <p:cNvPr id="19529" name="Oval 73"/>
          <p:cNvSpPr>
            <a:spLocks noChangeArrowheads="1"/>
          </p:cNvSpPr>
          <p:nvPr/>
        </p:nvSpPr>
        <p:spPr bwMode="auto">
          <a:xfrm>
            <a:off x="5264150" y="6002338"/>
            <a:ext cx="153988" cy="153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530" name="Oval 74"/>
          <p:cNvSpPr>
            <a:spLocks noChangeArrowheads="1"/>
          </p:cNvSpPr>
          <p:nvPr/>
        </p:nvSpPr>
        <p:spPr bwMode="auto">
          <a:xfrm>
            <a:off x="5148263" y="3292475"/>
            <a:ext cx="153987" cy="153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531" name="Line 75"/>
          <p:cNvSpPr>
            <a:spLocks noChangeShapeType="1"/>
          </p:cNvSpPr>
          <p:nvPr/>
        </p:nvSpPr>
        <p:spPr bwMode="auto">
          <a:xfrm flipH="1">
            <a:off x="731838" y="1816100"/>
            <a:ext cx="4603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32" name="Text Box 76"/>
          <p:cNvSpPr txBox="1">
            <a:spLocks noChangeArrowheads="1"/>
          </p:cNvSpPr>
          <p:nvPr/>
        </p:nvSpPr>
        <p:spPr bwMode="auto">
          <a:xfrm>
            <a:off x="779463" y="1411288"/>
            <a:ext cx="333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I</a:t>
            </a:r>
            <a:r>
              <a:rPr lang="en-US" sz="1400" b="1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9533" name="Line 77"/>
          <p:cNvSpPr>
            <a:spLocks noChangeShapeType="1"/>
          </p:cNvSpPr>
          <p:nvPr/>
        </p:nvSpPr>
        <p:spPr bwMode="auto">
          <a:xfrm flipH="1">
            <a:off x="1423988" y="4735513"/>
            <a:ext cx="4603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34" name="Text Box 78"/>
          <p:cNvSpPr txBox="1">
            <a:spLocks noChangeArrowheads="1"/>
          </p:cNvSpPr>
          <p:nvPr/>
        </p:nvSpPr>
        <p:spPr bwMode="auto">
          <a:xfrm>
            <a:off x="1471613" y="4329113"/>
            <a:ext cx="333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I</a:t>
            </a:r>
            <a:r>
              <a:rPr lang="en-US" sz="1400" b="1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9535" name="Text Box 79"/>
          <p:cNvSpPr txBox="1">
            <a:spLocks noChangeArrowheads="1"/>
          </p:cNvSpPr>
          <p:nvPr/>
        </p:nvSpPr>
        <p:spPr bwMode="auto">
          <a:xfrm>
            <a:off x="1846263" y="5175250"/>
            <a:ext cx="509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V</a:t>
            </a:r>
            <a:r>
              <a:rPr lang="en-US" sz="1400" b="1">
                <a:solidFill>
                  <a:srgbClr val="FF0000"/>
                </a:solidFill>
              </a:rPr>
              <a:t>BE</a:t>
            </a:r>
          </a:p>
        </p:txBody>
      </p:sp>
      <p:sp>
        <p:nvSpPr>
          <p:cNvPr id="19536" name="Text Box 80"/>
          <p:cNvSpPr txBox="1">
            <a:spLocks noChangeArrowheads="1"/>
          </p:cNvSpPr>
          <p:nvPr/>
        </p:nvSpPr>
        <p:spPr bwMode="auto">
          <a:xfrm>
            <a:off x="1931988" y="4867275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19537" name="Text Box 81"/>
          <p:cNvSpPr txBox="1">
            <a:spLocks noChangeArrowheads="1"/>
          </p:cNvSpPr>
          <p:nvPr/>
        </p:nvSpPr>
        <p:spPr bwMode="auto">
          <a:xfrm>
            <a:off x="2259013" y="5502275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9538" name="Text Box 82"/>
          <p:cNvSpPr txBox="1">
            <a:spLocks noChangeArrowheads="1"/>
          </p:cNvSpPr>
          <p:nvPr/>
        </p:nvSpPr>
        <p:spPr bwMode="auto">
          <a:xfrm>
            <a:off x="1538288" y="2409825"/>
            <a:ext cx="509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V</a:t>
            </a:r>
            <a:r>
              <a:rPr lang="en-US" sz="1400" b="1">
                <a:solidFill>
                  <a:srgbClr val="FF0000"/>
                </a:solidFill>
              </a:rPr>
              <a:t>BE</a:t>
            </a:r>
          </a:p>
        </p:txBody>
      </p:sp>
      <p:sp>
        <p:nvSpPr>
          <p:cNvPr id="19539" name="Line 83"/>
          <p:cNvSpPr>
            <a:spLocks noChangeShapeType="1"/>
          </p:cNvSpPr>
          <p:nvPr/>
        </p:nvSpPr>
        <p:spPr bwMode="auto">
          <a:xfrm flipV="1">
            <a:off x="2613025" y="2430463"/>
            <a:ext cx="0" cy="8826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40" name="Text Box 84"/>
          <p:cNvSpPr txBox="1">
            <a:spLocks noChangeArrowheads="1"/>
          </p:cNvSpPr>
          <p:nvPr/>
        </p:nvSpPr>
        <p:spPr bwMode="auto">
          <a:xfrm>
            <a:off x="1123950" y="2084388"/>
            <a:ext cx="260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19541" name="Text Box 85"/>
          <p:cNvSpPr txBox="1">
            <a:spLocks noChangeArrowheads="1"/>
          </p:cNvSpPr>
          <p:nvPr/>
        </p:nvSpPr>
        <p:spPr bwMode="auto">
          <a:xfrm>
            <a:off x="2152650" y="2622550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9542" name="Text Box 86"/>
          <p:cNvSpPr txBox="1">
            <a:spLocks noChangeArrowheads="1"/>
          </p:cNvSpPr>
          <p:nvPr/>
        </p:nvSpPr>
        <p:spPr bwMode="auto">
          <a:xfrm>
            <a:off x="4021138" y="2562225"/>
            <a:ext cx="9667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C00000"/>
                </a:solidFill>
              </a:rPr>
              <a:t>V</a:t>
            </a:r>
            <a:r>
              <a:rPr lang="en-US" sz="1400" b="1">
                <a:solidFill>
                  <a:srgbClr val="C00000"/>
                </a:solidFill>
              </a:rPr>
              <a:t>CB</a:t>
            </a:r>
            <a:r>
              <a:rPr lang="en-US" b="1">
                <a:solidFill>
                  <a:srgbClr val="C00000"/>
                </a:solidFill>
              </a:rPr>
              <a:t> =8V</a:t>
            </a:r>
          </a:p>
        </p:txBody>
      </p:sp>
      <p:sp>
        <p:nvSpPr>
          <p:cNvPr id="19543" name="Text Box 87"/>
          <p:cNvSpPr txBox="1">
            <a:spLocks noChangeArrowheads="1"/>
          </p:cNvSpPr>
          <p:nvPr/>
        </p:nvSpPr>
        <p:spPr bwMode="auto">
          <a:xfrm>
            <a:off x="3908425" y="4867275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C00000"/>
                </a:solidFill>
              </a:rPr>
              <a:t>+</a:t>
            </a:r>
          </a:p>
        </p:txBody>
      </p:sp>
      <p:sp>
        <p:nvSpPr>
          <p:cNvPr id="19544" name="Text Box 88"/>
          <p:cNvSpPr txBox="1">
            <a:spLocks noChangeArrowheads="1"/>
          </p:cNvSpPr>
          <p:nvPr/>
        </p:nvSpPr>
        <p:spPr bwMode="auto">
          <a:xfrm>
            <a:off x="3946525" y="5749925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C00000"/>
                </a:solidFill>
              </a:rPr>
              <a:t>-</a:t>
            </a:r>
          </a:p>
        </p:txBody>
      </p:sp>
      <p:sp>
        <p:nvSpPr>
          <p:cNvPr id="19545" name="Text Box 89"/>
          <p:cNvSpPr txBox="1">
            <a:spLocks noChangeArrowheads="1"/>
          </p:cNvSpPr>
          <p:nvPr/>
        </p:nvSpPr>
        <p:spPr bwMode="auto">
          <a:xfrm>
            <a:off x="4456113" y="2084388"/>
            <a:ext cx="317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C00000"/>
                </a:solidFill>
              </a:rPr>
              <a:t>+</a:t>
            </a:r>
          </a:p>
        </p:txBody>
      </p:sp>
      <p:sp>
        <p:nvSpPr>
          <p:cNvPr id="19546" name="Text Box 90"/>
          <p:cNvSpPr txBox="1">
            <a:spLocks noChangeArrowheads="1"/>
          </p:cNvSpPr>
          <p:nvPr/>
        </p:nvSpPr>
        <p:spPr bwMode="auto">
          <a:xfrm>
            <a:off x="4494213" y="2967038"/>
            <a:ext cx="260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C00000"/>
                </a:solidFill>
              </a:rPr>
              <a:t>-</a:t>
            </a:r>
          </a:p>
        </p:txBody>
      </p:sp>
      <p:sp>
        <p:nvSpPr>
          <p:cNvPr id="19547" name="Line 91"/>
          <p:cNvSpPr>
            <a:spLocks noChangeShapeType="1"/>
          </p:cNvSpPr>
          <p:nvPr/>
        </p:nvSpPr>
        <p:spPr bwMode="auto">
          <a:xfrm>
            <a:off x="5992813" y="4159250"/>
            <a:ext cx="31511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48" name="Line 92"/>
          <p:cNvSpPr>
            <a:spLocks noChangeShapeType="1"/>
          </p:cNvSpPr>
          <p:nvPr/>
        </p:nvSpPr>
        <p:spPr bwMode="auto">
          <a:xfrm flipV="1">
            <a:off x="5992813" y="1201738"/>
            <a:ext cx="0" cy="2957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49" name="Freeform 93"/>
          <p:cNvSpPr>
            <a:spLocks/>
          </p:cNvSpPr>
          <p:nvPr/>
        </p:nvSpPr>
        <p:spPr bwMode="auto">
          <a:xfrm rot="-2342890">
            <a:off x="6145213" y="2244725"/>
            <a:ext cx="3765550" cy="1684338"/>
          </a:xfrm>
          <a:custGeom>
            <a:avLst/>
            <a:gdLst>
              <a:gd name="T0" fmla="*/ 0 w 436"/>
              <a:gd name="T1" fmla="*/ 2147483647 h 121"/>
              <a:gd name="T2" fmla="*/ 2147483647 w 436"/>
              <a:gd name="T3" fmla="*/ 0 h 121"/>
              <a:gd name="T4" fmla="*/ 0 60000 65536"/>
              <a:gd name="T5" fmla="*/ 0 60000 65536"/>
              <a:gd name="T6" fmla="*/ 0 w 436"/>
              <a:gd name="T7" fmla="*/ 0 h 121"/>
              <a:gd name="T8" fmla="*/ 436 w 436"/>
              <a:gd name="T9" fmla="*/ 121 h 12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36" h="121">
                <a:moveTo>
                  <a:pt x="0" y="49"/>
                </a:moveTo>
                <a:cubicBezTo>
                  <a:pt x="121" y="85"/>
                  <a:pt x="243" y="121"/>
                  <a:pt x="436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>
              <a:latin typeface="Calibri" pitchFamily="34" charset="0"/>
            </a:endParaRPr>
          </a:p>
        </p:txBody>
      </p:sp>
      <p:sp>
        <p:nvSpPr>
          <p:cNvPr id="19550" name="Line 94"/>
          <p:cNvSpPr>
            <a:spLocks noChangeShapeType="1"/>
          </p:cNvSpPr>
          <p:nvPr/>
        </p:nvSpPr>
        <p:spPr bwMode="auto">
          <a:xfrm>
            <a:off x="5992813" y="4159250"/>
            <a:ext cx="4603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1" name="Text Box 95"/>
          <p:cNvSpPr txBox="1">
            <a:spLocks noChangeArrowheads="1"/>
          </p:cNvSpPr>
          <p:nvPr/>
        </p:nvSpPr>
        <p:spPr bwMode="auto">
          <a:xfrm>
            <a:off x="7145338" y="4273550"/>
            <a:ext cx="509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V</a:t>
            </a:r>
            <a:r>
              <a:rPr lang="en-US" sz="1400" b="1">
                <a:solidFill>
                  <a:srgbClr val="FF0000"/>
                </a:solidFill>
              </a:rPr>
              <a:t>BE</a:t>
            </a:r>
          </a:p>
        </p:txBody>
      </p:sp>
      <p:sp>
        <p:nvSpPr>
          <p:cNvPr id="19552" name="Text Box 96"/>
          <p:cNvSpPr txBox="1">
            <a:spLocks noChangeArrowheads="1"/>
          </p:cNvSpPr>
          <p:nvPr/>
        </p:nvSpPr>
        <p:spPr bwMode="auto">
          <a:xfrm>
            <a:off x="5567363" y="1317625"/>
            <a:ext cx="333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I</a:t>
            </a:r>
            <a:r>
              <a:rPr lang="en-US" sz="1400" b="1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9553" name="Text Box 97"/>
          <p:cNvSpPr txBox="1">
            <a:spLocks noChangeArrowheads="1"/>
          </p:cNvSpPr>
          <p:nvPr/>
        </p:nvSpPr>
        <p:spPr bwMode="auto">
          <a:xfrm>
            <a:off x="4251325" y="5367338"/>
            <a:ext cx="966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C00000"/>
                </a:solidFill>
              </a:rPr>
              <a:t>V</a:t>
            </a:r>
            <a:r>
              <a:rPr lang="en-US" sz="1400" b="1">
                <a:solidFill>
                  <a:srgbClr val="C00000"/>
                </a:solidFill>
              </a:rPr>
              <a:t>CB</a:t>
            </a:r>
            <a:r>
              <a:rPr lang="en-US" b="1">
                <a:solidFill>
                  <a:srgbClr val="C00000"/>
                </a:solidFill>
              </a:rPr>
              <a:t> =8V</a:t>
            </a:r>
          </a:p>
        </p:txBody>
      </p:sp>
      <p:sp>
        <p:nvSpPr>
          <p:cNvPr id="19554" name="Freeform 98"/>
          <p:cNvSpPr>
            <a:spLocks/>
          </p:cNvSpPr>
          <p:nvPr/>
        </p:nvSpPr>
        <p:spPr bwMode="auto">
          <a:xfrm rot="-2634022">
            <a:off x="5997575" y="2122488"/>
            <a:ext cx="3867150" cy="1649412"/>
          </a:xfrm>
          <a:custGeom>
            <a:avLst/>
            <a:gdLst>
              <a:gd name="T0" fmla="*/ 0 w 436"/>
              <a:gd name="T1" fmla="*/ 2147483647 h 121"/>
              <a:gd name="T2" fmla="*/ 2147483647 w 436"/>
              <a:gd name="T3" fmla="*/ 0 h 121"/>
              <a:gd name="T4" fmla="*/ 0 60000 65536"/>
              <a:gd name="T5" fmla="*/ 0 60000 65536"/>
              <a:gd name="T6" fmla="*/ 0 w 436"/>
              <a:gd name="T7" fmla="*/ 0 h 121"/>
              <a:gd name="T8" fmla="*/ 436 w 436"/>
              <a:gd name="T9" fmla="*/ 121 h 12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36" h="121">
                <a:moveTo>
                  <a:pt x="0" y="49"/>
                </a:moveTo>
                <a:cubicBezTo>
                  <a:pt x="121" y="85"/>
                  <a:pt x="243" y="121"/>
                  <a:pt x="436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>
              <a:latin typeface="Calibri" pitchFamily="34" charset="0"/>
            </a:endParaRPr>
          </a:p>
        </p:txBody>
      </p:sp>
      <p:sp>
        <p:nvSpPr>
          <p:cNvPr id="19555" name="Text Box 99"/>
          <p:cNvSpPr txBox="1">
            <a:spLocks noChangeArrowheads="1"/>
          </p:cNvSpPr>
          <p:nvPr/>
        </p:nvSpPr>
        <p:spPr bwMode="auto">
          <a:xfrm>
            <a:off x="8751888" y="817563"/>
            <a:ext cx="484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>
                <a:solidFill>
                  <a:srgbClr val="C00000"/>
                </a:solidFill>
              </a:rPr>
              <a:t>V</a:t>
            </a:r>
            <a:r>
              <a:rPr lang="en-US" sz="1100" b="1">
                <a:solidFill>
                  <a:srgbClr val="C00000"/>
                </a:solidFill>
              </a:rPr>
              <a:t>CB</a:t>
            </a:r>
            <a:r>
              <a:rPr lang="en-US" sz="1400" b="1">
                <a:solidFill>
                  <a:srgbClr val="C00000"/>
                </a:solidFill>
              </a:rPr>
              <a:t> </a:t>
            </a:r>
          </a:p>
          <a:p>
            <a:r>
              <a:rPr lang="en-US" sz="1400" b="1">
                <a:solidFill>
                  <a:srgbClr val="C00000"/>
                </a:solidFill>
              </a:rPr>
              <a:t>4V</a:t>
            </a:r>
          </a:p>
        </p:txBody>
      </p:sp>
      <p:sp>
        <p:nvSpPr>
          <p:cNvPr id="19556" name="Text Box 100"/>
          <p:cNvSpPr txBox="1">
            <a:spLocks noChangeArrowheads="1"/>
          </p:cNvSpPr>
          <p:nvPr/>
        </p:nvSpPr>
        <p:spPr bwMode="auto">
          <a:xfrm>
            <a:off x="8297863" y="931863"/>
            <a:ext cx="484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>
                <a:solidFill>
                  <a:srgbClr val="C00000"/>
                </a:solidFill>
              </a:rPr>
              <a:t>V</a:t>
            </a:r>
            <a:r>
              <a:rPr lang="en-US" sz="1100" b="1">
                <a:solidFill>
                  <a:srgbClr val="C00000"/>
                </a:solidFill>
              </a:rPr>
              <a:t>CB</a:t>
            </a:r>
            <a:r>
              <a:rPr lang="en-US" sz="1400" b="1">
                <a:solidFill>
                  <a:srgbClr val="C00000"/>
                </a:solidFill>
              </a:rPr>
              <a:t> </a:t>
            </a:r>
          </a:p>
          <a:p>
            <a:r>
              <a:rPr lang="en-US" sz="1400" b="1">
                <a:solidFill>
                  <a:srgbClr val="C00000"/>
                </a:solidFill>
              </a:rPr>
              <a:t>8V</a:t>
            </a:r>
          </a:p>
        </p:txBody>
      </p:sp>
      <p:sp>
        <p:nvSpPr>
          <p:cNvPr id="19557" name="Line 101"/>
          <p:cNvSpPr>
            <a:spLocks noChangeShapeType="1"/>
          </p:cNvSpPr>
          <p:nvPr/>
        </p:nvSpPr>
        <p:spPr bwMode="auto">
          <a:xfrm>
            <a:off x="8450263" y="3044825"/>
            <a:ext cx="0" cy="1498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8" name="Line 102"/>
          <p:cNvSpPr>
            <a:spLocks noChangeShapeType="1"/>
          </p:cNvSpPr>
          <p:nvPr/>
        </p:nvSpPr>
        <p:spPr bwMode="auto">
          <a:xfrm>
            <a:off x="8682038" y="2468563"/>
            <a:ext cx="0" cy="20351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9" name="Line 103"/>
          <p:cNvSpPr>
            <a:spLocks noChangeShapeType="1"/>
          </p:cNvSpPr>
          <p:nvPr/>
        </p:nvSpPr>
        <p:spPr bwMode="auto">
          <a:xfrm>
            <a:off x="5646738" y="3082925"/>
            <a:ext cx="28035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0" name="Line 104"/>
          <p:cNvSpPr>
            <a:spLocks noChangeShapeType="1"/>
          </p:cNvSpPr>
          <p:nvPr/>
        </p:nvSpPr>
        <p:spPr bwMode="auto">
          <a:xfrm>
            <a:off x="5646738" y="2506663"/>
            <a:ext cx="30353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1" name="Line 105"/>
          <p:cNvSpPr>
            <a:spLocks noChangeShapeType="1"/>
          </p:cNvSpPr>
          <p:nvPr/>
        </p:nvSpPr>
        <p:spPr bwMode="auto">
          <a:xfrm>
            <a:off x="8105775" y="4311650"/>
            <a:ext cx="344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2" name="Line 106"/>
          <p:cNvSpPr>
            <a:spLocks noChangeShapeType="1"/>
          </p:cNvSpPr>
          <p:nvPr/>
        </p:nvSpPr>
        <p:spPr bwMode="auto">
          <a:xfrm flipH="1">
            <a:off x="8680450" y="4311650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3" name="Line 107"/>
          <p:cNvSpPr>
            <a:spLocks noChangeShapeType="1"/>
          </p:cNvSpPr>
          <p:nvPr/>
        </p:nvSpPr>
        <p:spPr bwMode="auto">
          <a:xfrm flipV="1">
            <a:off x="5800725" y="2506663"/>
            <a:ext cx="0" cy="153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4" name="Line 108"/>
          <p:cNvSpPr>
            <a:spLocks noChangeShapeType="1"/>
          </p:cNvSpPr>
          <p:nvPr/>
        </p:nvSpPr>
        <p:spPr bwMode="auto">
          <a:xfrm>
            <a:off x="5800725" y="2928938"/>
            <a:ext cx="0" cy="153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5" name="Text Box 109"/>
          <p:cNvSpPr txBox="1">
            <a:spLocks noChangeArrowheads="1"/>
          </p:cNvSpPr>
          <p:nvPr/>
        </p:nvSpPr>
        <p:spPr bwMode="auto">
          <a:xfrm>
            <a:off x="8374063" y="4584700"/>
            <a:ext cx="587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l-GR" sz="1600" b="1">
                <a:solidFill>
                  <a:srgbClr val="C00000"/>
                </a:solidFill>
              </a:rPr>
              <a:t>Δ</a:t>
            </a:r>
            <a:r>
              <a:rPr lang="en-US" sz="1600" b="1">
                <a:solidFill>
                  <a:srgbClr val="C00000"/>
                </a:solidFill>
              </a:rPr>
              <a:t>V</a:t>
            </a:r>
            <a:r>
              <a:rPr lang="en-US" sz="1200" b="1">
                <a:solidFill>
                  <a:srgbClr val="C00000"/>
                </a:solidFill>
              </a:rPr>
              <a:t>BE</a:t>
            </a:r>
          </a:p>
        </p:txBody>
      </p:sp>
      <p:sp>
        <p:nvSpPr>
          <p:cNvPr id="19566" name="Text Box 110"/>
          <p:cNvSpPr txBox="1">
            <a:spLocks noChangeArrowheads="1"/>
          </p:cNvSpPr>
          <p:nvPr/>
        </p:nvSpPr>
        <p:spPr bwMode="auto">
          <a:xfrm>
            <a:off x="5570538" y="2625725"/>
            <a:ext cx="4460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l-GR" sz="1600" b="1">
                <a:solidFill>
                  <a:srgbClr val="C00000"/>
                </a:solidFill>
              </a:rPr>
              <a:t>Δ</a:t>
            </a:r>
            <a:r>
              <a:rPr lang="en-US" sz="1600" b="1">
                <a:solidFill>
                  <a:srgbClr val="C00000"/>
                </a:solidFill>
              </a:rPr>
              <a:t>I</a:t>
            </a:r>
            <a:r>
              <a:rPr lang="en-US" sz="1200" b="1">
                <a:solidFill>
                  <a:srgbClr val="C00000"/>
                </a:solidFill>
              </a:rPr>
              <a:t>E</a:t>
            </a:r>
          </a:p>
        </p:txBody>
      </p:sp>
      <p:sp>
        <p:nvSpPr>
          <p:cNvPr id="19567" name="Text Box 111"/>
          <p:cNvSpPr txBox="1">
            <a:spLocks noChangeArrowheads="1"/>
          </p:cNvSpPr>
          <p:nvPr/>
        </p:nvSpPr>
        <p:spPr bwMode="auto">
          <a:xfrm>
            <a:off x="6602413" y="5068888"/>
            <a:ext cx="17795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C00000"/>
                </a:solidFill>
              </a:rPr>
              <a:t>Input resistance</a:t>
            </a:r>
          </a:p>
          <a:p>
            <a:r>
              <a:rPr lang="en-US" b="1">
                <a:solidFill>
                  <a:srgbClr val="C00000"/>
                </a:solidFill>
              </a:rPr>
              <a:t>R</a:t>
            </a:r>
            <a:r>
              <a:rPr lang="en-US" sz="1400" b="1">
                <a:solidFill>
                  <a:srgbClr val="C00000"/>
                </a:solidFill>
              </a:rPr>
              <a:t>i</a:t>
            </a:r>
            <a:r>
              <a:rPr lang="en-US" b="1">
                <a:solidFill>
                  <a:srgbClr val="C00000"/>
                </a:solidFill>
              </a:rPr>
              <a:t> = </a:t>
            </a:r>
            <a:r>
              <a:rPr lang="el-GR" b="1">
                <a:solidFill>
                  <a:srgbClr val="C00000"/>
                </a:solidFill>
              </a:rPr>
              <a:t>Δ</a:t>
            </a:r>
            <a:r>
              <a:rPr lang="en-US" b="1">
                <a:solidFill>
                  <a:srgbClr val="C00000"/>
                </a:solidFill>
              </a:rPr>
              <a:t>V</a:t>
            </a:r>
            <a:r>
              <a:rPr lang="en-US" sz="1400" b="1">
                <a:solidFill>
                  <a:srgbClr val="C00000"/>
                </a:solidFill>
              </a:rPr>
              <a:t>BE</a:t>
            </a:r>
            <a:r>
              <a:rPr lang="en-US" b="1">
                <a:solidFill>
                  <a:srgbClr val="C00000"/>
                </a:solidFill>
              </a:rPr>
              <a:t> / </a:t>
            </a:r>
            <a:r>
              <a:rPr lang="el-GR" b="1">
                <a:solidFill>
                  <a:srgbClr val="C00000"/>
                </a:solidFill>
              </a:rPr>
              <a:t>Δ</a:t>
            </a:r>
            <a:r>
              <a:rPr lang="en-US" b="1">
                <a:solidFill>
                  <a:srgbClr val="C00000"/>
                </a:solidFill>
              </a:rPr>
              <a:t>I</a:t>
            </a:r>
            <a:r>
              <a:rPr lang="en-US" sz="1400" b="1">
                <a:solidFill>
                  <a:srgbClr val="C00000"/>
                </a:solidFill>
              </a:rPr>
              <a:t>E</a:t>
            </a:r>
            <a:r>
              <a:rPr lang="en-US" b="1">
                <a:solidFill>
                  <a:srgbClr val="C00000"/>
                </a:solidFill>
              </a:rPr>
              <a:t>                          </a:t>
            </a:r>
          </a:p>
        </p:txBody>
      </p:sp>
      <p:sp>
        <p:nvSpPr>
          <p:cNvPr id="19568" name="Text Box 112"/>
          <p:cNvSpPr txBox="1">
            <a:spLocks noChangeArrowheads="1"/>
          </p:cNvSpPr>
          <p:nvPr/>
        </p:nvSpPr>
        <p:spPr bwMode="auto">
          <a:xfrm>
            <a:off x="3841750" y="6002338"/>
            <a:ext cx="49244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>
                <a:solidFill>
                  <a:srgbClr val="00B050"/>
                </a:solidFill>
              </a:rPr>
              <a:t>As the change in emitter current is very large for a </a:t>
            </a:r>
          </a:p>
          <a:p>
            <a:r>
              <a:rPr lang="en-US">
                <a:solidFill>
                  <a:srgbClr val="00B050"/>
                </a:solidFill>
              </a:rPr>
              <a:t>Small change in input voltage, the input resistance</a:t>
            </a:r>
          </a:p>
          <a:p>
            <a:r>
              <a:rPr lang="en-US">
                <a:solidFill>
                  <a:srgbClr val="00B050"/>
                </a:solidFill>
              </a:rPr>
              <a:t>Ri is small</a:t>
            </a:r>
          </a:p>
        </p:txBody>
      </p:sp>
      <p:sp>
        <p:nvSpPr>
          <p:cNvPr id="19569" name="Oval 113"/>
          <p:cNvSpPr>
            <a:spLocks noChangeArrowheads="1"/>
          </p:cNvSpPr>
          <p:nvPr/>
        </p:nvSpPr>
        <p:spPr bwMode="auto">
          <a:xfrm>
            <a:off x="8335963" y="2968625"/>
            <a:ext cx="153987" cy="1539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570" name="Oval 114"/>
          <p:cNvSpPr>
            <a:spLocks noChangeArrowheads="1"/>
          </p:cNvSpPr>
          <p:nvPr/>
        </p:nvSpPr>
        <p:spPr bwMode="auto">
          <a:xfrm>
            <a:off x="8604250" y="2468563"/>
            <a:ext cx="153988" cy="1539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2F273E-1C20-48D7-9076-CE0AD199A669}" type="slidenum">
              <a:rPr lang="en-US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58470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4150"/>
            <a:ext cx="8229600" cy="654050"/>
          </a:xfrm>
        </p:spPr>
        <p:txBody>
          <a:bodyPr/>
          <a:lstStyle/>
          <a:p>
            <a:r>
              <a:rPr lang="en-US" sz="2800">
                <a:solidFill>
                  <a:schemeClr val="folHlink"/>
                </a:solidFill>
              </a:rPr>
              <a:t>Characteristics of a transistor in CB configuration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676400" y="909638"/>
            <a:ext cx="5791200" cy="614362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“Early effect” or “base width modulation”.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3475038" y="3013075"/>
            <a:ext cx="1979612" cy="1982788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1038225" y="3013075"/>
            <a:ext cx="2343150" cy="19827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3419475" y="3897313"/>
            <a:ext cx="730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Base</a:t>
            </a:r>
          </a:p>
          <a:p>
            <a:r>
              <a:rPr lang="en-US" b="1"/>
              <a:t>P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3149600" y="2454275"/>
            <a:ext cx="400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JE</a:t>
            </a:r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>
            <a:off x="3379788" y="27463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 flipV="1">
            <a:off x="317500" y="4038600"/>
            <a:ext cx="720725" cy="1111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0" name="Line 10"/>
          <p:cNvSpPr>
            <a:spLocks noChangeShapeType="1"/>
          </p:cNvSpPr>
          <p:nvPr/>
        </p:nvSpPr>
        <p:spPr bwMode="auto">
          <a:xfrm>
            <a:off x="8143875" y="4011613"/>
            <a:ext cx="836613" cy="952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39688" y="3589338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Emitter</a:t>
            </a:r>
          </a:p>
        </p:txBody>
      </p: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8143875" y="3568700"/>
            <a:ext cx="1035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collector</a:t>
            </a:r>
          </a:p>
        </p:txBody>
      </p:sp>
      <p:sp>
        <p:nvSpPr>
          <p:cNvPr id="20493" name="Rectangle 13"/>
          <p:cNvSpPr>
            <a:spLocks noChangeArrowheads="1"/>
          </p:cNvSpPr>
          <p:nvPr/>
        </p:nvSpPr>
        <p:spPr bwMode="auto">
          <a:xfrm>
            <a:off x="5530850" y="3013075"/>
            <a:ext cx="2613025" cy="19827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20494" name="Rectangle 14"/>
          <p:cNvSpPr>
            <a:spLocks noChangeArrowheads="1"/>
          </p:cNvSpPr>
          <p:nvPr/>
        </p:nvSpPr>
        <p:spPr bwMode="auto">
          <a:xfrm>
            <a:off x="5454650" y="3013075"/>
            <a:ext cx="96838" cy="198278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0495" name="Text Box 15"/>
          <p:cNvSpPr txBox="1">
            <a:spLocks noChangeArrowheads="1"/>
          </p:cNvSpPr>
          <p:nvPr/>
        </p:nvSpPr>
        <p:spPr bwMode="auto">
          <a:xfrm>
            <a:off x="1882775" y="3935413"/>
            <a:ext cx="1035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Emitter </a:t>
            </a:r>
          </a:p>
          <a:p>
            <a:r>
              <a:rPr lang="en-US" b="1"/>
              <a:t>N</a:t>
            </a:r>
          </a:p>
        </p:txBody>
      </p:sp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5338763" y="2454275"/>
            <a:ext cx="4079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JC</a:t>
            </a:r>
          </a:p>
        </p:txBody>
      </p:sp>
      <p:sp>
        <p:nvSpPr>
          <p:cNvPr id="20497" name="Line 17"/>
          <p:cNvSpPr>
            <a:spLocks noChangeShapeType="1"/>
          </p:cNvSpPr>
          <p:nvPr/>
        </p:nvSpPr>
        <p:spPr bwMode="auto">
          <a:xfrm>
            <a:off x="5530850" y="27828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8" name="Line 19"/>
          <p:cNvSpPr>
            <a:spLocks noChangeShapeType="1"/>
          </p:cNvSpPr>
          <p:nvPr/>
        </p:nvSpPr>
        <p:spPr bwMode="auto">
          <a:xfrm>
            <a:off x="5954713" y="3013075"/>
            <a:ext cx="0" cy="2035175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9" name="Text Box 20"/>
          <p:cNvSpPr txBox="1">
            <a:spLocks noChangeArrowheads="1"/>
          </p:cNvSpPr>
          <p:nvPr/>
        </p:nvSpPr>
        <p:spPr bwMode="auto">
          <a:xfrm>
            <a:off x="6731000" y="3914775"/>
            <a:ext cx="1174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Collector</a:t>
            </a:r>
          </a:p>
          <a:p>
            <a:r>
              <a:rPr lang="en-US" b="1"/>
              <a:t>N</a:t>
            </a:r>
          </a:p>
        </p:txBody>
      </p:sp>
      <p:sp>
        <p:nvSpPr>
          <p:cNvPr id="20500" name="Line 21"/>
          <p:cNvSpPr>
            <a:spLocks noChangeShapeType="1"/>
          </p:cNvSpPr>
          <p:nvPr/>
        </p:nvSpPr>
        <p:spPr bwMode="auto">
          <a:xfrm>
            <a:off x="3419475" y="5048250"/>
            <a:ext cx="0" cy="538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1" name="Line 22"/>
          <p:cNvSpPr>
            <a:spLocks noChangeShapeType="1"/>
          </p:cNvSpPr>
          <p:nvPr/>
        </p:nvSpPr>
        <p:spPr bwMode="auto">
          <a:xfrm>
            <a:off x="5530850" y="5048250"/>
            <a:ext cx="0" cy="538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2" name="AutoShape 23"/>
          <p:cNvSpPr>
            <a:spLocks/>
          </p:cNvSpPr>
          <p:nvPr/>
        </p:nvSpPr>
        <p:spPr bwMode="auto">
          <a:xfrm rot="5400000">
            <a:off x="4398963" y="4146550"/>
            <a:ext cx="152400" cy="2035175"/>
          </a:xfrm>
          <a:prstGeom prst="rightBrace">
            <a:avLst>
              <a:gd name="adj1" fmla="val 11128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0503" name="Text Box 24"/>
          <p:cNvSpPr txBox="1">
            <a:spLocks noChangeArrowheads="1"/>
          </p:cNvSpPr>
          <p:nvPr/>
        </p:nvSpPr>
        <p:spPr bwMode="auto">
          <a:xfrm>
            <a:off x="5072063" y="1817688"/>
            <a:ext cx="2954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600">
                <a:solidFill>
                  <a:srgbClr val="C00000"/>
                </a:solidFill>
              </a:rPr>
              <a:t>Wider  Depletion</a:t>
            </a:r>
          </a:p>
          <a:p>
            <a:r>
              <a:rPr lang="en-US" sz="1600">
                <a:solidFill>
                  <a:srgbClr val="C00000"/>
                </a:solidFill>
              </a:rPr>
              <a:t>Region for larger values of VCB</a:t>
            </a:r>
          </a:p>
        </p:txBody>
      </p:sp>
      <p:sp>
        <p:nvSpPr>
          <p:cNvPr id="20504" name="Oval 25"/>
          <p:cNvSpPr>
            <a:spLocks noChangeArrowheads="1"/>
          </p:cNvSpPr>
          <p:nvPr/>
        </p:nvSpPr>
        <p:spPr bwMode="auto">
          <a:xfrm>
            <a:off x="5108575" y="45910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05" name="Oval 26"/>
          <p:cNvSpPr>
            <a:spLocks noChangeArrowheads="1"/>
          </p:cNvSpPr>
          <p:nvPr/>
        </p:nvSpPr>
        <p:spPr bwMode="auto">
          <a:xfrm>
            <a:off x="5108575" y="42100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06" name="Oval 27"/>
          <p:cNvSpPr>
            <a:spLocks noChangeArrowheads="1"/>
          </p:cNvSpPr>
          <p:nvPr/>
        </p:nvSpPr>
        <p:spPr bwMode="auto">
          <a:xfrm>
            <a:off x="5108575" y="38290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07" name="Oval 28"/>
          <p:cNvSpPr>
            <a:spLocks noChangeArrowheads="1"/>
          </p:cNvSpPr>
          <p:nvPr/>
        </p:nvSpPr>
        <p:spPr bwMode="auto">
          <a:xfrm>
            <a:off x="5114925" y="34480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08" name="Oval 29"/>
          <p:cNvSpPr>
            <a:spLocks noChangeArrowheads="1"/>
          </p:cNvSpPr>
          <p:nvPr/>
        </p:nvSpPr>
        <p:spPr bwMode="auto">
          <a:xfrm>
            <a:off x="5114925" y="30670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09" name="Oval 30"/>
          <p:cNvSpPr>
            <a:spLocks noChangeArrowheads="1"/>
          </p:cNvSpPr>
          <p:nvPr/>
        </p:nvSpPr>
        <p:spPr bwMode="auto">
          <a:xfrm>
            <a:off x="5610225" y="45910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20510" name="Oval 31"/>
          <p:cNvSpPr>
            <a:spLocks noChangeArrowheads="1"/>
          </p:cNvSpPr>
          <p:nvPr/>
        </p:nvSpPr>
        <p:spPr bwMode="auto">
          <a:xfrm>
            <a:off x="5610225" y="42100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20511" name="Oval 32"/>
          <p:cNvSpPr>
            <a:spLocks noChangeArrowheads="1"/>
          </p:cNvSpPr>
          <p:nvPr/>
        </p:nvSpPr>
        <p:spPr bwMode="auto">
          <a:xfrm>
            <a:off x="5610225" y="38290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20512" name="Oval 33"/>
          <p:cNvSpPr>
            <a:spLocks noChangeArrowheads="1"/>
          </p:cNvSpPr>
          <p:nvPr/>
        </p:nvSpPr>
        <p:spPr bwMode="auto">
          <a:xfrm>
            <a:off x="5607050" y="34861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20513" name="Oval 34"/>
          <p:cNvSpPr>
            <a:spLocks noChangeArrowheads="1"/>
          </p:cNvSpPr>
          <p:nvPr/>
        </p:nvSpPr>
        <p:spPr bwMode="auto">
          <a:xfrm>
            <a:off x="5607050" y="31051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+</a:t>
            </a:r>
          </a:p>
        </p:txBody>
      </p:sp>
      <p:sp>
        <p:nvSpPr>
          <p:cNvPr id="20514" name="Oval 35"/>
          <p:cNvSpPr>
            <a:spLocks noChangeArrowheads="1"/>
          </p:cNvSpPr>
          <p:nvPr/>
        </p:nvSpPr>
        <p:spPr bwMode="auto">
          <a:xfrm>
            <a:off x="8834438" y="3897313"/>
            <a:ext cx="231775" cy="268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0515" name="Oval 36"/>
          <p:cNvSpPr>
            <a:spLocks noChangeArrowheads="1"/>
          </p:cNvSpPr>
          <p:nvPr/>
        </p:nvSpPr>
        <p:spPr bwMode="auto">
          <a:xfrm>
            <a:off x="230188" y="3897313"/>
            <a:ext cx="231775" cy="268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0516" name="Rectangle 37"/>
          <p:cNvSpPr>
            <a:spLocks noChangeArrowheads="1"/>
          </p:cNvSpPr>
          <p:nvPr/>
        </p:nvSpPr>
        <p:spPr bwMode="auto">
          <a:xfrm>
            <a:off x="5454650" y="3013075"/>
            <a:ext cx="96838" cy="1982788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0517" name="Rectangle 38"/>
          <p:cNvSpPr>
            <a:spLocks noChangeArrowheads="1"/>
          </p:cNvSpPr>
          <p:nvPr/>
        </p:nvSpPr>
        <p:spPr bwMode="auto">
          <a:xfrm>
            <a:off x="3381375" y="3013075"/>
            <a:ext cx="96838" cy="1982788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0518" name="Text Box 39"/>
          <p:cNvSpPr txBox="1">
            <a:spLocks noChangeArrowheads="1"/>
          </p:cNvSpPr>
          <p:nvPr/>
        </p:nvSpPr>
        <p:spPr bwMode="auto">
          <a:xfrm>
            <a:off x="3573463" y="5240338"/>
            <a:ext cx="1778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600" b="1">
                <a:solidFill>
                  <a:srgbClr val="C00000"/>
                </a:solidFill>
              </a:rPr>
              <a:t>Total base width</a:t>
            </a:r>
          </a:p>
        </p:txBody>
      </p:sp>
      <p:sp>
        <p:nvSpPr>
          <p:cNvPr id="20519" name="Line 40"/>
          <p:cNvSpPr>
            <a:spLocks noChangeShapeType="1"/>
          </p:cNvSpPr>
          <p:nvPr/>
        </p:nvSpPr>
        <p:spPr bwMode="auto">
          <a:xfrm>
            <a:off x="4495800" y="2130425"/>
            <a:ext cx="0" cy="614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0" name="Line 41"/>
          <p:cNvSpPr>
            <a:spLocks noChangeShapeType="1"/>
          </p:cNvSpPr>
          <p:nvPr/>
        </p:nvSpPr>
        <p:spPr bwMode="auto">
          <a:xfrm>
            <a:off x="3497263" y="2198688"/>
            <a:ext cx="0" cy="769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1" name="Text Box 42"/>
          <p:cNvSpPr txBox="1">
            <a:spLocks noChangeArrowheads="1"/>
          </p:cNvSpPr>
          <p:nvPr/>
        </p:nvSpPr>
        <p:spPr bwMode="auto">
          <a:xfrm>
            <a:off x="960438" y="1547813"/>
            <a:ext cx="24209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600">
                <a:solidFill>
                  <a:srgbClr val="C00000"/>
                </a:solidFill>
              </a:rPr>
              <a:t>zero effective base width</a:t>
            </a:r>
          </a:p>
          <a:p>
            <a:r>
              <a:rPr lang="en-US" sz="1600">
                <a:solidFill>
                  <a:srgbClr val="C00000"/>
                </a:solidFill>
              </a:rPr>
              <a:t>At larger values of VCB</a:t>
            </a:r>
          </a:p>
        </p:txBody>
      </p:sp>
      <p:sp>
        <p:nvSpPr>
          <p:cNvPr id="20522" name="Oval 44"/>
          <p:cNvSpPr>
            <a:spLocks noChangeArrowheads="1"/>
          </p:cNvSpPr>
          <p:nvPr/>
        </p:nvSpPr>
        <p:spPr bwMode="auto">
          <a:xfrm>
            <a:off x="4760913" y="45910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23" name="Oval 45"/>
          <p:cNvSpPr>
            <a:spLocks noChangeArrowheads="1"/>
          </p:cNvSpPr>
          <p:nvPr/>
        </p:nvSpPr>
        <p:spPr bwMode="auto">
          <a:xfrm>
            <a:off x="4760913" y="42100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24" name="Oval 46"/>
          <p:cNvSpPr>
            <a:spLocks noChangeArrowheads="1"/>
          </p:cNvSpPr>
          <p:nvPr/>
        </p:nvSpPr>
        <p:spPr bwMode="auto">
          <a:xfrm>
            <a:off x="4760913" y="38290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25" name="Oval 47"/>
          <p:cNvSpPr>
            <a:spLocks noChangeArrowheads="1"/>
          </p:cNvSpPr>
          <p:nvPr/>
        </p:nvSpPr>
        <p:spPr bwMode="auto">
          <a:xfrm>
            <a:off x="4767263" y="34480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26" name="Oval 48"/>
          <p:cNvSpPr>
            <a:spLocks noChangeArrowheads="1"/>
          </p:cNvSpPr>
          <p:nvPr/>
        </p:nvSpPr>
        <p:spPr bwMode="auto">
          <a:xfrm>
            <a:off x="4767263" y="3067050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27" name="Oval 49"/>
          <p:cNvSpPr>
            <a:spLocks noChangeArrowheads="1"/>
          </p:cNvSpPr>
          <p:nvPr/>
        </p:nvSpPr>
        <p:spPr bwMode="auto">
          <a:xfrm>
            <a:off x="4419600" y="457676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28" name="Oval 50"/>
          <p:cNvSpPr>
            <a:spLocks noChangeArrowheads="1"/>
          </p:cNvSpPr>
          <p:nvPr/>
        </p:nvSpPr>
        <p:spPr bwMode="auto">
          <a:xfrm>
            <a:off x="4419600" y="419576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29" name="Oval 51"/>
          <p:cNvSpPr>
            <a:spLocks noChangeArrowheads="1"/>
          </p:cNvSpPr>
          <p:nvPr/>
        </p:nvSpPr>
        <p:spPr bwMode="auto">
          <a:xfrm>
            <a:off x="4419600" y="381476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30" name="Oval 52"/>
          <p:cNvSpPr>
            <a:spLocks noChangeArrowheads="1"/>
          </p:cNvSpPr>
          <p:nvPr/>
        </p:nvSpPr>
        <p:spPr bwMode="auto">
          <a:xfrm>
            <a:off x="4425950" y="343376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31" name="Oval 53"/>
          <p:cNvSpPr>
            <a:spLocks noChangeArrowheads="1"/>
          </p:cNvSpPr>
          <p:nvPr/>
        </p:nvSpPr>
        <p:spPr bwMode="auto">
          <a:xfrm>
            <a:off x="4425950" y="305276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32" name="Oval 54"/>
          <p:cNvSpPr>
            <a:spLocks noChangeArrowheads="1"/>
          </p:cNvSpPr>
          <p:nvPr/>
        </p:nvSpPr>
        <p:spPr bwMode="auto">
          <a:xfrm>
            <a:off x="4106863" y="457676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33" name="Oval 55"/>
          <p:cNvSpPr>
            <a:spLocks noChangeArrowheads="1"/>
          </p:cNvSpPr>
          <p:nvPr/>
        </p:nvSpPr>
        <p:spPr bwMode="auto">
          <a:xfrm>
            <a:off x="4106863" y="419576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34" name="Oval 56"/>
          <p:cNvSpPr>
            <a:spLocks noChangeArrowheads="1"/>
          </p:cNvSpPr>
          <p:nvPr/>
        </p:nvSpPr>
        <p:spPr bwMode="auto">
          <a:xfrm>
            <a:off x="4106863" y="381476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35" name="Oval 57"/>
          <p:cNvSpPr>
            <a:spLocks noChangeArrowheads="1"/>
          </p:cNvSpPr>
          <p:nvPr/>
        </p:nvSpPr>
        <p:spPr bwMode="auto">
          <a:xfrm>
            <a:off x="4113213" y="343376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36" name="Oval 58"/>
          <p:cNvSpPr>
            <a:spLocks noChangeArrowheads="1"/>
          </p:cNvSpPr>
          <p:nvPr/>
        </p:nvSpPr>
        <p:spPr bwMode="auto">
          <a:xfrm>
            <a:off x="4113213" y="305276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37" name="AutoShape 59"/>
          <p:cNvSpPr>
            <a:spLocks/>
          </p:cNvSpPr>
          <p:nvPr/>
        </p:nvSpPr>
        <p:spPr bwMode="auto">
          <a:xfrm rot="-5400000">
            <a:off x="4402932" y="1915319"/>
            <a:ext cx="223837" cy="1958975"/>
          </a:xfrm>
          <a:prstGeom prst="rightBrace">
            <a:avLst>
              <a:gd name="adj1" fmla="val 72932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0538" name="Line 60"/>
          <p:cNvSpPr>
            <a:spLocks noChangeShapeType="1"/>
          </p:cNvSpPr>
          <p:nvPr/>
        </p:nvSpPr>
        <p:spPr bwMode="auto">
          <a:xfrm flipV="1">
            <a:off x="4495800" y="2130425"/>
            <a:ext cx="3079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9" name="Line 61"/>
          <p:cNvSpPr>
            <a:spLocks noChangeShapeType="1"/>
          </p:cNvSpPr>
          <p:nvPr/>
        </p:nvSpPr>
        <p:spPr bwMode="auto">
          <a:xfrm flipV="1">
            <a:off x="3189288" y="2200275"/>
            <a:ext cx="3079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0" name="Text Box 62"/>
          <p:cNvSpPr txBox="1">
            <a:spLocks noChangeArrowheads="1"/>
          </p:cNvSpPr>
          <p:nvPr/>
        </p:nvSpPr>
        <p:spPr bwMode="auto">
          <a:xfrm>
            <a:off x="6569075" y="5318125"/>
            <a:ext cx="2522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600" b="1">
                <a:solidFill>
                  <a:srgbClr val="C00000"/>
                </a:solidFill>
              </a:rPr>
              <a:t>VCB increases extremely</a:t>
            </a:r>
          </a:p>
        </p:txBody>
      </p:sp>
      <p:sp>
        <p:nvSpPr>
          <p:cNvPr id="20541" name="Rectangle 63"/>
          <p:cNvSpPr>
            <a:spLocks noChangeArrowheads="1"/>
          </p:cNvSpPr>
          <p:nvPr/>
        </p:nvSpPr>
        <p:spPr bwMode="auto">
          <a:xfrm>
            <a:off x="461963" y="5810250"/>
            <a:ext cx="8229600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</a:pPr>
            <a:r>
              <a:rPr lang="en-US" b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For extremely large  V</a:t>
            </a:r>
            <a:r>
              <a:rPr lang="en-US" sz="1400" b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CB</a:t>
            </a:r>
            <a:r>
              <a:rPr lang="en-US" b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  the effective base width may be reduced to zero, causing voltage breakdown of a transistor.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</a:pPr>
            <a:r>
              <a:rPr lang="en-US" b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This phenomenon is known as </a:t>
            </a:r>
            <a:r>
              <a:rPr lang="en-US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punch through</a:t>
            </a:r>
            <a:endParaRPr lang="en-US" sz="20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42" name="Oval 64"/>
          <p:cNvSpPr>
            <a:spLocks noChangeArrowheads="1"/>
          </p:cNvSpPr>
          <p:nvPr/>
        </p:nvSpPr>
        <p:spPr bwMode="auto">
          <a:xfrm>
            <a:off x="3805238" y="45831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43" name="Oval 65"/>
          <p:cNvSpPr>
            <a:spLocks noChangeArrowheads="1"/>
          </p:cNvSpPr>
          <p:nvPr/>
        </p:nvSpPr>
        <p:spPr bwMode="auto">
          <a:xfrm>
            <a:off x="3805238" y="42021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44" name="Oval 66"/>
          <p:cNvSpPr>
            <a:spLocks noChangeArrowheads="1"/>
          </p:cNvSpPr>
          <p:nvPr/>
        </p:nvSpPr>
        <p:spPr bwMode="auto">
          <a:xfrm>
            <a:off x="3805238" y="38211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45" name="Oval 67"/>
          <p:cNvSpPr>
            <a:spLocks noChangeArrowheads="1"/>
          </p:cNvSpPr>
          <p:nvPr/>
        </p:nvSpPr>
        <p:spPr bwMode="auto">
          <a:xfrm>
            <a:off x="3811588" y="34401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46" name="Oval 68"/>
          <p:cNvSpPr>
            <a:spLocks noChangeArrowheads="1"/>
          </p:cNvSpPr>
          <p:nvPr/>
        </p:nvSpPr>
        <p:spPr bwMode="auto">
          <a:xfrm>
            <a:off x="3811588" y="30591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47" name="Oval 69"/>
          <p:cNvSpPr>
            <a:spLocks noChangeArrowheads="1"/>
          </p:cNvSpPr>
          <p:nvPr/>
        </p:nvSpPr>
        <p:spPr bwMode="auto">
          <a:xfrm>
            <a:off x="3457575" y="45831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48" name="Oval 70"/>
          <p:cNvSpPr>
            <a:spLocks noChangeArrowheads="1"/>
          </p:cNvSpPr>
          <p:nvPr/>
        </p:nvSpPr>
        <p:spPr bwMode="auto">
          <a:xfrm>
            <a:off x="3457575" y="42021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49" name="Oval 71"/>
          <p:cNvSpPr>
            <a:spLocks noChangeArrowheads="1"/>
          </p:cNvSpPr>
          <p:nvPr/>
        </p:nvSpPr>
        <p:spPr bwMode="auto">
          <a:xfrm>
            <a:off x="3457575" y="38211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50" name="Oval 72"/>
          <p:cNvSpPr>
            <a:spLocks noChangeArrowheads="1"/>
          </p:cNvSpPr>
          <p:nvPr/>
        </p:nvSpPr>
        <p:spPr bwMode="auto">
          <a:xfrm>
            <a:off x="3463925" y="34401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20551" name="Oval 73"/>
          <p:cNvSpPr>
            <a:spLocks noChangeArrowheads="1"/>
          </p:cNvSpPr>
          <p:nvPr/>
        </p:nvSpPr>
        <p:spPr bwMode="auto">
          <a:xfrm>
            <a:off x="3463925" y="3059113"/>
            <a:ext cx="304800" cy="304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AF42DD-EE45-432D-879C-38325C8C4C89}" type="slidenum">
              <a:rPr lang="en-US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84093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9213"/>
            <a:ext cx="8229600" cy="654050"/>
          </a:xfrm>
        </p:spPr>
        <p:txBody>
          <a:bodyPr/>
          <a:lstStyle/>
          <a:p>
            <a:r>
              <a:rPr lang="en-US" sz="2800">
                <a:solidFill>
                  <a:schemeClr val="folHlink"/>
                </a:solidFill>
              </a:rPr>
              <a:t>Characteristics of a transistor in CB configuration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2900363" y="663575"/>
            <a:ext cx="3119437" cy="61436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Output characteristics</a:t>
            </a:r>
          </a:p>
          <a:p>
            <a:endParaRPr lang="en-US" sz="24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2803525" y="1624013"/>
            <a:ext cx="1154113" cy="6905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400" b="1">
                <a:solidFill>
                  <a:srgbClr val="FF0066"/>
                </a:solidFill>
                <a:latin typeface="Calibri" pitchFamily="34" charset="0"/>
              </a:rPr>
              <a:t>N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1998663" y="1624013"/>
            <a:ext cx="728662" cy="6905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400" b="1">
                <a:solidFill>
                  <a:srgbClr val="FF0066"/>
                </a:solidFill>
                <a:latin typeface="Calibri" pitchFamily="34" charset="0"/>
              </a:rPr>
              <a:t>P</a:t>
            </a: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1922463" y="1624013"/>
            <a:ext cx="74612" cy="690562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2587625" y="2332038"/>
            <a:ext cx="4079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JC</a:t>
            </a: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1751013" y="2314575"/>
            <a:ext cx="400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JE</a:t>
            </a:r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3956050" y="1778000"/>
            <a:ext cx="115888" cy="384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2189163" y="2314575"/>
            <a:ext cx="268287" cy="115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1515" name="Rectangle 11"/>
          <p:cNvSpPr>
            <a:spLocks noChangeArrowheads="1"/>
          </p:cNvSpPr>
          <p:nvPr/>
        </p:nvSpPr>
        <p:spPr bwMode="auto">
          <a:xfrm>
            <a:off x="2727325" y="1624013"/>
            <a:ext cx="74613" cy="690562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1516" name="Rectangle 12"/>
          <p:cNvSpPr>
            <a:spLocks noChangeArrowheads="1"/>
          </p:cNvSpPr>
          <p:nvPr/>
        </p:nvSpPr>
        <p:spPr bwMode="auto">
          <a:xfrm>
            <a:off x="1154113" y="1624013"/>
            <a:ext cx="766762" cy="6905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400" b="1">
                <a:solidFill>
                  <a:srgbClr val="FF0066"/>
                </a:solidFill>
                <a:latin typeface="Calibri" pitchFamily="34" charset="0"/>
              </a:rPr>
              <a:t>N</a:t>
            </a:r>
          </a:p>
        </p:txBody>
      </p:sp>
      <p:sp>
        <p:nvSpPr>
          <p:cNvPr id="21517" name="Rectangle 13"/>
          <p:cNvSpPr>
            <a:spLocks noChangeArrowheads="1"/>
          </p:cNvSpPr>
          <p:nvPr/>
        </p:nvSpPr>
        <p:spPr bwMode="auto">
          <a:xfrm>
            <a:off x="1036638" y="1778000"/>
            <a:ext cx="115887" cy="3841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1518" name="Oval 14"/>
          <p:cNvSpPr>
            <a:spLocks noChangeArrowheads="1"/>
          </p:cNvSpPr>
          <p:nvPr/>
        </p:nvSpPr>
        <p:spPr bwMode="auto">
          <a:xfrm>
            <a:off x="2228850" y="3294063"/>
            <a:ext cx="153988" cy="153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 flipV="1">
            <a:off x="269875" y="1968500"/>
            <a:ext cx="7683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0" name="Oval 16"/>
          <p:cNvSpPr>
            <a:spLocks noChangeArrowheads="1"/>
          </p:cNvSpPr>
          <p:nvPr/>
        </p:nvSpPr>
        <p:spPr bwMode="auto">
          <a:xfrm>
            <a:off x="115888" y="1892300"/>
            <a:ext cx="153987" cy="153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1521" name="Line 17"/>
          <p:cNvSpPr>
            <a:spLocks noChangeShapeType="1"/>
          </p:cNvSpPr>
          <p:nvPr/>
        </p:nvSpPr>
        <p:spPr bwMode="auto">
          <a:xfrm flipV="1">
            <a:off x="4071938" y="1968500"/>
            <a:ext cx="7683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2" name="Oval 18"/>
          <p:cNvSpPr>
            <a:spLocks noChangeArrowheads="1"/>
          </p:cNvSpPr>
          <p:nvPr/>
        </p:nvSpPr>
        <p:spPr bwMode="auto">
          <a:xfrm>
            <a:off x="4802188" y="1892300"/>
            <a:ext cx="153987" cy="153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1523" name="Text Box 19"/>
          <p:cNvSpPr txBox="1">
            <a:spLocks noChangeArrowheads="1"/>
          </p:cNvSpPr>
          <p:nvPr/>
        </p:nvSpPr>
        <p:spPr bwMode="auto">
          <a:xfrm>
            <a:off x="2152650" y="344646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B</a:t>
            </a:r>
          </a:p>
        </p:txBody>
      </p:sp>
      <p:sp>
        <p:nvSpPr>
          <p:cNvPr id="21524" name="Text Box 20"/>
          <p:cNvSpPr txBox="1">
            <a:spLocks noChangeArrowheads="1"/>
          </p:cNvSpPr>
          <p:nvPr/>
        </p:nvSpPr>
        <p:spPr bwMode="auto">
          <a:xfrm>
            <a:off x="4764088" y="1431925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C</a:t>
            </a:r>
          </a:p>
        </p:txBody>
      </p:sp>
      <p:sp>
        <p:nvSpPr>
          <p:cNvPr id="21525" name="Text Box 21"/>
          <p:cNvSpPr txBox="1">
            <a:spLocks noChangeArrowheads="1"/>
          </p:cNvSpPr>
          <p:nvPr/>
        </p:nvSpPr>
        <p:spPr bwMode="auto">
          <a:xfrm>
            <a:off x="-36513" y="1603375"/>
            <a:ext cx="336551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</a:t>
            </a:r>
          </a:p>
        </p:txBody>
      </p:sp>
      <p:sp>
        <p:nvSpPr>
          <p:cNvPr id="21526" name="Line 22"/>
          <p:cNvSpPr>
            <a:spLocks noChangeShapeType="1"/>
          </p:cNvSpPr>
          <p:nvPr/>
        </p:nvSpPr>
        <p:spPr bwMode="auto">
          <a:xfrm flipH="1" flipV="1">
            <a:off x="193675" y="2046288"/>
            <a:ext cx="4763" cy="2301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7" name="Line 23"/>
          <p:cNvSpPr>
            <a:spLocks noChangeShapeType="1"/>
          </p:cNvSpPr>
          <p:nvPr/>
        </p:nvSpPr>
        <p:spPr bwMode="auto">
          <a:xfrm flipV="1">
            <a:off x="155575" y="3368675"/>
            <a:ext cx="9588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8" name="Line 24"/>
          <p:cNvSpPr>
            <a:spLocks noChangeShapeType="1"/>
          </p:cNvSpPr>
          <p:nvPr/>
        </p:nvSpPr>
        <p:spPr bwMode="auto">
          <a:xfrm flipV="1">
            <a:off x="1460500" y="3368675"/>
            <a:ext cx="7683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9" name="Line 25"/>
          <p:cNvSpPr>
            <a:spLocks noChangeShapeType="1"/>
          </p:cNvSpPr>
          <p:nvPr/>
        </p:nvSpPr>
        <p:spPr bwMode="auto">
          <a:xfrm>
            <a:off x="1460500" y="3044825"/>
            <a:ext cx="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0" name="Line 26"/>
          <p:cNvSpPr>
            <a:spLocks noChangeShapeType="1"/>
          </p:cNvSpPr>
          <p:nvPr/>
        </p:nvSpPr>
        <p:spPr bwMode="auto">
          <a:xfrm>
            <a:off x="1344613" y="3197225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1" name="Line 27"/>
          <p:cNvSpPr>
            <a:spLocks noChangeShapeType="1"/>
          </p:cNvSpPr>
          <p:nvPr/>
        </p:nvSpPr>
        <p:spPr bwMode="auto">
          <a:xfrm>
            <a:off x="1230313" y="3044825"/>
            <a:ext cx="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2" name="Line 28"/>
          <p:cNvSpPr>
            <a:spLocks noChangeShapeType="1"/>
          </p:cNvSpPr>
          <p:nvPr/>
        </p:nvSpPr>
        <p:spPr bwMode="auto">
          <a:xfrm>
            <a:off x="1114425" y="3197225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3" name="Text Box 29"/>
          <p:cNvSpPr txBox="1">
            <a:spLocks noChangeArrowheads="1"/>
          </p:cNvSpPr>
          <p:nvPr/>
        </p:nvSpPr>
        <p:spPr bwMode="auto">
          <a:xfrm>
            <a:off x="1489075" y="3044825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+</a:t>
            </a:r>
          </a:p>
        </p:txBody>
      </p:sp>
      <p:sp>
        <p:nvSpPr>
          <p:cNvPr id="21534" name="Text Box 30"/>
          <p:cNvSpPr txBox="1">
            <a:spLocks noChangeArrowheads="1"/>
          </p:cNvSpPr>
          <p:nvPr/>
        </p:nvSpPr>
        <p:spPr bwMode="auto">
          <a:xfrm>
            <a:off x="792163" y="3044825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-</a:t>
            </a:r>
          </a:p>
        </p:txBody>
      </p:sp>
      <p:sp>
        <p:nvSpPr>
          <p:cNvPr id="21535" name="Oval 31"/>
          <p:cNvSpPr>
            <a:spLocks noChangeArrowheads="1"/>
          </p:cNvSpPr>
          <p:nvPr/>
        </p:nvSpPr>
        <p:spPr bwMode="auto">
          <a:xfrm>
            <a:off x="2000250" y="4695825"/>
            <a:ext cx="844550" cy="8064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1536" name="Line 32"/>
          <p:cNvSpPr>
            <a:spLocks noChangeShapeType="1"/>
          </p:cNvSpPr>
          <p:nvPr/>
        </p:nvSpPr>
        <p:spPr bwMode="auto">
          <a:xfrm>
            <a:off x="2114550" y="5272088"/>
            <a:ext cx="614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7" name="Line 33"/>
          <p:cNvSpPr>
            <a:spLocks noChangeShapeType="1"/>
          </p:cNvSpPr>
          <p:nvPr/>
        </p:nvSpPr>
        <p:spPr bwMode="auto">
          <a:xfrm flipV="1">
            <a:off x="2536825" y="4849813"/>
            <a:ext cx="192088" cy="422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8" name="Line 34"/>
          <p:cNvSpPr>
            <a:spLocks noChangeShapeType="1"/>
          </p:cNvSpPr>
          <p:nvPr/>
        </p:nvSpPr>
        <p:spPr bwMode="auto">
          <a:xfrm flipH="1" flipV="1">
            <a:off x="2114550" y="4849813"/>
            <a:ext cx="192088" cy="422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9" name="Line 35"/>
          <p:cNvSpPr>
            <a:spLocks noChangeShapeType="1"/>
          </p:cNvSpPr>
          <p:nvPr/>
        </p:nvSpPr>
        <p:spPr bwMode="auto">
          <a:xfrm>
            <a:off x="2728913" y="4848225"/>
            <a:ext cx="2305050" cy="1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40" name="Line 36"/>
          <p:cNvSpPr>
            <a:spLocks noChangeShapeType="1"/>
          </p:cNvSpPr>
          <p:nvPr/>
        </p:nvSpPr>
        <p:spPr bwMode="auto">
          <a:xfrm flipV="1">
            <a:off x="233363" y="4887913"/>
            <a:ext cx="1843087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41" name="Oval 37"/>
          <p:cNvSpPr>
            <a:spLocks noChangeArrowheads="1"/>
          </p:cNvSpPr>
          <p:nvPr/>
        </p:nvSpPr>
        <p:spPr bwMode="auto">
          <a:xfrm>
            <a:off x="193675" y="4810125"/>
            <a:ext cx="153988" cy="153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1542" name="Oval 38"/>
          <p:cNvSpPr>
            <a:spLocks noChangeArrowheads="1"/>
          </p:cNvSpPr>
          <p:nvPr/>
        </p:nvSpPr>
        <p:spPr bwMode="auto">
          <a:xfrm>
            <a:off x="2344738" y="6002338"/>
            <a:ext cx="153987" cy="153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1543" name="Text Box 39"/>
          <p:cNvSpPr txBox="1">
            <a:spLocks noChangeArrowheads="1"/>
          </p:cNvSpPr>
          <p:nvPr/>
        </p:nvSpPr>
        <p:spPr bwMode="auto">
          <a:xfrm>
            <a:off x="2230438" y="6364288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B</a:t>
            </a:r>
          </a:p>
        </p:txBody>
      </p:sp>
      <p:sp>
        <p:nvSpPr>
          <p:cNvPr id="21544" name="Line 40"/>
          <p:cNvSpPr>
            <a:spLocks noChangeShapeType="1"/>
          </p:cNvSpPr>
          <p:nvPr/>
        </p:nvSpPr>
        <p:spPr bwMode="auto">
          <a:xfrm flipV="1">
            <a:off x="233363" y="6076950"/>
            <a:ext cx="9969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45" name="Line 41"/>
          <p:cNvSpPr>
            <a:spLocks noChangeShapeType="1"/>
          </p:cNvSpPr>
          <p:nvPr/>
        </p:nvSpPr>
        <p:spPr bwMode="auto">
          <a:xfrm flipV="1">
            <a:off x="1576388" y="6076950"/>
            <a:ext cx="7683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46" name="Line 42"/>
          <p:cNvSpPr>
            <a:spLocks noChangeShapeType="1"/>
          </p:cNvSpPr>
          <p:nvPr/>
        </p:nvSpPr>
        <p:spPr bwMode="auto">
          <a:xfrm flipV="1">
            <a:off x="2422525" y="5272088"/>
            <a:ext cx="0" cy="7286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47" name="Text Box 43"/>
          <p:cNvSpPr txBox="1">
            <a:spLocks noChangeArrowheads="1"/>
          </p:cNvSpPr>
          <p:nvPr/>
        </p:nvSpPr>
        <p:spPr bwMode="auto">
          <a:xfrm>
            <a:off x="4841875" y="4368800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C</a:t>
            </a:r>
          </a:p>
        </p:txBody>
      </p:sp>
      <p:sp>
        <p:nvSpPr>
          <p:cNvPr id="21548" name="Text Box 44"/>
          <p:cNvSpPr txBox="1">
            <a:spLocks noChangeArrowheads="1"/>
          </p:cNvSpPr>
          <p:nvPr/>
        </p:nvSpPr>
        <p:spPr bwMode="auto">
          <a:xfrm>
            <a:off x="117475" y="4483100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</a:t>
            </a:r>
          </a:p>
        </p:txBody>
      </p:sp>
      <p:sp>
        <p:nvSpPr>
          <p:cNvPr id="21549" name="Line 45"/>
          <p:cNvSpPr>
            <a:spLocks noChangeShapeType="1"/>
          </p:cNvSpPr>
          <p:nvPr/>
        </p:nvSpPr>
        <p:spPr bwMode="auto">
          <a:xfrm>
            <a:off x="1576388" y="5732463"/>
            <a:ext cx="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50" name="Line 46"/>
          <p:cNvSpPr>
            <a:spLocks noChangeShapeType="1"/>
          </p:cNvSpPr>
          <p:nvPr/>
        </p:nvSpPr>
        <p:spPr bwMode="auto">
          <a:xfrm>
            <a:off x="1460500" y="5884863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51" name="Line 47"/>
          <p:cNvSpPr>
            <a:spLocks noChangeShapeType="1"/>
          </p:cNvSpPr>
          <p:nvPr/>
        </p:nvSpPr>
        <p:spPr bwMode="auto">
          <a:xfrm>
            <a:off x="1346200" y="5732463"/>
            <a:ext cx="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52" name="Line 48"/>
          <p:cNvSpPr>
            <a:spLocks noChangeShapeType="1"/>
          </p:cNvSpPr>
          <p:nvPr/>
        </p:nvSpPr>
        <p:spPr bwMode="auto">
          <a:xfrm>
            <a:off x="1230313" y="5884863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53" name="Text Box 49"/>
          <p:cNvSpPr txBox="1">
            <a:spLocks noChangeArrowheads="1"/>
          </p:cNvSpPr>
          <p:nvPr/>
        </p:nvSpPr>
        <p:spPr bwMode="auto">
          <a:xfrm>
            <a:off x="1604963" y="5749925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+</a:t>
            </a:r>
          </a:p>
        </p:txBody>
      </p:sp>
      <p:sp>
        <p:nvSpPr>
          <p:cNvPr id="21554" name="Text Box 50"/>
          <p:cNvSpPr txBox="1">
            <a:spLocks noChangeArrowheads="1"/>
          </p:cNvSpPr>
          <p:nvPr/>
        </p:nvSpPr>
        <p:spPr bwMode="auto">
          <a:xfrm>
            <a:off x="847725" y="5749925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-</a:t>
            </a:r>
          </a:p>
        </p:txBody>
      </p:sp>
      <p:sp>
        <p:nvSpPr>
          <p:cNvPr id="21555" name="Text Box 51"/>
          <p:cNvSpPr txBox="1">
            <a:spLocks noChangeArrowheads="1"/>
          </p:cNvSpPr>
          <p:nvPr/>
        </p:nvSpPr>
        <p:spPr bwMode="auto">
          <a:xfrm>
            <a:off x="869950" y="3600450"/>
            <a:ext cx="53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VEE</a:t>
            </a:r>
          </a:p>
        </p:txBody>
      </p:sp>
      <p:sp>
        <p:nvSpPr>
          <p:cNvPr id="21556" name="Text Box 52"/>
          <p:cNvSpPr txBox="1">
            <a:spLocks noChangeArrowheads="1"/>
          </p:cNvSpPr>
          <p:nvPr/>
        </p:nvSpPr>
        <p:spPr bwMode="auto">
          <a:xfrm>
            <a:off x="1039813" y="6442075"/>
            <a:ext cx="53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VEE</a:t>
            </a:r>
          </a:p>
        </p:txBody>
      </p:sp>
      <p:sp>
        <p:nvSpPr>
          <p:cNvPr id="21557" name="Line 53"/>
          <p:cNvSpPr>
            <a:spLocks noChangeShapeType="1"/>
          </p:cNvSpPr>
          <p:nvPr/>
        </p:nvSpPr>
        <p:spPr bwMode="auto">
          <a:xfrm>
            <a:off x="155575" y="2276475"/>
            <a:ext cx="192088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58" name="Line 54"/>
          <p:cNvSpPr>
            <a:spLocks noChangeShapeType="1"/>
          </p:cNvSpPr>
          <p:nvPr/>
        </p:nvSpPr>
        <p:spPr bwMode="auto">
          <a:xfrm>
            <a:off x="77788" y="2468563"/>
            <a:ext cx="269875" cy="1539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59" name="Line 55"/>
          <p:cNvSpPr>
            <a:spLocks noChangeShapeType="1"/>
          </p:cNvSpPr>
          <p:nvPr/>
        </p:nvSpPr>
        <p:spPr bwMode="auto">
          <a:xfrm>
            <a:off x="77788" y="2736850"/>
            <a:ext cx="269875" cy="1539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60" name="Line 56"/>
          <p:cNvSpPr>
            <a:spLocks noChangeShapeType="1"/>
          </p:cNvSpPr>
          <p:nvPr/>
        </p:nvSpPr>
        <p:spPr bwMode="auto">
          <a:xfrm flipV="1">
            <a:off x="77788" y="2352675"/>
            <a:ext cx="269875" cy="115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61" name="Line 57"/>
          <p:cNvSpPr>
            <a:spLocks noChangeShapeType="1"/>
          </p:cNvSpPr>
          <p:nvPr/>
        </p:nvSpPr>
        <p:spPr bwMode="auto">
          <a:xfrm flipV="1">
            <a:off x="77788" y="2620963"/>
            <a:ext cx="269875" cy="1158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62" name="Line 58"/>
          <p:cNvSpPr>
            <a:spLocks noChangeShapeType="1"/>
          </p:cNvSpPr>
          <p:nvPr/>
        </p:nvSpPr>
        <p:spPr bwMode="auto">
          <a:xfrm flipV="1">
            <a:off x="193675" y="2889250"/>
            <a:ext cx="153988" cy="396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63" name="Line 59"/>
          <p:cNvSpPr>
            <a:spLocks noChangeShapeType="1"/>
          </p:cNvSpPr>
          <p:nvPr/>
        </p:nvSpPr>
        <p:spPr bwMode="auto">
          <a:xfrm flipH="1" flipV="1">
            <a:off x="193675" y="2890838"/>
            <a:ext cx="4763" cy="5381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64" name="Line 60"/>
          <p:cNvSpPr>
            <a:spLocks noChangeShapeType="1"/>
          </p:cNvSpPr>
          <p:nvPr/>
        </p:nvSpPr>
        <p:spPr bwMode="auto">
          <a:xfrm flipV="1">
            <a:off x="271463" y="4965700"/>
            <a:ext cx="0" cy="1539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65" name="Line 61"/>
          <p:cNvSpPr>
            <a:spLocks noChangeShapeType="1"/>
          </p:cNvSpPr>
          <p:nvPr/>
        </p:nvSpPr>
        <p:spPr bwMode="auto">
          <a:xfrm>
            <a:off x="233363" y="5081588"/>
            <a:ext cx="192087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66" name="Line 62"/>
          <p:cNvSpPr>
            <a:spLocks noChangeShapeType="1"/>
          </p:cNvSpPr>
          <p:nvPr/>
        </p:nvSpPr>
        <p:spPr bwMode="auto">
          <a:xfrm>
            <a:off x="155575" y="5273675"/>
            <a:ext cx="269875" cy="1539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67" name="Line 63"/>
          <p:cNvSpPr>
            <a:spLocks noChangeShapeType="1"/>
          </p:cNvSpPr>
          <p:nvPr/>
        </p:nvSpPr>
        <p:spPr bwMode="auto">
          <a:xfrm>
            <a:off x="155575" y="5541963"/>
            <a:ext cx="269875" cy="1539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68" name="Line 64"/>
          <p:cNvSpPr>
            <a:spLocks noChangeShapeType="1"/>
          </p:cNvSpPr>
          <p:nvPr/>
        </p:nvSpPr>
        <p:spPr bwMode="auto">
          <a:xfrm flipV="1">
            <a:off x="155575" y="5157788"/>
            <a:ext cx="269875" cy="1158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69" name="Line 65"/>
          <p:cNvSpPr>
            <a:spLocks noChangeShapeType="1"/>
          </p:cNvSpPr>
          <p:nvPr/>
        </p:nvSpPr>
        <p:spPr bwMode="auto">
          <a:xfrm flipV="1">
            <a:off x="155575" y="5426075"/>
            <a:ext cx="269875" cy="115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70" name="Line 66"/>
          <p:cNvSpPr>
            <a:spLocks noChangeShapeType="1"/>
          </p:cNvSpPr>
          <p:nvPr/>
        </p:nvSpPr>
        <p:spPr bwMode="auto">
          <a:xfrm flipV="1">
            <a:off x="271463" y="5694363"/>
            <a:ext cx="153987" cy="396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71" name="Line 67"/>
          <p:cNvSpPr>
            <a:spLocks noChangeShapeType="1"/>
          </p:cNvSpPr>
          <p:nvPr/>
        </p:nvSpPr>
        <p:spPr bwMode="auto">
          <a:xfrm flipV="1">
            <a:off x="271463" y="5695950"/>
            <a:ext cx="0" cy="382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72" name="Text Box 68"/>
          <p:cNvSpPr txBox="1">
            <a:spLocks noChangeArrowheads="1"/>
          </p:cNvSpPr>
          <p:nvPr/>
        </p:nvSpPr>
        <p:spPr bwMode="auto">
          <a:xfrm>
            <a:off x="400050" y="5195888"/>
            <a:ext cx="450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RE</a:t>
            </a:r>
          </a:p>
        </p:txBody>
      </p:sp>
      <p:sp>
        <p:nvSpPr>
          <p:cNvPr id="21573" name="Text Box 69"/>
          <p:cNvSpPr txBox="1">
            <a:spLocks noChangeArrowheads="1"/>
          </p:cNvSpPr>
          <p:nvPr/>
        </p:nvSpPr>
        <p:spPr bwMode="auto">
          <a:xfrm>
            <a:off x="285750" y="2314575"/>
            <a:ext cx="450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RE</a:t>
            </a:r>
          </a:p>
        </p:txBody>
      </p:sp>
      <p:sp>
        <p:nvSpPr>
          <p:cNvPr id="21574" name="Line 70"/>
          <p:cNvSpPr>
            <a:spLocks noChangeShapeType="1"/>
          </p:cNvSpPr>
          <p:nvPr/>
        </p:nvSpPr>
        <p:spPr bwMode="auto">
          <a:xfrm flipH="1">
            <a:off x="428625" y="1816100"/>
            <a:ext cx="4603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75" name="Text Box 71"/>
          <p:cNvSpPr txBox="1">
            <a:spLocks noChangeArrowheads="1"/>
          </p:cNvSpPr>
          <p:nvPr/>
        </p:nvSpPr>
        <p:spPr bwMode="auto">
          <a:xfrm>
            <a:off x="231775" y="1214438"/>
            <a:ext cx="8937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>
                <a:solidFill>
                  <a:srgbClr val="FF0000"/>
                </a:solidFill>
              </a:rPr>
              <a:t>Constant</a:t>
            </a:r>
          </a:p>
          <a:p>
            <a:r>
              <a:rPr lang="en-US" sz="1400">
                <a:solidFill>
                  <a:srgbClr val="FF0000"/>
                </a:solidFill>
              </a:rPr>
              <a:t>IE=3mA</a:t>
            </a:r>
          </a:p>
        </p:txBody>
      </p:sp>
      <p:sp>
        <p:nvSpPr>
          <p:cNvPr id="21576" name="Line 72"/>
          <p:cNvSpPr>
            <a:spLocks noChangeShapeType="1"/>
          </p:cNvSpPr>
          <p:nvPr/>
        </p:nvSpPr>
        <p:spPr bwMode="auto">
          <a:xfrm flipH="1">
            <a:off x="1120775" y="4735513"/>
            <a:ext cx="4603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77" name="Text Box 73"/>
          <p:cNvSpPr txBox="1">
            <a:spLocks noChangeArrowheads="1"/>
          </p:cNvSpPr>
          <p:nvPr/>
        </p:nvSpPr>
        <p:spPr bwMode="auto">
          <a:xfrm>
            <a:off x="582613" y="4379913"/>
            <a:ext cx="1568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>
                <a:solidFill>
                  <a:srgbClr val="FF0000"/>
                </a:solidFill>
              </a:rPr>
              <a:t>Constant IE=3mA </a:t>
            </a:r>
          </a:p>
        </p:txBody>
      </p:sp>
      <p:sp>
        <p:nvSpPr>
          <p:cNvPr id="21578" name="Text Box 74"/>
          <p:cNvSpPr txBox="1">
            <a:spLocks noChangeArrowheads="1"/>
          </p:cNvSpPr>
          <p:nvPr/>
        </p:nvSpPr>
        <p:spPr bwMode="auto">
          <a:xfrm>
            <a:off x="1543050" y="5175250"/>
            <a:ext cx="547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VEB</a:t>
            </a:r>
          </a:p>
        </p:txBody>
      </p:sp>
      <p:sp>
        <p:nvSpPr>
          <p:cNvPr id="21579" name="Text Box 75"/>
          <p:cNvSpPr txBox="1">
            <a:spLocks noChangeArrowheads="1"/>
          </p:cNvSpPr>
          <p:nvPr/>
        </p:nvSpPr>
        <p:spPr bwMode="auto">
          <a:xfrm>
            <a:off x="1628775" y="4867275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21580" name="Text Box 76"/>
          <p:cNvSpPr txBox="1">
            <a:spLocks noChangeArrowheads="1"/>
          </p:cNvSpPr>
          <p:nvPr/>
        </p:nvSpPr>
        <p:spPr bwMode="auto">
          <a:xfrm>
            <a:off x="1955800" y="5502275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21581" name="Line 77"/>
          <p:cNvSpPr>
            <a:spLocks noChangeShapeType="1"/>
          </p:cNvSpPr>
          <p:nvPr/>
        </p:nvSpPr>
        <p:spPr bwMode="auto">
          <a:xfrm flipV="1">
            <a:off x="2309813" y="2430463"/>
            <a:ext cx="0" cy="8826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82" name="Text Box 78"/>
          <p:cNvSpPr txBox="1">
            <a:spLocks noChangeArrowheads="1"/>
          </p:cNvSpPr>
          <p:nvPr/>
        </p:nvSpPr>
        <p:spPr bwMode="auto">
          <a:xfrm>
            <a:off x="3424238" y="2354263"/>
            <a:ext cx="555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VCB</a:t>
            </a:r>
          </a:p>
        </p:txBody>
      </p:sp>
      <p:sp>
        <p:nvSpPr>
          <p:cNvPr id="21583" name="Text Box 79"/>
          <p:cNvSpPr txBox="1">
            <a:spLocks noChangeArrowheads="1"/>
          </p:cNvSpPr>
          <p:nvPr/>
        </p:nvSpPr>
        <p:spPr bwMode="auto">
          <a:xfrm>
            <a:off x="4152900" y="2084388"/>
            <a:ext cx="317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+</a:t>
            </a:r>
          </a:p>
        </p:txBody>
      </p:sp>
      <p:sp>
        <p:nvSpPr>
          <p:cNvPr id="21584" name="Oval 80"/>
          <p:cNvSpPr>
            <a:spLocks noChangeArrowheads="1"/>
          </p:cNvSpPr>
          <p:nvPr/>
        </p:nvSpPr>
        <p:spPr bwMode="auto">
          <a:xfrm>
            <a:off x="4805363" y="1892300"/>
            <a:ext cx="153987" cy="153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1585" name="Line 81"/>
          <p:cNvSpPr>
            <a:spLocks noChangeShapeType="1"/>
          </p:cNvSpPr>
          <p:nvPr/>
        </p:nvSpPr>
        <p:spPr bwMode="auto">
          <a:xfrm flipH="1" flipV="1">
            <a:off x="4883150" y="2046288"/>
            <a:ext cx="4763" cy="2301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86" name="Line 82"/>
          <p:cNvSpPr>
            <a:spLocks noChangeShapeType="1"/>
          </p:cNvSpPr>
          <p:nvPr/>
        </p:nvSpPr>
        <p:spPr bwMode="auto">
          <a:xfrm>
            <a:off x="4845050" y="2276475"/>
            <a:ext cx="192088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87" name="Line 83"/>
          <p:cNvSpPr>
            <a:spLocks noChangeShapeType="1"/>
          </p:cNvSpPr>
          <p:nvPr/>
        </p:nvSpPr>
        <p:spPr bwMode="auto">
          <a:xfrm>
            <a:off x="4767263" y="2468563"/>
            <a:ext cx="269875" cy="1539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88" name="Line 84"/>
          <p:cNvSpPr>
            <a:spLocks noChangeShapeType="1"/>
          </p:cNvSpPr>
          <p:nvPr/>
        </p:nvSpPr>
        <p:spPr bwMode="auto">
          <a:xfrm>
            <a:off x="4767263" y="2736850"/>
            <a:ext cx="269875" cy="1539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89" name="Line 85"/>
          <p:cNvSpPr>
            <a:spLocks noChangeShapeType="1"/>
          </p:cNvSpPr>
          <p:nvPr/>
        </p:nvSpPr>
        <p:spPr bwMode="auto">
          <a:xfrm flipV="1">
            <a:off x="4767263" y="2352675"/>
            <a:ext cx="269875" cy="115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90" name="Line 86"/>
          <p:cNvSpPr>
            <a:spLocks noChangeShapeType="1"/>
          </p:cNvSpPr>
          <p:nvPr/>
        </p:nvSpPr>
        <p:spPr bwMode="auto">
          <a:xfrm flipV="1">
            <a:off x="4767263" y="2620963"/>
            <a:ext cx="269875" cy="1158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91" name="Line 87"/>
          <p:cNvSpPr>
            <a:spLocks noChangeShapeType="1"/>
          </p:cNvSpPr>
          <p:nvPr/>
        </p:nvSpPr>
        <p:spPr bwMode="auto">
          <a:xfrm flipV="1">
            <a:off x="4883150" y="2889250"/>
            <a:ext cx="153988" cy="396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92" name="Line 88"/>
          <p:cNvSpPr>
            <a:spLocks noChangeShapeType="1"/>
          </p:cNvSpPr>
          <p:nvPr/>
        </p:nvSpPr>
        <p:spPr bwMode="auto">
          <a:xfrm flipH="1" flipV="1">
            <a:off x="4883150" y="2890838"/>
            <a:ext cx="4763" cy="5381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93" name="Text Box 89"/>
          <p:cNvSpPr txBox="1">
            <a:spLocks noChangeArrowheads="1"/>
          </p:cNvSpPr>
          <p:nvPr/>
        </p:nvSpPr>
        <p:spPr bwMode="auto">
          <a:xfrm>
            <a:off x="4394200" y="2314575"/>
            <a:ext cx="4587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RC</a:t>
            </a:r>
          </a:p>
        </p:txBody>
      </p:sp>
      <p:sp>
        <p:nvSpPr>
          <p:cNvPr id="21594" name="Oval 90"/>
          <p:cNvSpPr>
            <a:spLocks noChangeArrowheads="1"/>
          </p:cNvSpPr>
          <p:nvPr/>
        </p:nvSpPr>
        <p:spPr bwMode="auto">
          <a:xfrm>
            <a:off x="4806950" y="3292475"/>
            <a:ext cx="153988" cy="153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1595" name="Line 91"/>
          <p:cNvSpPr>
            <a:spLocks noChangeShapeType="1"/>
          </p:cNvSpPr>
          <p:nvPr/>
        </p:nvSpPr>
        <p:spPr bwMode="auto">
          <a:xfrm flipV="1">
            <a:off x="2387600" y="3368675"/>
            <a:ext cx="9588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96" name="Line 92"/>
          <p:cNvSpPr>
            <a:spLocks noChangeShapeType="1"/>
          </p:cNvSpPr>
          <p:nvPr/>
        </p:nvSpPr>
        <p:spPr bwMode="auto">
          <a:xfrm flipV="1">
            <a:off x="3692525" y="3352800"/>
            <a:ext cx="1114425" cy="1587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97" name="Line 93"/>
          <p:cNvSpPr>
            <a:spLocks noChangeShapeType="1"/>
          </p:cNvSpPr>
          <p:nvPr/>
        </p:nvSpPr>
        <p:spPr bwMode="auto">
          <a:xfrm>
            <a:off x="3692525" y="3044825"/>
            <a:ext cx="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98" name="Line 94"/>
          <p:cNvSpPr>
            <a:spLocks noChangeShapeType="1"/>
          </p:cNvSpPr>
          <p:nvPr/>
        </p:nvSpPr>
        <p:spPr bwMode="auto">
          <a:xfrm>
            <a:off x="3576638" y="3197225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99" name="Line 95"/>
          <p:cNvSpPr>
            <a:spLocks noChangeShapeType="1"/>
          </p:cNvSpPr>
          <p:nvPr/>
        </p:nvSpPr>
        <p:spPr bwMode="auto">
          <a:xfrm>
            <a:off x="3462338" y="3044825"/>
            <a:ext cx="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00" name="Line 96"/>
          <p:cNvSpPr>
            <a:spLocks noChangeShapeType="1"/>
          </p:cNvSpPr>
          <p:nvPr/>
        </p:nvSpPr>
        <p:spPr bwMode="auto">
          <a:xfrm>
            <a:off x="3346450" y="3197225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01" name="Text Box 97"/>
          <p:cNvSpPr txBox="1">
            <a:spLocks noChangeArrowheads="1"/>
          </p:cNvSpPr>
          <p:nvPr/>
        </p:nvSpPr>
        <p:spPr bwMode="auto">
          <a:xfrm>
            <a:off x="3721100" y="3044825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+</a:t>
            </a:r>
          </a:p>
        </p:txBody>
      </p:sp>
      <p:sp>
        <p:nvSpPr>
          <p:cNvPr id="21602" name="Text Box 98"/>
          <p:cNvSpPr txBox="1">
            <a:spLocks noChangeArrowheads="1"/>
          </p:cNvSpPr>
          <p:nvPr/>
        </p:nvSpPr>
        <p:spPr bwMode="auto">
          <a:xfrm>
            <a:off x="3024188" y="3044825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-</a:t>
            </a:r>
          </a:p>
        </p:txBody>
      </p:sp>
      <p:sp>
        <p:nvSpPr>
          <p:cNvPr id="21603" name="Text Box 99"/>
          <p:cNvSpPr txBox="1">
            <a:spLocks noChangeArrowheads="1"/>
          </p:cNvSpPr>
          <p:nvPr/>
        </p:nvSpPr>
        <p:spPr bwMode="auto">
          <a:xfrm>
            <a:off x="3344863" y="3676650"/>
            <a:ext cx="555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VCC</a:t>
            </a:r>
          </a:p>
        </p:txBody>
      </p:sp>
      <p:sp>
        <p:nvSpPr>
          <p:cNvPr id="21604" name="Text Box 100"/>
          <p:cNvSpPr txBox="1">
            <a:spLocks noChangeArrowheads="1"/>
          </p:cNvSpPr>
          <p:nvPr/>
        </p:nvSpPr>
        <p:spPr bwMode="auto">
          <a:xfrm>
            <a:off x="4059238" y="1563688"/>
            <a:ext cx="3571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IC</a:t>
            </a:r>
          </a:p>
        </p:txBody>
      </p:sp>
      <p:sp>
        <p:nvSpPr>
          <p:cNvPr id="21605" name="Line 101"/>
          <p:cNvSpPr>
            <a:spLocks noChangeShapeType="1"/>
          </p:cNvSpPr>
          <p:nvPr/>
        </p:nvSpPr>
        <p:spPr bwMode="auto">
          <a:xfrm flipH="1">
            <a:off x="4346575" y="1816100"/>
            <a:ext cx="4603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06" name="Line 102"/>
          <p:cNvSpPr>
            <a:spLocks noChangeShapeType="1"/>
          </p:cNvSpPr>
          <p:nvPr/>
        </p:nvSpPr>
        <p:spPr bwMode="auto">
          <a:xfrm flipH="1" flipV="1">
            <a:off x="4997450" y="5618163"/>
            <a:ext cx="4763" cy="5381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07" name="Line 103"/>
          <p:cNvSpPr>
            <a:spLocks noChangeShapeType="1"/>
          </p:cNvSpPr>
          <p:nvPr/>
        </p:nvSpPr>
        <p:spPr bwMode="auto">
          <a:xfrm flipV="1">
            <a:off x="2501900" y="6096000"/>
            <a:ext cx="9588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08" name="Line 104"/>
          <p:cNvSpPr>
            <a:spLocks noChangeShapeType="1"/>
          </p:cNvSpPr>
          <p:nvPr/>
        </p:nvSpPr>
        <p:spPr bwMode="auto">
          <a:xfrm flipV="1">
            <a:off x="3806825" y="6080125"/>
            <a:ext cx="1114425" cy="1587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09" name="Line 105"/>
          <p:cNvSpPr>
            <a:spLocks noChangeShapeType="1"/>
          </p:cNvSpPr>
          <p:nvPr/>
        </p:nvSpPr>
        <p:spPr bwMode="auto">
          <a:xfrm>
            <a:off x="3806825" y="5772150"/>
            <a:ext cx="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10" name="Line 106"/>
          <p:cNvSpPr>
            <a:spLocks noChangeShapeType="1"/>
          </p:cNvSpPr>
          <p:nvPr/>
        </p:nvSpPr>
        <p:spPr bwMode="auto">
          <a:xfrm>
            <a:off x="3690938" y="5924550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11" name="Line 107"/>
          <p:cNvSpPr>
            <a:spLocks noChangeShapeType="1"/>
          </p:cNvSpPr>
          <p:nvPr/>
        </p:nvSpPr>
        <p:spPr bwMode="auto">
          <a:xfrm>
            <a:off x="3576638" y="5772150"/>
            <a:ext cx="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12" name="Line 108"/>
          <p:cNvSpPr>
            <a:spLocks noChangeShapeType="1"/>
          </p:cNvSpPr>
          <p:nvPr/>
        </p:nvSpPr>
        <p:spPr bwMode="auto">
          <a:xfrm>
            <a:off x="3460750" y="5924550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13" name="Text Box 109"/>
          <p:cNvSpPr txBox="1">
            <a:spLocks noChangeArrowheads="1"/>
          </p:cNvSpPr>
          <p:nvPr/>
        </p:nvSpPr>
        <p:spPr bwMode="auto">
          <a:xfrm>
            <a:off x="3835400" y="5772150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+</a:t>
            </a:r>
          </a:p>
        </p:txBody>
      </p:sp>
      <p:sp>
        <p:nvSpPr>
          <p:cNvPr id="21614" name="Text Box 110"/>
          <p:cNvSpPr txBox="1">
            <a:spLocks noChangeArrowheads="1"/>
          </p:cNvSpPr>
          <p:nvPr/>
        </p:nvSpPr>
        <p:spPr bwMode="auto">
          <a:xfrm>
            <a:off x="3138488" y="5772150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-</a:t>
            </a:r>
          </a:p>
        </p:txBody>
      </p:sp>
      <p:sp>
        <p:nvSpPr>
          <p:cNvPr id="21615" name="Text Box 111"/>
          <p:cNvSpPr txBox="1">
            <a:spLocks noChangeArrowheads="1"/>
          </p:cNvSpPr>
          <p:nvPr/>
        </p:nvSpPr>
        <p:spPr bwMode="auto">
          <a:xfrm>
            <a:off x="3459163" y="6403975"/>
            <a:ext cx="555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VCC</a:t>
            </a:r>
          </a:p>
        </p:txBody>
      </p:sp>
      <p:sp>
        <p:nvSpPr>
          <p:cNvPr id="21616" name="Oval 112"/>
          <p:cNvSpPr>
            <a:spLocks noChangeArrowheads="1"/>
          </p:cNvSpPr>
          <p:nvPr/>
        </p:nvSpPr>
        <p:spPr bwMode="auto">
          <a:xfrm>
            <a:off x="4921250" y="6002338"/>
            <a:ext cx="153988" cy="153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1617" name="Line 113"/>
          <p:cNvSpPr>
            <a:spLocks noChangeShapeType="1"/>
          </p:cNvSpPr>
          <p:nvPr/>
        </p:nvSpPr>
        <p:spPr bwMode="auto">
          <a:xfrm flipH="1" flipV="1">
            <a:off x="4987925" y="4756150"/>
            <a:ext cx="4763" cy="2301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18" name="Line 114"/>
          <p:cNvSpPr>
            <a:spLocks noChangeShapeType="1"/>
          </p:cNvSpPr>
          <p:nvPr/>
        </p:nvSpPr>
        <p:spPr bwMode="auto">
          <a:xfrm>
            <a:off x="4949825" y="4986338"/>
            <a:ext cx="192088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19" name="Line 115"/>
          <p:cNvSpPr>
            <a:spLocks noChangeShapeType="1"/>
          </p:cNvSpPr>
          <p:nvPr/>
        </p:nvSpPr>
        <p:spPr bwMode="auto">
          <a:xfrm>
            <a:off x="4872038" y="5178425"/>
            <a:ext cx="269875" cy="1539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20" name="Line 116"/>
          <p:cNvSpPr>
            <a:spLocks noChangeShapeType="1"/>
          </p:cNvSpPr>
          <p:nvPr/>
        </p:nvSpPr>
        <p:spPr bwMode="auto">
          <a:xfrm>
            <a:off x="4872038" y="5446713"/>
            <a:ext cx="269875" cy="1539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21" name="Line 117"/>
          <p:cNvSpPr>
            <a:spLocks noChangeShapeType="1"/>
          </p:cNvSpPr>
          <p:nvPr/>
        </p:nvSpPr>
        <p:spPr bwMode="auto">
          <a:xfrm flipV="1">
            <a:off x="4872038" y="5062538"/>
            <a:ext cx="269875" cy="1158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22" name="Line 118"/>
          <p:cNvSpPr>
            <a:spLocks noChangeShapeType="1"/>
          </p:cNvSpPr>
          <p:nvPr/>
        </p:nvSpPr>
        <p:spPr bwMode="auto">
          <a:xfrm flipV="1">
            <a:off x="4872038" y="5330825"/>
            <a:ext cx="269875" cy="115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23" name="Line 119"/>
          <p:cNvSpPr>
            <a:spLocks noChangeShapeType="1"/>
          </p:cNvSpPr>
          <p:nvPr/>
        </p:nvSpPr>
        <p:spPr bwMode="auto">
          <a:xfrm flipV="1">
            <a:off x="4987925" y="5599113"/>
            <a:ext cx="153988" cy="396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24" name="Line 120"/>
          <p:cNvSpPr>
            <a:spLocks noChangeShapeType="1"/>
          </p:cNvSpPr>
          <p:nvPr/>
        </p:nvSpPr>
        <p:spPr bwMode="auto">
          <a:xfrm flipH="1" flipV="1">
            <a:off x="4987925" y="5600700"/>
            <a:ext cx="4763" cy="538163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25" name="Text Box 121"/>
          <p:cNvSpPr txBox="1">
            <a:spLocks noChangeArrowheads="1"/>
          </p:cNvSpPr>
          <p:nvPr/>
        </p:nvSpPr>
        <p:spPr bwMode="auto">
          <a:xfrm>
            <a:off x="4498975" y="5024438"/>
            <a:ext cx="4587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RC</a:t>
            </a:r>
          </a:p>
        </p:txBody>
      </p:sp>
      <p:sp>
        <p:nvSpPr>
          <p:cNvPr id="21626" name="Oval 122"/>
          <p:cNvSpPr>
            <a:spLocks noChangeArrowheads="1"/>
          </p:cNvSpPr>
          <p:nvPr/>
        </p:nvSpPr>
        <p:spPr bwMode="auto">
          <a:xfrm>
            <a:off x="4911725" y="6002338"/>
            <a:ext cx="153988" cy="153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1627" name="Oval 123"/>
          <p:cNvSpPr>
            <a:spLocks noChangeArrowheads="1"/>
          </p:cNvSpPr>
          <p:nvPr/>
        </p:nvSpPr>
        <p:spPr bwMode="auto">
          <a:xfrm>
            <a:off x="4918075" y="4772025"/>
            <a:ext cx="153988" cy="153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1628" name="Text Box 124"/>
          <p:cNvSpPr txBox="1">
            <a:spLocks noChangeArrowheads="1"/>
          </p:cNvSpPr>
          <p:nvPr/>
        </p:nvSpPr>
        <p:spPr bwMode="auto">
          <a:xfrm>
            <a:off x="3730625" y="4351338"/>
            <a:ext cx="3571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IC</a:t>
            </a:r>
          </a:p>
        </p:txBody>
      </p:sp>
      <p:sp>
        <p:nvSpPr>
          <p:cNvPr id="21629" name="Line 125"/>
          <p:cNvSpPr>
            <a:spLocks noChangeShapeType="1"/>
          </p:cNvSpPr>
          <p:nvPr/>
        </p:nvSpPr>
        <p:spPr bwMode="auto">
          <a:xfrm flipH="1">
            <a:off x="4017963" y="4603750"/>
            <a:ext cx="4603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30" name="Text Box 126"/>
          <p:cNvSpPr txBox="1">
            <a:spLocks noChangeArrowheads="1"/>
          </p:cNvSpPr>
          <p:nvPr/>
        </p:nvSpPr>
        <p:spPr bwMode="auto">
          <a:xfrm>
            <a:off x="2809875" y="5135563"/>
            <a:ext cx="555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VCB</a:t>
            </a:r>
          </a:p>
        </p:txBody>
      </p:sp>
      <p:sp>
        <p:nvSpPr>
          <p:cNvPr id="21631" name="Text Box 127"/>
          <p:cNvSpPr txBox="1">
            <a:spLocks noChangeArrowheads="1"/>
          </p:cNvSpPr>
          <p:nvPr/>
        </p:nvSpPr>
        <p:spPr bwMode="auto">
          <a:xfrm>
            <a:off x="3040063" y="4849813"/>
            <a:ext cx="317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+</a:t>
            </a:r>
          </a:p>
        </p:txBody>
      </p:sp>
      <p:sp>
        <p:nvSpPr>
          <p:cNvPr id="21632" name="Text Box 128"/>
          <p:cNvSpPr txBox="1">
            <a:spLocks noChangeArrowheads="1"/>
          </p:cNvSpPr>
          <p:nvPr/>
        </p:nvSpPr>
        <p:spPr bwMode="auto">
          <a:xfrm>
            <a:off x="2579688" y="5426075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FF00"/>
                </a:solidFill>
              </a:rPr>
              <a:t>-</a:t>
            </a:r>
          </a:p>
        </p:txBody>
      </p:sp>
      <p:sp>
        <p:nvSpPr>
          <p:cNvPr id="21633" name="Line 129"/>
          <p:cNvSpPr>
            <a:spLocks noChangeShapeType="1"/>
          </p:cNvSpPr>
          <p:nvPr/>
        </p:nvSpPr>
        <p:spPr bwMode="auto">
          <a:xfrm>
            <a:off x="5568950" y="3775075"/>
            <a:ext cx="3575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34" name="Line 130"/>
          <p:cNvSpPr>
            <a:spLocks noChangeShapeType="1"/>
          </p:cNvSpPr>
          <p:nvPr/>
        </p:nvSpPr>
        <p:spPr bwMode="auto">
          <a:xfrm flipV="1">
            <a:off x="6492875" y="1277938"/>
            <a:ext cx="0" cy="299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563" name="Text Box 131"/>
          <p:cNvSpPr txBox="1">
            <a:spLocks noChangeArrowheads="1"/>
          </p:cNvSpPr>
          <p:nvPr/>
        </p:nvSpPr>
        <p:spPr bwMode="auto">
          <a:xfrm>
            <a:off x="8701088" y="3830638"/>
            <a:ext cx="5556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VCB</a:t>
            </a:r>
          </a:p>
        </p:txBody>
      </p:sp>
      <p:sp>
        <p:nvSpPr>
          <p:cNvPr id="146564" name="Text Box 132"/>
          <p:cNvSpPr txBox="1">
            <a:spLocks noChangeArrowheads="1"/>
          </p:cNvSpPr>
          <p:nvPr/>
        </p:nvSpPr>
        <p:spPr bwMode="auto">
          <a:xfrm>
            <a:off x="5954713" y="1009650"/>
            <a:ext cx="5302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+mn-cs"/>
              </a:rPr>
              <a:t>IC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+mn-cs"/>
              </a:rPr>
              <a:t>(mA)</a:t>
            </a:r>
          </a:p>
        </p:txBody>
      </p:sp>
      <p:sp>
        <p:nvSpPr>
          <p:cNvPr id="21637" name="Text Box 133"/>
          <p:cNvSpPr txBox="1">
            <a:spLocks noChangeArrowheads="1"/>
          </p:cNvSpPr>
          <p:nvPr/>
        </p:nvSpPr>
        <p:spPr bwMode="auto">
          <a:xfrm>
            <a:off x="6453188" y="37528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0</a:t>
            </a:r>
          </a:p>
        </p:txBody>
      </p:sp>
      <p:sp>
        <p:nvSpPr>
          <p:cNvPr id="21638" name="Text Box 134"/>
          <p:cNvSpPr txBox="1">
            <a:spLocks noChangeArrowheads="1"/>
          </p:cNvSpPr>
          <p:nvPr/>
        </p:nvSpPr>
        <p:spPr bwMode="auto">
          <a:xfrm>
            <a:off x="7256463" y="3775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5</a:t>
            </a:r>
          </a:p>
        </p:txBody>
      </p:sp>
      <p:sp>
        <p:nvSpPr>
          <p:cNvPr id="21639" name="Text Box 135"/>
          <p:cNvSpPr txBox="1">
            <a:spLocks noChangeArrowheads="1"/>
          </p:cNvSpPr>
          <p:nvPr/>
        </p:nvSpPr>
        <p:spPr bwMode="auto">
          <a:xfrm>
            <a:off x="8220075" y="3775075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10</a:t>
            </a:r>
          </a:p>
        </p:txBody>
      </p:sp>
      <p:sp>
        <p:nvSpPr>
          <p:cNvPr id="21640" name="Text Box 136"/>
          <p:cNvSpPr txBox="1">
            <a:spLocks noChangeArrowheads="1"/>
          </p:cNvSpPr>
          <p:nvPr/>
        </p:nvSpPr>
        <p:spPr bwMode="auto">
          <a:xfrm>
            <a:off x="5570538" y="3792538"/>
            <a:ext cx="38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-1</a:t>
            </a:r>
          </a:p>
        </p:txBody>
      </p:sp>
      <p:sp>
        <p:nvSpPr>
          <p:cNvPr id="21641" name="Line 137"/>
          <p:cNvSpPr>
            <a:spLocks noChangeShapeType="1"/>
          </p:cNvSpPr>
          <p:nvPr/>
        </p:nvSpPr>
        <p:spPr bwMode="auto">
          <a:xfrm flipV="1">
            <a:off x="6492875" y="3543300"/>
            <a:ext cx="2111375" cy="115888"/>
          </a:xfrm>
          <a:prstGeom prst="line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42" name="Text Box 138"/>
          <p:cNvSpPr txBox="1">
            <a:spLocks noChangeArrowheads="1"/>
          </p:cNvSpPr>
          <p:nvPr/>
        </p:nvSpPr>
        <p:spPr bwMode="auto">
          <a:xfrm>
            <a:off x="8528050" y="3354388"/>
            <a:ext cx="592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>
                <a:solidFill>
                  <a:srgbClr val="FF0000"/>
                </a:solidFill>
              </a:rPr>
              <a:t> IE=0 </a:t>
            </a:r>
          </a:p>
        </p:txBody>
      </p:sp>
      <p:sp>
        <p:nvSpPr>
          <p:cNvPr id="21643" name="Line 139"/>
          <p:cNvSpPr>
            <a:spLocks noChangeShapeType="1"/>
          </p:cNvSpPr>
          <p:nvPr/>
        </p:nvSpPr>
        <p:spPr bwMode="auto">
          <a:xfrm>
            <a:off x="6491288" y="3544888"/>
            <a:ext cx="2112962" cy="0"/>
          </a:xfrm>
          <a:prstGeom prst="line">
            <a:avLst/>
          </a:prstGeom>
          <a:noFill/>
          <a:ln w="9525">
            <a:solidFill>
              <a:srgbClr val="3333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44" name="Text Box 140"/>
          <p:cNvSpPr txBox="1">
            <a:spLocks noChangeArrowheads="1"/>
          </p:cNvSpPr>
          <p:nvPr/>
        </p:nvSpPr>
        <p:spPr bwMode="auto">
          <a:xfrm>
            <a:off x="7850188" y="3240088"/>
            <a:ext cx="715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/>
              <a:t>IC=ICBO</a:t>
            </a:r>
          </a:p>
        </p:txBody>
      </p:sp>
      <p:sp>
        <p:nvSpPr>
          <p:cNvPr id="21645" name="Line 141"/>
          <p:cNvSpPr>
            <a:spLocks noChangeShapeType="1"/>
          </p:cNvSpPr>
          <p:nvPr/>
        </p:nvSpPr>
        <p:spPr bwMode="auto">
          <a:xfrm flipV="1">
            <a:off x="6530975" y="3659188"/>
            <a:ext cx="114300" cy="115887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46" name="Line 142"/>
          <p:cNvSpPr>
            <a:spLocks noChangeShapeType="1"/>
          </p:cNvSpPr>
          <p:nvPr/>
        </p:nvSpPr>
        <p:spPr bwMode="auto">
          <a:xfrm flipV="1">
            <a:off x="6684963" y="3659188"/>
            <a:ext cx="114300" cy="115887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47" name="Line 143"/>
          <p:cNvSpPr>
            <a:spLocks noChangeShapeType="1"/>
          </p:cNvSpPr>
          <p:nvPr/>
        </p:nvSpPr>
        <p:spPr bwMode="auto">
          <a:xfrm flipV="1">
            <a:off x="6838950" y="3659188"/>
            <a:ext cx="114300" cy="115887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48" name="Line 144"/>
          <p:cNvSpPr>
            <a:spLocks noChangeShapeType="1"/>
          </p:cNvSpPr>
          <p:nvPr/>
        </p:nvSpPr>
        <p:spPr bwMode="auto">
          <a:xfrm flipV="1">
            <a:off x="6992938" y="3659188"/>
            <a:ext cx="114300" cy="115887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49" name="Line 145"/>
          <p:cNvSpPr>
            <a:spLocks noChangeShapeType="1"/>
          </p:cNvSpPr>
          <p:nvPr/>
        </p:nvSpPr>
        <p:spPr bwMode="auto">
          <a:xfrm flipV="1">
            <a:off x="7185025" y="3621088"/>
            <a:ext cx="114300" cy="115887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50" name="Line 146"/>
          <p:cNvSpPr>
            <a:spLocks noChangeShapeType="1"/>
          </p:cNvSpPr>
          <p:nvPr/>
        </p:nvSpPr>
        <p:spPr bwMode="auto">
          <a:xfrm flipV="1">
            <a:off x="7339013" y="3621088"/>
            <a:ext cx="114300" cy="115887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51" name="Line 147"/>
          <p:cNvSpPr>
            <a:spLocks noChangeShapeType="1"/>
          </p:cNvSpPr>
          <p:nvPr/>
        </p:nvSpPr>
        <p:spPr bwMode="auto">
          <a:xfrm flipV="1">
            <a:off x="7493000" y="3621088"/>
            <a:ext cx="114300" cy="115887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52" name="Line 148"/>
          <p:cNvSpPr>
            <a:spLocks noChangeShapeType="1"/>
          </p:cNvSpPr>
          <p:nvPr/>
        </p:nvSpPr>
        <p:spPr bwMode="auto">
          <a:xfrm flipV="1">
            <a:off x="7646988" y="3621088"/>
            <a:ext cx="114300" cy="115887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53" name="Line 149"/>
          <p:cNvSpPr>
            <a:spLocks noChangeShapeType="1"/>
          </p:cNvSpPr>
          <p:nvPr/>
        </p:nvSpPr>
        <p:spPr bwMode="auto">
          <a:xfrm flipV="1">
            <a:off x="7800975" y="3621088"/>
            <a:ext cx="114300" cy="115887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54" name="Line 150"/>
          <p:cNvSpPr>
            <a:spLocks noChangeShapeType="1"/>
          </p:cNvSpPr>
          <p:nvPr/>
        </p:nvSpPr>
        <p:spPr bwMode="auto">
          <a:xfrm flipV="1">
            <a:off x="7954963" y="3621088"/>
            <a:ext cx="114300" cy="115887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55" name="Line 151"/>
          <p:cNvSpPr>
            <a:spLocks noChangeShapeType="1"/>
          </p:cNvSpPr>
          <p:nvPr/>
        </p:nvSpPr>
        <p:spPr bwMode="auto">
          <a:xfrm flipV="1">
            <a:off x="8108950" y="3621088"/>
            <a:ext cx="114300" cy="115887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56" name="Line 152"/>
          <p:cNvSpPr>
            <a:spLocks noChangeShapeType="1"/>
          </p:cNvSpPr>
          <p:nvPr/>
        </p:nvSpPr>
        <p:spPr bwMode="auto">
          <a:xfrm flipV="1">
            <a:off x="8262938" y="3621088"/>
            <a:ext cx="114300" cy="115887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57" name="Line 153"/>
          <p:cNvSpPr>
            <a:spLocks noChangeShapeType="1"/>
          </p:cNvSpPr>
          <p:nvPr/>
        </p:nvSpPr>
        <p:spPr bwMode="auto">
          <a:xfrm flipV="1">
            <a:off x="8416925" y="3582988"/>
            <a:ext cx="114300" cy="115887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58" name="Line 154"/>
          <p:cNvSpPr>
            <a:spLocks noChangeShapeType="1"/>
          </p:cNvSpPr>
          <p:nvPr/>
        </p:nvSpPr>
        <p:spPr bwMode="auto">
          <a:xfrm flipV="1">
            <a:off x="8489950" y="3621088"/>
            <a:ext cx="114300" cy="115887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59" name="Text Box 155"/>
          <p:cNvSpPr txBox="1">
            <a:spLocks noChangeArrowheads="1"/>
          </p:cNvSpPr>
          <p:nvPr/>
        </p:nvSpPr>
        <p:spPr bwMode="auto">
          <a:xfrm>
            <a:off x="6915150" y="4298950"/>
            <a:ext cx="17176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1600">
                <a:solidFill>
                  <a:srgbClr val="C00000"/>
                </a:solidFill>
              </a:rPr>
              <a:t>Cutoff region</a:t>
            </a:r>
          </a:p>
          <a:p>
            <a:pPr algn="ctr"/>
            <a:r>
              <a:rPr lang="en-US" sz="1600"/>
              <a:t>Both the junctions</a:t>
            </a:r>
          </a:p>
          <a:p>
            <a:pPr algn="ctr"/>
            <a:r>
              <a:rPr lang="en-US" sz="1600"/>
              <a:t>are reverse biased</a:t>
            </a:r>
          </a:p>
        </p:txBody>
      </p:sp>
      <p:sp>
        <p:nvSpPr>
          <p:cNvPr id="21660" name="Line 156"/>
          <p:cNvSpPr>
            <a:spLocks noChangeShapeType="1"/>
          </p:cNvSpPr>
          <p:nvPr/>
        </p:nvSpPr>
        <p:spPr bwMode="auto">
          <a:xfrm flipV="1">
            <a:off x="7643813" y="3659188"/>
            <a:ext cx="231775" cy="652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61" name="Line 157"/>
          <p:cNvSpPr>
            <a:spLocks noChangeShapeType="1"/>
          </p:cNvSpPr>
          <p:nvPr/>
        </p:nvSpPr>
        <p:spPr bwMode="auto">
          <a:xfrm flipV="1">
            <a:off x="6492875" y="3082925"/>
            <a:ext cx="2111375" cy="115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62" name="Text Box 158"/>
          <p:cNvSpPr txBox="1">
            <a:spLocks noChangeArrowheads="1"/>
          </p:cNvSpPr>
          <p:nvPr/>
        </p:nvSpPr>
        <p:spPr bwMode="auto">
          <a:xfrm>
            <a:off x="8374063" y="3048000"/>
            <a:ext cx="8969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>
                <a:solidFill>
                  <a:srgbClr val="FF0000"/>
                </a:solidFill>
              </a:rPr>
              <a:t> IE=1 mA</a:t>
            </a:r>
          </a:p>
        </p:txBody>
      </p:sp>
      <p:sp>
        <p:nvSpPr>
          <p:cNvPr id="21663" name="Line 159"/>
          <p:cNvSpPr>
            <a:spLocks noChangeShapeType="1"/>
          </p:cNvSpPr>
          <p:nvPr/>
        </p:nvSpPr>
        <p:spPr bwMode="auto">
          <a:xfrm>
            <a:off x="6491288" y="3082925"/>
            <a:ext cx="2112962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64" name="Text Box 160"/>
          <p:cNvSpPr txBox="1">
            <a:spLocks noChangeArrowheads="1"/>
          </p:cNvSpPr>
          <p:nvPr/>
        </p:nvSpPr>
        <p:spPr bwMode="auto">
          <a:xfrm>
            <a:off x="6257925" y="29686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1</a:t>
            </a:r>
          </a:p>
        </p:txBody>
      </p:sp>
      <p:sp>
        <p:nvSpPr>
          <p:cNvPr id="21665" name="Line 161"/>
          <p:cNvSpPr>
            <a:spLocks noChangeShapeType="1"/>
          </p:cNvSpPr>
          <p:nvPr/>
        </p:nvSpPr>
        <p:spPr bwMode="auto">
          <a:xfrm flipH="1">
            <a:off x="6376988" y="3659188"/>
            <a:ext cx="115887" cy="115887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66" name="Line 162"/>
          <p:cNvSpPr>
            <a:spLocks noChangeShapeType="1"/>
          </p:cNvSpPr>
          <p:nvPr/>
        </p:nvSpPr>
        <p:spPr bwMode="auto">
          <a:xfrm flipH="1">
            <a:off x="6261100" y="3198813"/>
            <a:ext cx="231775" cy="61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67" name="Line 163"/>
          <p:cNvSpPr>
            <a:spLocks noChangeShapeType="1"/>
          </p:cNvSpPr>
          <p:nvPr/>
        </p:nvSpPr>
        <p:spPr bwMode="auto">
          <a:xfrm flipV="1">
            <a:off x="6453188" y="2584450"/>
            <a:ext cx="2111375" cy="115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68" name="Line 164"/>
          <p:cNvSpPr>
            <a:spLocks noChangeShapeType="1"/>
          </p:cNvSpPr>
          <p:nvPr/>
        </p:nvSpPr>
        <p:spPr bwMode="auto">
          <a:xfrm>
            <a:off x="6491288" y="2584450"/>
            <a:ext cx="2112962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69" name="Text Box 165"/>
          <p:cNvSpPr txBox="1">
            <a:spLocks noChangeArrowheads="1"/>
          </p:cNvSpPr>
          <p:nvPr/>
        </p:nvSpPr>
        <p:spPr bwMode="auto">
          <a:xfrm>
            <a:off x="6257925" y="24098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2</a:t>
            </a:r>
          </a:p>
        </p:txBody>
      </p:sp>
      <p:sp>
        <p:nvSpPr>
          <p:cNvPr id="21670" name="Text Box 166"/>
          <p:cNvSpPr txBox="1">
            <a:spLocks noChangeArrowheads="1"/>
          </p:cNvSpPr>
          <p:nvPr/>
        </p:nvSpPr>
        <p:spPr bwMode="auto">
          <a:xfrm>
            <a:off x="8359775" y="2546350"/>
            <a:ext cx="8969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>
                <a:solidFill>
                  <a:srgbClr val="FF0000"/>
                </a:solidFill>
              </a:rPr>
              <a:t> IE=2 mA</a:t>
            </a:r>
          </a:p>
        </p:txBody>
      </p:sp>
      <p:sp>
        <p:nvSpPr>
          <p:cNvPr id="21671" name="Line 167"/>
          <p:cNvSpPr>
            <a:spLocks noChangeShapeType="1"/>
          </p:cNvSpPr>
          <p:nvPr/>
        </p:nvSpPr>
        <p:spPr bwMode="auto">
          <a:xfrm flipH="1">
            <a:off x="6070600" y="2698750"/>
            <a:ext cx="382588" cy="1114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72" name="Line 168"/>
          <p:cNvSpPr>
            <a:spLocks noChangeShapeType="1"/>
          </p:cNvSpPr>
          <p:nvPr/>
        </p:nvSpPr>
        <p:spPr bwMode="auto">
          <a:xfrm flipV="1">
            <a:off x="6453188" y="2122488"/>
            <a:ext cx="2111375" cy="115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73" name="Line 169"/>
          <p:cNvSpPr>
            <a:spLocks noChangeShapeType="1"/>
          </p:cNvSpPr>
          <p:nvPr/>
        </p:nvSpPr>
        <p:spPr bwMode="auto">
          <a:xfrm>
            <a:off x="5532438" y="2122488"/>
            <a:ext cx="3033712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74" name="Text Box 170"/>
          <p:cNvSpPr txBox="1">
            <a:spLocks noChangeArrowheads="1"/>
          </p:cNvSpPr>
          <p:nvPr/>
        </p:nvSpPr>
        <p:spPr bwMode="auto">
          <a:xfrm>
            <a:off x="6223000" y="20256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3</a:t>
            </a:r>
          </a:p>
        </p:txBody>
      </p:sp>
      <p:sp>
        <p:nvSpPr>
          <p:cNvPr id="21675" name="Text Box 171"/>
          <p:cNvSpPr txBox="1">
            <a:spLocks noChangeArrowheads="1"/>
          </p:cNvSpPr>
          <p:nvPr/>
        </p:nvSpPr>
        <p:spPr bwMode="auto">
          <a:xfrm>
            <a:off x="8359775" y="2125663"/>
            <a:ext cx="8969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 b="1">
                <a:solidFill>
                  <a:srgbClr val="FF0000"/>
                </a:solidFill>
              </a:rPr>
              <a:t> IE=3 mA</a:t>
            </a:r>
          </a:p>
        </p:txBody>
      </p:sp>
      <p:sp>
        <p:nvSpPr>
          <p:cNvPr id="21676" name="Line 172"/>
          <p:cNvSpPr>
            <a:spLocks noChangeShapeType="1"/>
          </p:cNvSpPr>
          <p:nvPr/>
        </p:nvSpPr>
        <p:spPr bwMode="auto">
          <a:xfrm flipH="1">
            <a:off x="5878513" y="2162175"/>
            <a:ext cx="576262" cy="161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77" name="Line 173"/>
          <p:cNvSpPr>
            <a:spLocks noChangeShapeType="1"/>
          </p:cNvSpPr>
          <p:nvPr/>
        </p:nvSpPr>
        <p:spPr bwMode="auto">
          <a:xfrm flipV="1">
            <a:off x="8604250" y="1508125"/>
            <a:ext cx="0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78" name="Line 174"/>
          <p:cNvSpPr>
            <a:spLocks noChangeShapeType="1"/>
          </p:cNvSpPr>
          <p:nvPr/>
        </p:nvSpPr>
        <p:spPr bwMode="auto">
          <a:xfrm>
            <a:off x="7989888" y="1739900"/>
            <a:ext cx="614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79" name="Line 175"/>
          <p:cNvSpPr>
            <a:spLocks noChangeShapeType="1"/>
          </p:cNvSpPr>
          <p:nvPr/>
        </p:nvSpPr>
        <p:spPr bwMode="auto">
          <a:xfrm flipH="1">
            <a:off x="6491288" y="1739900"/>
            <a:ext cx="269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80" name="Text Box 176"/>
          <p:cNvSpPr txBox="1">
            <a:spLocks noChangeArrowheads="1"/>
          </p:cNvSpPr>
          <p:nvPr/>
        </p:nvSpPr>
        <p:spPr bwMode="auto">
          <a:xfrm>
            <a:off x="6661150" y="1162050"/>
            <a:ext cx="184467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>
                <a:solidFill>
                  <a:srgbClr val="C00000"/>
                </a:solidFill>
              </a:rPr>
              <a:t>Active region</a:t>
            </a:r>
          </a:p>
          <a:p>
            <a:r>
              <a:rPr lang="en-US" sz="1400"/>
              <a:t>(high output dynamic</a:t>
            </a:r>
          </a:p>
          <a:p>
            <a:r>
              <a:rPr lang="en-US" sz="1400"/>
              <a:t> resistance)</a:t>
            </a:r>
          </a:p>
        </p:txBody>
      </p:sp>
      <p:sp>
        <p:nvSpPr>
          <p:cNvPr id="21681" name="Line 177"/>
          <p:cNvSpPr>
            <a:spLocks noChangeShapeType="1"/>
          </p:cNvSpPr>
          <p:nvPr/>
        </p:nvSpPr>
        <p:spPr bwMode="auto">
          <a:xfrm flipV="1">
            <a:off x="5724525" y="2122488"/>
            <a:ext cx="0" cy="538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82" name="Line 178"/>
          <p:cNvSpPr>
            <a:spLocks noChangeShapeType="1"/>
          </p:cNvSpPr>
          <p:nvPr/>
        </p:nvSpPr>
        <p:spPr bwMode="auto">
          <a:xfrm>
            <a:off x="5724525" y="3275013"/>
            <a:ext cx="0" cy="500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83" name="Text Box 179"/>
          <p:cNvSpPr txBox="1">
            <a:spLocks noChangeArrowheads="1"/>
          </p:cNvSpPr>
          <p:nvPr/>
        </p:nvSpPr>
        <p:spPr bwMode="auto">
          <a:xfrm>
            <a:off x="5454650" y="5426075"/>
            <a:ext cx="17494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1600">
                <a:solidFill>
                  <a:srgbClr val="C00000"/>
                </a:solidFill>
              </a:rPr>
              <a:t>saturation region</a:t>
            </a:r>
          </a:p>
          <a:p>
            <a:pPr algn="ctr"/>
            <a:r>
              <a:rPr lang="en-US" sz="1600"/>
              <a:t>Both the junctions</a:t>
            </a:r>
          </a:p>
          <a:p>
            <a:pPr algn="ctr"/>
            <a:r>
              <a:rPr lang="en-US" sz="1600"/>
              <a:t>are forward biased</a:t>
            </a:r>
          </a:p>
        </p:txBody>
      </p:sp>
      <p:sp>
        <p:nvSpPr>
          <p:cNvPr id="21684" name="Line 180"/>
          <p:cNvSpPr>
            <a:spLocks noChangeShapeType="1"/>
          </p:cNvSpPr>
          <p:nvPr/>
        </p:nvSpPr>
        <p:spPr bwMode="auto">
          <a:xfrm>
            <a:off x="5302250" y="3082925"/>
            <a:ext cx="306388" cy="2305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85" name="Line 181"/>
          <p:cNvSpPr>
            <a:spLocks noChangeShapeType="1"/>
          </p:cNvSpPr>
          <p:nvPr/>
        </p:nvSpPr>
        <p:spPr bwMode="auto">
          <a:xfrm flipH="1">
            <a:off x="5302250" y="3006725"/>
            <a:ext cx="344488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D31AAC-3F1D-4FAE-BE85-DE282EDB3580}" type="slidenum">
              <a:rPr lang="en-US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87238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9213"/>
            <a:ext cx="8229600" cy="654050"/>
          </a:xfrm>
        </p:spPr>
        <p:txBody>
          <a:bodyPr/>
          <a:lstStyle/>
          <a:p>
            <a:r>
              <a:rPr lang="en-US" sz="2800">
                <a:solidFill>
                  <a:schemeClr val="folHlink"/>
                </a:solidFill>
              </a:rPr>
              <a:t>Characteristics of a transistor in CB configuration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052763" y="663575"/>
            <a:ext cx="3424237" cy="61436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Transfer characteristics</a:t>
            </a:r>
          </a:p>
          <a:p>
            <a:endParaRPr lang="en-US" sz="24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532" name="Line 4"/>
          <p:cNvSpPr>
            <a:spLocks noChangeShapeType="1"/>
          </p:cNvSpPr>
          <p:nvPr/>
        </p:nvSpPr>
        <p:spPr bwMode="auto">
          <a:xfrm>
            <a:off x="2536825" y="4619625"/>
            <a:ext cx="4722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3" name="Line 5"/>
          <p:cNvSpPr>
            <a:spLocks noChangeShapeType="1"/>
          </p:cNvSpPr>
          <p:nvPr/>
        </p:nvSpPr>
        <p:spPr bwMode="auto">
          <a:xfrm flipV="1">
            <a:off x="2921000" y="1470025"/>
            <a:ext cx="0" cy="3417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4" name="Line 6"/>
          <p:cNvSpPr>
            <a:spLocks noChangeShapeType="1"/>
          </p:cNvSpPr>
          <p:nvPr/>
        </p:nvSpPr>
        <p:spPr bwMode="auto">
          <a:xfrm flipV="1">
            <a:off x="3305175" y="1930400"/>
            <a:ext cx="2303463" cy="23050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5" name="Line 7"/>
          <p:cNvSpPr>
            <a:spLocks noChangeShapeType="1"/>
          </p:cNvSpPr>
          <p:nvPr/>
        </p:nvSpPr>
        <p:spPr bwMode="auto">
          <a:xfrm>
            <a:off x="3573463" y="4043363"/>
            <a:ext cx="0" cy="6143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6" name="Line 8"/>
          <p:cNvSpPr>
            <a:spLocks noChangeShapeType="1"/>
          </p:cNvSpPr>
          <p:nvPr/>
        </p:nvSpPr>
        <p:spPr bwMode="auto">
          <a:xfrm>
            <a:off x="4225925" y="3313113"/>
            <a:ext cx="0" cy="13446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>
            <a:off x="4879975" y="2698750"/>
            <a:ext cx="0" cy="19192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5532438" y="1970088"/>
            <a:ext cx="0" cy="26479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>
            <a:off x="2921000" y="400526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0" name="Line 12"/>
          <p:cNvSpPr>
            <a:spLocks noChangeShapeType="1"/>
          </p:cNvSpPr>
          <p:nvPr/>
        </p:nvSpPr>
        <p:spPr bwMode="auto">
          <a:xfrm>
            <a:off x="2921000" y="3313113"/>
            <a:ext cx="13430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1" name="Line 13"/>
          <p:cNvSpPr>
            <a:spLocks noChangeShapeType="1"/>
          </p:cNvSpPr>
          <p:nvPr/>
        </p:nvSpPr>
        <p:spPr bwMode="auto">
          <a:xfrm flipV="1">
            <a:off x="2921000" y="2698750"/>
            <a:ext cx="19192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2" name="Line 14"/>
          <p:cNvSpPr>
            <a:spLocks noChangeShapeType="1"/>
          </p:cNvSpPr>
          <p:nvPr/>
        </p:nvSpPr>
        <p:spPr bwMode="auto">
          <a:xfrm flipV="1">
            <a:off x="2921000" y="2008188"/>
            <a:ext cx="26495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3" name="Oval 15"/>
          <p:cNvSpPr>
            <a:spLocks noChangeArrowheads="1"/>
          </p:cNvSpPr>
          <p:nvPr/>
        </p:nvSpPr>
        <p:spPr bwMode="auto">
          <a:xfrm>
            <a:off x="3497263" y="3889375"/>
            <a:ext cx="153987" cy="1539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2544" name="Oval 16"/>
          <p:cNvSpPr>
            <a:spLocks noChangeArrowheads="1"/>
          </p:cNvSpPr>
          <p:nvPr/>
        </p:nvSpPr>
        <p:spPr bwMode="auto">
          <a:xfrm>
            <a:off x="4149725" y="3236913"/>
            <a:ext cx="153988" cy="1539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2545" name="Oval 17"/>
          <p:cNvSpPr>
            <a:spLocks noChangeArrowheads="1"/>
          </p:cNvSpPr>
          <p:nvPr/>
        </p:nvSpPr>
        <p:spPr bwMode="auto">
          <a:xfrm>
            <a:off x="4764088" y="2622550"/>
            <a:ext cx="153987" cy="1539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2546" name="Oval 18"/>
          <p:cNvSpPr>
            <a:spLocks noChangeArrowheads="1"/>
          </p:cNvSpPr>
          <p:nvPr/>
        </p:nvSpPr>
        <p:spPr bwMode="auto">
          <a:xfrm>
            <a:off x="5454650" y="1930400"/>
            <a:ext cx="153988" cy="1539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2651125" y="45608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0</a:t>
            </a:r>
          </a:p>
        </p:txBody>
      </p:sp>
      <p:sp>
        <p:nvSpPr>
          <p:cNvPr id="22548" name="Text Box 20"/>
          <p:cNvSpPr txBox="1">
            <a:spLocks noChangeArrowheads="1"/>
          </p:cNvSpPr>
          <p:nvPr/>
        </p:nvSpPr>
        <p:spPr bwMode="auto">
          <a:xfrm>
            <a:off x="3378200" y="45815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1</a:t>
            </a:r>
          </a:p>
        </p:txBody>
      </p:sp>
      <p:sp>
        <p:nvSpPr>
          <p:cNvPr id="22549" name="Text Box 21"/>
          <p:cNvSpPr txBox="1">
            <a:spLocks noChangeArrowheads="1"/>
          </p:cNvSpPr>
          <p:nvPr/>
        </p:nvSpPr>
        <p:spPr bwMode="auto">
          <a:xfrm>
            <a:off x="4030663" y="4581525"/>
            <a:ext cx="164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2         3        4</a:t>
            </a:r>
          </a:p>
        </p:txBody>
      </p:sp>
      <p:sp>
        <p:nvSpPr>
          <p:cNvPr id="22550" name="Text Box 22"/>
          <p:cNvSpPr txBox="1">
            <a:spLocks noChangeArrowheads="1"/>
          </p:cNvSpPr>
          <p:nvPr/>
        </p:nvSpPr>
        <p:spPr bwMode="auto">
          <a:xfrm>
            <a:off x="2571750" y="1870075"/>
            <a:ext cx="311150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4</a:t>
            </a:r>
          </a:p>
          <a:p>
            <a:endParaRPr lang="en-US"/>
          </a:p>
          <a:p>
            <a:r>
              <a:rPr lang="en-US"/>
              <a:t>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1</a:t>
            </a:r>
          </a:p>
        </p:txBody>
      </p:sp>
      <p:sp>
        <p:nvSpPr>
          <p:cNvPr id="22551" name="Text Box 23"/>
          <p:cNvSpPr txBox="1">
            <a:spLocks noChangeArrowheads="1"/>
          </p:cNvSpPr>
          <p:nvPr/>
        </p:nvSpPr>
        <p:spPr bwMode="auto">
          <a:xfrm>
            <a:off x="6707188" y="4697413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IE (mA)</a:t>
            </a:r>
          </a:p>
        </p:txBody>
      </p:sp>
      <p:sp>
        <p:nvSpPr>
          <p:cNvPr id="22552" name="Text Box 24"/>
          <p:cNvSpPr txBox="1">
            <a:spLocks noChangeArrowheads="1"/>
          </p:cNvSpPr>
          <p:nvPr/>
        </p:nvSpPr>
        <p:spPr bwMode="auto">
          <a:xfrm>
            <a:off x="1735138" y="1508125"/>
            <a:ext cx="9159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IC (mA)</a:t>
            </a:r>
          </a:p>
        </p:txBody>
      </p:sp>
      <p:sp>
        <p:nvSpPr>
          <p:cNvPr id="22553" name="Text Box 25"/>
          <p:cNvSpPr txBox="1">
            <a:spLocks noChangeArrowheads="1"/>
          </p:cNvSpPr>
          <p:nvPr/>
        </p:nvSpPr>
        <p:spPr bwMode="auto">
          <a:xfrm>
            <a:off x="5838825" y="1700213"/>
            <a:ext cx="14747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VCB constant</a:t>
            </a:r>
          </a:p>
        </p:txBody>
      </p:sp>
      <p:sp>
        <p:nvSpPr>
          <p:cNvPr id="22554" name="Line 26"/>
          <p:cNvSpPr>
            <a:spLocks noChangeShapeType="1"/>
          </p:cNvSpPr>
          <p:nvPr/>
        </p:nvSpPr>
        <p:spPr bwMode="auto">
          <a:xfrm>
            <a:off x="4879975" y="2776538"/>
            <a:ext cx="0" cy="576262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5" name="Line 27"/>
          <p:cNvSpPr>
            <a:spLocks noChangeShapeType="1"/>
          </p:cNvSpPr>
          <p:nvPr/>
        </p:nvSpPr>
        <p:spPr bwMode="auto">
          <a:xfrm flipH="1">
            <a:off x="4303713" y="3352800"/>
            <a:ext cx="576262" cy="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6" name="Text Box 28"/>
          <p:cNvSpPr txBox="1">
            <a:spLocks noChangeArrowheads="1"/>
          </p:cNvSpPr>
          <p:nvPr/>
        </p:nvSpPr>
        <p:spPr bwMode="auto">
          <a:xfrm>
            <a:off x="4918075" y="3006725"/>
            <a:ext cx="25050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Slope = </a:t>
            </a:r>
            <a:r>
              <a:rPr lang="el-GR" b="1">
                <a:solidFill>
                  <a:srgbClr val="FF0000"/>
                </a:solidFill>
              </a:rPr>
              <a:t>Δ</a:t>
            </a:r>
            <a:r>
              <a:rPr lang="en-US" b="1">
                <a:solidFill>
                  <a:srgbClr val="FF0000"/>
                </a:solidFill>
              </a:rPr>
              <a:t>IC / </a:t>
            </a:r>
            <a:r>
              <a:rPr lang="el-GR" b="1">
                <a:solidFill>
                  <a:srgbClr val="FF0000"/>
                </a:solidFill>
              </a:rPr>
              <a:t>Δ</a:t>
            </a:r>
            <a:r>
              <a:rPr lang="en-US" b="1">
                <a:solidFill>
                  <a:srgbClr val="FF0000"/>
                </a:solidFill>
              </a:rPr>
              <a:t>IE = </a:t>
            </a:r>
            <a:r>
              <a:rPr lang="el-GR" b="1">
                <a:solidFill>
                  <a:srgbClr val="FF0000"/>
                </a:solidFill>
              </a:rPr>
              <a:t>α</a:t>
            </a:r>
            <a:r>
              <a:rPr lang="en-US" b="1">
                <a:solidFill>
                  <a:srgbClr val="FF0000"/>
                </a:solidFill>
              </a:rPr>
              <a:t>dc</a:t>
            </a:r>
            <a:endParaRPr lang="el-GR" b="1">
              <a:solidFill>
                <a:srgbClr val="FF0000"/>
              </a:solidFill>
            </a:endParaRPr>
          </a:p>
        </p:txBody>
      </p:sp>
      <p:sp>
        <p:nvSpPr>
          <p:cNvPr id="22557" name="Text Box 29"/>
          <p:cNvSpPr txBox="1">
            <a:spLocks noChangeArrowheads="1"/>
          </p:cNvSpPr>
          <p:nvPr/>
        </p:nvSpPr>
        <p:spPr bwMode="auto">
          <a:xfrm>
            <a:off x="3227388" y="5699125"/>
            <a:ext cx="2165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l-GR" sz="2400" b="1">
                <a:solidFill>
                  <a:srgbClr val="FF0000"/>
                </a:solidFill>
              </a:rPr>
              <a:t>α</a:t>
            </a:r>
            <a:r>
              <a:rPr lang="en-US" sz="2400" b="1">
                <a:solidFill>
                  <a:srgbClr val="FF0000"/>
                </a:solidFill>
              </a:rPr>
              <a:t> dc = </a:t>
            </a:r>
            <a:r>
              <a:rPr lang="el-GR" sz="2400" b="1">
                <a:solidFill>
                  <a:srgbClr val="FF0000"/>
                </a:solidFill>
              </a:rPr>
              <a:t>Δ</a:t>
            </a:r>
            <a:r>
              <a:rPr lang="en-US" sz="2400" b="1">
                <a:solidFill>
                  <a:srgbClr val="FF0000"/>
                </a:solidFill>
              </a:rPr>
              <a:t>I</a:t>
            </a:r>
            <a:r>
              <a:rPr lang="en-US" sz="2000" b="1">
                <a:solidFill>
                  <a:srgbClr val="FF0000"/>
                </a:solidFill>
              </a:rPr>
              <a:t>C</a:t>
            </a:r>
            <a:r>
              <a:rPr lang="en-US" sz="2400" b="1">
                <a:solidFill>
                  <a:srgbClr val="FF0000"/>
                </a:solidFill>
              </a:rPr>
              <a:t> / </a:t>
            </a:r>
            <a:r>
              <a:rPr lang="el-GR" sz="2400" b="1">
                <a:solidFill>
                  <a:srgbClr val="FF0000"/>
                </a:solidFill>
              </a:rPr>
              <a:t>Δ</a:t>
            </a:r>
            <a:r>
              <a:rPr lang="en-US" sz="2400" b="1">
                <a:solidFill>
                  <a:srgbClr val="FF0000"/>
                </a:solidFill>
              </a:rPr>
              <a:t>I</a:t>
            </a:r>
            <a:r>
              <a:rPr lang="en-US" sz="2000" b="1">
                <a:solidFill>
                  <a:srgbClr val="FF0000"/>
                </a:solidFill>
              </a:rPr>
              <a:t>E</a:t>
            </a:r>
            <a:r>
              <a:rPr lang="en-US" sz="2400" b="1">
                <a:solidFill>
                  <a:srgbClr val="FF0000"/>
                </a:solidFill>
              </a:rPr>
              <a:t> </a:t>
            </a:r>
            <a:endParaRPr lang="el-GR" sz="2400" b="1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A204AC-8F30-4D37-95F0-621E84CE7C66}" type="slidenum">
              <a:rPr lang="en-US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94182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125413"/>
            <a:ext cx="6362700" cy="636587"/>
          </a:xfrm>
        </p:spPr>
        <p:txBody>
          <a:bodyPr/>
          <a:lstStyle/>
          <a:p>
            <a:pPr algn="l"/>
            <a:r>
              <a:rPr lang="en-US" sz="2400" b="1">
                <a:solidFill>
                  <a:srgbClr val="FF0000"/>
                </a:solidFill>
              </a:rPr>
              <a:t>Characteristics of a transistor in CE configuration</a:t>
            </a:r>
            <a:r>
              <a:rPr lang="en-US" sz="2400" b="1" baseline="-16000">
                <a:solidFill>
                  <a:srgbClr val="FFFF00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066800"/>
            <a:ext cx="4648200" cy="1447800"/>
          </a:xfrm>
        </p:spPr>
        <p:txBody>
          <a:bodyPr rtlCol="0">
            <a:normAutofit fontScale="92500" lnSpcReduction="10000"/>
          </a:bodyPr>
          <a:lstStyle/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US" sz="2400" b="1" dirty="0">
              <a:solidFill>
                <a:srgbClr val="C00000"/>
              </a:solidFill>
              <a:latin typeface="Times New Roman" pitchFamily="18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latin typeface="Times New Roman" pitchFamily="18" charset="0"/>
              </a:rPr>
              <a:t>It is a graph of input current </a:t>
            </a:r>
            <a:r>
              <a:rPr lang="en-US" sz="2400" dirty="0">
                <a:solidFill>
                  <a:srgbClr val="C00000"/>
                </a:solidFill>
                <a:latin typeface="Times New Roman" pitchFamily="18" charset="0"/>
              </a:rPr>
              <a:t>(I</a:t>
            </a:r>
            <a:r>
              <a:rPr lang="en-US" sz="2400" baseline="-18000" dirty="0">
                <a:solidFill>
                  <a:srgbClr val="C00000"/>
                </a:solidFill>
                <a:latin typeface="Times New Roman" pitchFamily="18" charset="0"/>
              </a:rPr>
              <a:t>B</a:t>
            </a:r>
            <a:r>
              <a:rPr lang="en-US" sz="2400" dirty="0">
                <a:solidFill>
                  <a:srgbClr val="C00000"/>
                </a:solidFill>
                <a:latin typeface="Times New Roman" pitchFamily="18" charset="0"/>
              </a:rPr>
              <a:t>)</a:t>
            </a:r>
            <a:r>
              <a:rPr lang="en-US" sz="2400" dirty="0">
                <a:latin typeface="Times New Roman" pitchFamily="18" charset="0"/>
              </a:rPr>
              <a:t> versus input voltage </a:t>
            </a:r>
            <a:r>
              <a:rPr lang="en-US" sz="2400" dirty="0">
                <a:solidFill>
                  <a:srgbClr val="C00000"/>
                </a:solidFill>
                <a:latin typeface="Times New Roman" pitchFamily="18" charset="0"/>
              </a:rPr>
              <a:t>(V</a:t>
            </a:r>
            <a:r>
              <a:rPr lang="en-US" sz="2400" baseline="-18000" dirty="0">
                <a:solidFill>
                  <a:srgbClr val="C00000"/>
                </a:solidFill>
                <a:latin typeface="Times New Roman" pitchFamily="18" charset="0"/>
              </a:rPr>
              <a:t>BE</a:t>
            </a:r>
            <a:r>
              <a:rPr lang="en-US" sz="2400" dirty="0">
                <a:solidFill>
                  <a:srgbClr val="C00000"/>
                </a:solidFill>
                <a:latin typeface="Times New Roman" pitchFamily="18" charset="0"/>
              </a:rPr>
              <a:t>)</a:t>
            </a:r>
            <a:r>
              <a:rPr lang="en-US" sz="2400" dirty="0">
                <a:latin typeface="Times New Roman" pitchFamily="18" charset="0"/>
              </a:rPr>
              <a:t> at a constant output voltage </a:t>
            </a:r>
            <a:r>
              <a:rPr lang="en-US" sz="2400" dirty="0">
                <a:solidFill>
                  <a:srgbClr val="C00000"/>
                </a:solidFill>
                <a:latin typeface="Times New Roman" pitchFamily="18" charset="0"/>
              </a:rPr>
              <a:t>(V</a:t>
            </a:r>
            <a:r>
              <a:rPr lang="en-US" sz="2400" baseline="-18000" dirty="0">
                <a:solidFill>
                  <a:srgbClr val="C00000"/>
                </a:solidFill>
                <a:latin typeface="Times New Roman" pitchFamily="18" charset="0"/>
              </a:rPr>
              <a:t>CE</a:t>
            </a:r>
            <a:r>
              <a:rPr lang="en-US" sz="2400" dirty="0">
                <a:solidFill>
                  <a:srgbClr val="C00000"/>
                </a:solidFill>
                <a:latin typeface="Times New Roman" pitchFamily="18" charset="0"/>
              </a:rPr>
              <a:t>).</a:t>
            </a:r>
          </a:p>
          <a:p>
            <a:pPr fontAlgn="auto">
              <a:spcAft>
                <a:spcPts val="0"/>
              </a:spcAft>
              <a:defRPr/>
            </a:pPr>
            <a:endParaRPr lang="en-US" sz="2400" dirty="0">
              <a:latin typeface="Times New Roman" pitchFamily="18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sz="2400" dirty="0">
              <a:latin typeface="Times New Roman" pitchFamily="18" charset="0"/>
            </a:endParaRP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152400" y="533400"/>
            <a:ext cx="54102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2400" b="1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6489700" y="2238375"/>
            <a:ext cx="958850" cy="13446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400" b="1">
                <a:solidFill>
                  <a:srgbClr val="FF0066"/>
                </a:solidFill>
                <a:latin typeface="Calibri" pitchFamily="34" charset="0"/>
              </a:rPr>
              <a:t>N</a:t>
            </a:r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6489700" y="4197350"/>
            <a:ext cx="958850" cy="884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b"/>
          <a:lstStyle/>
          <a:p>
            <a:r>
              <a:rPr lang="en-US" sz="1400" b="1">
                <a:solidFill>
                  <a:srgbClr val="FF0066"/>
                </a:solidFill>
                <a:latin typeface="Calibri" pitchFamily="34" charset="0"/>
              </a:rPr>
              <a:t>N</a:t>
            </a:r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6489700" y="3582988"/>
            <a:ext cx="958850" cy="6143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400" b="1">
                <a:solidFill>
                  <a:srgbClr val="FF0066"/>
                </a:solidFill>
                <a:latin typeface="Calibri" pitchFamily="34" charset="0"/>
              </a:rPr>
              <a:t>P</a:t>
            </a:r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 flipV="1">
            <a:off x="6950075" y="1624013"/>
            <a:ext cx="0" cy="6143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7050088" y="1239838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C</a:t>
            </a:r>
          </a:p>
        </p:txBody>
      </p:sp>
      <p:sp>
        <p:nvSpPr>
          <p:cNvPr id="23562" name="Line 10"/>
          <p:cNvSpPr>
            <a:spLocks noChangeShapeType="1"/>
          </p:cNvSpPr>
          <p:nvPr/>
        </p:nvSpPr>
        <p:spPr bwMode="auto">
          <a:xfrm flipV="1">
            <a:off x="6934200" y="5080000"/>
            <a:ext cx="15875" cy="1092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7131050" y="5867400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</a:t>
            </a:r>
          </a:p>
        </p:txBody>
      </p:sp>
      <p:sp>
        <p:nvSpPr>
          <p:cNvPr id="23564" name="Line 12"/>
          <p:cNvSpPr>
            <a:spLocks noChangeShapeType="1"/>
          </p:cNvSpPr>
          <p:nvPr/>
        </p:nvSpPr>
        <p:spPr bwMode="auto">
          <a:xfrm flipV="1">
            <a:off x="5721350" y="3851275"/>
            <a:ext cx="7683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5" name="Text Box 13"/>
          <p:cNvSpPr txBox="1">
            <a:spLocks noChangeArrowheads="1"/>
          </p:cNvSpPr>
          <p:nvPr/>
        </p:nvSpPr>
        <p:spPr bwMode="auto">
          <a:xfrm>
            <a:off x="5226050" y="3671888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B</a:t>
            </a: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6489700" y="3505200"/>
            <a:ext cx="958850" cy="7778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3567" name="Text Box 15"/>
          <p:cNvSpPr txBox="1">
            <a:spLocks noChangeArrowheads="1"/>
          </p:cNvSpPr>
          <p:nvPr/>
        </p:nvSpPr>
        <p:spPr bwMode="auto">
          <a:xfrm>
            <a:off x="7396163" y="3390900"/>
            <a:ext cx="4079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JC</a:t>
            </a: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6489700" y="4157663"/>
            <a:ext cx="958850" cy="77787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3569" name="Text Box 17"/>
          <p:cNvSpPr txBox="1">
            <a:spLocks noChangeArrowheads="1"/>
          </p:cNvSpPr>
          <p:nvPr/>
        </p:nvSpPr>
        <p:spPr bwMode="auto">
          <a:xfrm>
            <a:off x="7434263" y="4043363"/>
            <a:ext cx="400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JE</a:t>
            </a: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6819900" y="2122488"/>
            <a:ext cx="268288" cy="115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6819900" y="5080000"/>
            <a:ext cx="268288" cy="115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6396038" y="3736975"/>
            <a:ext cx="115887" cy="2682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3573" name="Oval 21"/>
          <p:cNvSpPr>
            <a:spLocks noChangeArrowheads="1"/>
          </p:cNvSpPr>
          <p:nvPr/>
        </p:nvSpPr>
        <p:spPr bwMode="auto">
          <a:xfrm>
            <a:off x="6858000" y="6170613"/>
            <a:ext cx="153988" cy="153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3574" name="Oval 22"/>
          <p:cNvSpPr>
            <a:spLocks noChangeArrowheads="1"/>
          </p:cNvSpPr>
          <p:nvPr/>
        </p:nvSpPr>
        <p:spPr bwMode="auto">
          <a:xfrm>
            <a:off x="5591175" y="3733800"/>
            <a:ext cx="153988" cy="153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3575" name="Oval 23"/>
          <p:cNvSpPr>
            <a:spLocks noChangeArrowheads="1"/>
          </p:cNvSpPr>
          <p:nvPr/>
        </p:nvSpPr>
        <p:spPr bwMode="auto">
          <a:xfrm>
            <a:off x="6896100" y="1547813"/>
            <a:ext cx="153988" cy="153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3576" name="Line 24"/>
          <p:cNvSpPr>
            <a:spLocks noChangeShapeType="1"/>
          </p:cNvSpPr>
          <p:nvPr/>
        </p:nvSpPr>
        <p:spPr bwMode="auto">
          <a:xfrm flipV="1">
            <a:off x="5645150" y="6246813"/>
            <a:ext cx="1230313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7" name="Line 25"/>
          <p:cNvSpPr>
            <a:spLocks noChangeShapeType="1"/>
          </p:cNvSpPr>
          <p:nvPr/>
        </p:nvSpPr>
        <p:spPr bwMode="auto">
          <a:xfrm flipV="1">
            <a:off x="7027863" y="1624013"/>
            <a:ext cx="1422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8" name="Line 26"/>
          <p:cNvSpPr>
            <a:spLocks noChangeShapeType="1"/>
          </p:cNvSpPr>
          <p:nvPr/>
        </p:nvSpPr>
        <p:spPr bwMode="auto">
          <a:xfrm>
            <a:off x="6989763" y="6246813"/>
            <a:ext cx="1544637" cy="15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9" name="Line 27"/>
          <p:cNvSpPr>
            <a:spLocks noChangeShapeType="1"/>
          </p:cNvSpPr>
          <p:nvPr/>
        </p:nvSpPr>
        <p:spPr bwMode="auto">
          <a:xfrm>
            <a:off x="5329238" y="5535613"/>
            <a:ext cx="652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0" name="Line 28"/>
          <p:cNvSpPr>
            <a:spLocks noChangeShapeType="1"/>
          </p:cNvSpPr>
          <p:nvPr/>
        </p:nvSpPr>
        <p:spPr bwMode="auto">
          <a:xfrm>
            <a:off x="5483225" y="5688013"/>
            <a:ext cx="3841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1" name="Line 29"/>
          <p:cNvSpPr>
            <a:spLocks noChangeShapeType="1"/>
          </p:cNvSpPr>
          <p:nvPr/>
        </p:nvSpPr>
        <p:spPr bwMode="auto">
          <a:xfrm>
            <a:off x="5483225" y="5997575"/>
            <a:ext cx="3841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2" name="Line 30"/>
          <p:cNvSpPr>
            <a:spLocks noChangeShapeType="1"/>
          </p:cNvSpPr>
          <p:nvPr/>
        </p:nvSpPr>
        <p:spPr bwMode="auto">
          <a:xfrm>
            <a:off x="5329238" y="5842000"/>
            <a:ext cx="652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3" name="Text Box 31"/>
          <p:cNvSpPr txBox="1">
            <a:spLocks noChangeArrowheads="1"/>
          </p:cNvSpPr>
          <p:nvPr/>
        </p:nvSpPr>
        <p:spPr bwMode="auto">
          <a:xfrm>
            <a:off x="5751513" y="5075238"/>
            <a:ext cx="317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+</a:t>
            </a:r>
          </a:p>
        </p:txBody>
      </p:sp>
      <p:sp>
        <p:nvSpPr>
          <p:cNvPr id="23584" name="Text Box 32"/>
          <p:cNvSpPr txBox="1">
            <a:spLocks noChangeArrowheads="1"/>
          </p:cNvSpPr>
          <p:nvPr/>
        </p:nvSpPr>
        <p:spPr bwMode="auto">
          <a:xfrm>
            <a:off x="5789613" y="5957888"/>
            <a:ext cx="260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-</a:t>
            </a:r>
          </a:p>
        </p:txBody>
      </p:sp>
      <p:sp>
        <p:nvSpPr>
          <p:cNvPr id="23585" name="Line 33"/>
          <p:cNvSpPr>
            <a:spLocks noChangeShapeType="1"/>
          </p:cNvSpPr>
          <p:nvPr/>
        </p:nvSpPr>
        <p:spPr bwMode="auto">
          <a:xfrm>
            <a:off x="8329613" y="4257675"/>
            <a:ext cx="3841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6" name="Line 34"/>
          <p:cNvSpPr>
            <a:spLocks noChangeShapeType="1"/>
          </p:cNvSpPr>
          <p:nvPr/>
        </p:nvSpPr>
        <p:spPr bwMode="auto">
          <a:xfrm>
            <a:off x="8329613" y="3949700"/>
            <a:ext cx="3841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7" name="Line 35"/>
          <p:cNvSpPr>
            <a:spLocks noChangeShapeType="1"/>
          </p:cNvSpPr>
          <p:nvPr/>
        </p:nvSpPr>
        <p:spPr bwMode="auto">
          <a:xfrm>
            <a:off x="8213725" y="3797300"/>
            <a:ext cx="652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8" name="Line 36"/>
          <p:cNvSpPr>
            <a:spLocks noChangeShapeType="1"/>
          </p:cNvSpPr>
          <p:nvPr/>
        </p:nvSpPr>
        <p:spPr bwMode="auto">
          <a:xfrm>
            <a:off x="8175625" y="4103688"/>
            <a:ext cx="652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9" name="Text Box 37"/>
          <p:cNvSpPr txBox="1">
            <a:spLocks noChangeArrowheads="1"/>
          </p:cNvSpPr>
          <p:nvPr/>
        </p:nvSpPr>
        <p:spPr bwMode="auto">
          <a:xfrm>
            <a:off x="8616950" y="4257675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-</a:t>
            </a:r>
          </a:p>
        </p:txBody>
      </p:sp>
      <p:sp>
        <p:nvSpPr>
          <p:cNvPr id="23590" name="Text Box 38"/>
          <p:cNvSpPr txBox="1">
            <a:spLocks noChangeArrowheads="1"/>
          </p:cNvSpPr>
          <p:nvPr/>
        </p:nvSpPr>
        <p:spPr bwMode="auto">
          <a:xfrm>
            <a:off x="8597900" y="3352800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+</a:t>
            </a:r>
          </a:p>
        </p:txBody>
      </p:sp>
      <p:sp>
        <p:nvSpPr>
          <p:cNvPr id="23591" name="Line 39"/>
          <p:cNvSpPr>
            <a:spLocks noChangeShapeType="1"/>
          </p:cNvSpPr>
          <p:nvPr/>
        </p:nvSpPr>
        <p:spPr bwMode="auto">
          <a:xfrm>
            <a:off x="8458200" y="2239963"/>
            <a:ext cx="193675" cy="1158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2" name="Line 40"/>
          <p:cNvSpPr>
            <a:spLocks noChangeShapeType="1"/>
          </p:cNvSpPr>
          <p:nvPr/>
        </p:nvSpPr>
        <p:spPr bwMode="auto">
          <a:xfrm>
            <a:off x="8343900" y="2586038"/>
            <a:ext cx="346075" cy="2301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3" name="Line 41"/>
          <p:cNvSpPr>
            <a:spLocks noChangeShapeType="1"/>
          </p:cNvSpPr>
          <p:nvPr/>
        </p:nvSpPr>
        <p:spPr bwMode="auto">
          <a:xfrm flipV="1">
            <a:off x="8343900" y="2816225"/>
            <a:ext cx="346075" cy="192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4" name="Line 42"/>
          <p:cNvSpPr>
            <a:spLocks noChangeShapeType="1"/>
          </p:cNvSpPr>
          <p:nvPr/>
        </p:nvSpPr>
        <p:spPr bwMode="auto">
          <a:xfrm flipV="1">
            <a:off x="8305800" y="2355850"/>
            <a:ext cx="384175" cy="2301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5" name="Line 43"/>
          <p:cNvSpPr>
            <a:spLocks noChangeShapeType="1"/>
          </p:cNvSpPr>
          <p:nvPr/>
        </p:nvSpPr>
        <p:spPr bwMode="auto">
          <a:xfrm>
            <a:off x="8458200" y="16002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6" name="Line 44"/>
          <p:cNvSpPr>
            <a:spLocks noChangeShapeType="1"/>
          </p:cNvSpPr>
          <p:nvPr/>
        </p:nvSpPr>
        <p:spPr bwMode="auto">
          <a:xfrm>
            <a:off x="8534400" y="31242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7" name="Line 45"/>
          <p:cNvSpPr>
            <a:spLocks noChangeShapeType="1"/>
          </p:cNvSpPr>
          <p:nvPr/>
        </p:nvSpPr>
        <p:spPr bwMode="auto">
          <a:xfrm>
            <a:off x="8382000" y="3008313"/>
            <a:ext cx="193675" cy="1158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8" name="Line 46"/>
          <p:cNvSpPr>
            <a:spLocks noChangeShapeType="1"/>
          </p:cNvSpPr>
          <p:nvPr/>
        </p:nvSpPr>
        <p:spPr bwMode="auto">
          <a:xfrm>
            <a:off x="8534400" y="4267200"/>
            <a:ext cx="0" cy="1981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9" name="Line 47"/>
          <p:cNvSpPr>
            <a:spLocks noChangeShapeType="1"/>
          </p:cNvSpPr>
          <p:nvPr/>
        </p:nvSpPr>
        <p:spPr bwMode="auto">
          <a:xfrm>
            <a:off x="5562600" y="4221163"/>
            <a:ext cx="193675" cy="1158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0" name="Line 48"/>
          <p:cNvSpPr>
            <a:spLocks noChangeShapeType="1"/>
          </p:cNvSpPr>
          <p:nvPr/>
        </p:nvSpPr>
        <p:spPr bwMode="auto">
          <a:xfrm>
            <a:off x="5448300" y="4567238"/>
            <a:ext cx="346075" cy="2301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1" name="Line 49"/>
          <p:cNvSpPr>
            <a:spLocks noChangeShapeType="1"/>
          </p:cNvSpPr>
          <p:nvPr/>
        </p:nvSpPr>
        <p:spPr bwMode="auto">
          <a:xfrm flipV="1">
            <a:off x="5448300" y="4797425"/>
            <a:ext cx="346075" cy="192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2" name="Line 50"/>
          <p:cNvSpPr>
            <a:spLocks noChangeShapeType="1"/>
          </p:cNvSpPr>
          <p:nvPr/>
        </p:nvSpPr>
        <p:spPr bwMode="auto">
          <a:xfrm flipV="1">
            <a:off x="5410200" y="4337050"/>
            <a:ext cx="384175" cy="2301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3" name="Line 51"/>
          <p:cNvSpPr>
            <a:spLocks noChangeShapeType="1"/>
          </p:cNvSpPr>
          <p:nvPr/>
        </p:nvSpPr>
        <p:spPr bwMode="auto">
          <a:xfrm>
            <a:off x="5486400" y="4989513"/>
            <a:ext cx="193675" cy="1158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4" name="Line 52"/>
          <p:cNvSpPr>
            <a:spLocks noChangeShapeType="1"/>
          </p:cNvSpPr>
          <p:nvPr/>
        </p:nvSpPr>
        <p:spPr bwMode="auto">
          <a:xfrm>
            <a:off x="5638800" y="38862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5" name="Line 53"/>
          <p:cNvSpPr>
            <a:spLocks noChangeShapeType="1"/>
          </p:cNvSpPr>
          <p:nvPr/>
        </p:nvSpPr>
        <p:spPr bwMode="auto">
          <a:xfrm>
            <a:off x="5638800" y="5105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6" name="Line 54"/>
          <p:cNvSpPr>
            <a:spLocks noChangeShapeType="1"/>
          </p:cNvSpPr>
          <p:nvPr/>
        </p:nvSpPr>
        <p:spPr bwMode="auto">
          <a:xfrm>
            <a:off x="5638800" y="6019800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7" name="Text Box 55"/>
          <p:cNvSpPr txBox="1">
            <a:spLocks noChangeArrowheads="1"/>
          </p:cNvSpPr>
          <p:nvPr/>
        </p:nvSpPr>
        <p:spPr bwMode="auto">
          <a:xfrm>
            <a:off x="4953000" y="4419600"/>
            <a:ext cx="450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RB</a:t>
            </a:r>
          </a:p>
        </p:txBody>
      </p:sp>
      <p:sp>
        <p:nvSpPr>
          <p:cNvPr id="23608" name="Line 56"/>
          <p:cNvSpPr>
            <a:spLocks noChangeShapeType="1"/>
          </p:cNvSpPr>
          <p:nvPr/>
        </p:nvSpPr>
        <p:spPr bwMode="auto">
          <a:xfrm>
            <a:off x="6705600" y="1538288"/>
            <a:ext cx="0" cy="5191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9" name="Text Box 57"/>
          <p:cNvSpPr txBox="1">
            <a:spLocks noChangeArrowheads="1"/>
          </p:cNvSpPr>
          <p:nvPr/>
        </p:nvSpPr>
        <p:spPr bwMode="auto">
          <a:xfrm>
            <a:off x="6248400" y="1646238"/>
            <a:ext cx="419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IC</a:t>
            </a:r>
          </a:p>
        </p:txBody>
      </p:sp>
      <p:sp>
        <p:nvSpPr>
          <p:cNvPr id="23610" name="Line 58"/>
          <p:cNvSpPr>
            <a:spLocks noChangeShapeType="1"/>
          </p:cNvSpPr>
          <p:nvPr/>
        </p:nvSpPr>
        <p:spPr bwMode="auto">
          <a:xfrm>
            <a:off x="5715000" y="3657600"/>
            <a:ext cx="533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1" name="Line 59"/>
          <p:cNvSpPr>
            <a:spLocks noChangeShapeType="1"/>
          </p:cNvSpPr>
          <p:nvPr/>
        </p:nvSpPr>
        <p:spPr bwMode="auto">
          <a:xfrm>
            <a:off x="7086600" y="5334000"/>
            <a:ext cx="0" cy="838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2" name="Text Box 60"/>
          <p:cNvSpPr txBox="1">
            <a:spLocks noChangeArrowheads="1"/>
          </p:cNvSpPr>
          <p:nvPr/>
        </p:nvSpPr>
        <p:spPr bwMode="auto">
          <a:xfrm>
            <a:off x="5715000" y="3290888"/>
            <a:ext cx="425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IB</a:t>
            </a:r>
          </a:p>
        </p:txBody>
      </p:sp>
      <p:sp>
        <p:nvSpPr>
          <p:cNvPr id="23613" name="Text Box 61"/>
          <p:cNvSpPr txBox="1">
            <a:spLocks noChangeArrowheads="1"/>
          </p:cNvSpPr>
          <p:nvPr/>
        </p:nvSpPr>
        <p:spPr bwMode="auto">
          <a:xfrm>
            <a:off x="7053263" y="5500688"/>
            <a:ext cx="4143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IE</a:t>
            </a:r>
          </a:p>
        </p:txBody>
      </p:sp>
      <p:sp>
        <p:nvSpPr>
          <p:cNvPr id="23614" name="Text Box 62"/>
          <p:cNvSpPr txBox="1">
            <a:spLocks noChangeArrowheads="1"/>
          </p:cNvSpPr>
          <p:nvPr/>
        </p:nvSpPr>
        <p:spPr bwMode="auto">
          <a:xfrm>
            <a:off x="7467600" y="2895600"/>
            <a:ext cx="1050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VCE </a:t>
            </a:r>
          </a:p>
          <a:p>
            <a:r>
              <a:rPr lang="en-US" sz="1400" b="1">
                <a:solidFill>
                  <a:srgbClr val="FF0000"/>
                </a:solidFill>
              </a:rPr>
              <a:t>constant</a:t>
            </a:r>
          </a:p>
        </p:txBody>
      </p:sp>
      <p:sp>
        <p:nvSpPr>
          <p:cNvPr id="23615" name="Text Box 63"/>
          <p:cNvSpPr txBox="1">
            <a:spLocks noChangeArrowheads="1"/>
          </p:cNvSpPr>
          <p:nvPr/>
        </p:nvSpPr>
        <p:spPr bwMode="auto">
          <a:xfrm>
            <a:off x="5973763" y="4433888"/>
            <a:ext cx="5794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VBE</a:t>
            </a:r>
          </a:p>
        </p:txBody>
      </p:sp>
      <p:sp>
        <p:nvSpPr>
          <p:cNvPr id="23616" name="Line 64"/>
          <p:cNvSpPr>
            <a:spLocks noChangeShapeType="1"/>
          </p:cNvSpPr>
          <p:nvPr/>
        </p:nvSpPr>
        <p:spPr bwMode="auto">
          <a:xfrm flipV="1">
            <a:off x="7848600" y="2209800"/>
            <a:ext cx="0" cy="9906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7" name="Line 65"/>
          <p:cNvSpPr>
            <a:spLocks noChangeShapeType="1"/>
          </p:cNvSpPr>
          <p:nvPr/>
        </p:nvSpPr>
        <p:spPr bwMode="auto">
          <a:xfrm>
            <a:off x="7848600" y="3581400"/>
            <a:ext cx="0" cy="14478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8" name="Line 66"/>
          <p:cNvSpPr>
            <a:spLocks noChangeShapeType="1"/>
          </p:cNvSpPr>
          <p:nvPr/>
        </p:nvSpPr>
        <p:spPr bwMode="auto">
          <a:xfrm>
            <a:off x="6400800" y="4953000"/>
            <a:ext cx="0" cy="12954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9" name="Line 67"/>
          <p:cNvSpPr>
            <a:spLocks noChangeShapeType="1"/>
          </p:cNvSpPr>
          <p:nvPr/>
        </p:nvSpPr>
        <p:spPr bwMode="auto">
          <a:xfrm flipV="1">
            <a:off x="6400800" y="4038600"/>
            <a:ext cx="0" cy="4572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20" name="Text Box 68"/>
          <p:cNvSpPr txBox="1">
            <a:spLocks noChangeArrowheads="1"/>
          </p:cNvSpPr>
          <p:nvPr/>
        </p:nvSpPr>
        <p:spPr bwMode="auto">
          <a:xfrm>
            <a:off x="5048250" y="5105400"/>
            <a:ext cx="59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chemeClr val="folHlink"/>
                </a:solidFill>
              </a:rPr>
              <a:t>VBB</a:t>
            </a:r>
          </a:p>
        </p:txBody>
      </p:sp>
      <p:sp>
        <p:nvSpPr>
          <p:cNvPr id="23621" name="Text Box 69"/>
          <p:cNvSpPr txBox="1">
            <a:spLocks noChangeArrowheads="1"/>
          </p:cNvSpPr>
          <p:nvPr/>
        </p:nvSpPr>
        <p:spPr bwMode="auto">
          <a:xfrm>
            <a:off x="8610600" y="3733800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chemeClr val="folHlink"/>
                </a:solidFill>
              </a:rPr>
              <a:t>VCC</a:t>
            </a:r>
          </a:p>
        </p:txBody>
      </p:sp>
      <p:sp>
        <p:nvSpPr>
          <p:cNvPr id="23622" name="Rectangle 70"/>
          <p:cNvSpPr>
            <a:spLocks noChangeArrowheads="1"/>
          </p:cNvSpPr>
          <p:nvPr/>
        </p:nvSpPr>
        <p:spPr bwMode="auto">
          <a:xfrm>
            <a:off x="5562600" y="6321425"/>
            <a:ext cx="3352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/>
            <a:r>
              <a:rPr lang="en-US" sz="2000">
                <a:solidFill>
                  <a:srgbClr val="C00000"/>
                </a:solidFill>
                <a:latin typeface="Calibri" pitchFamily="34" charset="0"/>
              </a:rPr>
              <a:t>N-P-N Transistor</a:t>
            </a:r>
          </a:p>
        </p:txBody>
      </p:sp>
      <p:sp>
        <p:nvSpPr>
          <p:cNvPr id="23623" name="Line 71"/>
          <p:cNvSpPr>
            <a:spLocks noChangeShapeType="1"/>
          </p:cNvSpPr>
          <p:nvPr/>
        </p:nvSpPr>
        <p:spPr bwMode="auto">
          <a:xfrm>
            <a:off x="457200" y="56388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24" name="Line 72"/>
          <p:cNvSpPr>
            <a:spLocks noChangeShapeType="1"/>
          </p:cNvSpPr>
          <p:nvPr/>
        </p:nvSpPr>
        <p:spPr bwMode="auto">
          <a:xfrm flipV="1">
            <a:off x="685800" y="2895600"/>
            <a:ext cx="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25" name="Text Box 73"/>
          <p:cNvSpPr txBox="1">
            <a:spLocks noChangeArrowheads="1"/>
          </p:cNvSpPr>
          <p:nvPr/>
        </p:nvSpPr>
        <p:spPr bwMode="auto">
          <a:xfrm>
            <a:off x="3962400" y="5715000"/>
            <a:ext cx="579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VBE</a:t>
            </a:r>
          </a:p>
        </p:txBody>
      </p:sp>
      <p:sp>
        <p:nvSpPr>
          <p:cNvPr id="23626" name="Text Box 74"/>
          <p:cNvSpPr txBox="1">
            <a:spLocks noChangeArrowheads="1"/>
          </p:cNvSpPr>
          <p:nvPr/>
        </p:nvSpPr>
        <p:spPr bwMode="auto">
          <a:xfrm>
            <a:off x="76200" y="2743200"/>
            <a:ext cx="644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IB</a:t>
            </a:r>
          </a:p>
          <a:p>
            <a:r>
              <a:rPr lang="en-US" sz="1400" b="1">
                <a:solidFill>
                  <a:srgbClr val="FF0000"/>
                </a:solidFill>
              </a:rPr>
              <a:t>(</a:t>
            </a:r>
            <a:r>
              <a:rPr lang="el-GR" sz="1400" b="1">
                <a:solidFill>
                  <a:srgbClr val="FF0000"/>
                </a:solidFill>
              </a:rPr>
              <a:t>μ</a:t>
            </a:r>
            <a:r>
              <a:rPr lang="en-US" sz="1400" b="1">
                <a:solidFill>
                  <a:srgbClr val="FF0000"/>
                </a:solidFill>
              </a:rPr>
              <a:t>A)</a:t>
            </a:r>
            <a:endParaRPr lang="el-GR" sz="1400" b="1">
              <a:solidFill>
                <a:srgbClr val="FF0000"/>
              </a:solidFill>
            </a:endParaRPr>
          </a:p>
        </p:txBody>
      </p:sp>
      <p:sp>
        <p:nvSpPr>
          <p:cNvPr id="23627" name="Freeform 75"/>
          <p:cNvSpPr>
            <a:spLocks/>
          </p:cNvSpPr>
          <p:nvPr/>
        </p:nvSpPr>
        <p:spPr bwMode="auto">
          <a:xfrm rot="-1732948">
            <a:off x="612775" y="3827463"/>
            <a:ext cx="2362200" cy="1524000"/>
          </a:xfrm>
          <a:custGeom>
            <a:avLst/>
            <a:gdLst>
              <a:gd name="T0" fmla="*/ 0 w 1632"/>
              <a:gd name="T1" fmla="*/ 2147483647 h 840"/>
              <a:gd name="T2" fmla="*/ 2147483647 w 1632"/>
              <a:gd name="T3" fmla="*/ 2147483647 h 840"/>
              <a:gd name="T4" fmla="*/ 2147483647 w 1632"/>
              <a:gd name="T5" fmla="*/ 0 h 840"/>
              <a:gd name="T6" fmla="*/ 0 60000 65536"/>
              <a:gd name="T7" fmla="*/ 0 60000 65536"/>
              <a:gd name="T8" fmla="*/ 0 60000 65536"/>
              <a:gd name="T9" fmla="*/ 0 w 1632"/>
              <a:gd name="T10" fmla="*/ 0 h 840"/>
              <a:gd name="T11" fmla="*/ 1632 w 1632"/>
              <a:gd name="T12" fmla="*/ 840 h 8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32" h="840">
                <a:moveTo>
                  <a:pt x="0" y="720"/>
                </a:moveTo>
                <a:cubicBezTo>
                  <a:pt x="128" y="780"/>
                  <a:pt x="256" y="840"/>
                  <a:pt x="528" y="720"/>
                </a:cubicBezTo>
                <a:cubicBezTo>
                  <a:pt x="800" y="600"/>
                  <a:pt x="1448" y="120"/>
                  <a:pt x="1632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3628" name="Line 76"/>
          <p:cNvSpPr>
            <a:spLocks noChangeShapeType="1"/>
          </p:cNvSpPr>
          <p:nvPr/>
        </p:nvSpPr>
        <p:spPr bwMode="auto">
          <a:xfrm>
            <a:off x="685800" y="5638800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29" name="Text Box 77"/>
          <p:cNvSpPr txBox="1">
            <a:spLocks noChangeArrowheads="1"/>
          </p:cNvSpPr>
          <p:nvPr/>
        </p:nvSpPr>
        <p:spPr bwMode="auto">
          <a:xfrm>
            <a:off x="1828800" y="3048000"/>
            <a:ext cx="2028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VCE  </a:t>
            </a:r>
            <a:r>
              <a:rPr lang="en-US" sz="1400" b="1">
                <a:solidFill>
                  <a:srgbClr val="FF0000"/>
                </a:solidFill>
              </a:rPr>
              <a:t>= 4V        10V</a:t>
            </a:r>
          </a:p>
        </p:txBody>
      </p:sp>
      <p:sp>
        <p:nvSpPr>
          <p:cNvPr id="23630" name="Text Box 78"/>
          <p:cNvSpPr txBox="1">
            <a:spLocks noChangeArrowheads="1"/>
          </p:cNvSpPr>
          <p:nvPr/>
        </p:nvSpPr>
        <p:spPr bwMode="auto">
          <a:xfrm>
            <a:off x="669925" y="5638800"/>
            <a:ext cx="25463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/>
              <a:t>0         0.7   1                2</a:t>
            </a:r>
          </a:p>
        </p:txBody>
      </p:sp>
      <p:sp>
        <p:nvSpPr>
          <p:cNvPr id="23631" name="Freeform 79"/>
          <p:cNvSpPr>
            <a:spLocks/>
          </p:cNvSpPr>
          <p:nvPr/>
        </p:nvSpPr>
        <p:spPr bwMode="auto">
          <a:xfrm rot="-1732948">
            <a:off x="914400" y="3810000"/>
            <a:ext cx="2362200" cy="1524000"/>
          </a:xfrm>
          <a:custGeom>
            <a:avLst/>
            <a:gdLst>
              <a:gd name="T0" fmla="*/ 0 w 1632"/>
              <a:gd name="T1" fmla="*/ 2147483647 h 840"/>
              <a:gd name="T2" fmla="*/ 2147483647 w 1632"/>
              <a:gd name="T3" fmla="*/ 2147483647 h 840"/>
              <a:gd name="T4" fmla="*/ 2147483647 w 1632"/>
              <a:gd name="T5" fmla="*/ 0 h 840"/>
              <a:gd name="T6" fmla="*/ 0 60000 65536"/>
              <a:gd name="T7" fmla="*/ 0 60000 65536"/>
              <a:gd name="T8" fmla="*/ 0 60000 65536"/>
              <a:gd name="T9" fmla="*/ 0 w 1632"/>
              <a:gd name="T10" fmla="*/ 0 h 840"/>
              <a:gd name="T11" fmla="*/ 1632 w 1632"/>
              <a:gd name="T12" fmla="*/ 840 h 8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32" h="840">
                <a:moveTo>
                  <a:pt x="0" y="720"/>
                </a:moveTo>
                <a:cubicBezTo>
                  <a:pt x="128" y="780"/>
                  <a:pt x="256" y="840"/>
                  <a:pt x="528" y="720"/>
                </a:cubicBezTo>
                <a:cubicBezTo>
                  <a:pt x="800" y="600"/>
                  <a:pt x="1448" y="120"/>
                  <a:pt x="1632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3632" name="Text Box 80"/>
          <p:cNvSpPr txBox="1">
            <a:spLocks noChangeArrowheads="1"/>
          </p:cNvSpPr>
          <p:nvPr/>
        </p:nvSpPr>
        <p:spPr bwMode="auto">
          <a:xfrm>
            <a:off x="152400" y="6096000"/>
            <a:ext cx="5791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400" b="1">
                <a:solidFill>
                  <a:srgbClr val="00B050"/>
                </a:solidFill>
              </a:rPr>
              <a:t>The value of dynamic input resistance “Ri” is low  for CE </a:t>
            </a:r>
          </a:p>
        </p:txBody>
      </p:sp>
      <p:sp>
        <p:nvSpPr>
          <p:cNvPr id="23633" name="Line 81"/>
          <p:cNvSpPr>
            <a:spLocks noChangeShapeType="1"/>
          </p:cNvSpPr>
          <p:nvPr/>
        </p:nvSpPr>
        <p:spPr bwMode="auto">
          <a:xfrm>
            <a:off x="2667000" y="3657600"/>
            <a:ext cx="0" cy="9144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34" name="Line 82"/>
          <p:cNvSpPr>
            <a:spLocks noChangeShapeType="1"/>
          </p:cNvSpPr>
          <p:nvPr/>
        </p:nvSpPr>
        <p:spPr bwMode="auto">
          <a:xfrm>
            <a:off x="2286000" y="4572000"/>
            <a:ext cx="3810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35" name="Text Box 83"/>
          <p:cNvSpPr txBox="1">
            <a:spLocks noChangeArrowheads="1"/>
          </p:cNvSpPr>
          <p:nvPr/>
        </p:nvSpPr>
        <p:spPr bwMode="auto">
          <a:xfrm>
            <a:off x="2667000" y="39624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l-GR" b="1">
                <a:solidFill>
                  <a:srgbClr val="C00000"/>
                </a:solidFill>
              </a:rPr>
              <a:t>Δ</a:t>
            </a:r>
            <a:r>
              <a:rPr lang="en-US" b="1">
                <a:solidFill>
                  <a:srgbClr val="C00000"/>
                </a:solidFill>
              </a:rPr>
              <a:t>IB</a:t>
            </a:r>
          </a:p>
        </p:txBody>
      </p:sp>
      <p:sp>
        <p:nvSpPr>
          <p:cNvPr id="23636" name="Text Box 84"/>
          <p:cNvSpPr txBox="1">
            <a:spLocks noChangeArrowheads="1"/>
          </p:cNvSpPr>
          <p:nvPr/>
        </p:nvSpPr>
        <p:spPr bwMode="auto">
          <a:xfrm>
            <a:off x="2316163" y="4572000"/>
            <a:ext cx="7635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l-GR" b="1">
                <a:solidFill>
                  <a:srgbClr val="C00000"/>
                </a:solidFill>
              </a:rPr>
              <a:t>Δ</a:t>
            </a:r>
            <a:r>
              <a:rPr lang="en-US" b="1">
                <a:solidFill>
                  <a:srgbClr val="C00000"/>
                </a:solidFill>
              </a:rPr>
              <a:t>VBE</a:t>
            </a:r>
          </a:p>
        </p:txBody>
      </p:sp>
      <p:sp>
        <p:nvSpPr>
          <p:cNvPr id="23637" name="Rectangle 85"/>
          <p:cNvSpPr>
            <a:spLocks noChangeArrowheads="1"/>
          </p:cNvSpPr>
          <p:nvPr/>
        </p:nvSpPr>
        <p:spPr bwMode="auto">
          <a:xfrm>
            <a:off x="3200400" y="4572000"/>
            <a:ext cx="1600200" cy="762000"/>
          </a:xfrm>
          <a:prstGeom prst="rect">
            <a:avLst/>
          </a:prstGeom>
          <a:solidFill>
            <a:srgbClr val="00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>
                <a:solidFill>
                  <a:srgbClr val="FFFF00"/>
                </a:solidFill>
                <a:latin typeface="Calibri" pitchFamily="34" charset="0"/>
              </a:rPr>
              <a:t>Ri=</a:t>
            </a:r>
            <a:r>
              <a:rPr lang="el-GR" sz="1600" b="1">
                <a:solidFill>
                  <a:srgbClr val="FFFF00"/>
                </a:solidFill>
                <a:latin typeface="Calibri" pitchFamily="34" charset="0"/>
              </a:rPr>
              <a:t>Δ</a:t>
            </a:r>
            <a:r>
              <a:rPr lang="en-US" sz="1600" b="1">
                <a:solidFill>
                  <a:srgbClr val="FFFF00"/>
                </a:solidFill>
                <a:latin typeface="Calibri" pitchFamily="34" charset="0"/>
              </a:rPr>
              <a:t>VBE/</a:t>
            </a:r>
            <a:r>
              <a:rPr lang="el-GR" sz="1600" b="1">
                <a:solidFill>
                  <a:srgbClr val="FFFF00"/>
                </a:solidFill>
                <a:latin typeface="Calibri" pitchFamily="34" charset="0"/>
              </a:rPr>
              <a:t>Δ</a:t>
            </a:r>
            <a:r>
              <a:rPr lang="en-US" sz="1600" b="1">
                <a:solidFill>
                  <a:srgbClr val="FFFF00"/>
                </a:solidFill>
                <a:latin typeface="Calibri" pitchFamily="34" charset="0"/>
              </a:rPr>
              <a:t>IB</a:t>
            </a:r>
          </a:p>
          <a:p>
            <a:pPr algn="ctr"/>
            <a:endParaRPr lang="en-US" sz="1600" b="1">
              <a:solidFill>
                <a:srgbClr val="FFFF00"/>
              </a:solidFill>
              <a:latin typeface="Calibri" pitchFamily="34" charset="0"/>
            </a:endParaRPr>
          </a:p>
          <a:p>
            <a:pPr algn="ctr"/>
            <a:r>
              <a:rPr lang="en-US" sz="1600" b="1">
                <a:solidFill>
                  <a:srgbClr val="FF0000"/>
                </a:solidFill>
                <a:latin typeface="Calibri" pitchFamily="34" charset="0"/>
              </a:rPr>
              <a:t>VCE Constant</a:t>
            </a:r>
            <a:endParaRPr lang="el-GR" sz="1600" b="1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3638" name="TextBox 1"/>
          <p:cNvSpPr txBox="1">
            <a:spLocks noChangeArrowheads="1"/>
          </p:cNvSpPr>
          <p:nvPr/>
        </p:nvSpPr>
        <p:spPr bwMode="auto">
          <a:xfrm>
            <a:off x="2971800" y="685800"/>
            <a:ext cx="2992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400" b="1">
                <a:solidFill>
                  <a:srgbClr val="0000FF"/>
                </a:solidFill>
                <a:latin typeface="Times New Roman" pitchFamily="18" charset="0"/>
              </a:rPr>
              <a:t>Input characteristics</a:t>
            </a:r>
            <a:endParaRPr lang="en-US" sz="240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6A60B5-E8D3-42AA-8589-38344588CE0E}" type="slidenum">
              <a:rPr lang="en-US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05576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0"/>
            <a:ext cx="6324600" cy="636588"/>
          </a:xfrm>
        </p:spPr>
        <p:txBody>
          <a:bodyPr/>
          <a:lstStyle/>
          <a:p>
            <a:pPr algn="l"/>
            <a:r>
              <a:rPr lang="en-US" sz="2400" b="1">
                <a:solidFill>
                  <a:srgbClr val="FF0000"/>
                </a:solidFill>
              </a:rPr>
              <a:t>Characteristics of a transistor in CE configuration</a:t>
            </a:r>
            <a:r>
              <a:rPr lang="en-US" sz="2400" b="1" baseline="-16000">
                <a:solidFill>
                  <a:srgbClr val="FFFF00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914400"/>
            <a:ext cx="4648200" cy="5943600"/>
          </a:xfrm>
        </p:spPr>
        <p:txBody>
          <a:bodyPr/>
          <a:lstStyle/>
          <a:p>
            <a:pPr algn="just"/>
            <a:r>
              <a:rPr lang="en-US" sz="2400">
                <a:latin typeface="Times New Roman" pitchFamily="18" charset="0"/>
              </a:rPr>
              <a:t>It is a graph of output current </a:t>
            </a:r>
            <a:r>
              <a:rPr lang="en-US" sz="2400">
                <a:solidFill>
                  <a:srgbClr val="C00000"/>
                </a:solidFill>
                <a:latin typeface="Times New Roman" pitchFamily="18" charset="0"/>
              </a:rPr>
              <a:t>(I</a:t>
            </a:r>
            <a:r>
              <a:rPr lang="en-US" sz="2400" baseline="-18000">
                <a:solidFill>
                  <a:srgbClr val="C00000"/>
                </a:solidFill>
                <a:latin typeface="Times New Roman" pitchFamily="18" charset="0"/>
              </a:rPr>
              <a:t>c</a:t>
            </a:r>
            <a:r>
              <a:rPr lang="en-US" sz="2400">
                <a:solidFill>
                  <a:srgbClr val="C00000"/>
                </a:solidFill>
                <a:latin typeface="Times New Roman" pitchFamily="18" charset="0"/>
              </a:rPr>
              <a:t>)</a:t>
            </a:r>
            <a:r>
              <a:rPr lang="en-US" sz="2400">
                <a:latin typeface="Times New Roman" pitchFamily="18" charset="0"/>
              </a:rPr>
              <a:t> versus output voltage </a:t>
            </a:r>
            <a:r>
              <a:rPr lang="en-US" sz="2400">
                <a:solidFill>
                  <a:srgbClr val="C00000"/>
                </a:solidFill>
                <a:latin typeface="Times New Roman" pitchFamily="18" charset="0"/>
              </a:rPr>
              <a:t>(V</a:t>
            </a:r>
            <a:r>
              <a:rPr lang="en-US" sz="2400" baseline="-18000">
                <a:solidFill>
                  <a:srgbClr val="C00000"/>
                </a:solidFill>
                <a:latin typeface="Times New Roman" pitchFamily="18" charset="0"/>
              </a:rPr>
              <a:t>CE</a:t>
            </a:r>
            <a:r>
              <a:rPr lang="en-US" sz="2400">
                <a:solidFill>
                  <a:srgbClr val="C00000"/>
                </a:solidFill>
                <a:latin typeface="Times New Roman" pitchFamily="18" charset="0"/>
              </a:rPr>
              <a:t>)</a:t>
            </a:r>
            <a:r>
              <a:rPr lang="en-US" sz="2400">
                <a:latin typeface="Times New Roman" pitchFamily="18" charset="0"/>
              </a:rPr>
              <a:t> at a constant input current </a:t>
            </a:r>
            <a:r>
              <a:rPr lang="en-US" sz="2400">
                <a:solidFill>
                  <a:srgbClr val="C00000"/>
                </a:solidFill>
                <a:latin typeface="Times New Roman" pitchFamily="18" charset="0"/>
              </a:rPr>
              <a:t>(I</a:t>
            </a:r>
            <a:r>
              <a:rPr lang="en-US" sz="2400" baseline="-18000">
                <a:solidFill>
                  <a:srgbClr val="C00000"/>
                </a:solidFill>
                <a:latin typeface="Times New Roman" pitchFamily="18" charset="0"/>
              </a:rPr>
              <a:t>B</a:t>
            </a:r>
            <a:r>
              <a:rPr lang="en-US" sz="2400">
                <a:solidFill>
                  <a:srgbClr val="C00000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24580" name="Oval 4"/>
          <p:cNvSpPr>
            <a:spLocks noChangeArrowheads="1"/>
          </p:cNvSpPr>
          <p:nvPr/>
        </p:nvSpPr>
        <p:spPr bwMode="auto">
          <a:xfrm>
            <a:off x="6461125" y="2978150"/>
            <a:ext cx="1304925" cy="12668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4581" name="Line 5"/>
          <p:cNvSpPr>
            <a:spLocks noChangeShapeType="1"/>
          </p:cNvSpPr>
          <p:nvPr/>
        </p:nvSpPr>
        <p:spPr bwMode="auto">
          <a:xfrm>
            <a:off x="6767513" y="3208338"/>
            <a:ext cx="0" cy="8445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2" name="Line 6"/>
          <p:cNvSpPr>
            <a:spLocks noChangeShapeType="1"/>
          </p:cNvSpPr>
          <p:nvPr/>
        </p:nvSpPr>
        <p:spPr bwMode="auto">
          <a:xfrm>
            <a:off x="6805613" y="3822700"/>
            <a:ext cx="576262" cy="346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Line 7"/>
          <p:cNvSpPr>
            <a:spLocks noChangeShapeType="1"/>
          </p:cNvSpPr>
          <p:nvPr/>
        </p:nvSpPr>
        <p:spPr bwMode="auto">
          <a:xfrm flipV="1">
            <a:off x="6805613" y="3054350"/>
            <a:ext cx="500062" cy="384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4" name="Line 8"/>
          <p:cNvSpPr>
            <a:spLocks noChangeShapeType="1"/>
          </p:cNvSpPr>
          <p:nvPr/>
        </p:nvSpPr>
        <p:spPr bwMode="auto">
          <a:xfrm flipH="1">
            <a:off x="7315200" y="4168775"/>
            <a:ext cx="28575" cy="18653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>
            <a:off x="7299325" y="1371600"/>
            <a:ext cx="6350" cy="1682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7446963" y="5591175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</a:t>
            </a:r>
          </a:p>
        </p:txBody>
      </p:sp>
      <p:sp>
        <p:nvSpPr>
          <p:cNvPr id="24587" name="Text Box 11"/>
          <p:cNvSpPr txBox="1">
            <a:spLocks noChangeArrowheads="1"/>
          </p:cNvSpPr>
          <p:nvPr/>
        </p:nvSpPr>
        <p:spPr bwMode="auto">
          <a:xfrm>
            <a:off x="7339013" y="1409700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C</a:t>
            </a:r>
          </a:p>
        </p:txBody>
      </p:sp>
      <p:sp>
        <p:nvSpPr>
          <p:cNvPr id="24588" name="Oval 12"/>
          <p:cNvSpPr>
            <a:spLocks noChangeArrowheads="1"/>
          </p:cNvSpPr>
          <p:nvPr/>
        </p:nvSpPr>
        <p:spPr bwMode="auto">
          <a:xfrm>
            <a:off x="7223125" y="1295400"/>
            <a:ext cx="153988" cy="153988"/>
          </a:xfrm>
          <a:prstGeom prst="ellipse">
            <a:avLst/>
          </a:prstGeom>
          <a:solidFill>
            <a:schemeClr val="bg1">
              <a:alpha val="89803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5562600" y="6134100"/>
            <a:ext cx="3352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/>
            <a:r>
              <a:rPr lang="en-US" sz="2000">
                <a:solidFill>
                  <a:srgbClr val="C00000"/>
                </a:solidFill>
                <a:latin typeface="Calibri" pitchFamily="34" charset="0"/>
              </a:rPr>
              <a:t>N-P-N Transistor</a:t>
            </a:r>
          </a:p>
        </p:txBody>
      </p:sp>
      <p:sp>
        <p:nvSpPr>
          <p:cNvPr id="24590" name="Line 14"/>
          <p:cNvSpPr>
            <a:spLocks noChangeShapeType="1"/>
          </p:cNvSpPr>
          <p:nvPr/>
        </p:nvSpPr>
        <p:spPr bwMode="auto">
          <a:xfrm>
            <a:off x="5410200" y="6034088"/>
            <a:ext cx="19319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1" name="Line 15"/>
          <p:cNvSpPr>
            <a:spLocks noChangeShapeType="1"/>
          </p:cNvSpPr>
          <p:nvPr/>
        </p:nvSpPr>
        <p:spPr bwMode="auto">
          <a:xfrm>
            <a:off x="7315200" y="6034088"/>
            <a:ext cx="1295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2" name="Line 16"/>
          <p:cNvSpPr>
            <a:spLocks noChangeShapeType="1"/>
          </p:cNvSpPr>
          <p:nvPr/>
        </p:nvSpPr>
        <p:spPr bwMode="auto">
          <a:xfrm>
            <a:off x="7339013" y="1371600"/>
            <a:ext cx="11906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3" name="Line 17"/>
          <p:cNvSpPr>
            <a:spLocks noChangeShapeType="1"/>
          </p:cNvSpPr>
          <p:nvPr/>
        </p:nvSpPr>
        <p:spPr bwMode="auto">
          <a:xfrm>
            <a:off x="8385175" y="4043363"/>
            <a:ext cx="3841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4" name="Line 18"/>
          <p:cNvSpPr>
            <a:spLocks noChangeShapeType="1"/>
          </p:cNvSpPr>
          <p:nvPr/>
        </p:nvSpPr>
        <p:spPr bwMode="auto">
          <a:xfrm>
            <a:off x="8385175" y="3735388"/>
            <a:ext cx="3841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5" name="Line 19"/>
          <p:cNvSpPr>
            <a:spLocks noChangeShapeType="1"/>
          </p:cNvSpPr>
          <p:nvPr/>
        </p:nvSpPr>
        <p:spPr bwMode="auto">
          <a:xfrm>
            <a:off x="8269288" y="3582988"/>
            <a:ext cx="652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6" name="Line 20"/>
          <p:cNvSpPr>
            <a:spLocks noChangeShapeType="1"/>
          </p:cNvSpPr>
          <p:nvPr/>
        </p:nvSpPr>
        <p:spPr bwMode="auto">
          <a:xfrm>
            <a:off x="8231188" y="3889375"/>
            <a:ext cx="652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7" name="Text Box 21"/>
          <p:cNvSpPr txBox="1">
            <a:spLocks noChangeArrowheads="1"/>
          </p:cNvSpPr>
          <p:nvPr/>
        </p:nvSpPr>
        <p:spPr bwMode="auto">
          <a:xfrm>
            <a:off x="8672513" y="4043363"/>
            <a:ext cx="260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-</a:t>
            </a:r>
          </a:p>
        </p:txBody>
      </p:sp>
      <p:sp>
        <p:nvSpPr>
          <p:cNvPr id="24598" name="Text Box 22"/>
          <p:cNvSpPr txBox="1">
            <a:spLocks noChangeArrowheads="1"/>
          </p:cNvSpPr>
          <p:nvPr/>
        </p:nvSpPr>
        <p:spPr bwMode="auto">
          <a:xfrm>
            <a:off x="8653463" y="3138488"/>
            <a:ext cx="317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+</a:t>
            </a:r>
          </a:p>
        </p:txBody>
      </p:sp>
      <p:sp>
        <p:nvSpPr>
          <p:cNvPr id="24599" name="Line 23"/>
          <p:cNvSpPr>
            <a:spLocks noChangeShapeType="1"/>
          </p:cNvSpPr>
          <p:nvPr/>
        </p:nvSpPr>
        <p:spPr bwMode="auto">
          <a:xfrm>
            <a:off x="8513763" y="2025650"/>
            <a:ext cx="193675" cy="115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0" name="Line 24"/>
          <p:cNvSpPr>
            <a:spLocks noChangeShapeType="1"/>
          </p:cNvSpPr>
          <p:nvPr/>
        </p:nvSpPr>
        <p:spPr bwMode="auto">
          <a:xfrm>
            <a:off x="8399463" y="2371725"/>
            <a:ext cx="346075" cy="2301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1" name="Line 25"/>
          <p:cNvSpPr>
            <a:spLocks noChangeShapeType="1"/>
          </p:cNvSpPr>
          <p:nvPr/>
        </p:nvSpPr>
        <p:spPr bwMode="auto">
          <a:xfrm flipV="1">
            <a:off x="8399463" y="2601913"/>
            <a:ext cx="346075" cy="192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2" name="Line 26"/>
          <p:cNvSpPr>
            <a:spLocks noChangeShapeType="1"/>
          </p:cNvSpPr>
          <p:nvPr/>
        </p:nvSpPr>
        <p:spPr bwMode="auto">
          <a:xfrm flipV="1">
            <a:off x="8361363" y="2141538"/>
            <a:ext cx="384175" cy="2301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3" name="Text Box 27"/>
          <p:cNvSpPr txBox="1">
            <a:spLocks noChangeArrowheads="1"/>
          </p:cNvSpPr>
          <p:nvPr/>
        </p:nvSpPr>
        <p:spPr bwMode="auto">
          <a:xfrm>
            <a:off x="8610600" y="2224088"/>
            <a:ext cx="450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RE</a:t>
            </a:r>
          </a:p>
        </p:txBody>
      </p:sp>
      <p:sp>
        <p:nvSpPr>
          <p:cNvPr id="24604" name="Line 28"/>
          <p:cNvSpPr>
            <a:spLocks noChangeShapeType="1"/>
          </p:cNvSpPr>
          <p:nvPr/>
        </p:nvSpPr>
        <p:spPr bwMode="auto">
          <a:xfrm>
            <a:off x="8513763" y="1385888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5" name="Line 29"/>
          <p:cNvSpPr>
            <a:spLocks noChangeShapeType="1"/>
          </p:cNvSpPr>
          <p:nvPr/>
        </p:nvSpPr>
        <p:spPr bwMode="auto">
          <a:xfrm>
            <a:off x="8589963" y="2909888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6" name="Line 30"/>
          <p:cNvSpPr>
            <a:spLocks noChangeShapeType="1"/>
          </p:cNvSpPr>
          <p:nvPr/>
        </p:nvSpPr>
        <p:spPr bwMode="auto">
          <a:xfrm>
            <a:off x="8437563" y="2794000"/>
            <a:ext cx="193675" cy="115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7" name="Line 31"/>
          <p:cNvSpPr>
            <a:spLocks noChangeShapeType="1"/>
          </p:cNvSpPr>
          <p:nvPr/>
        </p:nvSpPr>
        <p:spPr bwMode="auto">
          <a:xfrm>
            <a:off x="8589963" y="4052888"/>
            <a:ext cx="0" cy="1981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8" name="Text Box 32"/>
          <p:cNvSpPr txBox="1">
            <a:spLocks noChangeArrowheads="1"/>
          </p:cNvSpPr>
          <p:nvPr/>
        </p:nvSpPr>
        <p:spPr bwMode="auto">
          <a:xfrm>
            <a:off x="4997450" y="3457575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B</a:t>
            </a:r>
          </a:p>
        </p:txBody>
      </p:sp>
      <p:sp>
        <p:nvSpPr>
          <p:cNvPr id="24609" name="Line 33"/>
          <p:cNvSpPr>
            <a:spLocks noChangeShapeType="1"/>
          </p:cNvSpPr>
          <p:nvPr/>
        </p:nvSpPr>
        <p:spPr bwMode="auto">
          <a:xfrm>
            <a:off x="5100638" y="5321300"/>
            <a:ext cx="652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10" name="Line 34"/>
          <p:cNvSpPr>
            <a:spLocks noChangeShapeType="1"/>
          </p:cNvSpPr>
          <p:nvPr/>
        </p:nvSpPr>
        <p:spPr bwMode="auto">
          <a:xfrm>
            <a:off x="5254625" y="5473700"/>
            <a:ext cx="3841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11" name="Line 35"/>
          <p:cNvSpPr>
            <a:spLocks noChangeShapeType="1"/>
          </p:cNvSpPr>
          <p:nvPr/>
        </p:nvSpPr>
        <p:spPr bwMode="auto">
          <a:xfrm>
            <a:off x="5254625" y="5783263"/>
            <a:ext cx="3841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12" name="Line 36"/>
          <p:cNvSpPr>
            <a:spLocks noChangeShapeType="1"/>
          </p:cNvSpPr>
          <p:nvPr/>
        </p:nvSpPr>
        <p:spPr bwMode="auto">
          <a:xfrm>
            <a:off x="5100638" y="5627688"/>
            <a:ext cx="652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13" name="Text Box 37"/>
          <p:cNvSpPr txBox="1">
            <a:spLocks noChangeArrowheads="1"/>
          </p:cNvSpPr>
          <p:nvPr/>
        </p:nvSpPr>
        <p:spPr bwMode="auto">
          <a:xfrm>
            <a:off x="5522913" y="4860925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+</a:t>
            </a:r>
          </a:p>
        </p:txBody>
      </p:sp>
      <p:sp>
        <p:nvSpPr>
          <p:cNvPr id="24614" name="Text Box 38"/>
          <p:cNvSpPr txBox="1">
            <a:spLocks noChangeArrowheads="1"/>
          </p:cNvSpPr>
          <p:nvPr/>
        </p:nvSpPr>
        <p:spPr bwMode="auto">
          <a:xfrm>
            <a:off x="5561013" y="5743575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-</a:t>
            </a:r>
          </a:p>
        </p:txBody>
      </p:sp>
      <p:sp>
        <p:nvSpPr>
          <p:cNvPr id="24615" name="Line 39"/>
          <p:cNvSpPr>
            <a:spLocks noChangeShapeType="1"/>
          </p:cNvSpPr>
          <p:nvPr/>
        </p:nvSpPr>
        <p:spPr bwMode="auto">
          <a:xfrm>
            <a:off x="5334000" y="4006850"/>
            <a:ext cx="193675" cy="115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16" name="Line 40"/>
          <p:cNvSpPr>
            <a:spLocks noChangeShapeType="1"/>
          </p:cNvSpPr>
          <p:nvPr/>
        </p:nvSpPr>
        <p:spPr bwMode="auto">
          <a:xfrm>
            <a:off x="5219700" y="4352925"/>
            <a:ext cx="346075" cy="2301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17" name="Line 41"/>
          <p:cNvSpPr>
            <a:spLocks noChangeShapeType="1"/>
          </p:cNvSpPr>
          <p:nvPr/>
        </p:nvSpPr>
        <p:spPr bwMode="auto">
          <a:xfrm flipV="1">
            <a:off x="5219700" y="4583113"/>
            <a:ext cx="346075" cy="192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18" name="Line 42"/>
          <p:cNvSpPr>
            <a:spLocks noChangeShapeType="1"/>
          </p:cNvSpPr>
          <p:nvPr/>
        </p:nvSpPr>
        <p:spPr bwMode="auto">
          <a:xfrm flipV="1">
            <a:off x="5181600" y="4122738"/>
            <a:ext cx="384175" cy="2301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19" name="Line 43"/>
          <p:cNvSpPr>
            <a:spLocks noChangeShapeType="1"/>
          </p:cNvSpPr>
          <p:nvPr/>
        </p:nvSpPr>
        <p:spPr bwMode="auto">
          <a:xfrm>
            <a:off x="5257800" y="4775200"/>
            <a:ext cx="193675" cy="115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0" name="Line 44"/>
          <p:cNvSpPr>
            <a:spLocks noChangeShapeType="1"/>
          </p:cNvSpPr>
          <p:nvPr/>
        </p:nvSpPr>
        <p:spPr bwMode="auto">
          <a:xfrm>
            <a:off x="5410200" y="3671888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1" name="Line 45"/>
          <p:cNvSpPr>
            <a:spLocks noChangeShapeType="1"/>
          </p:cNvSpPr>
          <p:nvPr/>
        </p:nvSpPr>
        <p:spPr bwMode="auto">
          <a:xfrm>
            <a:off x="5410200" y="4891088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2" name="Line 46"/>
          <p:cNvSpPr>
            <a:spLocks noChangeShapeType="1"/>
          </p:cNvSpPr>
          <p:nvPr/>
        </p:nvSpPr>
        <p:spPr bwMode="auto">
          <a:xfrm>
            <a:off x="5410200" y="5805488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3" name="Text Box 47"/>
          <p:cNvSpPr txBox="1">
            <a:spLocks noChangeArrowheads="1"/>
          </p:cNvSpPr>
          <p:nvPr/>
        </p:nvSpPr>
        <p:spPr bwMode="auto">
          <a:xfrm>
            <a:off x="4724400" y="4205288"/>
            <a:ext cx="450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RB</a:t>
            </a:r>
          </a:p>
        </p:txBody>
      </p:sp>
      <p:sp>
        <p:nvSpPr>
          <p:cNvPr id="24624" name="Oval 48"/>
          <p:cNvSpPr>
            <a:spLocks noChangeArrowheads="1"/>
          </p:cNvSpPr>
          <p:nvPr/>
        </p:nvSpPr>
        <p:spPr bwMode="auto">
          <a:xfrm>
            <a:off x="7239000" y="5956300"/>
            <a:ext cx="153988" cy="153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4625" name="Line 49"/>
          <p:cNvSpPr>
            <a:spLocks noChangeShapeType="1"/>
          </p:cNvSpPr>
          <p:nvPr/>
        </p:nvSpPr>
        <p:spPr bwMode="auto">
          <a:xfrm>
            <a:off x="7010400" y="1538288"/>
            <a:ext cx="0" cy="838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6" name="Text Box 50"/>
          <p:cNvSpPr txBox="1">
            <a:spLocks noChangeArrowheads="1"/>
          </p:cNvSpPr>
          <p:nvPr/>
        </p:nvSpPr>
        <p:spPr bwMode="auto">
          <a:xfrm>
            <a:off x="6537325" y="1646238"/>
            <a:ext cx="419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IC</a:t>
            </a:r>
          </a:p>
        </p:txBody>
      </p:sp>
      <p:sp>
        <p:nvSpPr>
          <p:cNvPr id="24627" name="Line 51"/>
          <p:cNvSpPr>
            <a:spLocks noChangeShapeType="1"/>
          </p:cNvSpPr>
          <p:nvPr/>
        </p:nvSpPr>
        <p:spPr bwMode="auto">
          <a:xfrm>
            <a:off x="5715000" y="3505200"/>
            <a:ext cx="533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8" name="Line 52"/>
          <p:cNvSpPr>
            <a:spLocks noChangeShapeType="1"/>
          </p:cNvSpPr>
          <p:nvPr/>
        </p:nvSpPr>
        <p:spPr bwMode="auto">
          <a:xfrm>
            <a:off x="7086600" y="4586288"/>
            <a:ext cx="0" cy="838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9" name="Text Box 53"/>
          <p:cNvSpPr txBox="1">
            <a:spLocks noChangeArrowheads="1"/>
          </p:cNvSpPr>
          <p:nvPr/>
        </p:nvSpPr>
        <p:spPr bwMode="auto">
          <a:xfrm>
            <a:off x="6661150" y="4905375"/>
            <a:ext cx="414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IE</a:t>
            </a:r>
          </a:p>
        </p:txBody>
      </p:sp>
      <p:sp>
        <p:nvSpPr>
          <p:cNvPr id="24630" name="Text Box 54"/>
          <p:cNvSpPr txBox="1">
            <a:spLocks noChangeArrowheads="1"/>
          </p:cNvSpPr>
          <p:nvPr/>
        </p:nvSpPr>
        <p:spPr bwMode="auto">
          <a:xfrm>
            <a:off x="8534400" y="4219575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chemeClr val="folHlink"/>
                </a:solidFill>
              </a:rPr>
              <a:t>VCC</a:t>
            </a:r>
          </a:p>
        </p:txBody>
      </p:sp>
      <p:sp>
        <p:nvSpPr>
          <p:cNvPr id="24631" name="Text Box 55"/>
          <p:cNvSpPr txBox="1">
            <a:spLocks noChangeArrowheads="1"/>
          </p:cNvSpPr>
          <p:nvPr/>
        </p:nvSpPr>
        <p:spPr bwMode="auto">
          <a:xfrm>
            <a:off x="7580313" y="4038600"/>
            <a:ext cx="625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VCE </a:t>
            </a:r>
            <a:endParaRPr lang="en-US" sz="1400" b="1">
              <a:solidFill>
                <a:srgbClr val="FF0000"/>
              </a:solidFill>
            </a:endParaRPr>
          </a:p>
        </p:txBody>
      </p:sp>
      <p:sp>
        <p:nvSpPr>
          <p:cNvPr id="24632" name="Text Box 56"/>
          <p:cNvSpPr txBox="1">
            <a:spLocks noChangeArrowheads="1"/>
          </p:cNvSpPr>
          <p:nvPr/>
        </p:nvSpPr>
        <p:spPr bwMode="auto">
          <a:xfrm>
            <a:off x="5973763" y="4143375"/>
            <a:ext cx="5794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VBE</a:t>
            </a:r>
          </a:p>
        </p:txBody>
      </p:sp>
      <p:sp>
        <p:nvSpPr>
          <p:cNvPr id="24633" name="Line 57"/>
          <p:cNvSpPr>
            <a:spLocks noChangeShapeType="1"/>
          </p:cNvSpPr>
          <p:nvPr/>
        </p:nvSpPr>
        <p:spPr bwMode="auto">
          <a:xfrm>
            <a:off x="7543800" y="29098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4" name="Line 58"/>
          <p:cNvSpPr>
            <a:spLocks noChangeShapeType="1"/>
          </p:cNvSpPr>
          <p:nvPr/>
        </p:nvSpPr>
        <p:spPr bwMode="auto">
          <a:xfrm flipV="1">
            <a:off x="7924800" y="2909888"/>
            <a:ext cx="0" cy="9906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5" name="Line 59"/>
          <p:cNvSpPr>
            <a:spLocks noChangeShapeType="1"/>
          </p:cNvSpPr>
          <p:nvPr/>
        </p:nvSpPr>
        <p:spPr bwMode="auto">
          <a:xfrm>
            <a:off x="7924800" y="4586288"/>
            <a:ext cx="0" cy="14478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6" name="Line 60"/>
          <p:cNvSpPr>
            <a:spLocks noChangeShapeType="1"/>
          </p:cNvSpPr>
          <p:nvPr/>
        </p:nvSpPr>
        <p:spPr bwMode="auto">
          <a:xfrm>
            <a:off x="5486400" y="3671888"/>
            <a:ext cx="1295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7" name="Oval 61"/>
          <p:cNvSpPr>
            <a:spLocks noChangeArrowheads="1"/>
          </p:cNvSpPr>
          <p:nvPr/>
        </p:nvSpPr>
        <p:spPr bwMode="auto">
          <a:xfrm>
            <a:off x="5334000" y="3594100"/>
            <a:ext cx="153988" cy="153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4638" name="Line 62"/>
          <p:cNvSpPr>
            <a:spLocks noChangeShapeType="1"/>
          </p:cNvSpPr>
          <p:nvPr/>
        </p:nvSpPr>
        <p:spPr bwMode="auto">
          <a:xfrm>
            <a:off x="6324600" y="4662488"/>
            <a:ext cx="0" cy="12954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9" name="Line 63"/>
          <p:cNvSpPr>
            <a:spLocks noChangeShapeType="1"/>
          </p:cNvSpPr>
          <p:nvPr/>
        </p:nvSpPr>
        <p:spPr bwMode="auto">
          <a:xfrm flipV="1">
            <a:off x="6324600" y="3671888"/>
            <a:ext cx="0" cy="4572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40" name="Text Box 64"/>
          <p:cNvSpPr txBox="1">
            <a:spLocks noChangeArrowheads="1"/>
          </p:cNvSpPr>
          <p:nvPr/>
        </p:nvSpPr>
        <p:spPr bwMode="auto">
          <a:xfrm>
            <a:off x="4648200" y="4814888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chemeClr val="folHlink"/>
                </a:solidFill>
              </a:rPr>
              <a:t>VBB</a:t>
            </a:r>
          </a:p>
        </p:txBody>
      </p:sp>
      <p:sp>
        <p:nvSpPr>
          <p:cNvPr id="24641" name="Line 65"/>
          <p:cNvSpPr>
            <a:spLocks noChangeShapeType="1"/>
          </p:cNvSpPr>
          <p:nvPr/>
        </p:nvSpPr>
        <p:spPr bwMode="auto">
          <a:xfrm>
            <a:off x="685800" y="57150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42" name="Line 66"/>
          <p:cNvSpPr>
            <a:spLocks noChangeShapeType="1"/>
          </p:cNvSpPr>
          <p:nvPr/>
        </p:nvSpPr>
        <p:spPr bwMode="auto">
          <a:xfrm flipV="1">
            <a:off x="914400" y="2971800"/>
            <a:ext cx="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43" name="Text Box 67"/>
          <p:cNvSpPr txBox="1">
            <a:spLocks noChangeArrowheads="1"/>
          </p:cNvSpPr>
          <p:nvPr/>
        </p:nvSpPr>
        <p:spPr bwMode="auto">
          <a:xfrm>
            <a:off x="3622675" y="5821363"/>
            <a:ext cx="573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VCE</a:t>
            </a:r>
            <a:endParaRPr lang="el-GR" sz="1400" b="1">
              <a:solidFill>
                <a:srgbClr val="FF0000"/>
              </a:solidFill>
            </a:endParaRPr>
          </a:p>
        </p:txBody>
      </p:sp>
      <p:sp>
        <p:nvSpPr>
          <p:cNvPr id="24644" name="Freeform 68"/>
          <p:cNvSpPr>
            <a:spLocks/>
          </p:cNvSpPr>
          <p:nvPr/>
        </p:nvSpPr>
        <p:spPr bwMode="auto">
          <a:xfrm rot="3268802">
            <a:off x="1614487" y="4125913"/>
            <a:ext cx="1311275" cy="2565400"/>
          </a:xfrm>
          <a:custGeom>
            <a:avLst/>
            <a:gdLst>
              <a:gd name="T0" fmla="*/ 2147483647 w 1864"/>
              <a:gd name="T1" fmla="*/ 2147483647 h 816"/>
              <a:gd name="T2" fmla="*/ 2147483647 w 1864"/>
              <a:gd name="T3" fmla="*/ 2147483647 h 816"/>
              <a:gd name="T4" fmla="*/ 2147483647 w 1864"/>
              <a:gd name="T5" fmla="*/ 0 h 816"/>
              <a:gd name="T6" fmla="*/ 0 60000 65536"/>
              <a:gd name="T7" fmla="*/ 0 60000 65536"/>
              <a:gd name="T8" fmla="*/ 0 60000 65536"/>
              <a:gd name="T9" fmla="*/ 0 w 1864"/>
              <a:gd name="T10" fmla="*/ 0 h 816"/>
              <a:gd name="T11" fmla="*/ 1864 w 1864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64" h="816">
                <a:moveTo>
                  <a:pt x="184" y="816"/>
                </a:moveTo>
                <a:cubicBezTo>
                  <a:pt x="92" y="764"/>
                  <a:pt x="0" y="712"/>
                  <a:pt x="280" y="576"/>
                </a:cubicBezTo>
                <a:cubicBezTo>
                  <a:pt x="560" y="440"/>
                  <a:pt x="1212" y="220"/>
                  <a:pt x="1864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4645" name="Text Box 69"/>
          <p:cNvSpPr txBox="1">
            <a:spLocks noChangeArrowheads="1"/>
          </p:cNvSpPr>
          <p:nvPr/>
        </p:nvSpPr>
        <p:spPr bwMode="auto">
          <a:xfrm>
            <a:off x="3505200" y="5232400"/>
            <a:ext cx="13065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600" b="1">
                <a:solidFill>
                  <a:srgbClr val="FF0000"/>
                </a:solidFill>
              </a:rPr>
              <a:t>IB  = 0      </a:t>
            </a:r>
          </a:p>
        </p:txBody>
      </p:sp>
      <p:sp>
        <p:nvSpPr>
          <p:cNvPr id="24646" name="Text Box 70"/>
          <p:cNvSpPr txBox="1">
            <a:spLocks noChangeArrowheads="1"/>
          </p:cNvSpPr>
          <p:nvPr/>
        </p:nvSpPr>
        <p:spPr bwMode="auto">
          <a:xfrm>
            <a:off x="617538" y="3479800"/>
            <a:ext cx="296862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/>
              <a:t>4</a:t>
            </a:r>
          </a:p>
          <a:p>
            <a:endParaRPr lang="en-US" sz="1400"/>
          </a:p>
          <a:p>
            <a:r>
              <a:rPr lang="en-US" sz="1400"/>
              <a:t>3</a:t>
            </a:r>
          </a:p>
          <a:p>
            <a:endParaRPr lang="en-US" sz="1400"/>
          </a:p>
          <a:p>
            <a:endParaRPr lang="en-US" sz="1400"/>
          </a:p>
          <a:p>
            <a:r>
              <a:rPr lang="en-US" sz="1400"/>
              <a:t>2</a:t>
            </a:r>
          </a:p>
          <a:p>
            <a:endParaRPr lang="en-US" sz="1400"/>
          </a:p>
          <a:p>
            <a:endParaRPr lang="en-US" sz="1400"/>
          </a:p>
          <a:p>
            <a:r>
              <a:rPr lang="en-US" sz="1400"/>
              <a:t>1</a:t>
            </a:r>
          </a:p>
        </p:txBody>
      </p:sp>
      <p:sp>
        <p:nvSpPr>
          <p:cNvPr id="24647" name="Text Box 71"/>
          <p:cNvSpPr txBox="1">
            <a:spLocks noChangeArrowheads="1"/>
          </p:cNvSpPr>
          <p:nvPr/>
        </p:nvSpPr>
        <p:spPr bwMode="auto">
          <a:xfrm>
            <a:off x="0" y="3048000"/>
            <a:ext cx="7048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IC</a:t>
            </a:r>
          </a:p>
          <a:p>
            <a:r>
              <a:rPr lang="en-US" sz="1400" b="1">
                <a:solidFill>
                  <a:srgbClr val="FF0000"/>
                </a:solidFill>
              </a:rPr>
              <a:t>(mA)</a:t>
            </a:r>
            <a:endParaRPr lang="el-GR" sz="1400" b="1">
              <a:solidFill>
                <a:srgbClr val="FF0000"/>
              </a:solidFill>
            </a:endParaRPr>
          </a:p>
        </p:txBody>
      </p:sp>
      <p:sp>
        <p:nvSpPr>
          <p:cNvPr id="24648" name="Text Box 72"/>
          <p:cNvSpPr txBox="1">
            <a:spLocks noChangeArrowheads="1"/>
          </p:cNvSpPr>
          <p:nvPr/>
        </p:nvSpPr>
        <p:spPr bwMode="auto">
          <a:xfrm>
            <a:off x="1279525" y="5721350"/>
            <a:ext cx="2368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/>
              <a:t>1         2         3          4</a:t>
            </a:r>
          </a:p>
        </p:txBody>
      </p:sp>
      <p:sp>
        <p:nvSpPr>
          <p:cNvPr id="24649" name="Line 73"/>
          <p:cNvSpPr>
            <a:spLocks noChangeShapeType="1"/>
          </p:cNvSpPr>
          <p:nvPr/>
        </p:nvSpPr>
        <p:spPr bwMode="auto">
          <a:xfrm>
            <a:off x="36576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50" name="Line 74"/>
          <p:cNvSpPr>
            <a:spLocks noChangeShapeType="1"/>
          </p:cNvSpPr>
          <p:nvPr/>
        </p:nvSpPr>
        <p:spPr bwMode="auto">
          <a:xfrm>
            <a:off x="35814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51" name="Line 75"/>
          <p:cNvSpPr>
            <a:spLocks noChangeShapeType="1"/>
          </p:cNvSpPr>
          <p:nvPr/>
        </p:nvSpPr>
        <p:spPr bwMode="auto">
          <a:xfrm>
            <a:off x="35052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52" name="Line 76"/>
          <p:cNvSpPr>
            <a:spLocks noChangeShapeType="1"/>
          </p:cNvSpPr>
          <p:nvPr/>
        </p:nvSpPr>
        <p:spPr bwMode="auto">
          <a:xfrm>
            <a:off x="34290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53" name="Line 77"/>
          <p:cNvSpPr>
            <a:spLocks noChangeShapeType="1"/>
          </p:cNvSpPr>
          <p:nvPr/>
        </p:nvSpPr>
        <p:spPr bwMode="auto">
          <a:xfrm>
            <a:off x="33528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54" name="Line 78"/>
          <p:cNvSpPr>
            <a:spLocks noChangeShapeType="1"/>
          </p:cNvSpPr>
          <p:nvPr/>
        </p:nvSpPr>
        <p:spPr bwMode="auto">
          <a:xfrm>
            <a:off x="32766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55" name="Line 79"/>
          <p:cNvSpPr>
            <a:spLocks noChangeShapeType="1"/>
          </p:cNvSpPr>
          <p:nvPr/>
        </p:nvSpPr>
        <p:spPr bwMode="auto">
          <a:xfrm>
            <a:off x="32004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56" name="Line 80"/>
          <p:cNvSpPr>
            <a:spLocks noChangeShapeType="1"/>
          </p:cNvSpPr>
          <p:nvPr/>
        </p:nvSpPr>
        <p:spPr bwMode="auto">
          <a:xfrm>
            <a:off x="31242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57" name="Line 81"/>
          <p:cNvSpPr>
            <a:spLocks noChangeShapeType="1"/>
          </p:cNvSpPr>
          <p:nvPr/>
        </p:nvSpPr>
        <p:spPr bwMode="auto">
          <a:xfrm>
            <a:off x="30480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58" name="Line 82"/>
          <p:cNvSpPr>
            <a:spLocks noChangeShapeType="1"/>
          </p:cNvSpPr>
          <p:nvPr/>
        </p:nvSpPr>
        <p:spPr bwMode="auto">
          <a:xfrm>
            <a:off x="29718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59" name="Line 83"/>
          <p:cNvSpPr>
            <a:spLocks noChangeShapeType="1"/>
          </p:cNvSpPr>
          <p:nvPr/>
        </p:nvSpPr>
        <p:spPr bwMode="auto">
          <a:xfrm>
            <a:off x="28956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0" name="Line 84"/>
          <p:cNvSpPr>
            <a:spLocks noChangeShapeType="1"/>
          </p:cNvSpPr>
          <p:nvPr/>
        </p:nvSpPr>
        <p:spPr bwMode="auto">
          <a:xfrm>
            <a:off x="28194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1" name="Line 85"/>
          <p:cNvSpPr>
            <a:spLocks noChangeShapeType="1"/>
          </p:cNvSpPr>
          <p:nvPr/>
        </p:nvSpPr>
        <p:spPr bwMode="auto">
          <a:xfrm>
            <a:off x="27432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2" name="Line 86"/>
          <p:cNvSpPr>
            <a:spLocks noChangeShapeType="1"/>
          </p:cNvSpPr>
          <p:nvPr/>
        </p:nvSpPr>
        <p:spPr bwMode="auto">
          <a:xfrm>
            <a:off x="26670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3" name="Line 87"/>
          <p:cNvSpPr>
            <a:spLocks noChangeShapeType="1"/>
          </p:cNvSpPr>
          <p:nvPr/>
        </p:nvSpPr>
        <p:spPr bwMode="auto">
          <a:xfrm>
            <a:off x="25908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4" name="Line 88"/>
          <p:cNvSpPr>
            <a:spLocks noChangeShapeType="1"/>
          </p:cNvSpPr>
          <p:nvPr/>
        </p:nvSpPr>
        <p:spPr bwMode="auto">
          <a:xfrm>
            <a:off x="25146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5" name="Line 89"/>
          <p:cNvSpPr>
            <a:spLocks noChangeShapeType="1"/>
          </p:cNvSpPr>
          <p:nvPr/>
        </p:nvSpPr>
        <p:spPr bwMode="auto">
          <a:xfrm>
            <a:off x="24384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6" name="Line 90"/>
          <p:cNvSpPr>
            <a:spLocks noChangeShapeType="1"/>
          </p:cNvSpPr>
          <p:nvPr/>
        </p:nvSpPr>
        <p:spPr bwMode="auto">
          <a:xfrm>
            <a:off x="23622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7" name="Line 91"/>
          <p:cNvSpPr>
            <a:spLocks noChangeShapeType="1"/>
          </p:cNvSpPr>
          <p:nvPr/>
        </p:nvSpPr>
        <p:spPr bwMode="auto">
          <a:xfrm>
            <a:off x="22860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8" name="Line 92"/>
          <p:cNvSpPr>
            <a:spLocks noChangeShapeType="1"/>
          </p:cNvSpPr>
          <p:nvPr/>
        </p:nvSpPr>
        <p:spPr bwMode="auto">
          <a:xfrm>
            <a:off x="22098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69" name="Line 93"/>
          <p:cNvSpPr>
            <a:spLocks noChangeShapeType="1"/>
          </p:cNvSpPr>
          <p:nvPr/>
        </p:nvSpPr>
        <p:spPr bwMode="auto">
          <a:xfrm>
            <a:off x="21336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0" name="Line 94"/>
          <p:cNvSpPr>
            <a:spLocks noChangeShapeType="1"/>
          </p:cNvSpPr>
          <p:nvPr/>
        </p:nvSpPr>
        <p:spPr bwMode="auto">
          <a:xfrm>
            <a:off x="20574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1" name="Line 95"/>
          <p:cNvSpPr>
            <a:spLocks noChangeShapeType="1"/>
          </p:cNvSpPr>
          <p:nvPr/>
        </p:nvSpPr>
        <p:spPr bwMode="auto">
          <a:xfrm>
            <a:off x="19812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2" name="Line 96"/>
          <p:cNvSpPr>
            <a:spLocks noChangeShapeType="1"/>
          </p:cNvSpPr>
          <p:nvPr/>
        </p:nvSpPr>
        <p:spPr bwMode="auto">
          <a:xfrm>
            <a:off x="1905000" y="52578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3" name="Line 97"/>
          <p:cNvSpPr>
            <a:spLocks noChangeShapeType="1"/>
          </p:cNvSpPr>
          <p:nvPr/>
        </p:nvSpPr>
        <p:spPr bwMode="auto">
          <a:xfrm>
            <a:off x="1828800" y="5334000"/>
            <a:ext cx="0" cy="3810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4" name="Line 98"/>
          <p:cNvSpPr>
            <a:spLocks noChangeShapeType="1"/>
          </p:cNvSpPr>
          <p:nvPr/>
        </p:nvSpPr>
        <p:spPr bwMode="auto">
          <a:xfrm>
            <a:off x="1752600" y="5334000"/>
            <a:ext cx="0" cy="3810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5" name="Line 99"/>
          <p:cNvSpPr>
            <a:spLocks noChangeShapeType="1"/>
          </p:cNvSpPr>
          <p:nvPr/>
        </p:nvSpPr>
        <p:spPr bwMode="auto">
          <a:xfrm>
            <a:off x="1676400" y="5410200"/>
            <a:ext cx="0" cy="3048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6" name="Line 100"/>
          <p:cNvSpPr>
            <a:spLocks noChangeShapeType="1"/>
          </p:cNvSpPr>
          <p:nvPr/>
        </p:nvSpPr>
        <p:spPr bwMode="auto">
          <a:xfrm>
            <a:off x="1600200" y="5334000"/>
            <a:ext cx="0" cy="3810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7" name="Line 101"/>
          <p:cNvSpPr>
            <a:spLocks noChangeShapeType="1"/>
          </p:cNvSpPr>
          <p:nvPr/>
        </p:nvSpPr>
        <p:spPr bwMode="auto">
          <a:xfrm>
            <a:off x="1524000" y="5334000"/>
            <a:ext cx="0" cy="3810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8" name="Line 102"/>
          <p:cNvSpPr>
            <a:spLocks noChangeShapeType="1"/>
          </p:cNvSpPr>
          <p:nvPr/>
        </p:nvSpPr>
        <p:spPr bwMode="auto">
          <a:xfrm>
            <a:off x="1447800" y="5410200"/>
            <a:ext cx="0" cy="3048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9" name="Line 103"/>
          <p:cNvSpPr>
            <a:spLocks noChangeShapeType="1"/>
          </p:cNvSpPr>
          <p:nvPr/>
        </p:nvSpPr>
        <p:spPr bwMode="auto">
          <a:xfrm>
            <a:off x="1371600" y="5410200"/>
            <a:ext cx="0" cy="3048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80" name="Line 104"/>
          <p:cNvSpPr>
            <a:spLocks noChangeShapeType="1"/>
          </p:cNvSpPr>
          <p:nvPr/>
        </p:nvSpPr>
        <p:spPr bwMode="auto">
          <a:xfrm>
            <a:off x="1295400" y="5410200"/>
            <a:ext cx="0" cy="3048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81" name="Line 105"/>
          <p:cNvSpPr>
            <a:spLocks noChangeShapeType="1"/>
          </p:cNvSpPr>
          <p:nvPr/>
        </p:nvSpPr>
        <p:spPr bwMode="auto">
          <a:xfrm>
            <a:off x="1219200" y="5410200"/>
            <a:ext cx="0" cy="3048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82" name="Line 106"/>
          <p:cNvSpPr>
            <a:spLocks noChangeShapeType="1"/>
          </p:cNvSpPr>
          <p:nvPr/>
        </p:nvSpPr>
        <p:spPr bwMode="auto">
          <a:xfrm>
            <a:off x="1143000" y="5486400"/>
            <a:ext cx="0" cy="2286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83" name="Line 107"/>
          <p:cNvSpPr>
            <a:spLocks noChangeShapeType="1"/>
          </p:cNvSpPr>
          <p:nvPr/>
        </p:nvSpPr>
        <p:spPr bwMode="auto">
          <a:xfrm>
            <a:off x="1066800" y="5486400"/>
            <a:ext cx="0" cy="2286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84" name="Text Box 108"/>
          <p:cNvSpPr txBox="1">
            <a:spLocks noChangeArrowheads="1"/>
          </p:cNvSpPr>
          <p:nvPr/>
        </p:nvSpPr>
        <p:spPr bwMode="auto">
          <a:xfrm>
            <a:off x="2498725" y="6338888"/>
            <a:ext cx="1871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C00000"/>
                </a:solidFill>
              </a:rPr>
              <a:t>Cutoff region</a:t>
            </a:r>
          </a:p>
        </p:txBody>
      </p:sp>
      <p:sp>
        <p:nvSpPr>
          <p:cNvPr id="24685" name="Line 109"/>
          <p:cNvSpPr>
            <a:spLocks noChangeShapeType="1"/>
          </p:cNvSpPr>
          <p:nvPr/>
        </p:nvSpPr>
        <p:spPr bwMode="auto">
          <a:xfrm flipH="1" flipV="1">
            <a:off x="2362200" y="5562600"/>
            <a:ext cx="228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86" name="Freeform 110"/>
          <p:cNvSpPr>
            <a:spLocks/>
          </p:cNvSpPr>
          <p:nvPr/>
        </p:nvSpPr>
        <p:spPr bwMode="auto">
          <a:xfrm rot="3268802">
            <a:off x="1802606" y="3707607"/>
            <a:ext cx="1195387" cy="2514600"/>
          </a:xfrm>
          <a:custGeom>
            <a:avLst/>
            <a:gdLst>
              <a:gd name="T0" fmla="*/ 2147483647 w 1864"/>
              <a:gd name="T1" fmla="*/ 2147483647 h 816"/>
              <a:gd name="T2" fmla="*/ 2147483647 w 1864"/>
              <a:gd name="T3" fmla="*/ 2147483647 h 816"/>
              <a:gd name="T4" fmla="*/ 2147483647 w 1864"/>
              <a:gd name="T5" fmla="*/ 0 h 816"/>
              <a:gd name="T6" fmla="*/ 0 60000 65536"/>
              <a:gd name="T7" fmla="*/ 0 60000 65536"/>
              <a:gd name="T8" fmla="*/ 0 60000 65536"/>
              <a:gd name="T9" fmla="*/ 0 w 1864"/>
              <a:gd name="T10" fmla="*/ 0 h 816"/>
              <a:gd name="T11" fmla="*/ 1864 w 1864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64" h="816">
                <a:moveTo>
                  <a:pt x="184" y="816"/>
                </a:moveTo>
                <a:cubicBezTo>
                  <a:pt x="92" y="764"/>
                  <a:pt x="0" y="712"/>
                  <a:pt x="280" y="576"/>
                </a:cubicBezTo>
                <a:cubicBezTo>
                  <a:pt x="560" y="440"/>
                  <a:pt x="1212" y="220"/>
                  <a:pt x="1864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4687" name="Line 111"/>
          <p:cNvSpPr>
            <a:spLocks noChangeShapeType="1"/>
          </p:cNvSpPr>
          <p:nvPr/>
        </p:nvSpPr>
        <p:spPr bwMode="auto">
          <a:xfrm flipV="1">
            <a:off x="914400" y="2743200"/>
            <a:ext cx="1219200" cy="297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88" name="Text Box 112"/>
          <p:cNvSpPr txBox="1">
            <a:spLocks noChangeArrowheads="1"/>
          </p:cNvSpPr>
          <p:nvPr/>
        </p:nvSpPr>
        <p:spPr bwMode="auto">
          <a:xfrm>
            <a:off x="3505200" y="4724400"/>
            <a:ext cx="1609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600" b="1">
                <a:solidFill>
                  <a:srgbClr val="FF0000"/>
                </a:solidFill>
              </a:rPr>
              <a:t>IB  = 2</a:t>
            </a:r>
            <a:r>
              <a:rPr lang="el-GR" sz="1600" b="1">
                <a:solidFill>
                  <a:srgbClr val="FF0000"/>
                </a:solidFill>
              </a:rPr>
              <a:t>μ</a:t>
            </a:r>
            <a:r>
              <a:rPr lang="en-US" sz="1600" b="1">
                <a:solidFill>
                  <a:srgbClr val="FF0000"/>
                </a:solidFill>
              </a:rPr>
              <a:t>A      </a:t>
            </a:r>
          </a:p>
        </p:txBody>
      </p:sp>
      <p:sp>
        <p:nvSpPr>
          <p:cNvPr id="24689" name="Text Box 113"/>
          <p:cNvSpPr txBox="1">
            <a:spLocks noChangeArrowheads="1"/>
          </p:cNvSpPr>
          <p:nvPr/>
        </p:nvSpPr>
        <p:spPr bwMode="auto">
          <a:xfrm>
            <a:off x="5172075" y="3048000"/>
            <a:ext cx="1609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600" b="1">
                <a:solidFill>
                  <a:srgbClr val="FF0000"/>
                </a:solidFill>
              </a:rPr>
              <a:t>IB  = 4</a:t>
            </a:r>
            <a:r>
              <a:rPr lang="el-GR" sz="1600" b="1">
                <a:solidFill>
                  <a:srgbClr val="FF0000"/>
                </a:solidFill>
              </a:rPr>
              <a:t>μ</a:t>
            </a:r>
            <a:r>
              <a:rPr lang="en-US" sz="1600" b="1">
                <a:solidFill>
                  <a:srgbClr val="FF0000"/>
                </a:solidFill>
              </a:rPr>
              <a:t>A      </a:t>
            </a:r>
          </a:p>
        </p:txBody>
      </p:sp>
      <p:sp>
        <p:nvSpPr>
          <p:cNvPr id="22642" name="Line 114"/>
          <p:cNvSpPr>
            <a:spLocks noChangeShapeType="1"/>
          </p:cNvSpPr>
          <p:nvPr/>
        </p:nvSpPr>
        <p:spPr bwMode="auto">
          <a:xfrm flipV="1">
            <a:off x="838200" y="4724400"/>
            <a:ext cx="29718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643" name="Line 115"/>
          <p:cNvSpPr>
            <a:spLocks noChangeShapeType="1"/>
          </p:cNvSpPr>
          <p:nvPr/>
        </p:nvSpPr>
        <p:spPr bwMode="auto">
          <a:xfrm flipV="1">
            <a:off x="838200" y="5181600"/>
            <a:ext cx="29718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692" name="Freeform 116"/>
          <p:cNvSpPr>
            <a:spLocks/>
          </p:cNvSpPr>
          <p:nvPr/>
        </p:nvSpPr>
        <p:spPr bwMode="auto">
          <a:xfrm rot="3268802">
            <a:off x="2031206" y="3150394"/>
            <a:ext cx="1195388" cy="2514600"/>
          </a:xfrm>
          <a:custGeom>
            <a:avLst/>
            <a:gdLst>
              <a:gd name="T0" fmla="*/ 2147483647 w 1864"/>
              <a:gd name="T1" fmla="*/ 2147483647 h 816"/>
              <a:gd name="T2" fmla="*/ 2147483647 w 1864"/>
              <a:gd name="T3" fmla="*/ 2147483647 h 816"/>
              <a:gd name="T4" fmla="*/ 2147483647 w 1864"/>
              <a:gd name="T5" fmla="*/ 0 h 816"/>
              <a:gd name="T6" fmla="*/ 0 60000 65536"/>
              <a:gd name="T7" fmla="*/ 0 60000 65536"/>
              <a:gd name="T8" fmla="*/ 0 60000 65536"/>
              <a:gd name="T9" fmla="*/ 0 w 1864"/>
              <a:gd name="T10" fmla="*/ 0 h 816"/>
              <a:gd name="T11" fmla="*/ 1864 w 1864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64" h="816">
                <a:moveTo>
                  <a:pt x="184" y="816"/>
                </a:moveTo>
                <a:cubicBezTo>
                  <a:pt x="92" y="764"/>
                  <a:pt x="0" y="712"/>
                  <a:pt x="280" y="576"/>
                </a:cubicBezTo>
                <a:cubicBezTo>
                  <a:pt x="560" y="440"/>
                  <a:pt x="1212" y="220"/>
                  <a:pt x="1864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2645" name="Line 117"/>
          <p:cNvSpPr>
            <a:spLocks noChangeShapeType="1"/>
          </p:cNvSpPr>
          <p:nvPr/>
        </p:nvSpPr>
        <p:spPr bwMode="auto">
          <a:xfrm flipV="1">
            <a:off x="914400" y="4191000"/>
            <a:ext cx="29718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694" name="Text Box 118"/>
          <p:cNvSpPr txBox="1">
            <a:spLocks noChangeArrowheads="1"/>
          </p:cNvSpPr>
          <p:nvPr/>
        </p:nvSpPr>
        <p:spPr bwMode="auto">
          <a:xfrm>
            <a:off x="3495675" y="4114800"/>
            <a:ext cx="1609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600" b="1">
                <a:solidFill>
                  <a:srgbClr val="FF0000"/>
                </a:solidFill>
              </a:rPr>
              <a:t>IB  = 3</a:t>
            </a:r>
            <a:r>
              <a:rPr lang="el-GR" sz="1600" b="1">
                <a:solidFill>
                  <a:srgbClr val="FF0000"/>
                </a:solidFill>
              </a:rPr>
              <a:t>μ</a:t>
            </a:r>
            <a:r>
              <a:rPr lang="en-US" sz="1600" b="1">
                <a:solidFill>
                  <a:srgbClr val="FF0000"/>
                </a:solidFill>
              </a:rPr>
              <a:t>A      </a:t>
            </a:r>
          </a:p>
        </p:txBody>
      </p:sp>
      <p:sp>
        <p:nvSpPr>
          <p:cNvPr id="24695" name="Freeform 119"/>
          <p:cNvSpPr>
            <a:spLocks/>
          </p:cNvSpPr>
          <p:nvPr/>
        </p:nvSpPr>
        <p:spPr bwMode="auto">
          <a:xfrm rot="3268802">
            <a:off x="2259806" y="2616994"/>
            <a:ext cx="1195388" cy="2514600"/>
          </a:xfrm>
          <a:custGeom>
            <a:avLst/>
            <a:gdLst>
              <a:gd name="T0" fmla="*/ 2147483647 w 1864"/>
              <a:gd name="T1" fmla="*/ 2147483647 h 816"/>
              <a:gd name="T2" fmla="*/ 2147483647 w 1864"/>
              <a:gd name="T3" fmla="*/ 2147483647 h 816"/>
              <a:gd name="T4" fmla="*/ 2147483647 w 1864"/>
              <a:gd name="T5" fmla="*/ 0 h 816"/>
              <a:gd name="T6" fmla="*/ 0 60000 65536"/>
              <a:gd name="T7" fmla="*/ 0 60000 65536"/>
              <a:gd name="T8" fmla="*/ 0 60000 65536"/>
              <a:gd name="T9" fmla="*/ 0 w 1864"/>
              <a:gd name="T10" fmla="*/ 0 h 816"/>
              <a:gd name="T11" fmla="*/ 1864 w 1864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64" h="816">
                <a:moveTo>
                  <a:pt x="184" y="816"/>
                </a:moveTo>
                <a:cubicBezTo>
                  <a:pt x="92" y="764"/>
                  <a:pt x="0" y="712"/>
                  <a:pt x="280" y="576"/>
                </a:cubicBezTo>
                <a:cubicBezTo>
                  <a:pt x="560" y="440"/>
                  <a:pt x="1212" y="220"/>
                  <a:pt x="1864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2648" name="Line 120"/>
          <p:cNvSpPr>
            <a:spLocks noChangeShapeType="1"/>
          </p:cNvSpPr>
          <p:nvPr/>
        </p:nvSpPr>
        <p:spPr bwMode="auto">
          <a:xfrm flipV="1">
            <a:off x="914400" y="3657600"/>
            <a:ext cx="29718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697" name="Text Box 121"/>
          <p:cNvSpPr txBox="1">
            <a:spLocks noChangeArrowheads="1"/>
          </p:cNvSpPr>
          <p:nvPr/>
        </p:nvSpPr>
        <p:spPr bwMode="auto">
          <a:xfrm>
            <a:off x="3495675" y="3625850"/>
            <a:ext cx="1609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600" b="1">
                <a:solidFill>
                  <a:srgbClr val="FF0000"/>
                </a:solidFill>
              </a:rPr>
              <a:t>IB  = 4</a:t>
            </a:r>
            <a:r>
              <a:rPr lang="el-GR" sz="1600" b="1">
                <a:solidFill>
                  <a:srgbClr val="FF0000"/>
                </a:solidFill>
              </a:rPr>
              <a:t>μ</a:t>
            </a:r>
            <a:r>
              <a:rPr lang="en-US" sz="1600" b="1">
                <a:solidFill>
                  <a:srgbClr val="FF0000"/>
                </a:solidFill>
              </a:rPr>
              <a:t>A      </a:t>
            </a:r>
          </a:p>
        </p:txBody>
      </p:sp>
      <p:sp>
        <p:nvSpPr>
          <p:cNvPr id="24698" name="Line 122"/>
          <p:cNvSpPr>
            <a:spLocks noChangeShapeType="1"/>
          </p:cNvSpPr>
          <p:nvPr/>
        </p:nvSpPr>
        <p:spPr bwMode="auto">
          <a:xfrm>
            <a:off x="914400" y="3733800"/>
            <a:ext cx="7620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99" name="Line 123"/>
          <p:cNvSpPr>
            <a:spLocks noChangeShapeType="1"/>
          </p:cNvSpPr>
          <p:nvPr/>
        </p:nvSpPr>
        <p:spPr bwMode="auto">
          <a:xfrm>
            <a:off x="914400" y="3657600"/>
            <a:ext cx="7620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00" name="Line 124"/>
          <p:cNvSpPr>
            <a:spLocks noChangeShapeType="1"/>
          </p:cNvSpPr>
          <p:nvPr/>
        </p:nvSpPr>
        <p:spPr bwMode="auto">
          <a:xfrm>
            <a:off x="914400" y="3810000"/>
            <a:ext cx="7620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01" name="Line 125"/>
          <p:cNvSpPr>
            <a:spLocks noChangeShapeType="1"/>
          </p:cNvSpPr>
          <p:nvPr/>
        </p:nvSpPr>
        <p:spPr bwMode="auto">
          <a:xfrm>
            <a:off x="914400" y="3886200"/>
            <a:ext cx="7620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02" name="Line 126"/>
          <p:cNvSpPr>
            <a:spLocks noChangeShapeType="1"/>
          </p:cNvSpPr>
          <p:nvPr/>
        </p:nvSpPr>
        <p:spPr bwMode="auto">
          <a:xfrm>
            <a:off x="914400" y="3962400"/>
            <a:ext cx="6858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03" name="Line 127"/>
          <p:cNvSpPr>
            <a:spLocks noChangeShapeType="1"/>
          </p:cNvSpPr>
          <p:nvPr/>
        </p:nvSpPr>
        <p:spPr bwMode="auto">
          <a:xfrm>
            <a:off x="914400" y="4038600"/>
            <a:ext cx="6858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04" name="Line 128"/>
          <p:cNvSpPr>
            <a:spLocks noChangeShapeType="1"/>
          </p:cNvSpPr>
          <p:nvPr/>
        </p:nvSpPr>
        <p:spPr bwMode="auto">
          <a:xfrm>
            <a:off x="914400" y="4114800"/>
            <a:ext cx="6858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05" name="Line 129"/>
          <p:cNvSpPr>
            <a:spLocks noChangeShapeType="1"/>
          </p:cNvSpPr>
          <p:nvPr/>
        </p:nvSpPr>
        <p:spPr bwMode="auto">
          <a:xfrm>
            <a:off x="914400" y="4191000"/>
            <a:ext cx="6858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06" name="Line 130"/>
          <p:cNvSpPr>
            <a:spLocks noChangeShapeType="1"/>
          </p:cNvSpPr>
          <p:nvPr/>
        </p:nvSpPr>
        <p:spPr bwMode="auto">
          <a:xfrm>
            <a:off x="914400" y="4267200"/>
            <a:ext cx="6096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07" name="Line 131"/>
          <p:cNvSpPr>
            <a:spLocks noChangeShapeType="1"/>
          </p:cNvSpPr>
          <p:nvPr/>
        </p:nvSpPr>
        <p:spPr bwMode="auto">
          <a:xfrm>
            <a:off x="914400" y="4343400"/>
            <a:ext cx="6096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08" name="Line 132"/>
          <p:cNvSpPr>
            <a:spLocks noChangeShapeType="1"/>
          </p:cNvSpPr>
          <p:nvPr/>
        </p:nvSpPr>
        <p:spPr bwMode="auto">
          <a:xfrm>
            <a:off x="914400" y="4419600"/>
            <a:ext cx="6096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09" name="Line 133"/>
          <p:cNvSpPr>
            <a:spLocks noChangeShapeType="1"/>
          </p:cNvSpPr>
          <p:nvPr/>
        </p:nvSpPr>
        <p:spPr bwMode="auto">
          <a:xfrm>
            <a:off x="914400" y="4495800"/>
            <a:ext cx="5334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10" name="Line 134"/>
          <p:cNvSpPr>
            <a:spLocks noChangeShapeType="1"/>
          </p:cNvSpPr>
          <p:nvPr/>
        </p:nvSpPr>
        <p:spPr bwMode="auto">
          <a:xfrm>
            <a:off x="914400" y="4572000"/>
            <a:ext cx="4572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11" name="Line 135"/>
          <p:cNvSpPr>
            <a:spLocks noChangeShapeType="1"/>
          </p:cNvSpPr>
          <p:nvPr/>
        </p:nvSpPr>
        <p:spPr bwMode="auto">
          <a:xfrm>
            <a:off x="914400" y="4648200"/>
            <a:ext cx="4572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12" name="Line 136"/>
          <p:cNvSpPr>
            <a:spLocks noChangeShapeType="1"/>
          </p:cNvSpPr>
          <p:nvPr/>
        </p:nvSpPr>
        <p:spPr bwMode="auto">
          <a:xfrm>
            <a:off x="914400" y="4724400"/>
            <a:ext cx="4572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13" name="Line 137"/>
          <p:cNvSpPr>
            <a:spLocks noChangeShapeType="1"/>
          </p:cNvSpPr>
          <p:nvPr/>
        </p:nvSpPr>
        <p:spPr bwMode="auto">
          <a:xfrm>
            <a:off x="914400" y="4800600"/>
            <a:ext cx="3810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14" name="Line 138"/>
          <p:cNvSpPr>
            <a:spLocks noChangeShapeType="1"/>
          </p:cNvSpPr>
          <p:nvPr/>
        </p:nvSpPr>
        <p:spPr bwMode="auto">
          <a:xfrm>
            <a:off x="914400" y="4876800"/>
            <a:ext cx="3810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15" name="Line 139"/>
          <p:cNvSpPr>
            <a:spLocks noChangeShapeType="1"/>
          </p:cNvSpPr>
          <p:nvPr/>
        </p:nvSpPr>
        <p:spPr bwMode="auto">
          <a:xfrm>
            <a:off x="914400" y="4953000"/>
            <a:ext cx="2286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16" name="Line 140"/>
          <p:cNvSpPr>
            <a:spLocks noChangeShapeType="1"/>
          </p:cNvSpPr>
          <p:nvPr/>
        </p:nvSpPr>
        <p:spPr bwMode="auto">
          <a:xfrm>
            <a:off x="914400" y="5029200"/>
            <a:ext cx="2286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17" name="Line 141"/>
          <p:cNvSpPr>
            <a:spLocks noChangeShapeType="1"/>
          </p:cNvSpPr>
          <p:nvPr/>
        </p:nvSpPr>
        <p:spPr bwMode="auto">
          <a:xfrm>
            <a:off x="914400" y="5105400"/>
            <a:ext cx="2286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18" name="Line 142"/>
          <p:cNvSpPr>
            <a:spLocks noChangeShapeType="1"/>
          </p:cNvSpPr>
          <p:nvPr/>
        </p:nvSpPr>
        <p:spPr bwMode="auto">
          <a:xfrm>
            <a:off x="914400" y="5257800"/>
            <a:ext cx="2286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19" name="Line 143"/>
          <p:cNvSpPr>
            <a:spLocks noChangeShapeType="1"/>
          </p:cNvSpPr>
          <p:nvPr/>
        </p:nvSpPr>
        <p:spPr bwMode="auto">
          <a:xfrm>
            <a:off x="914400" y="5334000"/>
            <a:ext cx="2286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20" name="Line 144"/>
          <p:cNvSpPr>
            <a:spLocks noChangeShapeType="1"/>
          </p:cNvSpPr>
          <p:nvPr/>
        </p:nvSpPr>
        <p:spPr bwMode="auto">
          <a:xfrm>
            <a:off x="914400" y="5410200"/>
            <a:ext cx="1524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21" name="Line 145"/>
          <p:cNvSpPr>
            <a:spLocks noChangeShapeType="1"/>
          </p:cNvSpPr>
          <p:nvPr/>
        </p:nvSpPr>
        <p:spPr bwMode="auto">
          <a:xfrm>
            <a:off x="914400" y="5486400"/>
            <a:ext cx="762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22" name="Text Box 146"/>
          <p:cNvSpPr txBox="1">
            <a:spLocks noChangeArrowheads="1"/>
          </p:cNvSpPr>
          <p:nvPr/>
        </p:nvSpPr>
        <p:spPr bwMode="auto">
          <a:xfrm>
            <a:off x="609600" y="2438400"/>
            <a:ext cx="15367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C00000"/>
                </a:solidFill>
              </a:rPr>
              <a:t>Saturation</a:t>
            </a:r>
          </a:p>
          <a:p>
            <a:r>
              <a:rPr lang="en-US" b="1">
                <a:solidFill>
                  <a:srgbClr val="C00000"/>
                </a:solidFill>
              </a:rPr>
              <a:t> region</a:t>
            </a:r>
          </a:p>
        </p:txBody>
      </p:sp>
      <p:sp>
        <p:nvSpPr>
          <p:cNvPr id="24723" name="Line 147"/>
          <p:cNvSpPr>
            <a:spLocks noChangeShapeType="1"/>
          </p:cNvSpPr>
          <p:nvPr/>
        </p:nvSpPr>
        <p:spPr bwMode="auto">
          <a:xfrm>
            <a:off x="1295400" y="30480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24" name="Line 148"/>
          <p:cNvSpPr>
            <a:spLocks noChangeShapeType="1"/>
          </p:cNvSpPr>
          <p:nvPr/>
        </p:nvSpPr>
        <p:spPr bwMode="auto">
          <a:xfrm flipV="1">
            <a:off x="4267200" y="27432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25" name="Line 149"/>
          <p:cNvSpPr>
            <a:spLocks noChangeShapeType="1"/>
          </p:cNvSpPr>
          <p:nvPr/>
        </p:nvSpPr>
        <p:spPr bwMode="auto">
          <a:xfrm>
            <a:off x="3505200" y="3124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26" name="Line 150"/>
          <p:cNvSpPr>
            <a:spLocks noChangeShapeType="1"/>
          </p:cNvSpPr>
          <p:nvPr/>
        </p:nvSpPr>
        <p:spPr bwMode="auto">
          <a:xfrm flipH="1">
            <a:off x="1981200" y="312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27" name="Text Box 151"/>
          <p:cNvSpPr txBox="1">
            <a:spLocks noChangeArrowheads="1"/>
          </p:cNvSpPr>
          <p:nvPr/>
        </p:nvSpPr>
        <p:spPr bwMode="auto">
          <a:xfrm>
            <a:off x="2438400" y="2514600"/>
            <a:ext cx="10874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C00000"/>
                </a:solidFill>
              </a:rPr>
              <a:t>Active</a:t>
            </a:r>
          </a:p>
          <a:p>
            <a:r>
              <a:rPr lang="en-US" b="1">
                <a:solidFill>
                  <a:srgbClr val="C00000"/>
                </a:solidFill>
              </a:rPr>
              <a:t> region</a:t>
            </a:r>
          </a:p>
        </p:txBody>
      </p:sp>
      <p:sp>
        <p:nvSpPr>
          <p:cNvPr id="24728" name="Rectangle 152"/>
          <p:cNvSpPr>
            <a:spLocks noChangeArrowheads="1"/>
          </p:cNvSpPr>
          <p:nvPr/>
        </p:nvSpPr>
        <p:spPr bwMode="auto">
          <a:xfrm>
            <a:off x="4516438" y="2066925"/>
            <a:ext cx="21129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600" baseline="-16000">
                <a:solidFill>
                  <a:srgbClr val="00B0F0"/>
                </a:solidFill>
                <a:latin typeface="Times New Roman" pitchFamily="18" charset="0"/>
              </a:rPr>
              <a:t> </a:t>
            </a:r>
            <a:r>
              <a:rPr lang="el-GR" sz="2800" b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sz="2800" b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dc</a:t>
            </a:r>
            <a:r>
              <a:rPr lang="en-US" sz="2800" b="1" baseline="-16000">
                <a:solidFill>
                  <a:srgbClr val="00B0F0"/>
                </a:solidFill>
                <a:latin typeface="Times New Roman" pitchFamily="18" charset="0"/>
              </a:rPr>
              <a:t> </a:t>
            </a:r>
            <a:r>
              <a:rPr lang="en-US" sz="2800" b="1">
                <a:solidFill>
                  <a:srgbClr val="00B0F0"/>
                </a:solidFill>
                <a:latin typeface="Times New Roman" pitchFamily="18" charset="0"/>
              </a:rPr>
              <a:t>= I</a:t>
            </a:r>
            <a:r>
              <a:rPr lang="en-US" b="1">
                <a:solidFill>
                  <a:srgbClr val="00B0F0"/>
                </a:solidFill>
                <a:latin typeface="Times New Roman" pitchFamily="18" charset="0"/>
              </a:rPr>
              <a:t>C </a:t>
            </a:r>
            <a:r>
              <a:rPr lang="en-US" sz="2800" b="1">
                <a:solidFill>
                  <a:srgbClr val="00B0F0"/>
                </a:solidFill>
                <a:latin typeface="Times New Roman" pitchFamily="18" charset="0"/>
              </a:rPr>
              <a:t>/I</a:t>
            </a:r>
            <a:r>
              <a:rPr lang="en-US" sz="2800" b="1" baseline="-16000">
                <a:solidFill>
                  <a:srgbClr val="00B0F0"/>
                </a:solidFill>
                <a:latin typeface="Times New Roman" pitchFamily="18" charset="0"/>
              </a:rPr>
              <a:t>B</a:t>
            </a:r>
            <a:endParaRPr lang="en-US" sz="2800">
              <a:latin typeface="Calibri" pitchFamily="34" charset="0"/>
            </a:endParaRPr>
          </a:p>
        </p:txBody>
      </p:sp>
      <p:sp>
        <p:nvSpPr>
          <p:cNvPr id="24729" name="TextBox 1"/>
          <p:cNvSpPr txBox="1">
            <a:spLocks noChangeArrowheads="1"/>
          </p:cNvSpPr>
          <p:nvPr/>
        </p:nvSpPr>
        <p:spPr bwMode="auto">
          <a:xfrm>
            <a:off x="2784475" y="533400"/>
            <a:ext cx="3463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400" b="1">
                <a:solidFill>
                  <a:srgbClr val="0000FF"/>
                </a:solidFill>
                <a:latin typeface="Times New Roman" pitchFamily="18" charset="0"/>
              </a:rPr>
              <a:t>Output characteristics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7766E-A9A5-45CE-A1C4-47F7EFBC683E}" type="slidenum">
              <a:rPr lang="en-US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63184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9213"/>
            <a:ext cx="8229600" cy="654050"/>
          </a:xfrm>
        </p:spPr>
        <p:txBody>
          <a:bodyPr/>
          <a:lstStyle/>
          <a:p>
            <a:r>
              <a:rPr lang="en-US" sz="2800">
                <a:solidFill>
                  <a:schemeClr val="folHlink"/>
                </a:solidFill>
              </a:rPr>
              <a:t>Characteristics of a transistor in CE configuration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2667000" y="663575"/>
            <a:ext cx="6019800" cy="61436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Transfer characteristics</a:t>
            </a:r>
          </a:p>
          <a:p>
            <a:endParaRPr lang="en-US" sz="24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604" name="Line 4"/>
          <p:cNvSpPr>
            <a:spLocks noChangeShapeType="1"/>
          </p:cNvSpPr>
          <p:nvPr/>
        </p:nvSpPr>
        <p:spPr bwMode="auto">
          <a:xfrm>
            <a:off x="2536825" y="4619625"/>
            <a:ext cx="4722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 flipV="1">
            <a:off x="2921000" y="1470025"/>
            <a:ext cx="0" cy="3417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 flipV="1">
            <a:off x="3305175" y="1930400"/>
            <a:ext cx="2303463" cy="23050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>
            <a:off x="3573463" y="4043363"/>
            <a:ext cx="0" cy="6143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8" name="Line 8"/>
          <p:cNvSpPr>
            <a:spLocks noChangeShapeType="1"/>
          </p:cNvSpPr>
          <p:nvPr/>
        </p:nvSpPr>
        <p:spPr bwMode="auto">
          <a:xfrm>
            <a:off x="4225925" y="3313113"/>
            <a:ext cx="0" cy="13446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>
            <a:off x="4879975" y="2698750"/>
            <a:ext cx="0" cy="19192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5532438" y="1970088"/>
            <a:ext cx="0" cy="26479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1" name="Line 11"/>
          <p:cNvSpPr>
            <a:spLocks noChangeShapeType="1"/>
          </p:cNvSpPr>
          <p:nvPr/>
        </p:nvSpPr>
        <p:spPr bwMode="auto">
          <a:xfrm>
            <a:off x="2921000" y="4005263"/>
            <a:ext cx="65246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2921000" y="3313113"/>
            <a:ext cx="13430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3" name="Line 13"/>
          <p:cNvSpPr>
            <a:spLocks noChangeShapeType="1"/>
          </p:cNvSpPr>
          <p:nvPr/>
        </p:nvSpPr>
        <p:spPr bwMode="auto">
          <a:xfrm flipV="1">
            <a:off x="2921000" y="2698750"/>
            <a:ext cx="19192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4" name="Line 14"/>
          <p:cNvSpPr>
            <a:spLocks noChangeShapeType="1"/>
          </p:cNvSpPr>
          <p:nvPr/>
        </p:nvSpPr>
        <p:spPr bwMode="auto">
          <a:xfrm flipV="1">
            <a:off x="2921000" y="2008188"/>
            <a:ext cx="26495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5" name="Oval 15"/>
          <p:cNvSpPr>
            <a:spLocks noChangeArrowheads="1"/>
          </p:cNvSpPr>
          <p:nvPr/>
        </p:nvSpPr>
        <p:spPr bwMode="auto">
          <a:xfrm>
            <a:off x="3497263" y="3889375"/>
            <a:ext cx="153987" cy="1539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5616" name="Oval 16"/>
          <p:cNvSpPr>
            <a:spLocks noChangeArrowheads="1"/>
          </p:cNvSpPr>
          <p:nvPr/>
        </p:nvSpPr>
        <p:spPr bwMode="auto">
          <a:xfrm>
            <a:off x="4149725" y="3236913"/>
            <a:ext cx="153988" cy="1539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5617" name="Oval 17"/>
          <p:cNvSpPr>
            <a:spLocks noChangeArrowheads="1"/>
          </p:cNvSpPr>
          <p:nvPr/>
        </p:nvSpPr>
        <p:spPr bwMode="auto">
          <a:xfrm>
            <a:off x="4764088" y="2622550"/>
            <a:ext cx="153987" cy="1539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5618" name="Oval 18"/>
          <p:cNvSpPr>
            <a:spLocks noChangeArrowheads="1"/>
          </p:cNvSpPr>
          <p:nvPr/>
        </p:nvSpPr>
        <p:spPr bwMode="auto">
          <a:xfrm>
            <a:off x="5454650" y="1930400"/>
            <a:ext cx="153988" cy="1539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5619" name="Text Box 19"/>
          <p:cNvSpPr txBox="1">
            <a:spLocks noChangeArrowheads="1"/>
          </p:cNvSpPr>
          <p:nvPr/>
        </p:nvSpPr>
        <p:spPr bwMode="auto">
          <a:xfrm>
            <a:off x="2651125" y="45608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0</a:t>
            </a:r>
          </a:p>
        </p:txBody>
      </p:sp>
      <p:sp>
        <p:nvSpPr>
          <p:cNvPr id="25620" name="Text Box 20"/>
          <p:cNvSpPr txBox="1">
            <a:spLocks noChangeArrowheads="1"/>
          </p:cNvSpPr>
          <p:nvPr/>
        </p:nvSpPr>
        <p:spPr bwMode="auto">
          <a:xfrm>
            <a:off x="3378200" y="45815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1</a:t>
            </a:r>
          </a:p>
        </p:txBody>
      </p:sp>
      <p:sp>
        <p:nvSpPr>
          <p:cNvPr id="25621" name="Text Box 21"/>
          <p:cNvSpPr txBox="1">
            <a:spLocks noChangeArrowheads="1"/>
          </p:cNvSpPr>
          <p:nvPr/>
        </p:nvSpPr>
        <p:spPr bwMode="auto">
          <a:xfrm>
            <a:off x="4030663" y="4581525"/>
            <a:ext cx="164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2         3        4</a:t>
            </a:r>
          </a:p>
        </p:txBody>
      </p:sp>
      <p:sp>
        <p:nvSpPr>
          <p:cNvPr id="25622" name="Text Box 22"/>
          <p:cNvSpPr txBox="1">
            <a:spLocks noChangeArrowheads="1"/>
          </p:cNvSpPr>
          <p:nvPr/>
        </p:nvSpPr>
        <p:spPr bwMode="auto">
          <a:xfrm>
            <a:off x="2571750" y="1870075"/>
            <a:ext cx="311150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4</a:t>
            </a:r>
          </a:p>
          <a:p>
            <a:endParaRPr lang="en-US"/>
          </a:p>
          <a:p>
            <a:r>
              <a:rPr lang="en-US"/>
              <a:t>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1</a:t>
            </a:r>
          </a:p>
        </p:txBody>
      </p:sp>
      <p:sp>
        <p:nvSpPr>
          <p:cNvPr id="25623" name="Text Box 23"/>
          <p:cNvSpPr txBox="1">
            <a:spLocks noChangeArrowheads="1"/>
          </p:cNvSpPr>
          <p:nvPr/>
        </p:nvSpPr>
        <p:spPr bwMode="auto">
          <a:xfrm>
            <a:off x="6707188" y="4697413"/>
            <a:ext cx="8493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IB (</a:t>
            </a:r>
            <a:r>
              <a:rPr lang="el-GR"/>
              <a:t>μ</a:t>
            </a:r>
            <a:r>
              <a:rPr lang="en-US"/>
              <a:t>A)</a:t>
            </a:r>
          </a:p>
        </p:txBody>
      </p:sp>
      <p:sp>
        <p:nvSpPr>
          <p:cNvPr id="25624" name="Text Box 24"/>
          <p:cNvSpPr txBox="1">
            <a:spLocks noChangeArrowheads="1"/>
          </p:cNvSpPr>
          <p:nvPr/>
        </p:nvSpPr>
        <p:spPr bwMode="auto">
          <a:xfrm>
            <a:off x="1735138" y="1508125"/>
            <a:ext cx="9159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IC (mA)</a:t>
            </a:r>
          </a:p>
        </p:txBody>
      </p:sp>
      <p:sp>
        <p:nvSpPr>
          <p:cNvPr id="25625" name="Text Box 25"/>
          <p:cNvSpPr txBox="1">
            <a:spLocks noChangeArrowheads="1"/>
          </p:cNvSpPr>
          <p:nvPr/>
        </p:nvSpPr>
        <p:spPr bwMode="auto">
          <a:xfrm>
            <a:off x="5838825" y="1700213"/>
            <a:ext cx="14747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VCE constant</a:t>
            </a:r>
          </a:p>
        </p:txBody>
      </p:sp>
      <p:sp>
        <p:nvSpPr>
          <p:cNvPr id="25626" name="Line 26"/>
          <p:cNvSpPr>
            <a:spLocks noChangeShapeType="1"/>
          </p:cNvSpPr>
          <p:nvPr/>
        </p:nvSpPr>
        <p:spPr bwMode="auto">
          <a:xfrm>
            <a:off x="4879975" y="2776538"/>
            <a:ext cx="0" cy="576262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27" name="Line 27"/>
          <p:cNvSpPr>
            <a:spLocks noChangeShapeType="1"/>
          </p:cNvSpPr>
          <p:nvPr/>
        </p:nvSpPr>
        <p:spPr bwMode="auto">
          <a:xfrm flipH="1">
            <a:off x="4303713" y="3352800"/>
            <a:ext cx="576262" cy="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28" name="Text Box 28"/>
          <p:cNvSpPr txBox="1">
            <a:spLocks noChangeArrowheads="1"/>
          </p:cNvSpPr>
          <p:nvPr/>
        </p:nvSpPr>
        <p:spPr bwMode="auto">
          <a:xfrm>
            <a:off x="4918075" y="3006725"/>
            <a:ext cx="2501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Slope = </a:t>
            </a:r>
            <a:r>
              <a:rPr lang="el-GR" b="1">
                <a:solidFill>
                  <a:srgbClr val="FF0000"/>
                </a:solidFill>
              </a:rPr>
              <a:t>Δ</a:t>
            </a:r>
            <a:r>
              <a:rPr lang="en-US" b="1">
                <a:solidFill>
                  <a:srgbClr val="FF0000"/>
                </a:solidFill>
              </a:rPr>
              <a:t>IC / </a:t>
            </a:r>
            <a:r>
              <a:rPr lang="el-GR" b="1">
                <a:solidFill>
                  <a:srgbClr val="FF0000"/>
                </a:solidFill>
              </a:rPr>
              <a:t>Δ</a:t>
            </a:r>
            <a:r>
              <a:rPr lang="en-US" b="1">
                <a:solidFill>
                  <a:srgbClr val="FF0000"/>
                </a:solidFill>
              </a:rPr>
              <a:t>IB = </a:t>
            </a:r>
            <a:r>
              <a:rPr lang="el-GR" b="1">
                <a:solidFill>
                  <a:srgbClr val="FF0000"/>
                </a:solidFill>
              </a:rPr>
              <a:t>β</a:t>
            </a:r>
            <a:r>
              <a:rPr lang="en-US" b="1">
                <a:solidFill>
                  <a:srgbClr val="FF0000"/>
                </a:solidFill>
              </a:rPr>
              <a:t>ac</a:t>
            </a:r>
            <a:endParaRPr lang="el-GR" b="1">
              <a:solidFill>
                <a:srgbClr val="FF0000"/>
              </a:solidFill>
            </a:endParaRPr>
          </a:p>
        </p:txBody>
      </p:sp>
      <p:sp>
        <p:nvSpPr>
          <p:cNvPr id="25629" name="Text Box 29"/>
          <p:cNvSpPr txBox="1">
            <a:spLocks noChangeArrowheads="1"/>
          </p:cNvSpPr>
          <p:nvPr/>
        </p:nvSpPr>
        <p:spPr bwMode="auto">
          <a:xfrm>
            <a:off x="3227388" y="5410200"/>
            <a:ext cx="20653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l-GR" sz="2400" b="1">
                <a:solidFill>
                  <a:srgbClr val="FF0000"/>
                </a:solidFill>
              </a:rPr>
              <a:t>β</a:t>
            </a:r>
            <a:r>
              <a:rPr lang="en-US" sz="2400" b="1">
                <a:solidFill>
                  <a:srgbClr val="FF0000"/>
                </a:solidFill>
              </a:rPr>
              <a:t> ac = </a:t>
            </a:r>
            <a:r>
              <a:rPr lang="el-GR" sz="2400" b="1">
                <a:solidFill>
                  <a:srgbClr val="FF0000"/>
                </a:solidFill>
              </a:rPr>
              <a:t>Δ</a:t>
            </a:r>
            <a:r>
              <a:rPr lang="en-US" sz="2400" b="1">
                <a:solidFill>
                  <a:srgbClr val="FF0000"/>
                </a:solidFill>
              </a:rPr>
              <a:t>I</a:t>
            </a:r>
            <a:r>
              <a:rPr lang="en-US" sz="2000" b="1">
                <a:solidFill>
                  <a:srgbClr val="FF0000"/>
                </a:solidFill>
              </a:rPr>
              <a:t>C</a:t>
            </a:r>
            <a:r>
              <a:rPr lang="en-US" sz="2400" b="1">
                <a:solidFill>
                  <a:srgbClr val="FF0000"/>
                </a:solidFill>
              </a:rPr>
              <a:t> / </a:t>
            </a:r>
            <a:r>
              <a:rPr lang="el-GR" sz="2400" b="1">
                <a:solidFill>
                  <a:srgbClr val="FF0000"/>
                </a:solidFill>
              </a:rPr>
              <a:t>Δ</a:t>
            </a:r>
            <a:r>
              <a:rPr lang="en-US" sz="2400" b="1">
                <a:solidFill>
                  <a:srgbClr val="FF0000"/>
                </a:solidFill>
              </a:rPr>
              <a:t>I</a:t>
            </a:r>
            <a:r>
              <a:rPr lang="en-US" sz="2000" b="1">
                <a:solidFill>
                  <a:srgbClr val="FF0000"/>
                </a:solidFill>
              </a:rPr>
              <a:t>B</a:t>
            </a:r>
            <a:endParaRPr lang="el-GR" sz="2000" b="1">
              <a:solidFill>
                <a:srgbClr val="FF0000"/>
              </a:solidFill>
            </a:endParaRPr>
          </a:p>
        </p:txBody>
      </p:sp>
      <p:sp>
        <p:nvSpPr>
          <p:cNvPr id="25630" name="Text Box 30"/>
          <p:cNvSpPr txBox="1">
            <a:spLocks noChangeArrowheads="1"/>
          </p:cNvSpPr>
          <p:nvPr/>
        </p:nvSpPr>
        <p:spPr bwMode="auto">
          <a:xfrm>
            <a:off x="3200400" y="6324600"/>
            <a:ext cx="1749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l-GR" sz="2400" b="1">
                <a:solidFill>
                  <a:srgbClr val="FF0000"/>
                </a:solidFill>
              </a:rPr>
              <a:t>β</a:t>
            </a:r>
            <a:r>
              <a:rPr lang="en-US" sz="2400" b="1">
                <a:solidFill>
                  <a:srgbClr val="FF0000"/>
                </a:solidFill>
              </a:rPr>
              <a:t> dc = I</a:t>
            </a:r>
            <a:r>
              <a:rPr lang="en-US" sz="2000" b="1">
                <a:solidFill>
                  <a:srgbClr val="FF0000"/>
                </a:solidFill>
              </a:rPr>
              <a:t>C</a:t>
            </a:r>
            <a:r>
              <a:rPr lang="en-US" sz="2400" b="1">
                <a:solidFill>
                  <a:srgbClr val="FF0000"/>
                </a:solidFill>
              </a:rPr>
              <a:t> / I</a:t>
            </a:r>
            <a:r>
              <a:rPr lang="en-US" sz="2000" b="1">
                <a:solidFill>
                  <a:srgbClr val="FF0000"/>
                </a:solidFill>
              </a:rPr>
              <a:t>B</a:t>
            </a:r>
            <a:endParaRPr lang="el-GR" sz="2000" b="1">
              <a:solidFill>
                <a:srgbClr val="FF0000"/>
              </a:solidFill>
            </a:endParaRPr>
          </a:p>
        </p:txBody>
      </p:sp>
      <p:sp>
        <p:nvSpPr>
          <p:cNvPr id="25631" name="Text Box 31"/>
          <p:cNvSpPr txBox="1">
            <a:spLocks noChangeArrowheads="1"/>
          </p:cNvSpPr>
          <p:nvPr/>
        </p:nvSpPr>
        <p:spPr bwMode="auto">
          <a:xfrm>
            <a:off x="5751513" y="6415088"/>
            <a:ext cx="1563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VCE constant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691ED8-CBBD-4692-8721-E88E23F75425}" type="slidenum">
              <a:rPr lang="en-US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5195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9212"/>
            <a:ext cx="8229600" cy="484188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</a:rPr>
              <a:t>Comparison of configurations</a:t>
            </a:r>
          </a:p>
        </p:txBody>
      </p:sp>
      <p:graphicFrame>
        <p:nvGraphicFramePr>
          <p:cNvPr id="175107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xmlns="" val="435817777"/>
              </p:ext>
            </p:extLst>
          </p:nvPr>
        </p:nvGraphicFramePr>
        <p:xfrm>
          <a:off x="187325" y="609600"/>
          <a:ext cx="8651875" cy="5951150"/>
        </p:xfrm>
        <a:graphic>
          <a:graphicData uri="http://schemas.openxmlformats.org/drawingml/2006/table">
            <a:tbl>
              <a:tblPr/>
              <a:tblGrid>
                <a:gridCol w="8794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33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alibri Light" pitchFamily="34" charset="0"/>
                        </a:rPr>
                        <a:t>Sr. No.</a:t>
                      </a:r>
                    </a:p>
                  </a:txBody>
                  <a:tcPr marT="53335" marB="5333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alibri Light" pitchFamily="34" charset="0"/>
                        </a:rPr>
                        <a:t>Parameter</a:t>
                      </a:r>
                    </a:p>
                  </a:txBody>
                  <a:tcPr marT="53335" marB="533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alibri Light" pitchFamily="34" charset="0"/>
                        </a:rPr>
                        <a:t>CB</a:t>
                      </a:r>
                    </a:p>
                  </a:txBody>
                  <a:tcPr marT="53335" marB="533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alibri Light" pitchFamily="34" charset="0"/>
                        </a:rPr>
                        <a:t>CE</a:t>
                      </a:r>
                    </a:p>
                  </a:txBody>
                  <a:tcPr marT="53335" marB="533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Calibri Light" pitchFamily="34" charset="0"/>
                        </a:rPr>
                        <a:t>CC</a:t>
                      </a:r>
                    </a:p>
                  </a:txBody>
                  <a:tcPr marT="53335" marB="533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953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1</a:t>
                      </a:r>
                    </a:p>
                  </a:txBody>
                  <a:tcPr marT="53335" marB="533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Common terminal between input and output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</a:rPr>
                        <a:t>Base</a:t>
                      </a:r>
                      <a:endParaRPr lang="en-IN" sz="1800" b="1" kern="1200" dirty="0">
                        <a:solidFill>
                          <a:srgbClr val="3333FF"/>
                        </a:solidFill>
                        <a:effectLst/>
                        <a:latin typeface="Calibri Light" pitchFamily="34" charset="0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IN" sz="1800" b="1" kern="1200" dirty="0">
                        <a:solidFill>
                          <a:srgbClr val="3333FF"/>
                        </a:solidFill>
                        <a:effectLst/>
                        <a:latin typeface="Calibri Light" pitchFamily="34" charset="0"/>
                        <a:ea typeface="+mn-ea"/>
                        <a:cs typeface="+mn-cs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</a:rPr>
                        <a:t>Emitter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lang="en-IN" sz="1800" b="1" kern="1200" dirty="0">
                        <a:solidFill>
                          <a:srgbClr val="FF3300"/>
                        </a:solidFill>
                        <a:effectLst/>
                        <a:latin typeface="Calibri Light" pitchFamily="34" charset="0"/>
                        <a:ea typeface="+mn-ea"/>
                        <a:cs typeface="+mn-cs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Collector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Light" pitchFamily="34" charset="0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23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Light" pitchFamily="34" charset="0"/>
                      </a:endParaRPr>
                    </a:p>
                  </a:txBody>
                  <a:tcPr marT="53335" marB="533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Conduction Angle 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  <a:ea typeface="+mn-ea"/>
                          <a:cs typeface="+mn-cs"/>
                        </a:rPr>
                        <a:t>0 </a:t>
                      </a:r>
                      <a:r>
                        <a:rPr lang="en-IN" sz="1800" b="1" kern="1200" baseline="30000" dirty="0"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  <a:ea typeface="+mn-ea"/>
                          <a:cs typeface="+mn-cs"/>
                        </a:rPr>
                        <a:t>o</a:t>
                      </a:r>
                      <a:endParaRPr lang="en-IN" sz="1800" b="1" kern="1200" dirty="0">
                        <a:solidFill>
                          <a:srgbClr val="3333FF"/>
                        </a:solidFill>
                        <a:effectLst/>
                        <a:latin typeface="Calibri Light" pitchFamily="34" charset="0"/>
                        <a:ea typeface="+mn-ea"/>
                        <a:cs typeface="+mn-cs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  <a:ea typeface="+mn-ea"/>
                          <a:cs typeface="+mn-cs"/>
                        </a:rPr>
                        <a:t>180 </a:t>
                      </a:r>
                      <a:r>
                        <a:rPr lang="en-IN" sz="1800" b="1" kern="1200" baseline="30000" dirty="0"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  <a:ea typeface="+mn-ea"/>
                          <a:cs typeface="+mn-cs"/>
                        </a:rPr>
                        <a:t>o</a:t>
                      </a:r>
                      <a:endParaRPr lang="en-IN" sz="1800" b="1" kern="1200" dirty="0">
                        <a:solidFill>
                          <a:srgbClr val="FF3300"/>
                        </a:solidFill>
                        <a:effectLst/>
                        <a:latin typeface="Calibri Light" pitchFamily="34" charset="0"/>
                        <a:ea typeface="+mn-ea"/>
                        <a:cs typeface="+mn-cs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 Light" pitchFamily="34" charset="0"/>
                          <a:ea typeface="+mn-ea"/>
                          <a:cs typeface="+mn-cs"/>
                        </a:rPr>
                        <a:t>0 </a:t>
                      </a:r>
                      <a:r>
                        <a:rPr kumimoji="0" lang="en-IN" sz="18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 Light" pitchFamily="34" charset="0"/>
                          <a:ea typeface="+mn-ea"/>
                          <a:cs typeface="+mn-cs"/>
                        </a:rPr>
                        <a:t>o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 Light" pitchFamily="34" charset="0"/>
                        <a:ea typeface="+mn-ea"/>
                        <a:cs typeface="+mn-cs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2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2</a:t>
                      </a:r>
                    </a:p>
                  </a:txBody>
                  <a:tcPr marT="53335" marB="533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Input current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</a:rPr>
                        <a:t>E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</a:rPr>
                        <a:t>B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Light" pitchFamily="34" charset="0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66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3</a:t>
                      </a:r>
                    </a:p>
                  </a:txBody>
                  <a:tcPr marT="53335" marB="533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Output current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</a:rPr>
                        <a:t>C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</a:rPr>
                        <a:t>C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Light" pitchFamily="34" charset="0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23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4</a:t>
                      </a:r>
                    </a:p>
                  </a:txBody>
                  <a:tcPr marT="53335" marB="533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Current gain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l-G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uLnTx/>
                          <a:uFillTx/>
                          <a:latin typeface="Calibri Light" pitchFamily="34" charset="0"/>
                          <a:ea typeface="+mn-ea"/>
                          <a:cs typeface="+mn-cs"/>
                        </a:rPr>
                        <a:t>α</a:t>
                      </a:r>
                      <a:r>
                        <a:rPr kumimoji="0" lang="en-US" sz="1800" b="1" i="0" u="none" strike="noStrike" kern="1200" cap="none" spc="0" normalizeH="0" baseline="-18000" noProof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uLnTx/>
                          <a:uFillTx/>
                          <a:latin typeface="Calibri Light" pitchFamily="34" charset="0"/>
                          <a:ea typeface="+mn-ea"/>
                          <a:cs typeface="+mn-cs"/>
                        </a:rPr>
                        <a:t>DC</a:t>
                      </a:r>
                      <a:r>
                        <a:rPr kumimoji="0" lang="en-US" sz="1800" b="1" i="0" u="none" strike="noStrike" kern="1200" cap="none" spc="0" normalizeH="0" baseline="-18000" noProof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Calibri Light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</a:rPr>
                        <a:t>= I</a:t>
                      </a:r>
                      <a:r>
                        <a:rPr kumimoji="0" 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</a:rPr>
                        <a:t>C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</a:rPr>
                        <a:t>/I</a:t>
                      </a:r>
                      <a:r>
                        <a:rPr kumimoji="0" 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</a:rPr>
                        <a:t>Less than one </a:t>
                      </a:r>
                      <a:endParaRPr kumimoji="0" lang="el-GR" sz="1800" b="1" i="0" u="none" strike="noStrike" cap="none" normalizeH="0" baseline="-1800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Calibri Light" pitchFamily="34" charset="0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 Light" pitchFamily="34" charset="0"/>
                        </a:rPr>
                        <a:t>β</a:t>
                      </a:r>
                      <a:r>
                        <a:rPr kumimoji="0" 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 Light" pitchFamily="34" charset="0"/>
                        </a:rPr>
                        <a:t>DC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 Light" pitchFamily="34" charset="0"/>
                        </a:rPr>
                        <a:t>= I</a:t>
                      </a:r>
                      <a:r>
                        <a:rPr kumimoji="0" 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 Light" pitchFamily="34" charset="0"/>
                        </a:rPr>
                        <a:t>C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 Light" pitchFamily="34" charset="0"/>
                        </a:rPr>
                        <a:t>/I</a:t>
                      </a:r>
                      <a:r>
                        <a:rPr kumimoji="0" 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 Light" pitchFamily="34" charset="0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</a:rPr>
                        <a:t>High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γ</a:t>
                      </a:r>
                      <a:r>
                        <a:rPr kumimoji="0" 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 Light" pitchFamily="34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= I</a:t>
                      </a:r>
                      <a:r>
                        <a:rPr kumimoji="0" 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E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/I</a:t>
                      </a:r>
                      <a:r>
                        <a:rPr kumimoji="0" 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HIGH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5</a:t>
                      </a:r>
                    </a:p>
                  </a:txBody>
                  <a:tcPr marT="53335" marB="533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Input Voltage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</a:rPr>
                        <a:t>V</a:t>
                      </a:r>
                      <a:r>
                        <a:rPr kumimoji="0" lang="en-US" sz="1800" b="1" i="0" u="none" strike="noStrike" cap="none" normalizeH="0" baseline="-18000" dirty="0" err="1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</a:rPr>
                        <a:t>eb</a:t>
                      </a:r>
                      <a:endParaRPr kumimoji="0" lang="el-GR" sz="1800" b="1" i="0" u="none" strike="noStrike" cap="none" normalizeH="0" baseline="-1800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Calibri Light" pitchFamily="34" charset="0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</a:rPr>
                        <a:t>V</a:t>
                      </a:r>
                      <a:r>
                        <a:rPr kumimoji="0" lang="en-US" sz="1800" b="1" i="0" u="none" strike="noStrike" cap="none" normalizeH="0" baseline="-1800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</a:rPr>
                        <a:t>be</a:t>
                      </a:r>
                      <a:endParaRPr kumimoji="0" lang="en-US" sz="1800" b="1" i="0" u="none" strike="noStrike" cap="none" normalizeH="0" baseline="-1800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alibri Light" pitchFamily="34" charset="0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V</a:t>
                      </a:r>
                      <a:r>
                        <a:rPr kumimoji="0" lang="en-US" sz="1800" b="1" i="0" u="none" strike="noStrike" cap="none" normalizeH="0" baseline="-18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bc</a:t>
                      </a:r>
                      <a:endParaRPr kumimoji="0" lang="en-US" sz="18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Light" pitchFamily="34" charset="0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52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6</a:t>
                      </a:r>
                    </a:p>
                  </a:txBody>
                  <a:tcPr marT="53335" marB="533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Output voltage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</a:rPr>
                        <a:t>V</a:t>
                      </a:r>
                      <a:r>
                        <a:rPr kumimoji="0" lang="en-US" sz="1800" b="1" i="0" u="none" strike="noStrike" cap="none" normalizeH="0" baseline="-18000" dirty="0" err="1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</a:rPr>
                        <a:t>cb</a:t>
                      </a:r>
                      <a:endParaRPr kumimoji="0" lang="el-GR" sz="1800" b="1" i="0" u="none" strike="noStrike" cap="none" normalizeH="0" baseline="-1800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Calibri Light" pitchFamily="34" charset="0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</a:rPr>
                        <a:t>V</a:t>
                      </a:r>
                      <a:r>
                        <a:rPr kumimoji="0" lang="en-US" sz="1800" b="1" i="0" u="none" strike="noStrike" cap="none" normalizeH="0" baseline="-1800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</a:rPr>
                        <a:t>ce</a:t>
                      </a:r>
                      <a:endParaRPr kumimoji="0" lang="en-US" sz="1800" b="1" i="0" u="none" strike="noStrike" cap="none" normalizeH="0" baseline="-1800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alibri Light" pitchFamily="34" charset="0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V</a:t>
                      </a:r>
                      <a:r>
                        <a:rPr kumimoji="0" lang="en-US" sz="1800" b="1" i="0" u="none" strike="noStrike" cap="none" normalizeH="0" baseline="-18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ec</a:t>
                      </a:r>
                      <a:endParaRPr kumimoji="0" lang="en-US" sz="18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Light" pitchFamily="34" charset="0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524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7</a:t>
                      </a:r>
                    </a:p>
                  </a:txBody>
                  <a:tcPr marT="53335" marB="533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Current gain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</a:rPr>
                        <a:t>Less than unity</a:t>
                      </a:r>
                      <a:endParaRPr kumimoji="0" lang="el-GR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Calibri Light" pitchFamily="34" charset="0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</a:rPr>
                        <a:t>High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High</a:t>
                      </a:r>
                      <a:endParaRPr kumimoji="0" lang="en-US" sz="18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Light" pitchFamily="34" charset="0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52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8</a:t>
                      </a:r>
                    </a:p>
                  </a:txBody>
                  <a:tcPr marT="53335" marB="533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Input resistance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</a:rPr>
                        <a:t>Very low (20</a:t>
                      </a:r>
                      <a:r>
                        <a:rPr kumimoji="0" lang="el-G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  <a:cs typeface="Times New Roman" pitchFamily="18" charset="0"/>
                        </a:rPr>
                        <a:t>Ω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  <a:cs typeface="Times New Roman" pitchFamily="18" charset="0"/>
                        </a:rPr>
                        <a:t>)</a:t>
                      </a:r>
                      <a:endParaRPr kumimoji="0" lang="el-GR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Calibri Light" pitchFamily="34" charset="0"/>
                        <a:cs typeface="Times New Roman" pitchFamily="18" charset="0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</a:rPr>
                        <a:t>Low (1K</a:t>
                      </a:r>
                      <a:r>
                        <a:rPr kumimoji="0" lang="el-G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  <a:cs typeface="Times New Roman" pitchFamily="18" charset="0"/>
                        </a:rPr>
                        <a:t>Ω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  <a:cs typeface="Times New Roman" pitchFamily="18" charset="0"/>
                        </a:rPr>
                        <a:t>)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alibri Light" pitchFamily="34" charset="0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High(500k</a:t>
                      </a:r>
                      <a:r>
                        <a:rPr kumimoji="0" lang="el-G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  <a:cs typeface="Times New Roman" pitchFamily="18" charset="0"/>
                        </a:rPr>
                        <a:t>Ω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  <a:cs typeface="Times New Roman" pitchFamily="18" charset="0"/>
                        </a:rPr>
                        <a:t>)</a:t>
                      </a:r>
                      <a:endParaRPr kumimoji="0" lang="en-US" sz="18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Light" pitchFamily="34" charset="0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524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9</a:t>
                      </a:r>
                    </a:p>
                  </a:txBody>
                  <a:tcPr marT="53335" marB="533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Output resistance 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</a:rPr>
                        <a:t>Very high (1M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  <a:cs typeface="Times New Roman" pitchFamily="18" charset="0"/>
                        </a:rPr>
                        <a:t>)</a:t>
                      </a:r>
                      <a:endParaRPr kumimoji="0" lang="el-GR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Calibri Light" pitchFamily="34" charset="0"/>
                        <a:cs typeface="Times New Roman" pitchFamily="18" charset="0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</a:rPr>
                        <a:t>High(40k</a:t>
                      </a:r>
                      <a:r>
                        <a:rPr kumimoji="0" lang="el-G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  <a:cs typeface="Times New Roman" pitchFamily="18" charset="0"/>
                        </a:rPr>
                        <a:t>Ω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  <a:cs typeface="Times New Roman" pitchFamily="18" charset="0"/>
                        </a:rPr>
                        <a:t>)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alibri Light" pitchFamily="34" charset="0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Low (50</a:t>
                      </a:r>
                      <a:r>
                        <a:rPr kumimoji="0" lang="el-G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  <a:cs typeface="Times New Roman" pitchFamily="18" charset="0"/>
                        </a:rPr>
                        <a:t>Ω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52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10</a:t>
                      </a:r>
                    </a:p>
                  </a:txBody>
                  <a:tcPr marT="53335" marB="533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Application 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  <a:cs typeface="Times New Roman" pitchFamily="18" charset="0"/>
                        </a:rPr>
                        <a:t>As preamplifier</a:t>
                      </a:r>
                      <a:endParaRPr kumimoji="0" lang="el-GR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Calibri Light" pitchFamily="34" charset="0"/>
                        <a:cs typeface="Times New Roman" pitchFamily="18" charset="0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</a:rPr>
                        <a:t>Audio amplifier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  <a:cs typeface="Times New Roman" pitchFamily="18" charset="0"/>
                        </a:rPr>
                        <a:t>Impedance matching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529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11.</a:t>
                      </a:r>
                    </a:p>
                  </a:txBody>
                  <a:tcPr marT="53335" marB="533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</a:rPr>
                        <a:t>Voltage gain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I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alibri Light" pitchFamily="34" charset="0"/>
                          <a:cs typeface="Times New Roman" pitchFamily="18" charset="0"/>
                        </a:rPr>
                        <a:t>Medium</a:t>
                      </a:r>
                      <a:endParaRPr kumimoji="0" lang="el-GR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Calibri Light" pitchFamily="34" charset="0"/>
                        <a:cs typeface="Times New Roman" pitchFamily="18" charset="0"/>
                      </a:endParaRP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alibri Light" pitchFamily="34" charset="0"/>
                        </a:rPr>
                        <a:t>Large 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Light" pitchFamily="34" charset="0"/>
                          <a:cs typeface="Times New Roman" pitchFamily="18" charset="0"/>
                        </a:rPr>
                        <a:t>Less than 1 </a:t>
                      </a:r>
                    </a:p>
                  </a:txBody>
                  <a:tcPr marT="53335" marB="533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0B0695-CDA5-46D4-A953-D7B42D379544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26683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758825"/>
          </a:xfrm>
        </p:spPr>
        <p:txBody>
          <a:bodyPr/>
          <a:lstStyle/>
          <a:p>
            <a:r>
              <a:rPr lang="en-US" sz="28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Transistor Biasing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What is meant by dc biasing of a transistor ?</a:t>
            </a:r>
          </a:p>
          <a:p>
            <a:pPr algn="just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>
                <a:solidFill>
                  <a:schemeClr val="folHlink"/>
                </a:solidFill>
                <a:latin typeface="Times New Roman" pitchFamily="18" charset="0"/>
                <a:cs typeface="Times New Roman" pitchFamily="18" charset="0"/>
              </a:rPr>
              <a:t>Depending on the application, a transistor is to be operated in any of the three regions of operation namely cutoff, active and saturation region.</a:t>
            </a:r>
          </a:p>
          <a:p>
            <a:pPr algn="just"/>
            <a:endParaRPr lang="en-US" sz="2400">
              <a:solidFill>
                <a:schemeClr val="folHlin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>
                <a:solidFill>
                  <a:schemeClr val="folHlink"/>
                </a:solidFill>
                <a:latin typeface="Times New Roman" pitchFamily="18" charset="0"/>
                <a:cs typeface="Times New Roman" pitchFamily="18" charset="0"/>
              </a:rPr>
              <a:t>To operate the transistor in these regions the two junctions of a transistor should be forward or reverse bias</a:t>
            </a:r>
            <a:endParaRPr lang="el-GR" sz="2400">
              <a:solidFill>
                <a:schemeClr val="folHlin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7652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648200"/>
            <a:ext cx="2276475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A2DDC8-7ABF-4791-8E7B-94E31BE68CB7}" type="slidenum">
              <a:rPr lang="en-US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015884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ounded Rectangle 127"/>
          <p:cNvSpPr/>
          <p:nvPr/>
        </p:nvSpPr>
        <p:spPr>
          <a:xfrm>
            <a:off x="4114800" y="5943600"/>
            <a:ext cx="304800" cy="3048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7" name="Rounded Rectangle 126"/>
          <p:cNvSpPr/>
          <p:nvPr/>
        </p:nvSpPr>
        <p:spPr>
          <a:xfrm>
            <a:off x="914400" y="3733800"/>
            <a:ext cx="304800" cy="3048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>
          <a:xfrm>
            <a:off x="3057525" y="0"/>
            <a:ext cx="2809875" cy="636588"/>
          </a:xfrm>
        </p:spPr>
        <p:txBody>
          <a:bodyPr/>
          <a:lstStyle/>
          <a:p>
            <a:pPr algn="l"/>
            <a:r>
              <a:rPr lang="en-US" sz="32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DC Load Line</a:t>
            </a:r>
          </a:p>
        </p:txBody>
      </p:sp>
      <p:sp>
        <p:nvSpPr>
          <p:cNvPr id="28677" name="Rectangle 126"/>
          <p:cNvSpPr>
            <a:spLocks noGrp="1" noChangeArrowheads="1"/>
          </p:cNvSpPr>
          <p:nvPr>
            <p:ph idx="1"/>
          </p:nvPr>
        </p:nvSpPr>
        <p:spPr>
          <a:xfrm>
            <a:off x="152400" y="685800"/>
            <a:ext cx="6019800" cy="1905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dirty="0"/>
              <a:t> </a:t>
            </a:r>
            <a:r>
              <a:rPr lang="en-US" sz="2400" dirty="0">
                <a:solidFill>
                  <a:schemeClr val="folHlink"/>
                </a:solidFill>
              </a:rPr>
              <a:t>I</a:t>
            </a:r>
            <a:r>
              <a:rPr lang="en-US" sz="2400" baseline="-18000" dirty="0">
                <a:solidFill>
                  <a:schemeClr val="folHlink"/>
                </a:solidFill>
              </a:rPr>
              <a:t>C</a:t>
            </a:r>
            <a:r>
              <a:rPr lang="en-US" sz="2400" dirty="0">
                <a:solidFill>
                  <a:schemeClr val="folHlink"/>
                </a:solidFill>
              </a:rPr>
              <a:t> = [-1/R</a:t>
            </a:r>
            <a:r>
              <a:rPr lang="en-US" sz="2400" baseline="-18000" dirty="0">
                <a:solidFill>
                  <a:schemeClr val="folHlink"/>
                </a:solidFill>
              </a:rPr>
              <a:t>C</a:t>
            </a:r>
            <a:r>
              <a:rPr lang="en-US" sz="2400" dirty="0">
                <a:solidFill>
                  <a:schemeClr val="folHlink"/>
                </a:solidFill>
              </a:rPr>
              <a:t>] V</a:t>
            </a:r>
            <a:r>
              <a:rPr lang="en-US" sz="2400" baseline="-18000" dirty="0">
                <a:solidFill>
                  <a:schemeClr val="folHlink"/>
                </a:solidFill>
              </a:rPr>
              <a:t>CE</a:t>
            </a:r>
            <a:r>
              <a:rPr lang="en-US" sz="2400" dirty="0">
                <a:solidFill>
                  <a:schemeClr val="folHlink"/>
                </a:solidFill>
              </a:rPr>
              <a:t> + V</a:t>
            </a:r>
            <a:r>
              <a:rPr lang="en-US" sz="2400" baseline="-18000" dirty="0">
                <a:solidFill>
                  <a:schemeClr val="folHlink"/>
                </a:solidFill>
              </a:rPr>
              <a:t>CC</a:t>
            </a:r>
            <a:r>
              <a:rPr lang="en-US" sz="2400" dirty="0">
                <a:solidFill>
                  <a:schemeClr val="folHlink"/>
                </a:solidFill>
              </a:rPr>
              <a:t>/R</a:t>
            </a:r>
            <a:r>
              <a:rPr lang="en-US" sz="2400" baseline="-18000" dirty="0">
                <a:solidFill>
                  <a:schemeClr val="folHlink"/>
                </a:solidFill>
              </a:rPr>
              <a:t>C</a:t>
            </a:r>
            <a:endParaRPr lang="en-US" sz="2400" dirty="0"/>
          </a:p>
          <a:p>
            <a:r>
              <a:rPr lang="en-US" sz="2400" dirty="0"/>
              <a:t>and substituting I</a:t>
            </a:r>
            <a:r>
              <a:rPr lang="en-US" sz="2400" baseline="-18000" dirty="0"/>
              <a:t>C</a:t>
            </a:r>
            <a:r>
              <a:rPr lang="en-US" sz="2400" dirty="0"/>
              <a:t> = 0 in above equation </a:t>
            </a:r>
          </a:p>
          <a:p>
            <a:r>
              <a:rPr lang="en-US" sz="2400" dirty="0"/>
              <a:t> </a:t>
            </a:r>
            <a:r>
              <a:rPr lang="en-US" sz="2400" dirty="0">
                <a:solidFill>
                  <a:schemeClr val="folHlink"/>
                </a:solidFill>
              </a:rPr>
              <a:t>V</a:t>
            </a:r>
            <a:r>
              <a:rPr lang="en-US" sz="2400" baseline="-18000" dirty="0">
                <a:solidFill>
                  <a:schemeClr val="folHlink"/>
                </a:solidFill>
              </a:rPr>
              <a:t>CE</a:t>
            </a:r>
            <a:r>
              <a:rPr lang="en-US" sz="2400" dirty="0">
                <a:solidFill>
                  <a:schemeClr val="folHlink"/>
                </a:solidFill>
              </a:rPr>
              <a:t> = V</a:t>
            </a:r>
            <a:r>
              <a:rPr lang="en-US" sz="2400" baseline="-18000" dirty="0">
                <a:solidFill>
                  <a:schemeClr val="folHlink"/>
                </a:solidFill>
              </a:rPr>
              <a:t>CC</a:t>
            </a:r>
            <a:r>
              <a:rPr lang="en-US" sz="2400" dirty="0">
                <a:solidFill>
                  <a:schemeClr val="folHlink"/>
                </a:solidFill>
              </a:rPr>
              <a:t>  </a:t>
            </a:r>
            <a:r>
              <a:rPr lang="en-US" sz="2400" dirty="0">
                <a:solidFill>
                  <a:schemeClr val="folHlink"/>
                </a:solidFill>
                <a:sym typeface="Wingdings" pitchFamily="2" charset="2"/>
              </a:rPr>
              <a:t> </a:t>
            </a:r>
            <a:r>
              <a:rPr lang="en-US" sz="2400" dirty="0">
                <a:solidFill>
                  <a:schemeClr val="folHlink"/>
                </a:solidFill>
              </a:rPr>
              <a:t>or point “B”</a:t>
            </a:r>
          </a:p>
        </p:txBody>
      </p:sp>
      <p:sp>
        <p:nvSpPr>
          <p:cNvPr id="28678" name="Line 3"/>
          <p:cNvSpPr>
            <a:spLocks noChangeShapeType="1"/>
          </p:cNvSpPr>
          <p:nvPr/>
        </p:nvSpPr>
        <p:spPr bwMode="auto">
          <a:xfrm>
            <a:off x="1057275" y="59436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9" name="Line 4"/>
          <p:cNvSpPr>
            <a:spLocks noChangeShapeType="1"/>
          </p:cNvSpPr>
          <p:nvPr/>
        </p:nvSpPr>
        <p:spPr bwMode="auto">
          <a:xfrm flipV="1">
            <a:off x="1285875" y="3200400"/>
            <a:ext cx="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8680" name="Text Box 5"/>
              <p:cNvSpPr txBox="1">
                <a:spLocks noChangeArrowheads="1"/>
              </p:cNvSpPr>
              <p:nvPr/>
            </p:nvSpPr>
            <p:spPr bwMode="auto">
              <a:xfrm>
                <a:off x="4675188" y="5791200"/>
                <a:ext cx="56509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en-US" sz="16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𝑪𝑬</m:t>
                          </m:r>
                        </m:sub>
                      </m:sSub>
                    </m:oMath>
                  </m:oMathPara>
                </a14:m>
                <a:endParaRPr lang="el-GR" sz="1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8680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5188" y="5791200"/>
                <a:ext cx="565090" cy="338554"/>
              </a:xfrm>
              <a:prstGeom prst="rect">
                <a:avLst/>
              </a:prstGeom>
              <a:blipFill rotWithShape="1">
                <a:blip r:embed="rId2"/>
                <a:stretch>
                  <a:fillRect t="-5357" r="-7527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81" name="Freeform 6"/>
          <p:cNvSpPr>
            <a:spLocks/>
          </p:cNvSpPr>
          <p:nvPr/>
        </p:nvSpPr>
        <p:spPr bwMode="auto">
          <a:xfrm rot="3268802">
            <a:off x="1957387" y="4354513"/>
            <a:ext cx="1311275" cy="2565400"/>
          </a:xfrm>
          <a:custGeom>
            <a:avLst/>
            <a:gdLst>
              <a:gd name="T0" fmla="*/ 2147483647 w 1864"/>
              <a:gd name="T1" fmla="*/ 2147483647 h 816"/>
              <a:gd name="T2" fmla="*/ 2147483647 w 1864"/>
              <a:gd name="T3" fmla="*/ 2147483647 h 816"/>
              <a:gd name="T4" fmla="*/ 2147483647 w 1864"/>
              <a:gd name="T5" fmla="*/ 0 h 816"/>
              <a:gd name="T6" fmla="*/ 0 60000 65536"/>
              <a:gd name="T7" fmla="*/ 0 60000 65536"/>
              <a:gd name="T8" fmla="*/ 0 60000 65536"/>
              <a:gd name="T9" fmla="*/ 0 w 1864"/>
              <a:gd name="T10" fmla="*/ 0 h 816"/>
              <a:gd name="T11" fmla="*/ 1864 w 1864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64" h="816">
                <a:moveTo>
                  <a:pt x="184" y="816"/>
                </a:moveTo>
                <a:cubicBezTo>
                  <a:pt x="92" y="764"/>
                  <a:pt x="0" y="712"/>
                  <a:pt x="280" y="576"/>
                </a:cubicBezTo>
                <a:cubicBezTo>
                  <a:pt x="560" y="440"/>
                  <a:pt x="1212" y="220"/>
                  <a:pt x="1864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>
              <a:latin typeface="Calibri" pitchFamily="34" charset="0"/>
            </a:endParaRPr>
          </a:p>
        </p:txBody>
      </p:sp>
      <p:sp>
        <p:nvSpPr>
          <p:cNvPr id="28683" name="Text Box 8"/>
          <p:cNvSpPr txBox="1">
            <a:spLocks noChangeArrowheads="1"/>
          </p:cNvSpPr>
          <p:nvPr/>
        </p:nvSpPr>
        <p:spPr bwMode="auto">
          <a:xfrm>
            <a:off x="904875" y="3708400"/>
            <a:ext cx="363538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A</a:t>
            </a:r>
          </a:p>
          <a:p>
            <a:endParaRPr lang="en-US" sz="1400"/>
          </a:p>
          <a:p>
            <a:r>
              <a:rPr lang="en-US" sz="1400"/>
              <a:t>3</a:t>
            </a:r>
          </a:p>
          <a:p>
            <a:endParaRPr lang="en-US" sz="1400"/>
          </a:p>
          <a:p>
            <a:endParaRPr lang="en-US" sz="1400"/>
          </a:p>
          <a:p>
            <a:r>
              <a:rPr lang="en-US" sz="1400"/>
              <a:t>2</a:t>
            </a:r>
          </a:p>
          <a:p>
            <a:endParaRPr lang="en-US" sz="1400"/>
          </a:p>
          <a:p>
            <a:endParaRPr lang="en-US" sz="1400"/>
          </a:p>
          <a:p>
            <a:r>
              <a:rPr lang="en-US" sz="1400"/>
              <a:t>1</a:t>
            </a:r>
          </a:p>
        </p:txBody>
      </p:sp>
      <p:sp>
        <p:nvSpPr>
          <p:cNvPr id="28685" name="Text Box 10"/>
          <p:cNvSpPr txBox="1">
            <a:spLocks noChangeArrowheads="1"/>
          </p:cNvSpPr>
          <p:nvPr/>
        </p:nvSpPr>
        <p:spPr bwMode="auto">
          <a:xfrm>
            <a:off x="1651000" y="5949950"/>
            <a:ext cx="2368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400"/>
              <a:t>1         2         3          4</a:t>
            </a:r>
          </a:p>
        </p:txBody>
      </p:sp>
      <p:sp>
        <p:nvSpPr>
          <p:cNvPr id="28686" name="Line 11"/>
          <p:cNvSpPr>
            <a:spLocks noChangeShapeType="1"/>
          </p:cNvSpPr>
          <p:nvPr/>
        </p:nvSpPr>
        <p:spPr bwMode="auto">
          <a:xfrm>
            <a:off x="40290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7" name="Line 12"/>
          <p:cNvSpPr>
            <a:spLocks noChangeShapeType="1"/>
          </p:cNvSpPr>
          <p:nvPr/>
        </p:nvSpPr>
        <p:spPr bwMode="auto">
          <a:xfrm>
            <a:off x="39528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8" name="Line 13"/>
          <p:cNvSpPr>
            <a:spLocks noChangeShapeType="1"/>
          </p:cNvSpPr>
          <p:nvPr/>
        </p:nvSpPr>
        <p:spPr bwMode="auto">
          <a:xfrm>
            <a:off x="38766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9" name="Line 14"/>
          <p:cNvSpPr>
            <a:spLocks noChangeShapeType="1"/>
          </p:cNvSpPr>
          <p:nvPr/>
        </p:nvSpPr>
        <p:spPr bwMode="auto">
          <a:xfrm>
            <a:off x="38004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0" name="Line 15"/>
          <p:cNvSpPr>
            <a:spLocks noChangeShapeType="1"/>
          </p:cNvSpPr>
          <p:nvPr/>
        </p:nvSpPr>
        <p:spPr bwMode="auto">
          <a:xfrm>
            <a:off x="37242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1" name="Line 16"/>
          <p:cNvSpPr>
            <a:spLocks noChangeShapeType="1"/>
          </p:cNvSpPr>
          <p:nvPr/>
        </p:nvSpPr>
        <p:spPr bwMode="auto">
          <a:xfrm>
            <a:off x="36480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2" name="Line 17"/>
          <p:cNvSpPr>
            <a:spLocks noChangeShapeType="1"/>
          </p:cNvSpPr>
          <p:nvPr/>
        </p:nvSpPr>
        <p:spPr bwMode="auto">
          <a:xfrm>
            <a:off x="35718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3" name="Line 18"/>
          <p:cNvSpPr>
            <a:spLocks noChangeShapeType="1"/>
          </p:cNvSpPr>
          <p:nvPr/>
        </p:nvSpPr>
        <p:spPr bwMode="auto">
          <a:xfrm>
            <a:off x="34956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4" name="Line 19"/>
          <p:cNvSpPr>
            <a:spLocks noChangeShapeType="1"/>
          </p:cNvSpPr>
          <p:nvPr/>
        </p:nvSpPr>
        <p:spPr bwMode="auto">
          <a:xfrm>
            <a:off x="34194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5" name="Line 20"/>
          <p:cNvSpPr>
            <a:spLocks noChangeShapeType="1"/>
          </p:cNvSpPr>
          <p:nvPr/>
        </p:nvSpPr>
        <p:spPr bwMode="auto">
          <a:xfrm>
            <a:off x="33432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6" name="Line 21"/>
          <p:cNvSpPr>
            <a:spLocks noChangeShapeType="1"/>
          </p:cNvSpPr>
          <p:nvPr/>
        </p:nvSpPr>
        <p:spPr bwMode="auto">
          <a:xfrm>
            <a:off x="32670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7" name="Line 22"/>
          <p:cNvSpPr>
            <a:spLocks noChangeShapeType="1"/>
          </p:cNvSpPr>
          <p:nvPr/>
        </p:nvSpPr>
        <p:spPr bwMode="auto">
          <a:xfrm>
            <a:off x="31908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8" name="Line 23"/>
          <p:cNvSpPr>
            <a:spLocks noChangeShapeType="1"/>
          </p:cNvSpPr>
          <p:nvPr/>
        </p:nvSpPr>
        <p:spPr bwMode="auto">
          <a:xfrm>
            <a:off x="31146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9" name="Line 24"/>
          <p:cNvSpPr>
            <a:spLocks noChangeShapeType="1"/>
          </p:cNvSpPr>
          <p:nvPr/>
        </p:nvSpPr>
        <p:spPr bwMode="auto">
          <a:xfrm>
            <a:off x="30384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0" name="Line 25"/>
          <p:cNvSpPr>
            <a:spLocks noChangeShapeType="1"/>
          </p:cNvSpPr>
          <p:nvPr/>
        </p:nvSpPr>
        <p:spPr bwMode="auto">
          <a:xfrm>
            <a:off x="29622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1" name="Line 26"/>
          <p:cNvSpPr>
            <a:spLocks noChangeShapeType="1"/>
          </p:cNvSpPr>
          <p:nvPr/>
        </p:nvSpPr>
        <p:spPr bwMode="auto">
          <a:xfrm>
            <a:off x="28860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2" name="Line 27"/>
          <p:cNvSpPr>
            <a:spLocks noChangeShapeType="1"/>
          </p:cNvSpPr>
          <p:nvPr/>
        </p:nvSpPr>
        <p:spPr bwMode="auto">
          <a:xfrm>
            <a:off x="28098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3" name="Line 28"/>
          <p:cNvSpPr>
            <a:spLocks noChangeShapeType="1"/>
          </p:cNvSpPr>
          <p:nvPr/>
        </p:nvSpPr>
        <p:spPr bwMode="auto">
          <a:xfrm>
            <a:off x="27336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4" name="Line 29"/>
          <p:cNvSpPr>
            <a:spLocks noChangeShapeType="1"/>
          </p:cNvSpPr>
          <p:nvPr/>
        </p:nvSpPr>
        <p:spPr bwMode="auto">
          <a:xfrm>
            <a:off x="26574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5" name="Line 30"/>
          <p:cNvSpPr>
            <a:spLocks noChangeShapeType="1"/>
          </p:cNvSpPr>
          <p:nvPr/>
        </p:nvSpPr>
        <p:spPr bwMode="auto">
          <a:xfrm>
            <a:off x="25812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6" name="Line 31"/>
          <p:cNvSpPr>
            <a:spLocks noChangeShapeType="1"/>
          </p:cNvSpPr>
          <p:nvPr/>
        </p:nvSpPr>
        <p:spPr bwMode="auto">
          <a:xfrm>
            <a:off x="25050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7" name="Line 32"/>
          <p:cNvSpPr>
            <a:spLocks noChangeShapeType="1"/>
          </p:cNvSpPr>
          <p:nvPr/>
        </p:nvSpPr>
        <p:spPr bwMode="auto">
          <a:xfrm>
            <a:off x="24288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8" name="Line 33"/>
          <p:cNvSpPr>
            <a:spLocks noChangeShapeType="1"/>
          </p:cNvSpPr>
          <p:nvPr/>
        </p:nvSpPr>
        <p:spPr bwMode="auto">
          <a:xfrm>
            <a:off x="23526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9" name="Line 34"/>
          <p:cNvSpPr>
            <a:spLocks noChangeShapeType="1"/>
          </p:cNvSpPr>
          <p:nvPr/>
        </p:nvSpPr>
        <p:spPr bwMode="auto">
          <a:xfrm>
            <a:off x="2276475" y="5486400"/>
            <a:ext cx="0" cy="4572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0" name="Line 35"/>
          <p:cNvSpPr>
            <a:spLocks noChangeShapeType="1"/>
          </p:cNvSpPr>
          <p:nvPr/>
        </p:nvSpPr>
        <p:spPr bwMode="auto">
          <a:xfrm>
            <a:off x="2200275" y="5562600"/>
            <a:ext cx="0" cy="3810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1" name="Line 36"/>
          <p:cNvSpPr>
            <a:spLocks noChangeShapeType="1"/>
          </p:cNvSpPr>
          <p:nvPr/>
        </p:nvSpPr>
        <p:spPr bwMode="auto">
          <a:xfrm>
            <a:off x="2124075" y="5562600"/>
            <a:ext cx="0" cy="3810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2" name="Line 37"/>
          <p:cNvSpPr>
            <a:spLocks noChangeShapeType="1"/>
          </p:cNvSpPr>
          <p:nvPr/>
        </p:nvSpPr>
        <p:spPr bwMode="auto">
          <a:xfrm>
            <a:off x="2047875" y="5638800"/>
            <a:ext cx="0" cy="3048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3" name="Line 38"/>
          <p:cNvSpPr>
            <a:spLocks noChangeShapeType="1"/>
          </p:cNvSpPr>
          <p:nvPr/>
        </p:nvSpPr>
        <p:spPr bwMode="auto">
          <a:xfrm>
            <a:off x="1971675" y="5562600"/>
            <a:ext cx="0" cy="3810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4" name="Line 39"/>
          <p:cNvSpPr>
            <a:spLocks noChangeShapeType="1"/>
          </p:cNvSpPr>
          <p:nvPr/>
        </p:nvSpPr>
        <p:spPr bwMode="auto">
          <a:xfrm>
            <a:off x="1895475" y="5562600"/>
            <a:ext cx="0" cy="3810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5" name="Line 40"/>
          <p:cNvSpPr>
            <a:spLocks noChangeShapeType="1"/>
          </p:cNvSpPr>
          <p:nvPr/>
        </p:nvSpPr>
        <p:spPr bwMode="auto">
          <a:xfrm>
            <a:off x="1819275" y="5638800"/>
            <a:ext cx="0" cy="3048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6" name="Line 41"/>
          <p:cNvSpPr>
            <a:spLocks noChangeShapeType="1"/>
          </p:cNvSpPr>
          <p:nvPr/>
        </p:nvSpPr>
        <p:spPr bwMode="auto">
          <a:xfrm>
            <a:off x="1743075" y="5638800"/>
            <a:ext cx="0" cy="3048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7" name="Line 42"/>
          <p:cNvSpPr>
            <a:spLocks noChangeShapeType="1"/>
          </p:cNvSpPr>
          <p:nvPr/>
        </p:nvSpPr>
        <p:spPr bwMode="auto">
          <a:xfrm>
            <a:off x="1666875" y="5638800"/>
            <a:ext cx="0" cy="3048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8" name="Line 43"/>
          <p:cNvSpPr>
            <a:spLocks noChangeShapeType="1"/>
          </p:cNvSpPr>
          <p:nvPr/>
        </p:nvSpPr>
        <p:spPr bwMode="auto">
          <a:xfrm>
            <a:off x="1590675" y="5638800"/>
            <a:ext cx="0" cy="3048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9" name="Line 44"/>
          <p:cNvSpPr>
            <a:spLocks noChangeShapeType="1"/>
          </p:cNvSpPr>
          <p:nvPr/>
        </p:nvSpPr>
        <p:spPr bwMode="auto">
          <a:xfrm>
            <a:off x="1514475" y="5715000"/>
            <a:ext cx="0" cy="2286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0" name="Line 45"/>
          <p:cNvSpPr>
            <a:spLocks noChangeShapeType="1"/>
          </p:cNvSpPr>
          <p:nvPr/>
        </p:nvSpPr>
        <p:spPr bwMode="auto">
          <a:xfrm>
            <a:off x="1438275" y="5715000"/>
            <a:ext cx="0" cy="228600"/>
          </a:xfrm>
          <a:prstGeom prst="line">
            <a:avLst/>
          </a:prstGeom>
          <a:noFill/>
          <a:ln w="9525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1" name="Freeform 48"/>
          <p:cNvSpPr>
            <a:spLocks/>
          </p:cNvSpPr>
          <p:nvPr/>
        </p:nvSpPr>
        <p:spPr bwMode="auto">
          <a:xfrm rot="3268802">
            <a:off x="2174081" y="3936207"/>
            <a:ext cx="1195387" cy="2514600"/>
          </a:xfrm>
          <a:custGeom>
            <a:avLst/>
            <a:gdLst>
              <a:gd name="T0" fmla="*/ 2147483647 w 1864"/>
              <a:gd name="T1" fmla="*/ 2147483647 h 816"/>
              <a:gd name="T2" fmla="*/ 2147483647 w 1864"/>
              <a:gd name="T3" fmla="*/ 2147483647 h 816"/>
              <a:gd name="T4" fmla="*/ 2147483647 w 1864"/>
              <a:gd name="T5" fmla="*/ 0 h 816"/>
              <a:gd name="T6" fmla="*/ 0 60000 65536"/>
              <a:gd name="T7" fmla="*/ 0 60000 65536"/>
              <a:gd name="T8" fmla="*/ 0 60000 65536"/>
              <a:gd name="T9" fmla="*/ 0 w 1864"/>
              <a:gd name="T10" fmla="*/ 0 h 816"/>
              <a:gd name="T11" fmla="*/ 1864 w 1864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64" h="816">
                <a:moveTo>
                  <a:pt x="184" y="816"/>
                </a:moveTo>
                <a:cubicBezTo>
                  <a:pt x="92" y="764"/>
                  <a:pt x="0" y="712"/>
                  <a:pt x="280" y="576"/>
                </a:cubicBezTo>
                <a:cubicBezTo>
                  <a:pt x="560" y="440"/>
                  <a:pt x="1212" y="220"/>
                  <a:pt x="1864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>
              <a:latin typeface="Calibri" pitchFamily="34" charset="0"/>
            </a:endParaRPr>
          </a:p>
        </p:txBody>
      </p:sp>
      <p:sp>
        <p:nvSpPr>
          <p:cNvPr id="28722" name="Line 49"/>
          <p:cNvSpPr>
            <a:spLocks noChangeShapeType="1"/>
          </p:cNvSpPr>
          <p:nvPr/>
        </p:nvSpPr>
        <p:spPr bwMode="auto">
          <a:xfrm flipV="1">
            <a:off x="1285875" y="3048000"/>
            <a:ext cx="1143000" cy="2895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4" name="Line 51"/>
          <p:cNvSpPr>
            <a:spLocks noChangeShapeType="1"/>
          </p:cNvSpPr>
          <p:nvPr/>
        </p:nvSpPr>
        <p:spPr bwMode="auto">
          <a:xfrm flipV="1">
            <a:off x="1209675" y="4953000"/>
            <a:ext cx="2971800" cy="0"/>
          </a:xfrm>
          <a:prstGeom prst="line">
            <a:avLst/>
          </a:prstGeom>
          <a:noFill/>
          <a:ln w="3175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5" name="Line 52"/>
          <p:cNvSpPr>
            <a:spLocks noChangeShapeType="1"/>
          </p:cNvSpPr>
          <p:nvPr/>
        </p:nvSpPr>
        <p:spPr bwMode="auto">
          <a:xfrm flipV="1">
            <a:off x="1209675" y="5410200"/>
            <a:ext cx="2971800" cy="0"/>
          </a:xfrm>
          <a:prstGeom prst="line">
            <a:avLst/>
          </a:prstGeom>
          <a:noFill/>
          <a:ln w="3175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6" name="Freeform 53"/>
          <p:cNvSpPr>
            <a:spLocks/>
          </p:cNvSpPr>
          <p:nvPr/>
        </p:nvSpPr>
        <p:spPr bwMode="auto">
          <a:xfrm rot="3268802">
            <a:off x="2402681" y="3378994"/>
            <a:ext cx="1195388" cy="2514600"/>
          </a:xfrm>
          <a:custGeom>
            <a:avLst/>
            <a:gdLst>
              <a:gd name="T0" fmla="*/ 2147483647 w 1864"/>
              <a:gd name="T1" fmla="*/ 2147483647 h 816"/>
              <a:gd name="T2" fmla="*/ 2147483647 w 1864"/>
              <a:gd name="T3" fmla="*/ 2147483647 h 816"/>
              <a:gd name="T4" fmla="*/ 2147483647 w 1864"/>
              <a:gd name="T5" fmla="*/ 0 h 816"/>
              <a:gd name="T6" fmla="*/ 0 60000 65536"/>
              <a:gd name="T7" fmla="*/ 0 60000 65536"/>
              <a:gd name="T8" fmla="*/ 0 60000 65536"/>
              <a:gd name="T9" fmla="*/ 0 w 1864"/>
              <a:gd name="T10" fmla="*/ 0 h 816"/>
              <a:gd name="T11" fmla="*/ 1864 w 1864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64" h="816">
                <a:moveTo>
                  <a:pt x="184" y="816"/>
                </a:moveTo>
                <a:cubicBezTo>
                  <a:pt x="92" y="764"/>
                  <a:pt x="0" y="712"/>
                  <a:pt x="280" y="576"/>
                </a:cubicBezTo>
                <a:cubicBezTo>
                  <a:pt x="560" y="440"/>
                  <a:pt x="1212" y="220"/>
                  <a:pt x="1864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>
              <a:latin typeface="Calibri" pitchFamily="34" charset="0"/>
            </a:endParaRPr>
          </a:p>
        </p:txBody>
      </p:sp>
      <p:sp>
        <p:nvSpPr>
          <p:cNvPr id="28727" name="Line 54"/>
          <p:cNvSpPr>
            <a:spLocks noChangeShapeType="1"/>
          </p:cNvSpPr>
          <p:nvPr/>
        </p:nvSpPr>
        <p:spPr bwMode="auto">
          <a:xfrm flipV="1">
            <a:off x="1285875" y="4419600"/>
            <a:ext cx="2971800" cy="0"/>
          </a:xfrm>
          <a:prstGeom prst="line">
            <a:avLst/>
          </a:prstGeom>
          <a:noFill/>
          <a:ln w="3175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9" name="Freeform 56"/>
          <p:cNvSpPr>
            <a:spLocks/>
          </p:cNvSpPr>
          <p:nvPr/>
        </p:nvSpPr>
        <p:spPr bwMode="auto">
          <a:xfrm rot="3268802">
            <a:off x="2631281" y="2845594"/>
            <a:ext cx="1195388" cy="2514600"/>
          </a:xfrm>
          <a:custGeom>
            <a:avLst/>
            <a:gdLst>
              <a:gd name="T0" fmla="*/ 2147483647 w 1864"/>
              <a:gd name="T1" fmla="*/ 2147483647 h 816"/>
              <a:gd name="T2" fmla="*/ 2147483647 w 1864"/>
              <a:gd name="T3" fmla="*/ 2147483647 h 816"/>
              <a:gd name="T4" fmla="*/ 2147483647 w 1864"/>
              <a:gd name="T5" fmla="*/ 0 h 816"/>
              <a:gd name="T6" fmla="*/ 0 60000 65536"/>
              <a:gd name="T7" fmla="*/ 0 60000 65536"/>
              <a:gd name="T8" fmla="*/ 0 60000 65536"/>
              <a:gd name="T9" fmla="*/ 0 w 1864"/>
              <a:gd name="T10" fmla="*/ 0 h 816"/>
              <a:gd name="T11" fmla="*/ 1864 w 1864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64" h="816">
                <a:moveTo>
                  <a:pt x="184" y="816"/>
                </a:moveTo>
                <a:cubicBezTo>
                  <a:pt x="92" y="764"/>
                  <a:pt x="0" y="712"/>
                  <a:pt x="280" y="576"/>
                </a:cubicBezTo>
                <a:cubicBezTo>
                  <a:pt x="560" y="440"/>
                  <a:pt x="1212" y="220"/>
                  <a:pt x="1864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>
              <a:latin typeface="Calibri" pitchFamily="34" charset="0"/>
            </a:endParaRPr>
          </a:p>
        </p:txBody>
      </p:sp>
      <p:sp>
        <p:nvSpPr>
          <p:cNvPr id="28730" name="Line 57"/>
          <p:cNvSpPr>
            <a:spLocks noChangeShapeType="1"/>
          </p:cNvSpPr>
          <p:nvPr/>
        </p:nvSpPr>
        <p:spPr bwMode="auto">
          <a:xfrm flipV="1">
            <a:off x="1285875" y="3886200"/>
            <a:ext cx="2971800" cy="0"/>
          </a:xfrm>
          <a:prstGeom prst="line">
            <a:avLst/>
          </a:prstGeom>
          <a:noFill/>
          <a:ln w="3175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2" name="Line 59"/>
          <p:cNvSpPr>
            <a:spLocks noChangeShapeType="1"/>
          </p:cNvSpPr>
          <p:nvPr/>
        </p:nvSpPr>
        <p:spPr bwMode="auto">
          <a:xfrm>
            <a:off x="1285875" y="3962400"/>
            <a:ext cx="7620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3" name="Line 60"/>
          <p:cNvSpPr>
            <a:spLocks noChangeShapeType="1"/>
          </p:cNvSpPr>
          <p:nvPr/>
        </p:nvSpPr>
        <p:spPr bwMode="auto">
          <a:xfrm>
            <a:off x="1285875" y="3886200"/>
            <a:ext cx="7620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4" name="Line 61"/>
          <p:cNvSpPr>
            <a:spLocks noChangeShapeType="1"/>
          </p:cNvSpPr>
          <p:nvPr/>
        </p:nvSpPr>
        <p:spPr bwMode="auto">
          <a:xfrm>
            <a:off x="1285875" y="4038600"/>
            <a:ext cx="7620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5" name="Line 62"/>
          <p:cNvSpPr>
            <a:spLocks noChangeShapeType="1"/>
          </p:cNvSpPr>
          <p:nvPr/>
        </p:nvSpPr>
        <p:spPr bwMode="auto">
          <a:xfrm>
            <a:off x="1285875" y="4114800"/>
            <a:ext cx="7620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6" name="Line 63"/>
          <p:cNvSpPr>
            <a:spLocks noChangeShapeType="1"/>
          </p:cNvSpPr>
          <p:nvPr/>
        </p:nvSpPr>
        <p:spPr bwMode="auto">
          <a:xfrm>
            <a:off x="1285875" y="4191000"/>
            <a:ext cx="6858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7" name="Line 64"/>
          <p:cNvSpPr>
            <a:spLocks noChangeShapeType="1"/>
          </p:cNvSpPr>
          <p:nvPr/>
        </p:nvSpPr>
        <p:spPr bwMode="auto">
          <a:xfrm>
            <a:off x="1285875" y="4267200"/>
            <a:ext cx="6858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8" name="Line 65"/>
          <p:cNvSpPr>
            <a:spLocks noChangeShapeType="1"/>
          </p:cNvSpPr>
          <p:nvPr/>
        </p:nvSpPr>
        <p:spPr bwMode="auto">
          <a:xfrm>
            <a:off x="1285875" y="4343400"/>
            <a:ext cx="6858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9" name="Line 66"/>
          <p:cNvSpPr>
            <a:spLocks noChangeShapeType="1"/>
          </p:cNvSpPr>
          <p:nvPr/>
        </p:nvSpPr>
        <p:spPr bwMode="auto">
          <a:xfrm>
            <a:off x="1285875" y="4419600"/>
            <a:ext cx="6858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0" name="Line 67"/>
          <p:cNvSpPr>
            <a:spLocks noChangeShapeType="1"/>
          </p:cNvSpPr>
          <p:nvPr/>
        </p:nvSpPr>
        <p:spPr bwMode="auto">
          <a:xfrm>
            <a:off x="1285875" y="4495800"/>
            <a:ext cx="6096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1" name="Line 68"/>
          <p:cNvSpPr>
            <a:spLocks noChangeShapeType="1"/>
          </p:cNvSpPr>
          <p:nvPr/>
        </p:nvSpPr>
        <p:spPr bwMode="auto">
          <a:xfrm>
            <a:off x="1285875" y="4572000"/>
            <a:ext cx="6096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2" name="Line 69"/>
          <p:cNvSpPr>
            <a:spLocks noChangeShapeType="1"/>
          </p:cNvSpPr>
          <p:nvPr/>
        </p:nvSpPr>
        <p:spPr bwMode="auto">
          <a:xfrm>
            <a:off x="1285875" y="4648200"/>
            <a:ext cx="6096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3" name="Line 70"/>
          <p:cNvSpPr>
            <a:spLocks noChangeShapeType="1"/>
          </p:cNvSpPr>
          <p:nvPr/>
        </p:nvSpPr>
        <p:spPr bwMode="auto">
          <a:xfrm>
            <a:off x="1285875" y="4724400"/>
            <a:ext cx="5334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4" name="Line 71"/>
          <p:cNvSpPr>
            <a:spLocks noChangeShapeType="1"/>
          </p:cNvSpPr>
          <p:nvPr/>
        </p:nvSpPr>
        <p:spPr bwMode="auto">
          <a:xfrm>
            <a:off x="1285875" y="4800600"/>
            <a:ext cx="4572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5" name="Line 72"/>
          <p:cNvSpPr>
            <a:spLocks noChangeShapeType="1"/>
          </p:cNvSpPr>
          <p:nvPr/>
        </p:nvSpPr>
        <p:spPr bwMode="auto">
          <a:xfrm>
            <a:off x="1285875" y="4876800"/>
            <a:ext cx="4572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6" name="Line 73"/>
          <p:cNvSpPr>
            <a:spLocks noChangeShapeType="1"/>
          </p:cNvSpPr>
          <p:nvPr/>
        </p:nvSpPr>
        <p:spPr bwMode="auto">
          <a:xfrm>
            <a:off x="1285875" y="4953000"/>
            <a:ext cx="4572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7" name="Line 74"/>
          <p:cNvSpPr>
            <a:spLocks noChangeShapeType="1"/>
          </p:cNvSpPr>
          <p:nvPr/>
        </p:nvSpPr>
        <p:spPr bwMode="auto">
          <a:xfrm>
            <a:off x="1285875" y="5029200"/>
            <a:ext cx="3810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8" name="Line 75"/>
          <p:cNvSpPr>
            <a:spLocks noChangeShapeType="1"/>
          </p:cNvSpPr>
          <p:nvPr/>
        </p:nvSpPr>
        <p:spPr bwMode="auto">
          <a:xfrm>
            <a:off x="1285875" y="5105400"/>
            <a:ext cx="3810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9" name="Line 76"/>
          <p:cNvSpPr>
            <a:spLocks noChangeShapeType="1"/>
          </p:cNvSpPr>
          <p:nvPr/>
        </p:nvSpPr>
        <p:spPr bwMode="auto">
          <a:xfrm>
            <a:off x="1285875" y="5181600"/>
            <a:ext cx="2286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0" name="Line 77"/>
          <p:cNvSpPr>
            <a:spLocks noChangeShapeType="1"/>
          </p:cNvSpPr>
          <p:nvPr/>
        </p:nvSpPr>
        <p:spPr bwMode="auto">
          <a:xfrm>
            <a:off x="1285875" y="5257800"/>
            <a:ext cx="2286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1" name="Line 78"/>
          <p:cNvSpPr>
            <a:spLocks noChangeShapeType="1"/>
          </p:cNvSpPr>
          <p:nvPr/>
        </p:nvSpPr>
        <p:spPr bwMode="auto">
          <a:xfrm>
            <a:off x="1285875" y="5334000"/>
            <a:ext cx="2286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2" name="Line 79"/>
          <p:cNvSpPr>
            <a:spLocks noChangeShapeType="1"/>
          </p:cNvSpPr>
          <p:nvPr/>
        </p:nvSpPr>
        <p:spPr bwMode="auto">
          <a:xfrm>
            <a:off x="1285875" y="5486400"/>
            <a:ext cx="2286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3" name="Line 80"/>
          <p:cNvSpPr>
            <a:spLocks noChangeShapeType="1"/>
          </p:cNvSpPr>
          <p:nvPr/>
        </p:nvSpPr>
        <p:spPr bwMode="auto">
          <a:xfrm>
            <a:off x="1285875" y="5562600"/>
            <a:ext cx="2286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4" name="Line 81"/>
          <p:cNvSpPr>
            <a:spLocks noChangeShapeType="1"/>
          </p:cNvSpPr>
          <p:nvPr/>
        </p:nvSpPr>
        <p:spPr bwMode="auto">
          <a:xfrm>
            <a:off x="1285875" y="5638800"/>
            <a:ext cx="1524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5" name="Line 82"/>
          <p:cNvSpPr>
            <a:spLocks noChangeShapeType="1"/>
          </p:cNvSpPr>
          <p:nvPr/>
        </p:nvSpPr>
        <p:spPr bwMode="auto">
          <a:xfrm>
            <a:off x="1285875" y="5715000"/>
            <a:ext cx="76200" cy="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6" name="Oval 89"/>
          <p:cNvSpPr>
            <a:spLocks noChangeArrowheads="1"/>
          </p:cNvSpPr>
          <p:nvPr/>
        </p:nvSpPr>
        <p:spPr bwMode="auto">
          <a:xfrm>
            <a:off x="6461125" y="2749550"/>
            <a:ext cx="1304925" cy="12668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8757" name="Line 90"/>
          <p:cNvSpPr>
            <a:spLocks noChangeShapeType="1"/>
          </p:cNvSpPr>
          <p:nvPr/>
        </p:nvSpPr>
        <p:spPr bwMode="auto">
          <a:xfrm>
            <a:off x="6767513" y="2979738"/>
            <a:ext cx="0" cy="8445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8" name="Line 91"/>
          <p:cNvSpPr>
            <a:spLocks noChangeShapeType="1"/>
          </p:cNvSpPr>
          <p:nvPr/>
        </p:nvSpPr>
        <p:spPr bwMode="auto">
          <a:xfrm>
            <a:off x="6805613" y="3594100"/>
            <a:ext cx="576262" cy="346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9" name="Line 92"/>
          <p:cNvSpPr>
            <a:spLocks noChangeShapeType="1"/>
          </p:cNvSpPr>
          <p:nvPr/>
        </p:nvSpPr>
        <p:spPr bwMode="auto">
          <a:xfrm flipV="1">
            <a:off x="6805613" y="2825750"/>
            <a:ext cx="500062" cy="384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60" name="Line 93"/>
          <p:cNvSpPr>
            <a:spLocks noChangeShapeType="1"/>
          </p:cNvSpPr>
          <p:nvPr/>
        </p:nvSpPr>
        <p:spPr bwMode="auto">
          <a:xfrm flipH="1">
            <a:off x="7315200" y="3940175"/>
            <a:ext cx="28575" cy="18653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61" name="Line 94"/>
          <p:cNvSpPr>
            <a:spLocks noChangeShapeType="1"/>
          </p:cNvSpPr>
          <p:nvPr/>
        </p:nvSpPr>
        <p:spPr bwMode="auto">
          <a:xfrm>
            <a:off x="7299325" y="1143000"/>
            <a:ext cx="6350" cy="1682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62" name="Text Box 95"/>
          <p:cNvSpPr txBox="1">
            <a:spLocks noChangeArrowheads="1"/>
          </p:cNvSpPr>
          <p:nvPr/>
        </p:nvSpPr>
        <p:spPr bwMode="auto">
          <a:xfrm>
            <a:off x="7446963" y="5362575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E</a:t>
            </a:r>
          </a:p>
        </p:txBody>
      </p:sp>
      <p:sp>
        <p:nvSpPr>
          <p:cNvPr id="28763" name="Text Box 96"/>
          <p:cNvSpPr txBox="1">
            <a:spLocks noChangeArrowheads="1"/>
          </p:cNvSpPr>
          <p:nvPr/>
        </p:nvSpPr>
        <p:spPr bwMode="auto">
          <a:xfrm>
            <a:off x="7339013" y="1181100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C</a:t>
            </a:r>
          </a:p>
        </p:txBody>
      </p:sp>
      <p:sp>
        <p:nvSpPr>
          <p:cNvPr id="28764" name="Oval 97"/>
          <p:cNvSpPr>
            <a:spLocks noChangeArrowheads="1"/>
          </p:cNvSpPr>
          <p:nvPr/>
        </p:nvSpPr>
        <p:spPr bwMode="auto">
          <a:xfrm>
            <a:off x="7223125" y="1066800"/>
            <a:ext cx="153988" cy="153988"/>
          </a:xfrm>
          <a:prstGeom prst="ellipse">
            <a:avLst/>
          </a:prstGeom>
          <a:solidFill>
            <a:schemeClr val="bg1">
              <a:alpha val="89803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8765" name="Rectangle 98"/>
          <p:cNvSpPr>
            <a:spLocks noChangeArrowheads="1"/>
          </p:cNvSpPr>
          <p:nvPr/>
        </p:nvSpPr>
        <p:spPr bwMode="auto">
          <a:xfrm>
            <a:off x="5562600" y="5905500"/>
            <a:ext cx="3352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algn="ctr"/>
            <a:r>
              <a:rPr lang="en-US" sz="2000">
                <a:solidFill>
                  <a:srgbClr val="C00000"/>
                </a:solidFill>
                <a:latin typeface="Calibri" pitchFamily="34" charset="0"/>
              </a:rPr>
              <a:t>N-P-N Transistor</a:t>
            </a:r>
          </a:p>
        </p:txBody>
      </p:sp>
      <p:sp>
        <p:nvSpPr>
          <p:cNvPr id="28766" name="Line 99"/>
          <p:cNvSpPr>
            <a:spLocks noChangeShapeType="1"/>
          </p:cNvSpPr>
          <p:nvPr/>
        </p:nvSpPr>
        <p:spPr bwMode="auto">
          <a:xfrm>
            <a:off x="5943600" y="5797550"/>
            <a:ext cx="1398588" cy="79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67" name="Line 100"/>
          <p:cNvSpPr>
            <a:spLocks noChangeShapeType="1"/>
          </p:cNvSpPr>
          <p:nvPr/>
        </p:nvSpPr>
        <p:spPr bwMode="auto">
          <a:xfrm>
            <a:off x="7315200" y="5805488"/>
            <a:ext cx="1295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68" name="Line 101"/>
          <p:cNvSpPr>
            <a:spLocks noChangeShapeType="1"/>
          </p:cNvSpPr>
          <p:nvPr/>
        </p:nvSpPr>
        <p:spPr bwMode="auto">
          <a:xfrm>
            <a:off x="7339013" y="1143000"/>
            <a:ext cx="11906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69" name="Line 102"/>
          <p:cNvSpPr>
            <a:spLocks noChangeShapeType="1"/>
          </p:cNvSpPr>
          <p:nvPr/>
        </p:nvSpPr>
        <p:spPr bwMode="auto">
          <a:xfrm>
            <a:off x="8385175" y="3814763"/>
            <a:ext cx="3841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70" name="Line 103"/>
          <p:cNvSpPr>
            <a:spLocks noChangeShapeType="1"/>
          </p:cNvSpPr>
          <p:nvPr/>
        </p:nvSpPr>
        <p:spPr bwMode="auto">
          <a:xfrm>
            <a:off x="8385175" y="3506788"/>
            <a:ext cx="3841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71" name="Line 104"/>
          <p:cNvSpPr>
            <a:spLocks noChangeShapeType="1"/>
          </p:cNvSpPr>
          <p:nvPr/>
        </p:nvSpPr>
        <p:spPr bwMode="auto">
          <a:xfrm>
            <a:off x="8269288" y="3354388"/>
            <a:ext cx="652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72" name="Line 105"/>
          <p:cNvSpPr>
            <a:spLocks noChangeShapeType="1"/>
          </p:cNvSpPr>
          <p:nvPr/>
        </p:nvSpPr>
        <p:spPr bwMode="auto">
          <a:xfrm>
            <a:off x="8231188" y="3660775"/>
            <a:ext cx="652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73" name="Text Box 106"/>
          <p:cNvSpPr txBox="1">
            <a:spLocks noChangeArrowheads="1"/>
          </p:cNvSpPr>
          <p:nvPr/>
        </p:nvSpPr>
        <p:spPr bwMode="auto">
          <a:xfrm>
            <a:off x="8672513" y="3814763"/>
            <a:ext cx="260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-</a:t>
            </a:r>
          </a:p>
        </p:txBody>
      </p:sp>
      <p:sp>
        <p:nvSpPr>
          <p:cNvPr id="28774" name="Text Box 107"/>
          <p:cNvSpPr txBox="1">
            <a:spLocks noChangeArrowheads="1"/>
          </p:cNvSpPr>
          <p:nvPr/>
        </p:nvSpPr>
        <p:spPr bwMode="auto">
          <a:xfrm>
            <a:off x="8653463" y="2909888"/>
            <a:ext cx="317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+</a:t>
            </a:r>
          </a:p>
        </p:txBody>
      </p:sp>
      <p:sp>
        <p:nvSpPr>
          <p:cNvPr id="28775" name="Line 108"/>
          <p:cNvSpPr>
            <a:spLocks noChangeShapeType="1"/>
          </p:cNvSpPr>
          <p:nvPr/>
        </p:nvSpPr>
        <p:spPr bwMode="auto">
          <a:xfrm>
            <a:off x="8513763" y="1797050"/>
            <a:ext cx="193675" cy="115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76" name="Line 109"/>
          <p:cNvSpPr>
            <a:spLocks noChangeShapeType="1"/>
          </p:cNvSpPr>
          <p:nvPr/>
        </p:nvSpPr>
        <p:spPr bwMode="auto">
          <a:xfrm>
            <a:off x="8399463" y="2143125"/>
            <a:ext cx="346075" cy="2301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77" name="Line 110"/>
          <p:cNvSpPr>
            <a:spLocks noChangeShapeType="1"/>
          </p:cNvSpPr>
          <p:nvPr/>
        </p:nvSpPr>
        <p:spPr bwMode="auto">
          <a:xfrm flipV="1">
            <a:off x="8399463" y="2373313"/>
            <a:ext cx="346075" cy="192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78" name="Line 111"/>
          <p:cNvSpPr>
            <a:spLocks noChangeShapeType="1"/>
          </p:cNvSpPr>
          <p:nvPr/>
        </p:nvSpPr>
        <p:spPr bwMode="auto">
          <a:xfrm flipV="1">
            <a:off x="8361363" y="1912938"/>
            <a:ext cx="384175" cy="2301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79" name="Text Box 112"/>
          <p:cNvSpPr txBox="1">
            <a:spLocks noChangeArrowheads="1"/>
          </p:cNvSpPr>
          <p:nvPr/>
        </p:nvSpPr>
        <p:spPr bwMode="auto">
          <a:xfrm>
            <a:off x="8610600" y="1995488"/>
            <a:ext cx="4587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RC</a:t>
            </a:r>
          </a:p>
        </p:txBody>
      </p:sp>
      <p:sp>
        <p:nvSpPr>
          <p:cNvPr id="28780" name="Line 113"/>
          <p:cNvSpPr>
            <a:spLocks noChangeShapeType="1"/>
          </p:cNvSpPr>
          <p:nvPr/>
        </p:nvSpPr>
        <p:spPr bwMode="auto">
          <a:xfrm>
            <a:off x="8513763" y="1157288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81" name="Line 114"/>
          <p:cNvSpPr>
            <a:spLocks noChangeShapeType="1"/>
          </p:cNvSpPr>
          <p:nvPr/>
        </p:nvSpPr>
        <p:spPr bwMode="auto">
          <a:xfrm>
            <a:off x="8589963" y="2681288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82" name="Line 115"/>
          <p:cNvSpPr>
            <a:spLocks noChangeShapeType="1"/>
          </p:cNvSpPr>
          <p:nvPr/>
        </p:nvSpPr>
        <p:spPr bwMode="auto">
          <a:xfrm>
            <a:off x="8437563" y="2565400"/>
            <a:ext cx="193675" cy="115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83" name="Line 116"/>
          <p:cNvSpPr>
            <a:spLocks noChangeShapeType="1"/>
          </p:cNvSpPr>
          <p:nvPr/>
        </p:nvSpPr>
        <p:spPr bwMode="auto">
          <a:xfrm>
            <a:off x="8589963" y="3824288"/>
            <a:ext cx="0" cy="1981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84" name="Oval 117"/>
          <p:cNvSpPr>
            <a:spLocks noChangeArrowheads="1"/>
          </p:cNvSpPr>
          <p:nvPr/>
        </p:nvSpPr>
        <p:spPr bwMode="auto">
          <a:xfrm>
            <a:off x="7239000" y="5727700"/>
            <a:ext cx="153988" cy="153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8785" name="Line 118"/>
          <p:cNvSpPr>
            <a:spLocks noChangeShapeType="1"/>
          </p:cNvSpPr>
          <p:nvPr/>
        </p:nvSpPr>
        <p:spPr bwMode="auto">
          <a:xfrm flipV="1">
            <a:off x="8305800" y="1744663"/>
            <a:ext cx="0" cy="5064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86" name="Text Box 119"/>
          <p:cNvSpPr txBox="1">
            <a:spLocks noChangeArrowheads="1"/>
          </p:cNvSpPr>
          <p:nvPr/>
        </p:nvSpPr>
        <p:spPr bwMode="auto">
          <a:xfrm>
            <a:off x="7810500" y="1808163"/>
            <a:ext cx="419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IC</a:t>
            </a:r>
          </a:p>
        </p:txBody>
      </p:sp>
      <p:sp>
        <p:nvSpPr>
          <p:cNvPr id="28787" name="Text Box 120"/>
          <p:cNvSpPr txBox="1">
            <a:spLocks noChangeArrowheads="1"/>
          </p:cNvSpPr>
          <p:nvPr/>
        </p:nvSpPr>
        <p:spPr bwMode="auto">
          <a:xfrm>
            <a:off x="8534400" y="3990975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chemeClr val="folHlink"/>
                </a:solidFill>
              </a:rPr>
              <a:t>VCC</a:t>
            </a:r>
          </a:p>
        </p:txBody>
      </p:sp>
      <p:sp>
        <p:nvSpPr>
          <p:cNvPr id="28788" name="Text Box 121"/>
          <p:cNvSpPr txBox="1">
            <a:spLocks noChangeArrowheads="1"/>
          </p:cNvSpPr>
          <p:nvPr/>
        </p:nvSpPr>
        <p:spPr bwMode="auto">
          <a:xfrm>
            <a:off x="7580313" y="3914775"/>
            <a:ext cx="5730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VCE</a:t>
            </a:r>
          </a:p>
        </p:txBody>
      </p:sp>
      <p:sp>
        <p:nvSpPr>
          <p:cNvPr id="28789" name="Line 122"/>
          <p:cNvSpPr>
            <a:spLocks noChangeShapeType="1"/>
          </p:cNvSpPr>
          <p:nvPr/>
        </p:nvSpPr>
        <p:spPr bwMode="auto">
          <a:xfrm>
            <a:off x="7543800" y="26812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90" name="Line 123"/>
          <p:cNvSpPr>
            <a:spLocks noChangeShapeType="1"/>
          </p:cNvSpPr>
          <p:nvPr/>
        </p:nvSpPr>
        <p:spPr bwMode="auto">
          <a:xfrm flipV="1">
            <a:off x="7924800" y="2681288"/>
            <a:ext cx="0" cy="9906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91" name="Line 124"/>
          <p:cNvSpPr>
            <a:spLocks noChangeShapeType="1"/>
          </p:cNvSpPr>
          <p:nvPr/>
        </p:nvSpPr>
        <p:spPr bwMode="auto">
          <a:xfrm>
            <a:off x="7924800" y="4357688"/>
            <a:ext cx="0" cy="14478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92" name="Line 125"/>
          <p:cNvSpPr>
            <a:spLocks noChangeShapeType="1"/>
          </p:cNvSpPr>
          <p:nvPr/>
        </p:nvSpPr>
        <p:spPr bwMode="auto">
          <a:xfrm>
            <a:off x="5943600" y="3443288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93" name="Line 127"/>
          <p:cNvSpPr>
            <a:spLocks noChangeShapeType="1"/>
          </p:cNvSpPr>
          <p:nvPr/>
        </p:nvSpPr>
        <p:spPr bwMode="auto">
          <a:xfrm>
            <a:off x="1285875" y="3886200"/>
            <a:ext cx="2819400" cy="2057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94" name="Oval 128"/>
          <p:cNvSpPr>
            <a:spLocks noChangeArrowheads="1"/>
          </p:cNvSpPr>
          <p:nvPr/>
        </p:nvSpPr>
        <p:spPr bwMode="auto">
          <a:xfrm>
            <a:off x="1209675" y="3810000"/>
            <a:ext cx="153988" cy="153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8796" name="Oval 130"/>
          <p:cNvSpPr>
            <a:spLocks noChangeArrowheads="1"/>
          </p:cNvSpPr>
          <p:nvPr/>
        </p:nvSpPr>
        <p:spPr bwMode="auto">
          <a:xfrm>
            <a:off x="4027488" y="5865813"/>
            <a:ext cx="153987" cy="153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8798" name="Text Box 132"/>
          <p:cNvSpPr txBox="1">
            <a:spLocks noChangeArrowheads="1"/>
          </p:cNvSpPr>
          <p:nvPr/>
        </p:nvSpPr>
        <p:spPr bwMode="auto">
          <a:xfrm>
            <a:off x="4089400" y="5949950"/>
            <a:ext cx="36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chemeClr val="folHlink"/>
                </a:solidFill>
              </a:rPr>
              <a:t>B</a:t>
            </a:r>
          </a:p>
        </p:txBody>
      </p:sp>
      <p:sp>
        <p:nvSpPr>
          <p:cNvPr id="28799" name="Text Box 133"/>
          <p:cNvSpPr txBox="1">
            <a:spLocks noChangeArrowheads="1"/>
          </p:cNvSpPr>
          <p:nvPr/>
        </p:nvSpPr>
        <p:spPr bwMode="auto">
          <a:xfrm>
            <a:off x="2505075" y="2528888"/>
            <a:ext cx="1714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solidFill>
                  <a:srgbClr val="C00000"/>
                </a:solidFill>
              </a:rPr>
              <a:t>DC load line</a:t>
            </a:r>
          </a:p>
        </p:txBody>
      </p:sp>
      <p:sp>
        <p:nvSpPr>
          <p:cNvPr id="28800" name="Line 134"/>
          <p:cNvSpPr>
            <a:spLocks noChangeShapeType="1"/>
          </p:cNvSpPr>
          <p:nvPr/>
        </p:nvSpPr>
        <p:spPr bwMode="auto">
          <a:xfrm flipH="1">
            <a:off x="2640115" y="2885948"/>
            <a:ext cx="360260" cy="194322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959BE3-FF2F-444D-B847-771C1DA56864}" type="slidenum">
              <a:rPr lang="en-US"/>
              <a:pPr>
                <a:defRPr/>
              </a:pPr>
              <a:t>27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31" name="Text Box 5"/>
              <p:cNvSpPr txBox="1">
                <a:spLocks noChangeArrowheads="1"/>
              </p:cNvSpPr>
              <p:nvPr/>
            </p:nvSpPr>
            <p:spPr bwMode="auto">
              <a:xfrm>
                <a:off x="609600" y="3045023"/>
                <a:ext cx="71788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𝑪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0000FF"/>
                        </a:solidFill>
                        <a:latin typeface="Cambria Math"/>
                      </a:rPr>
                      <m:t> </m:t>
                    </m:r>
                    <m:r>
                      <a:rPr lang="en-US" sz="1400" b="1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𝒎𝑨</m:t>
                    </m:r>
                  </m:oMath>
                </a14:m>
                <a:r>
                  <a:rPr lang="en-US" sz="1400" b="1" dirty="0">
                    <a:solidFill>
                      <a:srgbClr val="0000FF"/>
                    </a:solidFill>
                  </a:rPr>
                  <a:t/>
                </a:r>
                <a:endParaRPr lang="el-GR" sz="14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31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3045023"/>
                <a:ext cx="717889" cy="307777"/>
              </a:xfrm>
              <a:prstGeom prst="rect">
                <a:avLst/>
              </a:prstGeom>
              <a:blipFill rotWithShape="1">
                <a:blip r:embed="rId3"/>
                <a:stretch>
                  <a:fillRect t="-2000" r="-7627" b="-20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34" name="Text Box 5"/>
              <p:cNvSpPr txBox="1">
                <a:spLocks noChangeArrowheads="1"/>
              </p:cNvSpPr>
              <p:nvPr/>
            </p:nvSpPr>
            <p:spPr bwMode="auto">
              <a:xfrm>
                <a:off x="152400" y="3596984"/>
                <a:ext cx="83086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0000FF"/>
                    </a:solidFill>
                  </a:rPr>
                  <a:t> max </a:t>
                </a:r>
                <a:endParaRPr lang="el-GR" sz="16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4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3596984"/>
                <a:ext cx="830868" cy="338554"/>
              </a:xfrm>
              <a:prstGeom prst="rect">
                <a:avLst/>
              </a:prstGeom>
              <a:blipFill rotWithShape="1">
                <a:blip r:embed="rId4"/>
                <a:stretch>
                  <a:fillRect t="-5357" r="-8088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35" name="Text Box 5"/>
              <p:cNvSpPr txBox="1">
                <a:spLocks noChangeArrowheads="1"/>
              </p:cNvSpPr>
              <p:nvPr/>
            </p:nvSpPr>
            <p:spPr bwMode="auto">
              <a:xfrm>
                <a:off x="3612700" y="6225787"/>
                <a:ext cx="116371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en-US" sz="1600" b="1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𝑪𝑬</m:t>
                          </m:r>
                        </m:sub>
                      </m:sSub>
                      <m:r>
                        <a:rPr lang="en-US" sz="1600" b="1" i="0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6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en-US" sz="1600" b="1" i="1" dirty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𝑪</m:t>
                          </m:r>
                          <m:r>
                            <a:rPr lang="en-US" sz="1600" b="1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el-GR" sz="1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5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12700" y="6225787"/>
                <a:ext cx="1163717" cy="338554"/>
              </a:xfrm>
              <a:prstGeom prst="rect">
                <a:avLst/>
              </a:prstGeom>
              <a:blipFill rotWithShape="1">
                <a:blip r:embed="rId5"/>
                <a:stretch>
                  <a:fillRect t="-5357" r="-4188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36" name="Text Box 5"/>
              <p:cNvSpPr txBox="1">
                <a:spLocks noChangeArrowheads="1"/>
              </p:cNvSpPr>
              <p:nvPr/>
            </p:nvSpPr>
            <p:spPr bwMode="auto">
              <a:xfrm>
                <a:off x="4019550" y="3858088"/>
                <a:ext cx="1063817" cy="3329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𝑩</m:t>
                        </m:r>
                      </m:sub>
                    </m:sSub>
                    <m:r>
                      <a:rPr lang="en-US" sz="1600" b="1" i="0" dirty="0" smtClean="0">
                        <a:solidFill>
                          <a:srgbClr val="0000FF"/>
                        </a:solidFill>
                        <a:latin typeface="Cambria Math"/>
                      </a:rPr>
                      <m:t>=</m:t>
                    </m:r>
                    <m:r>
                      <a:rPr lang="en-US" sz="1600" b="1" i="0" dirty="0" smtClean="0">
                        <a:solidFill>
                          <a:srgbClr val="0000FF"/>
                        </a:solidFill>
                        <a:latin typeface="Cambria Math"/>
                      </a:rPr>
                      <m:t>𝟒</m:t>
                    </m:r>
                    <m:r>
                      <m:rPr>
                        <m:sty m:val="p"/>
                      </m:rPr>
                      <a:rPr lang="el-GR" sz="1600" b="1" i="1" dirty="0" smtClean="0">
                        <a:solidFill>
                          <a:srgbClr val="0000FF"/>
                        </a:solidFill>
                        <a:latin typeface="Cambria Math"/>
                      </a:rPr>
                      <m:t>μ</m:t>
                    </m:r>
                    <m:r>
                      <a:rPr lang="en-US" sz="1600" b="1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1200" b="1" dirty="0">
                    <a:solidFill>
                      <a:srgbClr val="0000FF"/>
                    </a:solidFill>
                  </a:rPr>
                  <a:t/>
                </a:r>
                <a:endParaRPr lang="el-GR" sz="12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3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9550" y="3858088"/>
                <a:ext cx="1063817" cy="332912"/>
              </a:xfrm>
              <a:prstGeom prst="rect">
                <a:avLst/>
              </a:prstGeom>
              <a:blipFill rotWithShape="1">
                <a:blip r:embed="rId6"/>
                <a:stretch>
                  <a:fillRect r="-3429" b="-127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37" name="Text Box 5"/>
              <p:cNvSpPr txBox="1">
                <a:spLocks noChangeArrowheads="1"/>
              </p:cNvSpPr>
              <p:nvPr/>
            </p:nvSpPr>
            <p:spPr bwMode="auto">
              <a:xfrm>
                <a:off x="4056652" y="4343400"/>
                <a:ext cx="1067023" cy="3329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𝑩</m:t>
                        </m:r>
                      </m:sub>
                    </m:sSub>
                    <m:r>
                      <a:rPr lang="en-US" sz="1600" b="1" i="0" dirty="0" smtClean="0">
                        <a:solidFill>
                          <a:srgbClr val="0000FF"/>
                        </a:solidFill>
                        <a:latin typeface="Cambria Math"/>
                      </a:rPr>
                      <m:t>=</m:t>
                    </m:r>
                    <m:r>
                      <a:rPr lang="en-US" sz="1600" b="1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𝟑</m:t>
                    </m:r>
                    <m:r>
                      <m:rPr>
                        <m:sty m:val="p"/>
                      </m:rPr>
                      <a:rPr lang="el-GR" sz="1600" b="1" i="1" dirty="0" smtClean="0">
                        <a:solidFill>
                          <a:srgbClr val="0000FF"/>
                        </a:solidFill>
                        <a:latin typeface="Cambria Math"/>
                      </a:rPr>
                      <m:t>μ</m:t>
                    </m:r>
                    <m:r>
                      <a:rPr lang="en-US" sz="1600" b="1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1200" b="1" dirty="0">
                    <a:solidFill>
                      <a:srgbClr val="0000FF"/>
                    </a:solidFill>
                  </a:rPr>
                  <a:t/>
                </a:r>
                <a:endParaRPr lang="el-GR" sz="12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37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56652" y="4343400"/>
                <a:ext cx="1067023" cy="332912"/>
              </a:xfrm>
              <a:prstGeom prst="rect">
                <a:avLst/>
              </a:prstGeom>
              <a:blipFill rotWithShape="1">
                <a:blip r:embed="rId7"/>
                <a:stretch>
                  <a:fillRect r="-3429" b="-129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38" name="Text Box 5"/>
              <p:cNvSpPr txBox="1">
                <a:spLocks noChangeArrowheads="1"/>
              </p:cNvSpPr>
              <p:nvPr/>
            </p:nvSpPr>
            <p:spPr bwMode="auto">
              <a:xfrm>
                <a:off x="4007548" y="4935187"/>
                <a:ext cx="1067023" cy="3329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𝑩</m:t>
                        </m:r>
                      </m:sub>
                    </m:sSub>
                    <m:r>
                      <a:rPr lang="en-US" sz="1600" b="1" i="0" dirty="0" smtClean="0">
                        <a:solidFill>
                          <a:srgbClr val="0000FF"/>
                        </a:solidFill>
                        <a:latin typeface="Cambria Math"/>
                      </a:rPr>
                      <m:t>=</m:t>
                    </m:r>
                    <m:r>
                      <a:rPr lang="en-US" sz="1600" b="1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𝟐</m:t>
                    </m:r>
                    <m:r>
                      <m:rPr>
                        <m:sty m:val="p"/>
                      </m:rPr>
                      <a:rPr lang="el-GR" sz="1600" b="1" i="1" dirty="0" smtClean="0">
                        <a:solidFill>
                          <a:srgbClr val="0000FF"/>
                        </a:solidFill>
                        <a:latin typeface="Cambria Math"/>
                      </a:rPr>
                      <m:t>μ</m:t>
                    </m:r>
                    <m:r>
                      <a:rPr lang="en-US" sz="1600" b="1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1200" b="1" dirty="0">
                    <a:solidFill>
                      <a:srgbClr val="0000FF"/>
                    </a:solidFill>
                  </a:rPr>
                  <a:t/>
                </a:r>
                <a:endParaRPr lang="el-GR" sz="12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38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07548" y="4935187"/>
                <a:ext cx="1067023" cy="332912"/>
              </a:xfrm>
              <a:prstGeom prst="rect">
                <a:avLst/>
              </a:prstGeom>
              <a:blipFill rotWithShape="1">
                <a:blip r:embed="rId8"/>
                <a:stretch>
                  <a:fillRect r="-3429" b="-1481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39" name="Text Box 5"/>
              <p:cNvSpPr txBox="1">
                <a:spLocks noChangeArrowheads="1"/>
              </p:cNvSpPr>
              <p:nvPr/>
            </p:nvSpPr>
            <p:spPr bwMode="auto">
              <a:xfrm>
                <a:off x="4038600" y="5362575"/>
                <a:ext cx="1067023" cy="3329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𝑩</m:t>
                        </m:r>
                      </m:sub>
                    </m:sSub>
                    <m:r>
                      <a:rPr lang="en-US" sz="1600" b="1" i="0" dirty="0" smtClean="0">
                        <a:solidFill>
                          <a:srgbClr val="0000FF"/>
                        </a:solidFill>
                        <a:latin typeface="Cambria Math"/>
                      </a:rPr>
                      <m:t>=</m:t>
                    </m:r>
                    <m:r>
                      <a:rPr lang="en-US" sz="1600" b="1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𝟎</m:t>
                    </m:r>
                    <m:r>
                      <m:rPr>
                        <m:sty m:val="p"/>
                      </m:rPr>
                      <a:rPr lang="el-GR" sz="1600" b="1" i="1" dirty="0" smtClean="0">
                        <a:solidFill>
                          <a:srgbClr val="0000FF"/>
                        </a:solidFill>
                        <a:latin typeface="Cambria Math"/>
                      </a:rPr>
                      <m:t>μ</m:t>
                    </m:r>
                    <m:r>
                      <a:rPr lang="en-US" sz="1600" b="1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1200" b="1" dirty="0">
                    <a:solidFill>
                      <a:srgbClr val="0000FF"/>
                    </a:solidFill>
                  </a:rPr>
                  <a:t/>
                </a:r>
                <a:endParaRPr lang="el-GR" sz="12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39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8600" y="5362575"/>
                <a:ext cx="1067023" cy="332912"/>
              </a:xfrm>
              <a:prstGeom prst="rect">
                <a:avLst/>
              </a:prstGeom>
              <a:blipFill rotWithShape="1">
                <a:blip r:embed="rId9"/>
                <a:stretch>
                  <a:fillRect r="-2857" b="-1481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714232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63575"/>
          </a:xfrm>
        </p:spPr>
        <p:txBody>
          <a:bodyPr/>
          <a:lstStyle/>
          <a:p>
            <a:r>
              <a:rPr lang="en-IN" sz="3200" b="1">
                <a:solidFill>
                  <a:srgbClr val="0000FF"/>
                </a:solidFill>
                <a:cs typeface="Times New Roman" pitchFamily="18" charset="0"/>
              </a:rPr>
              <a:t>Typical Junction Voltages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5763" y="695325"/>
          <a:ext cx="8104186" cy="360209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9972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42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2647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itchFamily="18" charset="0"/>
                          <a:cs typeface="Times New Roman" pitchFamily="18" charset="0"/>
                        </a:rPr>
                        <a:t>Voltage</a:t>
                      </a: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Silicon Transistor</a:t>
                      </a: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Germanium Transistor</a:t>
                      </a:r>
                    </a:p>
                  </a:txBody>
                  <a:tcPr marL="91448" marR="91448" marT="45719" marB="45719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15083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BE</a:t>
                      </a:r>
                      <a:r>
                        <a:rPr lang="en-IN" sz="18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(Cut-off)</a:t>
                      </a:r>
                      <a:endParaRPr lang="en-IN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-0.1V</a:t>
                      </a:r>
                    </a:p>
                  </a:txBody>
                  <a:tcPr marL="91448" marR="91448" marT="45719" marB="45719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00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BE</a:t>
                      </a:r>
                      <a:r>
                        <a:rPr lang="en-IN" sz="18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(Cut-in)</a:t>
                      </a:r>
                      <a:endParaRPr lang="en-IN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IN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0.5v</a:t>
                      </a: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0.1V</a:t>
                      </a:r>
                    </a:p>
                  </a:txBody>
                  <a:tcPr marL="91448" marR="91448" marT="45719" marB="4571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00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BE</a:t>
                      </a:r>
                      <a:r>
                        <a:rPr lang="en-IN" sz="18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(Active)</a:t>
                      </a:r>
                      <a:endParaRPr lang="en-IN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IN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0.7V</a:t>
                      </a: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0.2V</a:t>
                      </a:r>
                    </a:p>
                  </a:txBody>
                  <a:tcPr marL="91448" marR="91448" marT="45719" marB="45719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010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BE</a:t>
                      </a:r>
                      <a:r>
                        <a:rPr lang="en-IN" sz="18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(Saturation)</a:t>
                      </a:r>
                      <a:endParaRPr lang="en-IN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IN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0.8V</a:t>
                      </a: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0.3V</a:t>
                      </a:r>
                    </a:p>
                  </a:txBody>
                  <a:tcPr marL="91448" marR="91448" marT="45719" marB="45719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00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CE</a:t>
                      </a:r>
                      <a:r>
                        <a:rPr lang="en-IN" sz="18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(Saturation)</a:t>
                      </a:r>
                      <a:endParaRPr lang="en-IN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IN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0.2V</a:t>
                      </a:r>
                    </a:p>
                  </a:txBody>
                  <a:tcPr marL="91448" marR="91448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0.1V</a:t>
                      </a:r>
                    </a:p>
                  </a:txBody>
                  <a:tcPr marL="91448" marR="91448" marT="45719" marB="45719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DE4DB5-7A5F-4C54-A7EA-0274C497E610}" type="slidenum">
              <a:rPr lang="en-US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490738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0" y="201613"/>
            <a:ext cx="3733800" cy="636587"/>
          </a:xfrm>
        </p:spPr>
        <p:txBody>
          <a:bodyPr/>
          <a:lstStyle/>
          <a:p>
            <a:pPr algn="l"/>
            <a:r>
              <a:rPr lang="en-US" sz="32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Biasing circuits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90600"/>
            <a:ext cx="8763000" cy="5715000"/>
          </a:xfrm>
        </p:spPr>
        <p:txBody>
          <a:bodyPr rtlCol="0">
            <a:normAutofit/>
          </a:bodyPr>
          <a:lstStyle/>
          <a:p>
            <a:pPr marL="0" indent="0" algn="just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>
                <a:latin typeface="Times New Roman" pitchFamily="18" charset="0"/>
              </a:rPr>
              <a:t>To avoid a shift of Q-point, bias-stabilization is necessary. Various biasing </a:t>
            </a:r>
            <a:r>
              <a:rPr lang="en-US" dirty="0" err="1">
                <a:latin typeface="Times New Roman" pitchFamily="18" charset="0"/>
              </a:rPr>
              <a:t>ckts</a:t>
            </a:r>
            <a:r>
              <a:rPr lang="en-US" dirty="0">
                <a:latin typeface="Times New Roman" pitchFamily="18" charset="0"/>
              </a:rPr>
              <a:t> can be used for this purpose.</a:t>
            </a:r>
          </a:p>
          <a:p>
            <a:pPr marL="609600" indent="-609600" fontAlgn="auto">
              <a:spcAft>
                <a:spcPts val="0"/>
              </a:spcAft>
              <a:defRPr/>
            </a:pPr>
            <a:endParaRPr lang="en-US" sz="2200" dirty="0">
              <a:latin typeface="Times New Roman" pitchFamily="18" charset="0"/>
            </a:endParaRPr>
          </a:p>
          <a:p>
            <a:pPr marL="609600" indent="-609600" fontAlgn="auto">
              <a:spcAft>
                <a:spcPts val="0"/>
              </a:spcAft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itchFamily="18" charset="0"/>
              </a:rPr>
              <a:t>Fixed bias </a:t>
            </a:r>
          </a:p>
          <a:p>
            <a:pPr marL="609600" indent="-609600" fontAlgn="auto">
              <a:spcAft>
                <a:spcPts val="0"/>
              </a:spcAft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itchFamily="18" charset="0"/>
              </a:rPr>
              <a:t>Collector-to-base bias </a:t>
            </a:r>
          </a:p>
          <a:p>
            <a:pPr marL="609600" indent="-609600" fontAlgn="auto">
              <a:spcAft>
                <a:spcPts val="0"/>
              </a:spcAft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itchFamily="18" charset="0"/>
              </a:rPr>
              <a:t>Self Biased or Voltage divider bias </a:t>
            </a:r>
          </a:p>
          <a:p>
            <a:pPr marL="609600" indent="-609600" fontAlgn="auto">
              <a:spcAft>
                <a:spcPts val="0"/>
              </a:spcAft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itchFamily="18" charset="0"/>
              </a:rPr>
              <a:t>Fixed bias with emitter resistor </a:t>
            </a:r>
          </a:p>
          <a:p>
            <a:pPr marL="609600" indent="-609600" fontAlgn="auto">
              <a:spcAft>
                <a:spcPts val="0"/>
              </a:spcAft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itchFamily="18" charset="0"/>
              </a:rPr>
              <a:t>Emitter bias </a:t>
            </a:r>
          </a:p>
          <a:p>
            <a:pPr marL="609600" indent="-609600" fontAlgn="auto">
              <a:spcAft>
                <a:spcPts val="0"/>
              </a:spcAft>
              <a:defRPr/>
            </a:pPr>
            <a:endParaRPr lang="en-US" sz="2200" dirty="0">
              <a:latin typeface="Times New Roman" pitchFamily="18" charset="0"/>
            </a:endParaRPr>
          </a:p>
          <a:p>
            <a:pPr marL="609600" indent="-609600" fontAlgn="auto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200" dirty="0">
              <a:solidFill>
                <a:schemeClr val="folHlink"/>
              </a:solidFill>
              <a:latin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10D6D5-96CE-4BC5-A9E8-3F0F9E8066B4}" type="slidenum">
              <a:rPr lang="en-US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915029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Oval 3"/>
          <p:cNvSpPr>
            <a:spLocks noChangeArrowheads="1"/>
          </p:cNvSpPr>
          <p:nvPr/>
        </p:nvSpPr>
        <p:spPr bwMode="auto">
          <a:xfrm>
            <a:off x="3571875" y="3228975"/>
            <a:ext cx="1304925" cy="12668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2771" name="Line 4"/>
          <p:cNvSpPr>
            <a:spLocks noChangeShapeType="1"/>
          </p:cNvSpPr>
          <p:nvPr/>
        </p:nvSpPr>
        <p:spPr bwMode="auto">
          <a:xfrm>
            <a:off x="3878263" y="3459163"/>
            <a:ext cx="0" cy="8445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2" name="Line 5"/>
          <p:cNvSpPr>
            <a:spLocks noChangeShapeType="1"/>
          </p:cNvSpPr>
          <p:nvPr/>
        </p:nvSpPr>
        <p:spPr bwMode="auto">
          <a:xfrm>
            <a:off x="3916363" y="4114800"/>
            <a:ext cx="576262" cy="346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3" name="Line 6"/>
          <p:cNvSpPr>
            <a:spLocks noChangeShapeType="1"/>
          </p:cNvSpPr>
          <p:nvPr/>
        </p:nvSpPr>
        <p:spPr bwMode="auto">
          <a:xfrm flipV="1">
            <a:off x="3916363" y="3276600"/>
            <a:ext cx="500062" cy="384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4" name="Line 7"/>
          <p:cNvSpPr>
            <a:spLocks noChangeShapeType="1"/>
          </p:cNvSpPr>
          <p:nvPr/>
        </p:nvSpPr>
        <p:spPr bwMode="auto">
          <a:xfrm flipV="1">
            <a:off x="4419600" y="2895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5" name="Line 8"/>
          <p:cNvSpPr>
            <a:spLocks noChangeShapeType="1"/>
          </p:cNvSpPr>
          <p:nvPr/>
        </p:nvSpPr>
        <p:spPr bwMode="auto">
          <a:xfrm>
            <a:off x="4343400" y="20574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6" name="Line 9"/>
          <p:cNvSpPr>
            <a:spLocks noChangeShapeType="1"/>
          </p:cNvSpPr>
          <p:nvPr/>
        </p:nvSpPr>
        <p:spPr bwMode="auto">
          <a:xfrm>
            <a:off x="4343400" y="23622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7" name="Line 10"/>
          <p:cNvSpPr>
            <a:spLocks noChangeShapeType="1"/>
          </p:cNvSpPr>
          <p:nvPr/>
        </p:nvSpPr>
        <p:spPr bwMode="auto">
          <a:xfrm>
            <a:off x="4343400" y="26670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8" name="Line 11"/>
          <p:cNvSpPr>
            <a:spLocks noChangeShapeType="1"/>
          </p:cNvSpPr>
          <p:nvPr/>
        </p:nvSpPr>
        <p:spPr bwMode="auto">
          <a:xfrm flipV="1">
            <a:off x="4343400" y="22098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9" name="Line 12"/>
          <p:cNvSpPr>
            <a:spLocks noChangeShapeType="1"/>
          </p:cNvSpPr>
          <p:nvPr/>
        </p:nvSpPr>
        <p:spPr bwMode="auto">
          <a:xfrm flipV="1">
            <a:off x="4343400" y="25146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0" name="Line 13"/>
          <p:cNvSpPr>
            <a:spLocks noChangeShapeType="1"/>
          </p:cNvSpPr>
          <p:nvPr/>
        </p:nvSpPr>
        <p:spPr bwMode="auto">
          <a:xfrm flipV="1">
            <a:off x="4343400" y="1981200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1" name="Line 14"/>
          <p:cNvSpPr>
            <a:spLocks noChangeShapeType="1"/>
          </p:cNvSpPr>
          <p:nvPr/>
        </p:nvSpPr>
        <p:spPr bwMode="auto">
          <a:xfrm flipV="1">
            <a:off x="4419600" y="2819400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2" name="Line 15"/>
          <p:cNvSpPr>
            <a:spLocks noChangeShapeType="1"/>
          </p:cNvSpPr>
          <p:nvPr/>
        </p:nvSpPr>
        <p:spPr bwMode="auto">
          <a:xfrm flipV="1">
            <a:off x="4495800" y="1600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3" name="Line 16"/>
          <p:cNvSpPr>
            <a:spLocks noChangeShapeType="1"/>
          </p:cNvSpPr>
          <p:nvPr/>
        </p:nvSpPr>
        <p:spPr bwMode="auto">
          <a:xfrm flipV="1">
            <a:off x="4343400" y="5715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4" name="Line 17"/>
          <p:cNvSpPr>
            <a:spLocks noChangeShapeType="1"/>
          </p:cNvSpPr>
          <p:nvPr/>
        </p:nvSpPr>
        <p:spPr bwMode="auto">
          <a:xfrm>
            <a:off x="4267200" y="48768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5" name="Line 18"/>
          <p:cNvSpPr>
            <a:spLocks noChangeShapeType="1"/>
          </p:cNvSpPr>
          <p:nvPr/>
        </p:nvSpPr>
        <p:spPr bwMode="auto">
          <a:xfrm>
            <a:off x="4267200" y="51816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6" name="Line 19"/>
          <p:cNvSpPr>
            <a:spLocks noChangeShapeType="1"/>
          </p:cNvSpPr>
          <p:nvPr/>
        </p:nvSpPr>
        <p:spPr bwMode="auto">
          <a:xfrm>
            <a:off x="4267200" y="54864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7" name="Line 20"/>
          <p:cNvSpPr>
            <a:spLocks noChangeShapeType="1"/>
          </p:cNvSpPr>
          <p:nvPr/>
        </p:nvSpPr>
        <p:spPr bwMode="auto">
          <a:xfrm flipV="1">
            <a:off x="4267200" y="50292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8" name="Line 21"/>
          <p:cNvSpPr>
            <a:spLocks noChangeShapeType="1"/>
          </p:cNvSpPr>
          <p:nvPr/>
        </p:nvSpPr>
        <p:spPr bwMode="auto">
          <a:xfrm flipV="1">
            <a:off x="4267200" y="53340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9" name="Line 22"/>
          <p:cNvSpPr>
            <a:spLocks noChangeShapeType="1"/>
          </p:cNvSpPr>
          <p:nvPr/>
        </p:nvSpPr>
        <p:spPr bwMode="auto">
          <a:xfrm flipV="1">
            <a:off x="4267200" y="4800600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0" name="Line 23"/>
          <p:cNvSpPr>
            <a:spLocks noChangeShapeType="1"/>
          </p:cNvSpPr>
          <p:nvPr/>
        </p:nvSpPr>
        <p:spPr bwMode="auto">
          <a:xfrm flipV="1">
            <a:off x="4343400" y="5638800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1" name="Line 24"/>
          <p:cNvSpPr>
            <a:spLocks noChangeShapeType="1"/>
          </p:cNvSpPr>
          <p:nvPr/>
        </p:nvSpPr>
        <p:spPr bwMode="auto">
          <a:xfrm flipV="1">
            <a:off x="4419600" y="4419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2" name="Line 25"/>
          <p:cNvSpPr>
            <a:spLocks noChangeShapeType="1"/>
          </p:cNvSpPr>
          <p:nvPr/>
        </p:nvSpPr>
        <p:spPr bwMode="auto">
          <a:xfrm flipV="1">
            <a:off x="2819400" y="28956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3" name="Line 26"/>
          <p:cNvSpPr>
            <a:spLocks noChangeShapeType="1"/>
          </p:cNvSpPr>
          <p:nvPr/>
        </p:nvSpPr>
        <p:spPr bwMode="auto">
          <a:xfrm>
            <a:off x="2743200" y="20574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4" name="Line 27"/>
          <p:cNvSpPr>
            <a:spLocks noChangeShapeType="1"/>
          </p:cNvSpPr>
          <p:nvPr/>
        </p:nvSpPr>
        <p:spPr bwMode="auto">
          <a:xfrm>
            <a:off x="2743200" y="23622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5" name="Line 28"/>
          <p:cNvSpPr>
            <a:spLocks noChangeShapeType="1"/>
          </p:cNvSpPr>
          <p:nvPr/>
        </p:nvSpPr>
        <p:spPr bwMode="auto">
          <a:xfrm>
            <a:off x="2743200" y="26670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6" name="Line 29"/>
          <p:cNvSpPr>
            <a:spLocks noChangeShapeType="1"/>
          </p:cNvSpPr>
          <p:nvPr/>
        </p:nvSpPr>
        <p:spPr bwMode="auto">
          <a:xfrm flipV="1">
            <a:off x="2743200" y="22098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7" name="Line 30"/>
          <p:cNvSpPr>
            <a:spLocks noChangeShapeType="1"/>
          </p:cNvSpPr>
          <p:nvPr/>
        </p:nvSpPr>
        <p:spPr bwMode="auto">
          <a:xfrm flipV="1">
            <a:off x="2743200" y="25146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8" name="Line 31"/>
          <p:cNvSpPr>
            <a:spLocks noChangeShapeType="1"/>
          </p:cNvSpPr>
          <p:nvPr/>
        </p:nvSpPr>
        <p:spPr bwMode="auto">
          <a:xfrm flipV="1">
            <a:off x="2743200" y="1981200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9" name="Line 32"/>
          <p:cNvSpPr>
            <a:spLocks noChangeShapeType="1"/>
          </p:cNvSpPr>
          <p:nvPr/>
        </p:nvSpPr>
        <p:spPr bwMode="auto">
          <a:xfrm flipV="1">
            <a:off x="2819400" y="2819400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0" name="Line 33"/>
          <p:cNvSpPr>
            <a:spLocks noChangeShapeType="1"/>
          </p:cNvSpPr>
          <p:nvPr/>
        </p:nvSpPr>
        <p:spPr bwMode="auto">
          <a:xfrm flipV="1">
            <a:off x="2895600" y="1600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1" name="Line 34"/>
          <p:cNvSpPr>
            <a:spLocks noChangeShapeType="1"/>
          </p:cNvSpPr>
          <p:nvPr/>
        </p:nvSpPr>
        <p:spPr bwMode="auto">
          <a:xfrm flipV="1">
            <a:off x="2743200" y="5638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2" name="Line 35"/>
          <p:cNvSpPr>
            <a:spLocks noChangeShapeType="1"/>
          </p:cNvSpPr>
          <p:nvPr/>
        </p:nvSpPr>
        <p:spPr bwMode="auto">
          <a:xfrm>
            <a:off x="2667000" y="48006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3" name="Line 36"/>
          <p:cNvSpPr>
            <a:spLocks noChangeShapeType="1"/>
          </p:cNvSpPr>
          <p:nvPr/>
        </p:nvSpPr>
        <p:spPr bwMode="auto">
          <a:xfrm>
            <a:off x="2667000" y="51054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4" name="Line 37"/>
          <p:cNvSpPr>
            <a:spLocks noChangeShapeType="1"/>
          </p:cNvSpPr>
          <p:nvPr/>
        </p:nvSpPr>
        <p:spPr bwMode="auto">
          <a:xfrm>
            <a:off x="2667000" y="54102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5" name="Line 38"/>
          <p:cNvSpPr>
            <a:spLocks noChangeShapeType="1"/>
          </p:cNvSpPr>
          <p:nvPr/>
        </p:nvSpPr>
        <p:spPr bwMode="auto">
          <a:xfrm flipV="1">
            <a:off x="2667000" y="49530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6" name="Line 39"/>
          <p:cNvSpPr>
            <a:spLocks noChangeShapeType="1"/>
          </p:cNvSpPr>
          <p:nvPr/>
        </p:nvSpPr>
        <p:spPr bwMode="auto">
          <a:xfrm flipV="1">
            <a:off x="2667000" y="52578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7" name="Line 40"/>
          <p:cNvSpPr>
            <a:spLocks noChangeShapeType="1"/>
          </p:cNvSpPr>
          <p:nvPr/>
        </p:nvSpPr>
        <p:spPr bwMode="auto">
          <a:xfrm flipV="1">
            <a:off x="2667000" y="4724400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8" name="Line 41"/>
          <p:cNvSpPr>
            <a:spLocks noChangeShapeType="1"/>
          </p:cNvSpPr>
          <p:nvPr/>
        </p:nvSpPr>
        <p:spPr bwMode="auto">
          <a:xfrm flipV="1">
            <a:off x="2743200" y="5562600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9" name="Line 42"/>
          <p:cNvSpPr>
            <a:spLocks noChangeShapeType="1"/>
          </p:cNvSpPr>
          <p:nvPr/>
        </p:nvSpPr>
        <p:spPr bwMode="auto">
          <a:xfrm flipV="1">
            <a:off x="2819400" y="4343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0" name="Line 43"/>
          <p:cNvSpPr>
            <a:spLocks noChangeShapeType="1"/>
          </p:cNvSpPr>
          <p:nvPr/>
        </p:nvSpPr>
        <p:spPr bwMode="auto">
          <a:xfrm>
            <a:off x="2895600" y="1600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1" name="Line 44"/>
          <p:cNvSpPr>
            <a:spLocks noChangeShapeType="1"/>
          </p:cNvSpPr>
          <p:nvPr/>
        </p:nvSpPr>
        <p:spPr bwMode="auto">
          <a:xfrm>
            <a:off x="22860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2" name="Line 45"/>
          <p:cNvSpPr>
            <a:spLocks noChangeShapeType="1"/>
          </p:cNvSpPr>
          <p:nvPr/>
        </p:nvSpPr>
        <p:spPr bwMode="auto">
          <a:xfrm flipV="1">
            <a:off x="3733800" y="121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3" name="Line 46"/>
          <p:cNvSpPr>
            <a:spLocks noChangeShapeType="1"/>
          </p:cNvSpPr>
          <p:nvPr/>
        </p:nvSpPr>
        <p:spPr bwMode="auto">
          <a:xfrm>
            <a:off x="5486400" y="28956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4" name="Line 47"/>
          <p:cNvSpPr>
            <a:spLocks noChangeShapeType="1"/>
          </p:cNvSpPr>
          <p:nvPr/>
        </p:nvSpPr>
        <p:spPr bwMode="auto">
          <a:xfrm>
            <a:off x="5638800" y="28956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5" name="Line 48"/>
          <p:cNvSpPr>
            <a:spLocks noChangeShapeType="1"/>
          </p:cNvSpPr>
          <p:nvPr/>
        </p:nvSpPr>
        <p:spPr bwMode="auto">
          <a:xfrm>
            <a:off x="4419600" y="3048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6" name="Line 49"/>
          <p:cNvSpPr>
            <a:spLocks noChangeShapeType="1"/>
          </p:cNvSpPr>
          <p:nvPr/>
        </p:nvSpPr>
        <p:spPr bwMode="auto">
          <a:xfrm>
            <a:off x="4419600" y="4648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7" name="Line 50"/>
          <p:cNvSpPr>
            <a:spLocks noChangeShapeType="1"/>
          </p:cNvSpPr>
          <p:nvPr/>
        </p:nvSpPr>
        <p:spPr bwMode="auto">
          <a:xfrm flipV="1">
            <a:off x="5486400" y="4648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8" name="Line 51"/>
          <p:cNvSpPr>
            <a:spLocks noChangeShapeType="1"/>
          </p:cNvSpPr>
          <p:nvPr/>
        </p:nvSpPr>
        <p:spPr bwMode="auto">
          <a:xfrm>
            <a:off x="5257800" y="52578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9" name="Line 52"/>
          <p:cNvSpPr>
            <a:spLocks noChangeShapeType="1"/>
          </p:cNvSpPr>
          <p:nvPr/>
        </p:nvSpPr>
        <p:spPr bwMode="auto">
          <a:xfrm>
            <a:off x="5257800" y="54102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0" name="Line 53"/>
          <p:cNvSpPr>
            <a:spLocks noChangeShapeType="1"/>
          </p:cNvSpPr>
          <p:nvPr/>
        </p:nvSpPr>
        <p:spPr bwMode="auto">
          <a:xfrm flipV="1">
            <a:off x="54864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1" name="Line 54"/>
          <p:cNvSpPr>
            <a:spLocks noChangeShapeType="1"/>
          </p:cNvSpPr>
          <p:nvPr/>
        </p:nvSpPr>
        <p:spPr bwMode="auto">
          <a:xfrm>
            <a:off x="5638800" y="3048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2" name="Oval 55"/>
          <p:cNvSpPr>
            <a:spLocks noChangeArrowheads="1"/>
          </p:cNvSpPr>
          <p:nvPr/>
        </p:nvSpPr>
        <p:spPr bwMode="auto">
          <a:xfrm>
            <a:off x="2743200" y="38100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2823" name="Oval 56"/>
          <p:cNvSpPr>
            <a:spLocks noChangeArrowheads="1"/>
          </p:cNvSpPr>
          <p:nvPr/>
        </p:nvSpPr>
        <p:spPr bwMode="auto">
          <a:xfrm>
            <a:off x="4343400" y="29718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2824" name="Oval 57"/>
          <p:cNvSpPr>
            <a:spLocks noChangeArrowheads="1"/>
          </p:cNvSpPr>
          <p:nvPr/>
        </p:nvSpPr>
        <p:spPr bwMode="auto">
          <a:xfrm>
            <a:off x="4343400" y="45720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2825" name="Oval 58"/>
          <p:cNvSpPr>
            <a:spLocks noChangeArrowheads="1"/>
          </p:cNvSpPr>
          <p:nvPr/>
        </p:nvSpPr>
        <p:spPr bwMode="auto">
          <a:xfrm>
            <a:off x="3657600" y="15240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2826" name="Line 59"/>
          <p:cNvSpPr>
            <a:spLocks noChangeShapeType="1"/>
          </p:cNvSpPr>
          <p:nvPr/>
        </p:nvSpPr>
        <p:spPr bwMode="auto">
          <a:xfrm>
            <a:off x="2133600" y="3733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7" name="Line 60"/>
          <p:cNvSpPr>
            <a:spLocks noChangeShapeType="1"/>
          </p:cNvSpPr>
          <p:nvPr/>
        </p:nvSpPr>
        <p:spPr bwMode="auto">
          <a:xfrm>
            <a:off x="2286000" y="3733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8" name="Line 61"/>
          <p:cNvSpPr>
            <a:spLocks noChangeShapeType="1"/>
          </p:cNvSpPr>
          <p:nvPr/>
        </p:nvSpPr>
        <p:spPr bwMode="auto">
          <a:xfrm>
            <a:off x="1066800" y="3886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9" name="Oval 62"/>
          <p:cNvSpPr>
            <a:spLocks noChangeArrowheads="1"/>
          </p:cNvSpPr>
          <p:nvPr/>
        </p:nvSpPr>
        <p:spPr bwMode="auto">
          <a:xfrm>
            <a:off x="914400" y="38100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2830" name="Line 63"/>
          <p:cNvSpPr>
            <a:spLocks noChangeShapeType="1"/>
          </p:cNvSpPr>
          <p:nvPr/>
        </p:nvSpPr>
        <p:spPr bwMode="auto">
          <a:xfrm>
            <a:off x="990600" y="6019800"/>
            <a:ext cx="571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1" name="Oval 64"/>
          <p:cNvSpPr>
            <a:spLocks noChangeArrowheads="1"/>
          </p:cNvSpPr>
          <p:nvPr/>
        </p:nvSpPr>
        <p:spPr bwMode="auto">
          <a:xfrm>
            <a:off x="914400" y="59436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2832" name="Oval 65"/>
          <p:cNvSpPr>
            <a:spLocks noChangeArrowheads="1"/>
          </p:cNvSpPr>
          <p:nvPr/>
        </p:nvSpPr>
        <p:spPr bwMode="auto">
          <a:xfrm>
            <a:off x="2667000" y="59436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2833" name="Oval 66"/>
          <p:cNvSpPr>
            <a:spLocks noChangeArrowheads="1"/>
          </p:cNvSpPr>
          <p:nvPr/>
        </p:nvSpPr>
        <p:spPr bwMode="auto">
          <a:xfrm>
            <a:off x="4267200" y="59436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2834" name="Oval 67"/>
          <p:cNvSpPr>
            <a:spLocks noChangeArrowheads="1"/>
          </p:cNvSpPr>
          <p:nvPr/>
        </p:nvSpPr>
        <p:spPr bwMode="auto">
          <a:xfrm>
            <a:off x="5410200" y="59436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2835" name="Text Box 68"/>
          <p:cNvSpPr txBox="1">
            <a:spLocks noChangeArrowheads="1"/>
          </p:cNvSpPr>
          <p:nvPr/>
        </p:nvSpPr>
        <p:spPr bwMode="auto">
          <a:xfrm>
            <a:off x="4556125" y="2224088"/>
            <a:ext cx="530225" cy="37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b="1"/>
              <a:t>R</a:t>
            </a:r>
            <a:r>
              <a:rPr lang="en-US" sz="2800" b="1" baseline="-20000"/>
              <a:t>C</a:t>
            </a:r>
          </a:p>
        </p:txBody>
      </p:sp>
      <p:sp>
        <p:nvSpPr>
          <p:cNvPr id="32836" name="Text Box 69"/>
          <p:cNvSpPr txBox="1">
            <a:spLocks noChangeArrowheads="1"/>
          </p:cNvSpPr>
          <p:nvPr/>
        </p:nvSpPr>
        <p:spPr bwMode="auto">
          <a:xfrm>
            <a:off x="4495800" y="5029200"/>
            <a:ext cx="612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600" b="1"/>
              <a:t>R</a:t>
            </a:r>
            <a:r>
              <a:rPr lang="en-US" sz="3600" b="1" baseline="-20000"/>
              <a:t>E</a:t>
            </a:r>
          </a:p>
        </p:txBody>
      </p:sp>
      <p:sp>
        <p:nvSpPr>
          <p:cNvPr id="32837" name="Text Box 70"/>
          <p:cNvSpPr txBox="1">
            <a:spLocks noChangeArrowheads="1"/>
          </p:cNvSpPr>
          <p:nvPr/>
        </p:nvSpPr>
        <p:spPr bwMode="auto">
          <a:xfrm>
            <a:off x="5715000" y="5105400"/>
            <a:ext cx="612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600" b="1"/>
              <a:t>C</a:t>
            </a:r>
            <a:r>
              <a:rPr lang="en-US" sz="3600" b="1" baseline="-20000"/>
              <a:t>E</a:t>
            </a:r>
          </a:p>
        </p:txBody>
      </p:sp>
      <p:sp>
        <p:nvSpPr>
          <p:cNvPr id="32838" name="Text Box 71"/>
          <p:cNvSpPr txBox="1">
            <a:spLocks noChangeArrowheads="1"/>
          </p:cNvSpPr>
          <p:nvPr/>
        </p:nvSpPr>
        <p:spPr bwMode="auto">
          <a:xfrm>
            <a:off x="2971800" y="4876800"/>
            <a:ext cx="6223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b="1"/>
              <a:t>R</a:t>
            </a:r>
            <a:r>
              <a:rPr lang="en-US" sz="4000" b="1" baseline="-20000"/>
              <a:t>2</a:t>
            </a:r>
          </a:p>
        </p:txBody>
      </p:sp>
      <p:sp>
        <p:nvSpPr>
          <p:cNvPr id="32839" name="Text Box 72"/>
          <p:cNvSpPr txBox="1">
            <a:spLocks noChangeArrowheads="1"/>
          </p:cNvSpPr>
          <p:nvPr/>
        </p:nvSpPr>
        <p:spPr bwMode="auto">
          <a:xfrm>
            <a:off x="2927350" y="2209800"/>
            <a:ext cx="490538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b="1"/>
              <a:t>R</a:t>
            </a:r>
            <a:r>
              <a:rPr lang="en-US" sz="2800" b="1" baseline="-20000"/>
              <a:t>1</a:t>
            </a:r>
          </a:p>
        </p:txBody>
      </p:sp>
      <p:sp>
        <p:nvSpPr>
          <p:cNvPr id="32840" name="Text Box 73"/>
          <p:cNvSpPr txBox="1">
            <a:spLocks noChangeArrowheads="1"/>
          </p:cNvSpPr>
          <p:nvPr/>
        </p:nvSpPr>
        <p:spPr bwMode="auto">
          <a:xfrm>
            <a:off x="3390900" y="647700"/>
            <a:ext cx="83026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b="1"/>
              <a:t>+V</a:t>
            </a:r>
            <a:r>
              <a:rPr lang="en-US" sz="2800" b="1" baseline="-20000"/>
              <a:t>CC</a:t>
            </a:r>
          </a:p>
        </p:txBody>
      </p:sp>
      <p:sp>
        <p:nvSpPr>
          <p:cNvPr id="32841" name="Oval 74"/>
          <p:cNvSpPr>
            <a:spLocks noChangeArrowheads="1"/>
          </p:cNvSpPr>
          <p:nvPr/>
        </p:nvSpPr>
        <p:spPr bwMode="auto">
          <a:xfrm>
            <a:off x="3657600" y="10668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2842" name="Text Box 75"/>
          <p:cNvSpPr txBox="1">
            <a:spLocks noChangeArrowheads="1"/>
          </p:cNvSpPr>
          <p:nvPr/>
        </p:nvSpPr>
        <p:spPr bwMode="auto">
          <a:xfrm>
            <a:off x="1905000" y="3290888"/>
            <a:ext cx="533400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b="1"/>
              <a:t>C</a:t>
            </a:r>
            <a:r>
              <a:rPr lang="en-US" sz="3200" b="1" baseline="-20000"/>
              <a:t>1</a:t>
            </a:r>
          </a:p>
        </p:txBody>
      </p:sp>
      <p:sp>
        <p:nvSpPr>
          <p:cNvPr id="32843" name="Text Box 76"/>
          <p:cNvSpPr txBox="1">
            <a:spLocks noChangeArrowheads="1"/>
          </p:cNvSpPr>
          <p:nvPr/>
        </p:nvSpPr>
        <p:spPr bwMode="auto">
          <a:xfrm>
            <a:off x="5257800" y="2362200"/>
            <a:ext cx="53340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b="1"/>
              <a:t>C</a:t>
            </a:r>
            <a:r>
              <a:rPr lang="en-US" sz="3200" b="1" baseline="-20000"/>
              <a:t>2</a:t>
            </a:r>
          </a:p>
        </p:txBody>
      </p:sp>
      <p:sp>
        <p:nvSpPr>
          <p:cNvPr id="32844" name="Text Box 77"/>
          <p:cNvSpPr txBox="1">
            <a:spLocks noChangeArrowheads="1"/>
          </p:cNvSpPr>
          <p:nvPr/>
        </p:nvSpPr>
        <p:spPr bwMode="auto">
          <a:xfrm>
            <a:off x="6781800" y="2552700"/>
            <a:ext cx="677863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b="1"/>
              <a:t>V</a:t>
            </a:r>
            <a:r>
              <a:rPr lang="en-US" sz="4000" b="1" baseline="-20000"/>
              <a:t>O</a:t>
            </a:r>
          </a:p>
        </p:txBody>
      </p:sp>
      <p:sp>
        <p:nvSpPr>
          <p:cNvPr id="32845" name="Text Box 78"/>
          <p:cNvSpPr txBox="1">
            <a:spLocks noChangeArrowheads="1"/>
          </p:cNvSpPr>
          <p:nvPr/>
        </p:nvSpPr>
        <p:spPr bwMode="auto">
          <a:xfrm>
            <a:off x="304800" y="3619500"/>
            <a:ext cx="622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600" b="1"/>
              <a:t>V</a:t>
            </a:r>
            <a:r>
              <a:rPr lang="en-US" sz="3600" b="1" baseline="-20000"/>
              <a:t>i</a:t>
            </a:r>
          </a:p>
        </p:txBody>
      </p:sp>
      <p:sp>
        <p:nvSpPr>
          <p:cNvPr id="32846" name="Line 79"/>
          <p:cNvSpPr>
            <a:spLocks noChangeShapeType="1"/>
          </p:cNvSpPr>
          <p:nvPr/>
        </p:nvSpPr>
        <p:spPr bwMode="auto">
          <a:xfrm>
            <a:off x="4343400" y="6096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7" name="Line 80"/>
          <p:cNvSpPr>
            <a:spLocks noChangeShapeType="1"/>
          </p:cNvSpPr>
          <p:nvPr/>
        </p:nvSpPr>
        <p:spPr bwMode="auto">
          <a:xfrm>
            <a:off x="4038600" y="6553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8" name="Line 81"/>
          <p:cNvSpPr>
            <a:spLocks noChangeShapeType="1"/>
          </p:cNvSpPr>
          <p:nvPr/>
        </p:nvSpPr>
        <p:spPr bwMode="auto">
          <a:xfrm>
            <a:off x="4114800" y="6629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9" name="Line 82"/>
          <p:cNvSpPr>
            <a:spLocks noChangeShapeType="1"/>
          </p:cNvSpPr>
          <p:nvPr/>
        </p:nvSpPr>
        <p:spPr bwMode="auto">
          <a:xfrm>
            <a:off x="4191000" y="6705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0" name="Line 83"/>
          <p:cNvSpPr>
            <a:spLocks noChangeShapeType="1"/>
          </p:cNvSpPr>
          <p:nvPr/>
        </p:nvSpPr>
        <p:spPr bwMode="auto">
          <a:xfrm>
            <a:off x="4267200" y="6781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1" name="Line 84"/>
          <p:cNvSpPr>
            <a:spLocks noChangeShapeType="1"/>
          </p:cNvSpPr>
          <p:nvPr/>
        </p:nvSpPr>
        <p:spPr bwMode="auto">
          <a:xfrm>
            <a:off x="304800" y="5181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2" name="Line 85"/>
          <p:cNvSpPr>
            <a:spLocks noChangeShapeType="1"/>
          </p:cNvSpPr>
          <p:nvPr/>
        </p:nvSpPr>
        <p:spPr bwMode="auto">
          <a:xfrm>
            <a:off x="304800" y="4603750"/>
            <a:ext cx="0" cy="1111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3" name="Freeform 86"/>
          <p:cNvSpPr>
            <a:spLocks/>
          </p:cNvSpPr>
          <p:nvPr/>
        </p:nvSpPr>
        <p:spPr bwMode="auto">
          <a:xfrm>
            <a:off x="304800" y="4876800"/>
            <a:ext cx="533400" cy="304800"/>
          </a:xfrm>
          <a:custGeom>
            <a:avLst/>
            <a:gdLst>
              <a:gd name="T0" fmla="*/ 0 w 336"/>
              <a:gd name="T1" fmla="*/ 2147483647 h 576"/>
              <a:gd name="T2" fmla="*/ 2147483647 w 336"/>
              <a:gd name="T3" fmla="*/ 0 h 576"/>
              <a:gd name="T4" fmla="*/ 2147483647 w 336"/>
              <a:gd name="T5" fmla="*/ 2147483647 h 576"/>
              <a:gd name="T6" fmla="*/ 0 60000 65536"/>
              <a:gd name="T7" fmla="*/ 0 60000 65536"/>
              <a:gd name="T8" fmla="*/ 0 60000 65536"/>
              <a:gd name="T9" fmla="*/ 0 w 336"/>
              <a:gd name="T10" fmla="*/ 0 h 576"/>
              <a:gd name="T11" fmla="*/ 336 w 33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576">
                <a:moveTo>
                  <a:pt x="0" y="576"/>
                </a:moveTo>
                <a:cubicBezTo>
                  <a:pt x="44" y="288"/>
                  <a:pt x="88" y="0"/>
                  <a:pt x="144" y="0"/>
                </a:cubicBezTo>
                <a:cubicBezTo>
                  <a:pt x="200" y="0"/>
                  <a:pt x="268" y="288"/>
                  <a:pt x="336" y="57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2854" name="Freeform 87"/>
          <p:cNvSpPr>
            <a:spLocks/>
          </p:cNvSpPr>
          <p:nvPr/>
        </p:nvSpPr>
        <p:spPr bwMode="auto">
          <a:xfrm rot="10800000">
            <a:off x="838200" y="5181600"/>
            <a:ext cx="533400" cy="304800"/>
          </a:xfrm>
          <a:custGeom>
            <a:avLst/>
            <a:gdLst>
              <a:gd name="T0" fmla="*/ 0 w 336"/>
              <a:gd name="T1" fmla="*/ 2147483647 h 576"/>
              <a:gd name="T2" fmla="*/ 2147483647 w 336"/>
              <a:gd name="T3" fmla="*/ 0 h 576"/>
              <a:gd name="T4" fmla="*/ 2147483647 w 336"/>
              <a:gd name="T5" fmla="*/ 2147483647 h 576"/>
              <a:gd name="T6" fmla="*/ 0 60000 65536"/>
              <a:gd name="T7" fmla="*/ 0 60000 65536"/>
              <a:gd name="T8" fmla="*/ 0 60000 65536"/>
              <a:gd name="T9" fmla="*/ 0 w 336"/>
              <a:gd name="T10" fmla="*/ 0 h 576"/>
              <a:gd name="T11" fmla="*/ 336 w 33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576">
                <a:moveTo>
                  <a:pt x="0" y="576"/>
                </a:moveTo>
                <a:cubicBezTo>
                  <a:pt x="44" y="288"/>
                  <a:pt x="88" y="0"/>
                  <a:pt x="144" y="0"/>
                </a:cubicBezTo>
                <a:cubicBezTo>
                  <a:pt x="200" y="0"/>
                  <a:pt x="268" y="288"/>
                  <a:pt x="336" y="57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2855" name="Text Box 88"/>
          <p:cNvSpPr txBox="1">
            <a:spLocks noChangeArrowheads="1"/>
          </p:cNvSpPr>
          <p:nvPr/>
        </p:nvSpPr>
        <p:spPr bwMode="auto">
          <a:xfrm>
            <a:off x="0" y="4114800"/>
            <a:ext cx="12033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000" b="1">
                <a:solidFill>
                  <a:srgbClr val="3333FF"/>
                </a:solidFill>
              </a:rPr>
              <a:t>Signal to be </a:t>
            </a:r>
          </a:p>
          <a:p>
            <a:r>
              <a:rPr lang="en-US" sz="2000" b="1">
                <a:solidFill>
                  <a:srgbClr val="3333FF"/>
                </a:solidFill>
              </a:rPr>
              <a:t>Amplified</a:t>
            </a:r>
          </a:p>
        </p:txBody>
      </p:sp>
      <p:sp>
        <p:nvSpPr>
          <p:cNvPr id="32856" name="Line 89"/>
          <p:cNvSpPr>
            <a:spLocks noChangeShapeType="1"/>
          </p:cNvSpPr>
          <p:nvPr/>
        </p:nvSpPr>
        <p:spPr bwMode="auto">
          <a:xfrm>
            <a:off x="6559550" y="4114800"/>
            <a:ext cx="2286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7" name="Line 90"/>
          <p:cNvSpPr>
            <a:spLocks noChangeShapeType="1"/>
          </p:cNvSpPr>
          <p:nvPr/>
        </p:nvSpPr>
        <p:spPr bwMode="auto">
          <a:xfrm>
            <a:off x="6559550" y="4419600"/>
            <a:ext cx="2286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8" name="Line 91"/>
          <p:cNvSpPr>
            <a:spLocks noChangeShapeType="1"/>
          </p:cNvSpPr>
          <p:nvPr/>
        </p:nvSpPr>
        <p:spPr bwMode="auto">
          <a:xfrm>
            <a:off x="6559550" y="4724400"/>
            <a:ext cx="2286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9" name="Line 92"/>
          <p:cNvSpPr>
            <a:spLocks noChangeShapeType="1"/>
          </p:cNvSpPr>
          <p:nvPr/>
        </p:nvSpPr>
        <p:spPr bwMode="auto">
          <a:xfrm flipV="1">
            <a:off x="6559550" y="4267200"/>
            <a:ext cx="2286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0" name="Line 93"/>
          <p:cNvSpPr>
            <a:spLocks noChangeShapeType="1"/>
          </p:cNvSpPr>
          <p:nvPr/>
        </p:nvSpPr>
        <p:spPr bwMode="auto">
          <a:xfrm flipV="1">
            <a:off x="6559550" y="4572000"/>
            <a:ext cx="2286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1" name="Line 94"/>
          <p:cNvSpPr>
            <a:spLocks noChangeShapeType="1"/>
          </p:cNvSpPr>
          <p:nvPr/>
        </p:nvSpPr>
        <p:spPr bwMode="auto">
          <a:xfrm flipV="1">
            <a:off x="6559550" y="4038600"/>
            <a:ext cx="1524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2" name="Line 95"/>
          <p:cNvSpPr>
            <a:spLocks noChangeShapeType="1"/>
          </p:cNvSpPr>
          <p:nvPr/>
        </p:nvSpPr>
        <p:spPr bwMode="auto">
          <a:xfrm flipV="1">
            <a:off x="6635750" y="4876800"/>
            <a:ext cx="1524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3" name="Text Box 96"/>
          <p:cNvSpPr txBox="1">
            <a:spLocks noChangeArrowheads="1"/>
          </p:cNvSpPr>
          <p:nvPr/>
        </p:nvSpPr>
        <p:spPr bwMode="auto">
          <a:xfrm>
            <a:off x="6788150" y="4343400"/>
            <a:ext cx="450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/>
              <a:t>R</a:t>
            </a:r>
            <a:r>
              <a:rPr lang="en-US" b="1" baseline="-20000"/>
              <a:t>L</a:t>
            </a:r>
          </a:p>
        </p:txBody>
      </p:sp>
      <p:sp>
        <p:nvSpPr>
          <p:cNvPr id="32864" name="Line 97"/>
          <p:cNvSpPr>
            <a:spLocks noChangeShapeType="1"/>
          </p:cNvSpPr>
          <p:nvPr/>
        </p:nvSpPr>
        <p:spPr bwMode="auto">
          <a:xfrm>
            <a:off x="6705600" y="4953000"/>
            <a:ext cx="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5" name="Line 98"/>
          <p:cNvSpPr>
            <a:spLocks noChangeShapeType="1"/>
          </p:cNvSpPr>
          <p:nvPr/>
        </p:nvSpPr>
        <p:spPr bwMode="auto">
          <a:xfrm>
            <a:off x="6711950" y="30480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6" name="Oval 99"/>
          <p:cNvSpPr>
            <a:spLocks noChangeArrowheads="1"/>
          </p:cNvSpPr>
          <p:nvPr/>
        </p:nvSpPr>
        <p:spPr bwMode="auto">
          <a:xfrm>
            <a:off x="6629400" y="59436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2867" name="Oval 100"/>
          <p:cNvSpPr>
            <a:spLocks noChangeArrowheads="1"/>
          </p:cNvSpPr>
          <p:nvPr/>
        </p:nvSpPr>
        <p:spPr bwMode="auto">
          <a:xfrm>
            <a:off x="6629400" y="29718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2868" name="Line 101"/>
          <p:cNvSpPr>
            <a:spLocks noChangeShapeType="1"/>
          </p:cNvSpPr>
          <p:nvPr/>
        </p:nvSpPr>
        <p:spPr bwMode="auto">
          <a:xfrm>
            <a:off x="7315200" y="4724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9" name="Line 102"/>
          <p:cNvSpPr>
            <a:spLocks noChangeShapeType="1"/>
          </p:cNvSpPr>
          <p:nvPr/>
        </p:nvSpPr>
        <p:spPr bwMode="auto">
          <a:xfrm>
            <a:off x="7315200" y="35814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0" name="Freeform 103"/>
          <p:cNvSpPr>
            <a:spLocks/>
          </p:cNvSpPr>
          <p:nvPr/>
        </p:nvSpPr>
        <p:spPr bwMode="auto">
          <a:xfrm>
            <a:off x="8001000" y="3962400"/>
            <a:ext cx="685800" cy="762000"/>
          </a:xfrm>
          <a:custGeom>
            <a:avLst/>
            <a:gdLst>
              <a:gd name="T0" fmla="*/ 0 w 336"/>
              <a:gd name="T1" fmla="*/ 2147483647 h 576"/>
              <a:gd name="T2" fmla="*/ 2147483647 w 336"/>
              <a:gd name="T3" fmla="*/ 0 h 576"/>
              <a:gd name="T4" fmla="*/ 2147483647 w 336"/>
              <a:gd name="T5" fmla="*/ 2147483647 h 576"/>
              <a:gd name="T6" fmla="*/ 0 60000 65536"/>
              <a:gd name="T7" fmla="*/ 0 60000 65536"/>
              <a:gd name="T8" fmla="*/ 0 60000 65536"/>
              <a:gd name="T9" fmla="*/ 0 w 336"/>
              <a:gd name="T10" fmla="*/ 0 h 576"/>
              <a:gd name="T11" fmla="*/ 336 w 33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576">
                <a:moveTo>
                  <a:pt x="0" y="576"/>
                </a:moveTo>
                <a:cubicBezTo>
                  <a:pt x="44" y="288"/>
                  <a:pt x="88" y="0"/>
                  <a:pt x="144" y="0"/>
                </a:cubicBezTo>
                <a:cubicBezTo>
                  <a:pt x="200" y="0"/>
                  <a:pt x="268" y="288"/>
                  <a:pt x="336" y="576"/>
                </a:cubicBezTo>
              </a:path>
            </a:pathLst>
          </a:custGeom>
          <a:noFill/>
          <a:ln w="3175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2871" name="Freeform 104"/>
          <p:cNvSpPr>
            <a:spLocks/>
          </p:cNvSpPr>
          <p:nvPr/>
        </p:nvSpPr>
        <p:spPr bwMode="auto">
          <a:xfrm rot="10800000">
            <a:off x="7315200" y="4724400"/>
            <a:ext cx="685800" cy="685800"/>
          </a:xfrm>
          <a:custGeom>
            <a:avLst/>
            <a:gdLst>
              <a:gd name="T0" fmla="*/ 0 w 336"/>
              <a:gd name="T1" fmla="*/ 2147483647 h 576"/>
              <a:gd name="T2" fmla="*/ 2147483647 w 336"/>
              <a:gd name="T3" fmla="*/ 0 h 576"/>
              <a:gd name="T4" fmla="*/ 2147483647 w 336"/>
              <a:gd name="T5" fmla="*/ 2147483647 h 576"/>
              <a:gd name="T6" fmla="*/ 0 60000 65536"/>
              <a:gd name="T7" fmla="*/ 0 60000 65536"/>
              <a:gd name="T8" fmla="*/ 0 60000 65536"/>
              <a:gd name="T9" fmla="*/ 0 w 336"/>
              <a:gd name="T10" fmla="*/ 0 h 576"/>
              <a:gd name="T11" fmla="*/ 336 w 33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576">
                <a:moveTo>
                  <a:pt x="0" y="576"/>
                </a:moveTo>
                <a:cubicBezTo>
                  <a:pt x="44" y="288"/>
                  <a:pt x="88" y="0"/>
                  <a:pt x="144" y="0"/>
                </a:cubicBezTo>
                <a:cubicBezTo>
                  <a:pt x="200" y="0"/>
                  <a:pt x="268" y="288"/>
                  <a:pt x="336" y="576"/>
                </a:cubicBezTo>
              </a:path>
            </a:pathLst>
          </a:custGeom>
          <a:noFill/>
          <a:ln w="3175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2872" name="Text Box 105"/>
          <p:cNvSpPr txBox="1">
            <a:spLocks noChangeArrowheads="1"/>
          </p:cNvSpPr>
          <p:nvPr/>
        </p:nvSpPr>
        <p:spPr bwMode="auto">
          <a:xfrm>
            <a:off x="7010400" y="3009900"/>
            <a:ext cx="1828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400" b="1">
                <a:solidFill>
                  <a:srgbClr val="3333FF"/>
                </a:solidFill>
              </a:rPr>
              <a:t>Amplified signal </a:t>
            </a:r>
          </a:p>
          <a:p>
            <a:r>
              <a:rPr lang="en-US" sz="2400" b="1">
                <a:solidFill>
                  <a:srgbClr val="3333FF"/>
                </a:solidFill>
              </a:rPr>
              <a:t>output Signal </a:t>
            </a:r>
          </a:p>
        </p:txBody>
      </p:sp>
      <p:sp>
        <p:nvSpPr>
          <p:cNvPr id="32873" name="Line 106"/>
          <p:cNvSpPr>
            <a:spLocks noChangeShapeType="1"/>
          </p:cNvSpPr>
          <p:nvPr/>
        </p:nvSpPr>
        <p:spPr bwMode="auto">
          <a:xfrm>
            <a:off x="7162800" y="4724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4" name="Line 107"/>
          <p:cNvSpPr>
            <a:spLocks noChangeShapeType="1"/>
          </p:cNvSpPr>
          <p:nvPr/>
        </p:nvSpPr>
        <p:spPr bwMode="auto">
          <a:xfrm>
            <a:off x="304800" y="5181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5" name="TextBox 109"/>
          <p:cNvSpPr txBox="1">
            <a:spLocks noChangeArrowheads="1"/>
          </p:cNvSpPr>
          <p:nvPr/>
        </p:nvSpPr>
        <p:spPr bwMode="auto">
          <a:xfrm>
            <a:off x="0" y="1676400"/>
            <a:ext cx="29337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2600" b="1">
                <a:solidFill>
                  <a:srgbClr val="FF0066"/>
                </a:solidFill>
              </a:rPr>
              <a:t>R1 &amp; R2  are Biasing Resistor </a:t>
            </a:r>
          </a:p>
        </p:txBody>
      </p:sp>
      <p:sp>
        <p:nvSpPr>
          <p:cNvPr id="32876" name="TextBox 110"/>
          <p:cNvSpPr txBox="1">
            <a:spLocks noChangeArrowheads="1"/>
          </p:cNvSpPr>
          <p:nvPr/>
        </p:nvSpPr>
        <p:spPr bwMode="auto">
          <a:xfrm>
            <a:off x="5219700" y="1524000"/>
            <a:ext cx="27051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2600" b="1">
                <a:solidFill>
                  <a:srgbClr val="FF0066"/>
                </a:solidFill>
              </a:rPr>
              <a:t>C1 &amp; C2  are Coupling Capacitors </a:t>
            </a:r>
          </a:p>
        </p:txBody>
      </p:sp>
      <p:sp>
        <p:nvSpPr>
          <p:cNvPr id="32877" name="TextBox 111"/>
          <p:cNvSpPr txBox="1">
            <a:spLocks noChangeArrowheads="1"/>
          </p:cNvSpPr>
          <p:nvPr/>
        </p:nvSpPr>
        <p:spPr bwMode="auto">
          <a:xfrm>
            <a:off x="5257800" y="6286500"/>
            <a:ext cx="270510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2600" b="1">
                <a:solidFill>
                  <a:srgbClr val="FF0066"/>
                </a:solidFill>
              </a:rPr>
              <a:t> Bypass Capacitor </a:t>
            </a:r>
          </a:p>
        </p:txBody>
      </p:sp>
      <p:cxnSp>
        <p:nvCxnSpPr>
          <p:cNvPr id="114" name="Straight Arrow Connector 113"/>
          <p:cNvCxnSpPr/>
          <p:nvPr/>
        </p:nvCxnSpPr>
        <p:spPr>
          <a:xfrm rot="16200000" flipV="1">
            <a:off x="5753100" y="5562600"/>
            <a:ext cx="723900" cy="723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Title 1"/>
          <p:cNvSpPr txBox="1">
            <a:spLocks/>
          </p:cNvSpPr>
          <p:nvPr/>
        </p:nvSpPr>
        <p:spPr bwMode="auto">
          <a:xfrm>
            <a:off x="0" y="-190500"/>
            <a:ext cx="89122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r>
              <a:rPr lang="en-US" sz="3200" b="1" dirty="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Single Stage RC Coupled CE Amplifier</a:t>
            </a:r>
            <a:endParaRPr lang="en-IN" sz="3200" dirty="0">
              <a:solidFill>
                <a:srgbClr val="0000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561859-04E0-4413-8F45-6B1D8EF10BFE}" type="slidenum">
              <a:rPr lang="en-US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193139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sz="3600">
                <a:solidFill>
                  <a:srgbClr val="FF0000"/>
                </a:solidFill>
              </a:rPr>
              <a:t>BJT Switch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95400"/>
            <a:ext cx="3200400" cy="3200400"/>
          </a:xfrm>
        </p:spPr>
        <p:txBody>
          <a:bodyPr/>
          <a:lstStyle/>
          <a:p>
            <a:r>
              <a:rPr lang="en-US" sz="2200" b="1">
                <a:latin typeface="Times New Roman" pitchFamily="18" charset="0"/>
                <a:cs typeface="Times New Roman" pitchFamily="18" charset="0"/>
              </a:rPr>
              <a:t>When operated in </a:t>
            </a:r>
            <a:r>
              <a:rPr lang="en-US" sz="2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saturation</a:t>
            </a:r>
            <a:r>
              <a:rPr lang="en-US" sz="2200" b="1">
                <a:latin typeface="Times New Roman" pitchFamily="18" charset="0"/>
                <a:cs typeface="Times New Roman" pitchFamily="18" charset="0"/>
              </a:rPr>
              <a:t>, the BJT acts as a </a:t>
            </a:r>
            <a:r>
              <a:rPr lang="en-US" sz="2200" b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closed switch.</a:t>
            </a:r>
          </a:p>
          <a:p>
            <a:r>
              <a:rPr lang="en-US" sz="2200" b="1">
                <a:latin typeface="Times New Roman" pitchFamily="18" charset="0"/>
                <a:cs typeface="Times New Roman" pitchFamily="18" charset="0"/>
              </a:rPr>
              <a:t>When operated in </a:t>
            </a:r>
            <a:r>
              <a:rPr lang="en-US" sz="2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cutoff</a:t>
            </a:r>
            <a:r>
              <a:rPr lang="en-US" sz="2200" b="1">
                <a:latin typeface="Times New Roman" pitchFamily="18" charset="0"/>
                <a:cs typeface="Times New Roman" pitchFamily="18" charset="0"/>
              </a:rPr>
              <a:t>, the BJT acts as an </a:t>
            </a:r>
            <a:r>
              <a:rPr lang="en-US" sz="22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open switch</a:t>
            </a:r>
            <a:r>
              <a:rPr lang="en-US" sz="2200" b="1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03613" y="1433513"/>
            <a:ext cx="524033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6B398-CE4B-42DD-A6F5-E29974F9323A}" type="slidenum">
              <a:rPr lang="en-US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791413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MOSFET</a:t>
            </a: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FIELD-EFFECT TRANSISTORS ( FET)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5105400"/>
          </a:xfrm>
        </p:spPr>
        <p:txBody>
          <a:bodyPr/>
          <a:lstStyle/>
          <a:p>
            <a:pPr algn="just"/>
            <a:r>
              <a:rPr lang="en-US" sz="28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FETs are the </a:t>
            </a:r>
            <a:r>
              <a:rPr lang="en-US" sz="2800" b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uni polar </a:t>
            </a:r>
            <a:r>
              <a:rPr lang="en-US" sz="28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devices because, unlike BJTs that use both </a:t>
            </a:r>
            <a:r>
              <a:rPr lang="en-US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electron</a:t>
            </a:r>
            <a:r>
              <a:rPr lang="en-US" sz="28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hole</a:t>
            </a:r>
            <a:r>
              <a:rPr lang="en-US" sz="28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current, they operate  only with one type of charge carrier.</a:t>
            </a:r>
          </a:p>
          <a:p>
            <a:pPr algn="just"/>
            <a:endParaRPr lang="en-US" sz="28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two main types of FET’s are - </a:t>
            </a:r>
          </a:p>
          <a:p>
            <a:pPr algn="just"/>
            <a:endParaRPr lang="en-US" sz="28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8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Junction Field Fffect Transistor </a:t>
            </a:r>
            <a:r>
              <a:rPr lang="en-US" sz="28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(JFET)</a:t>
            </a:r>
            <a:r>
              <a:rPr lang="en-US" sz="28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8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Metal Oxide Semiconductor Field Effect Transistor </a:t>
            </a:r>
            <a:r>
              <a:rPr lang="en-US" sz="28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(MOSFET)</a:t>
            </a:r>
          </a:p>
          <a:p>
            <a:endParaRPr lang="en-US" sz="2800" b="1">
              <a:solidFill>
                <a:srgbClr val="FFFF00"/>
              </a:solidFill>
              <a:latin typeface="Bradley Hand ITC" pitchFamily="66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EB78CD-44D2-4585-9DFC-92A7F396BC56}" type="slidenum">
              <a:rPr lang="en-US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52818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848600" cy="685800"/>
          </a:xfrm>
        </p:spPr>
        <p:txBody>
          <a:bodyPr/>
          <a:lstStyle/>
          <a:p>
            <a:r>
              <a:rPr lang="en-US" altLang="en-US" sz="2800">
                <a:solidFill>
                  <a:srgbClr val="0000FF"/>
                </a:solidFill>
              </a:rPr>
              <a:t>Current Controlled &amp; Voltage Controlled Devices</a:t>
            </a:r>
          </a:p>
        </p:txBody>
      </p:sp>
      <p:pic>
        <p:nvPicPr>
          <p:cNvPr id="3686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1752600" y="476250"/>
            <a:ext cx="5146675" cy="3365500"/>
          </a:xfrm>
        </p:spPr>
      </p:pic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6781800" y="6324600"/>
            <a:ext cx="2286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/>
            <a:r>
              <a:rPr lang="en-US" altLang="en-US" sz="600" b="1">
                <a:solidFill>
                  <a:srgbClr val="BE0000"/>
                </a:solidFill>
                <a:latin typeface="Times New Roman" pitchFamily="18" charset="0"/>
              </a:rPr>
              <a:t/>
            </a:r>
            <a:br>
              <a:rPr lang="en-US" altLang="en-US" sz="600" b="1">
                <a:solidFill>
                  <a:srgbClr val="BE0000"/>
                </a:solidFill>
                <a:latin typeface="Times New Roman" pitchFamily="18" charset="0"/>
              </a:rPr>
            </a:br>
            <a:r>
              <a:rPr lang="en-US" altLang="en-US" sz="600" b="1">
                <a:solidFill>
                  <a:srgbClr val="BE0000"/>
                </a:solidFill>
                <a:latin typeface="Times New Roman" pitchFamily="18" charset="0"/>
              </a:rPr>
              <a:t/>
            </a:r>
            <a:br>
              <a:rPr lang="en-US" altLang="en-US" sz="600" b="1">
                <a:solidFill>
                  <a:srgbClr val="BE0000"/>
                </a:solidFill>
                <a:latin typeface="Times New Roman" pitchFamily="18" charset="0"/>
              </a:rPr>
            </a:br>
            <a:endParaRPr lang="en-US" altLang="en-US" sz="3200" b="1">
              <a:solidFill>
                <a:srgbClr val="BE0000"/>
              </a:solidFill>
              <a:latin typeface="Times New Roman" pitchFamily="18" charset="0"/>
            </a:endParaRPr>
          </a:p>
        </p:txBody>
      </p:sp>
      <p:pic>
        <p:nvPicPr>
          <p:cNvPr id="36869" name="Picture 2" descr="Image result for Field effect transist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648200"/>
            <a:ext cx="2205038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Picture 4" descr="Image result for Field effect transis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14400" y="3808413"/>
            <a:ext cx="4305300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443365-64C4-4BDC-8A20-DF6813EE670A}" type="slidenum">
              <a:rPr lang="en-US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232737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Field Effect Transistors - Classification</a:t>
            </a:r>
          </a:p>
        </p:txBody>
      </p:sp>
      <p:pic>
        <p:nvPicPr>
          <p:cNvPr id="37891" name="Picture 3" descr="07-1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838200" y="1614488"/>
            <a:ext cx="7620000" cy="44069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78A5F7-A537-4820-A21C-82821AC9C76A}" type="slidenum">
              <a:rPr lang="en-US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641226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r>
              <a:rPr lang="en-US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MOSFET (IGFET)</a:t>
            </a:r>
          </a:p>
        </p:txBody>
      </p:sp>
      <p:sp>
        <p:nvSpPr>
          <p:cNvPr id="38915" name="Rectangle 4"/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229600" cy="5791200"/>
          </a:xfrm>
        </p:spPr>
        <p:txBody>
          <a:bodyPr/>
          <a:lstStyle/>
          <a:p>
            <a:pPr algn="just"/>
            <a:r>
              <a:rPr lang="en-US" sz="2400" b="1">
                <a:solidFill>
                  <a:srgbClr val="000000"/>
                </a:solidFill>
                <a:cs typeface="Times New Roman" pitchFamily="18" charset="0"/>
              </a:rPr>
              <a:t>The MOSFET (metal oxide semiconductor field effect transistor) is the category of FET.</a:t>
            </a:r>
          </a:p>
          <a:p>
            <a:pPr algn="just"/>
            <a:endParaRPr lang="en-US" sz="2400" b="1">
              <a:solidFill>
                <a:srgbClr val="000000"/>
              </a:solidFill>
              <a:cs typeface="Times New Roman" pitchFamily="18" charset="0"/>
            </a:endParaRPr>
          </a:p>
          <a:p>
            <a:pPr algn="just"/>
            <a:r>
              <a:rPr lang="en-US" sz="2400" b="1">
                <a:solidFill>
                  <a:srgbClr val="000000"/>
                </a:solidFill>
                <a:cs typeface="Times New Roman" pitchFamily="18" charset="0"/>
              </a:rPr>
              <a:t>The MOSFET differs from the JFET in that it has no PN junction structure; instead, the gate of the MOSFET is insulated from the channel by a silicon dioxide (Sio2) layer.</a:t>
            </a:r>
          </a:p>
          <a:p>
            <a:pPr algn="just"/>
            <a:endParaRPr lang="en-US" sz="2400" b="1">
              <a:solidFill>
                <a:srgbClr val="000000"/>
              </a:solidFill>
              <a:cs typeface="Times New Roman" pitchFamily="18" charset="0"/>
            </a:endParaRPr>
          </a:p>
          <a:p>
            <a:pPr algn="just"/>
            <a:r>
              <a:rPr lang="en-US" sz="2400" b="1">
                <a:solidFill>
                  <a:srgbClr val="000000"/>
                </a:solidFill>
                <a:cs typeface="Times New Roman" pitchFamily="18" charset="0"/>
              </a:rPr>
              <a:t>Two basic types of MOSFETS are 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b="1">
                <a:solidFill>
                  <a:srgbClr val="00B050"/>
                </a:solidFill>
                <a:cs typeface="Times New Roman" pitchFamily="18" charset="0"/>
              </a:rPr>
              <a:t>Depletion ( D ) MOSFET and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b="1">
                <a:solidFill>
                  <a:srgbClr val="00B050"/>
                </a:solidFill>
                <a:cs typeface="Times New Roman" pitchFamily="18" charset="0"/>
              </a:rPr>
              <a:t>Enhancement ( E ) MOSFET</a:t>
            </a:r>
          </a:p>
          <a:p>
            <a:pPr algn="just"/>
            <a:endParaRPr lang="en-US" sz="2400" b="1">
              <a:solidFill>
                <a:srgbClr val="000000"/>
              </a:solidFill>
              <a:cs typeface="Times New Roman" pitchFamily="18" charset="0"/>
            </a:endParaRPr>
          </a:p>
          <a:p>
            <a:pPr algn="just"/>
            <a:r>
              <a:rPr lang="en-US" sz="2400" b="1">
                <a:solidFill>
                  <a:srgbClr val="000000"/>
                </a:solidFill>
                <a:cs typeface="Times New Roman" pitchFamily="18" charset="0"/>
              </a:rPr>
              <a:t>Because of the insulated gate, these devices are also called as </a:t>
            </a:r>
            <a:r>
              <a:rPr lang="en-US" sz="2400" b="1">
                <a:solidFill>
                  <a:srgbClr val="0000FF"/>
                </a:solidFill>
                <a:cs typeface="Times New Roman" pitchFamily="18" charset="0"/>
              </a:rPr>
              <a:t>IGFET.</a:t>
            </a:r>
          </a:p>
          <a:p>
            <a:endParaRPr lang="en-US" sz="2400">
              <a:latin typeface="Bradley Hand ITC" pitchFamily="66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0FAB3B-EED4-4D11-BCB8-85D7CC86C199}" type="slidenum">
              <a:rPr lang="en-US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465271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sz="3200" b="1">
                <a:solidFill>
                  <a:srgbClr val="0000FF"/>
                </a:solidFill>
                <a:cs typeface="Times New Roman" pitchFamily="18" charset="0"/>
              </a:rPr>
              <a:t>ENHANCEMENT MOSFET ( E-MOSFET)</a:t>
            </a:r>
            <a:br>
              <a:rPr lang="en-US" sz="3200" b="1">
                <a:solidFill>
                  <a:srgbClr val="0000FF"/>
                </a:solidFill>
                <a:cs typeface="Times New Roman" pitchFamily="18" charset="0"/>
              </a:rPr>
            </a:br>
            <a:endParaRPr lang="en-US" sz="3200" b="1">
              <a:solidFill>
                <a:srgbClr val="0000FF"/>
              </a:solidFill>
              <a:cs typeface="Times New Roman" pitchFamily="18" charset="0"/>
            </a:endParaRPr>
          </a:p>
        </p:txBody>
      </p:sp>
      <p:pic>
        <p:nvPicPr>
          <p:cNvPr id="39939" name="Picture 3" descr="07-3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32125" y="2779713"/>
            <a:ext cx="6111875" cy="407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0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826375" y="5638800"/>
            <a:ext cx="130651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2" descr="Image result for mosfe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0" y="609600"/>
            <a:ext cx="46482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2" name="Picture 2" descr="Image result for mosfe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10200" y="622300"/>
            <a:ext cx="2822575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3" name="Rectangle 1"/>
          <p:cNvSpPr>
            <a:spLocks noChangeArrowheads="1"/>
          </p:cNvSpPr>
          <p:nvPr/>
        </p:nvSpPr>
        <p:spPr bwMode="auto">
          <a:xfrm>
            <a:off x="457200" y="4495800"/>
            <a:ext cx="276225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800">
                <a:solidFill>
                  <a:srgbClr val="00B050"/>
                </a:solidFill>
                <a:latin typeface="Calibri" pitchFamily="34" charset="0"/>
              </a:rPr>
              <a:t>MOSFET was invented by Atalla &amp; Dawon at Bell Labs in 1959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80F85E-43C6-4C14-8DE6-FEDBF8E4A9BC}" type="slidenum">
              <a:rPr lang="en-US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172275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IN" sz="3200">
                <a:solidFill>
                  <a:srgbClr val="0000FF"/>
                </a:solidFill>
              </a:rPr>
              <a:t>Linear &amp; Saturation Regions</a:t>
            </a:r>
          </a:p>
        </p:txBody>
      </p:sp>
      <p:pic>
        <p:nvPicPr>
          <p:cNvPr id="40963" name="Picture 2" descr="C:\Users\Dell\Desktop\FE SEM II 2015-16\BXE Images\LV7SbbrUXta11gDNfCJh56HP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990600" y="731838"/>
            <a:ext cx="7566025" cy="4525962"/>
          </a:xfrm>
        </p:spPr>
      </p:pic>
      <p:sp>
        <p:nvSpPr>
          <p:cNvPr id="3" name="TextBox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14600" y="4953000"/>
            <a:ext cx="3925791" cy="70872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noFill/>
                <a:latin typeface="+mn-lt"/>
                <a:cs typeface="+mn-cs"/>
              </a:rPr>
              <a:t> </a:t>
            </a:r>
          </a:p>
        </p:txBody>
      </p:sp>
      <p:sp>
        <p:nvSpPr>
          <p:cNvPr id="5" name="TextBox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743200" y="5838954"/>
            <a:ext cx="3810000" cy="485646"/>
          </a:xfrm>
          <a:prstGeom prst="rect">
            <a:avLst/>
          </a:prstGeom>
          <a:blipFill rotWithShape="1">
            <a:blip r:embed="rId4"/>
            <a:stretch>
              <a:fillRect b="-5000"/>
            </a:stretch>
          </a:blipFill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noFill/>
                <a:latin typeface="+mn-lt"/>
                <a:cs typeface="+mn-cs"/>
              </a:rPr>
              <a:t>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23BAC0-5EA5-4877-8DA3-ABDFCD594E8C}" type="slidenum">
              <a:rPr lang="en-US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013597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IN" sz="3200">
                <a:solidFill>
                  <a:srgbClr val="0000FF"/>
                </a:solidFill>
              </a:rPr>
              <a:t>Transfer &amp; Drain Characteristics</a:t>
            </a:r>
          </a:p>
        </p:txBody>
      </p:sp>
      <p:pic>
        <p:nvPicPr>
          <p:cNvPr id="43011" name="Picture 2" descr="Image result for drain characteristics of mosf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828800"/>
            <a:ext cx="5934075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2" name="Picture 4" descr="Image result for transfer characteristics of mosf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76400"/>
            <a:ext cx="3128963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B5FEA7-6815-4ECF-8CDC-C51D34B56868}" type="slidenum">
              <a:rPr lang="en-US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451390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77865813"/>
              </p:ext>
            </p:extLst>
          </p:nvPr>
        </p:nvGraphicFramePr>
        <p:xfrm>
          <a:off x="152400" y="25400"/>
          <a:ext cx="8832850" cy="6980234"/>
        </p:xfrm>
        <a:graphic>
          <a:graphicData uri="http://schemas.openxmlformats.org/drawingml/2006/table">
            <a:tbl>
              <a:tblPr/>
              <a:tblGrid>
                <a:gridCol w="446809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3647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3200" b="1" dirty="0">
                          <a:solidFill>
                            <a:srgbClr val="FF006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BJT </a:t>
                      </a:r>
                      <a:endParaRPr lang="en-IN" sz="1400" dirty="0">
                        <a:solidFill>
                          <a:srgbClr val="FF0066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3200" b="1" dirty="0">
                          <a:solidFill>
                            <a:srgbClr val="FF006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MOSFET</a:t>
                      </a:r>
                      <a:endParaRPr lang="en-IN" sz="1400" dirty="0">
                        <a:solidFill>
                          <a:srgbClr val="FF0066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7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 dirty="0">
                          <a:solidFill>
                            <a:srgbClr val="33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It is a </a:t>
                      </a:r>
                      <a:r>
                        <a:rPr lang="en-US" sz="2000" b="1" dirty="0">
                          <a:solidFill>
                            <a:srgbClr val="33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current controlled</a:t>
                      </a:r>
                      <a:r>
                        <a:rPr lang="en-US" sz="2000" dirty="0">
                          <a:solidFill>
                            <a:srgbClr val="33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device.</a:t>
                      </a:r>
                      <a:endParaRPr lang="en-IN" sz="2000" dirty="0">
                        <a:solidFill>
                          <a:srgbClr val="3366FF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 dirty="0">
                          <a:solidFill>
                            <a:srgbClr val="33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It is a </a:t>
                      </a:r>
                      <a:r>
                        <a:rPr lang="en-US" sz="2000" b="1" dirty="0">
                          <a:solidFill>
                            <a:srgbClr val="33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voltage controlled</a:t>
                      </a:r>
                      <a:r>
                        <a:rPr lang="en-US" sz="2000" dirty="0">
                          <a:solidFill>
                            <a:srgbClr val="33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device.</a:t>
                      </a:r>
                      <a:endParaRPr lang="en-IN" sz="2000" dirty="0">
                        <a:solidFill>
                          <a:srgbClr val="3366FF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155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It is a </a:t>
                      </a:r>
                      <a:r>
                        <a:rPr lang="en-US" sz="2000" b="1" dirty="0">
                          <a:latin typeface="Times New Roman"/>
                          <a:ea typeface="Times New Roman"/>
                          <a:cs typeface="Times New Roman"/>
                        </a:rPr>
                        <a:t>bipolar</a:t>
                      </a: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 device (Current flows due to both majority &amp; minority carriers).</a:t>
                      </a: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It is a </a:t>
                      </a: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unipolar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 device (Current flows due to only majority carriers).</a:t>
                      </a:r>
                      <a:endParaRPr lang="en-IN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7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Thermal Runaway can damage the BJT</a:t>
                      </a: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Thermal Runaway does not take place </a:t>
                      </a:r>
                      <a:endParaRPr lang="en-IN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87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Input resistance (</a:t>
                      </a:r>
                      <a:r>
                        <a:rPr lang="en-US" sz="2000" b="1" dirty="0" err="1"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  <a:r>
                        <a:rPr lang="en-US" sz="2000" b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) is very </a:t>
                      </a:r>
                      <a:r>
                        <a:rPr lang="en-US" sz="2000" b="1" dirty="0"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Output resistance (</a:t>
                      </a: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R</a:t>
                      </a:r>
                      <a:r>
                        <a:rPr lang="en-US" sz="2000" b="1" baseline="-25000">
                          <a:latin typeface="Times New Roman"/>
                          <a:ea typeface="Times New Roman"/>
                          <a:cs typeface="Times New Roman"/>
                        </a:rPr>
                        <a:t>o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) is very </a:t>
                      </a: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lang="en-IN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155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Transfer characteristics are </a:t>
                      </a:r>
                      <a:r>
                        <a:rPr lang="en-US" sz="2000" b="1" dirty="0">
                          <a:latin typeface="Times New Roman"/>
                          <a:ea typeface="Times New Roman"/>
                          <a:cs typeface="Times New Roman"/>
                        </a:rPr>
                        <a:t>linear</a:t>
                      </a: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 in nature.</a:t>
                      </a: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Transfer characteristics are </a:t>
                      </a:r>
                      <a:r>
                        <a:rPr lang="en-US" sz="2000" b="1" dirty="0">
                          <a:latin typeface="Times New Roman"/>
                          <a:ea typeface="Times New Roman"/>
                          <a:cs typeface="Times New Roman"/>
                        </a:rPr>
                        <a:t>non-linear</a:t>
                      </a: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 in nature.</a:t>
                      </a: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57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BJT is More sensitive than MOSFET </a:t>
                      </a: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MOSFET is less Sensitive </a:t>
                      </a: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57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AC Voltage Gain is HIGH </a:t>
                      </a:r>
                      <a:endParaRPr lang="en-IN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AC Voltage Gain is Less </a:t>
                      </a: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57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  <a:cs typeface="Times New Roman"/>
                        </a:rPr>
                        <a:t>Bigger</a:t>
                      </a: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 in size.</a:t>
                      </a: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  <a:cs typeface="Times New Roman"/>
                        </a:rPr>
                        <a:t>Smaller</a:t>
                      </a: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 in size.</a:t>
                      </a: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0733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  <a:cs typeface="Times New Roman"/>
                        </a:rPr>
                        <a:t>Regions of operation:</a:t>
                      </a: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 Saturation – ON Switch , Cut off – OFF Switch</a:t>
                      </a: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Active – Amplifier </a:t>
                      </a: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31450" algn="r"/>
                        </a:tabLst>
                        <a:defRPr/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  <a:cs typeface="Times New Roman"/>
                        </a:rPr>
                        <a:t>Regions of operation:</a:t>
                      </a:r>
                      <a:r>
                        <a:rPr lang="en-IN" sz="2000" b="0" baseline="0" dirty="0">
                          <a:latin typeface="Calibri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  <a:cs typeface="Times New Roman"/>
                        </a:rPr>
                        <a:t>Ohmic</a:t>
                      </a: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 – ON Switch </a:t>
                      </a:r>
                      <a:r>
                        <a:rPr lang="en-IN" sz="2000" b="0" baseline="0" dirty="0">
                          <a:latin typeface="Calibri"/>
                          <a:ea typeface="Times New Roman"/>
                          <a:cs typeface="Times New Roman"/>
                        </a:rPr>
                        <a:t>,</a:t>
                      </a: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Saturation – Amplifier ,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31450" algn="r"/>
                        </a:tabLst>
                        <a:defRPr/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Cut off – OFF Switch </a:t>
                      </a: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57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It is </a:t>
                      </a:r>
                      <a:r>
                        <a:rPr lang="en-US" sz="2000" b="1" dirty="0">
                          <a:latin typeface="Times New Roman"/>
                          <a:ea typeface="Times New Roman"/>
                          <a:cs typeface="Times New Roman"/>
                        </a:rPr>
                        <a:t>more noisy.</a:t>
                      </a: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It is </a:t>
                      </a: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less noisy.</a:t>
                      </a:r>
                      <a:endParaRPr lang="en-IN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57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  <a:cs typeface="Times New Roman"/>
                        </a:rPr>
                        <a:t>Switching speed is less.</a:t>
                      </a: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Switching speed is high.</a:t>
                      </a:r>
                      <a:endParaRPr lang="en-IN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0515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  <a:cs typeface="Times New Roman"/>
                        </a:rPr>
                        <a:t>Symbol</a:t>
                      </a: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0331450" algn="r"/>
                        </a:tabLst>
                        <a:defRPr/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  <a:cs typeface="Times New Roman"/>
                        </a:rPr>
                        <a:t>Symbol</a:t>
                      </a:r>
                      <a:endParaRPr lang="en-IN" sz="2000" dirty="0">
                        <a:latin typeface="+mn-lt"/>
                        <a:ea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0331450" algn="r"/>
                        </a:tabLs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  <a:cs typeface="Times New Roman"/>
                        </a:rPr>
                        <a:t>               </a:t>
                      </a:r>
                      <a:endParaRPr lang="en-IN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3570" marR="535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pic>
        <p:nvPicPr>
          <p:cNvPr id="44078" name="Picture 1" descr="http://www.engineersblogsite.com/wp-content/uploads/2013/02/Transistor-diagram.jpg"/>
          <p:cNvPicPr>
            <a:picLocks noChangeAspect="1" noChangeArrowheads="1"/>
          </p:cNvPicPr>
          <p:nvPr/>
        </p:nvPicPr>
        <p:blipFill>
          <a:blip r:embed="rId2" cstate="print">
            <a:lum bright="-40000" contrast="4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46200" y="5983288"/>
            <a:ext cx="2362200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86425" y="6040438"/>
            <a:ext cx="1304925" cy="81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80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491413" y="5964238"/>
            <a:ext cx="1008062" cy="89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13E4FC-D44D-41F8-B428-AC3126A4EAC8}" type="slidenum">
              <a:rPr lang="en-US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425327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792162"/>
          </a:xfrm>
        </p:spPr>
        <p:txBody>
          <a:bodyPr/>
          <a:lstStyle/>
          <a:p>
            <a:r>
              <a:rPr lang="en-US" sz="3200" b="1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82947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915400" cy="5867400"/>
          </a:xfrm>
        </p:spPr>
        <p:txBody>
          <a:bodyPr/>
          <a:lstStyle/>
          <a:p>
            <a:pPr algn="just"/>
            <a:r>
              <a:rPr lang="en-US" sz="2800" dirty="0">
                <a:solidFill>
                  <a:srgbClr val="0000FF"/>
                </a:solidFill>
              </a:rPr>
              <a:t>Read the Instruction Manuals of equipment i.e. Car, Washing m/c, Microwave oven, Cell phone, Laptop etc. 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BJT is used rarely.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MOSFET is matured technology &amp; used everywhere.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MOSFET </a:t>
            </a:r>
            <a:r>
              <a:rPr lang="en-US" sz="2800" dirty="0" err="1">
                <a:solidFill>
                  <a:srgbClr val="0000FF"/>
                </a:solidFill>
              </a:rPr>
              <a:t>ckts</a:t>
            </a:r>
            <a:r>
              <a:rPr lang="en-US" sz="2800" dirty="0">
                <a:solidFill>
                  <a:srgbClr val="0000FF"/>
                </a:solidFill>
              </a:rPr>
              <a:t> have low dissipations, high swing &amp; integration.</a:t>
            </a:r>
          </a:p>
          <a:p>
            <a:pPr algn="just"/>
            <a:r>
              <a:rPr lang="en-US" sz="2800" dirty="0">
                <a:solidFill>
                  <a:srgbClr val="0000FF"/>
                </a:solidFill>
              </a:rPr>
              <a:t>Device / </a:t>
            </a:r>
            <a:r>
              <a:rPr lang="en-US" sz="2800" dirty="0" err="1">
                <a:solidFill>
                  <a:srgbClr val="0000FF"/>
                </a:solidFill>
              </a:rPr>
              <a:t>Ckt</a:t>
            </a:r>
            <a:r>
              <a:rPr lang="en-US" sz="2800" dirty="0">
                <a:solidFill>
                  <a:srgbClr val="0000FF"/>
                </a:solidFill>
              </a:rPr>
              <a:t> / Chip / Application designers are well respected. Less effect of recession</a:t>
            </a:r>
            <a:r>
              <a:rPr lang="en-US" sz="2800" dirty="0" smtClean="0">
                <a:solidFill>
                  <a:srgbClr val="0000FF"/>
                </a:solidFill>
              </a:rPr>
              <a:t>.</a:t>
            </a:r>
            <a:endParaRPr lang="en-US" sz="2800" dirty="0">
              <a:solidFill>
                <a:srgbClr val="0000FF"/>
              </a:solidFill>
            </a:endParaRPr>
          </a:p>
          <a:p>
            <a:pPr>
              <a:buNone/>
            </a:pPr>
            <a:endParaRPr lang="en-US" sz="2800" dirty="0">
              <a:solidFill>
                <a:srgbClr val="0000FF"/>
              </a:solidFill>
            </a:endParaRPr>
          </a:p>
          <a:p>
            <a:endParaRPr lang="en-US" sz="2800" dirty="0">
              <a:solidFill>
                <a:srgbClr val="0000FF"/>
              </a:solidFill>
            </a:endParaRPr>
          </a:p>
          <a:p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5A83AA-C81B-46EB-877F-C957CE9D3DAF}" type="slidenum">
              <a:rPr lang="en-US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383162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/>
        </p:nvSpPr>
        <p:spPr bwMode="auto">
          <a:xfrm>
            <a:off x="228600" y="1253331"/>
            <a:ext cx="83058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charset="0"/>
              <a:buNone/>
            </a:pPr>
            <a:endParaRPr lang="en-US" altLang="en-US" dirty="0"/>
          </a:p>
          <a:p>
            <a:pPr algn="ctr">
              <a:buFont typeface="Arial" charset="0"/>
              <a:buNone/>
            </a:pPr>
            <a:endParaRPr lang="en-US" altLang="en-US" dirty="0"/>
          </a:p>
          <a:p>
            <a:pPr algn="ctr">
              <a:buFont typeface="Arial" charset="0"/>
              <a:buNone/>
            </a:pPr>
            <a:endParaRPr lang="en-US" altLang="en-US" dirty="0"/>
          </a:p>
          <a:p>
            <a:pPr algn="ctr">
              <a:buFont typeface="Arial" charset="0"/>
              <a:buNone/>
            </a:pPr>
            <a:r>
              <a:rPr lang="en-US" altLang="en-US" sz="6600" b="1" i="1" dirty="0">
                <a:solidFill>
                  <a:schemeClr val="accent2"/>
                </a:solidFill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19399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</TotalTime>
  <Words>2246</Words>
  <Application>Microsoft Office PowerPoint</Application>
  <PresentationFormat>On-screen Show (4:3)</PresentationFormat>
  <Paragraphs>881</Paragraphs>
  <Slides>41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Slide 1</vt:lpstr>
      <vt:lpstr>Unit II : Transistors And Technology</vt:lpstr>
      <vt:lpstr>Contents</vt:lpstr>
      <vt:lpstr>Introduction </vt:lpstr>
      <vt:lpstr>History of Transistors</vt:lpstr>
      <vt:lpstr>Why is it called transistor ?</vt:lpstr>
      <vt:lpstr>N-P-N  transistor </vt:lpstr>
      <vt:lpstr>Slide 8</vt:lpstr>
      <vt:lpstr> transistor currents</vt:lpstr>
      <vt:lpstr>Number of P-N junctions and equivalent circuit </vt:lpstr>
      <vt:lpstr>An unbiased Transistor – Depletion region </vt:lpstr>
      <vt:lpstr>Transistor biasing in the active region </vt:lpstr>
      <vt:lpstr>Transistor operation in the active region P-N-P </vt:lpstr>
      <vt:lpstr>Transistor configuration</vt:lpstr>
      <vt:lpstr>Transistor operation in the active region N-P-N  common base configuration </vt:lpstr>
      <vt:lpstr>Transistor operation in the active region N-P-N common base configuration </vt:lpstr>
      <vt:lpstr>Current relations in CB configuration</vt:lpstr>
      <vt:lpstr>Characteristics of a transistor in CB configuration</vt:lpstr>
      <vt:lpstr>Characteristics of a transistor in CB configuration</vt:lpstr>
      <vt:lpstr>Characteristics of a transistor in CB configuration</vt:lpstr>
      <vt:lpstr>Characteristics of a transistor in CB configuration</vt:lpstr>
      <vt:lpstr>Characteristics of a transistor in CE configuration </vt:lpstr>
      <vt:lpstr>Characteristics of a transistor in CE configuration </vt:lpstr>
      <vt:lpstr>Characteristics of a transistor in CE configuration</vt:lpstr>
      <vt:lpstr>Comparison of configurations</vt:lpstr>
      <vt:lpstr>Transistor Biasing</vt:lpstr>
      <vt:lpstr>DC Load Line</vt:lpstr>
      <vt:lpstr>Typical Junction Voltages</vt:lpstr>
      <vt:lpstr>Biasing circuits</vt:lpstr>
      <vt:lpstr>Slide 30</vt:lpstr>
      <vt:lpstr>BJT Switch</vt:lpstr>
      <vt:lpstr>MOSFET FIELD-EFFECT TRANSISTORS ( FET)</vt:lpstr>
      <vt:lpstr>Current Controlled &amp; Voltage Controlled Devices</vt:lpstr>
      <vt:lpstr>Field Effect Transistors - Classification</vt:lpstr>
      <vt:lpstr>MOSFET (IGFET)</vt:lpstr>
      <vt:lpstr>ENHANCEMENT MOSFET ( E-MOSFET) </vt:lpstr>
      <vt:lpstr>Linear &amp; Saturation Regions</vt:lpstr>
      <vt:lpstr>Transfer &amp; Drain Characteristics</vt:lpstr>
      <vt:lpstr>Slide 39</vt:lpstr>
      <vt:lpstr>Conclusion</vt:lpstr>
      <vt:lpstr>Slide 41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RANE</dc:creator>
  <cp:lastModifiedBy>Admin</cp:lastModifiedBy>
  <cp:revision>141</cp:revision>
  <dcterms:created xsi:type="dcterms:W3CDTF">2020-04-02T13:22:55Z</dcterms:created>
  <dcterms:modified xsi:type="dcterms:W3CDTF">2025-10-09T08:59:23Z</dcterms:modified>
</cp:coreProperties>
</file>