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diagrams/data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70" r:id="rId2"/>
    <p:sldId id="269" r:id="rId3"/>
    <p:sldId id="343" r:id="rId4"/>
    <p:sldId id="344" r:id="rId5"/>
    <p:sldId id="348" r:id="rId6"/>
    <p:sldId id="349" r:id="rId7"/>
    <p:sldId id="350" r:id="rId8"/>
    <p:sldId id="355" r:id="rId9"/>
    <p:sldId id="356" r:id="rId10"/>
    <p:sldId id="357" r:id="rId11"/>
    <p:sldId id="358" r:id="rId12"/>
    <p:sldId id="359" r:id="rId13"/>
    <p:sldId id="361" r:id="rId14"/>
    <p:sldId id="362" r:id="rId15"/>
    <p:sldId id="363" r:id="rId16"/>
    <p:sldId id="364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6" r:id="rId34"/>
    <p:sldId id="302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886" autoAdjust="0"/>
    <p:restoredTop sz="92705" autoAdjust="0"/>
  </p:normalViewPr>
  <p:slideViewPr>
    <p:cSldViewPr>
      <p:cViewPr>
        <p:scale>
          <a:sx n="125" d="100"/>
          <a:sy n="125" d="100"/>
        </p:scale>
        <p:origin x="174" y="12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7CE3A9-08B1-41A1-9F84-BF4FBD85A02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3A94CBC-2B53-4A20-B95C-FBAD0505ACDA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sz="2400" dirty="0"/>
            <a:t>Intrinsic Semi-Conductor</a:t>
          </a:r>
        </a:p>
      </dgm:t>
    </dgm:pt>
    <dgm:pt modelId="{0CA135A4-01A6-4A01-820C-6E375594A1FF}" type="parTrans" cxnId="{D3B9FA21-045F-4D2E-A71D-9B163096C422}">
      <dgm:prSet/>
      <dgm:spPr/>
      <dgm:t>
        <a:bodyPr/>
        <a:lstStyle/>
        <a:p>
          <a:endParaRPr lang="en-US"/>
        </a:p>
      </dgm:t>
    </dgm:pt>
    <dgm:pt modelId="{CBCAA969-0204-4598-ABE5-CCEF83B133E3}" type="sibTrans" cxnId="{D3B9FA21-045F-4D2E-A71D-9B163096C422}">
      <dgm:prSet/>
      <dgm:spPr/>
      <dgm:t>
        <a:bodyPr/>
        <a:lstStyle/>
        <a:p>
          <a:endParaRPr lang="en-US"/>
        </a:p>
      </dgm:t>
    </dgm:pt>
    <dgm:pt modelId="{13AE179C-8E73-4819-AB66-9ACE274C5041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dirty="0"/>
            <a:t>Trivalent Impurity</a:t>
          </a:r>
        </a:p>
      </dgm:t>
    </dgm:pt>
    <dgm:pt modelId="{2368F1B6-989C-432F-BD64-BA10695D20DC}" type="parTrans" cxnId="{16C1B48A-48D9-4C4E-AD96-1C85D6059193}">
      <dgm:prSet/>
      <dgm:spPr/>
      <dgm:t>
        <a:bodyPr/>
        <a:lstStyle/>
        <a:p>
          <a:endParaRPr lang="en-US"/>
        </a:p>
      </dgm:t>
    </dgm:pt>
    <dgm:pt modelId="{553DF188-067E-4C0F-A3E6-A421C4129911}" type="sibTrans" cxnId="{16C1B48A-48D9-4C4E-AD96-1C85D6059193}">
      <dgm:prSet/>
      <dgm:spPr/>
      <dgm:t>
        <a:bodyPr/>
        <a:lstStyle/>
        <a:p>
          <a:endParaRPr lang="en-US"/>
        </a:p>
      </dgm:t>
    </dgm:pt>
    <dgm:pt modelId="{19D1AF78-FDE2-4CE3-A5FE-18434E6E35CB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dirty="0"/>
            <a:t>P Type </a:t>
          </a:r>
        </a:p>
        <a:p>
          <a:r>
            <a:rPr lang="en-US" dirty="0"/>
            <a:t>Semi-Conductor</a:t>
          </a:r>
        </a:p>
      </dgm:t>
    </dgm:pt>
    <dgm:pt modelId="{4F7E6735-7525-4EA3-935F-75FA27F9A883}" type="parTrans" cxnId="{D6B1FC64-62E9-41C7-96C6-4FD936DD998A}">
      <dgm:prSet/>
      <dgm:spPr/>
      <dgm:t>
        <a:bodyPr/>
        <a:lstStyle/>
        <a:p>
          <a:endParaRPr lang="en-US"/>
        </a:p>
      </dgm:t>
    </dgm:pt>
    <dgm:pt modelId="{EBF7F29B-3795-4494-AB00-62879892241C}" type="sibTrans" cxnId="{D6B1FC64-62E9-41C7-96C6-4FD936DD998A}">
      <dgm:prSet/>
      <dgm:spPr/>
      <dgm:t>
        <a:bodyPr/>
        <a:lstStyle/>
        <a:p>
          <a:endParaRPr lang="en-US"/>
        </a:p>
      </dgm:t>
    </dgm:pt>
    <dgm:pt modelId="{389A1048-4994-4653-BF91-9709C72C78CA}" type="pres">
      <dgm:prSet presAssocID="{237CE3A9-08B1-41A1-9F84-BF4FBD85A029}" presName="Name0" presStyleCnt="0">
        <dgm:presLayoutVars>
          <dgm:dir/>
          <dgm:resizeHandles val="exact"/>
        </dgm:presLayoutVars>
      </dgm:prSet>
      <dgm:spPr/>
    </dgm:pt>
    <dgm:pt modelId="{7F49F085-91B9-486F-AA6B-EF1AB2477356}" type="pres">
      <dgm:prSet presAssocID="{F3A94CBC-2B53-4A20-B95C-FBAD0505ACDA}" presName="node" presStyleLbl="node1" presStyleIdx="0" presStyleCnt="3" custScaleY="771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023E8E-277F-472F-B127-495C11205AFD}" type="pres">
      <dgm:prSet presAssocID="{CBCAA969-0204-4598-ABE5-CCEF83B133E3}" presName="sibTrans" presStyleLbl="sibTrans2D1" presStyleIdx="0" presStyleCnt="2"/>
      <dgm:spPr/>
      <dgm:t>
        <a:bodyPr/>
        <a:lstStyle/>
        <a:p>
          <a:endParaRPr lang="en-US"/>
        </a:p>
      </dgm:t>
    </dgm:pt>
    <dgm:pt modelId="{9C51253E-419A-412C-BEC7-9044DB0C3F62}" type="pres">
      <dgm:prSet presAssocID="{CBCAA969-0204-4598-ABE5-CCEF83B133E3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57738E09-C4D1-47EB-91C6-55FBC65C0AF7}" type="pres">
      <dgm:prSet presAssocID="{13AE179C-8E73-4819-AB66-9ACE274C5041}" presName="node" presStyleLbl="node1" presStyleIdx="1" presStyleCnt="3" custScaleY="771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774A32-83A7-4588-B9BD-25326BCBD4E6}" type="pres">
      <dgm:prSet presAssocID="{553DF188-067E-4C0F-A3E6-A421C4129911}" presName="sibTrans" presStyleLbl="sibTrans2D1" presStyleIdx="1" presStyleCnt="2"/>
      <dgm:spPr/>
      <dgm:t>
        <a:bodyPr/>
        <a:lstStyle/>
        <a:p>
          <a:endParaRPr lang="en-US"/>
        </a:p>
      </dgm:t>
    </dgm:pt>
    <dgm:pt modelId="{2B3D887E-D1EE-4F98-9C7B-45F628B755AA}" type="pres">
      <dgm:prSet presAssocID="{553DF188-067E-4C0F-A3E6-A421C4129911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2F809D14-3244-4DB6-943A-9FD46AD7CEBE}" type="pres">
      <dgm:prSet presAssocID="{19D1AF78-FDE2-4CE3-A5FE-18434E6E35CB}" presName="node" presStyleLbl="node1" presStyleIdx="2" presStyleCnt="3" custScaleY="771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596B418-5D8C-4A2C-9D72-353750875463}" type="presOf" srcId="{553DF188-067E-4C0F-A3E6-A421C4129911}" destId="{2B3D887E-D1EE-4F98-9C7B-45F628B755AA}" srcOrd="1" destOrd="0" presId="urn:microsoft.com/office/officeart/2005/8/layout/process1"/>
    <dgm:cxn modelId="{8CAF60C7-50CE-49F6-94DA-AC406F385B3D}" type="presOf" srcId="{F3A94CBC-2B53-4A20-B95C-FBAD0505ACDA}" destId="{7F49F085-91B9-486F-AA6B-EF1AB2477356}" srcOrd="0" destOrd="0" presId="urn:microsoft.com/office/officeart/2005/8/layout/process1"/>
    <dgm:cxn modelId="{136ED052-239C-4CAC-A213-CD594EC3B3C4}" type="presOf" srcId="{237CE3A9-08B1-41A1-9F84-BF4FBD85A029}" destId="{389A1048-4994-4653-BF91-9709C72C78CA}" srcOrd="0" destOrd="0" presId="urn:microsoft.com/office/officeart/2005/8/layout/process1"/>
    <dgm:cxn modelId="{D3B9FA21-045F-4D2E-A71D-9B163096C422}" srcId="{237CE3A9-08B1-41A1-9F84-BF4FBD85A029}" destId="{F3A94CBC-2B53-4A20-B95C-FBAD0505ACDA}" srcOrd="0" destOrd="0" parTransId="{0CA135A4-01A6-4A01-820C-6E375594A1FF}" sibTransId="{CBCAA969-0204-4598-ABE5-CCEF83B133E3}"/>
    <dgm:cxn modelId="{63C680A0-C41F-46EC-98DE-4155720F6DB2}" type="presOf" srcId="{13AE179C-8E73-4819-AB66-9ACE274C5041}" destId="{57738E09-C4D1-47EB-91C6-55FBC65C0AF7}" srcOrd="0" destOrd="0" presId="urn:microsoft.com/office/officeart/2005/8/layout/process1"/>
    <dgm:cxn modelId="{D6B1FC64-62E9-41C7-96C6-4FD936DD998A}" srcId="{237CE3A9-08B1-41A1-9F84-BF4FBD85A029}" destId="{19D1AF78-FDE2-4CE3-A5FE-18434E6E35CB}" srcOrd="2" destOrd="0" parTransId="{4F7E6735-7525-4EA3-935F-75FA27F9A883}" sibTransId="{EBF7F29B-3795-4494-AB00-62879892241C}"/>
    <dgm:cxn modelId="{57734C28-1FF8-4C2C-A06D-A6C9424E7A7D}" type="presOf" srcId="{553DF188-067E-4C0F-A3E6-A421C4129911}" destId="{71774A32-83A7-4588-B9BD-25326BCBD4E6}" srcOrd="0" destOrd="0" presId="urn:microsoft.com/office/officeart/2005/8/layout/process1"/>
    <dgm:cxn modelId="{65F4B434-2611-4C10-876D-07706F7A8D82}" type="presOf" srcId="{CBCAA969-0204-4598-ABE5-CCEF83B133E3}" destId="{85023E8E-277F-472F-B127-495C11205AFD}" srcOrd="0" destOrd="0" presId="urn:microsoft.com/office/officeart/2005/8/layout/process1"/>
    <dgm:cxn modelId="{16C1B48A-48D9-4C4E-AD96-1C85D6059193}" srcId="{237CE3A9-08B1-41A1-9F84-BF4FBD85A029}" destId="{13AE179C-8E73-4819-AB66-9ACE274C5041}" srcOrd="1" destOrd="0" parTransId="{2368F1B6-989C-432F-BD64-BA10695D20DC}" sibTransId="{553DF188-067E-4C0F-A3E6-A421C4129911}"/>
    <dgm:cxn modelId="{4B1BCEEE-4E2D-4165-8C9A-D6121DEAF0F2}" type="presOf" srcId="{19D1AF78-FDE2-4CE3-A5FE-18434E6E35CB}" destId="{2F809D14-3244-4DB6-943A-9FD46AD7CEBE}" srcOrd="0" destOrd="0" presId="urn:microsoft.com/office/officeart/2005/8/layout/process1"/>
    <dgm:cxn modelId="{B437386E-E84A-4568-9573-919092282FD3}" type="presOf" srcId="{CBCAA969-0204-4598-ABE5-CCEF83B133E3}" destId="{9C51253E-419A-412C-BEC7-9044DB0C3F62}" srcOrd="1" destOrd="0" presId="urn:microsoft.com/office/officeart/2005/8/layout/process1"/>
    <dgm:cxn modelId="{CA78E788-B384-4953-BDB8-D4ADC88E96A2}" type="presParOf" srcId="{389A1048-4994-4653-BF91-9709C72C78CA}" destId="{7F49F085-91B9-486F-AA6B-EF1AB2477356}" srcOrd="0" destOrd="0" presId="urn:microsoft.com/office/officeart/2005/8/layout/process1"/>
    <dgm:cxn modelId="{D6F76F0B-9928-4A5E-97BC-104ECD42234D}" type="presParOf" srcId="{389A1048-4994-4653-BF91-9709C72C78CA}" destId="{85023E8E-277F-472F-B127-495C11205AFD}" srcOrd="1" destOrd="0" presId="urn:microsoft.com/office/officeart/2005/8/layout/process1"/>
    <dgm:cxn modelId="{97E79A52-72AE-4A84-8CD6-5EC8482C5E50}" type="presParOf" srcId="{85023E8E-277F-472F-B127-495C11205AFD}" destId="{9C51253E-419A-412C-BEC7-9044DB0C3F62}" srcOrd="0" destOrd="0" presId="urn:microsoft.com/office/officeart/2005/8/layout/process1"/>
    <dgm:cxn modelId="{63063B56-EE2F-4841-829F-6D102182CF51}" type="presParOf" srcId="{389A1048-4994-4653-BF91-9709C72C78CA}" destId="{57738E09-C4D1-47EB-91C6-55FBC65C0AF7}" srcOrd="2" destOrd="0" presId="urn:microsoft.com/office/officeart/2005/8/layout/process1"/>
    <dgm:cxn modelId="{50FB34D7-ED14-4F09-BF88-AA5DAF0571BA}" type="presParOf" srcId="{389A1048-4994-4653-BF91-9709C72C78CA}" destId="{71774A32-83A7-4588-B9BD-25326BCBD4E6}" srcOrd="3" destOrd="0" presId="urn:microsoft.com/office/officeart/2005/8/layout/process1"/>
    <dgm:cxn modelId="{135394CC-9C1E-4F57-8FD3-B62FE1BFDF46}" type="presParOf" srcId="{71774A32-83A7-4588-B9BD-25326BCBD4E6}" destId="{2B3D887E-D1EE-4F98-9C7B-45F628B755AA}" srcOrd="0" destOrd="0" presId="urn:microsoft.com/office/officeart/2005/8/layout/process1"/>
    <dgm:cxn modelId="{D56866C1-DE68-45EC-BB95-63B12E327284}" type="presParOf" srcId="{389A1048-4994-4653-BF91-9709C72C78CA}" destId="{2F809D14-3244-4DB6-943A-9FD46AD7CEB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91A29-2E4D-401A-95C6-64B3D72ACE0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C2F0D79-2976-4B63-95B1-F38E5A49EB3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sz="2400" dirty="0"/>
            <a:t>Intrinsic Semi-Conductor</a:t>
          </a:r>
        </a:p>
      </dgm:t>
    </dgm:pt>
    <dgm:pt modelId="{587C6CF5-4711-4AEA-9C78-84BFB4D1FBDD}" type="parTrans" cxnId="{A0E19511-6A26-4B5C-9999-058C28F957D0}">
      <dgm:prSet/>
      <dgm:spPr/>
      <dgm:t>
        <a:bodyPr/>
        <a:lstStyle/>
        <a:p>
          <a:endParaRPr lang="en-US"/>
        </a:p>
      </dgm:t>
    </dgm:pt>
    <dgm:pt modelId="{B83B00CA-32AF-44D4-8E5B-D5DAFC5E27B0}" type="sibTrans" cxnId="{A0E19511-6A26-4B5C-9999-058C28F957D0}">
      <dgm:prSet/>
      <dgm:spPr/>
      <dgm:t>
        <a:bodyPr/>
        <a:lstStyle/>
        <a:p>
          <a:endParaRPr lang="en-US"/>
        </a:p>
      </dgm:t>
    </dgm:pt>
    <dgm:pt modelId="{817842D6-833E-4876-BF01-000C7DF446BA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dirty="0"/>
            <a:t>Pentavalent</a:t>
          </a:r>
        </a:p>
        <a:p>
          <a:r>
            <a:rPr lang="en-US" dirty="0"/>
            <a:t>Impurity</a:t>
          </a:r>
        </a:p>
      </dgm:t>
    </dgm:pt>
    <dgm:pt modelId="{0BE5D724-4788-4A99-9949-AC8187B1757F}" type="parTrans" cxnId="{A0A31265-B3A1-4327-9E95-EC546641F840}">
      <dgm:prSet/>
      <dgm:spPr/>
      <dgm:t>
        <a:bodyPr/>
        <a:lstStyle/>
        <a:p>
          <a:endParaRPr lang="en-US"/>
        </a:p>
      </dgm:t>
    </dgm:pt>
    <dgm:pt modelId="{2E938E9A-B470-4CFE-A04B-CE78D1C1ABBF}" type="sibTrans" cxnId="{A0A31265-B3A1-4327-9E95-EC546641F840}">
      <dgm:prSet/>
      <dgm:spPr/>
      <dgm:t>
        <a:bodyPr/>
        <a:lstStyle/>
        <a:p>
          <a:endParaRPr lang="en-US"/>
        </a:p>
      </dgm:t>
    </dgm:pt>
    <dgm:pt modelId="{98438E1C-9B08-4A84-A38C-24657FBE1969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dirty="0"/>
            <a:t>N Type </a:t>
          </a:r>
        </a:p>
        <a:p>
          <a:r>
            <a:rPr lang="en-US" dirty="0"/>
            <a:t>Semi-Conductor</a:t>
          </a:r>
        </a:p>
      </dgm:t>
    </dgm:pt>
    <dgm:pt modelId="{E6C1377E-7702-4E78-8AE3-E43BBCCAD7BB}" type="parTrans" cxnId="{283C2921-83C1-4147-96E4-F4F39D802B7C}">
      <dgm:prSet/>
      <dgm:spPr/>
      <dgm:t>
        <a:bodyPr/>
        <a:lstStyle/>
        <a:p>
          <a:endParaRPr lang="en-US"/>
        </a:p>
      </dgm:t>
    </dgm:pt>
    <dgm:pt modelId="{248AC1A2-3221-41FE-A982-AB2690642D62}" type="sibTrans" cxnId="{283C2921-83C1-4147-96E4-F4F39D802B7C}">
      <dgm:prSet/>
      <dgm:spPr/>
      <dgm:t>
        <a:bodyPr/>
        <a:lstStyle/>
        <a:p>
          <a:endParaRPr lang="en-US"/>
        </a:p>
      </dgm:t>
    </dgm:pt>
    <dgm:pt modelId="{5504B6CE-3781-4B21-9732-EA11BED19582}" type="pres">
      <dgm:prSet presAssocID="{20591A29-2E4D-401A-95C6-64B3D72ACE03}" presName="Name0" presStyleCnt="0">
        <dgm:presLayoutVars>
          <dgm:dir/>
          <dgm:resizeHandles val="exact"/>
        </dgm:presLayoutVars>
      </dgm:prSet>
      <dgm:spPr/>
    </dgm:pt>
    <dgm:pt modelId="{3BA98DAE-F6B6-4D2A-B567-55B1C23CD6EC}" type="pres">
      <dgm:prSet presAssocID="{DC2F0D79-2976-4B63-95B1-F38E5A49EB36}" presName="node" presStyleLbl="node1" presStyleIdx="0" presStyleCnt="3" custScaleY="844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8197C1-16E5-46C1-8C9D-3E12366DB14C}" type="pres">
      <dgm:prSet presAssocID="{B83B00CA-32AF-44D4-8E5B-D5DAFC5E27B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BA9EE5B-A63C-4650-8F63-E9B7AA73B865}" type="pres">
      <dgm:prSet presAssocID="{B83B00CA-32AF-44D4-8E5B-D5DAFC5E27B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A98FD8D0-089D-47C0-A99E-FD6C98116E3A}" type="pres">
      <dgm:prSet presAssocID="{817842D6-833E-4876-BF01-000C7DF446BA}" presName="node" presStyleLbl="node1" presStyleIdx="1" presStyleCnt="3" custScaleY="844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17A93-B58B-4AEE-AFE6-219252CB27D5}" type="pres">
      <dgm:prSet presAssocID="{2E938E9A-B470-4CFE-A04B-CE78D1C1ABBF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E6583D8-4882-42C8-B89D-15B5958BF51E}" type="pres">
      <dgm:prSet presAssocID="{2E938E9A-B470-4CFE-A04B-CE78D1C1ABBF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3D4240E8-FA95-4219-8D95-35E4D88CE946}" type="pres">
      <dgm:prSet presAssocID="{98438E1C-9B08-4A84-A38C-24657FBE1969}" presName="node" presStyleLbl="node1" presStyleIdx="2" presStyleCnt="3" custScaleY="844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BA2E32-AA9E-4A15-8098-EB8125498F5A}" type="presOf" srcId="{817842D6-833E-4876-BF01-000C7DF446BA}" destId="{A98FD8D0-089D-47C0-A99E-FD6C98116E3A}" srcOrd="0" destOrd="0" presId="urn:microsoft.com/office/officeart/2005/8/layout/process1"/>
    <dgm:cxn modelId="{1218E11A-C4ED-4E69-AEC8-B4A8E254169B}" type="presOf" srcId="{B83B00CA-32AF-44D4-8E5B-D5DAFC5E27B0}" destId="{D58197C1-16E5-46C1-8C9D-3E12366DB14C}" srcOrd="0" destOrd="0" presId="urn:microsoft.com/office/officeart/2005/8/layout/process1"/>
    <dgm:cxn modelId="{A0E19511-6A26-4B5C-9999-058C28F957D0}" srcId="{20591A29-2E4D-401A-95C6-64B3D72ACE03}" destId="{DC2F0D79-2976-4B63-95B1-F38E5A49EB36}" srcOrd="0" destOrd="0" parTransId="{587C6CF5-4711-4AEA-9C78-84BFB4D1FBDD}" sibTransId="{B83B00CA-32AF-44D4-8E5B-D5DAFC5E27B0}"/>
    <dgm:cxn modelId="{283C2921-83C1-4147-96E4-F4F39D802B7C}" srcId="{20591A29-2E4D-401A-95C6-64B3D72ACE03}" destId="{98438E1C-9B08-4A84-A38C-24657FBE1969}" srcOrd="2" destOrd="0" parTransId="{E6C1377E-7702-4E78-8AE3-E43BBCCAD7BB}" sibTransId="{248AC1A2-3221-41FE-A982-AB2690642D62}"/>
    <dgm:cxn modelId="{5A45E962-7D31-4910-8B29-3DD8E83B2145}" type="presOf" srcId="{B83B00CA-32AF-44D4-8E5B-D5DAFC5E27B0}" destId="{FBA9EE5B-A63C-4650-8F63-E9B7AA73B865}" srcOrd="1" destOrd="0" presId="urn:microsoft.com/office/officeart/2005/8/layout/process1"/>
    <dgm:cxn modelId="{513A2AFE-095C-42B5-B2DD-CFE8A26FC442}" type="presOf" srcId="{2E938E9A-B470-4CFE-A04B-CE78D1C1ABBF}" destId="{7D117A93-B58B-4AEE-AFE6-219252CB27D5}" srcOrd="0" destOrd="0" presId="urn:microsoft.com/office/officeart/2005/8/layout/process1"/>
    <dgm:cxn modelId="{51506653-C978-4BFF-B1D6-27D14EF1687C}" type="presOf" srcId="{2E938E9A-B470-4CFE-A04B-CE78D1C1ABBF}" destId="{CE6583D8-4882-42C8-B89D-15B5958BF51E}" srcOrd="1" destOrd="0" presId="urn:microsoft.com/office/officeart/2005/8/layout/process1"/>
    <dgm:cxn modelId="{A0A31265-B3A1-4327-9E95-EC546641F840}" srcId="{20591A29-2E4D-401A-95C6-64B3D72ACE03}" destId="{817842D6-833E-4876-BF01-000C7DF446BA}" srcOrd="1" destOrd="0" parTransId="{0BE5D724-4788-4A99-9949-AC8187B1757F}" sibTransId="{2E938E9A-B470-4CFE-A04B-CE78D1C1ABBF}"/>
    <dgm:cxn modelId="{26771833-CAE2-4039-A9D7-876102E62F95}" type="presOf" srcId="{20591A29-2E4D-401A-95C6-64B3D72ACE03}" destId="{5504B6CE-3781-4B21-9732-EA11BED19582}" srcOrd="0" destOrd="0" presId="urn:microsoft.com/office/officeart/2005/8/layout/process1"/>
    <dgm:cxn modelId="{1367D561-A41A-42B3-9808-2F1562C7688F}" type="presOf" srcId="{98438E1C-9B08-4A84-A38C-24657FBE1969}" destId="{3D4240E8-FA95-4219-8D95-35E4D88CE946}" srcOrd="0" destOrd="0" presId="urn:microsoft.com/office/officeart/2005/8/layout/process1"/>
    <dgm:cxn modelId="{EF379F9F-A4CB-4EE6-BF85-B0CC16A25073}" type="presOf" srcId="{DC2F0D79-2976-4B63-95B1-F38E5A49EB36}" destId="{3BA98DAE-F6B6-4D2A-B567-55B1C23CD6EC}" srcOrd="0" destOrd="0" presId="urn:microsoft.com/office/officeart/2005/8/layout/process1"/>
    <dgm:cxn modelId="{0923AAA3-7B01-42B0-87D3-6E59E53F32A0}" type="presParOf" srcId="{5504B6CE-3781-4B21-9732-EA11BED19582}" destId="{3BA98DAE-F6B6-4D2A-B567-55B1C23CD6EC}" srcOrd="0" destOrd="0" presId="urn:microsoft.com/office/officeart/2005/8/layout/process1"/>
    <dgm:cxn modelId="{D647CF3B-A35C-4BE4-A138-7B6B4D7F1321}" type="presParOf" srcId="{5504B6CE-3781-4B21-9732-EA11BED19582}" destId="{D58197C1-16E5-46C1-8C9D-3E12366DB14C}" srcOrd="1" destOrd="0" presId="urn:microsoft.com/office/officeart/2005/8/layout/process1"/>
    <dgm:cxn modelId="{FFE1800C-5BEE-41AC-9074-6F41849004BF}" type="presParOf" srcId="{D58197C1-16E5-46C1-8C9D-3E12366DB14C}" destId="{FBA9EE5B-A63C-4650-8F63-E9B7AA73B865}" srcOrd="0" destOrd="0" presId="urn:microsoft.com/office/officeart/2005/8/layout/process1"/>
    <dgm:cxn modelId="{923D72E3-9A6D-45C5-8AD5-CB3ED9042A05}" type="presParOf" srcId="{5504B6CE-3781-4B21-9732-EA11BED19582}" destId="{A98FD8D0-089D-47C0-A99E-FD6C98116E3A}" srcOrd="2" destOrd="0" presId="urn:microsoft.com/office/officeart/2005/8/layout/process1"/>
    <dgm:cxn modelId="{5CC2E231-E23A-4337-9B6B-D1A94EBEE2B9}" type="presParOf" srcId="{5504B6CE-3781-4B21-9732-EA11BED19582}" destId="{7D117A93-B58B-4AEE-AFE6-219252CB27D5}" srcOrd="3" destOrd="0" presId="urn:microsoft.com/office/officeart/2005/8/layout/process1"/>
    <dgm:cxn modelId="{10A2DF66-0A7A-4C7A-A222-F4B962BD3F2A}" type="presParOf" srcId="{7D117A93-B58B-4AEE-AFE6-219252CB27D5}" destId="{CE6583D8-4882-42C8-B89D-15B5958BF51E}" srcOrd="0" destOrd="0" presId="urn:microsoft.com/office/officeart/2005/8/layout/process1"/>
    <dgm:cxn modelId="{AE0B5D8C-883D-40DB-A324-606E22AD437B}" type="presParOf" srcId="{5504B6CE-3781-4B21-9732-EA11BED19582}" destId="{3D4240E8-FA95-4219-8D95-35E4D88CE94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7CE3A9-08B1-41A1-9F84-BF4FBD85A02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3A94CBC-2B53-4A20-B95C-FBAD0505ACDA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sz="2400" dirty="0"/>
            <a:t>Intrinsic Semi-Conductor</a:t>
          </a:r>
        </a:p>
      </dgm:t>
    </dgm:pt>
    <dgm:pt modelId="{0CA135A4-01A6-4A01-820C-6E375594A1FF}" type="parTrans" cxnId="{D3B9FA21-045F-4D2E-A71D-9B163096C422}">
      <dgm:prSet/>
      <dgm:spPr/>
      <dgm:t>
        <a:bodyPr/>
        <a:lstStyle/>
        <a:p>
          <a:endParaRPr lang="en-US"/>
        </a:p>
      </dgm:t>
    </dgm:pt>
    <dgm:pt modelId="{CBCAA969-0204-4598-ABE5-CCEF83B133E3}" type="sibTrans" cxnId="{D3B9FA21-045F-4D2E-A71D-9B163096C422}">
      <dgm:prSet/>
      <dgm:spPr/>
      <dgm:t>
        <a:bodyPr/>
        <a:lstStyle/>
        <a:p>
          <a:endParaRPr lang="en-US"/>
        </a:p>
      </dgm:t>
    </dgm:pt>
    <dgm:pt modelId="{13AE179C-8E73-4819-AB66-9ACE274C5041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dirty="0" err="1"/>
            <a:t>Dopping</a:t>
          </a:r>
          <a:r>
            <a:rPr lang="en-US" dirty="0"/>
            <a:t> </a:t>
          </a:r>
        </a:p>
        <a:p>
          <a:r>
            <a:rPr lang="en-US" dirty="0"/>
            <a:t>(with Impurity)</a:t>
          </a:r>
        </a:p>
      </dgm:t>
    </dgm:pt>
    <dgm:pt modelId="{2368F1B6-989C-432F-BD64-BA10695D20DC}" type="parTrans" cxnId="{16C1B48A-48D9-4C4E-AD96-1C85D6059193}">
      <dgm:prSet/>
      <dgm:spPr/>
      <dgm:t>
        <a:bodyPr/>
        <a:lstStyle/>
        <a:p>
          <a:endParaRPr lang="en-US"/>
        </a:p>
      </dgm:t>
    </dgm:pt>
    <dgm:pt modelId="{553DF188-067E-4C0F-A3E6-A421C4129911}" type="sibTrans" cxnId="{16C1B48A-48D9-4C4E-AD96-1C85D6059193}">
      <dgm:prSet/>
      <dgm:spPr/>
      <dgm:t>
        <a:bodyPr/>
        <a:lstStyle/>
        <a:p>
          <a:endParaRPr lang="en-US"/>
        </a:p>
      </dgm:t>
    </dgm:pt>
    <dgm:pt modelId="{19D1AF78-FDE2-4CE3-A5FE-18434E6E35CB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en-US" dirty="0"/>
            <a:t>Extrinsic</a:t>
          </a:r>
        </a:p>
        <a:p>
          <a:r>
            <a:rPr lang="en-US" dirty="0"/>
            <a:t>Semi-Conductor</a:t>
          </a:r>
        </a:p>
      </dgm:t>
    </dgm:pt>
    <dgm:pt modelId="{4F7E6735-7525-4EA3-935F-75FA27F9A883}" type="parTrans" cxnId="{D6B1FC64-62E9-41C7-96C6-4FD936DD998A}">
      <dgm:prSet/>
      <dgm:spPr/>
      <dgm:t>
        <a:bodyPr/>
        <a:lstStyle/>
        <a:p>
          <a:endParaRPr lang="en-US"/>
        </a:p>
      </dgm:t>
    </dgm:pt>
    <dgm:pt modelId="{EBF7F29B-3795-4494-AB00-62879892241C}" type="sibTrans" cxnId="{D6B1FC64-62E9-41C7-96C6-4FD936DD998A}">
      <dgm:prSet/>
      <dgm:spPr/>
      <dgm:t>
        <a:bodyPr/>
        <a:lstStyle/>
        <a:p>
          <a:endParaRPr lang="en-US"/>
        </a:p>
      </dgm:t>
    </dgm:pt>
    <dgm:pt modelId="{389A1048-4994-4653-BF91-9709C72C78CA}" type="pres">
      <dgm:prSet presAssocID="{237CE3A9-08B1-41A1-9F84-BF4FBD85A029}" presName="Name0" presStyleCnt="0">
        <dgm:presLayoutVars>
          <dgm:dir/>
          <dgm:resizeHandles val="exact"/>
        </dgm:presLayoutVars>
      </dgm:prSet>
      <dgm:spPr/>
    </dgm:pt>
    <dgm:pt modelId="{7F49F085-91B9-486F-AA6B-EF1AB2477356}" type="pres">
      <dgm:prSet presAssocID="{F3A94CBC-2B53-4A20-B95C-FBAD0505ACDA}" presName="node" presStyleLbl="node1" presStyleIdx="0" presStyleCnt="3" custScaleY="771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023E8E-277F-472F-B127-495C11205AFD}" type="pres">
      <dgm:prSet presAssocID="{CBCAA969-0204-4598-ABE5-CCEF83B133E3}" presName="sibTrans" presStyleLbl="sibTrans2D1" presStyleIdx="0" presStyleCnt="2"/>
      <dgm:spPr/>
      <dgm:t>
        <a:bodyPr/>
        <a:lstStyle/>
        <a:p>
          <a:endParaRPr lang="en-US"/>
        </a:p>
      </dgm:t>
    </dgm:pt>
    <dgm:pt modelId="{9C51253E-419A-412C-BEC7-9044DB0C3F62}" type="pres">
      <dgm:prSet presAssocID="{CBCAA969-0204-4598-ABE5-CCEF83B133E3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57738E09-C4D1-47EB-91C6-55FBC65C0AF7}" type="pres">
      <dgm:prSet presAssocID="{13AE179C-8E73-4819-AB66-9ACE274C5041}" presName="node" presStyleLbl="node1" presStyleIdx="1" presStyleCnt="3" custScaleY="771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774A32-83A7-4588-B9BD-25326BCBD4E6}" type="pres">
      <dgm:prSet presAssocID="{553DF188-067E-4C0F-A3E6-A421C4129911}" presName="sibTrans" presStyleLbl="sibTrans2D1" presStyleIdx="1" presStyleCnt="2"/>
      <dgm:spPr/>
      <dgm:t>
        <a:bodyPr/>
        <a:lstStyle/>
        <a:p>
          <a:endParaRPr lang="en-US"/>
        </a:p>
      </dgm:t>
    </dgm:pt>
    <dgm:pt modelId="{2B3D887E-D1EE-4F98-9C7B-45F628B755AA}" type="pres">
      <dgm:prSet presAssocID="{553DF188-067E-4C0F-A3E6-A421C4129911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2F809D14-3244-4DB6-943A-9FD46AD7CEBE}" type="pres">
      <dgm:prSet presAssocID="{19D1AF78-FDE2-4CE3-A5FE-18434E6E35CB}" presName="node" presStyleLbl="node1" presStyleIdx="2" presStyleCnt="3" custScaleY="771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93A76B-C9CD-4396-B230-CE41188CCAAE}" type="presOf" srcId="{553DF188-067E-4C0F-A3E6-A421C4129911}" destId="{71774A32-83A7-4588-B9BD-25326BCBD4E6}" srcOrd="0" destOrd="0" presId="urn:microsoft.com/office/officeart/2005/8/layout/process1"/>
    <dgm:cxn modelId="{D3B9FA21-045F-4D2E-A71D-9B163096C422}" srcId="{237CE3A9-08B1-41A1-9F84-BF4FBD85A029}" destId="{F3A94CBC-2B53-4A20-B95C-FBAD0505ACDA}" srcOrd="0" destOrd="0" parTransId="{0CA135A4-01A6-4A01-820C-6E375594A1FF}" sibTransId="{CBCAA969-0204-4598-ABE5-CCEF83B133E3}"/>
    <dgm:cxn modelId="{6E6670C7-7EBE-4C00-AF67-4FB83947BEF6}" type="presOf" srcId="{CBCAA969-0204-4598-ABE5-CCEF83B133E3}" destId="{9C51253E-419A-412C-BEC7-9044DB0C3F62}" srcOrd="1" destOrd="0" presId="urn:microsoft.com/office/officeart/2005/8/layout/process1"/>
    <dgm:cxn modelId="{FB37D1D1-5E57-4523-9DB6-DD0CF6334C56}" type="presOf" srcId="{553DF188-067E-4C0F-A3E6-A421C4129911}" destId="{2B3D887E-D1EE-4F98-9C7B-45F628B755AA}" srcOrd="1" destOrd="0" presId="urn:microsoft.com/office/officeart/2005/8/layout/process1"/>
    <dgm:cxn modelId="{D4AB4A8F-111C-42C9-8D09-32583C5C3E04}" type="presOf" srcId="{F3A94CBC-2B53-4A20-B95C-FBAD0505ACDA}" destId="{7F49F085-91B9-486F-AA6B-EF1AB2477356}" srcOrd="0" destOrd="0" presId="urn:microsoft.com/office/officeart/2005/8/layout/process1"/>
    <dgm:cxn modelId="{4C72EFDE-95F4-4FC4-B2E4-3D0B0F10A647}" type="presOf" srcId="{237CE3A9-08B1-41A1-9F84-BF4FBD85A029}" destId="{389A1048-4994-4653-BF91-9709C72C78CA}" srcOrd="0" destOrd="0" presId="urn:microsoft.com/office/officeart/2005/8/layout/process1"/>
    <dgm:cxn modelId="{D6B1FC64-62E9-41C7-96C6-4FD936DD998A}" srcId="{237CE3A9-08B1-41A1-9F84-BF4FBD85A029}" destId="{19D1AF78-FDE2-4CE3-A5FE-18434E6E35CB}" srcOrd="2" destOrd="0" parTransId="{4F7E6735-7525-4EA3-935F-75FA27F9A883}" sibTransId="{EBF7F29B-3795-4494-AB00-62879892241C}"/>
    <dgm:cxn modelId="{341C6C81-2054-4F16-8570-FCE8C029847C}" type="presOf" srcId="{13AE179C-8E73-4819-AB66-9ACE274C5041}" destId="{57738E09-C4D1-47EB-91C6-55FBC65C0AF7}" srcOrd="0" destOrd="0" presId="urn:microsoft.com/office/officeart/2005/8/layout/process1"/>
    <dgm:cxn modelId="{D902FE5E-3FFF-47BB-9E62-2765F9B5FECA}" type="presOf" srcId="{19D1AF78-FDE2-4CE3-A5FE-18434E6E35CB}" destId="{2F809D14-3244-4DB6-943A-9FD46AD7CEBE}" srcOrd="0" destOrd="0" presId="urn:microsoft.com/office/officeart/2005/8/layout/process1"/>
    <dgm:cxn modelId="{16C1B48A-48D9-4C4E-AD96-1C85D6059193}" srcId="{237CE3A9-08B1-41A1-9F84-BF4FBD85A029}" destId="{13AE179C-8E73-4819-AB66-9ACE274C5041}" srcOrd="1" destOrd="0" parTransId="{2368F1B6-989C-432F-BD64-BA10695D20DC}" sibTransId="{553DF188-067E-4C0F-A3E6-A421C4129911}"/>
    <dgm:cxn modelId="{BBCBBEBB-FCF4-4D2F-BAE7-BB39EBE71F07}" type="presOf" srcId="{CBCAA969-0204-4598-ABE5-CCEF83B133E3}" destId="{85023E8E-277F-472F-B127-495C11205AFD}" srcOrd="0" destOrd="0" presId="urn:microsoft.com/office/officeart/2005/8/layout/process1"/>
    <dgm:cxn modelId="{8C1FC344-824A-440B-AE99-C4E10A1EF6F6}" type="presParOf" srcId="{389A1048-4994-4653-BF91-9709C72C78CA}" destId="{7F49F085-91B9-486F-AA6B-EF1AB2477356}" srcOrd="0" destOrd="0" presId="urn:microsoft.com/office/officeart/2005/8/layout/process1"/>
    <dgm:cxn modelId="{85D78635-79D6-4041-923D-A6E16F0BE3D8}" type="presParOf" srcId="{389A1048-4994-4653-BF91-9709C72C78CA}" destId="{85023E8E-277F-472F-B127-495C11205AFD}" srcOrd="1" destOrd="0" presId="urn:microsoft.com/office/officeart/2005/8/layout/process1"/>
    <dgm:cxn modelId="{0B8949C1-FE2F-430C-87A9-00ABA51EA8CF}" type="presParOf" srcId="{85023E8E-277F-472F-B127-495C11205AFD}" destId="{9C51253E-419A-412C-BEC7-9044DB0C3F62}" srcOrd="0" destOrd="0" presId="urn:microsoft.com/office/officeart/2005/8/layout/process1"/>
    <dgm:cxn modelId="{1DB43A5F-D491-4F05-AEAC-AF78ACB2684F}" type="presParOf" srcId="{389A1048-4994-4653-BF91-9709C72C78CA}" destId="{57738E09-C4D1-47EB-91C6-55FBC65C0AF7}" srcOrd="2" destOrd="0" presId="urn:microsoft.com/office/officeart/2005/8/layout/process1"/>
    <dgm:cxn modelId="{6C78E407-C26B-489E-9171-B3DBF17A363B}" type="presParOf" srcId="{389A1048-4994-4653-BF91-9709C72C78CA}" destId="{71774A32-83A7-4588-B9BD-25326BCBD4E6}" srcOrd="3" destOrd="0" presId="urn:microsoft.com/office/officeart/2005/8/layout/process1"/>
    <dgm:cxn modelId="{ECE59577-C0AF-4E81-BB4A-98185FC61694}" type="presParOf" srcId="{71774A32-83A7-4588-B9BD-25326BCBD4E6}" destId="{2B3D887E-D1EE-4F98-9C7B-45F628B755AA}" srcOrd="0" destOrd="0" presId="urn:microsoft.com/office/officeart/2005/8/layout/process1"/>
    <dgm:cxn modelId="{D984030C-5F6E-48BA-AE6C-F063E60FA678}" type="presParOf" srcId="{389A1048-4994-4653-BF91-9709C72C78CA}" destId="{2F809D14-3244-4DB6-943A-9FD46AD7CEB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E4FC40-A5A3-49FD-86E4-133AE96E506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728878-E3E1-4467-BBDC-73FB3085794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Rectifier</a:t>
          </a:r>
        </a:p>
      </dgm:t>
    </dgm:pt>
    <dgm:pt modelId="{469EA4AC-C882-445B-B44A-0C3F421CB83B}" type="parTrans" cxnId="{88BF3BAC-F2E0-49C5-BAAF-419048154433}">
      <dgm:prSet/>
      <dgm:spPr/>
      <dgm:t>
        <a:bodyPr/>
        <a:lstStyle/>
        <a:p>
          <a:endParaRPr lang="en-US"/>
        </a:p>
      </dgm:t>
    </dgm:pt>
    <dgm:pt modelId="{25AD2BDA-FF38-4084-A8D6-3DDE510C89B7}" type="sibTrans" cxnId="{88BF3BAC-F2E0-49C5-BAAF-419048154433}">
      <dgm:prSet/>
      <dgm:spPr/>
      <dgm:t>
        <a:bodyPr/>
        <a:lstStyle/>
        <a:p>
          <a:endParaRPr lang="en-US"/>
        </a:p>
      </dgm:t>
    </dgm:pt>
    <dgm:pt modelId="{CE279D18-38DB-47D6-AC38-04C583204FA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HWR</a:t>
          </a:r>
        </a:p>
      </dgm:t>
    </dgm:pt>
    <dgm:pt modelId="{37B2E7B5-F04E-49C4-9114-D90AA8647071}" type="parTrans" cxnId="{DD5F5431-ADD7-4EB3-BD7A-8E8F7B16C001}">
      <dgm:prSet/>
      <dgm:spPr/>
      <dgm:t>
        <a:bodyPr/>
        <a:lstStyle/>
        <a:p>
          <a:endParaRPr lang="en-US"/>
        </a:p>
      </dgm:t>
    </dgm:pt>
    <dgm:pt modelId="{520A8183-8C91-49B0-82C7-CBF0279066C3}" type="sibTrans" cxnId="{DD5F5431-ADD7-4EB3-BD7A-8E8F7B16C001}">
      <dgm:prSet/>
      <dgm:spPr/>
      <dgm:t>
        <a:bodyPr/>
        <a:lstStyle/>
        <a:p>
          <a:endParaRPr lang="en-US"/>
        </a:p>
      </dgm:t>
    </dgm:pt>
    <dgm:pt modelId="{1DC06F20-F2C6-4A1A-99AE-8A15952AF0E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FWR-CTT</a:t>
          </a:r>
        </a:p>
      </dgm:t>
    </dgm:pt>
    <dgm:pt modelId="{84E8C34A-1977-45EC-A8A7-53E4856344CF}" type="parTrans" cxnId="{1C29B655-F234-431E-856C-5F6A28719763}">
      <dgm:prSet/>
      <dgm:spPr/>
      <dgm:t>
        <a:bodyPr/>
        <a:lstStyle/>
        <a:p>
          <a:endParaRPr lang="en-US"/>
        </a:p>
      </dgm:t>
    </dgm:pt>
    <dgm:pt modelId="{FA2AA0CF-A6F6-4F9B-8427-586F36414AB0}" type="sibTrans" cxnId="{1C29B655-F234-431E-856C-5F6A28719763}">
      <dgm:prSet/>
      <dgm:spPr/>
      <dgm:t>
        <a:bodyPr/>
        <a:lstStyle/>
        <a:p>
          <a:endParaRPr lang="en-US"/>
        </a:p>
      </dgm:t>
    </dgm:pt>
    <dgm:pt modelId="{1C01F61B-BE9F-4524-AEA3-4A493C7D104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FWR-Bridge</a:t>
          </a:r>
        </a:p>
      </dgm:t>
    </dgm:pt>
    <dgm:pt modelId="{AEA00D49-59E5-4132-AFEB-7E52A1BCB4C6}" type="parTrans" cxnId="{8C528349-C081-425C-A009-3526EBEFAF86}">
      <dgm:prSet/>
      <dgm:spPr/>
      <dgm:t>
        <a:bodyPr/>
        <a:lstStyle/>
        <a:p>
          <a:endParaRPr lang="en-US"/>
        </a:p>
      </dgm:t>
    </dgm:pt>
    <dgm:pt modelId="{64DCE5B1-009C-4558-B650-DEEFF5F446DE}" type="sibTrans" cxnId="{8C528349-C081-425C-A009-3526EBEFAF86}">
      <dgm:prSet/>
      <dgm:spPr/>
      <dgm:t>
        <a:bodyPr/>
        <a:lstStyle/>
        <a:p>
          <a:endParaRPr lang="en-US"/>
        </a:p>
      </dgm:t>
    </dgm:pt>
    <dgm:pt modelId="{F99C41AD-BF79-4829-924B-23A308C55B6B}" type="pres">
      <dgm:prSet presAssocID="{78E4FC40-A5A3-49FD-86E4-133AE96E506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543B75D-11D8-4305-800A-6BE3D100C896}" type="pres">
      <dgm:prSet presAssocID="{2E728878-E3E1-4467-BBDC-73FB3085794A}" presName="hierRoot1" presStyleCnt="0">
        <dgm:presLayoutVars>
          <dgm:hierBranch val="init"/>
        </dgm:presLayoutVars>
      </dgm:prSet>
      <dgm:spPr/>
    </dgm:pt>
    <dgm:pt modelId="{EE6A3490-41A0-4C4F-BFE1-1188AD6AA876}" type="pres">
      <dgm:prSet presAssocID="{2E728878-E3E1-4467-BBDC-73FB3085794A}" presName="rootComposite1" presStyleCnt="0"/>
      <dgm:spPr/>
    </dgm:pt>
    <dgm:pt modelId="{5ACF0C6E-E4B4-4952-AD90-DBBE91074CAD}" type="pres">
      <dgm:prSet presAssocID="{2E728878-E3E1-4467-BBDC-73FB3085794A}" presName="rootText1" presStyleLbl="node0" presStyleIdx="0" presStyleCnt="1" custScaleY="48694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05EDC4F-B789-4542-B99E-FE36E6E40B39}" type="pres">
      <dgm:prSet presAssocID="{2E728878-E3E1-4467-BBDC-73FB3085794A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E5591A8-62E2-478B-ABD6-3D92A983A429}" type="pres">
      <dgm:prSet presAssocID="{2E728878-E3E1-4467-BBDC-73FB3085794A}" presName="hierChild2" presStyleCnt="0"/>
      <dgm:spPr/>
    </dgm:pt>
    <dgm:pt modelId="{D07AABCB-F8FB-46EF-8CEC-5DEF8DCBDFFB}" type="pres">
      <dgm:prSet presAssocID="{37B2E7B5-F04E-49C4-9114-D90AA8647071}" presName="Name37" presStyleLbl="parChTrans1D2" presStyleIdx="0" presStyleCnt="3"/>
      <dgm:spPr/>
      <dgm:t>
        <a:bodyPr/>
        <a:lstStyle/>
        <a:p>
          <a:endParaRPr lang="en-US"/>
        </a:p>
      </dgm:t>
    </dgm:pt>
    <dgm:pt modelId="{28B14E48-CA46-4A57-B07B-FB7A8590289B}" type="pres">
      <dgm:prSet presAssocID="{CE279D18-38DB-47D6-AC38-04C583204FA8}" presName="hierRoot2" presStyleCnt="0">
        <dgm:presLayoutVars>
          <dgm:hierBranch val="init"/>
        </dgm:presLayoutVars>
      </dgm:prSet>
      <dgm:spPr/>
    </dgm:pt>
    <dgm:pt modelId="{4FE991BE-D66F-4F5A-86F6-579843F9F099}" type="pres">
      <dgm:prSet presAssocID="{CE279D18-38DB-47D6-AC38-04C583204FA8}" presName="rootComposite" presStyleCnt="0"/>
      <dgm:spPr/>
    </dgm:pt>
    <dgm:pt modelId="{3AFFE53E-DBBF-48DD-A564-B09465A8A347}" type="pres">
      <dgm:prSet presAssocID="{CE279D18-38DB-47D6-AC38-04C583204FA8}" presName="rootText" presStyleLbl="node2" presStyleIdx="0" presStyleCnt="3" custScaleY="48694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DCD29600-9248-455F-9EBE-93F6A2238C9A}" type="pres">
      <dgm:prSet presAssocID="{CE279D18-38DB-47D6-AC38-04C583204FA8}" presName="rootConnector" presStyleLbl="node2" presStyleIdx="0" presStyleCnt="3"/>
      <dgm:spPr/>
      <dgm:t>
        <a:bodyPr/>
        <a:lstStyle/>
        <a:p>
          <a:endParaRPr lang="en-US"/>
        </a:p>
      </dgm:t>
    </dgm:pt>
    <dgm:pt modelId="{29EA496F-5A50-47B0-96DE-B82A15275FB0}" type="pres">
      <dgm:prSet presAssocID="{CE279D18-38DB-47D6-AC38-04C583204FA8}" presName="hierChild4" presStyleCnt="0"/>
      <dgm:spPr/>
    </dgm:pt>
    <dgm:pt modelId="{2824B684-C51B-4648-88F1-32F582B34818}" type="pres">
      <dgm:prSet presAssocID="{CE279D18-38DB-47D6-AC38-04C583204FA8}" presName="hierChild5" presStyleCnt="0"/>
      <dgm:spPr/>
    </dgm:pt>
    <dgm:pt modelId="{87D0E83B-E26B-4AFC-8FA5-05F378C0F4F9}" type="pres">
      <dgm:prSet presAssocID="{84E8C34A-1977-45EC-A8A7-53E4856344CF}" presName="Name37" presStyleLbl="parChTrans1D2" presStyleIdx="1" presStyleCnt="3"/>
      <dgm:spPr/>
      <dgm:t>
        <a:bodyPr/>
        <a:lstStyle/>
        <a:p>
          <a:endParaRPr lang="en-US"/>
        </a:p>
      </dgm:t>
    </dgm:pt>
    <dgm:pt modelId="{8B0EC56B-2DA7-408E-B4A7-8ECA8CA7D35E}" type="pres">
      <dgm:prSet presAssocID="{1DC06F20-F2C6-4A1A-99AE-8A15952AF0E8}" presName="hierRoot2" presStyleCnt="0">
        <dgm:presLayoutVars>
          <dgm:hierBranch val="init"/>
        </dgm:presLayoutVars>
      </dgm:prSet>
      <dgm:spPr/>
    </dgm:pt>
    <dgm:pt modelId="{FDCA7471-83DD-4885-A534-69E4E8806EBD}" type="pres">
      <dgm:prSet presAssocID="{1DC06F20-F2C6-4A1A-99AE-8A15952AF0E8}" presName="rootComposite" presStyleCnt="0"/>
      <dgm:spPr/>
    </dgm:pt>
    <dgm:pt modelId="{C6638D45-DCCA-40B1-88B4-C6BBE7355D12}" type="pres">
      <dgm:prSet presAssocID="{1DC06F20-F2C6-4A1A-99AE-8A15952AF0E8}" presName="rootText" presStyleLbl="node2" presStyleIdx="1" presStyleCnt="3" custScaleY="48694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0C40352B-5AA6-42C7-BD1F-9A860EE7859E}" type="pres">
      <dgm:prSet presAssocID="{1DC06F20-F2C6-4A1A-99AE-8A15952AF0E8}" presName="rootConnector" presStyleLbl="node2" presStyleIdx="1" presStyleCnt="3"/>
      <dgm:spPr/>
      <dgm:t>
        <a:bodyPr/>
        <a:lstStyle/>
        <a:p>
          <a:endParaRPr lang="en-US"/>
        </a:p>
      </dgm:t>
    </dgm:pt>
    <dgm:pt modelId="{3E88C3CC-084C-4BA9-8FE6-F89A75FCECA3}" type="pres">
      <dgm:prSet presAssocID="{1DC06F20-F2C6-4A1A-99AE-8A15952AF0E8}" presName="hierChild4" presStyleCnt="0"/>
      <dgm:spPr/>
    </dgm:pt>
    <dgm:pt modelId="{5D5C2F7E-FCA8-46D2-BB6C-16B7D599B281}" type="pres">
      <dgm:prSet presAssocID="{1DC06F20-F2C6-4A1A-99AE-8A15952AF0E8}" presName="hierChild5" presStyleCnt="0"/>
      <dgm:spPr/>
    </dgm:pt>
    <dgm:pt modelId="{18C36202-9CDD-498F-97DC-2F5D3C1A687A}" type="pres">
      <dgm:prSet presAssocID="{AEA00D49-59E5-4132-AFEB-7E52A1BCB4C6}" presName="Name37" presStyleLbl="parChTrans1D2" presStyleIdx="2" presStyleCnt="3"/>
      <dgm:spPr/>
      <dgm:t>
        <a:bodyPr/>
        <a:lstStyle/>
        <a:p>
          <a:endParaRPr lang="en-US"/>
        </a:p>
      </dgm:t>
    </dgm:pt>
    <dgm:pt modelId="{9642C19B-0276-41E7-B499-BBECB9ACD3B0}" type="pres">
      <dgm:prSet presAssocID="{1C01F61B-BE9F-4524-AEA3-4A493C7D104E}" presName="hierRoot2" presStyleCnt="0">
        <dgm:presLayoutVars>
          <dgm:hierBranch val="init"/>
        </dgm:presLayoutVars>
      </dgm:prSet>
      <dgm:spPr/>
    </dgm:pt>
    <dgm:pt modelId="{AA7C68D4-3807-48B1-8AA9-F27B5E9D7B27}" type="pres">
      <dgm:prSet presAssocID="{1C01F61B-BE9F-4524-AEA3-4A493C7D104E}" presName="rootComposite" presStyleCnt="0"/>
      <dgm:spPr/>
    </dgm:pt>
    <dgm:pt modelId="{39576949-1FD6-4F62-9F85-DD621422F773}" type="pres">
      <dgm:prSet presAssocID="{1C01F61B-BE9F-4524-AEA3-4A493C7D104E}" presName="rootText" presStyleLbl="node2" presStyleIdx="2" presStyleCnt="3" custScaleY="48694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3C865B9E-535E-4F9B-845E-C854D47958C6}" type="pres">
      <dgm:prSet presAssocID="{1C01F61B-BE9F-4524-AEA3-4A493C7D104E}" presName="rootConnector" presStyleLbl="node2" presStyleIdx="2" presStyleCnt="3"/>
      <dgm:spPr/>
      <dgm:t>
        <a:bodyPr/>
        <a:lstStyle/>
        <a:p>
          <a:endParaRPr lang="en-US"/>
        </a:p>
      </dgm:t>
    </dgm:pt>
    <dgm:pt modelId="{C10A2EC8-83CD-4F2A-83F5-B578C2F834FC}" type="pres">
      <dgm:prSet presAssocID="{1C01F61B-BE9F-4524-AEA3-4A493C7D104E}" presName="hierChild4" presStyleCnt="0"/>
      <dgm:spPr/>
    </dgm:pt>
    <dgm:pt modelId="{A8F04471-CD17-4DD0-9A7C-6B44547D257C}" type="pres">
      <dgm:prSet presAssocID="{1C01F61B-BE9F-4524-AEA3-4A493C7D104E}" presName="hierChild5" presStyleCnt="0"/>
      <dgm:spPr/>
    </dgm:pt>
    <dgm:pt modelId="{BD0856FA-94AD-40FD-88F0-EEC39531103E}" type="pres">
      <dgm:prSet presAssocID="{2E728878-E3E1-4467-BBDC-73FB3085794A}" presName="hierChild3" presStyleCnt="0"/>
      <dgm:spPr/>
    </dgm:pt>
  </dgm:ptLst>
  <dgm:cxnLst>
    <dgm:cxn modelId="{C92DEEEC-759E-4EC2-89F7-80794F14EF9D}" type="presOf" srcId="{1DC06F20-F2C6-4A1A-99AE-8A15952AF0E8}" destId="{0C40352B-5AA6-42C7-BD1F-9A860EE7859E}" srcOrd="1" destOrd="0" presId="urn:microsoft.com/office/officeart/2005/8/layout/orgChart1"/>
    <dgm:cxn modelId="{FE3460FC-7175-445E-8C02-4534F337D394}" type="presOf" srcId="{CE279D18-38DB-47D6-AC38-04C583204FA8}" destId="{DCD29600-9248-455F-9EBE-93F6A2238C9A}" srcOrd="1" destOrd="0" presId="urn:microsoft.com/office/officeart/2005/8/layout/orgChart1"/>
    <dgm:cxn modelId="{7DF36759-1447-484C-BAA1-7F2AECC20459}" type="presOf" srcId="{37B2E7B5-F04E-49C4-9114-D90AA8647071}" destId="{D07AABCB-F8FB-46EF-8CEC-5DEF8DCBDFFB}" srcOrd="0" destOrd="0" presId="urn:microsoft.com/office/officeart/2005/8/layout/orgChart1"/>
    <dgm:cxn modelId="{90834A92-5E35-456A-A0B1-2C6E65F707CA}" type="presOf" srcId="{CE279D18-38DB-47D6-AC38-04C583204FA8}" destId="{3AFFE53E-DBBF-48DD-A564-B09465A8A347}" srcOrd="0" destOrd="0" presId="urn:microsoft.com/office/officeart/2005/8/layout/orgChart1"/>
    <dgm:cxn modelId="{4E151CB3-F613-466B-97C6-D7A4736A9095}" type="presOf" srcId="{1C01F61B-BE9F-4524-AEA3-4A493C7D104E}" destId="{39576949-1FD6-4F62-9F85-DD621422F773}" srcOrd="0" destOrd="0" presId="urn:microsoft.com/office/officeart/2005/8/layout/orgChart1"/>
    <dgm:cxn modelId="{44930314-8244-4F19-A7C2-349711754824}" type="presOf" srcId="{1DC06F20-F2C6-4A1A-99AE-8A15952AF0E8}" destId="{C6638D45-DCCA-40B1-88B4-C6BBE7355D12}" srcOrd="0" destOrd="0" presId="urn:microsoft.com/office/officeart/2005/8/layout/orgChart1"/>
    <dgm:cxn modelId="{7ADB28D7-D440-4DD7-950D-81C204448D37}" type="presOf" srcId="{1C01F61B-BE9F-4524-AEA3-4A493C7D104E}" destId="{3C865B9E-535E-4F9B-845E-C854D47958C6}" srcOrd="1" destOrd="0" presId="urn:microsoft.com/office/officeart/2005/8/layout/orgChart1"/>
    <dgm:cxn modelId="{B6499AC2-CC62-49B5-9DA7-7BE081C493DC}" type="presOf" srcId="{AEA00D49-59E5-4132-AFEB-7E52A1BCB4C6}" destId="{18C36202-9CDD-498F-97DC-2F5D3C1A687A}" srcOrd="0" destOrd="0" presId="urn:microsoft.com/office/officeart/2005/8/layout/orgChart1"/>
    <dgm:cxn modelId="{DD5F5431-ADD7-4EB3-BD7A-8E8F7B16C001}" srcId="{2E728878-E3E1-4467-BBDC-73FB3085794A}" destId="{CE279D18-38DB-47D6-AC38-04C583204FA8}" srcOrd="0" destOrd="0" parTransId="{37B2E7B5-F04E-49C4-9114-D90AA8647071}" sibTransId="{520A8183-8C91-49B0-82C7-CBF0279066C3}"/>
    <dgm:cxn modelId="{88BF3BAC-F2E0-49C5-BAAF-419048154433}" srcId="{78E4FC40-A5A3-49FD-86E4-133AE96E506B}" destId="{2E728878-E3E1-4467-BBDC-73FB3085794A}" srcOrd="0" destOrd="0" parTransId="{469EA4AC-C882-445B-B44A-0C3F421CB83B}" sibTransId="{25AD2BDA-FF38-4084-A8D6-3DDE510C89B7}"/>
    <dgm:cxn modelId="{8C528349-C081-425C-A009-3526EBEFAF86}" srcId="{2E728878-E3E1-4467-BBDC-73FB3085794A}" destId="{1C01F61B-BE9F-4524-AEA3-4A493C7D104E}" srcOrd="2" destOrd="0" parTransId="{AEA00D49-59E5-4132-AFEB-7E52A1BCB4C6}" sibTransId="{64DCE5B1-009C-4558-B650-DEEFF5F446DE}"/>
    <dgm:cxn modelId="{1C29B655-F234-431E-856C-5F6A28719763}" srcId="{2E728878-E3E1-4467-BBDC-73FB3085794A}" destId="{1DC06F20-F2C6-4A1A-99AE-8A15952AF0E8}" srcOrd="1" destOrd="0" parTransId="{84E8C34A-1977-45EC-A8A7-53E4856344CF}" sibTransId="{FA2AA0CF-A6F6-4F9B-8427-586F36414AB0}"/>
    <dgm:cxn modelId="{F00373B3-12E7-49B4-87C3-B6CD92CBFD18}" type="presOf" srcId="{84E8C34A-1977-45EC-A8A7-53E4856344CF}" destId="{87D0E83B-E26B-4AFC-8FA5-05F378C0F4F9}" srcOrd="0" destOrd="0" presId="urn:microsoft.com/office/officeart/2005/8/layout/orgChart1"/>
    <dgm:cxn modelId="{B6C19AB9-869F-448F-958E-77A29F9DF402}" type="presOf" srcId="{2E728878-E3E1-4467-BBDC-73FB3085794A}" destId="{5ACF0C6E-E4B4-4952-AD90-DBBE91074CAD}" srcOrd="0" destOrd="0" presId="urn:microsoft.com/office/officeart/2005/8/layout/orgChart1"/>
    <dgm:cxn modelId="{2A89F153-72D7-4333-86E3-12284E3607A1}" type="presOf" srcId="{78E4FC40-A5A3-49FD-86E4-133AE96E506B}" destId="{F99C41AD-BF79-4829-924B-23A308C55B6B}" srcOrd="0" destOrd="0" presId="urn:microsoft.com/office/officeart/2005/8/layout/orgChart1"/>
    <dgm:cxn modelId="{6495360B-AAB1-4D57-ABE7-06D13D304EE1}" type="presOf" srcId="{2E728878-E3E1-4467-BBDC-73FB3085794A}" destId="{905EDC4F-B789-4542-B99E-FE36E6E40B39}" srcOrd="1" destOrd="0" presId="urn:microsoft.com/office/officeart/2005/8/layout/orgChart1"/>
    <dgm:cxn modelId="{16E38BEA-2B29-4687-BE99-B70E2C686362}" type="presParOf" srcId="{F99C41AD-BF79-4829-924B-23A308C55B6B}" destId="{0543B75D-11D8-4305-800A-6BE3D100C896}" srcOrd="0" destOrd="0" presId="urn:microsoft.com/office/officeart/2005/8/layout/orgChart1"/>
    <dgm:cxn modelId="{0419A845-486F-4A13-977C-F4EF167AA0AE}" type="presParOf" srcId="{0543B75D-11D8-4305-800A-6BE3D100C896}" destId="{EE6A3490-41A0-4C4F-BFE1-1188AD6AA876}" srcOrd="0" destOrd="0" presId="urn:microsoft.com/office/officeart/2005/8/layout/orgChart1"/>
    <dgm:cxn modelId="{6C9BAAF5-BCA7-4C89-90B4-6DFB2FBD9A58}" type="presParOf" srcId="{EE6A3490-41A0-4C4F-BFE1-1188AD6AA876}" destId="{5ACF0C6E-E4B4-4952-AD90-DBBE91074CAD}" srcOrd="0" destOrd="0" presId="urn:microsoft.com/office/officeart/2005/8/layout/orgChart1"/>
    <dgm:cxn modelId="{88FDEA28-D7E6-4660-8803-3EDF93A6B77D}" type="presParOf" srcId="{EE6A3490-41A0-4C4F-BFE1-1188AD6AA876}" destId="{905EDC4F-B789-4542-B99E-FE36E6E40B39}" srcOrd="1" destOrd="0" presId="urn:microsoft.com/office/officeart/2005/8/layout/orgChart1"/>
    <dgm:cxn modelId="{A34D6D78-C42C-44B4-A80F-EAF324FD67DA}" type="presParOf" srcId="{0543B75D-11D8-4305-800A-6BE3D100C896}" destId="{7E5591A8-62E2-478B-ABD6-3D92A983A429}" srcOrd="1" destOrd="0" presId="urn:microsoft.com/office/officeart/2005/8/layout/orgChart1"/>
    <dgm:cxn modelId="{1CF01020-090D-4A58-878F-8AE359264A80}" type="presParOf" srcId="{7E5591A8-62E2-478B-ABD6-3D92A983A429}" destId="{D07AABCB-F8FB-46EF-8CEC-5DEF8DCBDFFB}" srcOrd="0" destOrd="0" presId="urn:microsoft.com/office/officeart/2005/8/layout/orgChart1"/>
    <dgm:cxn modelId="{9A61497D-0894-45DF-8119-3D4CC8FB7F4D}" type="presParOf" srcId="{7E5591A8-62E2-478B-ABD6-3D92A983A429}" destId="{28B14E48-CA46-4A57-B07B-FB7A8590289B}" srcOrd="1" destOrd="0" presId="urn:microsoft.com/office/officeart/2005/8/layout/orgChart1"/>
    <dgm:cxn modelId="{6C00E2B6-4EB1-4049-B715-719F439219E7}" type="presParOf" srcId="{28B14E48-CA46-4A57-B07B-FB7A8590289B}" destId="{4FE991BE-D66F-4F5A-86F6-579843F9F099}" srcOrd="0" destOrd="0" presId="urn:microsoft.com/office/officeart/2005/8/layout/orgChart1"/>
    <dgm:cxn modelId="{E971CA47-ED97-4586-B2A0-AE93745223BD}" type="presParOf" srcId="{4FE991BE-D66F-4F5A-86F6-579843F9F099}" destId="{3AFFE53E-DBBF-48DD-A564-B09465A8A347}" srcOrd="0" destOrd="0" presId="urn:microsoft.com/office/officeart/2005/8/layout/orgChart1"/>
    <dgm:cxn modelId="{207AEFF0-59A6-4BA5-ACC3-8665C54E0430}" type="presParOf" srcId="{4FE991BE-D66F-4F5A-86F6-579843F9F099}" destId="{DCD29600-9248-455F-9EBE-93F6A2238C9A}" srcOrd="1" destOrd="0" presId="urn:microsoft.com/office/officeart/2005/8/layout/orgChart1"/>
    <dgm:cxn modelId="{26B9A1E1-D294-44CD-A5DC-6A76B4C8293D}" type="presParOf" srcId="{28B14E48-CA46-4A57-B07B-FB7A8590289B}" destId="{29EA496F-5A50-47B0-96DE-B82A15275FB0}" srcOrd="1" destOrd="0" presId="urn:microsoft.com/office/officeart/2005/8/layout/orgChart1"/>
    <dgm:cxn modelId="{A1409F2F-B0B0-4326-A518-75BD735A559F}" type="presParOf" srcId="{28B14E48-CA46-4A57-B07B-FB7A8590289B}" destId="{2824B684-C51B-4648-88F1-32F582B34818}" srcOrd="2" destOrd="0" presId="urn:microsoft.com/office/officeart/2005/8/layout/orgChart1"/>
    <dgm:cxn modelId="{511404E7-FABD-4252-8C6C-4D2EF1919FDF}" type="presParOf" srcId="{7E5591A8-62E2-478B-ABD6-3D92A983A429}" destId="{87D0E83B-E26B-4AFC-8FA5-05F378C0F4F9}" srcOrd="2" destOrd="0" presId="urn:microsoft.com/office/officeart/2005/8/layout/orgChart1"/>
    <dgm:cxn modelId="{767D2F39-3CB4-46BE-97B8-1F029EC910F4}" type="presParOf" srcId="{7E5591A8-62E2-478B-ABD6-3D92A983A429}" destId="{8B0EC56B-2DA7-408E-B4A7-8ECA8CA7D35E}" srcOrd="3" destOrd="0" presId="urn:microsoft.com/office/officeart/2005/8/layout/orgChart1"/>
    <dgm:cxn modelId="{B75D9280-137E-474A-B2A9-2DCC8026337E}" type="presParOf" srcId="{8B0EC56B-2DA7-408E-B4A7-8ECA8CA7D35E}" destId="{FDCA7471-83DD-4885-A534-69E4E8806EBD}" srcOrd="0" destOrd="0" presId="urn:microsoft.com/office/officeart/2005/8/layout/orgChart1"/>
    <dgm:cxn modelId="{AEDEAD14-78D7-4026-B734-DD4BC542F61F}" type="presParOf" srcId="{FDCA7471-83DD-4885-A534-69E4E8806EBD}" destId="{C6638D45-DCCA-40B1-88B4-C6BBE7355D12}" srcOrd="0" destOrd="0" presId="urn:microsoft.com/office/officeart/2005/8/layout/orgChart1"/>
    <dgm:cxn modelId="{3813D287-ADB5-47F5-9749-531F91BBAC3A}" type="presParOf" srcId="{FDCA7471-83DD-4885-A534-69E4E8806EBD}" destId="{0C40352B-5AA6-42C7-BD1F-9A860EE7859E}" srcOrd="1" destOrd="0" presId="urn:microsoft.com/office/officeart/2005/8/layout/orgChart1"/>
    <dgm:cxn modelId="{2E1C101B-50D0-4E99-B782-022B40483B4F}" type="presParOf" srcId="{8B0EC56B-2DA7-408E-B4A7-8ECA8CA7D35E}" destId="{3E88C3CC-084C-4BA9-8FE6-F89A75FCECA3}" srcOrd="1" destOrd="0" presId="urn:microsoft.com/office/officeart/2005/8/layout/orgChart1"/>
    <dgm:cxn modelId="{B97BBFE4-C969-4B64-A56E-9D6A0EB293E8}" type="presParOf" srcId="{8B0EC56B-2DA7-408E-B4A7-8ECA8CA7D35E}" destId="{5D5C2F7E-FCA8-46D2-BB6C-16B7D599B281}" srcOrd="2" destOrd="0" presId="urn:microsoft.com/office/officeart/2005/8/layout/orgChart1"/>
    <dgm:cxn modelId="{27666BC7-C4F9-46D2-866A-549A405A8036}" type="presParOf" srcId="{7E5591A8-62E2-478B-ABD6-3D92A983A429}" destId="{18C36202-9CDD-498F-97DC-2F5D3C1A687A}" srcOrd="4" destOrd="0" presId="urn:microsoft.com/office/officeart/2005/8/layout/orgChart1"/>
    <dgm:cxn modelId="{B53D5C8C-1322-41D2-8155-92543F5662A0}" type="presParOf" srcId="{7E5591A8-62E2-478B-ABD6-3D92A983A429}" destId="{9642C19B-0276-41E7-B499-BBECB9ACD3B0}" srcOrd="5" destOrd="0" presId="urn:microsoft.com/office/officeart/2005/8/layout/orgChart1"/>
    <dgm:cxn modelId="{F8C995E7-4C6C-445F-A958-F420EB3FE71F}" type="presParOf" srcId="{9642C19B-0276-41E7-B499-BBECB9ACD3B0}" destId="{AA7C68D4-3807-48B1-8AA9-F27B5E9D7B27}" srcOrd="0" destOrd="0" presId="urn:microsoft.com/office/officeart/2005/8/layout/orgChart1"/>
    <dgm:cxn modelId="{045CD9F4-C552-4B69-9133-75E8FDB14348}" type="presParOf" srcId="{AA7C68D4-3807-48B1-8AA9-F27B5E9D7B27}" destId="{39576949-1FD6-4F62-9F85-DD621422F773}" srcOrd="0" destOrd="0" presId="urn:microsoft.com/office/officeart/2005/8/layout/orgChart1"/>
    <dgm:cxn modelId="{17FCC6E0-7197-49C5-BDA8-C0465D77F8C0}" type="presParOf" srcId="{AA7C68D4-3807-48B1-8AA9-F27B5E9D7B27}" destId="{3C865B9E-535E-4F9B-845E-C854D47958C6}" srcOrd="1" destOrd="0" presId="urn:microsoft.com/office/officeart/2005/8/layout/orgChart1"/>
    <dgm:cxn modelId="{038EC2E8-7EC2-41A5-A860-563FD9B4F9C3}" type="presParOf" srcId="{9642C19B-0276-41E7-B499-BBECB9ACD3B0}" destId="{C10A2EC8-83CD-4F2A-83F5-B578C2F834FC}" srcOrd="1" destOrd="0" presId="urn:microsoft.com/office/officeart/2005/8/layout/orgChart1"/>
    <dgm:cxn modelId="{5AB65552-48D4-42A7-8FC5-14392A55A538}" type="presParOf" srcId="{9642C19B-0276-41E7-B499-BBECB9ACD3B0}" destId="{A8F04471-CD17-4DD0-9A7C-6B44547D257C}" srcOrd="2" destOrd="0" presId="urn:microsoft.com/office/officeart/2005/8/layout/orgChart1"/>
    <dgm:cxn modelId="{339282D5-7629-4912-B4A6-2500BDD2FEB0}" type="presParOf" srcId="{0543B75D-11D8-4305-800A-6BE3D100C896}" destId="{BD0856FA-94AD-40FD-88F0-EEC39531103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9F085-91B9-486F-AA6B-EF1AB2477356}">
      <dsp:nvSpPr>
        <dsp:cNvPr id="0" name=""/>
        <dsp:cNvSpPr/>
      </dsp:nvSpPr>
      <dsp:spPr>
        <a:xfrm>
          <a:off x="9370" y="189437"/>
          <a:ext cx="1799805" cy="992725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Intrinsic Semi-Conductor</a:t>
          </a:r>
        </a:p>
      </dsp:txBody>
      <dsp:txXfrm>
        <a:off x="38446" y="218513"/>
        <a:ext cx="1741653" cy="934573"/>
      </dsp:txXfrm>
    </dsp:sp>
    <dsp:sp modelId="{85023E8E-277F-472F-B127-495C11205AFD}">
      <dsp:nvSpPr>
        <dsp:cNvPr id="0" name=""/>
        <dsp:cNvSpPr/>
      </dsp:nvSpPr>
      <dsp:spPr>
        <a:xfrm>
          <a:off x="1989155" y="462624"/>
          <a:ext cx="381558" cy="4463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989155" y="551894"/>
        <a:ext cx="267091" cy="267811"/>
      </dsp:txXfrm>
    </dsp:sp>
    <dsp:sp modelId="{57738E09-C4D1-47EB-91C6-55FBC65C0AF7}">
      <dsp:nvSpPr>
        <dsp:cNvPr id="0" name=""/>
        <dsp:cNvSpPr/>
      </dsp:nvSpPr>
      <dsp:spPr>
        <a:xfrm>
          <a:off x="2529097" y="189437"/>
          <a:ext cx="1799805" cy="992725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Trivalent Impurity</a:t>
          </a:r>
        </a:p>
      </dsp:txBody>
      <dsp:txXfrm>
        <a:off x="2558173" y="218513"/>
        <a:ext cx="1741653" cy="934573"/>
      </dsp:txXfrm>
    </dsp:sp>
    <dsp:sp modelId="{71774A32-83A7-4588-B9BD-25326BCBD4E6}">
      <dsp:nvSpPr>
        <dsp:cNvPr id="0" name=""/>
        <dsp:cNvSpPr/>
      </dsp:nvSpPr>
      <dsp:spPr>
        <a:xfrm>
          <a:off x="4508883" y="462624"/>
          <a:ext cx="381558" cy="4463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508883" y="551894"/>
        <a:ext cx="267091" cy="267811"/>
      </dsp:txXfrm>
    </dsp:sp>
    <dsp:sp modelId="{2F809D14-3244-4DB6-943A-9FD46AD7CEBE}">
      <dsp:nvSpPr>
        <dsp:cNvPr id="0" name=""/>
        <dsp:cNvSpPr/>
      </dsp:nvSpPr>
      <dsp:spPr>
        <a:xfrm>
          <a:off x="5048824" y="189437"/>
          <a:ext cx="1799805" cy="992725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 Type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Semi-Conductor</a:t>
          </a:r>
        </a:p>
      </dsp:txBody>
      <dsp:txXfrm>
        <a:off x="5077900" y="218513"/>
        <a:ext cx="1741653" cy="934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98DAE-F6B6-4D2A-B567-55B1C23CD6EC}">
      <dsp:nvSpPr>
        <dsp:cNvPr id="0" name=""/>
        <dsp:cNvSpPr/>
      </dsp:nvSpPr>
      <dsp:spPr>
        <a:xfrm>
          <a:off x="9370" y="142420"/>
          <a:ext cx="1799805" cy="1086759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Intrinsic Semi-Conductor</a:t>
          </a:r>
        </a:p>
      </dsp:txBody>
      <dsp:txXfrm>
        <a:off x="41200" y="174250"/>
        <a:ext cx="1736145" cy="1023099"/>
      </dsp:txXfrm>
    </dsp:sp>
    <dsp:sp modelId="{D58197C1-16E5-46C1-8C9D-3E12366DB14C}">
      <dsp:nvSpPr>
        <dsp:cNvPr id="0" name=""/>
        <dsp:cNvSpPr/>
      </dsp:nvSpPr>
      <dsp:spPr>
        <a:xfrm>
          <a:off x="1989155" y="462624"/>
          <a:ext cx="381558" cy="4463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989155" y="551894"/>
        <a:ext cx="267091" cy="267811"/>
      </dsp:txXfrm>
    </dsp:sp>
    <dsp:sp modelId="{A98FD8D0-089D-47C0-A99E-FD6C98116E3A}">
      <dsp:nvSpPr>
        <dsp:cNvPr id="0" name=""/>
        <dsp:cNvSpPr/>
      </dsp:nvSpPr>
      <dsp:spPr>
        <a:xfrm>
          <a:off x="2529097" y="142420"/>
          <a:ext cx="1799805" cy="1086759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Pentavalent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Impurity</a:t>
          </a:r>
        </a:p>
      </dsp:txBody>
      <dsp:txXfrm>
        <a:off x="2560927" y="174250"/>
        <a:ext cx="1736145" cy="1023099"/>
      </dsp:txXfrm>
    </dsp:sp>
    <dsp:sp modelId="{7D117A93-B58B-4AEE-AFE6-219252CB27D5}">
      <dsp:nvSpPr>
        <dsp:cNvPr id="0" name=""/>
        <dsp:cNvSpPr/>
      </dsp:nvSpPr>
      <dsp:spPr>
        <a:xfrm>
          <a:off x="4508883" y="462624"/>
          <a:ext cx="381558" cy="4463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508883" y="551894"/>
        <a:ext cx="267091" cy="267811"/>
      </dsp:txXfrm>
    </dsp:sp>
    <dsp:sp modelId="{3D4240E8-FA95-4219-8D95-35E4D88CE946}">
      <dsp:nvSpPr>
        <dsp:cNvPr id="0" name=""/>
        <dsp:cNvSpPr/>
      </dsp:nvSpPr>
      <dsp:spPr>
        <a:xfrm>
          <a:off x="5048824" y="142420"/>
          <a:ext cx="1799805" cy="1086759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 Type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Semi-Conductor</a:t>
          </a:r>
        </a:p>
      </dsp:txBody>
      <dsp:txXfrm>
        <a:off x="5080654" y="174250"/>
        <a:ext cx="1736145" cy="10230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9F085-91B9-486F-AA6B-EF1AB2477356}">
      <dsp:nvSpPr>
        <dsp:cNvPr id="0" name=""/>
        <dsp:cNvSpPr/>
      </dsp:nvSpPr>
      <dsp:spPr>
        <a:xfrm>
          <a:off x="9370" y="189437"/>
          <a:ext cx="1799805" cy="992725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Intrinsic Semi-Conductor</a:t>
          </a:r>
        </a:p>
      </dsp:txBody>
      <dsp:txXfrm>
        <a:off x="38446" y="218513"/>
        <a:ext cx="1741653" cy="934573"/>
      </dsp:txXfrm>
    </dsp:sp>
    <dsp:sp modelId="{85023E8E-277F-472F-B127-495C11205AFD}">
      <dsp:nvSpPr>
        <dsp:cNvPr id="0" name=""/>
        <dsp:cNvSpPr/>
      </dsp:nvSpPr>
      <dsp:spPr>
        <a:xfrm>
          <a:off x="1989155" y="462624"/>
          <a:ext cx="381558" cy="4463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989155" y="551894"/>
        <a:ext cx="267091" cy="267811"/>
      </dsp:txXfrm>
    </dsp:sp>
    <dsp:sp modelId="{57738E09-C4D1-47EB-91C6-55FBC65C0AF7}">
      <dsp:nvSpPr>
        <dsp:cNvPr id="0" name=""/>
        <dsp:cNvSpPr/>
      </dsp:nvSpPr>
      <dsp:spPr>
        <a:xfrm>
          <a:off x="2529097" y="189437"/>
          <a:ext cx="1799805" cy="992725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Dopping</a:t>
          </a:r>
          <a:r>
            <a:rPr lang="en-US" sz="1900" kern="1200" dirty="0"/>
            <a:t>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(with Impurity)</a:t>
          </a:r>
        </a:p>
      </dsp:txBody>
      <dsp:txXfrm>
        <a:off x="2558173" y="218513"/>
        <a:ext cx="1741653" cy="934573"/>
      </dsp:txXfrm>
    </dsp:sp>
    <dsp:sp modelId="{71774A32-83A7-4588-B9BD-25326BCBD4E6}">
      <dsp:nvSpPr>
        <dsp:cNvPr id="0" name=""/>
        <dsp:cNvSpPr/>
      </dsp:nvSpPr>
      <dsp:spPr>
        <a:xfrm>
          <a:off x="4508883" y="462624"/>
          <a:ext cx="381558" cy="4463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508883" y="551894"/>
        <a:ext cx="267091" cy="267811"/>
      </dsp:txXfrm>
    </dsp:sp>
    <dsp:sp modelId="{2F809D14-3244-4DB6-943A-9FD46AD7CEBE}">
      <dsp:nvSpPr>
        <dsp:cNvPr id="0" name=""/>
        <dsp:cNvSpPr/>
      </dsp:nvSpPr>
      <dsp:spPr>
        <a:xfrm>
          <a:off x="5048824" y="189437"/>
          <a:ext cx="1799805" cy="992725"/>
        </a:xfrm>
        <a:prstGeom prst="roundRect">
          <a:avLst>
            <a:gd name="adj" fmla="val 10000"/>
          </a:avLst>
        </a:prstGeom>
        <a:solidFill>
          <a:schemeClr val="lt1"/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Extrinsic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Semi-Conductor</a:t>
          </a:r>
        </a:p>
      </dsp:txBody>
      <dsp:txXfrm>
        <a:off x="5077900" y="218513"/>
        <a:ext cx="1741653" cy="9345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36202-9CDD-498F-97DC-2F5D3C1A687A}">
      <dsp:nvSpPr>
        <dsp:cNvPr id="0" name=""/>
        <dsp:cNvSpPr/>
      </dsp:nvSpPr>
      <dsp:spPr>
        <a:xfrm>
          <a:off x="3048000" y="1247967"/>
          <a:ext cx="2156482" cy="374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132"/>
              </a:lnTo>
              <a:lnTo>
                <a:pt x="2156482" y="187132"/>
              </a:lnTo>
              <a:lnTo>
                <a:pt x="2156482" y="3742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0E83B-E26B-4AFC-8FA5-05F378C0F4F9}">
      <dsp:nvSpPr>
        <dsp:cNvPr id="0" name=""/>
        <dsp:cNvSpPr/>
      </dsp:nvSpPr>
      <dsp:spPr>
        <a:xfrm>
          <a:off x="3002280" y="1247967"/>
          <a:ext cx="91440" cy="3742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42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7AABCB-F8FB-46EF-8CEC-5DEF8DCBDFFB}">
      <dsp:nvSpPr>
        <dsp:cNvPr id="0" name=""/>
        <dsp:cNvSpPr/>
      </dsp:nvSpPr>
      <dsp:spPr>
        <a:xfrm>
          <a:off x="891517" y="1247967"/>
          <a:ext cx="2156482" cy="374265"/>
        </a:xfrm>
        <a:custGeom>
          <a:avLst/>
          <a:gdLst/>
          <a:ahLst/>
          <a:cxnLst/>
          <a:rect l="0" t="0" r="0" b="0"/>
          <a:pathLst>
            <a:path>
              <a:moveTo>
                <a:pt x="2156482" y="0"/>
              </a:moveTo>
              <a:lnTo>
                <a:pt x="2156482" y="187132"/>
              </a:lnTo>
              <a:lnTo>
                <a:pt x="0" y="187132"/>
              </a:lnTo>
              <a:lnTo>
                <a:pt x="0" y="3742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CF0C6E-E4B4-4952-AD90-DBBE91074CAD}">
      <dsp:nvSpPr>
        <dsp:cNvPr id="0" name=""/>
        <dsp:cNvSpPr/>
      </dsp:nvSpPr>
      <dsp:spPr>
        <a:xfrm>
          <a:off x="2156891" y="814050"/>
          <a:ext cx="1782216" cy="43391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Rectifier</a:t>
          </a:r>
        </a:p>
      </dsp:txBody>
      <dsp:txXfrm>
        <a:off x="2178073" y="835232"/>
        <a:ext cx="1739852" cy="391552"/>
      </dsp:txXfrm>
    </dsp:sp>
    <dsp:sp modelId="{3AFFE53E-DBBF-48DD-A564-B09465A8A347}">
      <dsp:nvSpPr>
        <dsp:cNvPr id="0" name=""/>
        <dsp:cNvSpPr/>
      </dsp:nvSpPr>
      <dsp:spPr>
        <a:xfrm>
          <a:off x="409" y="1622232"/>
          <a:ext cx="1782216" cy="43391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HWR</a:t>
          </a:r>
        </a:p>
      </dsp:txBody>
      <dsp:txXfrm>
        <a:off x="21591" y="1643414"/>
        <a:ext cx="1739852" cy="391552"/>
      </dsp:txXfrm>
    </dsp:sp>
    <dsp:sp modelId="{C6638D45-DCCA-40B1-88B4-C6BBE7355D12}">
      <dsp:nvSpPr>
        <dsp:cNvPr id="0" name=""/>
        <dsp:cNvSpPr/>
      </dsp:nvSpPr>
      <dsp:spPr>
        <a:xfrm>
          <a:off x="2156891" y="1622232"/>
          <a:ext cx="1782216" cy="43391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FWR-CTT</a:t>
          </a:r>
        </a:p>
      </dsp:txBody>
      <dsp:txXfrm>
        <a:off x="2178073" y="1643414"/>
        <a:ext cx="1739852" cy="391552"/>
      </dsp:txXfrm>
    </dsp:sp>
    <dsp:sp modelId="{39576949-1FD6-4F62-9F85-DD621422F773}">
      <dsp:nvSpPr>
        <dsp:cNvPr id="0" name=""/>
        <dsp:cNvSpPr/>
      </dsp:nvSpPr>
      <dsp:spPr>
        <a:xfrm>
          <a:off x="4313373" y="1622232"/>
          <a:ext cx="1782216" cy="433916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FWR-Bridge</a:t>
          </a:r>
        </a:p>
      </dsp:txBody>
      <dsp:txXfrm>
        <a:off x="4334555" y="1643414"/>
        <a:ext cx="1739852" cy="391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05C25D39-D0C9-2D30-FEA0-BB98F04EB6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0CD94D-054C-D871-2B98-2DC66C2DFF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67E6A-9CB8-479D-AB40-C13183EE5D4A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F5D01B4-C86B-C5E3-1BFD-7B02E41899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4729E2B-F014-61F5-FC5E-E3F34756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5C283-EF47-417C-A9C8-878EBAF15D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97607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9D51B-505C-41E3-94C4-A71543C76588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12B42-618D-49BA-9445-85BDD6FDEA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017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2F46C-7321-4DE7-B21B-DE3AA31BE5C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186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2F46C-7321-4DE7-B21B-DE3AA31BE5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2769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39EF81-5B8D-4F13-8BE5-72695184281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A864-3DFD-4A2A-AC49-982B9C0AEFE7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860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3B3F-280C-4480-B021-0CE57EF033C1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427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E9B6B-13AB-4321-96AF-ABB18F86C544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904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AFF6D-594F-4426-A262-281AAC58F9E4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46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94C-6DE5-4650-B397-85C38420EC89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239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AB12D-420A-458C-BDB6-3F23C734195D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222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EA557-E056-4EE1-896B-F47AA96E4088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7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297F-E33B-4021-A9DF-7FB3F9E3F387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887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AD98-0AFE-477D-AB68-2608357BB41A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088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58E6A-8C33-4C5C-AD7C-C4517C49FED4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256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F5126-1CE2-4AB9-8F56-1C24EB55BE47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763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8434A-E7A7-4D3D-8B73-5103CD086830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DD4A-F986-4E71-BC03-15024DE274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620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13" Type="http://schemas.openxmlformats.org/officeDocument/2006/relationships/diagramColors" Target="../diagrams/colors3.xml"/><Relationship Id="rId18" Type="http://schemas.microsoft.com/office/2007/relationships/diagramDrawing" Target="../diagrams/drawing2.xml"/><Relationship Id="rId3" Type="http://schemas.openxmlformats.org/officeDocument/2006/relationships/diagramLayout" Target="../diagrams/layout1.xml"/><Relationship Id="rId7" Type="http://schemas.openxmlformats.org/officeDocument/2006/relationships/diagramLayout" Target="../diagrams/layout2.xml"/><Relationship Id="rId12" Type="http://schemas.openxmlformats.org/officeDocument/2006/relationships/diagramQuickStyle" Target="../diagrams/quickStyle3.xml"/><Relationship Id="rId1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11" Type="http://schemas.openxmlformats.org/officeDocument/2006/relationships/diagramLayout" Target="../diagrams/layout3.xml"/><Relationship Id="rId5" Type="http://schemas.openxmlformats.org/officeDocument/2006/relationships/diagramColors" Target="../diagrams/colors1.xml"/><Relationship Id="rId10" Type="http://schemas.openxmlformats.org/officeDocument/2006/relationships/diagramData" Target="../diagrams/data3.xml"/><Relationship Id="rId4" Type="http://schemas.openxmlformats.org/officeDocument/2006/relationships/diagramQuickStyle" Target="../diagrams/quickStyle1.xml"/><Relationship Id="rId9" Type="http://schemas.openxmlformats.org/officeDocument/2006/relationships/diagramColors" Target="../diagrams/colors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Unit1/HWR.ms13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0625" y="4038600"/>
            <a:ext cx="6350209" cy="1752601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Presented by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</a:rPr>
              <a:t>Mr. Aniruddha Nirmal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Assistant Professor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Department of </a:t>
            </a:r>
            <a:r>
              <a:rPr lang="en-US" sz="2000" b="1" dirty="0" smtClean="0">
                <a:solidFill>
                  <a:schemeClr val="tx1"/>
                </a:solidFill>
              </a:rPr>
              <a:t>First Year </a:t>
            </a:r>
            <a:r>
              <a:rPr lang="en-US" sz="2000" b="1" dirty="0">
                <a:solidFill>
                  <a:schemeClr val="tx1"/>
                </a:solidFill>
              </a:rPr>
              <a:t>Engineering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DPCOE Pune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00200" y="2133600"/>
            <a:ext cx="6553200" cy="14478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2800" b="1" dirty="0">
                <a:solidFill>
                  <a:srgbClr val="7030A0"/>
                </a:solidFill>
              </a:rPr>
              <a:t>Basic Electronics </a:t>
            </a:r>
            <a:r>
              <a:rPr lang="en-US" sz="12800" b="1" dirty="0" smtClean="0">
                <a:solidFill>
                  <a:srgbClr val="7030A0"/>
                </a:solidFill>
              </a:rPr>
              <a:t>Engineering</a:t>
            </a:r>
            <a:r>
              <a:rPr lang="en-US" sz="11200" dirty="0">
                <a:solidFill>
                  <a:srgbClr val="7030A0"/>
                </a:solidFill>
              </a:rPr>
              <a:t/>
            </a:r>
            <a:br>
              <a:rPr lang="en-US" sz="11200" dirty="0">
                <a:solidFill>
                  <a:srgbClr val="7030A0"/>
                </a:solidFill>
              </a:rPr>
            </a:br>
            <a:r>
              <a:rPr lang="en-US" sz="11200" dirty="0">
                <a:solidFill>
                  <a:srgbClr val="FF0000"/>
                </a:solidFill>
              </a:rPr>
              <a:t>FE </a:t>
            </a:r>
            <a:r>
              <a:rPr lang="en-US" sz="11200" dirty="0" smtClean="0">
                <a:solidFill>
                  <a:srgbClr val="FF0000"/>
                </a:solidFill>
              </a:rPr>
              <a:t>2024 </a:t>
            </a:r>
            <a:r>
              <a:rPr lang="en-US" sz="11200" dirty="0">
                <a:solidFill>
                  <a:srgbClr val="FF0000"/>
                </a:solidFill>
              </a:rPr>
              <a:t>Course</a:t>
            </a:r>
            <a:endParaRPr lang="en-US" sz="12800" dirty="0">
              <a:solidFill>
                <a:srgbClr val="7030A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834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96"/>
            <a:ext cx="8334499" cy="685800"/>
          </a:xfrm>
        </p:spPr>
        <p:txBody>
          <a:bodyPr>
            <a:noAutofit/>
          </a:bodyPr>
          <a:lstStyle/>
          <a:p>
            <a:pPr marL="457200" indent="-457200" algn="l">
              <a:buBlip>
                <a:blip r:embed="rId3"/>
              </a:buBlip>
            </a:pPr>
            <a:r>
              <a:rPr lang="en-US" sz="3600" b="1" dirty="0">
                <a:solidFill>
                  <a:srgbClr val="C00000"/>
                </a:solidFill>
              </a:rPr>
              <a:t>Unit I : Introduction to Electronics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60960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buBlip>
                <a:blip r:embed="rId3"/>
              </a:buBlip>
            </a:pPr>
            <a:r>
              <a:rPr lang="en-US" sz="4600" b="1" dirty="0">
                <a:solidFill>
                  <a:srgbClr val="00B0F0"/>
                </a:solidFill>
              </a:rPr>
              <a:t>Syllabus</a:t>
            </a:r>
          </a:p>
          <a:p>
            <a:pPr lvl="0"/>
            <a:r>
              <a:rPr lang="en-US" dirty="0"/>
              <a:t>Evolution of Electronics</a:t>
            </a:r>
          </a:p>
          <a:p>
            <a:pPr lvl="0"/>
            <a:r>
              <a:rPr lang="en-US" dirty="0"/>
              <a:t>Impact of Electronics in industry and in society</a:t>
            </a:r>
          </a:p>
          <a:p>
            <a:pPr lvl="0"/>
            <a:r>
              <a:rPr lang="en-US" dirty="0"/>
              <a:t>Introduction to active and passive components </a:t>
            </a:r>
          </a:p>
          <a:p>
            <a:pPr lvl="0"/>
            <a:r>
              <a:rPr lang="en-US" dirty="0"/>
              <a:t>P-type Semiconductor, N-type Semiconductor </a:t>
            </a:r>
          </a:p>
          <a:p>
            <a:pPr lvl="0"/>
            <a:r>
              <a:rPr lang="en-US" dirty="0"/>
              <a:t>Current in semiconductors (Diffusion and Drift Current) 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00FF"/>
                </a:solidFill>
              </a:rPr>
              <a:t>Diodes and Its Applications</a:t>
            </a:r>
            <a:r>
              <a:rPr lang="en-US" b="1" dirty="0" smtClean="0">
                <a:solidFill>
                  <a:srgbClr val="0000FF"/>
                </a:solidFill>
              </a:rPr>
              <a:t>: </a:t>
            </a:r>
            <a:endParaRPr lang="en-US" dirty="0">
              <a:solidFill>
                <a:srgbClr val="0000FF"/>
              </a:solidFill>
            </a:endParaRPr>
          </a:p>
          <a:p>
            <a:pPr lvl="0"/>
            <a:r>
              <a:rPr lang="en-US" dirty="0"/>
              <a:t>P-N Junction diode construction and its working in forward and reverse bias condition, </a:t>
            </a:r>
          </a:p>
          <a:p>
            <a:pPr lvl="0"/>
            <a:r>
              <a:rPr lang="en-US" dirty="0"/>
              <a:t>V-I characteristics of P-N junction Diode </a:t>
            </a:r>
          </a:p>
          <a:p>
            <a:pPr lvl="0"/>
            <a:r>
              <a:rPr lang="en-US" dirty="0"/>
              <a:t>Diode as a switch</a:t>
            </a:r>
          </a:p>
          <a:p>
            <a:pPr lvl="0"/>
            <a:r>
              <a:rPr lang="en-US" dirty="0"/>
              <a:t>Half Wave Rectifier </a:t>
            </a:r>
          </a:p>
          <a:p>
            <a:pPr lvl="0"/>
            <a:r>
              <a:rPr lang="en-US" dirty="0"/>
              <a:t>Full wave</a:t>
            </a:r>
          </a:p>
          <a:p>
            <a:pPr lvl="0"/>
            <a:r>
              <a:rPr lang="en-US" dirty="0"/>
              <a:t>Bridge Rectifier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rgbClr val="0000FF"/>
                </a:solidFill>
              </a:rPr>
              <a:t>Special purpose diodes: </a:t>
            </a:r>
            <a:endParaRPr lang="en-US" dirty="0"/>
          </a:p>
          <a:p>
            <a:pPr lvl="0"/>
            <a:r>
              <a:rPr lang="en-US" dirty="0" err="1"/>
              <a:t>Zener</a:t>
            </a:r>
            <a:r>
              <a:rPr lang="en-US" dirty="0"/>
              <a:t> diode</a:t>
            </a:r>
          </a:p>
          <a:p>
            <a:pPr lvl="0"/>
            <a:r>
              <a:rPr lang="en-US" dirty="0"/>
              <a:t>Light Emitting Diode (LED) </a:t>
            </a:r>
          </a:p>
          <a:p>
            <a:r>
              <a:rPr lang="en-US" dirty="0"/>
              <a:t>Photo </a:t>
            </a:r>
            <a:r>
              <a:rPr lang="en-US" dirty="0" smtClean="0"/>
              <a:t>diode</a:t>
            </a:r>
            <a:endParaRPr lang="en-US" sz="59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429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0" y="1371600"/>
            <a:ext cx="5683568" cy="152092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820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1904: the </a:t>
            </a:r>
            <a:r>
              <a:rPr sz="2000" spc="-10" dirty="0">
                <a:solidFill>
                  <a:srgbClr val="3366CC"/>
                </a:solidFill>
                <a:latin typeface="Calibri"/>
                <a:cs typeface="Calibri"/>
              </a:rPr>
              <a:t>simplest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vacuum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tube – the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diode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– </a:t>
            </a:r>
            <a:r>
              <a:rPr sz="2000" spc="-10" dirty="0">
                <a:solidFill>
                  <a:srgbClr val="3366CC"/>
                </a:solidFill>
                <a:latin typeface="Calibri"/>
                <a:cs typeface="Calibri"/>
              </a:rPr>
              <a:t>was </a:t>
            </a:r>
            <a:r>
              <a:rPr sz="2000" spc="-15" dirty="0">
                <a:solidFill>
                  <a:srgbClr val="3366CC"/>
                </a:solidFill>
                <a:latin typeface="Calibri"/>
                <a:cs typeface="Calibri"/>
              </a:rPr>
              <a:t>invented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by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John</a:t>
            </a:r>
            <a:r>
              <a:rPr sz="2000" spc="6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Fleming.</a:t>
            </a:r>
            <a:endParaRPr sz="2000">
              <a:latin typeface="Calibri"/>
              <a:cs typeface="Calibri"/>
            </a:endParaRPr>
          </a:p>
          <a:p>
            <a:pPr marL="375285" marR="252729" indent="-375285">
              <a:lnSpc>
                <a:spcPct val="130000"/>
              </a:lnSpc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1907: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De </a:t>
            </a:r>
            <a:r>
              <a:rPr sz="2000" spc="-15" dirty="0">
                <a:solidFill>
                  <a:srgbClr val="3366CC"/>
                </a:solidFill>
                <a:latin typeface="Calibri"/>
                <a:cs typeface="Calibri"/>
              </a:rPr>
              <a:t>Forest invented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triode by inserting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3366CC"/>
                </a:solidFill>
                <a:latin typeface="Calibri"/>
                <a:cs typeface="Calibri"/>
              </a:rPr>
              <a:t>third electrode between  cathode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and</a:t>
            </a:r>
            <a:r>
              <a:rPr sz="2000" spc="-15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66CC"/>
                </a:solidFill>
                <a:latin typeface="Calibri"/>
                <a:cs typeface="Calibri"/>
              </a:rPr>
              <a:t>anode.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79248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Evolution of Electronics </a:t>
            </a:r>
            <a:br>
              <a:rPr lang="en-US" sz="44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440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   </a:t>
            </a:r>
            <a:r>
              <a:rPr sz="3600" b="1" spc="-25" dirty="0">
                <a:effectLst/>
                <a:latin typeface="Times New Roman" pitchFamily="18" charset="0"/>
                <a:cs typeface="Times New Roman" pitchFamily="18" charset="0"/>
              </a:rPr>
              <a:t>Vacuum</a:t>
            </a:r>
            <a:r>
              <a:rPr sz="3600" b="1" spc="-85" dirty="0"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dirty="0">
                <a:effectLst/>
                <a:latin typeface="Times New Roman" pitchFamily="18" charset="0"/>
                <a:cs typeface="Times New Roman" pitchFamily="18" charset="0"/>
              </a:rPr>
              <a:t>tubes</a:t>
            </a:r>
          </a:p>
        </p:txBody>
      </p:sp>
      <p:sp>
        <p:nvSpPr>
          <p:cNvPr id="5" name="object 5"/>
          <p:cNvSpPr/>
          <p:nvPr/>
        </p:nvSpPr>
        <p:spPr>
          <a:xfrm>
            <a:off x="1219200" y="3581400"/>
            <a:ext cx="2438401" cy="2753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5200" y="3657600"/>
            <a:ext cx="5353050" cy="2753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936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6682" y="228600"/>
            <a:ext cx="322211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Vacuum</a:t>
            </a:r>
            <a:r>
              <a:rPr sz="3600" b="1" spc="-8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3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Tubes</a:t>
            </a:r>
          </a:p>
        </p:txBody>
      </p:sp>
      <p:sp>
        <p:nvSpPr>
          <p:cNvPr id="3" name="object 3"/>
          <p:cNvSpPr/>
          <p:nvPr/>
        </p:nvSpPr>
        <p:spPr>
          <a:xfrm>
            <a:off x="4267200" y="1981200"/>
            <a:ext cx="4223385" cy="266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9200" y="1828800"/>
            <a:ext cx="2107692" cy="2763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427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670916"/>
            <a:ext cx="8382000" cy="1938992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820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000" spc="-5" dirty="0">
                <a:latin typeface="Calibri"/>
                <a:cs typeface="Calibri"/>
              </a:rPr>
              <a:t>The vacuum </a:t>
            </a:r>
            <a:r>
              <a:rPr sz="2000" dirty="0">
                <a:latin typeface="Calibri"/>
                <a:cs typeface="Calibri"/>
              </a:rPr>
              <a:t>tube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bulky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fragile device </a:t>
            </a:r>
            <a:r>
              <a:rPr sz="2000" dirty="0">
                <a:latin typeface="Calibri"/>
                <a:cs typeface="Calibri"/>
              </a:rPr>
              <a:t>which </a:t>
            </a:r>
            <a:r>
              <a:rPr sz="2000" spc="-5" dirty="0">
                <a:latin typeface="Calibri"/>
                <a:cs typeface="Calibri"/>
              </a:rPr>
              <a:t>consumed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significant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power.</a:t>
            </a:r>
            <a:endParaRPr sz="2000" dirty="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720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000" dirty="0">
                <a:latin typeface="Calibri"/>
                <a:cs typeface="Calibri"/>
              </a:rPr>
              <a:t>1947: </a:t>
            </a:r>
            <a:r>
              <a:rPr sz="2000" spc="-20" dirty="0">
                <a:latin typeface="Calibri"/>
                <a:cs typeface="Calibri"/>
              </a:rPr>
              <a:t>Shockley, </a:t>
            </a:r>
            <a:r>
              <a:rPr sz="2000" spc="-5" dirty="0">
                <a:latin typeface="Calibri"/>
                <a:cs typeface="Calibri"/>
              </a:rPr>
              <a:t>Bardeen,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5" dirty="0">
                <a:latin typeface="Calibri"/>
                <a:cs typeface="Calibri"/>
              </a:rPr>
              <a:t>Brattain at </a:t>
            </a:r>
            <a:r>
              <a:rPr sz="2000" dirty="0">
                <a:latin typeface="Calibri"/>
                <a:cs typeface="Calibri"/>
              </a:rPr>
              <a:t>Bell </a:t>
            </a:r>
            <a:r>
              <a:rPr sz="2000" spc="-5" dirty="0">
                <a:latin typeface="Calibri"/>
                <a:cs typeface="Calibri"/>
              </a:rPr>
              <a:t>Labs </a:t>
            </a:r>
            <a:r>
              <a:rPr sz="2000" spc="-15" dirty="0">
                <a:latin typeface="Calibri"/>
                <a:cs typeface="Calibri"/>
              </a:rPr>
              <a:t>invented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transistor.</a:t>
            </a:r>
            <a:endParaRPr sz="20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120"/>
              </a:lnSpc>
              <a:spcBef>
                <a:spcPts val="220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20" dirty="0">
                <a:latin typeface="Calibri"/>
                <a:cs typeface="Calibri"/>
              </a:rPr>
              <a:t>first </a:t>
            </a:r>
            <a:r>
              <a:rPr sz="2000" spc="-10" dirty="0">
                <a:latin typeface="Calibri"/>
                <a:cs typeface="Calibri"/>
              </a:rPr>
              <a:t>transistor was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“point contact </a:t>
            </a:r>
            <a:r>
              <a:rPr sz="2000" spc="-40" dirty="0">
                <a:latin typeface="Calibri"/>
                <a:cs typeface="Calibri"/>
              </a:rPr>
              <a:t>transistor.”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modern </a:t>
            </a:r>
            <a:r>
              <a:rPr sz="2000" spc="-10" dirty="0">
                <a:latin typeface="Calibri"/>
                <a:cs typeface="Calibri"/>
              </a:rPr>
              <a:t>transistor </a:t>
            </a:r>
            <a:r>
              <a:rPr sz="2000" dirty="0">
                <a:latin typeface="Calibri"/>
                <a:cs typeface="Calibri"/>
              </a:rPr>
              <a:t>is a junction </a:t>
            </a:r>
            <a:r>
              <a:rPr sz="2000" spc="-25" dirty="0">
                <a:latin typeface="Calibri"/>
                <a:cs typeface="Calibri"/>
              </a:rPr>
              <a:t>transistor,  </a:t>
            </a:r>
            <a:r>
              <a:rPr sz="2000" dirty="0">
                <a:latin typeface="Calibri"/>
                <a:cs typeface="Calibri"/>
              </a:rPr>
              <a:t>and it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monolithic </a:t>
            </a:r>
            <a:r>
              <a:rPr sz="2000" spc="-5" dirty="0">
                <a:latin typeface="Calibri"/>
                <a:cs typeface="Calibri"/>
              </a:rPr>
              <a:t>(in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same semiconductor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piece).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3600" b="1" spc="-1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first</a:t>
            </a:r>
            <a:r>
              <a:rPr sz="3600" b="1" spc="-6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1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transistor</a:t>
            </a:r>
          </a:p>
        </p:txBody>
      </p:sp>
      <p:sp>
        <p:nvSpPr>
          <p:cNvPr id="5" name="object 5"/>
          <p:cNvSpPr/>
          <p:nvPr/>
        </p:nvSpPr>
        <p:spPr>
          <a:xfrm>
            <a:off x="4991481" y="2895600"/>
            <a:ext cx="2513838" cy="2340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8800" y="5562600"/>
            <a:ext cx="1371600" cy="1089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8800" y="3294660"/>
            <a:ext cx="2057400" cy="2880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260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" y="1036332"/>
            <a:ext cx="8534400" cy="5212068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815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400" spc="-5" dirty="0">
                <a:latin typeface="Calibri"/>
                <a:cs typeface="Calibri"/>
              </a:rPr>
              <a:t>The bipolar </a:t>
            </a:r>
            <a:r>
              <a:rPr sz="2400" spc="-10" dirty="0">
                <a:latin typeface="Calibri"/>
                <a:cs typeface="Calibri"/>
              </a:rPr>
              <a:t>transistor </a:t>
            </a:r>
            <a:r>
              <a:rPr sz="2400" spc="-5" dirty="0">
                <a:latin typeface="Calibri"/>
                <a:cs typeface="Calibri"/>
              </a:rPr>
              <a:t>continues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important </a:t>
            </a:r>
            <a:r>
              <a:rPr sz="2400" spc="-5" dirty="0">
                <a:latin typeface="Calibri"/>
                <a:cs typeface="Calibri"/>
              </a:rPr>
              <a:t>device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</a:p>
          <a:p>
            <a:pPr marL="3556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discrete </a:t>
            </a:r>
            <a:r>
              <a:rPr sz="2400" spc="-5" dirty="0">
                <a:latin typeface="Calibri"/>
                <a:cs typeface="Calibri"/>
              </a:rPr>
              <a:t>device </a:t>
            </a:r>
            <a:r>
              <a:rPr sz="2400" dirty="0">
                <a:latin typeface="Calibri"/>
                <a:cs typeface="Calibri"/>
              </a:rPr>
              <a:t>and as </a:t>
            </a:r>
            <a:r>
              <a:rPr sz="2400" spc="-5" dirty="0">
                <a:latin typeface="Calibri"/>
                <a:cs typeface="Calibri"/>
              </a:rPr>
              <a:t>part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Integrated </a:t>
            </a:r>
            <a:r>
              <a:rPr sz="2400" spc="-5" dirty="0">
                <a:latin typeface="Calibri"/>
                <a:cs typeface="Calibri"/>
              </a:rPr>
              <a:t>Circuits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(IC).</a:t>
            </a:r>
            <a:endParaRPr sz="2400" dirty="0">
              <a:latin typeface="Calibri"/>
              <a:cs typeface="Calibri"/>
            </a:endParaRPr>
          </a:p>
          <a:p>
            <a:pPr marL="355600" marR="678815" indent="-343535">
              <a:lnSpc>
                <a:spcPct val="130000"/>
              </a:lnSpc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400" spc="-35" dirty="0">
                <a:latin typeface="Calibri"/>
                <a:cs typeface="Calibri"/>
              </a:rPr>
              <a:t>However,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digital circuits </a:t>
            </a:r>
            <a:r>
              <a:rPr sz="2400" dirty="0">
                <a:latin typeface="Calibri"/>
                <a:cs typeface="Calibri"/>
              </a:rPr>
              <a:t>such as </a:t>
            </a:r>
            <a:r>
              <a:rPr sz="2400" spc="-15" dirty="0">
                <a:latin typeface="Calibri"/>
                <a:cs typeface="Calibri"/>
              </a:rPr>
              <a:t>processors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20" dirty="0">
                <a:latin typeface="Calibri"/>
                <a:cs typeface="Calibri"/>
              </a:rPr>
              <a:t>memory, </a:t>
            </a:r>
            <a:r>
              <a:rPr sz="2400" dirty="0">
                <a:latin typeface="Calibri"/>
                <a:cs typeface="Calibri"/>
              </a:rPr>
              <a:t>the  MOS </a:t>
            </a:r>
            <a:r>
              <a:rPr sz="2400" spc="-10" dirty="0">
                <a:latin typeface="Calibri"/>
                <a:cs typeface="Calibri"/>
              </a:rPr>
              <a:t>(Metal </a:t>
            </a:r>
            <a:r>
              <a:rPr sz="2400" spc="-5" dirty="0">
                <a:latin typeface="Calibri"/>
                <a:cs typeface="Calibri"/>
              </a:rPr>
              <a:t>Oxide Semiconductor) </a:t>
            </a:r>
            <a:r>
              <a:rPr sz="2400" spc="-10" dirty="0">
                <a:latin typeface="Calibri"/>
                <a:cs typeface="Calibri"/>
              </a:rPr>
              <a:t>field-effect transistor </a:t>
            </a:r>
            <a:r>
              <a:rPr sz="2400" dirty="0">
                <a:latin typeface="Calibri"/>
                <a:cs typeface="Calibri"/>
              </a:rPr>
              <a:t>has  </a:t>
            </a:r>
            <a:r>
              <a:rPr sz="2400" spc="-5" dirty="0">
                <a:latin typeface="Calibri"/>
                <a:cs typeface="Calibri"/>
              </a:rPr>
              <a:t>surpassed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bipolar </a:t>
            </a:r>
            <a:r>
              <a:rPr sz="2400" spc="-10" dirty="0">
                <a:latin typeface="Calibri"/>
                <a:cs typeface="Calibri"/>
              </a:rPr>
              <a:t>transistor </a:t>
            </a:r>
            <a:r>
              <a:rPr sz="2400" spc="-5" dirty="0">
                <a:latin typeface="Calibri"/>
                <a:cs typeface="Calibri"/>
              </a:rPr>
              <a:t>because of </a:t>
            </a:r>
            <a:r>
              <a:rPr sz="2400" dirty="0">
                <a:latin typeface="Calibri"/>
                <a:cs typeface="Calibri"/>
              </a:rPr>
              <a:t>the high </a:t>
            </a:r>
            <a:r>
              <a:rPr sz="2400" spc="-10" dirty="0">
                <a:latin typeface="Calibri"/>
                <a:cs typeface="Calibri"/>
              </a:rPr>
              <a:t>integration  </a:t>
            </a:r>
            <a:r>
              <a:rPr sz="2400" spc="-5" dirty="0">
                <a:latin typeface="Calibri"/>
                <a:cs typeface="Calibri"/>
              </a:rPr>
              <a:t>density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low </a:t>
            </a:r>
            <a:r>
              <a:rPr sz="2400" spc="-5" dirty="0">
                <a:latin typeface="Calibri"/>
                <a:cs typeface="Calibri"/>
              </a:rPr>
              <a:t>power consumption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offers.</a:t>
            </a:r>
            <a:endParaRPr sz="2400" dirty="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725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400" dirty="0">
                <a:latin typeface="Calibri"/>
                <a:cs typeface="Calibri"/>
              </a:rPr>
              <a:t>1930: </a:t>
            </a:r>
            <a:r>
              <a:rPr sz="2400" spc="-15" dirty="0">
                <a:latin typeface="Calibri"/>
                <a:cs typeface="Calibri"/>
              </a:rPr>
              <a:t>patent </a:t>
            </a:r>
            <a:r>
              <a:rPr sz="2400" spc="-5" dirty="0">
                <a:latin typeface="Calibri"/>
                <a:cs typeface="Calibri"/>
              </a:rPr>
              <a:t>filed by </a:t>
            </a:r>
            <a:r>
              <a:rPr sz="2400" spc="-10" dirty="0">
                <a:latin typeface="Calibri"/>
                <a:cs typeface="Calibri"/>
              </a:rPr>
              <a:t>Lilienfeld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field-effect transistor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(FET).</a:t>
            </a:r>
          </a:p>
          <a:p>
            <a:pPr marL="355600" marR="5080" indent="-343535">
              <a:lnSpc>
                <a:spcPct val="130000"/>
              </a:lnSpc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400" dirty="0">
                <a:latin typeface="Calibri"/>
                <a:cs typeface="Calibri"/>
              </a:rPr>
              <a:t>1958: Jack </a:t>
            </a:r>
            <a:r>
              <a:rPr sz="2400" spc="-5" dirty="0">
                <a:latin typeface="Calibri"/>
                <a:cs typeface="Calibri"/>
              </a:rPr>
              <a:t>Kilby </a:t>
            </a:r>
            <a:r>
              <a:rPr sz="2400" spc="-45" dirty="0">
                <a:latin typeface="Calibri"/>
                <a:cs typeface="Calibri"/>
              </a:rPr>
              <a:t>(Texas </a:t>
            </a:r>
            <a:r>
              <a:rPr sz="2400" spc="-5" dirty="0">
                <a:latin typeface="Calibri"/>
                <a:cs typeface="Calibri"/>
              </a:rPr>
              <a:t>Instruments) </a:t>
            </a:r>
            <a:r>
              <a:rPr sz="2400" spc="-15" dirty="0">
                <a:latin typeface="Calibri"/>
                <a:cs typeface="Calibri"/>
              </a:rPr>
              <a:t>demonstrated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first </a:t>
            </a:r>
            <a:r>
              <a:rPr sz="2400" spc="-15" dirty="0">
                <a:latin typeface="Calibri"/>
                <a:cs typeface="Calibri"/>
              </a:rPr>
              <a:t>integrated  </a:t>
            </a:r>
            <a:r>
              <a:rPr sz="2400" spc="-5" dirty="0">
                <a:latin typeface="Calibri"/>
                <a:cs typeface="Calibri"/>
              </a:rPr>
              <a:t>circuit </a:t>
            </a:r>
            <a:r>
              <a:rPr sz="2400" dirty="0">
                <a:latin typeface="Calibri"/>
                <a:cs typeface="Calibri"/>
              </a:rPr>
              <a:t>(bipolar </a:t>
            </a:r>
            <a:r>
              <a:rPr sz="2400" spc="-25" dirty="0">
                <a:latin typeface="Calibri"/>
                <a:cs typeface="Calibri"/>
              </a:rPr>
              <a:t>transistor, </a:t>
            </a:r>
            <a:r>
              <a:rPr sz="2400" spc="-30" dirty="0">
                <a:latin typeface="Calibri"/>
                <a:cs typeface="Calibri"/>
              </a:rPr>
              <a:t>resistor, </a:t>
            </a:r>
            <a:r>
              <a:rPr sz="2400" spc="-5" dirty="0">
                <a:latin typeface="Calibri"/>
                <a:cs typeface="Calibri"/>
              </a:rPr>
              <a:t>capacitor) </a:t>
            </a:r>
            <a:r>
              <a:rPr sz="2400" spc="-10" dirty="0">
                <a:latin typeface="Calibri"/>
                <a:cs typeface="Calibri"/>
              </a:rPr>
              <a:t>fabricated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  piece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germanium.</a:t>
            </a:r>
            <a:endParaRPr sz="2400" dirty="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720"/>
              </a:spcBef>
              <a:buClr>
                <a:srgbClr val="0000CC"/>
              </a:buClr>
              <a:buSzPct val="85000"/>
              <a:buFont typeface="Wingdings"/>
              <a:buChar char=""/>
              <a:tabLst>
                <a:tab pos="375285" algn="l"/>
                <a:tab pos="3759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rest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history!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152400"/>
            <a:ext cx="8229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Semiconductor</a:t>
            </a:r>
            <a:r>
              <a:rPr sz="3600" b="1" spc="-4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1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006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41503"/>
            <a:ext cx="670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Semiconductor</a:t>
            </a:r>
            <a:r>
              <a:rPr sz="3600" b="1" spc="-7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b="1" spc="-5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technology</a:t>
            </a:r>
          </a:p>
        </p:txBody>
      </p:sp>
      <p:sp>
        <p:nvSpPr>
          <p:cNvPr id="3" name="object 3"/>
          <p:cNvSpPr/>
          <p:nvPr/>
        </p:nvSpPr>
        <p:spPr>
          <a:xfrm>
            <a:off x="6553200" y="1219200"/>
            <a:ext cx="1996821" cy="1746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52600" y="1143000"/>
            <a:ext cx="2153412" cy="12542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0200" y="2971800"/>
            <a:ext cx="2165985" cy="27874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32629" y="3886200"/>
            <a:ext cx="4111371" cy="27035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67200" y="1066800"/>
            <a:ext cx="1026414" cy="3352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8800" y="2133600"/>
            <a:ext cx="484632" cy="2590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632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8153400" cy="6858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Active</a:t>
            </a:r>
            <a:r>
              <a:rPr lang="en-US" sz="40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 and passive components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21617"/>
            <a:ext cx="3124200" cy="508398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9225" y="838200"/>
            <a:ext cx="21621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38825" y="838200"/>
            <a:ext cx="17811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8200" y="2133600"/>
            <a:ext cx="40671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53000" y="4800600"/>
            <a:ext cx="37052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876800" y="358140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BJT,  JFET, MOSFET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9016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0"/>
            <a:ext cx="9220200" cy="838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Calibri Light" pitchFamily="34" charset="0"/>
                <a:cs typeface="Times New Roman" pitchFamily="18" charset="0"/>
              </a:rPr>
              <a:t>Difference between active &amp; Passive components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6546217"/>
              </p:ext>
            </p:extLst>
          </p:nvPr>
        </p:nvGraphicFramePr>
        <p:xfrm>
          <a:off x="381001" y="762001"/>
          <a:ext cx="8534399" cy="5557214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8126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869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33480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579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Characteristics/ Parameters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Active component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Passive component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49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Energy or Power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Delivers energy or power to the circuit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Consumes energy or power in the circuit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49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Operational Requirements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Requires external source to their operation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Does not require any external source to their operation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33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Power gain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Capable of providing power gain (just like an amplifier)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Cannot provide any power gain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49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Energy Storage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Cannot store the energy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 store the energy (in case of inductor and capacitor)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649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Current Flow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Capable to control the flow of current in the circuit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Cannot control the flow of current  in the circuit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24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Amplification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Can produce amplification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Cannot produce amplification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08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Direction of operation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Unidirectional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Bidirectional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649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Elements (examples)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Includes diodes, transistors, voltage or current sources etc.</a:t>
                      </a:r>
                      <a:endParaRPr lang="en-US" sz="14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Includes resistor, capacitor, inductor, transformer, transducer etc.</a:t>
                      </a:r>
                      <a:endParaRPr lang="en-US" sz="14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201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2238"/>
            <a:ext cx="8001000" cy="6397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Introduction to semiconductor physics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990600" y="1219200"/>
          <a:ext cx="7772400" cy="2145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6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439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66204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lgerian" pitchFamily="82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lgerian" pitchFamily="82" charset="0"/>
                        </a:rPr>
                        <a:t>Conductor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lgerian" pitchFamily="82" charset="0"/>
                        </a:rPr>
                        <a:t>Semi</a:t>
                      </a:r>
                    </a:p>
                    <a:p>
                      <a:pPr algn="ctr"/>
                      <a:r>
                        <a:rPr lang="en-US" sz="2400" dirty="0">
                          <a:latin typeface="Algerian" pitchFamily="82" charset="0"/>
                        </a:rPr>
                        <a:t>conductor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lgerian" pitchFamily="82" charset="0"/>
                        </a:rPr>
                        <a:t>insulator</a:t>
                      </a:r>
                    </a:p>
                    <a:p>
                      <a:endParaRPr lang="en-US" sz="2400" dirty="0">
                        <a:latin typeface="Algerian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6552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No. of valance electrons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3 or less than 3</a:t>
                      </a:r>
                    </a:p>
                    <a:p>
                      <a:pPr algn="ctr"/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5 or more than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566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negligible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905000" y="3581400"/>
            <a:ext cx="4572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09800" y="3657600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Semi Conductor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6800" y="4724400"/>
            <a:ext cx="2895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67200" y="5867400"/>
            <a:ext cx="1600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324600" y="5867400"/>
            <a:ext cx="1600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0" y="4724400"/>
            <a:ext cx="3505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5029200" y="5562600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6934200" y="5562600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2209800" y="4419600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>
            <a:off x="5867400" y="4419600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371600" y="4876800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Intrinsic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80060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Extrinsic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943600"/>
            <a:ext cx="144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P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943600"/>
            <a:ext cx="144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N type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263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162800" cy="7921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Semi-conductor types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xmlns="" val="1544567639"/>
              </p:ext>
            </p:extLst>
          </p:nvPr>
        </p:nvGraphicFramePr>
        <p:xfrm>
          <a:off x="1066800" y="2819400"/>
          <a:ext cx="6858000" cy="137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xmlns="" val="691384392"/>
              </p:ext>
            </p:extLst>
          </p:nvPr>
        </p:nvGraphicFramePr>
        <p:xfrm>
          <a:off x="1066800" y="4648200"/>
          <a:ext cx="6858000" cy="137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xmlns="" val="2659806282"/>
              </p:ext>
            </p:extLst>
          </p:nvPr>
        </p:nvGraphicFramePr>
        <p:xfrm>
          <a:off x="1066800" y="1219200"/>
          <a:ext cx="6858000" cy="137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xmlns="" val="193365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  <p:bldGraphic spid="9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4229100" cy="7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N type semi-conductor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447800"/>
            <a:ext cx="3886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00400" y="3124200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Pentavalent</a:t>
            </a:r>
          </a:p>
          <a:p>
            <a:r>
              <a:rPr lang="en-US" sz="2000" dirty="0"/>
              <a:t>(Donor) impurity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4495800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Arsenic (As)</a:t>
            </a:r>
          </a:p>
          <a:p>
            <a:r>
              <a:rPr lang="en-US" sz="2000" dirty="0"/>
              <a:t>Phosphorus (P)</a:t>
            </a:r>
          </a:p>
          <a:p>
            <a:r>
              <a:rPr lang="en-US" sz="2000" dirty="0"/>
              <a:t>Antimony(</a:t>
            </a:r>
            <a:r>
              <a:rPr lang="en-US" sz="2000" dirty="0" err="1"/>
              <a:t>Sb</a:t>
            </a:r>
            <a:r>
              <a:rPr lang="en-US" sz="2000" dirty="0"/>
              <a:t>)</a:t>
            </a:r>
          </a:p>
          <a:p>
            <a:r>
              <a:rPr lang="en-US" sz="2000" dirty="0"/>
              <a:t>Bismuth(Bi)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914900" y="274638"/>
            <a:ext cx="42291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 type semi-conductor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752600"/>
            <a:ext cx="3086100" cy="3404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353795" y="4648199"/>
            <a:ext cx="175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Boron (B)</a:t>
            </a:r>
          </a:p>
          <a:p>
            <a:r>
              <a:rPr lang="en-US" sz="2000" dirty="0"/>
              <a:t>Indium (In)</a:t>
            </a:r>
          </a:p>
          <a:p>
            <a:r>
              <a:rPr lang="en-US" sz="2000" dirty="0"/>
              <a:t>Gallium (</a:t>
            </a:r>
            <a:r>
              <a:rPr lang="en-US" sz="2000" dirty="0" err="1"/>
              <a:t>Ga</a:t>
            </a:r>
            <a:r>
              <a:rPr lang="en-US" sz="2000" dirty="0"/>
              <a:t>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00" y="3124199"/>
            <a:ext cx="144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Trivalent</a:t>
            </a:r>
          </a:p>
          <a:p>
            <a:r>
              <a:rPr lang="en-US" sz="2000" dirty="0"/>
              <a:t>(Acceptor) impurity </a:t>
            </a:r>
          </a:p>
        </p:txBody>
      </p:sp>
    </p:spTree>
    <p:extLst>
      <p:ext uri="{BB962C8B-B14F-4D97-AF65-F5344CB8AC3E}">
        <p14:creationId xmlns:p14="http://schemas.microsoft.com/office/powerpoint/2010/main" xmlns="" val="175487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4876800" cy="9144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P-N Junction (Diode)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95400"/>
            <a:ext cx="38957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228600"/>
            <a:ext cx="374332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76800" y="3048000"/>
            <a:ext cx="37147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05400" y="3962400"/>
            <a:ext cx="36671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19200" y="4495800"/>
            <a:ext cx="3803964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9616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Diode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219200"/>
            <a:ext cx="7772400" cy="5254752"/>
          </a:xfrm>
        </p:spPr>
        <p:txBody>
          <a:bodyPr/>
          <a:lstStyle/>
          <a:p>
            <a:pPr>
              <a:buNone/>
            </a:pPr>
            <a:r>
              <a:rPr lang="en-US" dirty="0"/>
              <a:t>Forward Bias                 Reverse Bias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752600"/>
            <a:ext cx="3200400" cy="2344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752600"/>
            <a:ext cx="35052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999" y="4200525"/>
            <a:ext cx="3505201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4267200"/>
            <a:ext cx="3505199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582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6397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Voltage Current Characteristic 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43000"/>
            <a:ext cx="7162800" cy="555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037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444" name="Picture 4" descr="C19NF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371600"/>
            <a:ext cx="7645400" cy="4038600"/>
          </a:xfrm>
          <a:prstGeom prst="rect">
            <a:avLst/>
          </a:prstGeom>
          <a:noFill/>
        </p:spPr>
      </p:pic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866888" cy="1066800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Currents in a P-N junction</a:t>
            </a:r>
            <a:endParaRPr lang="en-US" sz="3600" b="1" dirty="0">
              <a:solidFill>
                <a:srgbClr val="C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825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924800" cy="6397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Diode as a Switch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95400"/>
            <a:ext cx="7047512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3886200"/>
            <a:ext cx="280987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431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Diode as Rectifier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90600" y="1295400"/>
            <a:ext cx="7772400" cy="5178552"/>
          </a:xfrm>
        </p:spPr>
        <p:txBody>
          <a:bodyPr/>
          <a:lstStyle/>
          <a:p>
            <a:r>
              <a:rPr lang="en-US" dirty="0"/>
              <a:t>It is a circuit which converts AC into pulsating DC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xmlns="" val="249312618"/>
              </p:ext>
            </p:extLst>
          </p:nvPr>
        </p:nvGraphicFramePr>
        <p:xfrm>
          <a:off x="1524000" y="3048000"/>
          <a:ext cx="609600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16521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8486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Half Wave Rectifier</a:t>
            </a:r>
          </a:p>
        </p:txBody>
      </p:sp>
      <p:pic>
        <p:nvPicPr>
          <p:cNvPr id="7170" name="Picture 2">
            <a:hlinkClick r:id="rId2" action="ppaction://hlinkfile"/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676400" y="1905000"/>
            <a:ext cx="5715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0960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8001000" cy="7921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Center Tapped –Full Wave Rectifier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8801" y="1600200"/>
            <a:ext cx="5486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915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001000" cy="6096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Bridge Rectifier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0200" y="762000"/>
            <a:ext cx="5867400" cy="5439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761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80772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Comparison of HWR and FWR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3013729"/>
                  </p:ext>
                </p:extLst>
              </p:nvPr>
            </p:nvGraphicFramePr>
            <p:xfrm>
              <a:off x="152399" y="685800"/>
              <a:ext cx="8839199" cy="121775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977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56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378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378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5">
                    <a:tc row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Parameters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Half Wave Rectifier (HWR)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500" dirty="0">
                              <a:effectLst/>
                            </a:rPr>
                            <a:t>Full Wave Rectifier (FWR)</a:t>
                          </a:r>
                          <a:endParaRPr lang="en-US" sz="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713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with Centre Tap Transformer (FWR-CTT)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with Bridge (FW-BR)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713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Number of diodes used in circuit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252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Maximum or peak load current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m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effectLst/>
                            </a:rPr>
                            <a:t>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S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S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S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856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DC or Average load current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Ldc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dc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6746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DC or Average load voltage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Ldc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dc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)</m:t>
                                  </m:r>
                                </m:sub>
                              </m:sSub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7311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RMS load current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Lrms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rms</m:t>
                                  </m:r>
                                </m:sub>
                              </m:sSub>
                              <m:r>
                                <a:rPr lang="en-US" sz="1400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7311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RMS load voltage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Lrms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rms</m:t>
                                  </m:r>
                                </m:sub>
                              </m:sSub>
                              <m:r>
                                <a:rPr lang="en-US" sz="1400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m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8374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DC output power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dc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) 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dc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dc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x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m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π</m:t>
                                      </m:r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400" dirty="0">
                              <a:effectLst/>
                            </a:rPr>
                            <a:t>x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L</m:t>
                                  </m:r>
                                </m:sub>
                              </m:sSub>
                            </m:oMath>
                          </a14:m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m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π</m:t>
                                      </m:r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x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L</m:t>
                                  </m:r>
                                </m:sub>
                              </m:sSub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effectLst/>
                                              <a:latin typeface="Cambria Math"/>
                                            </a:rPr>
                                            <m:t>m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π</m:t>
                                      </m:r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x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L</m:t>
                                  </m:r>
                                </m:sub>
                              </m:sSub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66321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AC input power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ac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) 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ac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rms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x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eq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br>
                            <a:rPr lang="en-US" sz="1400">
                              <a:effectLst/>
                            </a:rPr>
                          </a:b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400">
                                                <a:effectLst/>
                                              </a:rPr>
                                              <m:t>I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400">
                                                <a:effectLst/>
                                              </a:rPr>
                                              <m:t>m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sz="1400">
                                    <a:effectLst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effectLst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S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(where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eq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400">
                                                <a:effectLst/>
                                              </a:rPr>
                                              <m:t>I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400">
                                                <a:effectLst/>
                                              </a:rPr>
                                              <m:t>m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sz="1400">
                                    <a:effectLst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effectLst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S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(where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eq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400">
                                                <a:effectLst/>
                                              </a:rPr>
                                              <m:t>I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400">
                                                <a:effectLst/>
                                              </a:rPr>
                                              <m:t>m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sz="1400">
                                    <a:effectLst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1400">
                                    <a:effectLst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S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f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1400">
                                        <a:effectLst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US" sz="1400">
                                            <a:effectLst/>
                                          </a:rPr>
                                          <m:t>L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eq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L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71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Maximum efficiency for rectification (%η) 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% η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dc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ac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x100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40.6 %  or 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4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π</m:t>
                                      </m:r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 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81.2 % or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8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π</m:t>
                                      </m:r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400" dirty="0">
                              <a:effectLst/>
                            </a:rPr>
                            <a:t> 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81.2 % or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1400">
                                      <a:effectLst/>
                                    </a:rPr>
                                    <m:t>8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π</m:t>
                                      </m:r>
                                    </m:e>
                                    <m:sup>
                                      <m:r>
                                        <a:rPr lang="en-US" sz="14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 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4688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Ripple factor (γ)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γ</m:t>
                              </m:r>
                              <m:r>
                                <m:rPr>
                                  <m:nor/>
                                </m:rPr>
                                <a:rPr lang="en-US" sz="1400">
                                  <a:effectLst/>
                                </a:rPr>
                                <m:t>=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(</m:t>
                                      </m:r>
                                      <m:f>
                                        <m:fPr>
                                          <m:ctrlPr>
                                            <a:rPr lang="en-US" sz="14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>
                                                  <a:effectLst/>
                                                </a:rPr>
                                                <m:t>I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>
                                                  <a:effectLst/>
                                                </a:rPr>
                                                <m:t>rms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>
                                                  <a:effectLst/>
                                                </a:rPr>
                                                <m:t>I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>
                                                  <a:effectLst/>
                                                </a:rPr>
                                                <m:t>dc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sz="1400">
                                          <a:effectLst/>
                                        </a:rPr>
                                        <m:t>2 </m:t>
                                      </m:r>
                                    </m:sup>
                                  </m:sSup>
                                  <m: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400">
                                      <a:effectLst/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rad>
                            </m:oMath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1.21 or 121%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0.482 or 48.2%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0.482 or 48.2%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8803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Ripple frequency (f)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f = 50 Hz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(i.e. supply frequency)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f = 100 Hz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(i.e. double of supply frequency)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f = 100 Hz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(i.e. double of supply frequency)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1557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Voltage regulation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Good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Better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3713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Transformer utilization factor (TUF)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0.287 or 28.7%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0.693 or 69.3%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0.812 or 81.2%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1557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Transformer required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Normal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Center tapped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Normal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3713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Peak inverse voltage (PIV)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m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m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/>
                                      </a:rPr>
                                      <m:t>m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1557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Output Waveform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>
                            <a:effectLst/>
                            <a:latin typeface="Times New Roman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>
                            <a:effectLst/>
                            <a:latin typeface="Times New Roman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Times New Roman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3323013729"/>
                  </p:ext>
                </p:extLst>
              </p:nvPr>
            </p:nvGraphicFramePr>
            <p:xfrm>
              <a:off x="152399" y="685800"/>
              <a:ext cx="8839199" cy="1260050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97768"/>
                    <a:gridCol w="2165687"/>
                    <a:gridCol w="2237872"/>
                    <a:gridCol w="2237872"/>
                  </a:tblGrid>
                  <a:tr h="457205">
                    <a:tc row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Parameters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Half Wave Rectifier (HWR)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500" dirty="0">
                              <a:effectLst/>
                            </a:rPr>
                            <a:t>Full Wave Rectifier (FWR)</a:t>
                          </a:r>
                          <a:endParaRPr lang="en-US" sz="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64008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with Centre Tap Transformer (FWR-CTT)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with Bridge (FW-BR)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Number of diodes used in circuit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6726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260000" r="-301662" b="-15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260000" r="-206761" b="-15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260000" r="-100000" b="-15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260000" b="-1530909"/>
                          </a:stretch>
                        </a:blipFill>
                      </a:tcPr>
                    </a:tc>
                  </a:tr>
                  <a:tr h="6583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366667" r="-301662" b="-145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366667" r="-206761" b="-145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366667" r="-100000" b="-145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366667" b="-1459259"/>
                          </a:stretch>
                        </a:blipFill>
                      </a:tcPr>
                    </a:tc>
                  </a:tr>
                  <a:tr h="7059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434483" r="-301662" b="-12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434483" r="-206761" b="-12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434483" r="-100000" b="-12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434483" b="-1258621"/>
                          </a:stretch>
                        </a:blipFill>
                      </a:tcPr>
                    </a:tc>
                  </a:tr>
                  <a:tr h="650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579439" r="-301662" b="-1264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579439" r="-206761" b="-1264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579439" r="-100000" b="-1264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579439" b="-1264486"/>
                          </a:stretch>
                        </a:blipFill>
                      </a:tcPr>
                    </a:tc>
                  </a:tr>
                  <a:tr h="650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679439" r="-301662" b="-1164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679439" r="-206761" b="-1164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679439" r="-100000" b="-1164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679439" b="-1164486"/>
                          </a:stretch>
                        </a:blipFill>
                      </a:tcPr>
                    </a:tc>
                  </a:tr>
                  <a:tr h="7488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683607" r="-301662" b="-9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683607" r="-206761" b="-9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683607" r="-100000" b="-9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683607" b="-921311"/>
                          </a:stretch>
                        </a:blipFill>
                      </a:tcPr>
                    </a:tc>
                  </a:tr>
                  <a:tr h="13757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423009" r="-301662" b="-3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423009" r="-206761" b="-3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423009" r="-100000" b="-3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423009" b="-397345"/>
                          </a:stretch>
                        </a:blipFill>
                      </a:tcPr>
                    </a:tc>
                  </a:tr>
                  <a:tr h="12545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573786" r="-301662" b="-335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573786" r="-206761" b="-335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573786" r="-100000" b="-335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573786" b="-335922"/>
                          </a:stretch>
                        </a:blipFill>
                      </a:tcPr>
                    </a:tc>
                  </a:tr>
                  <a:tr h="12656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t="-667308" r="-301662" b="-23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1.21 or 121%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0.482 or 48.2%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0.482 or 48.2%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9601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Ripple frequency (f)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f = 50 Hz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(i.e. supply frequency)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f = 100 Hz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(i.e. double of supply frequency)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f = 100 Hz</a:t>
                          </a: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(i.e. double of supply frequency)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3200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Voltage regulation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Good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Better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Transformer utilization factor (TUF)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0.287 or 28.7%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0.693 or 69.3%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0.812 or 81.2%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3200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Transformer required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Normal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Center tapped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Normal</a:t>
                          </a:r>
                          <a:endParaRPr lang="en-US" sz="1400" dirty="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  <a:tr h="3200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Peak inverse voltage (PIV)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01690" t="-3703774" r="-206761" b="-12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195095" t="-3703774" r="-100000" b="-12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7509" marR="27509" marT="0" marB="0" anchor="ctr">
                        <a:blipFill rotWithShape="1">
                          <a:blip r:embed="rId2"/>
                          <a:stretch>
                            <a:fillRect l="-295095" t="-3703774" b="-120755"/>
                          </a:stretch>
                        </a:blipFill>
                      </a:tcPr>
                    </a:tc>
                  </a:tr>
                  <a:tr h="3200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Output Waveform</a:t>
                          </a:r>
                          <a:endParaRPr lang="en-US" sz="1400">
                            <a:effectLst/>
                            <a:latin typeface="Calibri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>
                            <a:effectLst/>
                            <a:latin typeface="Times New Roman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>
                            <a:effectLst/>
                            <a:latin typeface="Times New Roman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Times New Roman"/>
                            <a:ea typeface="Times New Roman"/>
                            <a:cs typeface="Times New Roman"/>
                          </a:endParaRPr>
                        </a:p>
                      </a:txBody>
                      <a:tcPr marL="27509" marR="27509" marT="0" marB="0" anchor="ctr"/>
                    </a:tc>
                  </a:tr>
                </a:tbl>
              </a:graphicData>
            </a:graphic>
          </p:graphicFrame>
        </mc:Fallback>
      </mc:AlternateContent>
      <p:pic>
        <p:nvPicPr>
          <p:cNvPr id="307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82862" y="533400"/>
            <a:ext cx="1228725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19125"/>
            <a:ext cx="122872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19125"/>
            <a:ext cx="122872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8693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8001000" cy="6397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Special  Purpose Diode: Zener Diode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990600"/>
            <a:ext cx="130445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219200"/>
            <a:ext cx="4424190" cy="431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6248400"/>
            <a:ext cx="3886200" cy="403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95400" y="2971800"/>
            <a:ext cx="24765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19200" y="3352800"/>
            <a:ext cx="3505200" cy="320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912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066800"/>
            <a:ext cx="7696200" cy="53863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0000FF"/>
                </a:solidFill>
              </a:rPr>
              <a:t>Features: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Uses the relatively constant</a:t>
            </a:r>
            <a:br>
              <a:rPr lang="en-GB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reverse breakdown voltage</a:t>
            </a:r>
            <a:br>
              <a:rPr lang="en-GB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to produce a voltage reference.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Breakdown voltage is called</a:t>
            </a:r>
            <a:br>
              <a:rPr lang="en-GB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Zener voltage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GB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GB" sz="2400" b="1" i="1" baseline="-25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endParaRPr lang="en-GB" sz="2400" b="1" i="1" baseline="-25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Output voltage of circuit </a:t>
            </a:r>
            <a:br>
              <a:rPr lang="en-GB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shown is equal to 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GB" sz="2400" i="1" baseline="-25000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despite</a:t>
            </a:r>
            <a:br>
              <a:rPr lang="en-GB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variations in input voltage </a:t>
            </a:r>
            <a:r>
              <a:rPr lang="en-GB" sz="2400" i="1" dirty="0">
                <a:latin typeface="Times New Roman" pitchFamily="18" charset="0"/>
                <a:cs typeface="Times New Roman" pitchFamily="18" charset="0"/>
              </a:rPr>
              <a:t>V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endParaRPr lang="en-GB" sz="2400" i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 resistor is used to limit</a:t>
            </a:r>
            <a:br>
              <a:rPr lang="en-GB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current in the diode</a:t>
            </a:r>
          </a:p>
        </p:txBody>
      </p:sp>
      <p:pic>
        <p:nvPicPr>
          <p:cNvPr id="709636" name="Picture 4" descr="C19NF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1752600"/>
            <a:ext cx="3105150" cy="3871912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0600" y="274638"/>
            <a:ext cx="8001000" cy="639762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Special  Purpose Diode: Zener Diode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327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Calibri Light" pitchFamily="34" charset="0"/>
                <a:cs typeface="Times New Roman" pitchFamily="18" charset="0"/>
              </a:rPr>
              <a:t>Difference between zener &amp; PN Junction  Diodes</a:t>
            </a: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143000"/>
            <a:ext cx="791713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156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effectLst/>
                <a:latin typeface="Calibri Light" pitchFamily="34" charset="0"/>
                <a:cs typeface="Times New Roman" pitchFamily="18" charset="0"/>
              </a:rPr>
              <a:t>Difference between Avalanche and Zener breakdown 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/>
          <a:srcRect b="17587"/>
          <a:stretch/>
        </p:blipFill>
        <p:spPr bwMode="auto">
          <a:xfrm>
            <a:off x="914400" y="1143001"/>
            <a:ext cx="7772400" cy="452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407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20000" cy="7921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Light Emitting Diode (LED)</a:t>
            </a: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76400"/>
            <a:ext cx="847725" cy="1546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1447800"/>
            <a:ext cx="358422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33600" y="1981200"/>
            <a:ext cx="226314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33599" y="2362200"/>
            <a:ext cx="239485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0" y="2286000"/>
            <a:ext cx="92765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133600" y="2667000"/>
            <a:ext cx="1714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962400" y="2590800"/>
            <a:ext cx="64935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981200" y="1295400"/>
            <a:ext cx="60198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417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Special-Purpose Diodes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143000"/>
            <a:ext cx="7772400" cy="49498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0000FF"/>
                </a:solidFill>
              </a:rPr>
              <a:t>Light-emitting diodes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ym typeface="Symbol" pitchFamily="18" charset="2"/>
              </a:rPr>
              <a:t>discussed earlier when we looked at light actuators</a:t>
            </a:r>
          </a:p>
        </p:txBody>
      </p:sp>
      <p:sp>
        <p:nvSpPr>
          <p:cNvPr id="6942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4280" name="Rectangle 8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4281" name="Rectangle 9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694282" name="Picture 10" descr="fig04_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924175"/>
            <a:ext cx="3733800" cy="2409825"/>
          </a:xfrm>
          <a:prstGeom prst="rect">
            <a:avLst/>
          </a:prstGeom>
          <a:noFill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5473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274638"/>
            <a:ext cx="4648200" cy="792162"/>
          </a:xfrm>
        </p:spPr>
        <p:txBody>
          <a:bodyPr/>
          <a:lstStyle/>
          <a:p>
            <a:pPr algn="ctr"/>
            <a:r>
              <a:rPr lang="en-US" dirty="0"/>
              <a:t>LED Working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1219200"/>
            <a:ext cx="2947987" cy="3306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371600"/>
            <a:ext cx="1904999" cy="26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1799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LED+Applications+Successfully+used+today+for+many+markets+Signs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8200" y="228600"/>
            <a:ext cx="7315200" cy="66294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3197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467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Photo Diode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3707" y="990600"/>
            <a:ext cx="249781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" y="762000"/>
            <a:ext cx="3657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2971800"/>
            <a:ext cx="4353624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9135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001000" cy="762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Photo Diode Characteristics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143000"/>
            <a:ext cx="6624484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2830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866888" cy="762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effectLst/>
                <a:latin typeface="Times New Roman" pitchFamily="18" charset="0"/>
                <a:cs typeface="Times New Roman" pitchFamily="18" charset="0"/>
              </a:rPr>
              <a:t>Key Points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62000"/>
            <a:ext cx="8153400" cy="57912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Diodes allow current to flow in only one direction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 low temperatures semiconductors act like insulators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 higher temperatures they begin to conduct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Doping of semiconductors leads to the production of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p-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type and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-type materials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junction between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p-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type and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-type semiconductors has the properties of a diode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Silicon semiconductor diodes approximate the behavior of ideal diodes but have a conduction voltage of about 0.7 V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There are also a wide range of special purpose diodes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Diodes are used in a range of applications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3237-82C7-42A5-AEF9-3990C36163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41735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/>
        </p:nvSpPr>
        <p:spPr bwMode="auto">
          <a:xfrm>
            <a:off x="228600" y="1253331"/>
            <a:ext cx="83058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endParaRPr lang="en-US" altLang="en-US" dirty="0"/>
          </a:p>
          <a:p>
            <a:pPr algn="ctr">
              <a:buFont typeface="Arial" charset="0"/>
              <a:buNone/>
            </a:pPr>
            <a:r>
              <a:rPr lang="en-US" altLang="en-US" sz="6600" b="1" i="1" dirty="0">
                <a:solidFill>
                  <a:schemeClr val="accent2"/>
                </a:solidFill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DD4A-F986-4E71-BC03-15024DE274B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19399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931</Words>
  <Application>Microsoft Office PowerPoint</Application>
  <PresentationFormat>On-screen Show (4:3)</PresentationFormat>
  <Paragraphs>235</Paragraphs>
  <Slides>34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Slide 1</vt:lpstr>
      <vt:lpstr>Unit I : Introduction to Electronics</vt:lpstr>
      <vt:lpstr>Evolution of Electronics      Vacuum tubes</vt:lpstr>
      <vt:lpstr>Vacuum Tubes</vt:lpstr>
      <vt:lpstr>The first transistor</vt:lpstr>
      <vt:lpstr>Semiconductor technology</vt:lpstr>
      <vt:lpstr>Semiconductor technology</vt:lpstr>
      <vt:lpstr>Active and passive components</vt:lpstr>
      <vt:lpstr>Difference between active &amp; Passive components</vt:lpstr>
      <vt:lpstr>Introduction to semiconductor physics</vt:lpstr>
      <vt:lpstr>Semi-conductor types</vt:lpstr>
      <vt:lpstr>N type semi-conductor</vt:lpstr>
      <vt:lpstr>P-N Junction (Diode)</vt:lpstr>
      <vt:lpstr>Diode Working</vt:lpstr>
      <vt:lpstr>Voltage Current Characteristic </vt:lpstr>
      <vt:lpstr>Currents in a P-N junction</vt:lpstr>
      <vt:lpstr>Diode as a Switch</vt:lpstr>
      <vt:lpstr>Diode as Rectifier</vt:lpstr>
      <vt:lpstr>Half Wave Rectifier</vt:lpstr>
      <vt:lpstr>Center Tapped –Full Wave Rectifier</vt:lpstr>
      <vt:lpstr>Bridge Rectifier</vt:lpstr>
      <vt:lpstr>Comparison of HWR and FWR</vt:lpstr>
      <vt:lpstr>Special  Purpose Diode: Zener Diode</vt:lpstr>
      <vt:lpstr>Slide 24</vt:lpstr>
      <vt:lpstr>Difference between zener &amp; PN Junction  Diodes</vt:lpstr>
      <vt:lpstr>Difference between Avalanche and Zener breakdown </vt:lpstr>
      <vt:lpstr>Light Emitting Diode (LED)</vt:lpstr>
      <vt:lpstr>Special-Purpose Diodes</vt:lpstr>
      <vt:lpstr>LED Working</vt:lpstr>
      <vt:lpstr>Slide 30</vt:lpstr>
      <vt:lpstr>Photo Diode</vt:lpstr>
      <vt:lpstr>Photo Diode Characteristics </vt:lpstr>
      <vt:lpstr>Key Points</vt:lpstr>
      <vt:lpstr>Slide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RANE</dc:creator>
  <cp:lastModifiedBy>Admin</cp:lastModifiedBy>
  <cp:revision>134</cp:revision>
  <cp:lastPrinted>2023-06-09T09:50:35Z</cp:lastPrinted>
  <dcterms:created xsi:type="dcterms:W3CDTF">2020-04-02T13:22:55Z</dcterms:created>
  <dcterms:modified xsi:type="dcterms:W3CDTF">2025-10-09T06:18:56Z</dcterms:modified>
</cp:coreProperties>
</file>