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5" r:id="rId7"/>
    <p:sldId id="268" r:id="rId8"/>
    <p:sldId id="266" r:id="rId9"/>
    <p:sldId id="267" r:id="rId10"/>
    <p:sldId id="261" r:id="rId11"/>
    <p:sldId id="262" r:id="rId12"/>
    <p:sldId id="269" r:id="rId13"/>
    <p:sldId id="264" r:id="rId14"/>
    <p:sldId id="270" r:id="rId15"/>
    <p:sldId id="27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3" d="100"/>
          <a:sy n="103" d="100"/>
        </p:scale>
        <p:origin x="-20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1/1/2008</a:t>
            </a:fld>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1/1/2008</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dirty="0"/>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1/1/2008</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1/1/2008</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dirty="0"/>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1/1/2008</a:t>
            </a:fld>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1D8BD707-D9CF-40AE-B4C6-C98DA3205C09}" type="datetimeFigureOut">
              <a:rPr lang="en-US" smtClean="0"/>
              <a:pPr/>
              <a:t>1/1/2008</a:t>
            </a:fld>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dirty="0"/>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1D8BD707-D9CF-40AE-B4C6-C98DA3205C09}" type="datetimeFigureOut">
              <a:rPr lang="en-US" smtClean="0"/>
              <a:pPr/>
              <a:t>1/1/2008</a:t>
            </a:fld>
            <a:endParaRPr lang="en-US" dirty="0"/>
          </a:p>
        </p:txBody>
      </p:sp>
      <p:sp>
        <p:nvSpPr>
          <p:cNvPr id="3" name="Footer Placeholder 2"/>
          <p:cNvSpPr>
            <a:spLocks noGrp="1"/>
          </p:cNvSpPr>
          <p:nvPr>
            <p:ph type="ftr" sz="quarter" idx="11"/>
          </p:nvPr>
        </p:nvSpPr>
        <p:spPr/>
        <p:txBody>
          <a:bodyPr/>
          <a:lstStyle>
            <a:extLst/>
          </a:lstStyle>
          <a:p>
            <a:endParaRPr lang="en-US" dirty="0"/>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1D8BD707-D9CF-40AE-B4C6-C98DA3205C09}" type="datetimeFigureOut">
              <a:rPr lang="en-US" smtClean="0"/>
              <a:pPr/>
              <a:t>1/1/2008</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1/1/2008</a:t>
            </a:fld>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1/1/2008</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1/1/2008</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1/1/2008</a:t>
            </a:fld>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76400"/>
            <a:ext cx="7772400" cy="2057399"/>
          </a:xfrm>
        </p:spPr>
        <p:txBody>
          <a:bodyPr>
            <a:noAutofit/>
          </a:bodyPr>
          <a:lstStyle/>
          <a:p>
            <a:pPr algn="ctr"/>
            <a:r>
              <a:rPr lang="en-US" sz="6000" dirty="0" smtClean="0">
                <a:solidFill>
                  <a:srgbClr val="FF0000"/>
                </a:solidFill>
              </a:rPr>
              <a:t>NON DESTRUCTIVE TESTING</a:t>
            </a:r>
            <a:endParaRPr lang="en-IN" sz="6000" dirty="0">
              <a:solidFill>
                <a:srgbClr val="FF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0"/>
            <a:ext cx="8229600" cy="914400"/>
          </a:xfrm>
        </p:spPr>
        <p:txBody>
          <a:bodyPr>
            <a:normAutofit fontScale="90000"/>
          </a:bodyPr>
          <a:lstStyle/>
          <a:p>
            <a:pPr algn="ctr"/>
            <a:r>
              <a:rPr lang="en-US" dirty="0" smtClean="0"/>
              <a:t/>
            </a:r>
            <a:br>
              <a:rPr lang="en-US" dirty="0" smtClean="0"/>
            </a:br>
            <a:r>
              <a:rPr lang="en-US" dirty="0" smtClean="0">
                <a:solidFill>
                  <a:srgbClr val="FF0000"/>
                </a:solidFill>
              </a:rPr>
              <a:t>Testing Method</a:t>
            </a:r>
            <a:br>
              <a:rPr lang="en-US" dirty="0" smtClean="0">
                <a:solidFill>
                  <a:srgbClr val="FF0000"/>
                </a:solidFill>
              </a:rPr>
            </a:br>
            <a:endParaRPr lang="en-IN" dirty="0">
              <a:solidFill>
                <a:srgbClr val="FF0000"/>
              </a:solidFill>
            </a:endParaRPr>
          </a:p>
        </p:txBody>
      </p:sp>
      <p:graphicFrame>
        <p:nvGraphicFramePr>
          <p:cNvPr id="4" name="Table 3"/>
          <p:cNvGraphicFramePr>
            <a:graphicFrameLocks noGrp="1"/>
          </p:cNvGraphicFramePr>
          <p:nvPr/>
        </p:nvGraphicFramePr>
        <p:xfrm>
          <a:off x="304800" y="1397000"/>
          <a:ext cx="8153400" cy="4394200"/>
        </p:xfrm>
        <a:graphic>
          <a:graphicData uri="http://schemas.openxmlformats.org/drawingml/2006/table">
            <a:tbl>
              <a:tblPr firstRow="1" bandRow="1">
                <a:tableStyleId>{5C22544A-7EE6-4342-B048-85BDC9FD1C3A}</a:tableStyleId>
              </a:tblPr>
              <a:tblGrid>
                <a:gridCol w="4076700"/>
                <a:gridCol w="4076700"/>
              </a:tblGrid>
              <a:tr h="670676">
                <a:tc>
                  <a:txBody>
                    <a:bodyPr/>
                    <a:lstStyle/>
                    <a:p>
                      <a:r>
                        <a:rPr lang="en-US" dirty="0" smtClean="0"/>
                        <a:t>Destructive testing</a:t>
                      </a:r>
                      <a:endParaRPr lang="en-IN" dirty="0"/>
                    </a:p>
                  </a:txBody>
                  <a:tcPr/>
                </a:tc>
                <a:tc>
                  <a:txBody>
                    <a:bodyPr/>
                    <a:lstStyle/>
                    <a:p>
                      <a:r>
                        <a:rPr lang="en-US" dirty="0" smtClean="0"/>
                        <a:t>Non Destructive testing</a:t>
                      </a:r>
                      <a:endParaRPr lang="en-IN" dirty="0"/>
                    </a:p>
                  </a:txBody>
                  <a:tcPr/>
                </a:tc>
              </a:tr>
              <a:tr h="670676">
                <a:tc>
                  <a:txBody>
                    <a:bodyPr/>
                    <a:lstStyle/>
                    <a:p>
                      <a:r>
                        <a:rPr lang="en-US" b="1" dirty="0" smtClean="0"/>
                        <a:t>1 The specimen is destroyed</a:t>
                      </a:r>
                      <a:endParaRPr lang="en-IN" b="1" dirty="0"/>
                    </a:p>
                  </a:txBody>
                  <a:tcPr/>
                </a:tc>
                <a:tc>
                  <a:txBody>
                    <a:bodyPr/>
                    <a:lstStyle/>
                    <a:p>
                      <a:r>
                        <a:rPr lang="en-US" b="1" dirty="0" smtClean="0"/>
                        <a:t>1 The specimen is  not destroyed</a:t>
                      </a:r>
                      <a:endParaRPr lang="en-IN" b="1" dirty="0"/>
                    </a:p>
                  </a:txBody>
                  <a:tcPr/>
                </a:tc>
              </a:tr>
              <a:tr h="670676">
                <a:tc>
                  <a:txBody>
                    <a:bodyPr/>
                    <a:lstStyle/>
                    <a:p>
                      <a:r>
                        <a:rPr lang="en-US" b="1" dirty="0" smtClean="0"/>
                        <a:t>2. All components can’t be tested</a:t>
                      </a:r>
                      <a:endParaRPr lang="en-IN" b="1" dirty="0"/>
                    </a:p>
                  </a:txBody>
                  <a:tcPr/>
                </a:tc>
                <a:tc>
                  <a:txBody>
                    <a:bodyPr/>
                    <a:lstStyle/>
                    <a:p>
                      <a:r>
                        <a:rPr lang="en-US" b="1" dirty="0" smtClean="0"/>
                        <a:t>2. All components can be tested</a:t>
                      </a:r>
                      <a:endParaRPr lang="en-IN" b="1" dirty="0"/>
                    </a:p>
                  </a:txBody>
                  <a:tcPr/>
                </a:tc>
              </a:tr>
              <a:tr h="855748">
                <a:tc>
                  <a:txBody>
                    <a:bodyPr/>
                    <a:lstStyle/>
                    <a:p>
                      <a:r>
                        <a:rPr lang="en-US" b="1" dirty="0" smtClean="0"/>
                        <a:t>3.Tests are more time consuming</a:t>
                      </a:r>
                      <a:endParaRPr lang="en-IN" b="1" dirty="0"/>
                    </a:p>
                  </a:txBody>
                  <a:tcPr/>
                </a:tc>
                <a:tc>
                  <a:txBody>
                    <a:bodyPr/>
                    <a:lstStyle/>
                    <a:p>
                      <a:r>
                        <a:rPr lang="en-US" b="1" dirty="0" smtClean="0"/>
                        <a:t>3.Tests are more rapid, not time consuming</a:t>
                      </a:r>
                      <a:endParaRPr lang="en-IN" b="1" dirty="0"/>
                    </a:p>
                  </a:txBody>
                  <a:tcPr/>
                </a:tc>
              </a:tr>
              <a:tr h="855748">
                <a:tc>
                  <a:txBody>
                    <a:bodyPr/>
                    <a:lstStyle/>
                    <a:p>
                      <a:r>
                        <a:rPr lang="en-US" b="1" dirty="0" smtClean="0"/>
                        <a:t>4.Testing during operation is not possible</a:t>
                      </a:r>
                      <a:endParaRPr lang="en-IN" b="1" dirty="0"/>
                    </a:p>
                  </a:txBody>
                  <a:tcPr/>
                </a:tc>
                <a:tc>
                  <a:txBody>
                    <a:bodyPr/>
                    <a:lstStyle/>
                    <a:p>
                      <a:r>
                        <a:rPr lang="en-US" b="1" dirty="0" smtClean="0"/>
                        <a:t>4.Testing during operation is not possible</a:t>
                      </a:r>
                      <a:endParaRPr lang="en-IN" b="1" dirty="0"/>
                    </a:p>
                  </a:txBody>
                  <a:tcPr/>
                </a:tc>
              </a:tr>
              <a:tr h="670676">
                <a:tc>
                  <a:txBody>
                    <a:bodyPr/>
                    <a:lstStyle/>
                    <a:p>
                      <a:r>
                        <a:rPr lang="en-US" b="1" dirty="0" smtClean="0"/>
                        <a:t>5.Test results are quantitative.</a:t>
                      </a:r>
                      <a:endParaRPr lang="en-IN" b="1" dirty="0"/>
                    </a:p>
                  </a:txBody>
                  <a:tcPr/>
                </a:tc>
                <a:tc>
                  <a:txBody>
                    <a:bodyPr/>
                    <a:lstStyle/>
                    <a:p>
                      <a:r>
                        <a:rPr lang="en-US" b="1" dirty="0" smtClean="0"/>
                        <a:t>5.Test results are qualitative</a:t>
                      </a:r>
                      <a:endParaRPr lang="en-IN" b="1"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0" fill="hold"/>
                                        <p:tgtEl>
                                          <p:spTgt spid="4"/>
                                        </p:tgtEl>
                                        <p:attrNameLst>
                                          <p:attrName>ppt_x</p:attrName>
                                        </p:attrNameLst>
                                      </p:cBhvr>
                                      <p:tavLst>
                                        <p:tav tm="0">
                                          <p:val>
                                            <p:strVal val="#ppt_x"/>
                                          </p:val>
                                        </p:tav>
                                        <p:tav tm="100000">
                                          <p:val>
                                            <p:strVal val="#ppt_x"/>
                                          </p:val>
                                        </p:tav>
                                      </p:tavLst>
                                    </p:anim>
                                    <p:anim calcmode="lin" valueType="num">
                                      <p:cBhvr additive="base">
                                        <p:cTn id="8" dur="50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Surface crack</a:t>
            </a:r>
          </a:p>
          <a:p>
            <a:r>
              <a:rPr lang="en-US" dirty="0" smtClean="0"/>
              <a:t>Surface irregularities</a:t>
            </a:r>
          </a:p>
          <a:p>
            <a:r>
              <a:rPr lang="en-US" dirty="0" smtClean="0"/>
              <a:t>Internal Cracks</a:t>
            </a:r>
          </a:p>
          <a:p>
            <a:r>
              <a:rPr lang="en-US" dirty="0" smtClean="0"/>
              <a:t>Presence of impurities or air bubble</a:t>
            </a:r>
          </a:p>
          <a:p>
            <a:r>
              <a:rPr lang="en-US" dirty="0" smtClean="0"/>
              <a:t>Variation in dimension</a:t>
            </a:r>
          </a:p>
          <a:p>
            <a:r>
              <a:rPr lang="en-US" dirty="0" smtClean="0"/>
              <a:t>Creep: Permanent deformation of a component when subjected to constant load for a long time.</a:t>
            </a:r>
          </a:p>
          <a:p>
            <a:r>
              <a:rPr lang="en-US" dirty="0" smtClean="0"/>
              <a:t>Fatigue: It is failure of a material due to repeated cycle of loading and unloading</a:t>
            </a:r>
            <a:endParaRPr lang="en-IN" dirty="0"/>
          </a:p>
        </p:txBody>
      </p:sp>
      <p:sp>
        <p:nvSpPr>
          <p:cNvPr id="3" name="Title 2"/>
          <p:cNvSpPr>
            <a:spLocks noGrp="1"/>
          </p:cNvSpPr>
          <p:nvPr>
            <p:ph type="title"/>
          </p:nvPr>
        </p:nvSpPr>
        <p:spPr/>
        <p:txBody>
          <a:bodyPr/>
          <a:lstStyle/>
          <a:p>
            <a:r>
              <a:rPr lang="en-US" dirty="0" smtClean="0">
                <a:solidFill>
                  <a:srgbClr val="FF0000"/>
                </a:solidFill>
              </a:rPr>
              <a:t>Types of Defect:</a:t>
            </a:r>
            <a:endParaRPr lang="en-IN"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ox(in)">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box(in)">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box(in)">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box(in)">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box(in)">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box(in)">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box(in)">
                                      <p:cBhvr>
                                        <p:cTn id="4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To detect flaws during the manufacturing of component .</a:t>
            </a:r>
          </a:p>
          <a:p>
            <a:r>
              <a:rPr lang="en-US" dirty="0" smtClean="0"/>
              <a:t>  To detect flaws of finished component  which will enhance their performance and reliability.</a:t>
            </a:r>
          </a:p>
          <a:p>
            <a:r>
              <a:rPr lang="en-US" dirty="0" smtClean="0"/>
              <a:t>To detect flaws which may develop during operation which will ensure that there is no reduction in the rate of production.</a:t>
            </a:r>
          </a:p>
          <a:p>
            <a:r>
              <a:rPr lang="en-US" dirty="0" smtClean="0"/>
              <a:t>To increase the safety.</a:t>
            </a:r>
          </a:p>
          <a:p>
            <a:endParaRPr lang="en-IN" dirty="0"/>
          </a:p>
        </p:txBody>
      </p:sp>
      <p:sp>
        <p:nvSpPr>
          <p:cNvPr id="3" name="Title 2"/>
          <p:cNvSpPr>
            <a:spLocks noGrp="1"/>
          </p:cNvSpPr>
          <p:nvPr>
            <p:ph type="title"/>
          </p:nvPr>
        </p:nvSpPr>
        <p:spPr/>
        <p:txBody>
          <a:bodyPr/>
          <a:lstStyle/>
          <a:p>
            <a:r>
              <a:rPr lang="en-US" dirty="0" smtClean="0">
                <a:solidFill>
                  <a:srgbClr val="FF0000"/>
                </a:solidFill>
              </a:rPr>
              <a:t>Objectives of NDT</a:t>
            </a:r>
            <a:endParaRPr lang="en-IN"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ox(in)">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box(in)">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box(in)">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box(in)">
                                      <p:cBhvr>
                                        <p:cTn id="2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Liquid or dye penetrate test</a:t>
            </a:r>
          </a:p>
          <a:p>
            <a:r>
              <a:rPr lang="en-US" dirty="0" smtClean="0"/>
              <a:t>Radiography Method </a:t>
            </a:r>
          </a:p>
          <a:p>
            <a:pPr>
              <a:buNone/>
            </a:pPr>
            <a:r>
              <a:rPr lang="en-US" dirty="0" smtClean="0"/>
              <a:t>       a) X-ray radiography</a:t>
            </a:r>
          </a:p>
          <a:p>
            <a:pPr>
              <a:buNone/>
            </a:pPr>
            <a:r>
              <a:rPr lang="en-US" dirty="0" smtClean="0"/>
              <a:t>       b)</a:t>
            </a:r>
            <a:r>
              <a:rPr lang="el-GR" dirty="0" smtClean="0"/>
              <a:t>ϒ</a:t>
            </a:r>
            <a:r>
              <a:rPr lang="en-US" dirty="0" smtClean="0"/>
              <a:t> rays radiography</a:t>
            </a:r>
          </a:p>
          <a:p>
            <a:r>
              <a:rPr lang="en-US" dirty="0" smtClean="0"/>
              <a:t>Ultrasonic inspection</a:t>
            </a:r>
          </a:p>
          <a:p>
            <a:r>
              <a:rPr lang="en-US" dirty="0" smtClean="0"/>
              <a:t>Magnetic particle inspection</a:t>
            </a:r>
          </a:p>
          <a:p>
            <a:r>
              <a:rPr lang="en-US" dirty="0" smtClean="0"/>
              <a:t>Visual inspection</a:t>
            </a:r>
          </a:p>
          <a:p>
            <a:r>
              <a:rPr lang="en-US" dirty="0" smtClean="0"/>
              <a:t>Eddy current inspection</a:t>
            </a:r>
          </a:p>
          <a:p>
            <a:r>
              <a:rPr lang="en-US" dirty="0" err="1" smtClean="0"/>
              <a:t>Thermography</a:t>
            </a:r>
            <a:endParaRPr lang="en-US" dirty="0" smtClean="0"/>
          </a:p>
          <a:p>
            <a:endParaRPr lang="en-US" dirty="0" smtClean="0"/>
          </a:p>
          <a:p>
            <a:endParaRPr lang="en-IN" dirty="0"/>
          </a:p>
        </p:txBody>
      </p:sp>
      <p:sp>
        <p:nvSpPr>
          <p:cNvPr id="3" name="Title 2"/>
          <p:cNvSpPr>
            <a:spLocks noGrp="1"/>
          </p:cNvSpPr>
          <p:nvPr>
            <p:ph type="title"/>
          </p:nvPr>
        </p:nvSpPr>
        <p:spPr/>
        <p:txBody>
          <a:bodyPr/>
          <a:lstStyle/>
          <a:p>
            <a:r>
              <a:rPr lang="en-US" dirty="0" smtClean="0">
                <a:solidFill>
                  <a:srgbClr val="FF0000"/>
                </a:solidFill>
              </a:rPr>
              <a:t>Methods of NDT</a:t>
            </a:r>
            <a:endParaRPr lang="en-IN"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checkerboard(across)">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box(in)">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box(in)">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box(in)">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checkerboard(across)">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checkerboard(across)">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checkerboard(across)">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checkerboard(across)">
                                      <p:cBhvr>
                                        <p:cTn id="47" dur="500"/>
                                        <p:tgtEl>
                                          <p:spTgt spid="2">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2">
                                            <p:txEl>
                                              <p:pRg st="8" end="8"/>
                                            </p:txEl>
                                          </p:spTgt>
                                        </p:tgtEl>
                                        <p:attrNameLst>
                                          <p:attrName>style.visibility</p:attrName>
                                        </p:attrNameLst>
                                      </p:cBhvr>
                                      <p:to>
                                        <p:strVal val="visible"/>
                                      </p:to>
                                    </p:set>
                                    <p:animEffect transition="in" filter="checkerboard(across)">
                                      <p:cBhvr>
                                        <p:cTn id="5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5800" y="3429001"/>
            <a:ext cx="7315200" cy="646331"/>
          </a:xfrm>
          <a:prstGeom prst="rect">
            <a:avLst/>
          </a:prstGeom>
          <a:noFill/>
        </p:spPr>
        <p:txBody>
          <a:bodyPr wrap="square" rtlCol="0">
            <a:spAutoFit/>
          </a:bodyPr>
          <a:lstStyle/>
          <a:p>
            <a:pPr marL="342900" indent="-342900">
              <a:buFont typeface="+mj-lt"/>
              <a:buAutoNum type="arabicPeriod"/>
            </a:pPr>
            <a:endParaRPr lang="en-US" dirty="0" smtClean="0"/>
          </a:p>
          <a:p>
            <a:pPr>
              <a:buFont typeface="Arial" pitchFamily="34" charset="0"/>
              <a:buChar char="•"/>
            </a:pPr>
            <a:endParaRPr lang="en-US" dirty="0"/>
          </a:p>
        </p:txBody>
      </p:sp>
      <p:sp>
        <p:nvSpPr>
          <p:cNvPr id="4" name="TextBox 3"/>
          <p:cNvSpPr txBox="1"/>
          <p:nvPr/>
        </p:nvSpPr>
        <p:spPr>
          <a:xfrm>
            <a:off x="381000" y="304800"/>
            <a:ext cx="8305800" cy="6247864"/>
          </a:xfrm>
          <a:prstGeom prst="rect">
            <a:avLst/>
          </a:prstGeom>
          <a:noFill/>
        </p:spPr>
        <p:txBody>
          <a:bodyPr wrap="square" rtlCol="0">
            <a:spAutoFit/>
          </a:bodyPr>
          <a:lstStyle/>
          <a:p>
            <a:pPr marL="342900" indent="-342900" algn="ctr"/>
            <a:r>
              <a:rPr lang="en-US" sz="4000" b="1" dirty="0" smtClean="0">
                <a:solidFill>
                  <a:srgbClr val="FF0000"/>
                </a:solidFill>
                <a:effectLst>
                  <a:outerShdw blurRad="38100" dist="38100" dir="2700000" algn="tl">
                    <a:srgbClr val="000000">
                      <a:alpha val="43137"/>
                    </a:srgbClr>
                  </a:outerShdw>
                </a:effectLst>
              </a:rPr>
              <a:t>X-ray </a:t>
            </a:r>
            <a:r>
              <a:rPr lang="en-US" sz="4000" b="1" dirty="0" smtClean="0">
                <a:solidFill>
                  <a:srgbClr val="FF0000"/>
                </a:solidFill>
                <a:effectLst>
                  <a:outerShdw blurRad="38100" dist="38100" dir="2700000" algn="tl">
                    <a:srgbClr val="000000">
                      <a:alpha val="43137"/>
                    </a:srgbClr>
                  </a:outerShdw>
                </a:effectLst>
              </a:rPr>
              <a:t>radiography</a:t>
            </a:r>
          </a:p>
          <a:p>
            <a:pPr marL="342900" indent="-342900">
              <a:buFont typeface="+mj-lt"/>
              <a:buAutoNum type="arabicPeriod"/>
            </a:pPr>
            <a:endParaRPr lang="en-US" dirty="0" smtClean="0"/>
          </a:p>
          <a:p>
            <a:pPr marL="342900" indent="-342900">
              <a:buFont typeface="+mj-lt"/>
              <a:buAutoNum type="arabicPeriod"/>
            </a:pPr>
            <a:r>
              <a:rPr lang="en-US" dirty="0" smtClean="0"/>
              <a:t>X ray have high penetration power. The smaller the wavelength , larger is the penetration power.</a:t>
            </a:r>
          </a:p>
          <a:p>
            <a:pPr marL="342900" indent="-342900">
              <a:buFont typeface="+mj-lt"/>
              <a:buAutoNum type="arabicPeriod"/>
            </a:pPr>
            <a:r>
              <a:rPr lang="en-US" dirty="0" smtClean="0"/>
              <a:t>When x rays are passed through metals, the intensity decreases due to absorption.</a:t>
            </a:r>
          </a:p>
          <a:p>
            <a:pPr marL="342900" indent="-342900">
              <a:buFont typeface="+mj-lt"/>
              <a:buAutoNum type="arabicPeriod"/>
            </a:pPr>
            <a:r>
              <a:rPr lang="en-US" dirty="0" smtClean="0"/>
              <a:t>Larger the distance travelled by x rays in the metal, larger is the decrease n the </a:t>
            </a:r>
            <a:r>
              <a:rPr lang="en-US" dirty="0" err="1" smtClean="0"/>
              <a:t>intensty</a:t>
            </a:r>
            <a:r>
              <a:rPr lang="en-US" dirty="0" smtClean="0"/>
              <a:t> and smaller is the transmitted intensity.</a:t>
            </a:r>
          </a:p>
          <a:p>
            <a:pPr marL="342900" indent="-342900">
              <a:buFont typeface="+mj-lt"/>
              <a:buAutoNum type="arabicPeriod"/>
            </a:pPr>
            <a:r>
              <a:rPr lang="en-US" dirty="0" smtClean="0"/>
              <a:t>The decrease in intensity also depends on the density of the </a:t>
            </a:r>
            <a:r>
              <a:rPr lang="en-US" dirty="0" err="1" smtClean="0"/>
              <a:t>materal</a:t>
            </a:r>
            <a:r>
              <a:rPr lang="en-US" dirty="0" smtClean="0"/>
              <a:t>.</a:t>
            </a:r>
          </a:p>
          <a:p>
            <a:pPr marL="342900" indent="-342900">
              <a:buFont typeface="+mj-lt"/>
              <a:buAutoNum type="arabicPeriod"/>
            </a:pPr>
            <a:r>
              <a:rPr lang="en-US" dirty="0" smtClean="0"/>
              <a:t>If x rays are passed through a </a:t>
            </a:r>
            <a:r>
              <a:rPr lang="en-US" dirty="0" err="1" smtClean="0"/>
              <a:t>metalpiece</a:t>
            </a:r>
            <a:r>
              <a:rPr lang="en-US" dirty="0" smtClean="0"/>
              <a:t> containing flaw, larger intensity of x rays will be transmitted through that region due to small thickness of metal in that region compared to surrounding region.</a:t>
            </a:r>
          </a:p>
          <a:p>
            <a:pPr marL="342900" indent="-342900">
              <a:buFont typeface="+mj-lt"/>
              <a:buAutoNum type="arabicPeriod"/>
            </a:pPr>
            <a:r>
              <a:rPr lang="en-US" dirty="0" smtClean="0"/>
              <a:t>The x ray film </a:t>
            </a:r>
            <a:r>
              <a:rPr lang="en-US" dirty="0" err="1" smtClean="0"/>
              <a:t>krpt</a:t>
            </a:r>
            <a:r>
              <a:rPr lang="en-US" dirty="0" smtClean="0"/>
              <a:t> behind the object will become darker in the </a:t>
            </a:r>
            <a:r>
              <a:rPr lang="en-US" dirty="0" err="1" smtClean="0"/>
              <a:t>regionof</a:t>
            </a:r>
            <a:r>
              <a:rPr lang="en-US" dirty="0" smtClean="0"/>
              <a:t> the flaw . This is similar to the x rays of human body in which the bones appear transparent on the film as they block the x rays and remaining region are darker. This method is able to reveal the flaws hidden in the interior of the component.</a:t>
            </a:r>
          </a:p>
          <a:p>
            <a:pPr marL="342900" indent="-342900">
              <a:buFont typeface="+mj-lt"/>
              <a:buAutoNum type="arabicPeriod"/>
            </a:pPr>
            <a:r>
              <a:rPr lang="en-US" dirty="0" smtClean="0"/>
              <a:t>The x ray image is taken for only one position of the source, the flaw can be detected but its </a:t>
            </a:r>
            <a:r>
              <a:rPr lang="en-US" dirty="0" err="1" smtClean="0"/>
              <a:t>positon</a:t>
            </a:r>
            <a:r>
              <a:rPr lang="en-US" dirty="0" smtClean="0"/>
              <a:t> cannot be located. </a:t>
            </a:r>
          </a:p>
          <a:p>
            <a:pPr marL="342900" indent="-342900">
              <a:buFont typeface="+mj-lt"/>
              <a:buAutoNum type="arabicPeriod"/>
            </a:pPr>
            <a:endParaRPr lang="en-US"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dmin\Downloads\CamScanner 06-30-2022 10.35.42_1.jpg"/>
          <p:cNvPicPr>
            <a:picLocks noChangeAspect="1" noChangeArrowheads="1"/>
          </p:cNvPicPr>
          <p:nvPr/>
        </p:nvPicPr>
        <p:blipFill>
          <a:blip r:embed="rId2"/>
          <a:srcRect/>
          <a:stretch>
            <a:fillRect/>
          </a:stretch>
        </p:blipFill>
        <p:spPr bwMode="auto">
          <a:xfrm>
            <a:off x="228600" y="1371600"/>
            <a:ext cx="8229600" cy="327660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dmin\Downloads\CamScanner 06-30-2022 10.35.42_2.jpg"/>
          <p:cNvPicPr>
            <a:picLocks noChangeAspect="1" noChangeArrowheads="1"/>
          </p:cNvPicPr>
          <p:nvPr/>
        </p:nvPicPr>
        <p:blipFill>
          <a:blip r:embed="rId2"/>
          <a:srcRect/>
          <a:stretch>
            <a:fillRect/>
          </a:stretch>
        </p:blipFill>
        <p:spPr bwMode="auto">
          <a:xfrm>
            <a:off x="0" y="2209800"/>
            <a:ext cx="9144000" cy="2971800"/>
          </a:xfrm>
          <a:prstGeom prst="rect">
            <a:avLst/>
          </a:prstGeom>
          <a:noFill/>
        </p:spPr>
      </p:pic>
      <p:sp>
        <p:nvSpPr>
          <p:cNvPr id="4" name="TextBox 3"/>
          <p:cNvSpPr txBox="1"/>
          <p:nvPr/>
        </p:nvSpPr>
        <p:spPr>
          <a:xfrm>
            <a:off x="304800" y="381000"/>
            <a:ext cx="8839200" cy="1754326"/>
          </a:xfrm>
          <a:prstGeom prst="rect">
            <a:avLst/>
          </a:prstGeom>
          <a:noFill/>
        </p:spPr>
        <p:txBody>
          <a:bodyPr wrap="square" rtlCol="0">
            <a:spAutoFit/>
          </a:bodyPr>
          <a:lstStyle/>
          <a:p>
            <a:pPr marL="342900" indent="-342900">
              <a:buFont typeface="+mj-lt"/>
              <a:buAutoNum type="arabicPeriod"/>
            </a:pPr>
            <a:r>
              <a:rPr lang="en-US" dirty="0" smtClean="0"/>
              <a:t>To locate the position of the flaw, the image is taken for two position of the source as shown in fig. below.</a:t>
            </a:r>
          </a:p>
          <a:p>
            <a:pPr marL="342900" indent="-342900">
              <a:buFont typeface="+mj-lt"/>
              <a:buAutoNum type="arabicPeriod"/>
            </a:pPr>
            <a:r>
              <a:rPr lang="en-US" dirty="0" smtClean="0"/>
              <a:t> d=</a:t>
            </a:r>
            <a:r>
              <a:rPr lang="en-US" dirty="0" err="1" smtClean="0"/>
              <a:t>f×s</a:t>
            </a:r>
            <a:r>
              <a:rPr lang="en-US" dirty="0" smtClean="0"/>
              <a:t>  ⁄</a:t>
            </a:r>
            <a:r>
              <a:rPr lang="en-US" dirty="0" err="1" smtClean="0"/>
              <a:t>s+p</a:t>
            </a:r>
            <a:endParaRPr lang="en-US" dirty="0" smtClean="0"/>
          </a:p>
          <a:p>
            <a:pPr marL="342900" indent="-342900">
              <a:buFont typeface="+mj-lt"/>
              <a:buAutoNum type="arabicPeriod"/>
            </a:pPr>
            <a:r>
              <a:rPr lang="en-US" dirty="0" smtClean="0"/>
              <a:t> d=depth of flaw ; f=dist bet source and film ;</a:t>
            </a:r>
          </a:p>
          <a:p>
            <a:pPr marL="342900" indent="-342900">
              <a:buFont typeface="+mj-lt"/>
              <a:buAutoNum type="arabicPeriod"/>
            </a:pPr>
            <a:r>
              <a:rPr lang="en-US" dirty="0" smtClean="0"/>
              <a:t>p=dist bet two positions of source ; s=dist bet two image</a:t>
            </a:r>
          </a:p>
          <a:p>
            <a:pPr marL="342900" indent="-342900">
              <a:buFont typeface="+mj-lt"/>
              <a:buAutoNum type="arabicPeriod"/>
            </a:pPr>
            <a:endParaRPr 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228600"/>
            <a:ext cx="8153400" cy="3416320"/>
          </a:xfrm>
          <a:prstGeom prst="rect">
            <a:avLst/>
          </a:prstGeom>
          <a:noFill/>
        </p:spPr>
        <p:txBody>
          <a:bodyPr wrap="square" rtlCol="0">
            <a:spAutoFit/>
          </a:bodyPr>
          <a:lstStyle/>
          <a:p>
            <a:r>
              <a:rPr lang="en-US" dirty="0" smtClean="0">
                <a:solidFill>
                  <a:srgbClr val="FF0000"/>
                </a:solidFill>
              </a:rPr>
              <a:t>Advantages :</a:t>
            </a:r>
          </a:p>
          <a:p>
            <a:pPr marL="342900" indent="-342900">
              <a:buFont typeface="+mj-lt"/>
              <a:buAutoNum type="arabicPeriod"/>
            </a:pPr>
            <a:r>
              <a:rPr lang="en-US" dirty="0" smtClean="0"/>
              <a:t>Hidden flaws can be detected.</a:t>
            </a:r>
          </a:p>
          <a:p>
            <a:pPr marL="342900" indent="-342900">
              <a:buFont typeface="+mj-lt"/>
              <a:buAutoNum type="arabicPeriod"/>
            </a:pPr>
            <a:r>
              <a:rPr lang="en-US" dirty="0" smtClean="0"/>
              <a:t>Inspection takes place little time.</a:t>
            </a:r>
          </a:p>
          <a:p>
            <a:pPr marL="342900" indent="-342900">
              <a:buFont typeface="+mj-lt"/>
              <a:buAutoNum type="arabicPeriod"/>
            </a:pPr>
            <a:r>
              <a:rPr lang="en-US" dirty="0" smtClean="0"/>
              <a:t>A wide variety of materials can  be tested.</a:t>
            </a:r>
          </a:p>
          <a:p>
            <a:pPr marL="342900" indent="-342900">
              <a:buFont typeface="+mj-lt"/>
              <a:buAutoNum type="arabicPeriod"/>
            </a:pPr>
            <a:endParaRPr lang="en-US" dirty="0" smtClean="0"/>
          </a:p>
          <a:p>
            <a:pPr marL="342900" indent="-342900"/>
            <a:r>
              <a:rPr lang="en-US" dirty="0" smtClean="0">
                <a:solidFill>
                  <a:srgbClr val="FF0000"/>
                </a:solidFill>
              </a:rPr>
              <a:t>Disadvantages  :</a:t>
            </a:r>
          </a:p>
          <a:p>
            <a:pPr marL="342900" indent="-342900">
              <a:buFont typeface="+mj-lt"/>
              <a:buAutoNum type="arabicPeriod"/>
            </a:pPr>
            <a:r>
              <a:rPr lang="en-US" dirty="0" smtClean="0"/>
              <a:t>Is </a:t>
            </a:r>
            <a:r>
              <a:rPr lang="en-US" dirty="0" err="1" smtClean="0"/>
              <a:t>is</a:t>
            </a:r>
            <a:r>
              <a:rPr lang="en-US" dirty="0" smtClean="0"/>
              <a:t> expensive compare to other methods.</a:t>
            </a:r>
          </a:p>
          <a:p>
            <a:pPr marL="342900" indent="-342900">
              <a:buFont typeface="+mj-lt"/>
              <a:buAutoNum type="arabicPeriod"/>
            </a:pPr>
            <a:r>
              <a:rPr lang="en-US" dirty="0" smtClean="0"/>
              <a:t>Inspection has to be carried out in an isolated place as long exposure to x rays is harmful to human beings.</a:t>
            </a:r>
          </a:p>
          <a:p>
            <a:pPr marL="342900" indent="-342900">
              <a:buFont typeface="+mj-lt"/>
              <a:buAutoNum type="arabicPeriod"/>
            </a:pPr>
            <a:r>
              <a:rPr lang="en-US" dirty="0" smtClean="0"/>
              <a:t>Very small flaws cannot be detected.</a:t>
            </a:r>
          </a:p>
          <a:p>
            <a:pPr marL="342900" indent="-342900">
              <a:buFont typeface="+mj-lt"/>
              <a:buAutoNum type="arabicPeriod"/>
            </a:pPr>
            <a:endParaRPr lang="en-US" dirty="0" smtClean="0"/>
          </a:p>
          <a:p>
            <a:pPr marL="342900" indent="-342900"/>
            <a:endParaRPr lang="en-US"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solidFill>
                  <a:srgbClr val="FF0000"/>
                </a:solidFill>
              </a:rPr>
              <a:t>Acoustic Emission Technique</a:t>
            </a:r>
            <a:endParaRPr lang="en-IN" dirty="0">
              <a:solidFill>
                <a:srgbClr val="FF0000"/>
              </a:solidFill>
            </a:endParaRPr>
          </a:p>
        </p:txBody>
      </p:sp>
      <p:pic>
        <p:nvPicPr>
          <p:cNvPr id="1026" name="Picture 2" descr="C:\Users\Admin\Desktop\AE-Basic.jpg"/>
          <p:cNvPicPr>
            <a:picLocks noGrp="1" noChangeAspect="1" noChangeArrowheads="1"/>
          </p:cNvPicPr>
          <p:nvPr>
            <p:ph idx="1"/>
          </p:nvPr>
        </p:nvPicPr>
        <p:blipFill>
          <a:blip r:embed="rId2"/>
          <a:srcRect/>
          <a:stretch>
            <a:fillRect/>
          </a:stretch>
        </p:blipFill>
        <p:spPr bwMode="auto">
          <a:xfrm>
            <a:off x="457200" y="1371600"/>
            <a:ext cx="7848600" cy="44196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
            <a:ext cx="8229600" cy="6400800"/>
          </a:xfrm>
        </p:spPr>
        <p:txBody>
          <a:bodyPr>
            <a:noAutofit/>
          </a:bodyPr>
          <a:lstStyle/>
          <a:p>
            <a:r>
              <a:rPr lang="en-US" sz="2400" dirty="0" smtClean="0"/>
              <a:t>A localized external force such as mechanical load or rapid temp. or pressure is applied to the part of the material being tested.</a:t>
            </a:r>
          </a:p>
          <a:p>
            <a:r>
              <a:rPr lang="en-US" sz="2400" dirty="0" smtClean="0"/>
              <a:t>A small material displacement is produced inside the material.</a:t>
            </a:r>
          </a:p>
          <a:p>
            <a:r>
              <a:rPr lang="en-US" sz="2400" dirty="0" smtClean="0"/>
              <a:t>This results into generation of stress waves inside the material in the form of short-lived, high frequency elastic waves.</a:t>
            </a:r>
          </a:p>
          <a:p>
            <a:r>
              <a:rPr lang="en-US" sz="2400" dirty="0" smtClean="0"/>
              <a:t>These stress waves are detected by sensors that have been attached to the material.</a:t>
            </a:r>
          </a:p>
          <a:p>
            <a:r>
              <a:rPr lang="en-US" sz="2400" dirty="0" smtClean="0"/>
              <a:t>The stress waves show discontinuities in the material where flaws or irregularities inside the materials.</a:t>
            </a:r>
          </a:p>
          <a:p>
            <a:r>
              <a:rPr lang="en-US" sz="2400" dirty="0" smtClean="0"/>
              <a:t>When multiple sensors are used , the resulting data can be analyses by CRO to evaluate location of discontinuities in the part.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
            <a:ext cx="8229600" cy="5854891"/>
          </a:xfrm>
        </p:spPr>
        <p:txBody>
          <a:bodyPr>
            <a:normAutofit fontScale="92500" lnSpcReduction="10000"/>
          </a:bodyPr>
          <a:lstStyle/>
          <a:p>
            <a:pPr marL="624078" indent="-514350">
              <a:buFont typeface="+mj-lt"/>
              <a:buAutoNum type="arabicPeriod"/>
            </a:pPr>
            <a:endParaRPr lang="en-US" dirty="0" smtClean="0"/>
          </a:p>
          <a:p>
            <a:pPr marL="624078" indent="-514350">
              <a:buFont typeface="+mj-lt"/>
              <a:buAutoNum type="arabicPeriod"/>
            </a:pPr>
            <a:endParaRPr lang="en-US" dirty="0" smtClean="0"/>
          </a:p>
          <a:p>
            <a:pPr marL="624078" indent="-514350">
              <a:buFont typeface="+mj-lt"/>
              <a:buAutoNum type="arabicPeriod"/>
            </a:pPr>
            <a:r>
              <a:rPr lang="en-US" dirty="0" smtClean="0"/>
              <a:t>Ultrasonic flaw detection technique uses the property of ultrasonic waves that </a:t>
            </a:r>
            <a:r>
              <a:rPr lang="en-US" dirty="0" err="1" smtClean="0"/>
              <a:t>thet</a:t>
            </a:r>
            <a:r>
              <a:rPr lang="en-US" dirty="0" smtClean="0"/>
              <a:t> get partially reflected from any boundary </a:t>
            </a:r>
            <a:r>
              <a:rPr lang="en-US" dirty="0" err="1" smtClean="0"/>
              <a:t>seperating</a:t>
            </a:r>
            <a:r>
              <a:rPr lang="en-US" dirty="0" smtClean="0"/>
              <a:t> between two media having different densities.</a:t>
            </a:r>
          </a:p>
          <a:p>
            <a:pPr marL="624078" indent="-514350">
              <a:buFont typeface="+mj-lt"/>
              <a:buAutoNum type="arabicPeriod"/>
            </a:pPr>
            <a:r>
              <a:rPr lang="en-US" dirty="0" smtClean="0"/>
              <a:t>An ultrasonic pulse is transmitted into the specimen from one end by an ultrasonic transducer like quartz crystal which also performs the function of </a:t>
            </a:r>
            <a:r>
              <a:rPr lang="en-US" dirty="0" err="1" smtClean="0"/>
              <a:t>reciever</a:t>
            </a:r>
            <a:r>
              <a:rPr lang="en-US" dirty="0" smtClean="0"/>
              <a:t>.</a:t>
            </a:r>
          </a:p>
          <a:p>
            <a:pPr marL="624078" indent="-514350">
              <a:buFont typeface="+mj-lt"/>
              <a:buAutoNum type="arabicPeriod"/>
            </a:pPr>
            <a:r>
              <a:rPr lang="en-US" dirty="0" smtClean="0"/>
              <a:t>In absence of any flaw, the pulse is reflected from the other end of the specimen and two pulses are displayed on C.R.O as shown in fig in next slide</a:t>
            </a:r>
          </a:p>
          <a:p>
            <a:pPr marL="624078" indent="-514350">
              <a:buNone/>
            </a:pPr>
            <a:r>
              <a:rPr lang="en-US" dirty="0" smtClean="0"/>
              <a:t> </a:t>
            </a:r>
            <a:endParaRPr lang="en-US" dirty="0"/>
          </a:p>
        </p:txBody>
      </p:sp>
      <p:sp>
        <p:nvSpPr>
          <p:cNvPr id="3" name="TextBox 2"/>
          <p:cNvSpPr txBox="1"/>
          <p:nvPr/>
        </p:nvSpPr>
        <p:spPr>
          <a:xfrm>
            <a:off x="685800" y="304800"/>
            <a:ext cx="7467600" cy="707886"/>
          </a:xfrm>
          <a:prstGeom prst="rect">
            <a:avLst/>
          </a:prstGeom>
          <a:noFill/>
        </p:spPr>
        <p:txBody>
          <a:bodyPr wrap="square" rtlCol="0">
            <a:spAutoFit/>
          </a:bodyPr>
          <a:lstStyle/>
          <a:p>
            <a:r>
              <a:rPr lang="en-US" sz="4000" b="1" dirty="0" smtClean="0">
                <a:solidFill>
                  <a:srgbClr val="FF0000"/>
                </a:solidFill>
                <a:effectLst>
                  <a:outerShdw blurRad="38100" dist="38100" dir="2700000" algn="tl">
                    <a:srgbClr val="000000">
                      <a:alpha val="43137"/>
                    </a:srgbClr>
                  </a:outerShdw>
                </a:effectLst>
              </a:rPr>
              <a:t>Ultrasonic Inspection Method</a:t>
            </a:r>
            <a:endParaRPr lang="en-US" sz="4000" b="1" dirty="0">
              <a:solidFill>
                <a:srgbClr val="FF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HYSICS LAB\Downloads\1657106550752 (1).jpg"/>
          <p:cNvPicPr>
            <a:picLocks noGrp="1" noChangeAspect="1" noChangeArrowheads="1"/>
          </p:cNvPicPr>
          <p:nvPr>
            <p:ph idx="1"/>
          </p:nvPr>
        </p:nvPicPr>
        <p:blipFill>
          <a:blip r:embed="rId2"/>
          <a:srcRect/>
          <a:stretch>
            <a:fillRect/>
          </a:stretch>
        </p:blipFill>
        <p:spPr bwMode="auto">
          <a:xfrm>
            <a:off x="152400" y="304800"/>
            <a:ext cx="8229600" cy="2743200"/>
          </a:xfrm>
          <a:prstGeom prst="rect">
            <a:avLst/>
          </a:prstGeom>
          <a:noFill/>
        </p:spPr>
      </p:pic>
      <p:pic>
        <p:nvPicPr>
          <p:cNvPr id="1028" name="Picture 4" descr="C:\Users\PHYSICS LAB\Downloads\1657106550764.jpg"/>
          <p:cNvPicPr>
            <a:picLocks noChangeAspect="1" noChangeArrowheads="1"/>
          </p:cNvPicPr>
          <p:nvPr/>
        </p:nvPicPr>
        <p:blipFill>
          <a:blip r:embed="rId3" cstate="print"/>
          <a:srcRect/>
          <a:stretch>
            <a:fillRect/>
          </a:stretch>
        </p:blipFill>
        <p:spPr bwMode="auto">
          <a:xfrm>
            <a:off x="381000" y="3700347"/>
            <a:ext cx="7924800" cy="2319453"/>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228600"/>
            <a:ext cx="8229600" cy="4525963"/>
          </a:xfrm>
        </p:spPr>
        <p:txBody>
          <a:bodyPr>
            <a:normAutofit fontScale="85000" lnSpcReduction="20000"/>
          </a:bodyPr>
          <a:lstStyle/>
          <a:p>
            <a:pPr marL="624078" indent="-514350">
              <a:buFont typeface="+mj-lt"/>
              <a:buAutoNum type="arabicPeriod"/>
            </a:pPr>
            <a:r>
              <a:rPr lang="en-US" dirty="0" smtClean="0"/>
              <a:t>The distance between two pulses on the pulses on the C.R.O screen can be calibrated in terms of the distance travelled by the ultrasonic wave in the specimen.</a:t>
            </a:r>
          </a:p>
          <a:p>
            <a:pPr marL="624078" indent="-514350">
              <a:buFont typeface="+mj-lt"/>
              <a:buAutoNum type="arabicPeriod"/>
            </a:pPr>
            <a:r>
              <a:rPr lang="en-US" dirty="0" smtClean="0"/>
              <a:t>If there is a flaw, an additional peak will be seen between the transmitted pulse and pulse reflected from the other end.</a:t>
            </a:r>
          </a:p>
          <a:p>
            <a:pPr marL="624078" indent="-514350">
              <a:buFont typeface="+mj-lt"/>
              <a:buAutoNum type="arabicPeriod"/>
            </a:pPr>
            <a:r>
              <a:rPr lang="en-US" dirty="0" smtClean="0"/>
              <a:t>The position and dimensions of the flaw can be obtained by moving the transducer on the specimen surface and finding the distance of the flaw from different location on the specimen surface.</a:t>
            </a:r>
          </a:p>
          <a:p>
            <a:pPr marL="624078" indent="-514350">
              <a:buFont typeface="+mj-lt"/>
              <a:buAutoNum type="arabicPeriod"/>
            </a:pPr>
            <a:r>
              <a:rPr lang="en-US" dirty="0" smtClean="0"/>
              <a:t>The ultrasonic flaw detection method is used in automobile, aircraft, railway and shipping industries to test machine parts and rails for flaws.</a:t>
            </a:r>
          </a:p>
          <a:p>
            <a:pPr marL="624078" indent="-514350">
              <a:buNone/>
            </a:pP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304800"/>
            <a:ext cx="8229600" cy="4525963"/>
          </a:xfrm>
        </p:spPr>
        <p:txBody>
          <a:bodyPr>
            <a:normAutofit fontScale="85000" lnSpcReduction="20000"/>
          </a:bodyPr>
          <a:lstStyle/>
          <a:p>
            <a:pPr>
              <a:buNone/>
            </a:pPr>
            <a:r>
              <a:rPr lang="en-US" dirty="0" smtClean="0">
                <a:solidFill>
                  <a:srgbClr val="FF0000"/>
                </a:solidFill>
              </a:rPr>
              <a:t>Advantages:</a:t>
            </a:r>
          </a:p>
          <a:p>
            <a:pPr marL="624078" indent="-514350">
              <a:buFont typeface="+mj-lt"/>
              <a:buAutoNum type="arabicPeriod"/>
            </a:pPr>
            <a:r>
              <a:rPr lang="en-US" dirty="0" smtClean="0"/>
              <a:t>Components with larger thicknesses can be tested compared to x ray radiography.</a:t>
            </a:r>
          </a:p>
          <a:p>
            <a:pPr marL="624078" indent="-514350">
              <a:buFont typeface="+mj-lt"/>
              <a:buAutoNum type="arabicPeriod"/>
            </a:pPr>
            <a:r>
              <a:rPr lang="en-US" dirty="0" smtClean="0"/>
              <a:t>This method is more accurate.</a:t>
            </a:r>
          </a:p>
          <a:p>
            <a:pPr marL="624078" indent="-514350">
              <a:buFont typeface="+mj-lt"/>
              <a:buAutoNum type="arabicPeriod"/>
            </a:pPr>
            <a:r>
              <a:rPr lang="en-US" dirty="0" smtClean="0"/>
              <a:t>Low cost.</a:t>
            </a:r>
          </a:p>
          <a:p>
            <a:pPr marL="624078" indent="-514350">
              <a:buFont typeface="+mj-lt"/>
              <a:buAutoNum type="arabicPeriod"/>
            </a:pPr>
            <a:r>
              <a:rPr lang="en-US" dirty="0" smtClean="0"/>
              <a:t>High speed.</a:t>
            </a:r>
          </a:p>
          <a:p>
            <a:pPr marL="624078" indent="-514350">
              <a:buFont typeface="+mj-lt"/>
              <a:buAutoNum type="arabicPeriod"/>
            </a:pPr>
            <a:r>
              <a:rPr lang="en-US" dirty="0" smtClean="0"/>
              <a:t>Small flaws can be detected.</a:t>
            </a:r>
          </a:p>
          <a:p>
            <a:pPr marL="624078" indent="-514350">
              <a:buNone/>
            </a:pPr>
            <a:endParaRPr lang="en-US" dirty="0" smtClean="0"/>
          </a:p>
          <a:p>
            <a:pPr marL="624078" indent="-514350">
              <a:buNone/>
            </a:pPr>
            <a:r>
              <a:rPr lang="en-US" dirty="0" smtClean="0">
                <a:solidFill>
                  <a:srgbClr val="FF0000"/>
                </a:solidFill>
              </a:rPr>
              <a:t>Disadvantage:</a:t>
            </a:r>
          </a:p>
          <a:p>
            <a:pPr marL="624078" indent="-514350">
              <a:buFont typeface="+mj-lt"/>
              <a:buAutoNum type="arabicPeriod"/>
            </a:pPr>
            <a:r>
              <a:rPr lang="en-US" dirty="0" smtClean="0"/>
              <a:t>Surface of the component needs to be smooth.</a:t>
            </a:r>
          </a:p>
          <a:p>
            <a:pPr marL="624078" indent="-514350">
              <a:buFont typeface="+mj-lt"/>
              <a:buAutoNum type="arabicPeriod"/>
            </a:pPr>
            <a:r>
              <a:rPr lang="en-US" dirty="0" smtClean="0"/>
              <a:t>Very thin specimen cannot be tested.</a:t>
            </a:r>
          </a:p>
          <a:p>
            <a:pPr marL="624078" indent="-514350">
              <a:buFont typeface="+mj-lt"/>
              <a:buAutoNum type="arabicPeriod"/>
            </a:pPr>
            <a:r>
              <a:rPr lang="en-US" dirty="0" smtClean="0"/>
              <a:t>Specimen must have homogeneous composition.</a:t>
            </a:r>
          </a:p>
          <a:p>
            <a:pPr marL="624078" indent="-514350">
              <a:buFont typeface="+mj-lt"/>
              <a:buAutoNum type="arabicPeriod"/>
            </a:pPr>
            <a:r>
              <a:rPr lang="en-US" dirty="0" smtClean="0"/>
              <a:t>Defects very close to surface are not detected.</a:t>
            </a:r>
          </a:p>
          <a:p>
            <a:pPr marL="624078" indent="-514350">
              <a:buFont typeface="+mj-lt"/>
              <a:buAutoNum type="arabicPeriod"/>
            </a:pPr>
            <a:endParaRPr lang="en-US" dirty="0" smtClean="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7633244</TotalTime>
  <Words>893</Words>
  <Application>Microsoft Office PowerPoint</Application>
  <PresentationFormat>On-screen Show (4:3)</PresentationFormat>
  <Paragraphs>89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Concourse</vt:lpstr>
      <vt:lpstr>NON DESTRUCTIVE TESTING</vt:lpstr>
      <vt:lpstr> Testing Method </vt:lpstr>
      <vt:lpstr>Types of Defect:</vt:lpstr>
      <vt:lpstr>Objectives of NDT</vt:lpstr>
      <vt:lpstr>Methods of NDT</vt:lpstr>
      <vt:lpstr>Slide 6</vt:lpstr>
      <vt:lpstr>Slide 7</vt:lpstr>
      <vt:lpstr>Slide 8</vt:lpstr>
      <vt:lpstr>Slide 9</vt:lpstr>
      <vt:lpstr>Acoustic Emission Technique</vt:lpstr>
      <vt:lpstr>Slide 11</vt:lpstr>
      <vt:lpstr>Slide 12</vt:lpstr>
      <vt:lpstr>Slide 13</vt:lpstr>
      <vt:lpstr>Slide 14</vt:lpstr>
      <vt:lpstr>Slide 15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DESTRUCTIVE TESTING</dc:title>
  <dc:creator>Admin</dc:creator>
  <cp:lastModifiedBy>PHYSICS LAB</cp:lastModifiedBy>
  <cp:revision>33</cp:revision>
  <dcterms:created xsi:type="dcterms:W3CDTF">2006-08-16T00:00:00Z</dcterms:created>
  <dcterms:modified xsi:type="dcterms:W3CDTF">2007-12-31T20:04:02Z</dcterms:modified>
</cp:coreProperties>
</file>