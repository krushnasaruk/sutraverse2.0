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70" r:id="rId2"/>
    <p:sldId id="269" r:id="rId3"/>
    <p:sldId id="272" r:id="rId4"/>
    <p:sldId id="267" r:id="rId5"/>
    <p:sldId id="274" r:id="rId6"/>
    <p:sldId id="278" r:id="rId7"/>
    <p:sldId id="276" r:id="rId8"/>
    <p:sldId id="277" r:id="rId9"/>
    <p:sldId id="275" r:id="rId10"/>
    <p:sldId id="258" r:id="rId11"/>
    <p:sldId id="297" r:id="rId12"/>
    <p:sldId id="298" r:id="rId13"/>
    <p:sldId id="300" r:id="rId14"/>
    <p:sldId id="294" r:id="rId15"/>
    <p:sldId id="259" r:id="rId16"/>
    <p:sldId id="299" r:id="rId17"/>
    <p:sldId id="296" r:id="rId18"/>
    <p:sldId id="260" r:id="rId19"/>
    <p:sldId id="261"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7"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2705" autoAdjust="0"/>
  </p:normalViewPr>
  <p:slideViewPr>
    <p:cSldViewPr>
      <p:cViewPr varScale="1">
        <p:scale>
          <a:sx n="79" d="100"/>
          <a:sy n="79" d="100"/>
        </p:scale>
        <p:origin x="-111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19D51B-505C-41E3-94C4-A71543C76588}" type="datetimeFigureOut">
              <a:rPr lang="en-US" smtClean="0"/>
              <a:pPr/>
              <a:t>11/27/2025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012B42-618D-49BA-9445-85BDD6FDEA17}" type="slidenum">
              <a:rPr lang="en-US" smtClean="0"/>
              <a:pPr/>
              <a:t>‹#›</a:t>
            </a:fld>
            <a:endParaRPr lang="en-US"/>
          </a:p>
        </p:txBody>
      </p:sp>
    </p:spTree>
    <p:extLst>
      <p:ext uri="{BB962C8B-B14F-4D97-AF65-F5344CB8AC3E}">
        <p14:creationId xmlns="" xmlns:p14="http://schemas.microsoft.com/office/powerpoint/2010/main" val="371017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C2F46C-7321-4DE7-B21B-DE3AA31BE5CA}" type="slidenum">
              <a:rPr lang="en-US" smtClean="0"/>
              <a:pPr/>
              <a:t>1</a:t>
            </a:fld>
            <a:endParaRPr lang="en-US"/>
          </a:p>
        </p:txBody>
      </p:sp>
    </p:spTree>
    <p:extLst>
      <p:ext uri="{BB962C8B-B14F-4D97-AF65-F5344CB8AC3E}">
        <p14:creationId xmlns="" xmlns:p14="http://schemas.microsoft.com/office/powerpoint/2010/main" val="541862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FC2F46C-7321-4DE7-B21B-DE3AA31BE5CA}" type="slidenum">
              <a:rPr lang="en-US" smtClean="0"/>
              <a:pPr/>
              <a:t>2</a:t>
            </a:fld>
            <a:endParaRPr lang="en-US"/>
          </a:p>
        </p:txBody>
      </p:sp>
    </p:spTree>
    <p:extLst>
      <p:ext uri="{BB962C8B-B14F-4D97-AF65-F5344CB8AC3E}">
        <p14:creationId xmlns="" xmlns:p14="http://schemas.microsoft.com/office/powerpoint/2010/main" val="2862769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1968608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97427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3529042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249469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1382396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2212224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11774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1898879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5408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3462565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981D5F-832C-4A9C-8E65-11BCE28B795E}" type="datetimeFigureOut">
              <a:rPr lang="en-US" smtClean="0"/>
              <a:pPr/>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3627639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rtlCol="0">
            <a:normAutofit/>
          </a:bodyPr>
          <a:lstStyle/>
          <a:p>
            <a:pPr lvl="0"/>
            <a:endParaRPr lang="en-US" noProof="0"/>
          </a:p>
        </p:txBody>
      </p:sp>
      <p:sp>
        <p:nvSpPr>
          <p:cNvPr id="4" name="Date Placeholder 3"/>
          <p:cNvSpPr>
            <a:spLocks noGrp="1"/>
          </p:cNvSpPr>
          <p:nvPr>
            <p:ph type="dt" sz="half" idx="10"/>
          </p:nvPr>
        </p:nvSpPr>
        <p:spPr/>
        <p:txBody>
          <a:bodyPr/>
          <a:lstStyle>
            <a:lvl1pPr>
              <a:defRPr smtClean="0"/>
            </a:lvl1pPr>
          </a:lstStyle>
          <a:p>
            <a:pPr>
              <a:defRPr/>
            </a:pPr>
            <a:fld id="{882EFB16-FB1E-4781-B705-ACA159927491}" type="datetime3">
              <a:rPr lang="en-US" smtClean="0"/>
              <a:pPr>
                <a:defRPr/>
              </a:pPr>
              <a:t>27 November 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C6ABEAA-5A39-46C5-99E2-4394FB4ACE6A}" type="slidenum">
              <a:rPr lang="en-US"/>
              <a:pPr>
                <a:defRPr/>
              </a:pPr>
              <a:t>‹#›</a:t>
            </a:fld>
            <a:endParaRPr lang="en-US"/>
          </a:p>
        </p:txBody>
      </p:sp>
    </p:spTree>
    <p:extLst>
      <p:ext uri="{BB962C8B-B14F-4D97-AF65-F5344CB8AC3E}">
        <p14:creationId xmlns:p14="http://schemas.microsoft.com/office/powerpoint/2010/main" xmlns="" val="3891482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81D5F-832C-4A9C-8E65-11BCE28B795E}" type="datetimeFigureOut">
              <a:rPr lang="en-US" smtClean="0"/>
              <a:pPr/>
              <a:t>11/27/2025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5DD4A-F986-4E71-BC03-15024DE274BF}" type="slidenum">
              <a:rPr lang="en-US" smtClean="0"/>
              <a:pPr/>
              <a:t>‹#›</a:t>
            </a:fld>
            <a:endParaRPr lang="en-US"/>
          </a:p>
        </p:txBody>
      </p:sp>
    </p:spTree>
    <p:extLst>
      <p:ext uri="{BB962C8B-B14F-4D97-AF65-F5344CB8AC3E}">
        <p14:creationId xmlns="" xmlns:p14="http://schemas.microsoft.com/office/powerpoint/2010/main" val="2236209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analyseameter.com/2015/08/digital-analog-multimeters-guide.html" TargetMode="External"/><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image" Target="../media/image1.gif"/><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90625" y="4038600"/>
            <a:ext cx="6350209" cy="1752601"/>
          </a:xfrm>
        </p:spPr>
        <p:txBody>
          <a:bodyPr>
            <a:noAutofit/>
          </a:bodyPr>
          <a:lstStyle/>
          <a:p>
            <a:pPr algn="ctr"/>
            <a:r>
              <a:rPr lang="en-US" sz="2000" b="1" dirty="0">
                <a:solidFill>
                  <a:srgbClr val="C00000"/>
                </a:solidFill>
              </a:rPr>
              <a:t>Presented by</a:t>
            </a:r>
          </a:p>
          <a:p>
            <a:pPr algn="ctr"/>
            <a:r>
              <a:rPr lang="en-US" sz="2000" b="1" dirty="0">
                <a:solidFill>
                  <a:srgbClr val="7030A0"/>
                </a:solidFill>
              </a:rPr>
              <a:t>Mr. Aniruddha Nirmal</a:t>
            </a:r>
          </a:p>
          <a:p>
            <a:pPr algn="ctr"/>
            <a:r>
              <a:rPr lang="en-US" sz="2000" b="1" dirty="0">
                <a:solidFill>
                  <a:schemeClr val="tx1"/>
                </a:solidFill>
              </a:rPr>
              <a:t>Assistant Professor</a:t>
            </a:r>
          </a:p>
          <a:p>
            <a:pPr algn="ctr"/>
            <a:r>
              <a:rPr lang="en-US" sz="2000" b="1" dirty="0">
                <a:solidFill>
                  <a:schemeClr val="tx1"/>
                </a:solidFill>
              </a:rPr>
              <a:t>Department </a:t>
            </a:r>
            <a:r>
              <a:rPr lang="en-US" sz="2000" b="1" dirty="0" smtClean="0">
                <a:solidFill>
                  <a:schemeClr val="tx1"/>
                </a:solidFill>
              </a:rPr>
              <a:t>of First Year </a:t>
            </a:r>
            <a:r>
              <a:rPr lang="en-US" sz="2000" b="1" dirty="0">
                <a:solidFill>
                  <a:schemeClr val="tx1"/>
                </a:solidFill>
              </a:rPr>
              <a:t>Engineering</a:t>
            </a:r>
          </a:p>
          <a:p>
            <a:pPr algn="ctr"/>
            <a:r>
              <a:rPr lang="en-US" sz="2000" b="1" dirty="0">
                <a:solidFill>
                  <a:schemeClr val="tx1"/>
                </a:solidFill>
              </a:rPr>
              <a:t>DPCOE </a:t>
            </a:r>
            <a:r>
              <a:rPr lang="en-US" sz="2000" b="1" dirty="0" err="1">
                <a:solidFill>
                  <a:schemeClr val="tx1"/>
                </a:solidFill>
              </a:rPr>
              <a:t>Pune</a:t>
            </a:r>
            <a:endParaRPr lang="en-US" sz="2000" b="1" dirty="0">
              <a:solidFill>
                <a:schemeClr val="tx1"/>
              </a:solidFill>
            </a:endParaRPr>
          </a:p>
        </p:txBody>
      </p:sp>
      <p:sp>
        <p:nvSpPr>
          <p:cNvPr id="5" name="Title 1"/>
          <p:cNvSpPr txBox="1">
            <a:spLocks/>
          </p:cNvSpPr>
          <p:nvPr/>
        </p:nvSpPr>
        <p:spPr>
          <a:xfrm>
            <a:off x="1600200" y="2133600"/>
            <a:ext cx="6553200" cy="1447800"/>
          </a:xfrm>
          <a:prstGeom prst="rect">
            <a:avLst/>
          </a:prstGeom>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US" sz="12800" b="1" dirty="0">
                <a:solidFill>
                  <a:srgbClr val="7030A0"/>
                </a:solidFill>
              </a:rPr>
              <a:t>Basic Electronics </a:t>
            </a:r>
            <a:r>
              <a:rPr lang="en-US" sz="12800" b="1" dirty="0" smtClean="0">
                <a:solidFill>
                  <a:srgbClr val="7030A0"/>
                </a:solidFill>
              </a:rPr>
              <a:t>Engineering</a:t>
            </a:r>
            <a:r>
              <a:rPr lang="en-US" sz="11200" dirty="0">
                <a:solidFill>
                  <a:srgbClr val="7030A0"/>
                </a:solidFill>
              </a:rPr>
              <a:t/>
            </a:r>
            <a:br>
              <a:rPr lang="en-US" sz="11200" dirty="0">
                <a:solidFill>
                  <a:srgbClr val="7030A0"/>
                </a:solidFill>
              </a:rPr>
            </a:br>
            <a:r>
              <a:rPr lang="en-US" sz="11200" dirty="0">
                <a:solidFill>
                  <a:srgbClr val="FF0000"/>
                </a:solidFill>
              </a:rPr>
              <a:t>FE </a:t>
            </a:r>
            <a:r>
              <a:rPr lang="en-US" sz="11200" dirty="0" smtClean="0">
                <a:solidFill>
                  <a:srgbClr val="FF0000"/>
                </a:solidFill>
              </a:rPr>
              <a:t>2024 </a:t>
            </a:r>
            <a:r>
              <a:rPr lang="en-US" sz="11200" dirty="0">
                <a:solidFill>
                  <a:srgbClr val="FF0000"/>
                </a:solidFill>
              </a:rPr>
              <a:t>Course</a:t>
            </a:r>
            <a:endParaRPr lang="en-US" sz="12800" dirty="0">
              <a:solidFill>
                <a:srgbClr val="7030A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 xmlns:p14="http://schemas.microsoft.com/office/powerpoint/2010/main" val="1548347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34499" cy="685800"/>
          </a:xfrm>
        </p:spPr>
        <p:txBody>
          <a:bodyPr>
            <a:noAutofit/>
          </a:bodyPr>
          <a:lstStyle/>
          <a:p>
            <a:pPr marL="457200" indent="-457200" algn="l">
              <a:buBlip>
                <a:blip r:embed="rId3"/>
              </a:buBlip>
            </a:pPr>
            <a:r>
              <a:rPr lang="en-US" sz="3600" b="1" dirty="0">
                <a:solidFill>
                  <a:srgbClr val="C00000"/>
                </a:solidFill>
              </a:rPr>
              <a:t>Unit IV : </a:t>
            </a:r>
            <a:r>
              <a:rPr lang="en-US" sz="3600" b="1" dirty="0" smtClean="0">
                <a:solidFill>
                  <a:srgbClr val="C00000"/>
                </a:solidFill>
              </a:rPr>
              <a:t>Operational Amplifier and Electronic Instruments</a:t>
            </a:r>
            <a:endParaRPr lang="en-US" sz="3600" dirty="0">
              <a:solidFill>
                <a:srgbClr val="C00000"/>
              </a:solidFill>
            </a:endParaRPr>
          </a:p>
        </p:txBody>
      </p:sp>
      <p:sp>
        <p:nvSpPr>
          <p:cNvPr id="3" name="Content Placeholder 2"/>
          <p:cNvSpPr>
            <a:spLocks noGrp="1"/>
          </p:cNvSpPr>
          <p:nvPr>
            <p:ph idx="1"/>
          </p:nvPr>
        </p:nvSpPr>
        <p:spPr>
          <a:xfrm>
            <a:off x="533400" y="990600"/>
            <a:ext cx="8610600" cy="5334000"/>
          </a:xfrm>
        </p:spPr>
        <p:txBody>
          <a:bodyPr>
            <a:normAutofit fontScale="70000" lnSpcReduction="20000"/>
          </a:bodyPr>
          <a:lstStyle/>
          <a:p>
            <a:pPr>
              <a:lnSpc>
                <a:spcPct val="120000"/>
              </a:lnSpc>
              <a:buBlip>
                <a:blip r:embed="rId3"/>
              </a:buBlip>
            </a:pPr>
            <a:r>
              <a:rPr lang="en-US" sz="4600" b="1" dirty="0" smtClean="0">
                <a:solidFill>
                  <a:srgbClr val="00B0F0"/>
                </a:solidFill>
              </a:rPr>
              <a:t>Syllabus</a:t>
            </a:r>
          </a:p>
          <a:p>
            <a:pPr marL="0" indent="0">
              <a:lnSpc>
                <a:spcPct val="170000"/>
              </a:lnSpc>
              <a:buNone/>
            </a:pPr>
            <a:r>
              <a:rPr lang="en-US" sz="4000" b="1" dirty="0" smtClean="0"/>
              <a:t>Electronic Instruments: </a:t>
            </a:r>
            <a:r>
              <a:rPr lang="en-US" sz="4000" dirty="0" smtClean="0"/>
              <a:t>Principles and block diagram of </a:t>
            </a:r>
          </a:p>
          <a:p>
            <a:pPr lvl="0">
              <a:lnSpc>
                <a:spcPct val="120000"/>
              </a:lnSpc>
              <a:buFont typeface="Wingdings" pitchFamily="2" charset="2"/>
              <a:buChar char="Ø"/>
            </a:pPr>
            <a:r>
              <a:rPr lang="en-US" sz="4000" b="1" dirty="0" smtClean="0">
                <a:solidFill>
                  <a:srgbClr val="7030A0"/>
                </a:solidFill>
              </a:rPr>
              <a:t>Digital </a:t>
            </a:r>
            <a:r>
              <a:rPr lang="en-US" sz="4000" b="1" dirty="0">
                <a:solidFill>
                  <a:srgbClr val="7030A0"/>
                </a:solidFill>
              </a:rPr>
              <a:t>multimeter (DMM)</a:t>
            </a:r>
          </a:p>
          <a:p>
            <a:pPr lvl="0">
              <a:lnSpc>
                <a:spcPct val="120000"/>
              </a:lnSpc>
              <a:buFont typeface="Wingdings" pitchFamily="2" charset="2"/>
              <a:buChar char="Ø"/>
            </a:pPr>
            <a:r>
              <a:rPr lang="en-US" sz="4000" b="1" dirty="0">
                <a:solidFill>
                  <a:srgbClr val="7030A0"/>
                </a:solidFill>
              </a:rPr>
              <a:t>Function Generator (FG)</a:t>
            </a:r>
          </a:p>
          <a:p>
            <a:pPr lvl="0">
              <a:lnSpc>
                <a:spcPct val="120000"/>
              </a:lnSpc>
              <a:buFont typeface="Wingdings" pitchFamily="2" charset="2"/>
              <a:buChar char="Ø"/>
            </a:pPr>
            <a:r>
              <a:rPr lang="en-US" sz="4000" b="1" dirty="0">
                <a:solidFill>
                  <a:srgbClr val="7030A0"/>
                </a:solidFill>
              </a:rPr>
              <a:t>Digital Storage Oscilloscope (DSO</a:t>
            </a:r>
            <a:r>
              <a:rPr lang="en-US" sz="4000" b="1" dirty="0" smtClean="0">
                <a:solidFill>
                  <a:srgbClr val="7030A0"/>
                </a:solidFill>
              </a:rPr>
              <a:t>)</a:t>
            </a:r>
          </a:p>
          <a:p>
            <a:pPr>
              <a:lnSpc>
                <a:spcPct val="120000"/>
              </a:lnSpc>
              <a:buFont typeface="Wingdings" pitchFamily="2" charset="2"/>
              <a:buChar char="Ø"/>
            </a:pPr>
            <a:r>
              <a:rPr lang="en-US" sz="4000" b="1" dirty="0" smtClean="0">
                <a:solidFill>
                  <a:srgbClr val="7030A0"/>
                </a:solidFill>
              </a:rPr>
              <a:t>AC/DC power supply </a:t>
            </a:r>
          </a:p>
          <a:p>
            <a:pPr>
              <a:lnSpc>
                <a:spcPct val="120000"/>
              </a:lnSpc>
              <a:buFont typeface="Wingdings" pitchFamily="2" charset="2"/>
              <a:buChar char="Ø"/>
            </a:pPr>
            <a:r>
              <a:rPr lang="en-US" sz="4000" b="1" dirty="0" smtClean="0">
                <a:solidFill>
                  <a:srgbClr val="7030A0"/>
                </a:solidFill>
              </a:rPr>
              <a:t>OP-AMP</a:t>
            </a:r>
            <a:endParaRPr lang="en-US" sz="4000" b="1" dirty="0">
              <a:solidFill>
                <a:srgbClr val="7030A0"/>
              </a:solidFill>
            </a:endParaRPr>
          </a:p>
          <a:p>
            <a:pPr lvl="0">
              <a:lnSpc>
                <a:spcPct val="120000"/>
              </a:lnSpc>
              <a:buFont typeface="Wingdings" pitchFamily="2" charset="2"/>
              <a:buChar char="Ø"/>
            </a:pPr>
            <a:r>
              <a:rPr lang="en-US" sz="4000" b="1" dirty="0" smtClean="0">
                <a:solidFill>
                  <a:srgbClr val="7030A0"/>
                </a:solidFill>
              </a:rPr>
              <a:t>OP-AMP Applications</a:t>
            </a:r>
            <a:endParaRPr lang="en-US" sz="4000" b="1" dirty="0">
              <a:solidFill>
                <a:srgbClr val="7030A0"/>
              </a:solidFill>
            </a:endParaRPr>
          </a:p>
          <a:p>
            <a:pPr marL="0" indent="0">
              <a:lnSpc>
                <a:spcPct val="170000"/>
              </a:lnSpc>
              <a:buNone/>
            </a:pPr>
            <a:endParaRPr lang="en-US" sz="5900" dirty="0">
              <a:solidFill>
                <a:srgbClr val="00B0F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 xmlns:p14="http://schemas.microsoft.com/office/powerpoint/2010/main" val="264429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334000" cy="609600"/>
          </a:xfrm>
        </p:spPr>
        <p:txBody>
          <a:bodyPr>
            <a:noAutofit/>
          </a:bodyPr>
          <a:lstStyle/>
          <a:p>
            <a:pPr marL="571500" indent="-571500" algn="l">
              <a:buBlip>
                <a:blip r:embed="rId2"/>
              </a:buBlip>
            </a:pPr>
            <a:r>
              <a:rPr lang="en-US" sz="3600" b="1" dirty="0">
                <a:solidFill>
                  <a:srgbClr val="C00000"/>
                </a:solidFill>
              </a:rPr>
              <a:t>Digital Multimeter:</a:t>
            </a:r>
          </a:p>
        </p:txBody>
      </p:sp>
      <p:sp>
        <p:nvSpPr>
          <p:cNvPr id="3" name="Content Placeholder 2"/>
          <p:cNvSpPr>
            <a:spLocks noGrp="1"/>
          </p:cNvSpPr>
          <p:nvPr>
            <p:ph idx="1"/>
          </p:nvPr>
        </p:nvSpPr>
        <p:spPr>
          <a:xfrm>
            <a:off x="304800" y="1219200"/>
            <a:ext cx="8305800" cy="5059363"/>
          </a:xfrm>
        </p:spPr>
        <p:txBody>
          <a:bodyPr>
            <a:normAutofit/>
          </a:bodyPr>
          <a:lstStyle/>
          <a:p>
            <a:pPr marL="0" indent="0" algn="just">
              <a:buNone/>
            </a:pPr>
            <a:r>
              <a:rPr lang="en-US" sz="2800" b="1" dirty="0">
                <a:solidFill>
                  <a:srgbClr val="7030A0"/>
                </a:solidFill>
              </a:rPr>
              <a:t>#What is Digital Multimeter (DMM)?</a:t>
            </a:r>
          </a:p>
          <a:p>
            <a:pPr algn="just"/>
            <a:r>
              <a:rPr lang="en-US" sz="2400" dirty="0"/>
              <a:t>A </a:t>
            </a:r>
            <a:r>
              <a:rPr lang="en-US" sz="2400" b="1" dirty="0"/>
              <a:t>digital multimeter</a:t>
            </a:r>
            <a:r>
              <a:rPr lang="en-US" sz="2400" dirty="0"/>
              <a:t> is test equipment used for measurement of resistance, voltage, current and other electrical parameters as per requirement and displaying the results in the mathematical digits form on an LCD. It is a type of </a:t>
            </a:r>
            <a:r>
              <a:rPr lang="en-US" sz="2400" dirty="0">
                <a:hlinkClick r:id="rId3"/>
              </a:rPr>
              <a:t>multimeter</a:t>
            </a:r>
            <a:r>
              <a:rPr lang="en-US" sz="2400" dirty="0"/>
              <a:t> which functions digitally.</a:t>
            </a:r>
          </a:p>
          <a:p>
            <a:pPr marL="0" indent="0" algn="just">
              <a:buNone/>
            </a:pPr>
            <a:endParaRPr lang="en-US" sz="2400" dirty="0"/>
          </a:p>
          <a:p>
            <a:pPr algn="just"/>
            <a:r>
              <a:rPr lang="en-US" sz="2400" dirty="0"/>
              <a:t>Digital </a:t>
            </a:r>
            <a:r>
              <a:rPr lang="en-US" sz="2400" dirty="0" err="1"/>
              <a:t>multimeters</a:t>
            </a:r>
            <a:r>
              <a:rPr lang="en-US" sz="2400" dirty="0"/>
              <a:t> are widely accepted worldwide as they have better accuracy levels and ranging from simple 3 ½ to 4 ½ digit handheld DMM to very special system DMM.</a:t>
            </a:r>
          </a:p>
          <a:p>
            <a:pPr marL="0" indent="0">
              <a:buNone/>
            </a:pPr>
            <a:endParaRPr lang="en-US" dirty="0"/>
          </a:p>
        </p:txBody>
      </p:sp>
      <p:pic>
        <p:nvPicPr>
          <p:cNvPr id="5" name="Picture 3"/>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7692724" y="84186"/>
            <a:ext cx="1375076" cy="15922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2" descr="Multimeters - What are the Types Of Multimeters: Applications"/>
          <p:cNvPicPr>
            <a:picLocks noChangeAspect="1" noChangeArrowheads="1"/>
          </p:cNvPicPr>
          <p:nvPr/>
        </p:nvPicPr>
        <p:blipFill rotWithShape="1">
          <a:blip r:embed="rId5">
            <a:extLst>
              <a:ext uri="{28A0092B-C50C-407E-A947-70E740481C1C}">
                <a14:useLocalDpi xmlns="" xmlns:a14="http://schemas.microsoft.com/office/drawing/2010/main" val="0"/>
              </a:ext>
            </a:extLst>
          </a:blip>
          <a:srcRect l="31228"/>
          <a:stretch/>
        </p:blipFill>
        <p:spPr bwMode="auto">
          <a:xfrm>
            <a:off x="6388092" y="41298"/>
            <a:ext cx="1304632" cy="156053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28054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900" y="202479"/>
            <a:ext cx="6551172" cy="677814"/>
          </a:xfrm>
        </p:spPr>
        <p:txBody>
          <a:bodyPr>
            <a:normAutofit/>
          </a:bodyPr>
          <a:lstStyle/>
          <a:p>
            <a:pPr marL="571500" indent="-571500" algn="l">
              <a:buBlip>
                <a:blip r:embed="rId2"/>
              </a:buBlip>
            </a:pPr>
            <a:r>
              <a:rPr lang="en-US" sz="3600" b="1" dirty="0">
                <a:solidFill>
                  <a:srgbClr val="C00000"/>
                </a:solidFill>
              </a:rPr>
              <a:t>Digital Multimeter:</a:t>
            </a:r>
            <a:endParaRPr lang="en-US" sz="3600" b="1" dirty="0">
              <a:solidFill>
                <a:srgbClr val="7030A0"/>
              </a:solidFill>
            </a:endParaRPr>
          </a:p>
        </p:txBody>
      </p:sp>
      <p:grpSp>
        <p:nvGrpSpPr>
          <p:cNvPr id="6" name="Canvas 31"/>
          <p:cNvGrpSpPr/>
          <p:nvPr/>
        </p:nvGrpSpPr>
        <p:grpSpPr>
          <a:xfrm>
            <a:off x="228600" y="967274"/>
            <a:ext cx="8196116" cy="5440784"/>
            <a:chOff x="0" y="0"/>
            <a:chExt cx="5429250" cy="4067175"/>
          </a:xfrm>
        </p:grpSpPr>
        <p:sp>
          <p:nvSpPr>
            <p:cNvPr id="8" name="Rectangle 7"/>
            <p:cNvSpPr/>
            <p:nvPr/>
          </p:nvSpPr>
          <p:spPr>
            <a:xfrm>
              <a:off x="0" y="0"/>
              <a:ext cx="5429250" cy="4067175"/>
            </a:xfrm>
            <a:prstGeom prst="rect">
              <a:avLst/>
            </a:prstGeom>
          </p:spPr>
        </p:sp>
        <p:sp>
          <p:nvSpPr>
            <p:cNvPr id="9" name="Text Box 18"/>
            <p:cNvSpPr txBox="1"/>
            <p:nvPr/>
          </p:nvSpPr>
          <p:spPr>
            <a:xfrm>
              <a:off x="780076" y="66675"/>
              <a:ext cx="627040" cy="504824"/>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cs typeface="Times New Roman"/>
                </a:rPr>
                <a:t>Constant Current Source</a:t>
              </a:r>
              <a:endParaRPr lang="en-US" sz="1600" dirty="0">
                <a:effectLst/>
                <a:ea typeface="Times New Roman"/>
                <a:cs typeface="Times New Roman"/>
              </a:endParaRPr>
            </a:p>
          </p:txBody>
        </p:sp>
        <p:sp>
          <p:nvSpPr>
            <p:cNvPr id="10" name="Text Box 2059"/>
            <p:cNvSpPr txBox="1"/>
            <p:nvPr/>
          </p:nvSpPr>
          <p:spPr>
            <a:xfrm>
              <a:off x="1924049" y="1897481"/>
              <a:ext cx="714375" cy="521870"/>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cs typeface="Times New Roman"/>
                </a:rPr>
                <a:t>Current to Voltage (I-V) Converter</a:t>
              </a:r>
              <a:endParaRPr lang="en-US" sz="1200" dirty="0">
                <a:effectLst/>
                <a:ea typeface="Times New Roman"/>
                <a:cs typeface="Times New Roman"/>
              </a:endParaRPr>
            </a:p>
            <a:p>
              <a:pPr marL="0" marR="0">
                <a:lnSpc>
                  <a:spcPct val="150000"/>
                </a:lnSpc>
                <a:spcBef>
                  <a:spcPts val="0"/>
                </a:spcBef>
                <a:spcAft>
                  <a:spcPts val="0"/>
                </a:spcAft>
              </a:pPr>
              <a:r>
                <a:rPr lang="en-US" sz="1100" b="1" dirty="0">
                  <a:solidFill>
                    <a:srgbClr val="7030A0"/>
                  </a:solidFill>
                  <a:effectLst/>
                  <a:latin typeface="Arial Narrow"/>
                  <a:ea typeface="Times New Roman"/>
                  <a:cs typeface="Times New Roman"/>
                </a:rPr>
                <a:t> </a:t>
              </a:r>
              <a:endParaRPr lang="en-US" sz="1100" dirty="0">
                <a:effectLst/>
                <a:ea typeface="Times New Roman"/>
                <a:cs typeface="Times New Roman"/>
              </a:endParaRPr>
            </a:p>
          </p:txBody>
        </p:sp>
        <p:cxnSp>
          <p:nvCxnSpPr>
            <p:cNvPr id="11" name="Straight Connector 10"/>
            <p:cNvCxnSpPr/>
            <p:nvPr/>
          </p:nvCxnSpPr>
          <p:spPr>
            <a:xfrm>
              <a:off x="4062413" y="916433"/>
              <a:ext cx="0" cy="2503451"/>
            </a:xfrm>
            <a:prstGeom prst="line">
              <a:avLst/>
            </a:prstGeom>
            <a:ln w="19050">
              <a:solidFill>
                <a:srgbClr val="00B0F0"/>
              </a:solidFill>
            </a:ln>
          </p:spPr>
          <p:style>
            <a:lnRef idx="1">
              <a:schemeClr val="accent2"/>
            </a:lnRef>
            <a:fillRef idx="0">
              <a:schemeClr val="accent2"/>
            </a:fillRef>
            <a:effectRef idx="0">
              <a:schemeClr val="accent2"/>
            </a:effectRef>
            <a:fontRef idx="minor">
              <a:schemeClr val="tx1"/>
            </a:fontRef>
          </p:style>
        </p:cxnSp>
        <p:sp>
          <p:nvSpPr>
            <p:cNvPr id="12" name="Text Box 2059"/>
            <p:cNvSpPr txBox="1"/>
            <p:nvPr/>
          </p:nvSpPr>
          <p:spPr>
            <a:xfrm>
              <a:off x="1914524" y="2559609"/>
              <a:ext cx="733425" cy="527801"/>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Current to Voltage (I-V) Converter</a:t>
              </a:r>
              <a:endParaRPr lang="en-US" sz="1200" dirty="0">
                <a:effectLst/>
                <a:latin typeface="Times New Roman"/>
                <a:ea typeface="Times New Roman"/>
              </a:endParaRPr>
            </a:p>
            <a:p>
              <a:pPr marL="0" marR="0">
                <a:spcBef>
                  <a:spcPts val="0"/>
                </a:spcBef>
                <a:spcAft>
                  <a:spcPts val="0"/>
                </a:spcAft>
              </a:pPr>
              <a:r>
                <a:rPr lang="en-US" sz="1200" b="1" dirty="0">
                  <a:solidFill>
                    <a:srgbClr val="7030A0"/>
                  </a:solidFill>
                  <a:effectLst/>
                  <a:latin typeface="Arial Narrow"/>
                  <a:ea typeface="Times New Roman"/>
                </a:rPr>
                <a:t> </a:t>
              </a:r>
              <a:endParaRPr lang="en-US" sz="1200" dirty="0">
                <a:effectLst/>
                <a:latin typeface="Times New Roman"/>
                <a:ea typeface="Times New Roman"/>
              </a:endParaRPr>
            </a:p>
          </p:txBody>
        </p:sp>
        <p:sp>
          <p:nvSpPr>
            <p:cNvPr id="13" name="Text Box 18"/>
            <p:cNvSpPr txBox="1"/>
            <p:nvPr/>
          </p:nvSpPr>
          <p:spPr>
            <a:xfrm>
              <a:off x="3018450" y="1351292"/>
              <a:ext cx="742315" cy="369861"/>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Rectifier Circuit </a:t>
              </a:r>
              <a:endParaRPr lang="en-US" sz="1200" dirty="0">
                <a:effectLst/>
                <a:latin typeface="Times New Roman"/>
                <a:ea typeface="Times New Roman"/>
              </a:endParaRPr>
            </a:p>
          </p:txBody>
        </p:sp>
        <p:sp>
          <p:nvSpPr>
            <p:cNvPr id="14" name="Text Box 18"/>
            <p:cNvSpPr txBox="1"/>
            <p:nvPr/>
          </p:nvSpPr>
          <p:spPr>
            <a:xfrm>
              <a:off x="4361475" y="1854187"/>
              <a:ext cx="934425" cy="574855"/>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(ADC)</a:t>
              </a:r>
              <a:endParaRPr lang="en-US" sz="1200" dirty="0">
                <a:effectLst/>
                <a:latin typeface="Times New Roman"/>
                <a:ea typeface="Times New Roman"/>
              </a:endParaRPr>
            </a:p>
            <a:p>
              <a:pPr marL="0" marR="0" algn="ctr">
                <a:spcBef>
                  <a:spcPts val="0"/>
                </a:spcBef>
                <a:spcAft>
                  <a:spcPts val="0"/>
                </a:spcAft>
              </a:pPr>
              <a:r>
                <a:rPr lang="en-US" sz="1200" b="1" dirty="0">
                  <a:solidFill>
                    <a:srgbClr val="7030A0"/>
                  </a:solidFill>
                  <a:effectLst/>
                  <a:latin typeface="Arial Narrow"/>
                  <a:ea typeface="Times New Roman"/>
                </a:rPr>
                <a:t>Analog to Digital Converter</a:t>
              </a:r>
              <a:endParaRPr lang="en-US" sz="1200" dirty="0">
                <a:effectLst/>
                <a:latin typeface="Times New Roman"/>
                <a:ea typeface="Times New Roman"/>
              </a:endParaRPr>
            </a:p>
          </p:txBody>
        </p:sp>
        <p:sp>
          <p:nvSpPr>
            <p:cNvPr id="15" name="Text Box 18"/>
            <p:cNvSpPr txBox="1"/>
            <p:nvPr/>
          </p:nvSpPr>
          <p:spPr>
            <a:xfrm>
              <a:off x="1914524" y="1332107"/>
              <a:ext cx="714375" cy="389255"/>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AC attenuator</a:t>
              </a:r>
              <a:endParaRPr lang="en-US" dirty="0">
                <a:effectLst/>
                <a:latin typeface="Times New Roman"/>
                <a:ea typeface="Times New Roman"/>
              </a:endParaRPr>
            </a:p>
          </p:txBody>
        </p:sp>
        <p:sp>
          <p:nvSpPr>
            <p:cNvPr id="16" name="Text Box 18"/>
            <p:cNvSpPr txBox="1"/>
            <p:nvPr/>
          </p:nvSpPr>
          <p:spPr>
            <a:xfrm>
              <a:off x="1914524" y="721991"/>
              <a:ext cx="714375" cy="389255"/>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Buffer Amplifier</a:t>
              </a:r>
              <a:endParaRPr lang="en-US" dirty="0">
                <a:effectLst/>
                <a:latin typeface="Times New Roman"/>
                <a:ea typeface="Times New Roman"/>
              </a:endParaRPr>
            </a:p>
          </p:txBody>
        </p:sp>
        <p:sp>
          <p:nvSpPr>
            <p:cNvPr id="17" name="Text Box 18"/>
            <p:cNvSpPr txBox="1"/>
            <p:nvPr/>
          </p:nvSpPr>
          <p:spPr>
            <a:xfrm>
              <a:off x="1914524" y="3217991"/>
              <a:ext cx="733425" cy="388620"/>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Arial Narrow"/>
                  <a:ea typeface="Times New Roman"/>
                </a:rPr>
                <a:t>DC attenuator</a:t>
              </a:r>
              <a:endParaRPr lang="en-US" dirty="0">
                <a:effectLst/>
                <a:latin typeface="Times New Roman"/>
                <a:ea typeface="Times New Roman"/>
              </a:endParaRPr>
            </a:p>
          </p:txBody>
        </p:sp>
        <p:cxnSp>
          <p:nvCxnSpPr>
            <p:cNvPr id="18" name="Straight Arrow Connector 17"/>
            <p:cNvCxnSpPr>
              <a:stCxn id="16" idx="3"/>
            </p:cNvCxnSpPr>
            <p:nvPr/>
          </p:nvCxnSpPr>
          <p:spPr>
            <a:xfrm flipV="1">
              <a:off x="2628899" y="916557"/>
              <a:ext cx="771526" cy="62"/>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19" name="Straight Arrow Connector 18"/>
            <p:cNvCxnSpPr/>
            <p:nvPr/>
          </p:nvCxnSpPr>
          <p:spPr>
            <a:xfrm flipV="1">
              <a:off x="2647949" y="3420405"/>
              <a:ext cx="771525"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0" name="Straight Arrow Connector 19"/>
            <p:cNvCxnSpPr/>
            <p:nvPr/>
          </p:nvCxnSpPr>
          <p:spPr>
            <a:xfrm flipV="1">
              <a:off x="2647949" y="2827950"/>
              <a:ext cx="771525"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1" name="Straight Arrow Connector 20"/>
            <p:cNvCxnSpPr>
              <a:endCxn id="13" idx="1"/>
            </p:cNvCxnSpPr>
            <p:nvPr/>
          </p:nvCxnSpPr>
          <p:spPr>
            <a:xfrm>
              <a:off x="2628900" y="1533988"/>
              <a:ext cx="389550" cy="2235"/>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2" name="Straight Arrow Connector 21"/>
            <p:cNvCxnSpPr/>
            <p:nvPr/>
          </p:nvCxnSpPr>
          <p:spPr>
            <a:xfrm flipV="1">
              <a:off x="3760765" y="1533813"/>
              <a:ext cx="301648" cy="2093"/>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3" name="Straight Arrow Connector 22"/>
            <p:cNvCxnSpPr/>
            <p:nvPr/>
          </p:nvCxnSpPr>
          <p:spPr>
            <a:xfrm flipV="1">
              <a:off x="4062413" y="2170725"/>
              <a:ext cx="301625" cy="1905"/>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24" name="Straight Connector 23"/>
            <p:cNvCxnSpPr/>
            <p:nvPr/>
          </p:nvCxnSpPr>
          <p:spPr>
            <a:xfrm>
              <a:off x="3400425" y="916371"/>
              <a:ext cx="661988"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409949" y="3419979"/>
              <a:ext cx="66167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409949" y="2827632"/>
              <a:ext cx="661670"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Elbow Connector 26"/>
            <p:cNvCxnSpPr/>
            <p:nvPr/>
          </p:nvCxnSpPr>
          <p:spPr>
            <a:xfrm flipV="1">
              <a:off x="2647949" y="1721153"/>
              <a:ext cx="741659" cy="448696"/>
            </a:xfrm>
            <a:prstGeom prst="bentConnector2">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8" name="Flowchart: Connector 27"/>
            <p:cNvSpPr/>
            <p:nvPr/>
          </p:nvSpPr>
          <p:spPr>
            <a:xfrm>
              <a:off x="866775" y="1891809"/>
              <a:ext cx="466725" cy="565060"/>
            </a:xfrm>
            <a:prstGeom prst="flowChartConnector">
              <a:avLst/>
            </a:prstGeom>
            <a:ln w="12700">
              <a:prstDash val="dash"/>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9" name="Straight Arrow Connector 28"/>
            <p:cNvCxnSpPr/>
            <p:nvPr/>
          </p:nvCxnSpPr>
          <p:spPr>
            <a:xfrm>
              <a:off x="1526382" y="1537283"/>
              <a:ext cx="416718" cy="7079"/>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0" name="Straight Arrow Connector 29"/>
            <p:cNvCxnSpPr>
              <a:endCxn id="10" idx="1"/>
            </p:cNvCxnSpPr>
            <p:nvPr/>
          </p:nvCxnSpPr>
          <p:spPr>
            <a:xfrm flipV="1">
              <a:off x="1358560" y="2158416"/>
              <a:ext cx="565489" cy="244"/>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p:nvPr/>
          </p:nvCxnSpPr>
          <p:spPr>
            <a:xfrm>
              <a:off x="1525269" y="2825727"/>
              <a:ext cx="389255" cy="1905"/>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2" name="Straight Arrow Connector 31"/>
            <p:cNvCxnSpPr/>
            <p:nvPr/>
          </p:nvCxnSpPr>
          <p:spPr>
            <a:xfrm>
              <a:off x="1409700" y="3418500"/>
              <a:ext cx="504824" cy="1905"/>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3" name="Straight Connector 32"/>
            <p:cNvCxnSpPr>
              <a:stCxn id="28" idx="4"/>
            </p:cNvCxnSpPr>
            <p:nvPr/>
          </p:nvCxnSpPr>
          <p:spPr>
            <a:xfrm>
              <a:off x="1100138" y="2456869"/>
              <a:ext cx="309562" cy="963536"/>
            </a:xfrm>
            <a:prstGeom prst="line">
              <a:avLst/>
            </a:prstGeom>
            <a:ln w="19050">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34" name="Straight Connector 33"/>
            <p:cNvCxnSpPr>
              <a:stCxn id="28" idx="5"/>
            </p:cNvCxnSpPr>
            <p:nvPr/>
          </p:nvCxnSpPr>
          <p:spPr>
            <a:xfrm>
              <a:off x="1265150" y="2374118"/>
              <a:ext cx="260119" cy="453832"/>
            </a:xfrm>
            <a:prstGeom prst="line">
              <a:avLst/>
            </a:prstGeom>
            <a:ln w="19050">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35" name="Straight Connector 34"/>
            <p:cNvCxnSpPr>
              <a:endCxn id="28" idx="7"/>
            </p:cNvCxnSpPr>
            <p:nvPr/>
          </p:nvCxnSpPr>
          <p:spPr>
            <a:xfrm flipH="1">
              <a:off x="1265150" y="1536223"/>
              <a:ext cx="260120" cy="438337"/>
            </a:xfrm>
            <a:prstGeom prst="line">
              <a:avLst/>
            </a:prstGeom>
            <a:ln w="19050">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36" name="Straight Arrow Connector 35"/>
            <p:cNvCxnSpPr/>
            <p:nvPr/>
          </p:nvCxnSpPr>
          <p:spPr>
            <a:xfrm>
              <a:off x="1100138" y="916371"/>
              <a:ext cx="814386" cy="12608"/>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7" name="Straight Arrow Connector 36"/>
            <p:cNvCxnSpPr/>
            <p:nvPr/>
          </p:nvCxnSpPr>
          <p:spPr>
            <a:xfrm>
              <a:off x="1099163" y="571499"/>
              <a:ext cx="975" cy="209551"/>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8" name="Straight Arrow Connector 37"/>
            <p:cNvCxnSpPr>
              <a:endCxn id="28" idx="0"/>
            </p:cNvCxnSpPr>
            <p:nvPr/>
          </p:nvCxnSpPr>
          <p:spPr>
            <a:xfrm>
              <a:off x="1099162" y="741041"/>
              <a:ext cx="976" cy="1150768"/>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39" name="Straight Connector 38"/>
            <p:cNvCxnSpPr>
              <a:endCxn id="40" idx="4"/>
            </p:cNvCxnSpPr>
            <p:nvPr/>
          </p:nvCxnSpPr>
          <p:spPr>
            <a:xfrm>
              <a:off x="338792" y="2177710"/>
              <a:ext cx="741343" cy="11134"/>
            </a:xfrm>
            <a:prstGeom prst="line">
              <a:avLst/>
            </a:prstGeom>
            <a:ln w="19050">
              <a:solidFill>
                <a:srgbClr val="00B0F0"/>
              </a:solidFill>
            </a:ln>
          </p:spPr>
          <p:style>
            <a:lnRef idx="1">
              <a:schemeClr val="accent2"/>
            </a:lnRef>
            <a:fillRef idx="0">
              <a:schemeClr val="accent2"/>
            </a:fillRef>
            <a:effectRef idx="0">
              <a:schemeClr val="accent2"/>
            </a:effectRef>
            <a:fontRef idx="minor">
              <a:schemeClr val="tx1"/>
            </a:fontRef>
          </p:style>
        </p:cxnSp>
        <p:sp>
          <p:nvSpPr>
            <p:cNvPr id="40" name="Flowchart: Connector 39"/>
            <p:cNvSpPr/>
            <p:nvPr/>
          </p:nvSpPr>
          <p:spPr>
            <a:xfrm>
              <a:off x="1057275" y="2143125"/>
              <a:ext cx="45719" cy="45719"/>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1" name="Flowchart: Connector 40"/>
            <p:cNvSpPr/>
            <p:nvPr/>
          </p:nvSpPr>
          <p:spPr>
            <a:xfrm>
              <a:off x="1075350" y="1875450"/>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ea typeface="Times New Roman"/>
                  <a:cs typeface="Times New Roman"/>
                </a:rPr>
                <a:t> </a:t>
              </a:r>
            </a:p>
          </p:txBody>
        </p:sp>
        <p:sp>
          <p:nvSpPr>
            <p:cNvPr id="42" name="Flowchart: Connector 41"/>
            <p:cNvSpPr/>
            <p:nvPr/>
          </p:nvSpPr>
          <p:spPr>
            <a:xfrm>
              <a:off x="1237275" y="1951650"/>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sp>
          <p:nvSpPr>
            <p:cNvPr id="43" name="Flowchart: Connector 42"/>
            <p:cNvSpPr/>
            <p:nvPr/>
          </p:nvSpPr>
          <p:spPr>
            <a:xfrm>
              <a:off x="1084875" y="2418375"/>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sp>
          <p:nvSpPr>
            <p:cNvPr id="44" name="Flowchart: Connector 43"/>
            <p:cNvSpPr/>
            <p:nvPr/>
          </p:nvSpPr>
          <p:spPr>
            <a:xfrm>
              <a:off x="1246800" y="2351700"/>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sp>
          <p:nvSpPr>
            <p:cNvPr id="45" name="Flowchart: Connector 44"/>
            <p:cNvSpPr/>
            <p:nvPr/>
          </p:nvSpPr>
          <p:spPr>
            <a:xfrm>
              <a:off x="1313475" y="2132625"/>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cxnSp>
          <p:nvCxnSpPr>
            <p:cNvPr id="46" name="Straight Arrow Connector 45"/>
            <p:cNvCxnSpPr>
              <a:endCxn id="28" idx="7"/>
            </p:cNvCxnSpPr>
            <p:nvPr/>
          </p:nvCxnSpPr>
          <p:spPr>
            <a:xfrm flipV="1">
              <a:off x="1075350" y="1974560"/>
              <a:ext cx="189800" cy="208525"/>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sp>
          <p:nvSpPr>
            <p:cNvPr id="47" name="Flowchart: Connector 46"/>
            <p:cNvSpPr/>
            <p:nvPr/>
          </p:nvSpPr>
          <p:spPr>
            <a:xfrm>
              <a:off x="300310" y="2142150"/>
              <a:ext cx="45085" cy="45085"/>
            </a:xfrm>
            <a:prstGeom prst="flowChartConnector">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sp>
          <p:nvSpPr>
            <p:cNvPr id="48" name="Flowchart: Connector 47"/>
            <p:cNvSpPr/>
            <p:nvPr/>
          </p:nvSpPr>
          <p:spPr>
            <a:xfrm flipH="1" flipV="1">
              <a:off x="1066796" y="868746"/>
              <a:ext cx="47627" cy="74229"/>
            </a:xfrm>
            <a:prstGeom prst="flowChartConnector">
              <a:avLst/>
            </a:prstGeom>
            <a:solidFill>
              <a:srgbClr val="0070C0"/>
            </a:solidFill>
            <a:ln w="19050"/>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latin typeface="Times New Roman"/>
                  <a:ea typeface="Times New Roman"/>
                </a:rPr>
                <a:t> </a:t>
              </a:r>
              <a:endParaRPr lang="en-US" sz="1200">
                <a:effectLst/>
                <a:latin typeface="Times New Roman"/>
                <a:ea typeface="Times New Roman"/>
              </a:endParaRPr>
            </a:p>
          </p:txBody>
        </p:sp>
        <p:sp>
          <p:nvSpPr>
            <p:cNvPr id="49" name="Text Box 466"/>
            <p:cNvSpPr txBox="1"/>
            <p:nvPr/>
          </p:nvSpPr>
          <p:spPr>
            <a:xfrm>
              <a:off x="63500" y="2194854"/>
              <a:ext cx="581660" cy="43116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dirty="0">
                  <a:solidFill>
                    <a:srgbClr val="7030A0"/>
                  </a:solidFill>
                  <a:effectLst/>
                  <a:ea typeface="Times New Roman"/>
                  <a:cs typeface="Times New Roman"/>
                </a:rPr>
                <a:t>Input</a:t>
              </a:r>
              <a:endParaRPr lang="en-US" sz="1200" dirty="0">
                <a:effectLst/>
                <a:ea typeface="Times New Roman"/>
                <a:cs typeface="Times New Roman"/>
              </a:endParaRPr>
            </a:p>
            <a:p>
              <a:pPr marL="0" marR="0" algn="ctr">
                <a:spcBef>
                  <a:spcPts val="0"/>
                </a:spcBef>
                <a:spcAft>
                  <a:spcPts val="0"/>
                </a:spcAft>
              </a:pPr>
              <a:r>
                <a:rPr lang="en-US" sz="1200" dirty="0">
                  <a:solidFill>
                    <a:srgbClr val="7030A0"/>
                  </a:solidFill>
                  <a:effectLst/>
                  <a:ea typeface="Times New Roman"/>
                  <a:cs typeface="Times New Roman"/>
                </a:rPr>
                <a:t>Probes</a:t>
              </a:r>
              <a:endParaRPr lang="en-US" sz="1200" dirty="0">
                <a:effectLst/>
                <a:ea typeface="Times New Roman"/>
                <a:cs typeface="Times New Roman"/>
              </a:endParaRPr>
            </a:p>
            <a:p>
              <a:pPr marL="0" marR="0" algn="ctr">
                <a:lnSpc>
                  <a:spcPct val="150000"/>
                </a:lnSpc>
                <a:spcBef>
                  <a:spcPts val="0"/>
                </a:spcBef>
                <a:spcAft>
                  <a:spcPts val="0"/>
                </a:spcAft>
              </a:pPr>
              <a:r>
                <a:rPr lang="en-US" sz="1100" dirty="0">
                  <a:solidFill>
                    <a:srgbClr val="7030A0"/>
                  </a:solidFill>
                  <a:effectLst/>
                  <a:ea typeface="Times New Roman"/>
                  <a:cs typeface="Times New Roman"/>
                </a:rPr>
                <a:t> </a:t>
              </a:r>
              <a:endParaRPr lang="en-US" sz="1100" dirty="0">
                <a:effectLst/>
                <a:ea typeface="Times New Roman"/>
                <a:cs typeface="Times New Roman"/>
              </a:endParaRPr>
            </a:p>
          </p:txBody>
        </p:sp>
        <p:pic>
          <p:nvPicPr>
            <p:cNvPr id="50" name="Picture 49"/>
            <p:cNvPicPr>
              <a:picLocks noChangeAspect="1"/>
            </p:cNvPicPr>
            <p:nvPr/>
          </p:nvPicPr>
          <p:blipFill>
            <a:blip r:embed="rId3"/>
            <a:stretch>
              <a:fillRect/>
            </a:stretch>
          </p:blipFill>
          <p:spPr>
            <a:xfrm>
              <a:off x="243160" y="2587919"/>
              <a:ext cx="180952" cy="419048"/>
            </a:xfrm>
            <a:prstGeom prst="rect">
              <a:avLst/>
            </a:prstGeom>
          </p:spPr>
        </p:pic>
        <p:pic>
          <p:nvPicPr>
            <p:cNvPr id="51" name="Picture 50"/>
            <p:cNvPicPr>
              <a:picLocks noChangeAspect="1"/>
            </p:cNvPicPr>
            <p:nvPr/>
          </p:nvPicPr>
          <p:blipFill>
            <a:blip r:embed="rId4"/>
            <a:stretch>
              <a:fillRect/>
            </a:stretch>
          </p:blipFill>
          <p:spPr>
            <a:xfrm>
              <a:off x="4400657" y="2770372"/>
              <a:ext cx="857143" cy="447619"/>
            </a:xfrm>
            <a:prstGeom prst="rect">
              <a:avLst/>
            </a:prstGeom>
          </p:spPr>
        </p:pic>
        <p:cxnSp>
          <p:nvCxnSpPr>
            <p:cNvPr id="52" name="Straight Arrow Connector 51"/>
            <p:cNvCxnSpPr>
              <a:stCxn id="14" idx="2"/>
              <a:endCxn id="51" idx="0"/>
            </p:cNvCxnSpPr>
            <p:nvPr/>
          </p:nvCxnSpPr>
          <p:spPr>
            <a:xfrm>
              <a:off x="4828688" y="2429042"/>
              <a:ext cx="541" cy="34133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sp>
          <p:nvSpPr>
            <p:cNvPr id="53" name="Text Box 466"/>
            <p:cNvSpPr txBox="1"/>
            <p:nvPr/>
          </p:nvSpPr>
          <p:spPr>
            <a:xfrm>
              <a:off x="4297734" y="3285150"/>
              <a:ext cx="1047115" cy="267676"/>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7030A0"/>
                  </a:solidFill>
                  <a:effectLst/>
                  <a:latin typeface="Times New Roman"/>
                  <a:ea typeface="Times New Roman"/>
                </a:rPr>
                <a:t>Digital Display</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4" name="Text Box 466"/>
            <p:cNvSpPr txBox="1"/>
            <p:nvPr/>
          </p:nvSpPr>
          <p:spPr>
            <a:xfrm>
              <a:off x="1462360" y="1970397"/>
              <a:ext cx="40830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ACI</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5" name="Text Box 466"/>
            <p:cNvSpPr txBox="1"/>
            <p:nvPr/>
          </p:nvSpPr>
          <p:spPr>
            <a:xfrm rot="3716843">
              <a:off x="1255810" y="2451309"/>
              <a:ext cx="40830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DCI</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6" name="Text Box 466"/>
            <p:cNvSpPr txBox="1"/>
            <p:nvPr/>
          </p:nvSpPr>
          <p:spPr>
            <a:xfrm rot="4319829">
              <a:off x="880700" y="2669147"/>
              <a:ext cx="45783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DCV</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7" name="Text Box 466"/>
            <p:cNvSpPr txBox="1"/>
            <p:nvPr/>
          </p:nvSpPr>
          <p:spPr>
            <a:xfrm rot="18025980">
              <a:off x="1260635" y="1651550"/>
              <a:ext cx="45783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ACV</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8" name="Text Box 466"/>
            <p:cNvSpPr txBox="1"/>
            <p:nvPr/>
          </p:nvSpPr>
          <p:spPr>
            <a:xfrm rot="16200000">
              <a:off x="801184" y="1271704"/>
              <a:ext cx="766774"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Resi</a:t>
              </a:r>
              <a:r>
                <a:rPr lang="en-US" sz="1200" b="1" dirty="0">
                  <a:solidFill>
                    <a:srgbClr val="7030A0"/>
                  </a:solidFill>
                  <a:latin typeface="Times New Roman"/>
                  <a:ea typeface="Times New Roman"/>
                </a:rPr>
                <a:t>stance</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
          <p:nvSpPr>
            <p:cNvPr id="59" name="Text Box 466"/>
            <p:cNvSpPr txBox="1"/>
            <p:nvPr/>
          </p:nvSpPr>
          <p:spPr>
            <a:xfrm>
              <a:off x="1047746" y="1708695"/>
              <a:ext cx="25336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000" b="1">
                  <a:solidFill>
                    <a:srgbClr val="7030A0"/>
                  </a:solidFill>
                  <a:effectLst/>
                  <a:latin typeface="Times New Roman"/>
                  <a:ea typeface="Times New Roman"/>
                </a:rPr>
                <a:t>1</a:t>
              </a:r>
              <a:endParaRPr lang="en-US" sz="1200">
                <a:effectLst/>
                <a:latin typeface="Times New Roman"/>
                <a:ea typeface="Times New Roman"/>
              </a:endParaRPr>
            </a:p>
            <a:p>
              <a:pPr marL="0" marR="0" algn="ctr">
                <a:lnSpc>
                  <a:spcPct val="150000"/>
                </a:lnSpc>
                <a:spcBef>
                  <a:spcPts val="0"/>
                </a:spcBef>
                <a:spcAft>
                  <a:spcPts val="0"/>
                </a:spcAft>
              </a:pPr>
              <a:r>
                <a:rPr lang="en-US" sz="1100">
                  <a:solidFill>
                    <a:srgbClr val="7030A0"/>
                  </a:solidFill>
                  <a:effectLst/>
                  <a:latin typeface="Times New Roman"/>
                  <a:ea typeface="Times New Roman"/>
                </a:rPr>
                <a:t> </a:t>
              </a:r>
              <a:endParaRPr lang="en-US" sz="1200">
                <a:effectLst/>
                <a:latin typeface="Times New Roman"/>
                <a:ea typeface="Times New Roman"/>
              </a:endParaRPr>
            </a:p>
          </p:txBody>
        </p:sp>
        <p:sp>
          <p:nvSpPr>
            <p:cNvPr id="60" name="Text Box 466"/>
            <p:cNvSpPr txBox="1"/>
            <p:nvPr/>
          </p:nvSpPr>
          <p:spPr>
            <a:xfrm>
              <a:off x="1218225" y="1856990"/>
              <a:ext cx="25336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000" b="1">
                  <a:solidFill>
                    <a:srgbClr val="7030A0"/>
                  </a:solidFill>
                  <a:effectLst/>
                  <a:latin typeface="Times New Roman"/>
                  <a:ea typeface="Times New Roman"/>
                </a:rPr>
                <a:t>2</a:t>
              </a:r>
              <a:endParaRPr lang="en-US" sz="1200">
                <a:effectLst/>
                <a:latin typeface="Times New Roman"/>
                <a:ea typeface="Times New Roman"/>
              </a:endParaRPr>
            </a:p>
            <a:p>
              <a:pPr marL="0" marR="0" algn="ctr">
                <a:lnSpc>
                  <a:spcPct val="150000"/>
                </a:lnSpc>
                <a:spcBef>
                  <a:spcPts val="0"/>
                </a:spcBef>
                <a:spcAft>
                  <a:spcPts val="0"/>
                </a:spcAft>
              </a:pPr>
              <a:r>
                <a:rPr lang="en-US" sz="1100">
                  <a:solidFill>
                    <a:srgbClr val="7030A0"/>
                  </a:solidFill>
                  <a:effectLst/>
                  <a:latin typeface="Times New Roman"/>
                  <a:ea typeface="Times New Roman"/>
                </a:rPr>
                <a:t> </a:t>
              </a:r>
              <a:endParaRPr lang="en-US" sz="1200">
                <a:effectLst/>
                <a:latin typeface="Times New Roman"/>
                <a:ea typeface="Times New Roman"/>
              </a:endParaRPr>
            </a:p>
          </p:txBody>
        </p:sp>
        <p:sp>
          <p:nvSpPr>
            <p:cNvPr id="61" name="Text Box 466"/>
            <p:cNvSpPr txBox="1"/>
            <p:nvPr/>
          </p:nvSpPr>
          <p:spPr>
            <a:xfrm>
              <a:off x="1278801" y="1979884"/>
              <a:ext cx="25336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000" b="1">
                  <a:solidFill>
                    <a:srgbClr val="7030A0"/>
                  </a:solidFill>
                  <a:effectLst/>
                  <a:latin typeface="Times New Roman"/>
                  <a:ea typeface="Times New Roman"/>
                </a:rPr>
                <a:t>3</a:t>
              </a:r>
              <a:endParaRPr lang="en-US" sz="1200">
                <a:effectLst/>
                <a:latin typeface="Times New Roman"/>
                <a:ea typeface="Times New Roman"/>
              </a:endParaRPr>
            </a:p>
            <a:p>
              <a:pPr marL="0" marR="0" algn="ctr">
                <a:lnSpc>
                  <a:spcPct val="150000"/>
                </a:lnSpc>
                <a:spcBef>
                  <a:spcPts val="0"/>
                </a:spcBef>
                <a:spcAft>
                  <a:spcPts val="0"/>
                </a:spcAft>
              </a:pPr>
              <a:r>
                <a:rPr lang="en-US" sz="1100">
                  <a:solidFill>
                    <a:srgbClr val="7030A0"/>
                  </a:solidFill>
                  <a:effectLst/>
                  <a:latin typeface="Times New Roman"/>
                  <a:ea typeface="Times New Roman"/>
                </a:rPr>
                <a:t> </a:t>
              </a:r>
              <a:endParaRPr lang="en-US" sz="1200">
                <a:effectLst/>
                <a:latin typeface="Times New Roman"/>
                <a:ea typeface="Times New Roman"/>
              </a:endParaRPr>
            </a:p>
          </p:txBody>
        </p:sp>
        <p:sp>
          <p:nvSpPr>
            <p:cNvPr id="62" name="Text Box 466"/>
            <p:cNvSpPr txBox="1"/>
            <p:nvPr/>
          </p:nvSpPr>
          <p:spPr>
            <a:xfrm>
              <a:off x="1218225" y="2260554"/>
              <a:ext cx="25336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000" b="1">
                  <a:solidFill>
                    <a:srgbClr val="7030A0"/>
                  </a:solidFill>
                  <a:effectLst/>
                  <a:latin typeface="Times New Roman"/>
                  <a:ea typeface="Times New Roman"/>
                </a:rPr>
                <a:t>4</a:t>
              </a:r>
              <a:endParaRPr lang="en-US" sz="1200">
                <a:effectLst/>
                <a:latin typeface="Times New Roman"/>
                <a:ea typeface="Times New Roman"/>
              </a:endParaRPr>
            </a:p>
            <a:p>
              <a:pPr marL="0" marR="0" algn="ctr">
                <a:lnSpc>
                  <a:spcPct val="150000"/>
                </a:lnSpc>
                <a:spcBef>
                  <a:spcPts val="0"/>
                </a:spcBef>
                <a:spcAft>
                  <a:spcPts val="0"/>
                </a:spcAft>
              </a:pPr>
              <a:r>
                <a:rPr lang="en-US" sz="1100">
                  <a:solidFill>
                    <a:srgbClr val="7030A0"/>
                  </a:solidFill>
                  <a:effectLst/>
                  <a:latin typeface="Times New Roman"/>
                  <a:ea typeface="Times New Roman"/>
                </a:rPr>
                <a:t> </a:t>
              </a:r>
              <a:endParaRPr lang="en-US" sz="1200">
                <a:effectLst/>
                <a:latin typeface="Times New Roman"/>
                <a:ea typeface="Times New Roman"/>
              </a:endParaRPr>
            </a:p>
          </p:txBody>
        </p:sp>
        <p:sp>
          <p:nvSpPr>
            <p:cNvPr id="63" name="Text Box 466"/>
            <p:cNvSpPr txBox="1"/>
            <p:nvPr/>
          </p:nvSpPr>
          <p:spPr>
            <a:xfrm>
              <a:off x="909505" y="2383643"/>
              <a:ext cx="25336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000" b="1">
                  <a:solidFill>
                    <a:srgbClr val="7030A0"/>
                  </a:solidFill>
                  <a:effectLst/>
                  <a:latin typeface="Times New Roman"/>
                  <a:ea typeface="Times New Roman"/>
                </a:rPr>
                <a:t>5</a:t>
              </a:r>
              <a:endParaRPr lang="en-US" sz="1200">
                <a:effectLst/>
                <a:latin typeface="Times New Roman"/>
                <a:ea typeface="Times New Roman"/>
              </a:endParaRPr>
            </a:p>
            <a:p>
              <a:pPr marL="0" marR="0" algn="ctr">
                <a:lnSpc>
                  <a:spcPct val="150000"/>
                </a:lnSpc>
                <a:spcBef>
                  <a:spcPts val="0"/>
                </a:spcBef>
                <a:spcAft>
                  <a:spcPts val="0"/>
                </a:spcAft>
              </a:pPr>
              <a:r>
                <a:rPr lang="en-US" sz="1100">
                  <a:solidFill>
                    <a:srgbClr val="7030A0"/>
                  </a:solidFill>
                  <a:effectLst/>
                  <a:latin typeface="Times New Roman"/>
                  <a:ea typeface="Times New Roman"/>
                </a:rPr>
                <a:t> </a:t>
              </a:r>
              <a:endParaRPr lang="en-US" sz="1200">
                <a:effectLst/>
                <a:latin typeface="Times New Roman"/>
                <a:ea typeface="Times New Roman"/>
              </a:endParaRPr>
            </a:p>
          </p:txBody>
        </p:sp>
        <p:sp>
          <p:nvSpPr>
            <p:cNvPr id="64" name="Text Box 466"/>
            <p:cNvSpPr txBox="1"/>
            <p:nvPr/>
          </p:nvSpPr>
          <p:spPr>
            <a:xfrm>
              <a:off x="443410" y="1852577"/>
              <a:ext cx="535940" cy="35623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dirty="0">
                  <a:solidFill>
                    <a:srgbClr val="7030A0"/>
                  </a:solidFill>
                  <a:effectLst/>
                  <a:latin typeface="Times New Roman"/>
                  <a:ea typeface="Times New Roman"/>
                </a:rPr>
                <a:t>Rotary</a:t>
              </a:r>
              <a:endParaRPr lang="en-US" sz="1200" dirty="0">
                <a:effectLst/>
                <a:latin typeface="Times New Roman"/>
                <a:ea typeface="Times New Roman"/>
              </a:endParaRPr>
            </a:p>
            <a:p>
              <a:pPr marL="0" marR="0" algn="ctr">
                <a:spcBef>
                  <a:spcPts val="0"/>
                </a:spcBef>
                <a:spcAft>
                  <a:spcPts val="0"/>
                </a:spcAft>
              </a:pPr>
              <a:r>
                <a:rPr lang="en-US" sz="1200" dirty="0">
                  <a:solidFill>
                    <a:srgbClr val="7030A0"/>
                  </a:solidFill>
                  <a:effectLst/>
                  <a:latin typeface="Times New Roman"/>
                  <a:ea typeface="Times New Roman"/>
                </a:rPr>
                <a:t>Switch </a:t>
              </a:r>
              <a:endParaRPr lang="en-US" sz="1200" dirty="0">
                <a:effectLst/>
                <a:latin typeface="Times New Roman"/>
                <a:ea typeface="Times New Roman"/>
              </a:endParaRPr>
            </a:p>
          </p:txBody>
        </p:sp>
        <p:sp>
          <p:nvSpPr>
            <p:cNvPr id="65" name="Text Box 466"/>
            <p:cNvSpPr txBox="1"/>
            <p:nvPr/>
          </p:nvSpPr>
          <p:spPr>
            <a:xfrm>
              <a:off x="1036188" y="3799500"/>
              <a:ext cx="3453343" cy="26767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b="1" dirty="0">
                  <a:solidFill>
                    <a:srgbClr val="000000"/>
                  </a:solidFill>
                  <a:effectLst/>
                  <a:latin typeface="Times New Roman"/>
                  <a:ea typeface="Times New Roman"/>
                </a:rPr>
                <a:t>Fig. Block Diagram of Digital </a:t>
              </a:r>
              <a:r>
                <a:rPr lang="en-US" b="1" dirty="0" err="1">
                  <a:solidFill>
                    <a:srgbClr val="000000"/>
                  </a:solidFill>
                  <a:effectLst/>
                  <a:latin typeface="Times New Roman"/>
                  <a:ea typeface="Times New Roman"/>
                </a:rPr>
                <a:t>Multimeter</a:t>
              </a:r>
              <a:endParaRPr lang="en-US" dirty="0">
                <a:effectLst/>
                <a:latin typeface="Times New Roman"/>
                <a:ea typeface="Times New Roman"/>
              </a:endParaRPr>
            </a:p>
          </p:txBody>
        </p:sp>
      </p:grpSp>
      <p:sp>
        <p:nvSpPr>
          <p:cNvPr id="66" name="Text Box 466"/>
          <p:cNvSpPr txBox="1"/>
          <p:nvPr/>
        </p:nvSpPr>
        <p:spPr>
          <a:xfrm>
            <a:off x="427246" y="3812593"/>
            <a:ext cx="276225" cy="24257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7030A0"/>
                </a:solidFill>
                <a:effectLst/>
                <a:latin typeface="Times New Roman"/>
                <a:ea typeface="Times New Roman"/>
              </a:rPr>
              <a:t>+</a:t>
            </a:r>
            <a:endParaRPr lang="en-US" sz="1200" b="1" dirty="0">
              <a:effectLst/>
              <a:latin typeface="Times New Roman"/>
              <a:ea typeface="Times New Roman"/>
            </a:endParaRPr>
          </a:p>
          <a:p>
            <a:pPr marL="0" marR="0" algn="ctr">
              <a:lnSpc>
                <a:spcPct val="150000"/>
              </a:lnSpc>
              <a:spcBef>
                <a:spcPts val="0"/>
              </a:spcBef>
              <a:spcAft>
                <a:spcPts val="0"/>
              </a:spcAft>
            </a:pPr>
            <a:r>
              <a:rPr lang="en-US" sz="1100" dirty="0">
                <a:solidFill>
                  <a:srgbClr val="7030A0"/>
                </a:solidFill>
                <a:effectLst/>
                <a:latin typeface="Times New Roman"/>
                <a:ea typeface="Times New Roman"/>
              </a:rPr>
              <a:t> </a:t>
            </a:r>
            <a:endParaRPr lang="en-US" sz="1200" dirty="0">
              <a:effectLst/>
              <a:latin typeface="Times New Roman"/>
              <a:ea typeface="Times New Roman"/>
            </a:endParaRPr>
          </a:p>
        </p:txBody>
      </p:sp>
    </p:spTree>
    <p:extLst>
      <p:ext uri="{BB962C8B-B14F-4D97-AF65-F5344CB8AC3E}">
        <p14:creationId xmlns="" xmlns:p14="http://schemas.microsoft.com/office/powerpoint/2010/main" val="4285943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334000" cy="609600"/>
          </a:xfrm>
        </p:spPr>
        <p:txBody>
          <a:bodyPr>
            <a:noAutofit/>
          </a:bodyPr>
          <a:lstStyle/>
          <a:p>
            <a:pPr marL="571500" indent="-571500">
              <a:buBlip>
                <a:blip r:embed="rId2"/>
              </a:buBlip>
            </a:pPr>
            <a:r>
              <a:rPr lang="en-US" sz="3600" b="1" dirty="0">
                <a:solidFill>
                  <a:srgbClr val="C00000"/>
                </a:solidFill>
              </a:rPr>
              <a:t>Digital Multimeter</a:t>
            </a:r>
          </a:p>
        </p:txBody>
      </p:sp>
      <p:sp>
        <p:nvSpPr>
          <p:cNvPr id="3" name="Content Placeholder 2"/>
          <p:cNvSpPr>
            <a:spLocks noGrp="1"/>
          </p:cNvSpPr>
          <p:nvPr>
            <p:ph idx="1"/>
          </p:nvPr>
        </p:nvSpPr>
        <p:spPr>
          <a:xfrm>
            <a:off x="381000" y="914400"/>
            <a:ext cx="8305800" cy="5211763"/>
          </a:xfrm>
        </p:spPr>
        <p:txBody>
          <a:bodyPr>
            <a:normAutofit fontScale="77500" lnSpcReduction="20000"/>
          </a:bodyPr>
          <a:lstStyle/>
          <a:p>
            <a:pPr marL="0" indent="0">
              <a:lnSpc>
                <a:spcPct val="170000"/>
              </a:lnSpc>
              <a:buNone/>
            </a:pPr>
            <a:r>
              <a:rPr lang="en-US" sz="3600" b="1" dirty="0">
                <a:solidFill>
                  <a:srgbClr val="7030A0"/>
                </a:solidFill>
              </a:rPr>
              <a:t>#Working Principle of Digital Multimeter:</a:t>
            </a:r>
          </a:p>
          <a:p>
            <a:pPr algn="just"/>
            <a:r>
              <a:rPr lang="en-US" sz="3100" dirty="0"/>
              <a:t>As shown in block diagram, in a typical Digital multimeter the input signal i.e. ac or dc voltage, current, resistance, temperature or any other parameter is converted to dc voltage within the range of the ADC. </a:t>
            </a:r>
          </a:p>
          <a:p>
            <a:pPr algn="just"/>
            <a:r>
              <a:rPr lang="en-US" sz="3100" dirty="0"/>
              <a:t>The analog to digital converter then converts the pre-scaled dc voltage into its equivalent digital numbers which will be displayed on the display unit.</a:t>
            </a:r>
          </a:p>
          <a:p>
            <a:pPr algn="just"/>
            <a:r>
              <a:rPr lang="en-US" sz="3100" dirty="0"/>
              <a:t>DMM is generally used for measurement of,</a:t>
            </a:r>
          </a:p>
          <a:p>
            <a:pPr lvl="0" algn="just"/>
            <a:r>
              <a:rPr lang="en-US" sz="3100" dirty="0"/>
              <a:t>Voltage (AC or DC)</a:t>
            </a:r>
          </a:p>
          <a:p>
            <a:pPr lvl="0" algn="just"/>
            <a:r>
              <a:rPr lang="en-US" sz="3100" dirty="0"/>
              <a:t>Current (AC or DC)</a:t>
            </a:r>
          </a:p>
          <a:p>
            <a:pPr lvl="0" algn="just"/>
            <a:r>
              <a:rPr lang="en-US" sz="3100" dirty="0"/>
              <a:t>Resistance</a:t>
            </a:r>
          </a:p>
          <a:p>
            <a:pPr algn="just"/>
            <a:r>
              <a:rPr lang="en-US" sz="3100" dirty="0"/>
              <a:t>In all above measurements analog to digital conversion is required to display the value on digital display.</a:t>
            </a:r>
          </a:p>
          <a:p>
            <a:pPr marL="0" indent="0">
              <a:buNone/>
            </a:pPr>
            <a:endParaRPr lang="en-US" dirty="0"/>
          </a:p>
        </p:txBody>
      </p:sp>
    </p:spTree>
    <p:extLst>
      <p:ext uri="{BB962C8B-B14F-4D97-AF65-F5344CB8AC3E}">
        <p14:creationId xmlns="" xmlns:p14="http://schemas.microsoft.com/office/powerpoint/2010/main" val="21823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334000" cy="609600"/>
          </a:xfrm>
        </p:spPr>
        <p:txBody>
          <a:bodyPr>
            <a:noAutofit/>
          </a:bodyPr>
          <a:lstStyle/>
          <a:p>
            <a:pPr marL="571500" indent="-571500">
              <a:buBlip>
                <a:blip r:embed="rId2"/>
              </a:buBlip>
            </a:pPr>
            <a:r>
              <a:rPr lang="en-US" sz="3600" b="1" dirty="0">
                <a:solidFill>
                  <a:srgbClr val="C00000"/>
                </a:solidFill>
              </a:rPr>
              <a:t>Digital Multimeter</a:t>
            </a:r>
          </a:p>
        </p:txBody>
      </p:sp>
      <p:sp>
        <p:nvSpPr>
          <p:cNvPr id="3" name="Content Placeholder 2"/>
          <p:cNvSpPr>
            <a:spLocks noGrp="1"/>
          </p:cNvSpPr>
          <p:nvPr>
            <p:ph idx="1"/>
          </p:nvPr>
        </p:nvSpPr>
        <p:spPr>
          <a:xfrm>
            <a:off x="228600" y="609600"/>
            <a:ext cx="8763000" cy="6172200"/>
          </a:xfrm>
        </p:spPr>
        <p:txBody>
          <a:bodyPr>
            <a:normAutofit fontScale="55000" lnSpcReduction="20000"/>
          </a:bodyPr>
          <a:lstStyle/>
          <a:p>
            <a:pPr marL="0" indent="0" algn="just">
              <a:lnSpc>
                <a:spcPct val="120000"/>
              </a:lnSpc>
              <a:buNone/>
            </a:pPr>
            <a:r>
              <a:rPr lang="en-US" sz="4400" b="1" dirty="0">
                <a:solidFill>
                  <a:srgbClr val="7030A0"/>
                </a:solidFill>
              </a:rPr>
              <a:t>#Block diagram of DMM consists of,</a:t>
            </a:r>
          </a:p>
          <a:p>
            <a:pPr lvl="0" algn="just"/>
            <a:r>
              <a:rPr lang="en-US" sz="3600" dirty="0"/>
              <a:t>ADC (Analog to Digital Converter) – heart of DMM – used to converts all measured analog values to digital values.</a:t>
            </a:r>
          </a:p>
          <a:p>
            <a:pPr lvl="0" algn="just"/>
            <a:r>
              <a:rPr lang="en-US" sz="3600" dirty="0"/>
              <a:t>Attenuators (AC &amp; DC) – for voltage measurements (function is opposite to amplifier)</a:t>
            </a:r>
          </a:p>
          <a:p>
            <a:pPr lvl="0" algn="just"/>
            <a:r>
              <a:rPr lang="en-US" sz="3600" dirty="0"/>
              <a:t>Current to Voltage converter (AC &amp; DC) - for current measurements</a:t>
            </a:r>
          </a:p>
          <a:p>
            <a:pPr lvl="0" algn="just"/>
            <a:r>
              <a:rPr lang="en-US" sz="3600" dirty="0"/>
              <a:t>Constant current source – for resistance measurement </a:t>
            </a:r>
          </a:p>
          <a:p>
            <a:pPr lvl="0" algn="just"/>
            <a:r>
              <a:rPr lang="en-US" sz="3600" dirty="0"/>
              <a:t>Buffer Amplifier – for high output impedance of the circuit </a:t>
            </a:r>
          </a:p>
          <a:p>
            <a:pPr lvl="0" algn="just"/>
            <a:r>
              <a:rPr lang="en-US" sz="3600" dirty="0"/>
              <a:t>Rectifier circuit – converts AC to Pulsating DC.</a:t>
            </a:r>
          </a:p>
          <a:p>
            <a:pPr lvl="0" algn="just"/>
            <a:r>
              <a:rPr lang="en-US" sz="3600" dirty="0"/>
              <a:t>Digital display– for display the measured value</a:t>
            </a:r>
          </a:p>
          <a:p>
            <a:pPr lvl="0" algn="just"/>
            <a:r>
              <a:rPr lang="en-US" sz="3600" dirty="0"/>
              <a:t>Rotary switch – for selection of function or measurement.</a:t>
            </a:r>
          </a:p>
          <a:p>
            <a:pPr marL="0" lvl="0" indent="0">
              <a:buNone/>
            </a:pPr>
            <a:endParaRPr lang="en-US" dirty="0"/>
          </a:p>
          <a:p>
            <a:pPr marL="0" indent="0" algn="just">
              <a:lnSpc>
                <a:spcPct val="120000"/>
              </a:lnSpc>
              <a:buNone/>
            </a:pPr>
            <a:r>
              <a:rPr lang="en-US" sz="4400" b="1" dirty="0">
                <a:solidFill>
                  <a:srgbClr val="7030A0"/>
                </a:solidFill>
              </a:rPr>
              <a:t>#Features of Digital Multimeter:</a:t>
            </a:r>
          </a:p>
          <a:p>
            <a:pPr lvl="0" algn="just"/>
            <a:r>
              <a:rPr lang="en-US" sz="3600" dirty="0"/>
              <a:t>It is light in weight.</a:t>
            </a:r>
          </a:p>
          <a:p>
            <a:pPr lvl="0" algn="just"/>
            <a:r>
              <a:rPr lang="en-US" sz="3600" dirty="0"/>
              <a:t>Capable of giving more accurate readings.</a:t>
            </a:r>
          </a:p>
          <a:p>
            <a:pPr lvl="0" algn="just"/>
            <a:r>
              <a:rPr lang="en-US" sz="3600" dirty="0"/>
              <a:t>It measures lots of physical quantities like voltage, current, resistance, frequency etc.</a:t>
            </a:r>
          </a:p>
          <a:p>
            <a:pPr lvl="0" algn="just"/>
            <a:r>
              <a:rPr lang="en-US" sz="3600" dirty="0"/>
              <a:t>It is less costly.</a:t>
            </a:r>
          </a:p>
          <a:p>
            <a:pPr lvl="0" algn="just"/>
            <a:r>
              <a:rPr lang="en-US" sz="3600" dirty="0"/>
              <a:t>It measures different electrical parameters at high frequencies with the help of special probes.</a:t>
            </a:r>
          </a:p>
          <a:p>
            <a:pPr marL="0" indent="0">
              <a:buNone/>
            </a:pPr>
            <a:endParaRPr lang="en-US" dirty="0"/>
          </a:p>
        </p:txBody>
      </p:sp>
    </p:spTree>
    <p:extLst>
      <p:ext uri="{BB962C8B-B14F-4D97-AF65-F5344CB8AC3E}">
        <p14:creationId xmlns="" xmlns:p14="http://schemas.microsoft.com/office/powerpoint/2010/main" val="2749772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334000" cy="609600"/>
          </a:xfrm>
        </p:spPr>
        <p:txBody>
          <a:bodyPr>
            <a:noAutofit/>
          </a:bodyPr>
          <a:lstStyle/>
          <a:p>
            <a:pPr marL="571500" indent="-571500">
              <a:buBlip>
                <a:blip r:embed="rId2"/>
              </a:buBlip>
            </a:pPr>
            <a:r>
              <a:rPr lang="en-US" sz="3600" b="1" dirty="0">
                <a:solidFill>
                  <a:srgbClr val="C00000"/>
                </a:solidFill>
              </a:rPr>
              <a:t>Digital Multimeter</a:t>
            </a:r>
          </a:p>
        </p:txBody>
      </p:sp>
      <p:pic>
        <p:nvPicPr>
          <p:cNvPr id="2050"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52400" y="990600"/>
            <a:ext cx="8762999" cy="5562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52495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6781800" cy="639762"/>
          </a:xfrm>
        </p:spPr>
        <p:txBody>
          <a:bodyPr>
            <a:noAutofit/>
          </a:bodyPr>
          <a:lstStyle/>
          <a:p>
            <a:pPr marL="571500" indent="-571500">
              <a:buBlip>
                <a:blip r:embed="rId2"/>
              </a:buBlip>
            </a:pPr>
            <a:r>
              <a:rPr lang="en-US" sz="3600" b="1" dirty="0">
                <a:solidFill>
                  <a:srgbClr val="C00000"/>
                </a:solidFill>
              </a:rPr>
              <a:t>Analog &amp; Digital Multimeter</a:t>
            </a:r>
            <a:endParaRPr lang="en-US" sz="3600" dirty="0"/>
          </a:p>
        </p:txBody>
      </p:sp>
      <p:pic>
        <p:nvPicPr>
          <p:cNvPr id="3074"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7070" y="1143000"/>
            <a:ext cx="9009858" cy="5410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88507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791200" cy="609600"/>
          </a:xfrm>
        </p:spPr>
        <p:txBody>
          <a:bodyPr>
            <a:noAutofit/>
          </a:bodyPr>
          <a:lstStyle/>
          <a:p>
            <a:pPr marL="571500" indent="-571500">
              <a:buBlip>
                <a:blip r:embed="rId2"/>
              </a:buBlip>
            </a:pPr>
            <a:r>
              <a:rPr lang="en-US" sz="3600" b="1" dirty="0">
                <a:solidFill>
                  <a:srgbClr val="C00000"/>
                </a:solidFill>
              </a:rPr>
              <a:t>Function Generator (FG)</a:t>
            </a:r>
          </a:p>
        </p:txBody>
      </p:sp>
      <p:sp>
        <p:nvSpPr>
          <p:cNvPr id="3" name="Content Placeholder 2"/>
          <p:cNvSpPr>
            <a:spLocks noGrp="1"/>
          </p:cNvSpPr>
          <p:nvPr>
            <p:ph idx="1"/>
          </p:nvPr>
        </p:nvSpPr>
        <p:spPr>
          <a:xfrm>
            <a:off x="152400" y="838200"/>
            <a:ext cx="8763000" cy="6172200"/>
          </a:xfrm>
        </p:spPr>
        <p:txBody>
          <a:bodyPr>
            <a:normAutofit/>
          </a:bodyPr>
          <a:lstStyle/>
          <a:p>
            <a:r>
              <a:rPr lang="en-US" sz="2800" b="1" dirty="0">
                <a:solidFill>
                  <a:srgbClr val="7030A0"/>
                </a:solidFill>
              </a:rPr>
              <a:t>Function:</a:t>
            </a:r>
            <a:r>
              <a:rPr lang="en-US" sz="2800" dirty="0">
                <a:solidFill>
                  <a:srgbClr val="7030A0"/>
                </a:solidFill>
              </a:rPr>
              <a:t> </a:t>
            </a:r>
            <a:r>
              <a:rPr lang="en-US" sz="2800" dirty="0"/>
              <a:t>The function generator is signal generator which generates different types of waveforms. </a:t>
            </a:r>
          </a:p>
          <a:p>
            <a:r>
              <a:rPr lang="en-US" sz="2800" b="1" dirty="0"/>
              <a:t>A generator</a:t>
            </a:r>
            <a:r>
              <a:rPr lang="en-US" sz="2800" dirty="0"/>
              <a:t>, which will produce periodic waves like triangular wave, square wave and sine wave is called Function generator.</a:t>
            </a:r>
          </a:p>
          <a:p>
            <a:r>
              <a:rPr lang="en-US" sz="2800" dirty="0"/>
              <a:t>There are two </a:t>
            </a:r>
            <a:r>
              <a:rPr lang="en-US" sz="2800" b="1" dirty="0"/>
              <a:t>current sources</a:t>
            </a:r>
            <a:r>
              <a:rPr lang="en-US" sz="2800" dirty="0"/>
              <a:t>, namely upper current source and lower current source in block diagram. These two current sources are regulated by the frequency-controlled network.</a:t>
            </a:r>
          </a:p>
          <a:p>
            <a:pPr marL="0" indent="0">
              <a:buNone/>
            </a:pPr>
            <a:endParaRPr lang="en-US" dirty="0"/>
          </a:p>
        </p:txBody>
      </p:sp>
    </p:spTree>
    <p:extLst>
      <p:ext uri="{BB962C8B-B14F-4D97-AF65-F5344CB8AC3E}">
        <p14:creationId xmlns="" xmlns:p14="http://schemas.microsoft.com/office/powerpoint/2010/main" val="3636304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52975"/>
            <a:ext cx="4876800" cy="655638"/>
          </a:xfrm>
        </p:spPr>
        <p:txBody>
          <a:bodyPr>
            <a:normAutofit fontScale="90000"/>
          </a:bodyPr>
          <a:lstStyle/>
          <a:p>
            <a:pPr marL="571500" indent="-571500">
              <a:buBlip>
                <a:blip r:embed="rId2"/>
              </a:buBlip>
            </a:pPr>
            <a:r>
              <a:rPr lang="en-US" sz="3600" b="1" dirty="0">
                <a:solidFill>
                  <a:srgbClr val="C00000"/>
                </a:solidFill>
              </a:rPr>
              <a:t>Function Generator (FG)</a:t>
            </a:r>
          </a:p>
        </p:txBody>
      </p:sp>
      <p:pic>
        <p:nvPicPr>
          <p:cNvPr id="7" name="Picture 6" descr="Typical function generator form of signal generator"/>
          <p:cNvPicPr/>
          <p:nvPr/>
        </p:nvPicPr>
        <p:blipFill>
          <a:blip r:embed="rId3">
            <a:extLst>
              <a:ext uri="{28A0092B-C50C-407E-A947-70E740481C1C}">
                <a14:useLocalDpi xmlns="" xmlns:a14="http://schemas.microsoft.com/office/drawing/2010/main" val="0"/>
              </a:ext>
            </a:extLst>
          </a:blip>
          <a:srcRect/>
          <a:stretch>
            <a:fillRect/>
          </a:stretch>
        </p:blipFill>
        <p:spPr bwMode="auto">
          <a:xfrm>
            <a:off x="7010400" y="121534"/>
            <a:ext cx="1981200" cy="1554866"/>
          </a:xfrm>
          <a:prstGeom prst="rect">
            <a:avLst/>
          </a:prstGeom>
          <a:noFill/>
          <a:ln>
            <a:noFill/>
          </a:ln>
        </p:spPr>
      </p:pic>
      <p:pic>
        <p:nvPicPr>
          <p:cNvPr id="1026" name="Picture 2"/>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990600" y="1600200"/>
            <a:ext cx="5943600" cy="39127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614554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791200" cy="609600"/>
          </a:xfrm>
        </p:spPr>
        <p:txBody>
          <a:bodyPr>
            <a:noAutofit/>
          </a:bodyPr>
          <a:lstStyle/>
          <a:p>
            <a:pPr marL="571500" indent="-571500">
              <a:buBlip>
                <a:blip r:embed="rId2"/>
              </a:buBlip>
            </a:pPr>
            <a:r>
              <a:rPr lang="en-US" sz="3600" b="1" dirty="0">
                <a:solidFill>
                  <a:srgbClr val="C00000"/>
                </a:solidFill>
              </a:rPr>
              <a:t>Function Generator (FG)</a:t>
            </a:r>
          </a:p>
        </p:txBody>
      </p:sp>
      <p:sp>
        <p:nvSpPr>
          <p:cNvPr id="3" name="Content Placeholder 2"/>
          <p:cNvSpPr>
            <a:spLocks noGrp="1"/>
          </p:cNvSpPr>
          <p:nvPr>
            <p:ph idx="1"/>
          </p:nvPr>
        </p:nvSpPr>
        <p:spPr>
          <a:xfrm>
            <a:off x="152400" y="838200"/>
            <a:ext cx="8763000" cy="6172200"/>
          </a:xfrm>
        </p:spPr>
        <p:txBody>
          <a:bodyPr>
            <a:normAutofit/>
          </a:bodyPr>
          <a:lstStyle/>
          <a:p>
            <a:pPr marL="0" lvl="0" indent="0" algn="just">
              <a:buNone/>
            </a:pPr>
            <a:r>
              <a:rPr lang="en-US" sz="2800" b="1" dirty="0">
                <a:solidFill>
                  <a:srgbClr val="7030A0"/>
                </a:solidFill>
              </a:rPr>
              <a:t>Triangular Wave</a:t>
            </a:r>
          </a:p>
          <a:p>
            <a:pPr algn="just"/>
            <a:r>
              <a:rPr lang="en-US" sz="2800" b="1" dirty="0"/>
              <a:t>Integrator</a:t>
            </a:r>
            <a:r>
              <a:rPr lang="en-US" sz="2800" dirty="0"/>
              <a:t> takes constant current alternately from upper and lowers current sources for equal amount of time repeatedly. So, the integrator will produce two types of output for the same time repeatedly −</a:t>
            </a:r>
          </a:p>
          <a:p>
            <a:pPr lvl="0" algn="just"/>
            <a:r>
              <a:rPr lang="en-US" sz="2800" dirty="0"/>
              <a:t>The output voltage of an integrator </a:t>
            </a:r>
            <a:r>
              <a:rPr lang="en-US" sz="2800" b="1" dirty="0"/>
              <a:t>increases linearly</a:t>
            </a:r>
            <a:r>
              <a:rPr lang="en-US" sz="2800" dirty="0"/>
              <a:t> w.r.t. time for the period during which integrator gets current from upper current source.</a:t>
            </a:r>
          </a:p>
          <a:p>
            <a:pPr lvl="0" algn="just"/>
            <a:r>
              <a:rPr lang="en-US" sz="2800" dirty="0"/>
              <a:t>The output voltage of an integrator </a:t>
            </a:r>
            <a:r>
              <a:rPr lang="en-US" sz="2800" b="1" dirty="0"/>
              <a:t>decreases linearly</a:t>
            </a:r>
            <a:r>
              <a:rPr lang="en-US" sz="2800" dirty="0"/>
              <a:t> w.r.t. time for the period during which integrator gets current from lower current source.</a:t>
            </a:r>
          </a:p>
          <a:p>
            <a:pPr algn="just"/>
            <a:r>
              <a:rPr lang="en-US" sz="2800" dirty="0"/>
              <a:t>In this way, the integrator present in above block diagram will produce a </a:t>
            </a:r>
            <a:r>
              <a:rPr lang="en-US" sz="2800" b="1" dirty="0"/>
              <a:t>triangular wave</a:t>
            </a:r>
            <a:r>
              <a:rPr lang="en-US" sz="2800" dirty="0"/>
              <a:t>.</a:t>
            </a:r>
          </a:p>
          <a:p>
            <a:pPr marL="0" indent="0">
              <a:buNone/>
            </a:pPr>
            <a:endParaRPr lang="en-US" dirty="0"/>
          </a:p>
        </p:txBody>
      </p:sp>
    </p:spTree>
    <p:extLst>
      <p:ext uri="{BB962C8B-B14F-4D97-AF65-F5344CB8AC3E}">
        <p14:creationId xmlns="" xmlns:p14="http://schemas.microsoft.com/office/powerpoint/2010/main" val="2782019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791200" cy="609600"/>
          </a:xfrm>
        </p:spPr>
        <p:txBody>
          <a:bodyPr>
            <a:noAutofit/>
          </a:bodyPr>
          <a:lstStyle/>
          <a:p>
            <a:pPr marL="571500" indent="-571500">
              <a:buBlip>
                <a:blip r:embed="rId2"/>
              </a:buBlip>
            </a:pPr>
            <a:r>
              <a:rPr lang="en-US" sz="3600" b="1" dirty="0">
                <a:solidFill>
                  <a:srgbClr val="C00000"/>
                </a:solidFill>
              </a:rPr>
              <a:t>Function Generator (FG)</a:t>
            </a:r>
          </a:p>
        </p:txBody>
      </p:sp>
      <p:sp>
        <p:nvSpPr>
          <p:cNvPr id="3" name="Content Placeholder 2"/>
          <p:cNvSpPr>
            <a:spLocks noGrp="1"/>
          </p:cNvSpPr>
          <p:nvPr>
            <p:ph idx="1"/>
          </p:nvPr>
        </p:nvSpPr>
        <p:spPr>
          <a:xfrm>
            <a:off x="152400" y="838200"/>
            <a:ext cx="8763000" cy="5715000"/>
          </a:xfrm>
        </p:spPr>
        <p:txBody>
          <a:bodyPr>
            <a:normAutofit fontScale="62500" lnSpcReduction="20000"/>
          </a:bodyPr>
          <a:lstStyle/>
          <a:p>
            <a:pPr marL="0" indent="0">
              <a:buNone/>
            </a:pPr>
            <a:r>
              <a:rPr lang="en-US" sz="3800" b="1" dirty="0">
                <a:solidFill>
                  <a:srgbClr val="7030A0"/>
                </a:solidFill>
              </a:rPr>
              <a:t>#Square Wave &amp; Sine Wave</a:t>
            </a:r>
          </a:p>
          <a:p>
            <a:pPr algn="just"/>
            <a:r>
              <a:rPr lang="en-US" sz="3400" dirty="0"/>
              <a:t>The output of integrator, i.e. the triangular wave is applied as an input to two other blocks in order to get the square wave and sine wave respectively.</a:t>
            </a:r>
          </a:p>
          <a:p>
            <a:pPr marL="0" lvl="0" indent="0" algn="just">
              <a:buNone/>
            </a:pPr>
            <a:r>
              <a:rPr lang="en-US" sz="3800" b="1" dirty="0">
                <a:solidFill>
                  <a:srgbClr val="7030A0"/>
                </a:solidFill>
              </a:rPr>
              <a:t>Square Wave</a:t>
            </a:r>
          </a:p>
          <a:p>
            <a:pPr algn="just"/>
            <a:r>
              <a:rPr lang="en-US" sz="3400" dirty="0"/>
              <a:t>The triangular wave has positive slope and negative slope alternately for equal amount of time repeatedly. So, the </a:t>
            </a:r>
            <a:r>
              <a:rPr lang="en-US" sz="3400" b="1" dirty="0"/>
              <a:t>voltage comparator multi vibrator</a:t>
            </a:r>
            <a:r>
              <a:rPr lang="en-US" sz="3400" dirty="0"/>
              <a:t> will produce the following two types of output for equal amount of time repeatedly.</a:t>
            </a:r>
          </a:p>
          <a:p>
            <a:pPr lvl="0" algn="just"/>
            <a:r>
              <a:rPr lang="en-US" sz="3400" dirty="0"/>
              <a:t>One type of constant </a:t>
            </a:r>
            <a:r>
              <a:rPr lang="en-US" sz="3400" b="1" dirty="0"/>
              <a:t>(higher) voltage</a:t>
            </a:r>
            <a:r>
              <a:rPr lang="en-US" sz="3400" dirty="0"/>
              <a:t> at the output of voltage comparator multi vibrator for the period during which the voltage comparator multi vibrator gets the positive slope of the triangular wave.</a:t>
            </a:r>
          </a:p>
          <a:p>
            <a:pPr lvl="0" algn="just"/>
            <a:r>
              <a:rPr lang="en-US" sz="3400" dirty="0"/>
              <a:t>Another type of constant </a:t>
            </a:r>
            <a:r>
              <a:rPr lang="en-US" sz="3400" b="1" dirty="0"/>
              <a:t>(lower) voltage</a:t>
            </a:r>
            <a:r>
              <a:rPr lang="en-US" sz="3400" dirty="0"/>
              <a:t> at the output of voltage comparator multi vibrator for the period during which the voltage comparator multi vibrator gets the negative slope of the triangular wave.</a:t>
            </a:r>
          </a:p>
          <a:p>
            <a:pPr algn="just"/>
            <a:r>
              <a:rPr lang="en-US" sz="3400" dirty="0"/>
              <a:t>The voltage comparator multi vibrator will produce a </a:t>
            </a:r>
            <a:r>
              <a:rPr lang="en-US" sz="3400" b="1" dirty="0"/>
              <a:t>square wave</a:t>
            </a:r>
            <a:r>
              <a:rPr lang="en-US" sz="3400" dirty="0"/>
              <a:t>. If the amplitude of the square wave that is produced at the output of voltage comparator multi vibrator is not sufficient, then it can be amplified to the required value by using a square wave amplifier.</a:t>
            </a:r>
          </a:p>
          <a:p>
            <a:pPr marL="0" indent="0">
              <a:buNone/>
            </a:pPr>
            <a:endParaRPr lang="en-US" dirty="0"/>
          </a:p>
        </p:txBody>
      </p:sp>
    </p:spTree>
    <p:extLst>
      <p:ext uri="{BB962C8B-B14F-4D97-AF65-F5344CB8AC3E}">
        <p14:creationId xmlns="" xmlns:p14="http://schemas.microsoft.com/office/powerpoint/2010/main" val="71003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5791200" cy="609600"/>
          </a:xfrm>
        </p:spPr>
        <p:txBody>
          <a:bodyPr>
            <a:noAutofit/>
          </a:bodyPr>
          <a:lstStyle/>
          <a:p>
            <a:pPr marL="571500" indent="-571500">
              <a:buBlip>
                <a:blip r:embed="rId2"/>
              </a:buBlip>
            </a:pPr>
            <a:r>
              <a:rPr lang="en-US" sz="3600" b="1" dirty="0">
                <a:solidFill>
                  <a:srgbClr val="C00000"/>
                </a:solidFill>
              </a:rPr>
              <a:t>Function Generator (FG)</a:t>
            </a:r>
          </a:p>
        </p:txBody>
      </p:sp>
      <p:sp>
        <p:nvSpPr>
          <p:cNvPr id="3" name="Content Placeholder 2"/>
          <p:cNvSpPr>
            <a:spLocks noGrp="1"/>
          </p:cNvSpPr>
          <p:nvPr>
            <p:ph idx="1"/>
          </p:nvPr>
        </p:nvSpPr>
        <p:spPr>
          <a:xfrm>
            <a:off x="152400" y="838200"/>
            <a:ext cx="8763000" cy="4648200"/>
          </a:xfrm>
        </p:spPr>
        <p:txBody>
          <a:bodyPr>
            <a:normAutofit/>
          </a:bodyPr>
          <a:lstStyle/>
          <a:p>
            <a:pPr marL="0" lvl="0" indent="0">
              <a:buNone/>
            </a:pPr>
            <a:r>
              <a:rPr lang="en-US" sz="2800" b="1" dirty="0">
                <a:solidFill>
                  <a:srgbClr val="7030A0"/>
                </a:solidFill>
              </a:rPr>
              <a:t>Sine Wave</a:t>
            </a:r>
          </a:p>
          <a:p>
            <a:pPr algn="just"/>
            <a:r>
              <a:rPr lang="en-US" sz="2800" dirty="0"/>
              <a:t>The </a:t>
            </a:r>
            <a:r>
              <a:rPr lang="en-US" sz="2800" b="1" dirty="0"/>
              <a:t>sine wave shaping circuit</a:t>
            </a:r>
            <a:r>
              <a:rPr lang="en-US" sz="2800" dirty="0"/>
              <a:t> will produce a sine wave output from the triangular input wave. Basically, this circuit consists of a diode resistance network. </a:t>
            </a:r>
          </a:p>
          <a:p>
            <a:pPr algn="just"/>
            <a:r>
              <a:rPr lang="en-US" sz="2800" dirty="0"/>
              <a:t>If the amplitude of the sine wave produced at the output of sine wave shaping circuit is insufficient, then it can be amplified to the required value by using sine wave amplifier.</a:t>
            </a:r>
          </a:p>
          <a:p>
            <a:pPr marL="0" indent="0">
              <a:buNone/>
            </a:pPr>
            <a:endParaRPr lang="en-US" dirty="0"/>
          </a:p>
        </p:txBody>
      </p:sp>
    </p:spTree>
    <p:extLst>
      <p:ext uri="{BB962C8B-B14F-4D97-AF65-F5344CB8AC3E}">
        <p14:creationId xmlns="" xmlns:p14="http://schemas.microsoft.com/office/powerpoint/2010/main" val="1653512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705600" cy="609600"/>
          </a:xfrm>
        </p:spPr>
        <p:txBody>
          <a:bodyPr>
            <a:noAutofit/>
          </a:bodyPr>
          <a:lstStyle/>
          <a:p>
            <a:pPr marL="571500" indent="-571500">
              <a:buBlip>
                <a:blip r:embed="rId2"/>
              </a:buBlip>
            </a:pPr>
            <a:r>
              <a:rPr lang="en-US" sz="3200" b="1" dirty="0">
                <a:solidFill>
                  <a:srgbClr val="C00000"/>
                </a:solidFill>
              </a:rPr>
              <a:t>Digital Storage Oscilloscope (DSO)</a:t>
            </a:r>
          </a:p>
        </p:txBody>
      </p:sp>
      <p:sp>
        <p:nvSpPr>
          <p:cNvPr id="3" name="Content Placeholder 2"/>
          <p:cNvSpPr>
            <a:spLocks noGrp="1"/>
          </p:cNvSpPr>
          <p:nvPr>
            <p:ph idx="1"/>
          </p:nvPr>
        </p:nvSpPr>
        <p:spPr>
          <a:xfrm>
            <a:off x="152400" y="914400"/>
            <a:ext cx="8763000" cy="6172200"/>
          </a:xfrm>
        </p:spPr>
        <p:txBody>
          <a:bodyPr>
            <a:normAutofit/>
          </a:bodyPr>
          <a:lstStyle/>
          <a:p>
            <a:pPr lvl="0"/>
            <a:r>
              <a:rPr lang="en-US" sz="2400" dirty="0"/>
              <a:t>Oscilloscope is electronic equipment, which displays a voltage waveform. </a:t>
            </a:r>
          </a:p>
          <a:p>
            <a:pPr lvl="0"/>
            <a:r>
              <a:rPr lang="en-US" sz="2400" dirty="0"/>
              <a:t>Among the oscilloscopes, Digital Storage Oscilloscope (DSO) is </a:t>
            </a:r>
            <a:r>
              <a:rPr lang="en-US" sz="2400" b="1" dirty="0"/>
              <a:t>special purpose oscilloscope</a:t>
            </a:r>
            <a:r>
              <a:rPr lang="en-US" sz="2400" dirty="0"/>
              <a:t>.</a:t>
            </a:r>
          </a:p>
          <a:p>
            <a:pPr lvl="0"/>
            <a:r>
              <a:rPr lang="en-US" sz="2400" dirty="0"/>
              <a:t>The oscilloscope, which stores the waveform digitally, is known as digital storage oscilloscope.</a:t>
            </a:r>
          </a:p>
          <a:p>
            <a:pPr lvl="0"/>
            <a:r>
              <a:rPr lang="en-US" sz="2400" b="1" dirty="0"/>
              <a:t>Function:</a:t>
            </a:r>
            <a:r>
              <a:rPr lang="en-US" sz="2400" dirty="0"/>
              <a:t> In </a:t>
            </a:r>
            <a:r>
              <a:rPr lang="en-US" sz="2400" b="1" dirty="0"/>
              <a:t>DSO</a:t>
            </a:r>
            <a:r>
              <a:rPr lang="en-US" sz="2400" dirty="0"/>
              <a:t>, the waveform to be stored is digitized, stored in a digital memory, and retrieved for display on the storage </a:t>
            </a:r>
            <a:r>
              <a:rPr lang="en-US" sz="2400" b="1" dirty="0"/>
              <a:t>oscilloscope</a:t>
            </a:r>
            <a:r>
              <a:rPr lang="en-US" dirty="0"/>
              <a:t>.</a:t>
            </a:r>
          </a:p>
          <a:p>
            <a:pPr marL="0" indent="0" algn="just">
              <a:buNone/>
            </a:pPr>
            <a:endParaRPr lang="en-US" dirty="0"/>
          </a:p>
        </p:txBody>
      </p:sp>
    </p:spTree>
    <p:extLst>
      <p:ext uri="{BB962C8B-B14F-4D97-AF65-F5344CB8AC3E}">
        <p14:creationId xmlns="" xmlns:p14="http://schemas.microsoft.com/office/powerpoint/2010/main" val="3678179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9902"/>
            <a:ext cx="7239000" cy="558298"/>
          </a:xfrm>
        </p:spPr>
        <p:txBody>
          <a:bodyPr>
            <a:noAutofit/>
          </a:bodyPr>
          <a:lstStyle/>
          <a:p>
            <a:pPr marL="571500" indent="-571500">
              <a:buBlip>
                <a:blip r:embed="rId2"/>
              </a:buBlip>
            </a:pPr>
            <a:r>
              <a:rPr lang="en-US" sz="3600" b="1" dirty="0">
                <a:solidFill>
                  <a:srgbClr val="C00000"/>
                </a:solidFill>
              </a:rPr>
              <a:t>Digital Storage Oscilloscope (DSO)</a:t>
            </a:r>
          </a:p>
        </p:txBody>
      </p:sp>
      <p:pic>
        <p:nvPicPr>
          <p:cNvPr id="4" name="Picture 3"/>
          <p:cNvPicPr/>
          <p:nvPr/>
        </p:nvPicPr>
        <p:blipFill>
          <a:blip r:embed="rId3">
            <a:extLst>
              <a:ext uri="{28A0092B-C50C-407E-A947-70E740481C1C}">
                <a14:useLocalDpi xmlns="" xmlns:a14="http://schemas.microsoft.com/office/drawing/2010/main" val="0"/>
              </a:ext>
            </a:extLst>
          </a:blip>
          <a:srcRect/>
          <a:stretch>
            <a:fillRect/>
          </a:stretch>
        </p:blipFill>
        <p:spPr bwMode="auto">
          <a:xfrm>
            <a:off x="1276597" y="1143000"/>
            <a:ext cx="6248400" cy="4829175"/>
          </a:xfrm>
          <a:prstGeom prst="rect">
            <a:avLst/>
          </a:prstGeom>
          <a:noFill/>
          <a:ln>
            <a:noFill/>
          </a:ln>
        </p:spPr>
      </p:pic>
      <p:pic>
        <p:nvPicPr>
          <p:cNvPr id="2050" name="Picture 2"/>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7543800" y="152400"/>
            <a:ext cx="1514475" cy="733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98094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705600" cy="609600"/>
          </a:xfrm>
        </p:spPr>
        <p:txBody>
          <a:bodyPr>
            <a:noAutofit/>
          </a:bodyPr>
          <a:lstStyle/>
          <a:p>
            <a:pPr marL="571500" indent="-571500">
              <a:buBlip>
                <a:blip r:embed="rId2"/>
              </a:buBlip>
            </a:pPr>
            <a:r>
              <a:rPr lang="en-US" sz="3200" b="1" dirty="0">
                <a:solidFill>
                  <a:srgbClr val="C00000"/>
                </a:solidFill>
              </a:rPr>
              <a:t>Digital Storage Oscilloscope (DSO)</a:t>
            </a:r>
          </a:p>
        </p:txBody>
      </p:sp>
      <p:sp>
        <p:nvSpPr>
          <p:cNvPr id="3" name="Content Placeholder 2"/>
          <p:cNvSpPr>
            <a:spLocks noGrp="1"/>
          </p:cNvSpPr>
          <p:nvPr>
            <p:ph idx="1"/>
          </p:nvPr>
        </p:nvSpPr>
        <p:spPr>
          <a:xfrm>
            <a:off x="152400" y="685800"/>
            <a:ext cx="8763000" cy="6172200"/>
          </a:xfrm>
        </p:spPr>
        <p:txBody>
          <a:bodyPr>
            <a:normAutofit fontScale="62500" lnSpcReduction="20000"/>
          </a:bodyPr>
          <a:lstStyle/>
          <a:p>
            <a:pPr marL="0" indent="0">
              <a:buNone/>
            </a:pPr>
            <a:r>
              <a:rPr lang="en-US" b="1" dirty="0">
                <a:solidFill>
                  <a:srgbClr val="7030A0"/>
                </a:solidFill>
              </a:rPr>
              <a:t>Block diagram of DSO:</a:t>
            </a:r>
            <a:endParaRPr lang="en-US" dirty="0">
              <a:solidFill>
                <a:srgbClr val="7030A0"/>
              </a:solidFill>
            </a:endParaRPr>
          </a:p>
          <a:p>
            <a:pPr algn="just"/>
            <a:r>
              <a:rPr lang="en-US" b="1" dirty="0"/>
              <a:t>Block</a:t>
            </a:r>
            <a:r>
              <a:rPr lang="en-US" dirty="0"/>
              <a:t> diagram</a:t>
            </a:r>
            <a:r>
              <a:rPr lang="en-US" b="1" dirty="0"/>
              <a:t> of a </a:t>
            </a:r>
            <a:r>
              <a:rPr lang="en-US" dirty="0"/>
              <a:t>DSO</a:t>
            </a:r>
            <a:r>
              <a:rPr lang="en-US" b="1" dirty="0"/>
              <a:t> consists of data acquisition, storage, and data display </a:t>
            </a:r>
            <a:r>
              <a:rPr lang="en-US" dirty="0"/>
              <a:t>blocks</a:t>
            </a:r>
            <a:r>
              <a:rPr lang="en-US" b="1" dirty="0"/>
              <a:t>. </a:t>
            </a:r>
            <a:r>
              <a:rPr lang="en-US" dirty="0"/>
              <a:t>Digital storage oscilloscopes</a:t>
            </a:r>
            <a:r>
              <a:rPr lang="en-US" b="1" dirty="0"/>
              <a:t> work in various modes.</a:t>
            </a:r>
          </a:p>
          <a:p>
            <a:pPr lvl="0" algn="just"/>
            <a:r>
              <a:rPr lang="en-US" dirty="0"/>
              <a:t>The input signal is applied to the amplifier and attenuator section.</a:t>
            </a:r>
          </a:p>
          <a:p>
            <a:pPr lvl="0" algn="just"/>
            <a:r>
              <a:rPr lang="en-US" dirty="0"/>
              <a:t>The oscilloscope uses same type of amplifier and attenuator circuitry as used in the conventional oscilloscopes.</a:t>
            </a:r>
          </a:p>
          <a:p>
            <a:pPr lvl="0" algn="just"/>
            <a:r>
              <a:rPr lang="en-US" dirty="0"/>
              <a:t>The attenuated signal is then applied to the vertical amplifier.</a:t>
            </a:r>
          </a:p>
          <a:p>
            <a:pPr lvl="0" algn="just"/>
            <a:r>
              <a:rPr lang="en-US" dirty="0"/>
              <a:t>To digitize the analog signal, analog to digital (A/D) converter is used</a:t>
            </a:r>
          </a:p>
          <a:p>
            <a:pPr lvl="0" algn="just"/>
            <a:r>
              <a:rPr lang="en-US" dirty="0"/>
              <a:t>The output of the vertical amplifier is applied to the A/D converter section.</a:t>
            </a:r>
          </a:p>
          <a:p>
            <a:pPr lvl="0" algn="just"/>
            <a:r>
              <a:rPr lang="en-US" dirty="0"/>
              <a:t>The successive approximation type of A/D converter is most often used in the digital storage oscilloscopes.</a:t>
            </a:r>
          </a:p>
          <a:p>
            <a:pPr lvl="0" algn="just"/>
            <a:r>
              <a:rPr lang="en-US" dirty="0"/>
              <a:t>The sampling rate and memory size are selected depending upon the duration &amp; the waveform to be recorded.</a:t>
            </a:r>
          </a:p>
          <a:p>
            <a:pPr lvl="0" algn="just"/>
            <a:r>
              <a:rPr lang="en-US" dirty="0"/>
              <a:t>Once the input signal is sampled, the A/D converter digitizes it.</a:t>
            </a:r>
          </a:p>
          <a:p>
            <a:pPr lvl="0" algn="just"/>
            <a:r>
              <a:rPr lang="en-US" dirty="0"/>
              <a:t>The signal is then captured in the memory.</a:t>
            </a:r>
          </a:p>
          <a:p>
            <a:pPr lvl="0" algn="just"/>
            <a:r>
              <a:rPr lang="en-US" dirty="0"/>
              <a:t>Once it is stored in the memory, many manipulations are possible as memory can be readout without being erased.</a:t>
            </a:r>
          </a:p>
          <a:p>
            <a:pPr lvl="0" algn="just"/>
            <a:r>
              <a:rPr lang="en-US" dirty="0"/>
              <a:t>The digital storage oscilloscope has three modes:</a:t>
            </a:r>
          </a:p>
          <a:p>
            <a:pPr marL="0" indent="0" algn="just">
              <a:buNone/>
            </a:pPr>
            <a:r>
              <a:rPr lang="en-US" dirty="0"/>
              <a:t>1.  Roll mode – used to observe the fast carrying signals.</a:t>
            </a:r>
          </a:p>
          <a:p>
            <a:pPr marL="0" indent="0" algn="just">
              <a:buNone/>
            </a:pPr>
            <a:r>
              <a:rPr lang="en-US" dirty="0"/>
              <a:t>2.  Store mode – commonly used mode. It is called refresh mode. </a:t>
            </a:r>
          </a:p>
          <a:p>
            <a:pPr marL="0" indent="0">
              <a:buNone/>
            </a:pPr>
            <a:r>
              <a:rPr lang="en-US" dirty="0"/>
              <a:t>3.  Hold or save mode .</a:t>
            </a:r>
          </a:p>
          <a:p>
            <a:pPr marL="0" indent="0" algn="just">
              <a:buNone/>
            </a:pPr>
            <a:endParaRPr lang="en-US" dirty="0"/>
          </a:p>
        </p:txBody>
      </p:sp>
    </p:spTree>
    <p:extLst>
      <p:ext uri="{BB962C8B-B14F-4D97-AF65-F5344CB8AC3E}">
        <p14:creationId xmlns="" xmlns:p14="http://schemas.microsoft.com/office/powerpoint/2010/main" val="2886389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6705600" cy="609600"/>
          </a:xfrm>
        </p:spPr>
        <p:txBody>
          <a:bodyPr>
            <a:noAutofit/>
          </a:bodyPr>
          <a:lstStyle/>
          <a:p>
            <a:pPr marL="571500" indent="-571500">
              <a:buBlip>
                <a:blip r:embed="rId2"/>
              </a:buBlip>
            </a:pPr>
            <a:r>
              <a:rPr lang="en-US" sz="3200" b="1" dirty="0">
                <a:solidFill>
                  <a:srgbClr val="C00000"/>
                </a:solidFill>
              </a:rPr>
              <a:t>Digital Storage Oscilloscope (DSO)</a:t>
            </a:r>
          </a:p>
        </p:txBody>
      </p:sp>
      <p:sp>
        <p:nvSpPr>
          <p:cNvPr id="3" name="Content Placeholder 2"/>
          <p:cNvSpPr>
            <a:spLocks noGrp="1"/>
          </p:cNvSpPr>
          <p:nvPr>
            <p:ph idx="1"/>
          </p:nvPr>
        </p:nvSpPr>
        <p:spPr>
          <a:xfrm>
            <a:off x="152400" y="685800"/>
            <a:ext cx="8763000" cy="5715000"/>
          </a:xfrm>
        </p:spPr>
        <p:txBody>
          <a:bodyPr>
            <a:normAutofit fontScale="85000" lnSpcReduction="10000"/>
          </a:bodyPr>
          <a:lstStyle/>
          <a:p>
            <a:pPr marL="0" indent="0">
              <a:buNone/>
            </a:pPr>
            <a:r>
              <a:rPr lang="en-US" b="1" dirty="0">
                <a:solidFill>
                  <a:srgbClr val="7030A0"/>
                </a:solidFill>
              </a:rPr>
              <a:t>Advantages</a:t>
            </a:r>
          </a:p>
          <a:p>
            <a:pPr marL="0" indent="0">
              <a:buNone/>
            </a:pPr>
            <a:r>
              <a:rPr lang="en-US" dirty="0"/>
              <a:t>i) It is easier to operate and has more capability.</a:t>
            </a:r>
          </a:p>
          <a:p>
            <a:pPr marL="0" indent="0">
              <a:buNone/>
            </a:pPr>
            <a:r>
              <a:rPr lang="en-US" dirty="0"/>
              <a:t>ii) The storage time is infinite.</a:t>
            </a:r>
          </a:p>
          <a:p>
            <a:pPr marL="0" indent="0">
              <a:buNone/>
            </a:pPr>
            <a:r>
              <a:rPr lang="en-US" dirty="0"/>
              <a:t>iii) The display flexibility is available. The number of traces that can be stored and recalled depends on the size of the memory.</a:t>
            </a:r>
          </a:p>
          <a:p>
            <a:pPr marL="0" indent="0">
              <a:buNone/>
            </a:pPr>
            <a:r>
              <a:rPr lang="en-US" dirty="0"/>
              <a:t>iv) The cursor measurement is possible.</a:t>
            </a:r>
          </a:p>
          <a:p>
            <a:pPr marL="0" indent="0">
              <a:buNone/>
            </a:pPr>
            <a:r>
              <a:rPr lang="en-US" dirty="0"/>
              <a:t>v) The characters can be displayed on screen along with the waveform which     can    indicate waveform information such as minimum, maximum, frequency, amplitude etc.</a:t>
            </a:r>
          </a:p>
          <a:p>
            <a:pPr marL="0" indent="0">
              <a:buNone/>
            </a:pPr>
            <a:r>
              <a:rPr lang="en-US" dirty="0"/>
              <a:t>vi) The X-Y plots, B-H curve, P-V diagrams can be displayed.</a:t>
            </a:r>
          </a:p>
          <a:p>
            <a:pPr marL="0" indent="0">
              <a:buNone/>
            </a:pPr>
            <a:r>
              <a:rPr lang="en-US" dirty="0"/>
              <a:t>viii) Keeping the records is possible by transmitting the data to computer system where the further processing is possible</a:t>
            </a:r>
          </a:p>
        </p:txBody>
      </p:sp>
    </p:spTree>
    <p:extLst>
      <p:ext uri="{BB962C8B-B14F-4D97-AF65-F5344CB8AC3E}">
        <p14:creationId xmlns="" xmlns:p14="http://schemas.microsoft.com/office/powerpoint/2010/main" val="3409266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999" y="304800"/>
            <a:ext cx="6082255" cy="715962"/>
          </a:xfrm>
        </p:spPr>
        <p:txBody>
          <a:bodyPr>
            <a:noAutofit/>
          </a:bodyPr>
          <a:lstStyle/>
          <a:p>
            <a:pPr marL="571500" indent="-571500">
              <a:buBlip>
                <a:blip r:embed="rId2"/>
              </a:buBlip>
            </a:pPr>
            <a:r>
              <a:rPr lang="en-US" sz="4000" b="1" dirty="0">
                <a:solidFill>
                  <a:srgbClr val="7030A0"/>
                </a:solidFill>
              </a:rPr>
              <a:t>Regulated Power Supply</a:t>
            </a:r>
          </a:p>
        </p:txBody>
      </p:sp>
      <p:sp>
        <p:nvSpPr>
          <p:cNvPr id="3" name="AutoShape 2" descr="Regulated DC Power Supply at Rs 10000 /piece | DC Regulated Power ..."/>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6" name="Picture 4" descr="Regulated DC Power Supply at Rs 10000 /piece | DC Regulated Power ..."/>
          <p:cNvPicPr>
            <a:picLocks noChangeAspect="1" noChangeArrowheads="1"/>
          </p:cNvPicPr>
          <p:nvPr/>
        </p:nvPicPr>
        <p:blipFill rotWithShape="1">
          <a:blip r:embed="rId3">
            <a:extLst>
              <a:ext uri="{28A0092B-C50C-407E-A947-70E740481C1C}">
                <a14:useLocalDpi xmlns="" xmlns:a14="http://schemas.microsoft.com/office/drawing/2010/main" val="0"/>
              </a:ext>
            </a:extLst>
          </a:blip>
          <a:srcRect l="9477" t="24810" r="6674" b="26096"/>
          <a:stretch/>
        </p:blipFill>
        <p:spPr bwMode="auto">
          <a:xfrm>
            <a:off x="7162800" y="76200"/>
            <a:ext cx="1905000" cy="12954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42" name="Canvas 186"/>
          <p:cNvGrpSpPr/>
          <p:nvPr/>
        </p:nvGrpSpPr>
        <p:grpSpPr>
          <a:xfrm>
            <a:off x="307975" y="1934591"/>
            <a:ext cx="8455025" cy="4542410"/>
            <a:chOff x="0" y="0"/>
            <a:chExt cx="6077585" cy="3124200"/>
          </a:xfrm>
        </p:grpSpPr>
        <p:sp>
          <p:nvSpPr>
            <p:cNvPr id="43" name="Rectangle 42"/>
            <p:cNvSpPr/>
            <p:nvPr/>
          </p:nvSpPr>
          <p:spPr>
            <a:xfrm>
              <a:off x="0" y="0"/>
              <a:ext cx="6077585" cy="3124200"/>
            </a:xfrm>
            <a:prstGeom prst="rect">
              <a:avLst/>
            </a:prstGeom>
          </p:spPr>
        </p:sp>
        <p:sp>
          <p:nvSpPr>
            <p:cNvPr id="44" name="Text Box 2059"/>
            <p:cNvSpPr txBox="1"/>
            <p:nvPr/>
          </p:nvSpPr>
          <p:spPr>
            <a:xfrm>
              <a:off x="885712" y="217948"/>
              <a:ext cx="858226" cy="534375"/>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50000"/>
                </a:lnSpc>
                <a:spcBef>
                  <a:spcPts val="0"/>
                </a:spcBef>
                <a:spcAft>
                  <a:spcPts val="0"/>
                </a:spcAft>
              </a:pPr>
              <a:r>
                <a:rPr lang="en-US" sz="1600" b="1" dirty="0">
                  <a:solidFill>
                    <a:srgbClr val="7030A0"/>
                  </a:solidFill>
                  <a:effectLst/>
                  <a:latin typeface="Arial Narrow"/>
                  <a:ea typeface="Times New Roman"/>
                  <a:cs typeface="Times New Roman"/>
                </a:rPr>
                <a:t>Transformer </a:t>
              </a:r>
              <a:r>
                <a:rPr lang="en-US" sz="1400" b="1" dirty="0">
                  <a:solidFill>
                    <a:srgbClr val="7030A0"/>
                  </a:solidFill>
                  <a:effectLst/>
                  <a:latin typeface="Arial Narrow"/>
                  <a:ea typeface="Times New Roman"/>
                  <a:cs typeface="Times New Roman"/>
                </a:rPr>
                <a:t>(Step-down)</a:t>
              </a:r>
              <a:endParaRPr lang="en-US" sz="1400" dirty="0">
                <a:effectLst/>
                <a:ea typeface="Times New Roman"/>
                <a:cs typeface="Times New Roman"/>
              </a:endParaRPr>
            </a:p>
          </p:txBody>
        </p:sp>
        <p:sp>
          <p:nvSpPr>
            <p:cNvPr id="45" name="Text Box 2059"/>
            <p:cNvSpPr txBox="1"/>
            <p:nvPr/>
          </p:nvSpPr>
          <p:spPr>
            <a:xfrm>
              <a:off x="4287054" y="218922"/>
              <a:ext cx="639508" cy="542926"/>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50000"/>
                </a:lnSpc>
                <a:spcBef>
                  <a:spcPts val="0"/>
                </a:spcBef>
                <a:spcAft>
                  <a:spcPts val="0"/>
                </a:spcAft>
              </a:pPr>
              <a:r>
                <a:rPr lang="en-US" sz="1400" b="1" dirty="0">
                  <a:solidFill>
                    <a:srgbClr val="7030A0"/>
                  </a:solidFill>
                  <a:effectLst/>
                  <a:latin typeface="Arial Narrow"/>
                  <a:ea typeface="Times New Roman"/>
                  <a:cs typeface="Times New Roman"/>
                </a:rPr>
                <a:t>Regulator</a:t>
              </a:r>
              <a:endParaRPr lang="en-US" sz="1400" dirty="0">
                <a:effectLst/>
                <a:ea typeface="Times New Roman"/>
                <a:cs typeface="Times New Roman"/>
              </a:endParaRPr>
            </a:p>
            <a:p>
              <a:pPr algn="ctr"/>
              <a:r>
                <a:rPr lang="en-US" sz="1200" dirty="0">
                  <a:solidFill>
                    <a:srgbClr val="000000"/>
                  </a:solidFill>
                  <a:effectLst/>
                  <a:latin typeface="Arial Narrow"/>
                  <a:ea typeface="Times New Roman"/>
                  <a:cs typeface="Times New Roman"/>
                </a:rPr>
                <a:t>(Removes ripple)</a:t>
              </a:r>
              <a:endParaRPr lang="en-US" sz="1100" dirty="0">
                <a:effectLst/>
                <a:ea typeface="Times New Roman"/>
                <a:cs typeface="Times New Roman"/>
              </a:endParaRPr>
            </a:p>
            <a:p>
              <a:pPr marL="0" marR="0" algn="ctr">
                <a:lnSpc>
                  <a:spcPct val="150000"/>
                </a:lnSpc>
                <a:spcBef>
                  <a:spcPts val="0"/>
                </a:spcBef>
                <a:spcAft>
                  <a:spcPts val="0"/>
                </a:spcAft>
              </a:pPr>
              <a:r>
                <a:rPr lang="en-US" sz="1100" b="1" dirty="0">
                  <a:solidFill>
                    <a:srgbClr val="7030A0"/>
                  </a:solidFill>
                  <a:effectLst/>
                  <a:latin typeface="Arial Narrow"/>
                  <a:ea typeface="Times New Roman"/>
                  <a:cs typeface="Times New Roman"/>
                </a:rPr>
                <a:t> </a:t>
              </a:r>
              <a:endParaRPr lang="en-US" sz="1100" dirty="0">
                <a:effectLst/>
                <a:ea typeface="Times New Roman"/>
                <a:cs typeface="Times New Roman"/>
              </a:endParaRPr>
            </a:p>
          </p:txBody>
        </p:sp>
        <p:sp>
          <p:nvSpPr>
            <p:cNvPr id="46" name="Text Box 141"/>
            <p:cNvSpPr txBox="1"/>
            <p:nvPr/>
          </p:nvSpPr>
          <p:spPr>
            <a:xfrm>
              <a:off x="2153203" y="216973"/>
              <a:ext cx="628861" cy="535350"/>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50000"/>
                </a:lnSpc>
                <a:spcBef>
                  <a:spcPts val="0"/>
                </a:spcBef>
                <a:spcAft>
                  <a:spcPts val="0"/>
                </a:spcAft>
              </a:pPr>
              <a:r>
                <a:rPr lang="en-US" sz="1600" b="1" dirty="0">
                  <a:solidFill>
                    <a:srgbClr val="7030A0"/>
                  </a:solidFill>
                  <a:effectLst/>
                  <a:latin typeface="Arial Narrow"/>
                  <a:ea typeface="Times New Roman"/>
                  <a:cs typeface="Times New Roman"/>
                </a:rPr>
                <a:t>Rectifier </a:t>
              </a:r>
              <a:endParaRPr lang="en-US" sz="1600" dirty="0">
                <a:effectLst/>
                <a:ea typeface="Times New Roman"/>
                <a:cs typeface="Times New Roman"/>
              </a:endParaRPr>
            </a:p>
          </p:txBody>
        </p:sp>
        <p:sp>
          <p:nvSpPr>
            <p:cNvPr id="47" name="Text Box 2059"/>
            <p:cNvSpPr txBox="1"/>
            <p:nvPr/>
          </p:nvSpPr>
          <p:spPr>
            <a:xfrm>
              <a:off x="3237912" y="217948"/>
              <a:ext cx="620688" cy="534375"/>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50000"/>
                </a:lnSpc>
                <a:spcBef>
                  <a:spcPts val="0"/>
                </a:spcBef>
                <a:spcAft>
                  <a:spcPts val="0"/>
                </a:spcAft>
              </a:pPr>
              <a:r>
                <a:rPr lang="en-US" sz="1600" b="1" dirty="0">
                  <a:solidFill>
                    <a:srgbClr val="7030A0"/>
                  </a:solidFill>
                  <a:effectLst/>
                  <a:latin typeface="Arial Narrow"/>
                  <a:ea typeface="Times New Roman"/>
                  <a:cs typeface="Times New Roman"/>
                </a:rPr>
                <a:t>Filter</a:t>
              </a:r>
              <a:endParaRPr lang="en-US" sz="1600" dirty="0">
                <a:effectLst/>
                <a:ea typeface="Times New Roman"/>
                <a:cs typeface="Times New Roman"/>
              </a:endParaRPr>
            </a:p>
            <a:p>
              <a:pPr marL="0" marR="0" algn="ctr">
                <a:spcBef>
                  <a:spcPts val="0"/>
                </a:spcBef>
                <a:spcAft>
                  <a:spcPts val="0"/>
                </a:spcAft>
              </a:pPr>
              <a:r>
                <a:rPr lang="en-US" sz="1200" dirty="0">
                  <a:solidFill>
                    <a:srgbClr val="000000"/>
                  </a:solidFill>
                  <a:effectLst/>
                  <a:latin typeface="Arial Narrow"/>
                  <a:ea typeface="Times New Roman"/>
                  <a:cs typeface="Times New Roman"/>
                </a:rPr>
                <a:t>(Decreases ripple)</a:t>
              </a:r>
              <a:endParaRPr lang="en-US" sz="1600" dirty="0">
                <a:effectLst/>
                <a:ea typeface="Times New Roman"/>
                <a:cs typeface="Times New Roman"/>
              </a:endParaRPr>
            </a:p>
            <a:p>
              <a:pPr marL="0" marR="0" algn="ctr">
                <a:lnSpc>
                  <a:spcPct val="150000"/>
                </a:lnSpc>
                <a:spcBef>
                  <a:spcPts val="0"/>
                </a:spcBef>
                <a:spcAft>
                  <a:spcPts val="0"/>
                </a:spcAft>
              </a:pPr>
              <a:r>
                <a:rPr lang="en-US" sz="1000" dirty="0">
                  <a:solidFill>
                    <a:srgbClr val="000000"/>
                  </a:solidFill>
                  <a:effectLst/>
                  <a:latin typeface="Arial Narrow"/>
                  <a:ea typeface="Times New Roman"/>
                  <a:cs typeface="Times New Roman"/>
                </a:rPr>
                <a:t> </a:t>
              </a:r>
              <a:endParaRPr lang="en-US" sz="1100" dirty="0">
                <a:effectLst/>
                <a:ea typeface="Times New Roman"/>
                <a:cs typeface="Times New Roman"/>
              </a:endParaRPr>
            </a:p>
          </p:txBody>
        </p:sp>
        <p:sp>
          <p:nvSpPr>
            <p:cNvPr id="48" name="Text Box 2059"/>
            <p:cNvSpPr txBox="1"/>
            <p:nvPr/>
          </p:nvSpPr>
          <p:spPr>
            <a:xfrm>
              <a:off x="5324851" y="227474"/>
              <a:ext cx="476885" cy="524850"/>
            </a:xfrm>
            <a:prstGeom prst="rect">
              <a:avLst/>
            </a:prstGeom>
            <a:solidFill>
              <a:schemeClr val="lt1"/>
            </a:solidFill>
            <a:ln w="6350">
              <a:solidFill>
                <a:srgbClr val="C0000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50000"/>
                </a:lnSpc>
                <a:spcBef>
                  <a:spcPts val="0"/>
                </a:spcBef>
                <a:spcAft>
                  <a:spcPts val="0"/>
                </a:spcAft>
              </a:pPr>
              <a:r>
                <a:rPr lang="en-US" sz="1600" b="1" dirty="0">
                  <a:solidFill>
                    <a:srgbClr val="7030A0"/>
                  </a:solidFill>
                  <a:effectLst/>
                  <a:latin typeface="Arial Narrow"/>
                  <a:ea typeface="Times New Roman"/>
                  <a:cs typeface="Times New Roman"/>
                </a:rPr>
                <a:t>Load</a:t>
              </a:r>
              <a:endParaRPr lang="en-US" sz="1600" dirty="0">
                <a:effectLst/>
                <a:ea typeface="Times New Roman"/>
                <a:cs typeface="Times New Roman"/>
              </a:endParaRPr>
            </a:p>
          </p:txBody>
        </p:sp>
        <p:sp>
          <p:nvSpPr>
            <p:cNvPr id="49" name="Text Box 144"/>
            <p:cNvSpPr txBox="1"/>
            <p:nvPr/>
          </p:nvSpPr>
          <p:spPr>
            <a:xfrm>
              <a:off x="2038271" y="820046"/>
              <a:ext cx="742222" cy="31260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FF0000"/>
                  </a:solidFill>
                  <a:effectLst/>
                  <a:latin typeface="Arial Narrow"/>
                  <a:ea typeface="Times New Roman"/>
                  <a:cs typeface="Times New Roman"/>
                </a:rPr>
                <a:t>AC </a:t>
              </a:r>
              <a:r>
                <a:rPr lang="en-US" sz="1200" b="1" dirty="0">
                  <a:solidFill>
                    <a:srgbClr val="00B0F0"/>
                  </a:solidFill>
                  <a:effectLst/>
                  <a:latin typeface="Arial Narrow"/>
                  <a:ea typeface="Times New Roman"/>
                  <a:cs typeface="Times New Roman"/>
                </a:rPr>
                <a:t>to</a:t>
              </a:r>
              <a:endParaRPr lang="en-US" sz="1200" dirty="0">
                <a:effectLst/>
                <a:ea typeface="Times New Roman"/>
                <a:cs typeface="Times New Roman"/>
              </a:endParaRPr>
            </a:p>
            <a:p>
              <a:pPr marL="0" marR="0" algn="ctr">
                <a:spcBef>
                  <a:spcPts val="0"/>
                </a:spcBef>
                <a:spcAft>
                  <a:spcPts val="0"/>
                </a:spcAft>
              </a:pPr>
              <a:r>
                <a:rPr lang="en-US" sz="1200" b="1" dirty="0">
                  <a:solidFill>
                    <a:srgbClr val="FF0000"/>
                  </a:solidFill>
                  <a:effectLst/>
                  <a:latin typeface="Arial Narrow"/>
                  <a:ea typeface="Times New Roman"/>
                  <a:cs typeface="Times New Roman"/>
                </a:rPr>
                <a:t>Pulsating DC</a:t>
              </a:r>
              <a:endParaRPr lang="en-US" sz="1200" dirty="0">
                <a:effectLst/>
                <a:ea typeface="Times New Roman"/>
                <a:cs typeface="Times New Roman"/>
              </a:endParaRPr>
            </a:p>
          </p:txBody>
        </p:sp>
        <p:sp>
          <p:nvSpPr>
            <p:cNvPr id="50" name="Text Box 84"/>
            <p:cNvSpPr txBox="1"/>
            <p:nvPr/>
          </p:nvSpPr>
          <p:spPr>
            <a:xfrm>
              <a:off x="887552" y="816001"/>
              <a:ext cx="862920" cy="316648"/>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FF0000"/>
                  </a:solidFill>
                  <a:effectLst/>
                  <a:latin typeface="Arial Narrow"/>
                  <a:ea typeface="Times New Roman"/>
                </a:rPr>
                <a:t>AC </a:t>
              </a:r>
              <a:r>
                <a:rPr lang="en-US" sz="1200" b="1" dirty="0">
                  <a:solidFill>
                    <a:srgbClr val="00B0F0"/>
                  </a:solidFill>
                  <a:effectLst/>
                  <a:latin typeface="Arial Narrow"/>
                  <a:ea typeface="Times New Roman"/>
                </a:rPr>
                <a:t>to</a:t>
              </a:r>
              <a:r>
                <a:rPr lang="en-US" sz="1200" b="1" dirty="0">
                  <a:solidFill>
                    <a:srgbClr val="FF0000"/>
                  </a:solidFill>
                  <a:effectLst/>
                  <a:latin typeface="Arial Narrow"/>
                  <a:ea typeface="Times New Roman"/>
                </a:rPr>
                <a:t> AC</a:t>
              </a:r>
              <a:endParaRPr lang="en-US" sz="1200" dirty="0">
                <a:effectLst/>
                <a:latin typeface="Times New Roman"/>
                <a:ea typeface="Times New Roman"/>
              </a:endParaRPr>
            </a:p>
            <a:p>
              <a:pPr marL="0" marR="0" algn="ctr">
                <a:spcBef>
                  <a:spcPts val="0"/>
                </a:spcBef>
                <a:spcAft>
                  <a:spcPts val="0"/>
                </a:spcAft>
              </a:pPr>
              <a:r>
                <a:rPr lang="en-US" sz="1200" b="1" dirty="0">
                  <a:solidFill>
                    <a:srgbClr val="FF0000"/>
                  </a:solidFill>
                  <a:effectLst/>
                  <a:latin typeface="Arial Narrow"/>
                  <a:ea typeface="Times New Roman"/>
                </a:rPr>
                <a:t>(Step-down input)</a:t>
              </a:r>
              <a:endParaRPr lang="en-US" sz="1200" dirty="0">
                <a:effectLst/>
                <a:latin typeface="Times New Roman"/>
                <a:ea typeface="Times New Roman"/>
              </a:endParaRPr>
            </a:p>
          </p:txBody>
        </p:sp>
        <p:cxnSp>
          <p:nvCxnSpPr>
            <p:cNvPr id="51" name="Straight Arrow Connector 50"/>
            <p:cNvCxnSpPr/>
            <p:nvPr/>
          </p:nvCxnSpPr>
          <p:spPr>
            <a:xfrm flipV="1">
              <a:off x="1743938" y="332248"/>
              <a:ext cx="409265" cy="488"/>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52" name="Straight Arrow Connector 51"/>
            <p:cNvCxnSpPr/>
            <p:nvPr/>
          </p:nvCxnSpPr>
          <p:spPr>
            <a:xfrm flipV="1">
              <a:off x="2780492" y="485136"/>
              <a:ext cx="457420" cy="15371"/>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53" name="Straight Arrow Connector 52"/>
            <p:cNvCxnSpPr/>
            <p:nvPr/>
          </p:nvCxnSpPr>
          <p:spPr>
            <a:xfrm flipV="1">
              <a:off x="3877650" y="500595"/>
              <a:ext cx="408940"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54" name="Straight Arrow Connector 53"/>
            <p:cNvCxnSpPr/>
            <p:nvPr/>
          </p:nvCxnSpPr>
          <p:spPr>
            <a:xfrm flipV="1">
              <a:off x="4926562" y="512782"/>
              <a:ext cx="408940"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55" name="Straight Arrow Connector 54"/>
            <p:cNvCxnSpPr/>
            <p:nvPr/>
          </p:nvCxnSpPr>
          <p:spPr>
            <a:xfrm flipV="1">
              <a:off x="476772" y="330756"/>
              <a:ext cx="408940"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cxnSp>
          <p:nvCxnSpPr>
            <p:cNvPr id="56" name="Straight Arrow Connector 55"/>
            <p:cNvCxnSpPr/>
            <p:nvPr/>
          </p:nvCxnSpPr>
          <p:spPr>
            <a:xfrm flipV="1">
              <a:off x="476772" y="688930"/>
              <a:ext cx="408940"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sp>
          <p:nvSpPr>
            <p:cNvPr id="57" name="Text Box 84"/>
            <p:cNvSpPr txBox="1"/>
            <p:nvPr/>
          </p:nvSpPr>
          <p:spPr>
            <a:xfrm>
              <a:off x="133010" y="2189467"/>
              <a:ext cx="793750" cy="54673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000000"/>
                  </a:solidFill>
                  <a:effectLst/>
                  <a:latin typeface="Arial Narrow"/>
                  <a:ea typeface="Times New Roman"/>
                </a:rPr>
                <a:t>Input to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Transformer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(A.C. voltage)</a:t>
              </a:r>
              <a:endParaRPr lang="en-US" sz="1200" dirty="0">
                <a:effectLst/>
                <a:latin typeface="Times New Roman"/>
                <a:ea typeface="Times New Roman"/>
              </a:endParaRPr>
            </a:p>
          </p:txBody>
        </p:sp>
        <p:sp>
          <p:nvSpPr>
            <p:cNvPr id="58" name="Flowchart: Connector 57"/>
            <p:cNvSpPr/>
            <p:nvPr/>
          </p:nvSpPr>
          <p:spPr>
            <a:xfrm>
              <a:off x="448650" y="306527"/>
              <a:ext cx="45719" cy="45719"/>
            </a:xfrm>
            <a:prstGeom prst="flowChartConnector">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9" name="Flowchart: Connector 58"/>
            <p:cNvSpPr/>
            <p:nvPr/>
          </p:nvSpPr>
          <p:spPr>
            <a:xfrm>
              <a:off x="457200" y="657146"/>
              <a:ext cx="45085" cy="45085"/>
            </a:xfrm>
            <a:prstGeom prst="flowChartConnector">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50000"/>
                </a:lnSpc>
                <a:spcBef>
                  <a:spcPts val="0"/>
                </a:spcBef>
                <a:spcAft>
                  <a:spcPts val="600"/>
                </a:spcAft>
              </a:pPr>
              <a:r>
                <a:rPr lang="en-US" sz="1100">
                  <a:effectLst/>
                  <a:ea typeface="Times New Roman"/>
                  <a:cs typeface="Times New Roman"/>
                </a:rPr>
                <a:t> </a:t>
              </a:r>
            </a:p>
          </p:txBody>
        </p:sp>
        <p:cxnSp>
          <p:nvCxnSpPr>
            <p:cNvPr id="60" name="Straight Arrow Connector 59"/>
            <p:cNvCxnSpPr/>
            <p:nvPr/>
          </p:nvCxnSpPr>
          <p:spPr>
            <a:xfrm flipV="1">
              <a:off x="1751965" y="673656"/>
              <a:ext cx="408940" cy="0"/>
            </a:xfrm>
            <a:prstGeom prst="straightConnector1">
              <a:avLst/>
            </a:prstGeom>
            <a:ln w="19050">
              <a:solidFill>
                <a:srgbClr val="00B0F0"/>
              </a:solidFill>
              <a:tailEnd type="arrow"/>
            </a:ln>
          </p:spPr>
          <p:style>
            <a:lnRef idx="1">
              <a:schemeClr val="accent2"/>
            </a:lnRef>
            <a:fillRef idx="0">
              <a:schemeClr val="accent2"/>
            </a:fillRef>
            <a:effectRef idx="0">
              <a:schemeClr val="accent2"/>
            </a:effectRef>
            <a:fontRef idx="minor">
              <a:schemeClr val="tx1"/>
            </a:fontRef>
          </p:style>
        </p:cxnSp>
        <p:pic>
          <p:nvPicPr>
            <p:cNvPr id="61" name="Picture 60"/>
            <p:cNvPicPr>
              <a:picLocks noChangeAspect="1"/>
            </p:cNvPicPr>
            <p:nvPr/>
          </p:nvPicPr>
          <p:blipFill>
            <a:blip r:embed="rId4"/>
            <a:stretch>
              <a:fillRect/>
            </a:stretch>
          </p:blipFill>
          <p:spPr>
            <a:xfrm>
              <a:off x="0" y="1286336"/>
              <a:ext cx="1132597" cy="961564"/>
            </a:xfrm>
            <a:prstGeom prst="rect">
              <a:avLst/>
            </a:prstGeom>
          </p:spPr>
        </p:pic>
        <p:pic>
          <p:nvPicPr>
            <p:cNvPr id="62" name="Picture 61"/>
            <p:cNvPicPr>
              <a:picLocks noChangeAspect="1"/>
            </p:cNvPicPr>
            <p:nvPr/>
          </p:nvPicPr>
          <p:blipFill>
            <a:blip r:embed="rId5"/>
            <a:stretch>
              <a:fillRect/>
            </a:stretch>
          </p:blipFill>
          <p:spPr>
            <a:xfrm>
              <a:off x="1409700" y="1495961"/>
              <a:ext cx="963000" cy="667112"/>
            </a:xfrm>
            <a:prstGeom prst="rect">
              <a:avLst/>
            </a:prstGeom>
          </p:spPr>
        </p:pic>
        <p:pic>
          <p:nvPicPr>
            <p:cNvPr id="63" name="Picture 62"/>
            <p:cNvPicPr>
              <a:picLocks noChangeAspect="1"/>
            </p:cNvPicPr>
            <p:nvPr/>
          </p:nvPicPr>
          <p:blipFill>
            <a:blip r:embed="rId6"/>
            <a:stretch>
              <a:fillRect/>
            </a:stretch>
          </p:blipFill>
          <p:spPr>
            <a:xfrm>
              <a:off x="2477630" y="1505650"/>
              <a:ext cx="1084399" cy="533597"/>
            </a:xfrm>
            <a:prstGeom prst="rect">
              <a:avLst/>
            </a:prstGeom>
          </p:spPr>
        </p:pic>
        <p:pic>
          <p:nvPicPr>
            <p:cNvPr id="64" name="Picture 63"/>
            <p:cNvPicPr>
              <a:picLocks noChangeAspect="1"/>
            </p:cNvPicPr>
            <p:nvPr/>
          </p:nvPicPr>
          <p:blipFill>
            <a:blip r:embed="rId7"/>
            <a:stretch>
              <a:fillRect/>
            </a:stretch>
          </p:blipFill>
          <p:spPr>
            <a:xfrm>
              <a:off x="3598814" y="1476913"/>
              <a:ext cx="1021311" cy="580949"/>
            </a:xfrm>
            <a:prstGeom prst="rect">
              <a:avLst/>
            </a:prstGeom>
          </p:spPr>
        </p:pic>
        <p:pic>
          <p:nvPicPr>
            <p:cNvPr id="65" name="Picture 64"/>
            <p:cNvPicPr>
              <a:picLocks noChangeAspect="1"/>
            </p:cNvPicPr>
            <p:nvPr/>
          </p:nvPicPr>
          <p:blipFill>
            <a:blip r:embed="rId8"/>
            <a:stretch>
              <a:fillRect/>
            </a:stretch>
          </p:blipFill>
          <p:spPr>
            <a:xfrm>
              <a:off x="4820771" y="1420583"/>
              <a:ext cx="952353" cy="637279"/>
            </a:xfrm>
            <a:prstGeom prst="rect">
              <a:avLst/>
            </a:prstGeom>
          </p:spPr>
        </p:pic>
        <p:cxnSp>
          <p:nvCxnSpPr>
            <p:cNvPr id="66" name="Straight Arrow Connector 65"/>
            <p:cNvCxnSpPr>
              <a:stCxn id="61" idx="0"/>
            </p:cNvCxnSpPr>
            <p:nvPr/>
          </p:nvCxnSpPr>
          <p:spPr>
            <a:xfrm flipV="1">
              <a:off x="566299" y="499947"/>
              <a:ext cx="186471" cy="786389"/>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67" name="Straight Arrow Connector 66"/>
            <p:cNvCxnSpPr/>
            <p:nvPr/>
          </p:nvCxnSpPr>
          <p:spPr>
            <a:xfrm flipV="1">
              <a:off x="1887141" y="522197"/>
              <a:ext cx="0" cy="897111"/>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68" name="Straight Arrow Connector 67"/>
            <p:cNvCxnSpPr/>
            <p:nvPr/>
          </p:nvCxnSpPr>
          <p:spPr>
            <a:xfrm flipV="1">
              <a:off x="2930503" y="587210"/>
              <a:ext cx="0" cy="832098"/>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69" name="Straight Arrow Connector 68"/>
            <p:cNvCxnSpPr/>
            <p:nvPr/>
          </p:nvCxnSpPr>
          <p:spPr>
            <a:xfrm flipH="1" flipV="1">
              <a:off x="3976984" y="587084"/>
              <a:ext cx="62076" cy="755941"/>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cxnSp>
          <p:nvCxnSpPr>
            <p:cNvPr id="70" name="Straight Arrow Connector 69"/>
            <p:cNvCxnSpPr/>
            <p:nvPr/>
          </p:nvCxnSpPr>
          <p:spPr>
            <a:xfrm flipH="1" flipV="1">
              <a:off x="5106450" y="586927"/>
              <a:ext cx="114224" cy="832381"/>
            </a:xfrm>
            <a:prstGeom prst="straightConnector1">
              <a:avLst/>
            </a:prstGeom>
            <a:ln>
              <a:tailEnd type="arrow"/>
            </a:ln>
          </p:spPr>
          <p:style>
            <a:lnRef idx="1">
              <a:schemeClr val="accent4"/>
            </a:lnRef>
            <a:fillRef idx="0">
              <a:schemeClr val="accent4"/>
            </a:fillRef>
            <a:effectRef idx="0">
              <a:schemeClr val="accent4"/>
            </a:effectRef>
            <a:fontRef idx="minor">
              <a:schemeClr val="tx1"/>
            </a:fontRef>
          </p:style>
        </p:cxnSp>
        <p:sp>
          <p:nvSpPr>
            <p:cNvPr id="71" name="Text Box 84"/>
            <p:cNvSpPr txBox="1"/>
            <p:nvPr/>
          </p:nvSpPr>
          <p:spPr>
            <a:xfrm>
              <a:off x="3157148" y="856469"/>
              <a:ext cx="839041" cy="381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FF0000"/>
                  </a:solidFill>
                  <a:effectLst/>
                  <a:latin typeface="Arial Narrow"/>
                  <a:ea typeface="Times New Roman"/>
                </a:rPr>
                <a:t>Pulsating DC </a:t>
              </a:r>
              <a:r>
                <a:rPr lang="en-US" sz="1200" b="1" dirty="0">
                  <a:solidFill>
                    <a:srgbClr val="00B0F0"/>
                  </a:solidFill>
                  <a:effectLst/>
                  <a:latin typeface="Arial Narrow"/>
                  <a:ea typeface="Times New Roman"/>
                </a:rPr>
                <a:t>to</a:t>
              </a:r>
              <a:r>
                <a:rPr lang="en-US" sz="1200" b="1" dirty="0">
                  <a:solidFill>
                    <a:srgbClr val="FF0000"/>
                  </a:solidFill>
                  <a:effectLst/>
                  <a:latin typeface="Arial Narrow"/>
                  <a:ea typeface="Times New Roman"/>
                </a:rPr>
                <a:t> </a:t>
              </a:r>
              <a:endParaRPr lang="en-US" sz="1200" dirty="0">
                <a:effectLst/>
                <a:latin typeface="Times New Roman"/>
                <a:ea typeface="Times New Roman"/>
              </a:endParaRPr>
            </a:p>
            <a:p>
              <a:pPr marL="0" marR="0" algn="ctr">
                <a:spcBef>
                  <a:spcPts val="0"/>
                </a:spcBef>
                <a:spcAft>
                  <a:spcPts val="0"/>
                </a:spcAft>
              </a:pPr>
              <a:r>
                <a:rPr lang="en-US" sz="1200" b="1" dirty="0">
                  <a:solidFill>
                    <a:srgbClr val="FF0000"/>
                  </a:solidFill>
                  <a:effectLst/>
                  <a:latin typeface="Arial Narrow"/>
                  <a:ea typeface="Times New Roman"/>
                </a:rPr>
                <a:t>Unregulated DC</a:t>
              </a:r>
              <a:endParaRPr lang="en-US" sz="1200" dirty="0">
                <a:effectLst/>
                <a:latin typeface="Times New Roman"/>
                <a:ea typeface="Times New Roman"/>
              </a:endParaRPr>
            </a:p>
          </p:txBody>
        </p:sp>
        <p:sp>
          <p:nvSpPr>
            <p:cNvPr id="72" name="Text Box 84"/>
            <p:cNvSpPr txBox="1"/>
            <p:nvPr/>
          </p:nvSpPr>
          <p:spPr>
            <a:xfrm>
              <a:off x="4160508" y="892201"/>
              <a:ext cx="876378" cy="3810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spcBef>
                  <a:spcPts val="0"/>
                </a:spcBef>
                <a:spcAft>
                  <a:spcPts val="0"/>
                </a:spcAft>
              </a:pPr>
              <a:r>
                <a:rPr lang="en-US" sz="1200" b="1" dirty="0">
                  <a:solidFill>
                    <a:srgbClr val="FF0000"/>
                  </a:solidFill>
                  <a:effectLst/>
                  <a:latin typeface="Arial Narrow"/>
                  <a:ea typeface="Times New Roman"/>
                </a:rPr>
                <a:t>Unregulated DC </a:t>
              </a:r>
              <a:r>
                <a:rPr lang="en-US" sz="1200" b="1" dirty="0">
                  <a:solidFill>
                    <a:srgbClr val="00B0F0"/>
                  </a:solidFill>
                  <a:effectLst/>
                  <a:latin typeface="Arial Narrow"/>
                  <a:ea typeface="Times New Roman"/>
                </a:rPr>
                <a:t>to</a:t>
              </a:r>
              <a:r>
                <a:rPr lang="en-US" sz="1200" b="1" dirty="0">
                  <a:solidFill>
                    <a:srgbClr val="FF0000"/>
                  </a:solidFill>
                  <a:effectLst/>
                  <a:latin typeface="Arial Narrow"/>
                  <a:ea typeface="Times New Roman"/>
                </a:rPr>
                <a:t> </a:t>
              </a:r>
              <a:endParaRPr lang="en-US" sz="1200" dirty="0">
                <a:effectLst/>
                <a:latin typeface="Times New Roman"/>
                <a:ea typeface="Times New Roman"/>
              </a:endParaRPr>
            </a:p>
            <a:p>
              <a:pPr marL="0" marR="0" algn="ctr">
                <a:spcBef>
                  <a:spcPts val="0"/>
                </a:spcBef>
                <a:spcAft>
                  <a:spcPts val="0"/>
                </a:spcAft>
              </a:pPr>
              <a:r>
                <a:rPr lang="en-US" sz="1200" b="1" dirty="0">
                  <a:solidFill>
                    <a:srgbClr val="FF0000"/>
                  </a:solidFill>
                  <a:effectLst/>
                  <a:latin typeface="Arial Narrow"/>
                  <a:ea typeface="Times New Roman"/>
                </a:rPr>
                <a:t>Pure DC</a:t>
              </a:r>
              <a:endParaRPr lang="en-US" sz="1200" dirty="0">
                <a:effectLst/>
                <a:latin typeface="Times New Roman"/>
                <a:ea typeface="Times New Roman"/>
              </a:endParaRPr>
            </a:p>
          </p:txBody>
        </p:sp>
        <p:sp>
          <p:nvSpPr>
            <p:cNvPr id="73" name="Text Box 84"/>
            <p:cNvSpPr txBox="1"/>
            <p:nvPr/>
          </p:nvSpPr>
          <p:spPr>
            <a:xfrm>
              <a:off x="57149" y="323486"/>
              <a:ext cx="734060" cy="38989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dirty="0">
                  <a:solidFill>
                    <a:srgbClr val="C00000"/>
                  </a:solidFill>
                  <a:effectLst/>
                  <a:latin typeface="Arial Narrow"/>
                  <a:ea typeface="Times New Roman"/>
                </a:rPr>
                <a:t>AC input</a:t>
              </a:r>
              <a:endParaRPr lang="en-US" sz="1200" dirty="0">
                <a:effectLst/>
                <a:latin typeface="Times New Roman"/>
                <a:ea typeface="Times New Roman"/>
              </a:endParaRPr>
            </a:p>
            <a:p>
              <a:pPr marL="0" marR="0" algn="ctr">
                <a:spcBef>
                  <a:spcPts val="0"/>
                </a:spcBef>
                <a:spcAft>
                  <a:spcPts val="0"/>
                </a:spcAft>
              </a:pPr>
              <a:r>
                <a:rPr lang="en-US" sz="1200" dirty="0">
                  <a:solidFill>
                    <a:srgbClr val="C00000"/>
                  </a:solidFill>
                  <a:effectLst/>
                  <a:latin typeface="Arial Narrow"/>
                  <a:ea typeface="Times New Roman"/>
                </a:rPr>
                <a:t>230V, 50Hz</a:t>
              </a:r>
              <a:endParaRPr lang="en-US" sz="1200" dirty="0">
                <a:effectLst/>
                <a:latin typeface="Times New Roman"/>
                <a:ea typeface="Times New Roman"/>
              </a:endParaRPr>
            </a:p>
          </p:txBody>
        </p:sp>
        <p:sp>
          <p:nvSpPr>
            <p:cNvPr id="74" name="Text Box 84"/>
            <p:cNvSpPr txBox="1"/>
            <p:nvPr/>
          </p:nvSpPr>
          <p:spPr>
            <a:xfrm>
              <a:off x="1152527" y="2148527"/>
              <a:ext cx="1293495" cy="58737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000000"/>
                  </a:solidFill>
                  <a:effectLst/>
                  <a:latin typeface="Arial Narrow"/>
                  <a:ea typeface="Times New Roman"/>
                </a:rPr>
                <a:t>Output of Transformer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&amp; Input to Rectifier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(Step down A.C. voltage)</a:t>
              </a:r>
              <a:endParaRPr lang="en-US" sz="1200" dirty="0">
                <a:effectLst/>
                <a:latin typeface="Times New Roman"/>
                <a:ea typeface="Times New Roman"/>
              </a:endParaRPr>
            </a:p>
          </p:txBody>
        </p:sp>
        <p:sp>
          <p:nvSpPr>
            <p:cNvPr id="75" name="Text Box 84"/>
            <p:cNvSpPr txBox="1"/>
            <p:nvPr/>
          </p:nvSpPr>
          <p:spPr>
            <a:xfrm>
              <a:off x="2448239" y="2123639"/>
              <a:ext cx="1241425" cy="51498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000000"/>
                  </a:solidFill>
                  <a:effectLst/>
                  <a:latin typeface="Arial Narrow"/>
                  <a:ea typeface="Times New Roman"/>
                </a:rPr>
                <a:t>Output of Rectifier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&amp; Input to Filter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(Pulsating D.C. voltage)</a:t>
              </a:r>
              <a:endParaRPr lang="en-US" sz="1200" dirty="0">
                <a:effectLst/>
                <a:latin typeface="Times New Roman"/>
                <a:ea typeface="Times New Roman"/>
              </a:endParaRPr>
            </a:p>
          </p:txBody>
        </p:sp>
        <p:sp>
          <p:nvSpPr>
            <p:cNvPr id="76" name="Text Box 84"/>
            <p:cNvSpPr txBox="1"/>
            <p:nvPr/>
          </p:nvSpPr>
          <p:spPr>
            <a:xfrm>
              <a:off x="3570239" y="2112145"/>
              <a:ext cx="1366520" cy="54419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000000"/>
                  </a:solidFill>
                  <a:effectLst/>
                  <a:latin typeface="Arial Narrow"/>
                  <a:ea typeface="Times New Roman"/>
                </a:rPr>
                <a:t>Output of Filter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&amp; Input to Regulator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(Unregulated D.C. voltage)</a:t>
              </a:r>
              <a:endParaRPr lang="en-US" sz="1200" dirty="0">
                <a:effectLst/>
                <a:latin typeface="Times New Roman"/>
                <a:ea typeface="Times New Roman"/>
              </a:endParaRPr>
            </a:p>
          </p:txBody>
        </p:sp>
        <p:sp>
          <p:nvSpPr>
            <p:cNvPr id="77" name="Text Box 84"/>
            <p:cNvSpPr txBox="1"/>
            <p:nvPr/>
          </p:nvSpPr>
          <p:spPr>
            <a:xfrm>
              <a:off x="4926562" y="2113216"/>
              <a:ext cx="1074420" cy="387985"/>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200" b="1" dirty="0">
                  <a:solidFill>
                    <a:srgbClr val="000000"/>
                  </a:solidFill>
                  <a:effectLst/>
                  <a:latin typeface="Arial Narrow"/>
                  <a:ea typeface="Times New Roman"/>
                </a:rPr>
                <a:t>Output of Regulator </a:t>
              </a:r>
              <a:endParaRPr lang="en-US" sz="1200" dirty="0">
                <a:effectLst/>
                <a:latin typeface="Times New Roman"/>
                <a:ea typeface="Times New Roman"/>
              </a:endParaRPr>
            </a:p>
            <a:p>
              <a:pPr marL="0" marR="0" algn="ctr">
                <a:spcBef>
                  <a:spcPts val="0"/>
                </a:spcBef>
                <a:spcAft>
                  <a:spcPts val="0"/>
                </a:spcAft>
              </a:pPr>
              <a:r>
                <a:rPr lang="en-US" sz="1200" b="1" dirty="0">
                  <a:solidFill>
                    <a:srgbClr val="000000"/>
                  </a:solidFill>
                  <a:effectLst/>
                  <a:latin typeface="Arial Narrow"/>
                  <a:ea typeface="Times New Roman"/>
                </a:rPr>
                <a:t>(Pure D.C. voltage)</a:t>
              </a:r>
              <a:endParaRPr lang="en-US" sz="1200" dirty="0">
                <a:effectLst/>
                <a:latin typeface="Times New Roman"/>
                <a:ea typeface="Times New Roman"/>
              </a:endParaRPr>
            </a:p>
          </p:txBody>
        </p:sp>
        <p:sp>
          <p:nvSpPr>
            <p:cNvPr id="78" name="Text Box 84"/>
            <p:cNvSpPr txBox="1"/>
            <p:nvPr/>
          </p:nvSpPr>
          <p:spPr>
            <a:xfrm>
              <a:off x="1447800" y="2736215"/>
              <a:ext cx="3250565" cy="193992"/>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600" b="1" dirty="0">
                  <a:solidFill>
                    <a:srgbClr val="7030A0"/>
                  </a:solidFill>
                  <a:effectLst/>
                  <a:latin typeface="Times New Roman"/>
                  <a:ea typeface="Times New Roman"/>
                </a:rPr>
                <a:t>Fig. Block diagram of Regulated Power Supply</a:t>
              </a:r>
              <a:endParaRPr lang="en-US" sz="1600" dirty="0">
                <a:effectLst/>
                <a:latin typeface="Times New Roman"/>
                <a:ea typeface="Times New Roman"/>
              </a:endParaRPr>
            </a:p>
          </p:txBody>
        </p:sp>
      </p:grpSp>
    </p:spTree>
    <p:extLst>
      <p:ext uri="{BB962C8B-B14F-4D97-AF65-F5344CB8AC3E}">
        <p14:creationId xmlns="" xmlns:p14="http://schemas.microsoft.com/office/powerpoint/2010/main" val="3535367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6019800" cy="685800"/>
          </a:xfrm>
        </p:spPr>
        <p:txBody>
          <a:bodyPr>
            <a:noAutofit/>
          </a:bodyPr>
          <a:lstStyle/>
          <a:p>
            <a:pPr marL="571500" indent="-571500">
              <a:buBlip>
                <a:blip r:embed="rId2"/>
              </a:buBlip>
            </a:pPr>
            <a:r>
              <a:rPr lang="en-US" sz="4000" b="1" dirty="0">
                <a:solidFill>
                  <a:srgbClr val="7030A0"/>
                </a:solidFill>
              </a:rPr>
              <a:t>Regulated Power Supply</a:t>
            </a:r>
          </a:p>
        </p:txBody>
      </p:sp>
      <p:sp>
        <p:nvSpPr>
          <p:cNvPr id="3" name="Content Placeholder 2"/>
          <p:cNvSpPr>
            <a:spLocks noGrp="1"/>
          </p:cNvSpPr>
          <p:nvPr>
            <p:ph idx="1"/>
          </p:nvPr>
        </p:nvSpPr>
        <p:spPr>
          <a:xfrm>
            <a:off x="304800" y="990600"/>
            <a:ext cx="8534400" cy="5715000"/>
          </a:xfrm>
        </p:spPr>
        <p:txBody>
          <a:bodyPr>
            <a:normAutofit fontScale="47500" lnSpcReduction="20000"/>
          </a:bodyPr>
          <a:lstStyle/>
          <a:p>
            <a:pPr marL="0" indent="0" algn="just">
              <a:lnSpc>
                <a:spcPct val="120000"/>
              </a:lnSpc>
              <a:buNone/>
            </a:pPr>
            <a:r>
              <a:rPr lang="en-US" sz="3400" dirty="0">
                <a:latin typeface="Times New Roman" pitchFamily="18" charset="0"/>
                <a:cs typeface="Times New Roman" pitchFamily="18" charset="0"/>
              </a:rPr>
              <a:t>The regulated power supply consists of,</a:t>
            </a:r>
          </a:p>
          <a:p>
            <a:pPr lvl="0" algn="just">
              <a:lnSpc>
                <a:spcPct val="120000"/>
              </a:lnSpc>
              <a:buFont typeface="Wingdings" pitchFamily="2" charset="2"/>
              <a:buChar char="Ø"/>
            </a:pPr>
            <a:r>
              <a:rPr lang="en-US" sz="3400" dirty="0">
                <a:latin typeface="Times New Roman" pitchFamily="18" charset="0"/>
                <a:cs typeface="Times New Roman" pitchFamily="18" charset="0"/>
              </a:rPr>
              <a:t>Transformer</a:t>
            </a:r>
          </a:p>
          <a:p>
            <a:pPr lvl="0" algn="just">
              <a:lnSpc>
                <a:spcPct val="120000"/>
              </a:lnSpc>
              <a:buFont typeface="Wingdings" pitchFamily="2" charset="2"/>
              <a:buChar char="Ø"/>
            </a:pPr>
            <a:r>
              <a:rPr lang="en-US" sz="3400" dirty="0">
                <a:latin typeface="Times New Roman" pitchFamily="18" charset="0"/>
                <a:cs typeface="Times New Roman" pitchFamily="18" charset="0"/>
              </a:rPr>
              <a:t>Rectifier</a:t>
            </a:r>
          </a:p>
          <a:p>
            <a:pPr lvl="0" algn="just">
              <a:lnSpc>
                <a:spcPct val="120000"/>
              </a:lnSpc>
              <a:buFont typeface="Wingdings" pitchFamily="2" charset="2"/>
              <a:buChar char="Ø"/>
            </a:pPr>
            <a:r>
              <a:rPr lang="en-US" sz="3400" dirty="0">
                <a:latin typeface="Times New Roman" pitchFamily="18" charset="0"/>
                <a:cs typeface="Times New Roman" pitchFamily="18" charset="0"/>
              </a:rPr>
              <a:t>Filter</a:t>
            </a:r>
          </a:p>
          <a:p>
            <a:pPr lvl="0" algn="just">
              <a:lnSpc>
                <a:spcPct val="120000"/>
              </a:lnSpc>
              <a:buFont typeface="Wingdings" pitchFamily="2" charset="2"/>
              <a:buChar char="Ø"/>
            </a:pPr>
            <a:r>
              <a:rPr lang="en-US" sz="3400" dirty="0">
                <a:latin typeface="Times New Roman" pitchFamily="18" charset="0"/>
                <a:cs typeface="Times New Roman" pitchFamily="18" charset="0"/>
              </a:rPr>
              <a:t>Regulator</a:t>
            </a:r>
          </a:p>
          <a:p>
            <a:pPr algn="just">
              <a:lnSpc>
                <a:spcPct val="120000"/>
              </a:lnSpc>
            </a:pPr>
            <a:r>
              <a:rPr lang="en-US" sz="2900" dirty="0">
                <a:latin typeface="Times New Roman" pitchFamily="18" charset="0"/>
                <a:cs typeface="Times New Roman" pitchFamily="18" charset="0"/>
              </a:rPr>
              <a:t>The </a:t>
            </a:r>
            <a:r>
              <a:rPr lang="en-US" sz="2900" dirty="0" err="1">
                <a:latin typeface="Times New Roman" pitchFamily="18" charset="0"/>
                <a:cs typeface="Times New Roman" pitchFamily="18" charset="0"/>
              </a:rPr>
              <a:t>a.c</a:t>
            </a:r>
            <a:r>
              <a:rPr lang="en-US" sz="2900" dirty="0">
                <a:latin typeface="Times New Roman" pitchFamily="18" charset="0"/>
                <a:cs typeface="Times New Roman" pitchFamily="18" charset="0"/>
              </a:rPr>
              <a:t>. input voltage (i.e. 230V, 50Hz) is applied to the primary of transformer.</a:t>
            </a:r>
          </a:p>
          <a:p>
            <a:pPr marL="0" lvl="0" indent="0" algn="just">
              <a:lnSpc>
                <a:spcPct val="120000"/>
              </a:lnSpc>
              <a:buNone/>
            </a:pPr>
            <a:r>
              <a:rPr lang="en-US" sz="3400" b="1" dirty="0">
                <a:latin typeface="Times New Roman" pitchFamily="18" charset="0"/>
                <a:cs typeface="Times New Roman" pitchFamily="18" charset="0"/>
              </a:rPr>
              <a:t>1. Transformer: (AC to AC converter) </a:t>
            </a:r>
            <a:endParaRPr lang="en-US" sz="3400" dirty="0">
              <a:latin typeface="Times New Roman" pitchFamily="18" charset="0"/>
              <a:cs typeface="Times New Roman" pitchFamily="18" charset="0"/>
            </a:endParaRPr>
          </a:p>
          <a:p>
            <a:pPr marL="400050" lvl="1" indent="0" algn="just">
              <a:lnSpc>
                <a:spcPct val="120000"/>
              </a:lnSpc>
              <a:buNone/>
            </a:pPr>
            <a:r>
              <a:rPr lang="en-US" sz="3000" b="1" i="1" dirty="0">
                <a:solidFill>
                  <a:srgbClr val="7030A0"/>
                </a:solidFill>
                <a:latin typeface="Times New Roman" pitchFamily="18" charset="0"/>
                <a:cs typeface="Times New Roman" pitchFamily="18" charset="0"/>
              </a:rPr>
              <a:t>Function:</a:t>
            </a:r>
            <a:r>
              <a:rPr lang="en-US" sz="3000" dirty="0">
                <a:latin typeface="Times New Roman" pitchFamily="18" charset="0"/>
                <a:cs typeface="Times New Roman" pitchFamily="18" charset="0"/>
              </a:rPr>
              <a:t> The transformer then steps-down the </a:t>
            </a:r>
            <a:r>
              <a:rPr lang="en-US" sz="3000" dirty="0" err="1">
                <a:latin typeface="Times New Roman" pitchFamily="18" charset="0"/>
                <a:cs typeface="Times New Roman" pitchFamily="18" charset="0"/>
              </a:rPr>
              <a:t>a.c</a:t>
            </a:r>
            <a:r>
              <a:rPr lang="en-US" sz="3000" dirty="0">
                <a:latin typeface="Times New Roman" pitchFamily="18" charset="0"/>
                <a:cs typeface="Times New Roman" pitchFamily="18" charset="0"/>
              </a:rPr>
              <a:t>. voltage, to the level needed for desired </a:t>
            </a:r>
            <a:r>
              <a:rPr lang="en-US" sz="3000" dirty="0" err="1">
                <a:latin typeface="Times New Roman" pitchFamily="18" charset="0"/>
                <a:cs typeface="Times New Roman" pitchFamily="18" charset="0"/>
              </a:rPr>
              <a:t>d.c.</a:t>
            </a:r>
            <a:r>
              <a:rPr lang="en-US" sz="3000" dirty="0">
                <a:latin typeface="Times New Roman" pitchFamily="18" charset="0"/>
                <a:cs typeface="Times New Roman" pitchFamily="18" charset="0"/>
              </a:rPr>
              <a:t> output. So, with suitable turns ratio we can get the desired </a:t>
            </a:r>
            <a:r>
              <a:rPr lang="en-US" sz="3000" dirty="0" err="1">
                <a:latin typeface="Times New Roman" pitchFamily="18" charset="0"/>
                <a:cs typeface="Times New Roman" pitchFamily="18" charset="0"/>
              </a:rPr>
              <a:t>a.c</a:t>
            </a:r>
            <a:r>
              <a:rPr lang="en-US" sz="3000" dirty="0">
                <a:latin typeface="Times New Roman" pitchFamily="18" charset="0"/>
                <a:cs typeface="Times New Roman" pitchFamily="18" charset="0"/>
              </a:rPr>
              <a:t>. secondary voltage.</a:t>
            </a:r>
          </a:p>
          <a:p>
            <a:pPr marL="0" lvl="0" indent="0" algn="just">
              <a:lnSpc>
                <a:spcPct val="120000"/>
              </a:lnSpc>
              <a:buNone/>
            </a:pPr>
            <a:r>
              <a:rPr lang="en-US" sz="3400" b="1" dirty="0">
                <a:latin typeface="Times New Roman" pitchFamily="18" charset="0"/>
                <a:cs typeface="Times New Roman" pitchFamily="18" charset="0"/>
              </a:rPr>
              <a:t>2. Rectifier: (AC to pulsating DC) </a:t>
            </a:r>
            <a:endParaRPr lang="en-US" sz="3400" dirty="0">
              <a:latin typeface="Times New Roman" pitchFamily="18" charset="0"/>
              <a:cs typeface="Times New Roman" pitchFamily="18" charset="0"/>
            </a:endParaRPr>
          </a:p>
          <a:p>
            <a:pPr marL="400050" lvl="1" indent="0" algn="just">
              <a:lnSpc>
                <a:spcPct val="120000"/>
              </a:lnSpc>
              <a:buNone/>
            </a:pPr>
            <a:r>
              <a:rPr lang="en-US" sz="3000" b="1" i="1" dirty="0">
                <a:solidFill>
                  <a:srgbClr val="7030A0"/>
                </a:solidFill>
                <a:latin typeface="Times New Roman" pitchFamily="18" charset="0"/>
                <a:cs typeface="Times New Roman" pitchFamily="18" charset="0"/>
              </a:rPr>
              <a:t>Function:</a:t>
            </a:r>
            <a:r>
              <a:rPr lang="en-US" sz="3000" dirty="0">
                <a:latin typeface="Times New Roman" pitchFamily="18" charset="0"/>
                <a:cs typeface="Times New Roman" pitchFamily="18" charset="0"/>
              </a:rPr>
              <a:t> The rectifier circuit converts this </a:t>
            </a:r>
            <a:r>
              <a:rPr lang="en-US" sz="3000" dirty="0" err="1">
                <a:latin typeface="Times New Roman" pitchFamily="18" charset="0"/>
                <a:cs typeface="Times New Roman" pitchFamily="18" charset="0"/>
              </a:rPr>
              <a:t>a.c</a:t>
            </a:r>
            <a:r>
              <a:rPr lang="en-US" sz="3000" dirty="0">
                <a:latin typeface="Times New Roman" pitchFamily="18" charset="0"/>
                <a:cs typeface="Times New Roman" pitchFamily="18" charset="0"/>
              </a:rPr>
              <a:t> voltage into pulsating </a:t>
            </a:r>
            <a:r>
              <a:rPr lang="en-US" sz="3000" dirty="0" err="1">
                <a:latin typeface="Times New Roman" pitchFamily="18" charset="0"/>
                <a:cs typeface="Times New Roman" pitchFamily="18" charset="0"/>
              </a:rPr>
              <a:t>d.c.</a:t>
            </a:r>
            <a:r>
              <a:rPr lang="en-US" sz="3000" dirty="0">
                <a:latin typeface="Times New Roman" pitchFamily="18" charset="0"/>
                <a:cs typeface="Times New Roman" pitchFamily="18" charset="0"/>
              </a:rPr>
              <a:t> voltage. Pulsating </a:t>
            </a:r>
            <a:r>
              <a:rPr lang="en-US" sz="3000" dirty="0" err="1">
                <a:latin typeface="Times New Roman" pitchFamily="18" charset="0"/>
                <a:cs typeface="Times New Roman" pitchFamily="18" charset="0"/>
              </a:rPr>
              <a:t>d.c.</a:t>
            </a:r>
            <a:r>
              <a:rPr lang="en-US" sz="3000" dirty="0">
                <a:latin typeface="Times New Roman" pitchFamily="18" charset="0"/>
                <a:cs typeface="Times New Roman" pitchFamily="18" charset="0"/>
              </a:rPr>
              <a:t> voltage means unidirectional voltage. It contains large varying component called ripple in it.</a:t>
            </a:r>
          </a:p>
          <a:p>
            <a:pPr marL="0" lvl="0" indent="0" algn="just">
              <a:lnSpc>
                <a:spcPct val="120000"/>
              </a:lnSpc>
              <a:buNone/>
            </a:pPr>
            <a:r>
              <a:rPr lang="en-US" sz="3400" b="1" dirty="0">
                <a:latin typeface="Times New Roman" pitchFamily="18" charset="0"/>
                <a:cs typeface="Times New Roman" pitchFamily="18" charset="0"/>
              </a:rPr>
              <a:t>3. Filter: (Decreases Ripple content)</a:t>
            </a:r>
            <a:endParaRPr lang="en-US" sz="3400" dirty="0">
              <a:latin typeface="Times New Roman" pitchFamily="18" charset="0"/>
              <a:cs typeface="Times New Roman" pitchFamily="18" charset="0"/>
            </a:endParaRPr>
          </a:p>
          <a:p>
            <a:pPr marL="400050" lvl="1" indent="0" algn="just">
              <a:lnSpc>
                <a:spcPct val="120000"/>
              </a:lnSpc>
              <a:buNone/>
            </a:pPr>
            <a:r>
              <a:rPr lang="en-US" sz="3000" b="1" i="1" dirty="0">
                <a:solidFill>
                  <a:srgbClr val="7030A0"/>
                </a:solidFill>
                <a:latin typeface="Times New Roman" pitchFamily="18" charset="0"/>
                <a:cs typeface="Times New Roman" pitchFamily="18" charset="0"/>
              </a:rPr>
              <a:t>Function:</a:t>
            </a:r>
            <a:r>
              <a:rPr lang="en-US" sz="3000" dirty="0">
                <a:latin typeface="Times New Roman" pitchFamily="18" charset="0"/>
                <a:cs typeface="Times New Roman" pitchFamily="18" charset="0"/>
              </a:rPr>
              <a:t> The filter circuit decreases the ripple content in pulsating </a:t>
            </a:r>
            <a:r>
              <a:rPr lang="en-US" sz="3000" dirty="0" err="1">
                <a:latin typeface="Times New Roman" pitchFamily="18" charset="0"/>
                <a:cs typeface="Times New Roman" pitchFamily="18" charset="0"/>
              </a:rPr>
              <a:t>d.c.</a:t>
            </a:r>
            <a:r>
              <a:rPr lang="en-US" sz="3000" dirty="0">
                <a:latin typeface="Times New Roman" pitchFamily="18" charset="0"/>
                <a:cs typeface="Times New Roman" pitchFamily="18" charset="0"/>
              </a:rPr>
              <a:t> and makes it smoother. The filter output still has some ripples. This voltage is called unregulated </a:t>
            </a:r>
            <a:r>
              <a:rPr lang="en-US" sz="3000" dirty="0" err="1">
                <a:latin typeface="Times New Roman" pitchFamily="18" charset="0"/>
                <a:cs typeface="Times New Roman" pitchFamily="18" charset="0"/>
              </a:rPr>
              <a:t>d.c.</a:t>
            </a:r>
            <a:r>
              <a:rPr lang="en-US" sz="3000" dirty="0">
                <a:latin typeface="Times New Roman" pitchFamily="18" charset="0"/>
                <a:cs typeface="Times New Roman" pitchFamily="18" charset="0"/>
              </a:rPr>
              <a:t> voltage.</a:t>
            </a:r>
          </a:p>
          <a:p>
            <a:pPr marL="0" lvl="0" indent="0" algn="just">
              <a:lnSpc>
                <a:spcPct val="120000"/>
              </a:lnSpc>
              <a:buNone/>
            </a:pPr>
            <a:r>
              <a:rPr lang="en-US" sz="3400" b="1" dirty="0">
                <a:latin typeface="Times New Roman" pitchFamily="18" charset="0"/>
                <a:cs typeface="Times New Roman" pitchFamily="18" charset="0"/>
              </a:rPr>
              <a:t>4. Regulator: (Unregulated to Regulated (Pure) </a:t>
            </a:r>
            <a:r>
              <a:rPr lang="en-US" sz="3400" b="1" dirty="0" err="1">
                <a:latin typeface="Times New Roman" pitchFamily="18" charset="0"/>
                <a:cs typeface="Times New Roman" pitchFamily="18" charset="0"/>
              </a:rPr>
              <a:t>d.c.</a:t>
            </a:r>
            <a:r>
              <a:rPr lang="en-US" sz="3400" b="1" dirty="0">
                <a:latin typeface="Times New Roman" pitchFamily="18" charset="0"/>
                <a:cs typeface="Times New Roman" pitchFamily="18" charset="0"/>
              </a:rPr>
              <a:t>)</a:t>
            </a:r>
            <a:endParaRPr lang="en-US" sz="3400" dirty="0">
              <a:latin typeface="Times New Roman" pitchFamily="18" charset="0"/>
              <a:cs typeface="Times New Roman" pitchFamily="18" charset="0"/>
            </a:endParaRPr>
          </a:p>
          <a:p>
            <a:pPr marL="400050" lvl="1" indent="0" algn="just">
              <a:lnSpc>
                <a:spcPct val="120000"/>
              </a:lnSpc>
              <a:buNone/>
            </a:pPr>
            <a:r>
              <a:rPr lang="en-US" sz="2900" b="1" i="1" dirty="0">
                <a:solidFill>
                  <a:srgbClr val="7030A0"/>
                </a:solidFill>
                <a:latin typeface="Times New Roman" pitchFamily="18" charset="0"/>
                <a:cs typeface="Times New Roman" pitchFamily="18" charset="0"/>
              </a:rPr>
              <a:t>Function:</a:t>
            </a:r>
            <a:r>
              <a:rPr lang="en-US" sz="2900" dirty="0">
                <a:latin typeface="Times New Roman" pitchFamily="18" charset="0"/>
                <a:cs typeface="Times New Roman" pitchFamily="18" charset="0"/>
              </a:rPr>
              <a:t> A regulator makes the </a:t>
            </a:r>
            <a:r>
              <a:rPr lang="en-US" sz="2900" dirty="0" err="1">
                <a:latin typeface="Times New Roman" pitchFamily="18" charset="0"/>
                <a:cs typeface="Times New Roman" pitchFamily="18" charset="0"/>
              </a:rPr>
              <a:t>d.c.</a:t>
            </a:r>
            <a:r>
              <a:rPr lang="en-US" sz="2900" dirty="0">
                <a:latin typeface="Times New Roman" pitchFamily="18" charset="0"/>
                <a:cs typeface="Times New Roman" pitchFamily="18" charset="0"/>
              </a:rPr>
              <a:t> voltage smooth and free of ripples. It also keeps the </a:t>
            </a:r>
            <a:r>
              <a:rPr lang="en-US" sz="2900" dirty="0" err="1">
                <a:latin typeface="Times New Roman" pitchFamily="18" charset="0"/>
                <a:cs typeface="Times New Roman" pitchFamily="18" charset="0"/>
              </a:rPr>
              <a:t>d.c.</a:t>
            </a:r>
            <a:r>
              <a:rPr lang="en-US" sz="2900" dirty="0">
                <a:latin typeface="Times New Roman" pitchFamily="18" charset="0"/>
                <a:cs typeface="Times New Roman" pitchFamily="18" charset="0"/>
              </a:rPr>
              <a:t> voltage constant, though input </a:t>
            </a:r>
            <a:r>
              <a:rPr lang="en-US" sz="2900" dirty="0" err="1">
                <a:latin typeface="Times New Roman" pitchFamily="18" charset="0"/>
                <a:cs typeface="Times New Roman" pitchFamily="18" charset="0"/>
              </a:rPr>
              <a:t>d.c.</a:t>
            </a:r>
            <a:r>
              <a:rPr lang="en-US" sz="2900" dirty="0">
                <a:latin typeface="Times New Roman" pitchFamily="18" charset="0"/>
                <a:cs typeface="Times New Roman" pitchFamily="18" charset="0"/>
              </a:rPr>
              <a:t> voltage varies under some </a:t>
            </a:r>
            <a:r>
              <a:rPr lang="en-US" sz="2900" dirty="0" err="1">
                <a:latin typeface="Times New Roman" pitchFamily="18" charset="0"/>
                <a:cs typeface="Times New Roman" pitchFamily="18" charset="0"/>
              </a:rPr>
              <a:t>circumstances.The</a:t>
            </a:r>
            <a:r>
              <a:rPr lang="en-US" sz="2900" dirty="0">
                <a:latin typeface="Times New Roman" pitchFamily="18" charset="0"/>
                <a:cs typeface="Times New Roman" pitchFamily="18" charset="0"/>
              </a:rPr>
              <a:t> output of regulator is called </a:t>
            </a:r>
            <a:r>
              <a:rPr lang="en-US" sz="2900" dirty="0" err="1">
                <a:latin typeface="Times New Roman" pitchFamily="18" charset="0"/>
                <a:cs typeface="Times New Roman" pitchFamily="18" charset="0"/>
              </a:rPr>
              <a:t>d.c.</a:t>
            </a:r>
            <a:r>
              <a:rPr lang="en-US" sz="2900" dirty="0">
                <a:latin typeface="Times New Roman" pitchFamily="18" charset="0"/>
                <a:cs typeface="Times New Roman" pitchFamily="18" charset="0"/>
              </a:rPr>
              <a:t> voltage. </a:t>
            </a:r>
          </a:p>
          <a:p>
            <a:pPr marL="400050" lvl="1" indent="0" algn="just">
              <a:lnSpc>
                <a:spcPct val="120000"/>
              </a:lnSpc>
              <a:buNone/>
            </a:pPr>
            <a:r>
              <a:rPr lang="en-US" sz="2900" dirty="0">
                <a:latin typeface="Times New Roman" pitchFamily="18" charset="0"/>
                <a:cs typeface="Times New Roman" pitchFamily="18" charset="0"/>
              </a:rPr>
              <a:t>This </a:t>
            </a:r>
            <a:r>
              <a:rPr lang="en-US" sz="2900" dirty="0" err="1">
                <a:latin typeface="Times New Roman" pitchFamily="18" charset="0"/>
                <a:cs typeface="Times New Roman" pitchFamily="18" charset="0"/>
              </a:rPr>
              <a:t>d.c.</a:t>
            </a:r>
            <a:r>
              <a:rPr lang="en-US" sz="2900" dirty="0">
                <a:latin typeface="Times New Roman" pitchFamily="18" charset="0"/>
                <a:cs typeface="Times New Roman" pitchFamily="18" charset="0"/>
              </a:rPr>
              <a:t> voltage is connected to load.</a:t>
            </a:r>
          </a:p>
          <a:p>
            <a:endParaRPr lang="en-US" dirty="0"/>
          </a:p>
        </p:txBody>
      </p:sp>
    </p:spTree>
    <p:extLst>
      <p:ext uri="{BB962C8B-B14F-4D97-AF65-F5344CB8AC3E}">
        <p14:creationId xmlns="" xmlns:p14="http://schemas.microsoft.com/office/powerpoint/2010/main" val="222520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1000"/>
                                        <p:tgtEl>
                                          <p:spTgt spid="3">
                                            <p:txEl>
                                              <p:pRg st="6" end="6"/>
                                            </p:txEl>
                                          </p:spTgt>
                                        </p:tgtEl>
                                      </p:cBhvr>
                                    </p:animEffect>
                                    <p:anim calcmode="lin" valueType="num">
                                      <p:cBhvr>
                                        <p:cTn id="3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1000"/>
                                        <p:tgtEl>
                                          <p:spTgt spid="3">
                                            <p:txEl>
                                              <p:pRg st="7" end="7"/>
                                            </p:txEl>
                                          </p:spTgt>
                                        </p:tgtEl>
                                      </p:cBhvr>
                                    </p:animEffect>
                                    <p:anim calcmode="lin" valueType="num">
                                      <p:cBhvr>
                                        <p:cTn id="4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1000"/>
                                        <p:tgtEl>
                                          <p:spTgt spid="3">
                                            <p:txEl>
                                              <p:pRg st="8" end="8"/>
                                            </p:txEl>
                                          </p:spTgt>
                                        </p:tgtEl>
                                      </p:cBhvr>
                                    </p:animEffect>
                                    <p:anim calcmode="lin" valueType="num">
                                      <p:cBhvr>
                                        <p:cTn id="5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1000"/>
                                        <p:tgtEl>
                                          <p:spTgt spid="3">
                                            <p:txEl>
                                              <p:pRg st="9" end="9"/>
                                            </p:txEl>
                                          </p:spTgt>
                                        </p:tgtEl>
                                      </p:cBhvr>
                                    </p:animEffect>
                                    <p:anim calcmode="lin" valueType="num">
                                      <p:cBhvr>
                                        <p:cTn id="5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animEffect transition="in" filter="fade">
                                      <p:cBhvr>
                                        <p:cTn id="64" dur="1000"/>
                                        <p:tgtEl>
                                          <p:spTgt spid="3">
                                            <p:txEl>
                                              <p:pRg st="10" end="10"/>
                                            </p:txEl>
                                          </p:spTgt>
                                        </p:tgtEl>
                                      </p:cBhvr>
                                    </p:animEffect>
                                    <p:anim calcmode="lin" valueType="num">
                                      <p:cBhvr>
                                        <p:cTn id="6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nodeType="click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animEffect transition="in" filter="fade">
                                      <p:cBhvr>
                                        <p:cTn id="71" dur="1000"/>
                                        <p:tgtEl>
                                          <p:spTgt spid="3">
                                            <p:txEl>
                                              <p:pRg st="11" end="11"/>
                                            </p:txEl>
                                          </p:spTgt>
                                        </p:tgtEl>
                                      </p:cBhvr>
                                    </p:animEffect>
                                    <p:anim calcmode="lin" valueType="num">
                                      <p:cBhvr>
                                        <p:cTn id="7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3"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3">
                                            <p:txEl>
                                              <p:pRg st="12" end="12"/>
                                            </p:txEl>
                                          </p:spTgt>
                                        </p:tgtEl>
                                        <p:attrNameLst>
                                          <p:attrName>style.visibility</p:attrName>
                                        </p:attrNameLst>
                                      </p:cBhvr>
                                      <p:to>
                                        <p:strVal val="visible"/>
                                      </p:to>
                                    </p:set>
                                    <p:animEffect transition="in" filter="fade">
                                      <p:cBhvr>
                                        <p:cTn id="78" dur="1000"/>
                                        <p:tgtEl>
                                          <p:spTgt spid="3">
                                            <p:txEl>
                                              <p:pRg st="12" end="12"/>
                                            </p:txEl>
                                          </p:spTgt>
                                        </p:tgtEl>
                                      </p:cBhvr>
                                    </p:animEffect>
                                    <p:anim calcmode="lin" valueType="num">
                                      <p:cBhvr>
                                        <p:cTn id="79"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80"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Effect transition="in" filter="fade">
                                      <p:cBhvr>
                                        <p:cTn id="85" dur="1000"/>
                                        <p:tgtEl>
                                          <p:spTgt spid="3">
                                            <p:txEl>
                                              <p:pRg st="13" end="13"/>
                                            </p:txEl>
                                          </p:spTgt>
                                        </p:tgtEl>
                                      </p:cBhvr>
                                    </p:animEffect>
                                    <p:anim calcmode="lin" valueType="num">
                                      <p:cBhvr>
                                        <p:cTn id="86"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87"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3">
                                            <p:txEl>
                                              <p:pRg st="14" end="14"/>
                                            </p:txEl>
                                          </p:spTgt>
                                        </p:tgtEl>
                                        <p:attrNameLst>
                                          <p:attrName>style.visibility</p:attrName>
                                        </p:attrNameLst>
                                      </p:cBhvr>
                                      <p:to>
                                        <p:strVal val="visible"/>
                                      </p:to>
                                    </p:set>
                                    <p:animEffect transition="in" filter="fade">
                                      <p:cBhvr>
                                        <p:cTn id="92" dur="1000"/>
                                        <p:tgtEl>
                                          <p:spTgt spid="3">
                                            <p:txEl>
                                              <p:pRg st="14" end="14"/>
                                            </p:txEl>
                                          </p:spTgt>
                                        </p:tgtEl>
                                      </p:cBhvr>
                                    </p:animEffect>
                                    <p:anim calcmode="lin" valueType="num">
                                      <p:cBhvr>
                                        <p:cTn id="93"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94"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sz="quarter" idx="1"/>
          </p:nvPr>
        </p:nvSpPr>
        <p:spPr>
          <a:xfrm>
            <a:off x="152400" y="762000"/>
            <a:ext cx="8686800" cy="5791200"/>
          </a:xfrm>
        </p:spPr>
        <p:txBody>
          <a:bodyPr>
            <a:normAutofit fontScale="92500" lnSpcReduction="20000"/>
          </a:bodyPr>
          <a:lstStyle/>
          <a:p>
            <a:pPr algn="just">
              <a:lnSpc>
                <a:spcPct val="80000"/>
              </a:lnSpc>
            </a:pPr>
            <a:r>
              <a:rPr lang="en-US" sz="2800" dirty="0"/>
              <a:t>An </a:t>
            </a:r>
            <a:r>
              <a:rPr lang="en-US" sz="2800" b="1" dirty="0"/>
              <a:t>operational amplifier</a:t>
            </a:r>
            <a:r>
              <a:rPr lang="en-US" sz="2800" dirty="0"/>
              <a:t> (often </a:t>
            </a:r>
            <a:r>
              <a:rPr lang="en-US" sz="2800" b="1" dirty="0"/>
              <a:t>op-amp</a:t>
            </a:r>
            <a:r>
              <a:rPr lang="en-US" sz="2800" dirty="0"/>
              <a:t> or </a:t>
            </a:r>
            <a:r>
              <a:rPr lang="en-US" sz="2800" b="1" dirty="0"/>
              <a:t>op-amp</a:t>
            </a:r>
            <a:r>
              <a:rPr lang="en-US" sz="2800" dirty="0"/>
              <a:t>) is a DC coupled high-gain electronic voltage amplifier with a differential input  and usually, a single-ended output</a:t>
            </a:r>
          </a:p>
          <a:p>
            <a:pPr algn="just">
              <a:lnSpc>
                <a:spcPct val="80000"/>
              </a:lnSpc>
            </a:pPr>
            <a:endParaRPr lang="en-US" sz="2800" dirty="0">
              <a:cs typeface="Times New Roman" pitchFamily="18" charset="0"/>
            </a:endParaRPr>
          </a:p>
          <a:p>
            <a:pPr algn="just">
              <a:lnSpc>
                <a:spcPct val="80000"/>
              </a:lnSpc>
            </a:pPr>
            <a:r>
              <a:rPr lang="en-US" sz="2800" dirty="0">
                <a:cs typeface="Times New Roman" pitchFamily="18" charset="0"/>
              </a:rPr>
              <a:t>Op-amp is basically a multistage amplifier which is uses a number of amplifier stages interconnected  to each other in a complicated manner.</a:t>
            </a:r>
          </a:p>
          <a:p>
            <a:pPr algn="just">
              <a:lnSpc>
                <a:spcPct val="80000"/>
              </a:lnSpc>
            </a:pPr>
            <a:endParaRPr lang="en-US" sz="2800" dirty="0">
              <a:cs typeface="Times New Roman" pitchFamily="18" charset="0"/>
            </a:endParaRPr>
          </a:p>
          <a:p>
            <a:pPr algn="just">
              <a:lnSpc>
                <a:spcPct val="80000"/>
              </a:lnSpc>
            </a:pPr>
            <a:r>
              <a:rPr lang="en-US" sz="2800" dirty="0">
                <a:cs typeface="Times New Roman" pitchFamily="18" charset="0"/>
              </a:rPr>
              <a:t>The amplifier which could be configured to perform a variety of operations such as amplification, addition, subtraction, differentiation and integration.</a:t>
            </a:r>
          </a:p>
          <a:p>
            <a:pPr algn="just">
              <a:lnSpc>
                <a:spcPct val="80000"/>
              </a:lnSpc>
            </a:pPr>
            <a:endParaRPr lang="en-US" sz="2800" dirty="0">
              <a:cs typeface="Times New Roman" pitchFamily="18" charset="0"/>
            </a:endParaRPr>
          </a:p>
          <a:p>
            <a:pPr algn="just">
              <a:lnSpc>
                <a:spcPct val="80000"/>
              </a:lnSpc>
            </a:pPr>
            <a:r>
              <a:rPr lang="en-US" sz="2800" dirty="0">
                <a:cs typeface="Times New Roman" pitchFamily="18" charset="0"/>
              </a:rPr>
              <a:t>Hence the name is </a:t>
            </a:r>
            <a:r>
              <a:rPr lang="en-US" sz="2800" dirty="0">
                <a:solidFill>
                  <a:srgbClr val="FF0000"/>
                </a:solidFill>
                <a:cs typeface="Times New Roman" pitchFamily="18" charset="0"/>
              </a:rPr>
              <a:t>operational amplifier (OP-AMP)</a:t>
            </a:r>
          </a:p>
          <a:p>
            <a:pPr algn="just">
              <a:lnSpc>
                <a:spcPct val="80000"/>
              </a:lnSpc>
            </a:pPr>
            <a:endParaRPr lang="en-US" sz="2800" dirty="0">
              <a:cs typeface="Times New Roman" pitchFamily="18" charset="0"/>
            </a:endParaRPr>
          </a:p>
          <a:p>
            <a:pPr algn="just">
              <a:lnSpc>
                <a:spcPct val="80000"/>
              </a:lnSpc>
            </a:pPr>
            <a:r>
              <a:rPr lang="en-US" sz="2800" dirty="0">
                <a:cs typeface="Times New Roman" pitchFamily="18" charset="0"/>
              </a:rPr>
              <a:t>The integrated Op-amp offers all the advantages of monolithic integrated circuits such as </a:t>
            </a:r>
            <a:r>
              <a:rPr lang="en-US" sz="2800" dirty="0">
                <a:solidFill>
                  <a:srgbClr val="000099"/>
                </a:solidFill>
                <a:cs typeface="Times New Roman" pitchFamily="18" charset="0"/>
              </a:rPr>
              <a:t>small size, high reliability, reduced cost, less power consumption.</a:t>
            </a:r>
          </a:p>
          <a:p>
            <a:pPr algn="just">
              <a:lnSpc>
                <a:spcPct val="80000"/>
              </a:lnSpc>
            </a:pPr>
            <a:endParaRPr lang="en-US" sz="2800" dirty="0">
              <a:solidFill>
                <a:srgbClr val="FFFF00"/>
              </a:solidFill>
              <a:cs typeface="Times New Roman" pitchFamily="18" charset="0"/>
            </a:endParaRPr>
          </a:p>
          <a:p>
            <a:pPr algn="just">
              <a:lnSpc>
                <a:spcPct val="80000"/>
              </a:lnSpc>
            </a:pPr>
            <a:r>
              <a:rPr lang="en-US" sz="2800" dirty="0">
                <a:cs typeface="Times New Roman" pitchFamily="18" charset="0"/>
              </a:rPr>
              <a:t>IC 741 is extremely popular and was used in a variety of applications. </a:t>
            </a:r>
          </a:p>
        </p:txBody>
      </p:sp>
      <p:sp>
        <p:nvSpPr>
          <p:cNvPr id="3" name="Slide Number Placeholder 2"/>
          <p:cNvSpPr>
            <a:spLocks noGrp="1"/>
          </p:cNvSpPr>
          <p:nvPr>
            <p:ph type="sldNum" sz="quarter" idx="12"/>
          </p:nvPr>
        </p:nvSpPr>
        <p:spPr/>
        <p:txBody>
          <a:bodyPr/>
          <a:lstStyle/>
          <a:p>
            <a:pPr>
              <a:defRPr/>
            </a:pPr>
            <a:fld id="{52F8B8A7-F3B4-424C-BD71-F185C141CD15}" type="slidenum">
              <a:rPr lang="en-US"/>
              <a:pPr>
                <a:defRPr/>
              </a:pPr>
              <a:t>20</a:t>
            </a:fld>
            <a:endParaRPr lang="en-US"/>
          </a:p>
        </p:txBody>
      </p:sp>
      <p:sp>
        <p:nvSpPr>
          <p:cNvPr id="5" name="Title 1"/>
          <p:cNvSpPr>
            <a:spLocks noGrp="1"/>
          </p:cNvSpPr>
          <p:nvPr>
            <p:ph type="title"/>
          </p:nvPr>
        </p:nvSpPr>
        <p:spPr>
          <a:xfrm>
            <a:off x="533400" y="0"/>
            <a:ext cx="8229600" cy="762000"/>
          </a:xfrm>
        </p:spPr>
        <p:txBody>
          <a:bodyPr rtlCol="0">
            <a:normAutofit/>
          </a:bodyPr>
          <a:lstStyle/>
          <a:p>
            <a:pPr fontAlgn="auto">
              <a:spcAft>
                <a:spcPts val="0"/>
              </a:spcAft>
              <a:defRPr/>
            </a:pPr>
            <a:r>
              <a:rPr lang="en-US" b="1" dirty="0">
                <a:solidFill>
                  <a:srgbClr val="FF0000"/>
                </a:solidFill>
              </a:rPr>
              <a:t>Operational Amplifier</a:t>
            </a:r>
          </a:p>
        </p:txBody>
      </p:sp>
    </p:spTree>
    <p:extLst>
      <p:ext uri="{BB962C8B-B14F-4D97-AF65-F5344CB8AC3E}">
        <p14:creationId xmlns:p14="http://schemas.microsoft.com/office/powerpoint/2010/main" xmlns="" val="2821361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304800"/>
            <a:ext cx="8229600" cy="457200"/>
          </a:xfrm>
        </p:spPr>
        <p:txBody>
          <a:bodyPr rtlCol="0">
            <a:normAutofit fontScale="90000"/>
          </a:bodyPr>
          <a:lstStyle/>
          <a:p>
            <a:pPr fontAlgn="auto">
              <a:spcAft>
                <a:spcPts val="0"/>
              </a:spcAft>
              <a:defRPr/>
            </a:pPr>
            <a:r>
              <a:rPr lang="en-US" sz="3200" b="1" dirty="0">
                <a:solidFill>
                  <a:srgbClr val="000099"/>
                </a:solidFill>
                <a:latin typeface="Times New Roman" pitchFamily="18" charset="0"/>
                <a:cs typeface="Times New Roman" pitchFamily="18" charset="0"/>
              </a:rPr>
              <a:t> </a:t>
            </a:r>
            <a:r>
              <a:rPr lang="en-US" sz="3200" b="1" dirty="0">
                <a:solidFill>
                  <a:srgbClr val="0000FF"/>
                </a:solidFill>
                <a:cs typeface="Times New Roman" pitchFamily="18" charset="0"/>
              </a:rPr>
              <a:t>Pin configuration of  OP-AMP IC 741</a:t>
            </a:r>
          </a:p>
        </p:txBody>
      </p:sp>
      <p:pic>
        <p:nvPicPr>
          <p:cNvPr id="48131" name="Picture 6" descr="oa.gif - 16Kb"/>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62000" y="1219200"/>
            <a:ext cx="7620000" cy="5067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660D9103-AA9E-4591-818F-417BA3FBA6DC}" type="slidenum">
              <a:rPr lang="en-US"/>
              <a:pPr>
                <a:defRPr/>
              </a:pPr>
              <a:t>21</a:t>
            </a:fld>
            <a:endParaRPr lang="en-US"/>
          </a:p>
        </p:txBody>
      </p:sp>
    </p:spTree>
    <p:extLst>
      <p:ext uri="{BB962C8B-B14F-4D97-AF65-F5344CB8AC3E}">
        <p14:creationId xmlns:p14="http://schemas.microsoft.com/office/powerpoint/2010/main" xmlns="" val="1468307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274638"/>
            <a:ext cx="8229600" cy="715962"/>
          </a:xfrm>
        </p:spPr>
        <p:txBody>
          <a:bodyPr/>
          <a:lstStyle/>
          <a:p>
            <a:r>
              <a:rPr lang="en-US" sz="2800" b="1">
                <a:latin typeface="Comic Sans MS" pitchFamily="66" charset="0"/>
              </a:rPr>
              <a:t> Symbol and terminal</a:t>
            </a:r>
          </a:p>
        </p:txBody>
      </p:sp>
      <p:sp>
        <p:nvSpPr>
          <p:cNvPr id="49155" name="Line 3"/>
          <p:cNvSpPr>
            <a:spLocks noChangeShapeType="1"/>
          </p:cNvSpPr>
          <p:nvPr/>
        </p:nvSpPr>
        <p:spPr bwMode="auto">
          <a:xfrm>
            <a:off x="2873375" y="3124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56" name="Line 4"/>
          <p:cNvSpPr>
            <a:spLocks noChangeShapeType="1"/>
          </p:cNvSpPr>
          <p:nvPr/>
        </p:nvSpPr>
        <p:spPr bwMode="auto">
          <a:xfrm>
            <a:off x="2873375" y="38100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57" name="Line 5"/>
          <p:cNvSpPr>
            <a:spLocks noChangeShapeType="1"/>
          </p:cNvSpPr>
          <p:nvPr/>
        </p:nvSpPr>
        <p:spPr bwMode="auto">
          <a:xfrm>
            <a:off x="5083175" y="3505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58" name="Line 6"/>
          <p:cNvSpPr>
            <a:spLocks noChangeShapeType="1"/>
          </p:cNvSpPr>
          <p:nvPr/>
        </p:nvSpPr>
        <p:spPr bwMode="auto">
          <a:xfrm>
            <a:off x="4473575" y="38862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59" name="Line 7"/>
          <p:cNvSpPr>
            <a:spLocks noChangeShapeType="1"/>
          </p:cNvSpPr>
          <p:nvPr/>
        </p:nvSpPr>
        <p:spPr bwMode="auto">
          <a:xfrm>
            <a:off x="4473575" y="22098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49160" name="AutoShape 8"/>
          <p:cNvSpPr>
            <a:spLocks noChangeArrowheads="1"/>
          </p:cNvSpPr>
          <p:nvPr/>
        </p:nvSpPr>
        <p:spPr bwMode="auto">
          <a:xfrm rot="5400000">
            <a:off x="3673475" y="2857501"/>
            <a:ext cx="1519237"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741</a:t>
            </a:r>
          </a:p>
        </p:txBody>
      </p:sp>
      <p:sp>
        <p:nvSpPr>
          <p:cNvPr id="49161" name="Text Box 9"/>
          <p:cNvSpPr txBox="1">
            <a:spLocks noChangeArrowheads="1"/>
          </p:cNvSpPr>
          <p:nvPr/>
        </p:nvSpPr>
        <p:spPr bwMode="auto">
          <a:xfrm>
            <a:off x="3467100" y="2779713"/>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2</a:t>
            </a:r>
          </a:p>
        </p:txBody>
      </p:sp>
      <p:sp>
        <p:nvSpPr>
          <p:cNvPr id="49162" name="Text Box 10"/>
          <p:cNvSpPr txBox="1">
            <a:spLocks noChangeArrowheads="1"/>
          </p:cNvSpPr>
          <p:nvPr/>
        </p:nvSpPr>
        <p:spPr bwMode="auto">
          <a:xfrm>
            <a:off x="3482975" y="35194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3</a:t>
            </a:r>
          </a:p>
        </p:txBody>
      </p:sp>
      <p:sp>
        <p:nvSpPr>
          <p:cNvPr id="49163" name="Text Box 11"/>
          <p:cNvSpPr txBox="1">
            <a:spLocks noChangeArrowheads="1"/>
          </p:cNvSpPr>
          <p:nvPr/>
        </p:nvSpPr>
        <p:spPr bwMode="auto">
          <a:xfrm>
            <a:off x="4473575" y="38100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4</a:t>
            </a:r>
          </a:p>
        </p:txBody>
      </p:sp>
      <p:sp>
        <p:nvSpPr>
          <p:cNvPr id="49164" name="Text Box 12"/>
          <p:cNvSpPr txBox="1">
            <a:spLocks noChangeArrowheads="1"/>
          </p:cNvSpPr>
          <p:nvPr/>
        </p:nvSpPr>
        <p:spPr bwMode="auto">
          <a:xfrm>
            <a:off x="4473575" y="29098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7</a:t>
            </a:r>
          </a:p>
        </p:txBody>
      </p:sp>
      <p:sp>
        <p:nvSpPr>
          <p:cNvPr id="49165" name="Text Box 13"/>
          <p:cNvSpPr txBox="1">
            <a:spLocks noChangeArrowheads="1"/>
          </p:cNvSpPr>
          <p:nvPr/>
        </p:nvSpPr>
        <p:spPr bwMode="auto">
          <a:xfrm>
            <a:off x="5006975" y="32004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6</a:t>
            </a:r>
          </a:p>
        </p:txBody>
      </p:sp>
      <p:sp>
        <p:nvSpPr>
          <p:cNvPr id="49166" name="Text Box 14"/>
          <p:cNvSpPr txBox="1">
            <a:spLocks noChangeArrowheads="1"/>
          </p:cNvSpPr>
          <p:nvPr/>
        </p:nvSpPr>
        <p:spPr bwMode="auto">
          <a:xfrm>
            <a:off x="3863975" y="29860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49167" name="Text Box 15"/>
          <p:cNvSpPr txBox="1">
            <a:spLocks noChangeArrowheads="1"/>
          </p:cNvSpPr>
          <p:nvPr/>
        </p:nvSpPr>
        <p:spPr bwMode="auto">
          <a:xfrm>
            <a:off x="3863975" y="36718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49168" name="Text Box 16"/>
          <p:cNvSpPr txBox="1">
            <a:spLocks noChangeArrowheads="1"/>
          </p:cNvSpPr>
          <p:nvPr/>
        </p:nvSpPr>
        <p:spPr bwMode="auto">
          <a:xfrm>
            <a:off x="4457700" y="1870075"/>
            <a:ext cx="3325813"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+VCC positive supply voltage</a:t>
            </a:r>
          </a:p>
        </p:txBody>
      </p:sp>
      <p:sp>
        <p:nvSpPr>
          <p:cNvPr id="49169" name="Text Box 17"/>
          <p:cNvSpPr txBox="1">
            <a:spLocks noChangeArrowheads="1"/>
          </p:cNvSpPr>
          <p:nvPr/>
        </p:nvSpPr>
        <p:spPr bwMode="auto">
          <a:xfrm>
            <a:off x="4473575" y="4972050"/>
            <a:ext cx="34067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-VEE negative supply voltage</a:t>
            </a:r>
          </a:p>
        </p:txBody>
      </p:sp>
      <p:sp>
        <p:nvSpPr>
          <p:cNvPr id="49170" name="Text Box 18"/>
          <p:cNvSpPr txBox="1">
            <a:spLocks noChangeArrowheads="1"/>
          </p:cNvSpPr>
          <p:nvPr/>
        </p:nvSpPr>
        <p:spPr bwMode="auto">
          <a:xfrm>
            <a:off x="5730875" y="31432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Output  </a:t>
            </a:r>
          </a:p>
        </p:txBody>
      </p:sp>
      <p:sp>
        <p:nvSpPr>
          <p:cNvPr id="49171" name="Text Box 19"/>
          <p:cNvSpPr txBox="1">
            <a:spLocks noChangeArrowheads="1"/>
          </p:cNvSpPr>
          <p:nvPr/>
        </p:nvSpPr>
        <p:spPr bwMode="auto">
          <a:xfrm>
            <a:off x="1428750" y="2671763"/>
            <a:ext cx="18192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Inverting input</a:t>
            </a:r>
          </a:p>
        </p:txBody>
      </p:sp>
      <p:sp>
        <p:nvSpPr>
          <p:cNvPr id="49172" name="Text Box 20"/>
          <p:cNvSpPr txBox="1">
            <a:spLocks noChangeArrowheads="1"/>
          </p:cNvSpPr>
          <p:nvPr/>
        </p:nvSpPr>
        <p:spPr bwMode="auto">
          <a:xfrm>
            <a:off x="1212850" y="3905250"/>
            <a:ext cx="23844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Non-Inverting input</a:t>
            </a:r>
          </a:p>
        </p:txBody>
      </p:sp>
      <p:sp>
        <p:nvSpPr>
          <p:cNvPr id="49173" name="Oval 21"/>
          <p:cNvSpPr>
            <a:spLocks noChangeArrowheads="1"/>
          </p:cNvSpPr>
          <p:nvPr/>
        </p:nvSpPr>
        <p:spPr bwMode="auto">
          <a:xfrm>
            <a:off x="2743200" y="3733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49174" name="Oval 22"/>
          <p:cNvSpPr>
            <a:spLocks noChangeArrowheads="1"/>
          </p:cNvSpPr>
          <p:nvPr/>
        </p:nvSpPr>
        <p:spPr bwMode="auto">
          <a:xfrm>
            <a:off x="2743200" y="3048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49175" name="Oval 23"/>
          <p:cNvSpPr>
            <a:spLocks noChangeArrowheads="1"/>
          </p:cNvSpPr>
          <p:nvPr/>
        </p:nvSpPr>
        <p:spPr bwMode="auto">
          <a:xfrm>
            <a:off x="4419600" y="480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49176" name="Oval 24"/>
          <p:cNvSpPr>
            <a:spLocks noChangeArrowheads="1"/>
          </p:cNvSpPr>
          <p:nvPr/>
        </p:nvSpPr>
        <p:spPr bwMode="auto">
          <a:xfrm>
            <a:off x="4419600" y="2133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49177" name="Oval 25"/>
          <p:cNvSpPr>
            <a:spLocks noChangeArrowheads="1"/>
          </p:cNvSpPr>
          <p:nvPr/>
        </p:nvSpPr>
        <p:spPr bwMode="auto">
          <a:xfrm>
            <a:off x="5867400" y="3429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49178" name="Rectangle 1"/>
          <p:cNvSpPr>
            <a:spLocks noChangeArrowheads="1"/>
          </p:cNvSpPr>
          <p:nvPr/>
        </p:nvSpPr>
        <p:spPr bwMode="auto">
          <a:xfrm>
            <a:off x="304800" y="5257800"/>
            <a:ext cx="8305800" cy="1570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just"/>
            <a:r>
              <a:rPr lang="en-US" sz="2400">
                <a:latin typeface="Calibri" pitchFamily="34" charset="0"/>
              </a:rPr>
              <a:t>The </a:t>
            </a:r>
            <a:r>
              <a:rPr lang="en-US" sz="2400" b="1">
                <a:latin typeface="Calibri" pitchFamily="34" charset="0"/>
              </a:rPr>
              <a:t>Operational Amplifier</a:t>
            </a:r>
            <a:r>
              <a:rPr lang="en-US" sz="2400">
                <a:latin typeface="Calibri" pitchFamily="34" charset="0"/>
              </a:rPr>
              <a:t> (</a:t>
            </a:r>
            <a:r>
              <a:rPr lang="en-US" sz="2400" b="1">
                <a:latin typeface="Calibri" pitchFamily="34" charset="0"/>
              </a:rPr>
              <a:t>op amp</a:t>
            </a:r>
            <a:r>
              <a:rPr lang="en-US" sz="2400">
                <a:latin typeface="Calibri" pitchFamily="34" charset="0"/>
              </a:rPr>
              <a:t>) was </a:t>
            </a:r>
            <a:r>
              <a:rPr lang="en-US" sz="2400" b="1">
                <a:latin typeface="Calibri" pitchFamily="34" charset="0"/>
              </a:rPr>
              <a:t>invented</a:t>
            </a:r>
            <a:r>
              <a:rPr lang="en-US" sz="2400">
                <a:latin typeface="Calibri" pitchFamily="34" charset="0"/>
              </a:rPr>
              <a:t> in the 40's. Bell Labs filed a patent in 1941 and many consider the first practical </a:t>
            </a:r>
            <a:r>
              <a:rPr lang="en-US" sz="2400" b="1">
                <a:latin typeface="Calibri" pitchFamily="34" charset="0"/>
              </a:rPr>
              <a:t>op amp</a:t>
            </a:r>
            <a:r>
              <a:rPr lang="en-US" sz="2400">
                <a:latin typeface="Calibri" pitchFamily="34" charset="0"/>
              </a:rPr>
              <a:t> to be the vacuum tube K2-W </a:t>
            </a:r>
            <a:r>
              <a:rPr lang="en-US" sz="2400" b="1">
                <a:latin typeface="Calibri" pitchFamily="34" charset="0"/>
              </a:rPr>
              <a:t>invented </a:t>
            </a:r>
            <a:r>
              <a:rPr lang="en-US" sz="2400">
                <a:latin typeface="Calibri" pitchFamily="34" charset="0"/>
              </a:rPr>
              <a:t>in 1952 by George Philbrick.</a:t>
            </a:r>
          </a:p>
        </p:txBody>
      </p:sp>
      <p:pic>
        <p:nvPicPr>
          <p:cNvPr id="49179" name="Picture 2" descr="https://upload.wikimedia.org/wikipedia/commons/thumb/1/15/K2-w_Vacuum_Tube_Op-amp.jpg/120px-K2-w_Vacuum_Tube_Op-amp.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228600"/>
            <a:ext cx="1143000" cy="2276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1C0CBF76-5756-45E8-AED9-6B3F5B0EC951}" type="slidenum">
              <a:rPr lang="en-US"/>
              <a:pPr>
                <a:defRPr/>
              </a:pPr>
              <a:t>22</a:t>
            </a:fld>
            <a:endParaRPr lang="en-US"/>
          </a:p>
        </p:txBody>
      </p:sp>
    </p:spTree>
    <p:extLst>
      <p:ext uri="{BB962C8B-B14F-4D97-AF65-F5344CB8AC3E}">
        <p14:creationId xmlns:p14="http://schemas.microsoft.com/office/powerpoint/2010/main" xmlns="" val="2400053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76200" y="76200"/>
            <a:ext cx="8763000" cy="533400"/>
          </a:xfrm>
        </p:spPr>
        <p:txBody>
          <a:bodyPr/>
          <a:lstStyle/>
          <a:p>
            <a:r>
              <a:rPr lang="en-US" altLang="en-US" sz="2800">
                <a:latin typeface="Comic Sans MS" pitchFamily="66" charset="0"/>
              </a:rPr>
              <a:t>Op-amp symbols and packages.</a:t>
            </a:r>
          </a:p>
        </p:txBody>
      </p:sp>
      <p:sp>
        <p:nvSpPr>
          <p:cNvPr id="50179" name="Rectangle 3"/>
          <p:cNvSpPr>
            <a:spLocks noChangeArrowheads="1"/>
          </p:cNvSpPr>
          <p:nvPr/>
        </p:nvSpPr>
        <p:spPr bwMode="auto">
          <a:xfrm>
            <a:off x="152400" y="6324600"/>
            <a:ext cx="220980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p>
            <a:r>
              <a:rPr lang="en-US" altLang="en-US" sz="900" b="1">
                <a:solidFill>
                  <a:schemeClr val="tx2"/>
                </a:solidFill>
              </a:rPr>
              <a:t>Thomas L. Floyd</a:t>
            </a:r>
            <a:r>
              <a:rPr lang="en-US" altLang="en-US" sz="900">
                <a:solidFill>
                  <a:schemeClr val="tx2"/>
                </a:solidFill>
              </a:rPr>
              <a:t/>
            </a:r>
            <a:br>
              <a:rPr lang="en-US" altLang="en-US" sz="900">
                <a:solidFill>
                  <a:schemeClr val="tx2"/>
                </a:solidFill>
              </a:rPr>
            </a:br>
            <a:r>
              <a:rPr lang="en-US" altLang="en-US" sz="900" i="1">
                <a:solidFill>
                  <a:schemeClr val="tx2"/>
                </a:solidFill>
              </a:rPr>
              <a:t>Electronic Devices, 6e and Electronic Devices:  Electron Flow Version, 4e</a:t>
            </a:r>
            <a:endParaRPr lang="en-US" altLang="en-US" sz="4400">
              <a:solidFill>
                <a:schemeClr val="tx2"/>
              </a:solidFill>
            </a:endParaRPr>
          </a:p>
        </p:txBody>
      </p:sp>
      <p:pic>
        <p:nvPicPr>
          <p:cNvPr id="50180" name="Picture 5" descr="12-0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55613" y="684213"/>
            <a:ext cx="8231187" cy="5487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27352B0D-CA30-4ABE-9207-0B49203CF10B}" type="slidenum">
              <a:rPr lang="en-US"/>
              <a:pPr>
                <a:defRPr/>
              </a:pPr>
              <a:t>23</a:t>
            </a:fld>
            <a:endParaRPr lang="en-US"/>
          </a:p>
        </p:txBody>
      </p:sp>
    </p:spTree>
    <p:extLst>
      <p:ext uri="{BB962C8B-B14F-4D97-AF65-F5344CB8AC3E}">
        <p14:creationId xmlns:p14="http://schemas.microsoft.com/office/powerpoint/2010/main" xmlns="" val="3961027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sz="quarter" idx="1"/>
          </p:nvPr>
        </p:nvSpPr>
        <p:spPr>
          <a:xfrm>
            <a:off x="457200" y="381000"/>
            <a:ext cx="8229600" cy="3200400"/>
          </a:xfrm>
        </p:spPr>
        <p:txBody>
          <a:bodyPr rtlCol="0">
            <a:normAutofit/>
          </a:bodyPr>
          <a:lstStyle/>
          <a:p>
            <a:pPr marL="0" indent="0" algn="just" fontAlgn="auto">
              <a:lnSpc>
                <a:spcPct val="90000"/>
              </a:lnSpc>
              <a:spcAft>
                <a:spcPts val="0"/>
              </a:spcAft>
              <a:buFont typeface="Arial" pitchFamily="34" charset="0"/>
              <a:buNone/>
              <a:defRPr/>
            </a:pPr>
            <a:r>
              <a:rPr lang="en-US" sz="2400" dirty="0">
                <a:solidFill>
                  <a:srgbClr val="000099"/>
                </a:solidFill>
                <a:cs typeface="Times New Roman" pitchFamily="18" charset="0"/>
              </a:rPr>
              <a:t>Ideal differential amplifier</a:t>
            </a:r>
          </a:p>
          <a:p>
            <a:pPr algn="just" fontAlgn="auto">
              <a:lnSpc>
                <a:spcPct val="90000"/>
              </a:lnSpc>
              <a:spcAft>
                <a:spcPts val="0"/>
              </a:spcAft>
              <a:defRPr/>
            </a:pPr>
            <a:endParaRPr lang="en-US" sz="2400" dirty="0">
              <a:solidFill>
                <a:srgbClr val="000099"/>
              </a:solidFill>
              <a:cs typeface="Times New Roman" pitchFamily="18" charset="0"/>
            </a:endParaRPr>
          </a:p>
          <a:p>
            <a:pPr algn="just" fontAlgn="auto">
              <a:lnSpc>
                <a:spcPct val="90000"/>
              </a:lnSpc>
              <a:spcAft>
                <a:spcPts val="0"/>
              </a:spcAft>
              <a:defRPr/>
            </a:pPr>
            <a:r>
              <a:rPr lang="en-US" sz="2400" dirty="0">
                <a:cs typeface="Times New Roman" pitchFamily="18" charset="0"/>
              </a:rPr>
              <a:t>An ideal differential amplifier is expected to amplify the differential signal present between its two input signal.</a:t>
            </a:r>
          </a:p>
          <a:p>
            <a:pPr algn="just" fontAlgn="auto">
              <a:lnSpc>
                <a:spcPct val="90000"/>
              </a:lnSpc>
              <a:spcAft>
                <a:spcPts val="0"/>
              </a:spcAft>
              <a:defRPr/>
            </a:pPr>
            <a:endParaRPr lang="en-US" sz="2400" dirty="0">
              <a:cs typeface="Times New Roman" pitchFamily="18" charset="0"/>
            </a:endParaRPr>
          </a:p>
          <a:p>
            <a:pPr algn="just" fontAlgn="auto">
              <a:lnSpc>
                <a:spcPct val="90000"/>
              </a:lnSpc>
              <a:spcAft>
                <a:spcPts val="0"/>
              </a:spcAft>
              <a:defRPr/>
            </a:pPr>
            <a:r>
              <a:rPr lang="en-US" sz="2400" dirty="0">
                <a:cs typeface="Times New Roman" pitchFamily="18" charset="0"/>
              </a:rPr>
              <a:t>It is also the basic stage of an integrated Op-amp with differential input.</a:t>
            </a:r>
          </a:p>
        </p:txBody>
      </p:sp>
      <p:sp>
        <p:nvSpPr>
          <p:cNvPr id="52227" name="Oval 5"/>
          <p:cNvSpPr>
            <a:spLocks noChangeArrowheads="1"/>
          </p:cNvSpPr>
          <p:nvPr/>
        </p:nvSpPr>
        <p:spPr bwMode="auto">
          <a:xfrm>
            <a:off x="2155825" y="51816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V2</a:t>
            </a:r>
          </a:p>
        </p:txBody>
      </p:sp>
      <p:sp>
        <p:nvSpPr>
          <p:cNvPr id="52228" name="Line 6"/>
          <p:cNvSpPr>
            <a:spLocks noChangeShapeType="1"/>
          </p:cNvSpPr>
          <p:nvPr/>
        </p:nvSpPr>
        <p:spPr bwMode="auto">
          <a:xfrm>
            <a:off x="1470025" y="4191000"/>
            <a:ext cx="1905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29" name="Line 7"/>
          <p:cNvSpPr>
            <a:spLocks noChangeShapeType="1"/>
          </p:cNvSpPr>
          <p:nvPr/>
        </p:nvSpPr>
        <p:spPr bwMode="auto">
          <a:xfrm>
            <a:off x="2460625" y="48768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0" name="Line 8"/>
          <p:cNvSpPr>
            <a:spLocks noChangeShapeType="1"/>
          </p:cNvSpPr>
          <p:nvPr/>
        </p:nvSpPr>
        <p:spPr bwMode="auto">
          <a:xfrm flipV="1">
            <a:off x="2460625" y="4876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1" name="Line 9"/>
          <p:cNvSpPr>
            <a:spLocks noChangeShapeType="1"/>
          </p:cNvSpPr>
          <p:nvPr/>
        </p:nvSpPr>
        <p:spPr bwMode="auto">
          <a:xfrm flipV="1">
            <a:off x="2460625" y="5791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2" name="Oval 10"/>
          <p:cNvSpPr>
            <a:spLocks noChangeArrowheads="1"/>
          </p:cNvSpPr>
          <p:nvPr/>
        </p:nvSpPr>
        <p:spPr bwMode="auto">
          <a:xfrm>
            <a:off x="1165225" y="51816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V1</a:t>
            </a:r>
          </a:p>
        </p:txBody>
      </p:sp>
      <p:sp>
        <p:nvSpPr>
          <p:cNvPr id="52233" name="Line 11"/>
          <p:cNvSpPr>
            <a:spLocks noChangeShapeType="1"/>
          </p:cNvSpPr>
          <p:nvPr/>
        </p:nvSpPr>
        <p:spPr bwMode="auto">
          <a:xfrm flipV="1">
            <a:off x="1470025" y="5791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4" name="Line 12"/>
          <p:cNvSpPr>
            <a:spLocks noChangeShapeType="1"/>
          </p:cNvSpPr>
          <p:nvPr/>
        </p:nvSpPr>
        <p:spPr bwMode="auto">
          <a:xfrm flipV="1">
            <a:off x="1470025" y="41910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5" name="Line 13"/>
          <p:cNvSpPr>
            <a:spLocks noChangeShapeType="1"/>
          </p:cNvSpPr>
          <p:nvPr/>
        </p:nvSpPr>
        <p:spPr bwMode="auto">
          <a:xfrm>
            <a:off x="2232025" y="6096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6" name="Line 14"/>
          <p:cNvSpPr>
            <a:spLocks noChangeShapeType="1"/>
          </p:cNvSpPr>
          <p:nvPr/>
        </p:nvSpPr>
        <p:spPr bwMode="auto">
          <a:xfrm>
            <a:off x="2308225" y="6172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7" name="Line 15"/>
          <p:cNvSpPr>
            <a:spLocks noChangeShapeType="1"/>
          </p:cNvSpPr>
          <p:nvPr/>
        </p:nvSpPr>
        <p:spPr bwMode="auto">
          <a:xfrm>
            <a:off x="2384425" y="6248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8" name="Line 16"/>
          <p:cNvSpPr>
            <a:spLocks noChangeShapeType="1"/>
          </p:cNvSpPr>
          <p:nvPr/>
        </p:nvSpPr>
        <p:spPr bwMode="auto">
          <a:xfrm>
            <a:off x="1241425" y="6096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39" name="Line 17"/>
          <p:cNvSpPr>
            <a:spLocks noChangeShapeType="1"/>
          </p:cNvSpPr>
          <p:nvPr/>
        </p:nvSpPr>
        <p:spPr bwMode="auto">
          <a:xfrm>
            <a:off x="1317625" y="6172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40" name="Line 18"/>
          <p:cNvSpPr>
            <a:spLocks noChangeShapeType="1"/>
          </p:cNvSpPr>
          <p:nvPr/>
        </p:nvSpPr>
        <p:spPr bwMode="auto">
          <a:xfrm>
            <a:off x="1393825" y="6248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41" name="Line 19"/>
          <p:cNvSpPr>
            <a:spLocks noChangeShapeType="1"/>
          </p:cNvSpPr>
          <p:nvPr/>
        </p:nvSpPr>
        <p:spPr bwMode="auto">
          <a:xfrm>
            <a:off x="5584825" y="45720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42" name="Oval 20"/>
          <p:cNvSpPr>
            <a:spLocks noChangeArrowheads="1"/>
          </p:cNvSpPr>
          <p:nvPr/>
        </p:nvSpPr>
        <p:spPr bwMode="auto">
          <a:xfrm>
            <a:off x="2765425" y="4114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2243" name="Oval 21"/>
          <p:cNvSpPr>
            <a:spLocks noChangeArrowheads="1"/>
          </p:cNvSpPr>
          <p:nvPr/>
        </p:nvSpPr>
        <p:spPr bwMode="auto">
          <a:xfrm>
            <a:off x="2765425" y="480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2244" name="Oval 22"/>
          <p:cNvSpPr>
            <a:spLocks noChangeArrowheads="1"/>
          </p:cNvSpPr>
          <p:nvPr/>
        </p:nvSpPr>
        <p:spPr bwMode="auto">
          <a:xfrm>
            <a:off x="6423025" y="4495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2245" name="Line 23"/>
          <p:cNvSpPr>
            <a:spLocks noChangeShapeType="1"/>
          </p:cNvSpPr>
          <p:nvPr/>
        </p:nvSpPr>
        <p:spPr bwMode="auto">
          <a:xfrm flipV="1">
            <a:off x="2841625" y="4267200"/>
            <a:ext cx="0" cy="53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2246" name="Text Box 24"/>
          <p:cNvSpPr txBox="1">
            <a:spLocks noChangeArrowheads="1"/>
          </p:cNvSpPr>
          <p:nvPr/>
        </p:nvSpPr>
        <p:spPr bwMode="auto">
          <a:xfrm>
            <a:off x="2765425" y="43576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Vd</a:t>
            </a:r>
          </a:p>
        </p:txBody>
      </p:sp>
      <p:sp>
        <p:nvSpPr>
          <p:cNvPr id="52247" name="Line 25"/>
          <p:cNvSpPr>
            <a:spLocks noChangeShapeType="1"/>
          </p:cNvSpPr>
          <p:nvPr/>
        </p:nvSpPr>
        <p:spPr bwMode="auto">
          <a:xfrm flipV="1">
            <a:off x="6499225" y="53340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48" name="Line 26"/>
          <p:cNvSpPr>
            <a:spLocks noChangeShapeType="1"/>
          </p:cNvSpPr>
          <p:nvPr/>
        </p:nvSpPr>
        <p:spPr bwMode="auto">
          <a:xfrm>
            <a:off x="6270625" y="56388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49" name="Line 27"/>
          <p:cNvSpPr>
            <a:spLocks noChangeShapeType="1"/>
          </p:cNvSpPr>
          <p:nvPr/>
        </p:nvSpPr>
        <p:spPr bwMode="auto">
          <a:xfrm>
            <a:off x="6346825" y="57150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50" name="Line 28"/>
          <p:cNvSpPr>
            <a:spLocks noChangeShapeType="1"/>
          </p:cNvSpPr>
          <p:nvPr/>
        </p:nvSpPr>
        <p:spPr bwMode="auto">
          <a:xfrm>
            <a:off x="6423025" y="57912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51" name="Oval 29"/>
          <p:cNvSpPr>
            <a:spLocks noChangeArrowheads="1"/>
          </p:cNvSpPr>
          <p:nvPr/>
        </p:nvSpPr>
        <p:spPr bwMode="auto">
          <a:xfrm>
            <a:off x="6423025" y="5181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2252" name="Line 30"/>
          <p:cNvSpPr>
            <a:spLocks noChangeShapeType="1"/>
          </p:cNvSpPr>
          <p:nvPr/>
        </p:nvSpPr>
        <p:spPr bwMode="auto">
          <a:xfrm>
            <a:off x="6575425" y="45720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53" name="Line 31"/>
          <p:cNvSpPr>
            <a:spLocks noChangeShapeType="1"/>
          </p:cNvSpPr>
          <p:nvPr/>
        </p:nvSpPr>
        <p:spPr bwMode="auto">
          <a:xfrm>
            <a:off x="6575425" y="52578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2254" name="Line 32"/>
          <p:cNvSpPr>
            <a:spLocks noChangeShapeType="1"/>
          </p:cNvSpPr>
          <p:nvPr/>
        </p:nvSpPr>
        <p:spPr bwMode="auto">
          <a:xfrm flipV="1">
            <a:off x="6727825" y="45720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2255" name="Line 33"/>
          <p:cNvSpPr>
            <a:spLocks noChangeShapeType="1"/>
          </p:cNvSpPr>
          <p:nvPr/>
        </p:nvSpPr>
        <p:spPr bwMode="auto">
          <a:xfrm>
            <a:off x="6727825" y="50292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2256" name="Text Box 34"/>
          <p:cNvSpPr txBox="1">
            <a:spLocks noChangeArrowheads="1"/>
          </p:cNvSpPr>
          <p:nvPr/>
        </p:nvSpPr>
        <p:spPr bwMode="auto">
          <a:xfrm>
            <a:off x="6711950" y="4684713"/>
            <a:ext cx="15494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Vo = V1 – V2</a:t>
            </a:r>
          </a:p>
        </p:txBody>
      </p:sp>
      <p:sp>
        <p:nvSpPr>
          <p:cNvPr id="52257" name="Text Box 35"/>
          <p:cNvSpPr txBox="1">
            <a:spLocks noChangeArrowheads="1"/>
          </p:cNvSpPr>
          <p:nvPr/>
        </p:nvSpPr>
        <p:spPr bwMode="auto">
          <a:xfrm>
            <a:off x="2216150" y="4837113"/>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2258" name="Text Box 36"/>
          <p:cNvSpPr txBox="1">
            <a:spLocks noChangeArrowheads="1"/>
          </p:cNvSpPr>
          <p:nvPr/>
        </p:nvSpPr>
        <p:spPr bwMode="auto">
          <a:xfrm>
            <a:off x="1393825" y="4800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2259" name="Text Box 37"/>
          <p:cNvSpPr txBox="1">
            <a:spLocks noChangeArrowheads="1"/>
          </p:cNvSpPr>
          <p:nvPr/>
        </p:nvSpPr>
        <p:spPr bwMode="auto">
          <a:xfrm>
            <a:off x="2216150" y="56753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2260" name="Text Box 38"/>
          <p:cNvSpPr txBox="1">
            <a:spLocks noChangeArrowheads="1"/>
          </p:cNvSpPr>
          <p:nvPr/>
        </p:nvSpPr>
        <p:spPr bwMode="auto">
          <a:xfrm>
            <a:off x="1438275" y="56388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2261" name="Rectangle 41"/>
          <p:cNvSpPr>
            <a:spLocks noChangeArrowheads="1"/>
          </p:cNvSpPr>
          <p:nvPr/>
        </p:nvSpPr>
        <p:spPr bwMode="auto">
          <a:xfrm>
            <a:off x="3375025" y="3886200"/>
            <a:ext cx="2209800" cy="1371600"/>
          </a:xfrm>
          <a:prstGeom prst="rect">
            <a:avLst/>
          </a:prstGeom>
          <a:gradFill rotWithShape="1">
            <a:gsLst>
              <a:gs pos="0">
                <a:schemeClr val="bg1"/>
              </a:gs>
              <a:gs pos="100000">
                <a:srgbClr val="FF33CC"/>
              </a:gs>
            </a:gsLst>
            <a:lin ang="5400000" scaled="1"/>
          </a:gradFill>
          <a:ln w="9525">
            <a:solidFill>
              <a:schemeClr val="tx1"/>
            </a:solidFill>
            <a:miter lim="800000"/>
            <a:headEnd/>
            <a:tailEnd/>
          </a:ln>
        </p:spPr>
        <p:txBody>
          <a:bodyPr wrap="none" anchor="ctr"/>
          <a:lstStyle/>
          <a:p>
            <a:pPr algn="ctr"/>
            <a:r>
              <a:rPr lang="en-US"/>
              <a:t>Ideal </a:t>
            </a:r>
          </a:p>
          <a:p>
            <a:pPr algn="ctr"/>
            <a:r>
              <a:rPr lang="en-US"/>
              <a:t>Differential</a:t>
            </a:r>
          </a:p>
          <a:p>
            <a:pPr algn="ctr"/>
            <a:r>
              <a:rPr lang="en-US"/>
              <a:t>Amplifier </a:t>
            </a:r>
          </a:p>
        </p:txBody>
      </p:sp>
      <p:sp>
        <p:nvSpPr>
          <p:cNvPr id="3" name="Slide Number Placeholder 2"/>
          <p:cNvSpPr>
            <a:spLocks noGrp="1"/>
          </p:cNvSpPr>
          <p:nvPr>
            <p:ph type="sldNum" sz="quarter" idx="12"/>
          </p:nvPr>
        </p:nvSpPr>
        <p:spPr/>
        <p:txBody>
          <a:bodyPr/>
          <a:lstStyle/>
          <a:p>
            <a:pPr>
              <a:defRPr/>
            </a:pPr>
            <a:fld id="{E0FC17BC-09F5-48CC-A623-1FA02C736738}" type="slidenum">
              <a:rPr lang="en-US"/>
              <a:pPr>
                <a:defRPr/>
              </a:pPr>
              <a:t>24</a:t>
            </a:fld>
            <a:endParaRPr lang="en-US"/>
          </a:p>
        </p:txBody>
      </p:sp>
    </p:spTree>
    <p:extLst>
      <p:ext uri="{BB962C8B-B14F-4D97-AF65-F5344CB8AC3E}">
        <p14:creationId xmlns:p14="http://schemas.microsoft.com/office/powerpoint/2010/main" xmlns="" val="23480813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3375025" y="685800"/>
            <a:ext cx="2209800" cy="1371600"/>
          </a:xfrm>
          <a:prstGeom prst="rect">
            <a:avLst/>
          </a:prstGeom>
          <a:gradFill rotWithShape="1">
            <a:gsLst>
              <a:gs pos="0">
                <a:schemeClr val="bg1"/>
              </a:gs>
              <a:gs pos="100000">
                <a:srgbClr val="FF33CC"/>
              </a:gs>
            </a:gsLst>
            <a:lin ang="5400000" scaled="1"/>
          </a:gradFill>
          <a:ln w="9525">
            <a:solidFill>
              <a:schemeClr val="tx1"/>
            </a:solidFill>
            <a:miter lim="800000"/>
            <a:headEnd/>
            <a:tailEnd/>
          </a:ln>
        </p:spPr>
        <p:txBody>
          <a:bodyPr wrap="none" anchor="ctr"/>
          <a:lstStyle/>
          <a:p>
            <a:pPr algn="ctr"/>
            <a:r>
              <a:rPr lang="en-US"/>
              <a:t>Ideal </a:t>
            </a:r>
          </a:p>
          <a:p>
            <a:pPr algn="ctr"/>
            <a:r>
              <a:rPr lang="en-US"/>
              <a:t>Differential</a:t>
            </a:r>
          </a:p>
          <a:p>
            <a:pPr algn="ctr"/>
            <a:r>
              <a:rPr lang="en-US"/>
              <a:t>Amplifier </a:t>
            </a:r>
          </a:p>
        </p:txBody>
      </p:sp>
      <p:sp>
        <p:nvSpPr>
          <p:cNvPr id="53251" name="Oval 3"/>
          <p:cNvSpPr>
            <a:spLocks noChangeArrowheads="1"/>
          </p:cNvSpPr>
          <p:nvPr/>
        </p:nvSpPr>
        <p:spPr bwMode="auto">
          <a:xfrm>
            <a:off x="2155825" y="19812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V2</a:t>
            </a:r>
          </a:p>
        </p:txBody>
      </p:sp>
      <p:sp>
        <p:nvSpPr>
          <p:cNvPr id="53252" name="Line 4"/>
          <p:cNvSpPr>
            <a:spLocks noChangeShapeType="1"/>
          </p:cNvSpPr>
          <p:nvPr/>
        </p:nvSpPr>
        <p:spPr bwMode="auto">
          <a:xfrm>
            <a:off x="1470025" y="990600"/>
            <a:ext cx="1905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3" name="Line 5"/>
          <p:cNvSpPr>
            <a:spLocks noChangeShapeType="1"/>
          </p:cNvSpPr>
          <p:nvPr/>
        </p:nvSpPr>
        <p:spPr bwMode="auto">
          <a:xfrm>
            <a:off x="2460625" y="16764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4" name="Line 6"/>
          <p:cNvSpPr>
            <a:spLocks noChangeShapeType="1"/>
          </p:cNvSpPr>
          <p:nvPr/>
        </p:nvSpPr>
        <p:spPr bwMode="auto">
          <a:xfrm flipV="1">
            <a:off x="2460625" y="16764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5" name="Line 7"/>
          <p:cNvSpPr>
            <a:spLocks noChangeShapeType="1"/>
          </p:cNvSpPr>
          <p:nvPr/>
        </p:nvSpPr>
        <p:spPr bwMode="auto">
          <a:xfrm flipV="1">
            <a:off x="2460625" y="2590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6" name="Oval 8"/>
          <p:cNvSpPr>
            <a:spLocks noChangeArrowheads="1"/>
          </p:cNvSpPr>
          <p:nvPr/>
        </p:nvSpPr>
        <p:spPr bwMode="auto">
          <a:xfrm>
            <a:off x="1165225" y="19812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V1</a:t>
            </a:r>
          </a:p>
        </p:txBody>
      </p:sp>
      <p:sp>
        <p:nvSpPr>
          <p:cNvPr id="53257" name="Line 9"/>
          <p:cNvSpPr>
            <a:spLocks noChangeShapeType="1"/>
          </p:cNvSpPr>
          <p:nvPr/>
        </p:nvSpPr>
        <p:spPr bwMode="auto">
          <a:xfrm flipV="1">
            <a:off x="1470025" y="2590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8" name="Line 10"/>
          <p:cNvSpPr>
            <a:spLocks noChangeShapeType="1"/>
          </p:cNvSpPr>
          <p:nvPr/>
        </p:nvSpPr>
        <p:spPr bwMode="auto">
          <a:xfrm flipV="1">
            <a:off x="1470025" y="9906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59" name="Line 11"/>
          <p:cNvSpPr>
            <a:spLocks noChangeShapeType="1"/>
          </p:cNvSpPr>
          <p:nvPr/>
        </p:nvSpPr>
        <p:spPr bwMode="auto">
          <a:xfrm>
            <a:off x="2232025" y="2895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0" name="Line 12"/>
          <p:cNvSpPr>
            <a:spLocks noChangeShapeType="1"/>
          </p:cNvSpPr>
          <p:nvPr/>
        </p:nvSpPr>
        <p:spPr bwMode="auto">
          <a:xfrm>
            <a:off x="2308225" y="2971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1" name="Line 13"/>
          <p:cNvSpPr>
            <a:spLocks noChangeShapeType="1"/>
          </p:cNvSpPr>
          <p:nvPr/>
        </p:nvSpPr>
        <p:spPr bwMode="auto">
          <a:xfrm>
            <a:off x="2384425" y="3048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2" name="Line 14"/>
          <p:cNvSpPr>
            <a:spLocks noChangeShapeType="1"/>
          </p:cNvSpPr>
          <p:nvPr/>
        </p:nvSpPr>
        <p:spPr bwMode="auto">
          <a:xfrm>
            <a:off x="1241425" y="2895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3" name="Line 15"/>
          <p:cNvSpPr>
            <a:spLocks noChangeShapeType="1"/>
          </p:cNvSpPr>
          <p:nvPr/>
        </p:nvSpPr>
        <p:spPr bwMode="auto">
          <a:xfrm>
            <a:off x="1317625" y="2971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4" name="Line 16"/>
          <p:cNvSpPr>
            <a:spLocks noChangeShapeType="1"/>
          </p:cNvSpPr>
          <p:nvPr/>
        </p:nvSpPr>
        <p:spPr bwMode="auto">
          <a:xfrm>
            <a:off x="1393825" y="3048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5" name="Line 17"/>
          <p:cNvSpPr>
            <a:spLocks noChangeShapeType="1"/>
          </p:cNvSpPr>
          <p:nvPr/>
        </p:nvSpPr>
        <p:spPr bwMode="auto">
          <a:xfrm>
            <a:off x="5584825" y="13716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66" name="Oval 18"/>
          <p:cNvSpPr>
            <a:spLocks noChangeArrowheads="1"/>
          </p:cNvSpPr>
          <p:nvPr/>
        </p:nvSpPr>
        <p:spPr bwMode="auto">
          <a:xfrm>
            <a:off x="2765425" y="914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3267" name="Oval 19"/>
          <p:cNvSpPr>
            <a:spLocks noChangeArrowheads="1"/>
          </p:cNvSpPr>
          <p:nvPr/>
        </p:nvSpPr>
        <p:spPr bwMode="auto">
          <a:xfrm>
            <a:off x="2765425" y="1600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3268" name="Oval 20"/>
          <p:cNvSpPr>
            <a:spLocks noChangeArrowheads="1"/>
          </p:cNvSpPr>
          <p:nvPr/>
        </p:nvSpPr>
        <p:spPr bwMode="auto">
          <a:xfrm>
            <a:off x="6423025" y="1295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3269" name="Line 21"/>
          <p:cNvSpPr>
            <a:spLocks noChangeShapeType="1"/>
          </p:cNvSpPr>
          <p:nvPr/>
        </p:nvSpPr>
        <p:spPr bwMode="auto">
          <a:xfrm flipV="1">
            <a:off x="2841625" y="1066800"/>
            <a:ext cx="0" cy="53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3270" name="Text Box 22"/>
          <p:cNvSpPr txBox="1">
            <a:spLocks noChangeArrowheads="1"/>
          </p:cNvSpPr>
          <p:nvPr/>
        </p:nvSpPr>
        <p:spPr bwMode="auto">
          <a:xfrm>
            <a:off x="2765425" y="1157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Vd</a:t>
            </a:r>
          </a:p>
        </p:txBody>
      </p:sp>
      <p:sp>
        <p:nvSpPr>
          <p:cNvPr id="53271" name="Line 23"/>
          <p:cNvSpPr>
            <a:spLocks noChangeShapeType="1"/>
          </p:cNvSpPr>
          <p:nvPr/>
        </p:nvSpPr>
        <p:spPr bwMode="auto">
          <a:xfrm flipV="1">
            <a:off x="6499225" y="21336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2" name="Line 24"/>
          <p:cNvSpPr>
            <a:spLocks noChangeShapeType="1"/>
          </p:cNvSpPr>
          <p:nvPr/>
        </p:nvSpPr>
        <p:spPr bwMode="auto">
          <a:xfrm>
            <a:off x="6270625" y="24384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3" name="Line 25"/>
          <p:cNvSpPr>
            <a:spLocks noChangeShapeType="1"/>
          </p:cNvSpPr>
          <p:nvPr/>
        </p:nvSpPr>
        <p:spPr bwMode="auto">
          <a:xfrm>
            <a:off x="6346825" y="25146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4" name="Line 26"/>
          <p:cNvSpPr>
            <a:spLocks noChangeShapeType="1"/>
          </p:cNvSpPr>
          <p:nvPr/>
        </p:nvSpPr>
        <p:spPr bwMode="auto">
          <a:xfrm>
            <a:off x="6423025" y="25908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5" name="Oval 27"/>
          <p:cNvSpPr>
            <a:spLocks noChangeArrowheads="1"/>
          </p:cNvSpPr>
          <p:nvPr/>
        </p:nvSpPr>
        <p:spPr bwMode="auto">
          <a:xfrm>
            <a:off x="6423025" y="1981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3276" name="Line 28"/>
          <p:cNvSpPr>
            <a:spLocks noChangeShapeType="1"/>
          </p:cNvSpPr>
          <p:nvPr/>
        </p:nvSpPr>
        <p:spPr bwMode="auto">
          <a:xfrm>
            <a:off x="6575425" y="13716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7" name="Line 29"/>
          <p:cNvSpPr>
            <a:spLocks noChangeShapeType="1"/>
          </p:cNvSpPr>
          <p:nvPr/>
        </p:nvSpPr>
        <p:spPr bwMode="auto">
          <a:xfrm>
            <a:off x="6575425" y="20574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3278" name="Line 30"/>
          <p:cNvSpPr>
            <a:spLocks noChangeShapeType="1"/>
          </p:cNvSpPr>
          <p:nvPr/>
        </p:nvSpPr>
        <p:spPr bwMode="auto">
          <a:xfrm flipV="1">
            <a:off x="6727825" y="13716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3279" name="Line 31"/>
          <p:cNvSpPr>
            <a:spLocks noChangeShapeType="1"/>
          </p:cNvSpPr>
          <p:nvPr/>
        </p:nvSpPr>
        <p:spPr bwMode="auto">
          <a:xfrm>
            <a:off x="6727825" y="18288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3280" name="Text Box 32"/>
          <p:cNvSpPr txBox="1">
            <a:spLocks noChangeArrowheads="1"/>
          </p:cNvSpPr>
          <p:nvPr/>
        </p:nvSpPr>
        <p:spPr bwMode="auto">
          <a:xfrm>
            <a:off x="6711950" y="1484313"/>
            <a:ext cx="15494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Vo = V1 – V2</a:t>
            </a:r>
          </a:p>
        </p:txBody>
      </p:sp>
      <p:sp>
        <p:nvSpPr>
          <p:cNvPr id="53281" name="Text Box 33"/>
          <p:cNvSpPr txBox="1">
            <a:spLocks noChangeArrowheads="1"/>
          </p:cNvSpPr>
          <p:nvPr/>
        </p:nvSpPr>
        <p:spPr bwMode="auto">
          <a:xfrm>
            <a:off x="2216150" y="1636713"/>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3282" name="Text Box 34"/>
          <p:cNvSpPr txBox="1">
            <a:spLocks noChangeArrowheads="1"/>
          </p:cNvSpPr>
          <p:nvPr/>
        </p:nvSpPr>
        <p:spPr bwMode="auto">
          <a:xfrm>
            <a:off x="1393825" y="1600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3283" name="Text Box 35"/>
          <p:cNvSpPr txBox="1">
            <a:spLocks noChangeArrowheads="1"/>
          </p:cNvSpPr>
          <p:nvPr/>
        </p:nvSpPr>
        <p:spPr bwMode="auto">
          <a:xfrm>
            <a:off x="2216150" y="24749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3284" name="Text Box 36"/>
          <p:cNvSpPr txBox="1">
            <a:spLocks noChangeArrowheads="1"/>
          </p:cNvSpPr>
          <p:nvPr/>
        </p:nvSpPr>
        <p:spPr bwMode="auto">
          <a:xfrm>
            <a:off x="1438275" y="2438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38949" name="Rectangle 37"/>
          <p:cNvSpPr>
            <a:spLocks noGrp="1" noChangeArrowheads="1"/>
          </p:cNvSpPr>
          <p:nvPr>
            <p:ph sz="quarter" idx="1"/>
          </p:nvPr>
        </p:nvSpPr>
        <p:spPr>
          <a:xfrm>
            <a:off x="457200" y="3276600"/>
            <a:ext cx="8229600" cy="3276600"/>
          </a:xfrm>
        </p:spPr>
        <p:txBody>
          <a:bodyPr rtlCol="0">
            <a:normAutofit lnSpcReduction="10000"/>
          </a:bodyPr>
          <a:lstStyle/>
          <a:p>
            <a:pPr fontAlgn="auto">
              <a:spcBef>
                <a:spcPct val="0"/>
              </a:spcBef>
              <a:spcAft>
                <a:spcPts val="0"/>
              </a:spcAft>
              <a:buFontTx/>
              <a:buNone/>
              <a:defRPr/>
            </a:pPr>
            <a:r>
              <a:rPr lang="en-US" sz="2400" b="1" dirty="0">
                <a:solidFill>
                  <a:srgbClr val="000099"/>
                </a:solidFill>
                <a:cs typeface="Times New Roman" pitchFamily="18" charset="0"/>
              </a:rPr>
              <a:t>Differential gain -</a:t>
            </a:r>
          </a:p>
          <a:p>
            <a:pPr fontAlgn="auto">
              <a:spcBef>
                <a:spcPct val="0"/>
              </a:spcBef>
              <a:spcAft>
                <a:spcPts val="0"/>
              </a:spcAft>
              <a:buFontTx/>
              <a:buNone/>
              <a:defRPr/>
            </a:pPr>
            <a:endParaRPr lang="en-US" sz="2400" b="1" dirty="0">
              <a:solidFill>
                <a:srgbClr val="000099"/>
              </a:solidFill>
              <a:cs typeface="Times New Roman" pitchFamily="18" charset="0"/>
            </a:endParaRPr>
          </a:p>
          <a:p>
            <a:pPr algn="just" fontAlgn="auto">
              <a:spcBef>
                <a:spcPct val="0"/>
              </a:spcBef>
              <a:spcAft>
                <a:spcPts val="0"/>
              </a:spcAft>
              <a:defRPr/>
            </a:pPr>
            <a:r>
              <a:rPr lang="en-US" sz="2400" dirty="0">
                <a:cs typeface="Times New Roman" pitchFamily="18" charset="0"/>
              </a:rPr>
              <a:t>Vo = Ad ( V1 – V2 )</a:t>
            </a:r>
          </a:p>
          <a:p>
            <a:pPr marL="0" indent="0" algn="just" fontAlgn="auto">
              <a:spcBef>
                <a:spcPct val="0"/>
              </a:spcBef>
              <a:spcAft>
                <a:spcPts val="0"/>
              </a:spcAft>
              <a:buFont typeface="Arial" pitchFamily="34" charset="0"/>
              <a:buNone/>
              <a:defRPr/>
            </a:pPr>
            <a:r>
              <a:rPr lang="en-US" sz="2400" dirty="0">
                <a:cs typeface="Times New Roman" pitchFamily="18" charset="0"/>
              </a:rPr>
              <a:t>	Where Ad is called as the differential gain.</a:t>
            </a:r>
          </a:p>
          <a:p>
            <a:pPr algn="just" fontAlgn="auto">
              <a:spcBef>
                <a:spcPct val="0"/>
              </a:spcBef>
              <a:spcAft>
                <a:spcPts val="0"/>
              </a:spcAft>
              <a:defRPr/>
            </a:pPr>
            <a:r>
              <a:rPr lang="en-US" sz="2400" dirty="0">
                <a:cs typeface="Times New Roman" pitchFamily="18" charset="0"/>
              </a:rPr>
              <a:t>The differential gain can be defined as the gain with which the differential amplifier amplifies the differential signal.</a:t>
            </a:r>
          </a:p>
          <a:p>
            <a:pPr marL="0" indent="0" algn="just" fontAlgn="auto">
              <a:spcBef>
                <a:spcPct val="0"/>
              </a:spcBef>
              <a:spcAft>
                <a:spcPts val="0"/>
              </a:spcAft>
              <a:buFont typeface="Arial" pitchFamily="34" charset="0"/>
              <a:buNone/>
              <a:defRPr/>
            </a:pPr>
            <a:r>
              <a:rPr lang="en-US" sz="2400" dirty="0">
                <a:cs typeface="Times New Roman" pitchFamily="18" charset="0"/>
              </a:rPr>
              <a:t>	Vo = Ad </a:t>
            </a:r>
            <a:r>
              <a:rPr lang="en-US" sz="2400" dirty="0" err="1">
                <a:cs typeface="Times New Roman" pitchFamily="18" charset="0"/>
              </a:rPr>
              <a:t>Vd</a:t>
            </a:r>
            <a:r>
              <a:rPr lang="en-US" sz="2400" dirty="0">
                <a:cs typeface="Times New Roman" pitchFamily="18" charset="0"/>
              </a:rPr>
              <a:t>                             as </a:t>
            </a:r>
            <a:r>
              <a:rPr lang="en-US" sz="2400" dirty="0" err="1">
                <a:cs typeface="Times New Roman" pitchFamily="18" charset="0"/>
              </a:rPr>
              <a:t>Vd</a:t>
            </a:r>
            <a:r>
              <a:rPr lang="en-US" sz="2400" dirty="0">
                <a:cs typeface="Times New Roman" pitchFamily="18" charset="0"/>
              </a:rPr>
              <a:t> = V1 – V2</a:t>
            </a:r>
          </a:p>
          <a:p>
            <a:pPr marL="0" indent="0" algn="just" fontAlgn="auto">
              <a:spcBef>
                <a:spcPct val="0"/>
              </a:spcBef>
              <a:spcAft>
                <a:spcPts val="0"/>
              </a:spcAft>
              <a:buFont typeface="Arial" pitchFamily="34" charset="0"/>
              <a:buNone/>
              <a:defRPr/>
            </a:pPr>
            <a:r>
              <a:rPr lang="en-US" sz="2400" dirty="0">
                <a:cs typeface="Times New Roman" pitchFamily="18" charset="0"/>
              </a:rPr>
              <a:t>	Gain     Ad = Vo / </a:t>
            </a:r>
            <a:r>
              <a:rPr lang="en-US" sz="2400" dirty="0" err="1">
                <a:cs typeface="Times New Roman" pitchFamily="18" charset="0"/>
              </a:rPr>
              <a:t>Vd</a:t>
            </a:r>
            <a:endParaRPr lang="en-US" sz="2400" dirty="0">
              <a:cs typeface="Times New Roman" pitchFamily="18" charset="0"/>
            </a:endParaRPr>
          </a:p>
          <a:p>
            <a:pPr marL="0" indent="0" algn="just" fontAlgn="auto">
              <a:spcBef>
                <a:spcPct val="0"/>
              </a:spcBef>
              <a:spcAft>
                <a:spcPts val="0"/>
              </a:spcAft>
              <a:buFont typeface="Arial" pitchFamily="34" charset="0"/>
              <a:buNone/>
              <a:defRPr/>
            </a:pPr>
            <a:r>
              <a:rPr lang="en-US" sz="2400" dirty="0">
                <a:cs typeface="Times New Roman" pitchFamily="18" charset="0"/>
              </a:rPr>
              <a:t>	Ad (dB) =10 log</a:t>
            </a:r>
            <a:r>
              <a:rPr lang="en-US" sz="2400" baseline="-20000" dirty="0">
                <a:cs typeface="Times New Roman" pitchFamily="18" charset="0"/>
              </a:rPr>
              <a:t>10</a:t>
            </a:r>
            <a:r>
              <a:rPr lang="en-US" sz="2400" dirty="0">
                <a:cs typeface="Times New Roman" pitchFamily="18" charset="0"/>
              </a:rPr>
              <a:t> [ Vo / </a:t>
            </a:r>
            <a:r>
              <a:rPr lang="en-US" sz="2400" dirty="0" err="1">
                <a:cs typeface="Times New Roman" pitchFamily="18" charset="0"/>
              </a:rPr>
              <a:t>Vd</a:t>
            </a:r>
            <a:r>
              <a:rPr lang="en-US" sz="2400" dirty="0">
                <a:cs typeface="Times New Roman" pitchFamily="18" charset="0"/>
              </a:rPr>
              <a:t> ]</a:t>
            </a:r>
          </a:p>
        </p:txBody>
      </p:sp>
      <p:sp>
        <p:nvSpPr>
          <p:cNvPr id="3" name="Slide Number Placeholder 2"/>
          <p:cNvSpPr>
            <a:spLocks noGrp="1"/>
          </p:cNvSpPr>
          <p:nvPr>
            <p:ph type="sldNum" sz="quarter" idx="12"/>
          </p:nvPr>
        </p:nvSpPr>
        <p:spPr/>
        <p:txBody>
          <a:bodyPr/>
          <a:lstStyle/>
          <a:p>
            <a:pPr>
              <a:defRPr/>
            </a:pPr>
            <a:fld id="{8A9234C0-617E-4FCA-9E0D-26539D8906B3}" type="slidenum">
              <a:rPr lang="en-US"/>
              <a:pPr>
                <a:defRPr/>
              </a:pPr>
              <a:t>25</a:t>
            </a:fld>
            <a:endParaRPr lang="en-US"/>
          </a:p>
        </p:txBody>
      </p:sp>
    </p:spTree>
    <p:extLst>
      <p:ext uri="{BB962C8B-B14F-4D97-AF65-F5344CB8AC3E}">
        <p14:creationId xmlns:p14="http://schemas.microsoft.com/office/powerpoint/2010/main" xmlns="" val="1688489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375025" y="685800"/>
            <a:ext cx="2209800" cy="1371600"/>
          </a:xfrm>
          <a:prstGeom prst="rect">
            <a:avLst/>
          </a:prstGeom>
          <a:gradFill rotWithShape="1">
            <a:gsLst>
              <a:gs pos="0">
                <a:schemeClr val="bg1"/>
              </a:gs>
              <a:gs pos="100000">
                <a:srgbClr val="FF33CC"/>
              </a:gs>
            </a:gsLst>
            <a:lin ang="5400000" scaled="1"/>
          </a:gradFill>
          <a:ln w="9525">
            <a:solidFill>
              <a:schemeClr val="tx1"/>
            </a:solidFill>
            <a:miter lim="800000"/>
            <a:headEnd/>
            <a:tailEnd/>
          </a:ln>
        </p:spPr>
        <p:txBody>
          <a:bodyPr wrap="none" anchor="ctr"/>
          <a:lstStyle/>
          <a:p>
            <a:pPr algn="ctr"/>
            <a:r>
              <a:rPr lang="en-US"/>
              <a:t>Ideal </a:t>
            </a:r>
          </a:p>
          <a:p>
            <a:pPr algn="ctr"/>
            <a:r>
              <a:rPr lang="en-US"/>
              <a:t>Differential</a:t>
            </a:r>
          </a:p>
          <a:p>
            <a:pPr algn="ctr"/>
            <a:r>
              <a:rPr lang="en-US"/>
              <a:t>Amplifier </a:t>
            </a:r>
          </a:p>
        </p:txBody>
      </p:sp>
      <p:sp>
        <p:nvSpPr>
          <p:cNvPr id="54275" name="Oval 3"/>
          <p:cNvSpPr>
            <a:spLocks noChangeArrowheads="1"/>
          </p:cNvSpPr>
          <p:nvPr/>
        </p:nvSpPr>
        <p:spPr bwMode="auto">
          <a:xfrm>
            <a:off x="2155825" y="19812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V2</a:t>
            </a:r>
          </a:p>
        </p:txBody>
      </p:sp>
      <p:sp>
        <p:nvSpPr>
          <p:cNvPr id="54276" name="Line 4"/>
          <p:cNvSpPr>
            <a:spLocks noChangeShapeType="1"/>
          </p:cNvSpPr>
          <p:nvPr/>
        </p:nvSpPr>
        <p:spPr bwMode="auto">
          <a:xfrm>
            <a:off x="1470025" y="990600"/>
            <a:ext cx="1905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77" name="Line 5"/>
          <p:cNvSpPr>
            <a:spLocks noChangeShapeType="1"/>
          </p:cNvSpPr>
          <p:nvPr/>
        </p:nvSpPr>
        <p:spPr bwMode="auto">
          <a:xfrm>
            <a:off x="2460625" y="16764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78" name="Line 6"/>
          <p:cNvSpPr>
            <a:spLocks noChangeShapeType="1"/>
          </p:cNvSpPr>
          <p:nvPr/>
        </p:nvSpPr>
        <p:spPr bwMode="auto">
          <a:xfrm flipV="1">
            <a:off x="2460625" y="16764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79" name="Line 7"/>
          <p:cNvSpPr>
            <a:spLocks noChangeShapeType="1"/>
          </p:cNvSpPr>
          <p:nvPr/>
        </p:nvSpPr>
        <p:spPr bwMode="auto">
          <a:xfrm flipV="1">
            <a:off x="2460625" y="2590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0" name="Oval 8"/>
          <p:cNvSpPr>
            <a:spLocks noChangeArrowheads="1"/>
          </p:cNvSpPr>
          <p:nvPr/>
        </p:nvSpPr>
        <p:spPr bwMode="auto">
          <a:xfrm>
            <a:off x="1165225" y="19812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V1</a:t>
            </a:r>
          </a:p>
        </p:txBody>
      </p:sp>
      <p:sp>
        <p:nvSpPr>
          <p:cNvPr id="54281" name="Line 9"/>
          <p:cNvSpPr>
            <a:spLocks noChangeShapeType="1"/>
          </p:cNvSpPr>
          <p:nvPr/>
        </p:nvSpPr>
        <p:spPr bwMode="auto">
          <a:xfrm flipV="1">
            <a:off x="1470025" y="2590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2" name="Line 10"/>
          <p:cNvSpPr>
            <a:spLocks noChangeShapeType="1"/>
          </p:cNvSpPr>
          <p:nvPr/>
        </p:nvSpPr>
        <p:spPr bwMode="auto">
          <a:xfrm flipV="1">
            <a:off x="1470025" y="9906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3" name="Line 11"/>
          <p:cNvSpPr>
            <a:spLocks noChangeShapeType="1"/>
          </p:cNvSpPr>
          <p:nvPr/>
        </p:nvSpPr>
        <p:spPr bwMode="auto">
          <a:xfrm>
            <a:off x="2232025" y="2895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4" name="Line 12"/>
          <p:cNvSpPr>
            <a:spLocks noChangeShapeType="1"/>
          </p:cNvSpPr>
          <p:nvPr/>
        </p:nvSpPr>
        <p:spPr bwMode="auto">
          <a:xfrm>
            <a:off x="2308225" y="2971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5" name="Line 13"/>
          <p:cNvSpPr>
            <a:spLocks noChangeShapeType="1"/>
          </p:cNvSpPr>
          <p:nvPr/>
        </p:nvSpPr>
        <p:spPr bwMode="auto">
          <a:xfrm>
            <a:off x="2384425" y="3048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6" name="Line 14"/>
          <p:cNvSpPr>
            <a:spLocks noChangeShapeType="1"/>
          </p:cNvSpPr>
          <p:nvPr/>
        </p:nvSpPr>
        <p:spPr bwMode="auto">
          <a:xfrm>
            <a:off x="1241425" y="2895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7" name="Line 15"/>
          <p:cNvSpPr>
            <a:spLocks noChangeShapeType="1"/>
          </p:cNvSpPr>
          <p:nvPr/>
        </p:nvSpPr>
        <p:spPr bwMode="auto">
          <a:xfrm>
            <a:off x="1317625" y="2971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8" name="Line 16"/>
          <p:cNvSpPr>
            <a:spLocks noChangeShapeType="1"/>
          </p:cNvSpPr>
          <p:nvPr/>
        </p:nvSpPr>
        <p:spPr bwMode="auto">
          <a:xfrm>
            <a:off x="1393825" y="3048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89" name="Line 17"/>
          <p:cNvSpPr>
            <a:spLocks noChangeShapeType="1"/>
          </p:cNvSpPr>
          <p:nvPr/>
        </p:nvSpPr>
        <p:spPr bwMode="auto">
          <a:xfrm>
            <a:off x="5584825" y="13716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90" name="Oval 18"/>
          <p:cNvSpPr>
            <a:spLocks noChangeArrowheads="1"/>
          </p:cNvSpPr>
          <p:nvPr/>
        </p:nvSpPr>
        <p:spPr bwMode="auto">
          <a:xfrm>
            <a:off x="2765425" y="914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4291" name="Oval 19"/>
          <p:cNvSpPr>
            <a:spLocks noChangeArrowheads="1"/>
          </p:cNvSpPr>
          <p:nvPr/>
        </p:nvSpPr>
        <p:spPr bwMode="auto">
          <a:xfrm>
            <a:off x="2765425" y="1600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4292" name="Oval 20"/>
          <p:cNvSpPr>
            <a:spLocks noChangeArrowheads="1"/>
          </p:cNvSpPr>
          <p:nvPr/>
        </p:nvSpPr>
        <p:spPr bwMode="auto">
          <a:xfrm>
            <a:off x="6423025" y="1295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4293" name="Line 21"/>
          <p:cNvSpPr>
            <a:spLocks noChangeShapeType="1"/>
          </p:cNvSpPr>
          <p:nvPr/>
        </p:nvSpPr>
        <p:spPr bwMode="auto">
          <a:xfrm flipV="1">
            <a:off x="2841625" y="1066800"/>
            <a:ext cx="0" cy="53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4294" name="Text Box 22"/>
          <p:cNvSpPr txBox="1">
            <a:spLocks noChangeArrowheads="1"/>
          </p:cNvSpPr>
          <p:nvPr/>
        </p:nvSpPr>
        <p:spPr bwMode="auto">
          <a:xfrm>
            <a:off x="2765425" y="1157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Vd</a:t>
            </a:r>
          </a:p>
        </p:txBody>
      </p:sp>
      <p:sp>
        <p:nvSpPr>
          <p:cNvPr id="54295" name="Line 23"/>
          <p:cNvSpPr>
            <a:spLocks noChangeShapeType="1"/>
          </p:cNvSpPr>
          <p:nvPr/>
        </p:nvSpPr>
        <p:spPr bwMode="auto">
          <a:xfrm flipV="1">
            <a:off x="6499225" y="21336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96" name="Line 24"/>
          <p:cNvSpPr>
            <a:spLocks noChangeShapeType="1"/>
          </p:cNvSpPr>
          <p:nvPr/>
        </p:nvSpPr>
        <p:spPr bwMode="auto">
          <a:xfrm>
            <a:off x="6270625" y="24384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97" name="Line 25"/>
          <p:cNvSpPr>
            <a:spLocks noChangeShapeType="1"/>
          </p:cNvSpPr>
          <p:nvPr/>
        </p:nvSpPr>
        <p:spPr bwMode="auto">
          <a:xfrm>
            <a:off x="6346825" y="25146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98" name="Line 26"/>
          <p:cNvSpPr>
            <a:spLocks noChangeShapeType="1"/>
          </p:cNvSpPr>
          <p:nvPr/>
        </p:nvSpPr>
        <p:spPr bwMode="auto">
          <a:xfrm>
            <a:off x="6423025" y="25908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299" name="Oval 27"/>
          <p:cNvSpPr>
            <a:spLocks noChangeArrowheads="1"/>
          </p:cNvSpPr>
          <p:nvPr/>
        </p:nvSpPr>
        <p:spPr bwMode="auto">
          <a:xfrm>
            <a:off x="6423025" y="1981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4300" name="Line 28"/>
          <p:cNvSpPr>
            <a:spLocks noChangeShapeType="1"/>
          </p:cNvSpPr>
          <p:nvPr/>
        </p:nvSpPr>
        <p:spPr bwMode="auto">
          <a:xfrm>
            <a:off x="6575425" y="13716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301" name="Line 29"/>
          <p:cNvSpPr>
            <a:spLocks noChangeShapeType="1"/>
          </p:cNvSpPr>
          <p:nvPr/>
        </p:nvSpPr>
        <p:spPr bwMode="auto">
          <a:xfrm>
            <a:off x="6575425" y="20574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4302" name="Line 30"/>
          <p:cNvSpPr>
            <a:spLocks noChangeShapeType="1"/>
          </p:cNvSpPr>
          <p:nvPr/>
        </p:nvSpPr>
        <p:spPr bwMode="auto">
          <a:xfrm flipV="1">
            <a:off x="6727825" y="13716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4303" name="Line 31"/>
          <p:cNvSpPr>
            <a:spLocks noChangeShapeType="1"/>
          </p:cNvSpPr>
          <p:nvPr/>
        </p:nvSpPr>
        <p:spPr bwMode="auto">
          <a:xfrm>
            <a:off x="6727825" y="18288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4304" name="Text Box 32"/>
          <p:cNvSpPr txBox="1">
            <a:spLocks noChangeArrowheads="1"/>
          </p:cNvSpPr>
          <p:nvPr/>
        </p:nvSpPr>
        <p:spPr bwMode="auto">
          <a:xfrm>
            <a:off x="6711950" y="1484313"/>
            <a:ext cx="15494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Vo = V1 – V2</a:t>
            </a:r>
          </a:p>
        </p:txBody>
      </p:sp>
      <p:sp>
        <p:nvSpPr>
          <p:cNvPr id="54305" name="Text Box 33"/>
          <p:cNvSpPr txBox="1">
            <a:spLocks noChangeArrowheads="1"/>
          </p:cNvSpPr>
          <p:nvPr/>
        </p:nvSpPr>
        <p:spPr bwMode="auto">
          <a:xfrm>
            <a:off x="2216150" y="1636713"/>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4306" name="Text Box 34"/>
          <p:cNvSpPr txBox="1">
            <a:spLocks noChangeArrowheads="1"/>
          </p:cNvSpPr>
          <p:nvPr/>
        </p:nvSpPr>
        <p:spPr bwMode="auto">
          <a:xfrm>
            <a:off x="1393825" y="1600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4307" name="Text Box 35"/>
          <p:cNvSpPr txBox="1">
            <a:spLocks noChangeArrowheads="1"/>
          </p:cNvSpPr>
          <p:nvPr/>
        </p:nvSpPr>
        <p:spPr bwMode="auto">
          <a:xfrm>
            <a:off x="2216150" y="24749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4308" name="Text Box 36"/>
          <p:cNvSpPr txBox="1">
            <a:spLocks noChangeArrowheads="1"/>
          </p:cNvSpPr>
          <p:nvPr/>
        </p:nvSpPr>
        <p:spPr bwMode="auto">
          <a:xfrm>
            <a:off x="1438275" y="2438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4309" name="Rectangle 37"/>
          <p:cNvSpPr>
            <a:spLocks noGrp="1" noChangeArrowheads="1"/>
          </p:cNvSpPr>
          <p:nvPr>
            <p:ph sz="quarter" idx="1"/>
          </p:nvPr>
        </p:nvSpPr>
        <p:spPr>
          <a:xfrm>
            <a:off x="457200" y="3352800"/>
            <a:ext cx="8229600" cy="2667000"/>
          </a:xfrm>
        </p:spPr>
        <p:txBody>
          <a:bodyPr/>
          <a:lstStyle/>
          <a:p>
            <a:pPr>
              <a:spcBef>
                <a:spcPct val="0"/>
              </a:spcBef>
              <a:buFontTx/>
              <a:buNone/>
            </a:pPr>
            <a:r>
              <a:rPr lang="en-US" sz="2400" b="1">
                <a:solidFill>
                  <a:srgbClr val="000099"/>
                </a:solidFill>
                <a:cs typeface="Times New Roman" pitchFamily="18" charset="0"/>
              </a:rPr>
              <a:t>Common mode signal </a:t>
            </a:r>
          </a:p>
          <a:p>
            <a:pPr>
              <a:spcBef>
                <a:spcPct val="0"/>
              </a:spcBef>
            </a:pPr>
            <a:endParaRPr lang="en-US" sz="2400">
              <a:solidFill>
                <a:srgbClr val="000099"/>
              </a:solidFill>
              <a:cs typeface="Times New Roman" pitchFamily="18" charset="0"/>
            </a:endParaRPr>
          </a:p>
          <a:p>
            <a:pPr>
              <a:spcBef>
                <a:spcPct val="0"/>
              </a:spcBef>
            </a:pPr>
            <a:r>
              <a:rPr lang="en-US" sz="2400">
                <a:cs typeface="Times New Roman" pitchFamily="18" charset="0"/>
              </a:rPr>
              <a:t>A common signal to both the input terminals ( i.e. V1=V2=V) is called as common mode signal.</a:t>
            </a:r>
          </a:p>
          <a:p>
            <a:pPr>
              <a:spcBef>
                <a:spcPct val="0"/>
              </a:spcBef>
            </a:pPr>
            <a:endParaRPr lang="en-US" sz="2400">
              <a:cs typeface="Times New Roman" pitchFamily="18" charset="0"/>
            </a:endParaRPr>
          </a:p>
          <a:p>
            <a:pPr>
              <a:spcBef>
                <a:spcPct val="0"/>
              </a:spcBef>
            </a:pPr>
            <a:r>
              <a:rPr lang="en-US" sz="2400">
                <a:cs typeface="Times New Roman" pitchFamily="18" charset="0"/>
              </a:rPr>
              <a:t>The output voltage produced by an ideal differential amplifier is zero for the common mode signal.</a:t>
            </a:r>
          </a:p>
        </p:txBody>
      </p:sp>
      <p:sp>
        <p:nvSpPr>
          <p:cNvPr id="3" name="Slide Number Placeholder 2"/>
          <p:cNvSpPr>
            <a:spLocks noGrp="1"/>
          </p:cNvSpPr>
          <p:nvPr>
            <p:ph type="sldNum" sz="quarter" idx="12"/>
          </p:nvPr>
        </p:nvSpPr>
        <p:spPr/>
        <p:txBody>
          <a:bodyPr/>
          <a:lstStyle/>
          <a:p>
            <a:pPr>
              <a:defRPr/>
            </a:pPr>
            <a:fld id="{39C0E935-FC81-44D1-9EA3-3085FE114B60}" type="slidenum">
              <a:rPr lang="en-US"/>
              <a:pPr>
                <a:defRPr/>
              </a:pPr>
              <a:t>26</a:t>
            </a:fld>
            <a:endParaRPr lang="en-US"/>
          </a:p>
        </p:txBody>
      </p:sp>
    </p:spTree>
    <p:extLst>
      <p:ext uri="{BB962C8B-B14F-4D97-AF65-F5344CB8AC3E}">
        <p14:creationId xmlns:p14="http://schemas.microsoft.com/office/powerpoint/2010/main" xmlns="" val="444006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52400" y="304800"/>
            <a:ext cx="8229600" cy="457200"/>
          </a:xfrm>
        </p:spPr>
        <p:txBody>
          <a:bodyPr rtlCol="0">
            <a:normAutofit fontScale="90000"/>
          </a:bodyPr>
          <a:lstStyle/>
          <a:p>
            <a:pPr fontAlgn="auto">
              <a:spcAft>
                <a:spcPts val="0"/>
              </a:spcAft>
              <a:defRPr/>
            </a:pPr>
            <a:r>
              <a:rPr lang="en-US" sz="3200" b="1">
                <a:solidFill>
                  <a:srgbClr val="000099"/>
                </a:solidFill>
                <a:latin typeface="Times New Roman" pitchFamily="18" charset="0"/>
                <a:cs typeface="Times New Roman" pitchFamily="18" charset="0"/>
              </a:rPr>
              <a:t>Block diagram of a typical OP-AMP</a:t>
            </a:r>
          </a:p>
        </p:txBody>
      </p:sp>
      <p:sp>
        <p:nvSpPr>
          <p:cNvPr id="211971" name="Rectangle 3"/>
          <p:cNvSpPr>
            <a:spLocks noChangeArrowheads="1"/>
          </p:cNvSpPr>
          <p:nvPr/>
        </p:nvSpPr>
        <p:spPr bwMode="auto">
          <a:xfrm>
            <a:off x="1600200" y="1235075"/>
            <a:ext cx="1371600" cy="1066800"/>
          </a:xfrm>
          <a:prstGeom prst="rect">
            <a:avLst/>
          </a:prstGeom>
          <a:noFill/>
          <a:ln w="9525" algn="ctr">
            <a:solidFill>
              <a:schemeClr val="tx1"/>
            </a:solidFill>
            <a:miter lim="800000"/>
            <a:headEnd/>
            <a:tailEnd/>
          </a:ln>
          <a:effectLst/>
        </p:spPr>
        <p:txBody>
          <a:bodyPr wrap="none" anchor="ctr"/>
          <a:lstStyle/>
          <a:p>
            <a:pPr marL="342900" indent="-342900" algn="ctr" fontAlgn="auto">
              <a:spcBef>
                <a:spcPts val="0"/>
              </a:spcBef>
              <a:spcAft>
                <a:spcPts val="0"/>
              </a:spcAft>
              <a:defRPr/>
            </a:pPr>
            <a:r>
              <a:rPr lang="en-US" dirty="0">
                <a:latin typeface="Arial" charset="0"/>
                <a:cs typeface="+mn-cs"/>
              </a:rPr>
              <a:t>Input</a:t>
            </a:r>
          </a:p>
          <a:p>
            <a:pPr marL="342900" indent="-342900" algn="ctr" fontAlgn="auto">
              <a:spcBef>
                <a:spcPts val="0"/>
              </a:spcBef>
              <a:spcAft>
                <a:spcPts val="0"/>
              </a:spcAft>
              <a:defRPr/>
            </a:pPr>
            <a:r>
              <a:rPr lang="en-US" dirty="0">
                <a:latin typeface="Arial" charset="0"/>
                <a:cs typeface="+mn-cs"/>
              </a:rPr>
              <a:t>Stage  </a:t>
            </a:r>
          </a:p>
        </p:txBody>
      </p:sp>
      <p:sp>
        <p:nvSpPr>
          <p:cNvPr id="211972" name="Rectangle 4"/>
          <p:cNvSpPr>
            <a:spLocks noChangeArrowheads="1"/>
          </p:cNvSpPr>
          <p:nvPr/>
        </p:nvSpPr>
        <p:spPr bwMode="auto">
          <a:xfrm>
            <a:off x="3352800" y="1235075"/>
            <a:ext cx="1447800" cy="1066800"/>
          </a:xfrm>
          <a:prstGeom prst="rect">
            <a:avLst/>
          </a:prstGeom>
          <a:noFill/>
          <a:ln w="9525" algn="ctr">
            <a:solidFill>
              <a:schemeClr val="tx1"/>
            </a:solidFill>
            <a:miter lim="800000"/>
            <a:headEnd/>
            <a:tailEnd/>
          </a:ln>
          <a:effectLst/>
        </p:spPr>
        <p:txBody>
          <a:bodyPr wrap="none" anchor="ctr"/>
          <a:lstStyle/>
          <a:p>
            <a:pPr marL="342900" indent="-342900" algn="ctr" fontAlgn="auto">
              <a:spcBef>
                <a:spcPts val="0"/>
              </a:spcBef>
              <a:spcAft>
                <a:spcPts val="0"/>
              </a:spcAft>
              <a:defRPr/>
            </a:pPr>
            <a:r>
              <a:rPr lang="en-US" dirty="0">
                <a:latin typeface="Arial" charset="0"/>
                <a:cs typeface="+mn-cs"/>
              </a:rPr>
              <a:t>Intermediate</a:t>
            </a:r>
          </a:p>
          <a:p>
            <a:pPr marL="342900" indent="-342900" algn="ctr" fontAlgn="auto">
              <a:spcBef>
                <a:spcPts val="0"/>
              </a:spcBef>
              <a:spcAft>
                <a:spcPts val="0"/>
              </a:spcAft>
              <a:defRPr/>
            </a:pPr>
            <a:r>
              <a:rPr lang="en-US" dirty="0">
                <a:latin typeface="Arial" charset="0"/>
                <a:cs typeface="+mn-cs"/>
              </a:rPr>
              <a:t>stage</a:t>
            </a:r>
          </a:p>
        </p:txBody>
      </p:sp>
      <p:sp>
        <p:nvSpPr>
          <p:cNvPr id="211973" name="Rectangle 5"/>
          <p:cNvSpPr>
            <a:spLocks noChangeArrowheads="1"/>
          </p:cNvSpPr>
          <p:nvPr/>
        </p:nvSpPr>
        <p:spPr bwMode="auto">
          <a:xfrm>
            <a:off x="5181600" y="1235075"/>
            <a:ext cx="1371600" cy="1066800"/>
          </a:xfrm>
          <a:prstGeom prst="rect">
            <a:avLst/>
          </a:prstGeom>
          <a:noFill/>
          <a:ln w="9525" algn="ctr">
            <a:solidFill>
              <a:schemeClr val="tx1"/>
            </a:solidFill>
            <a:miter lim="800000"/>
            <a:headEnd/>
            <a:tailEnd/>
          </a:ln>
          <a:effectLst/>
        </p:spPr>
        <p:txBody>
          <a:bodyPr wrap="none" anchor="ctr"/>
          <a:lstStyle/>
          <a:p>
            <a:pPr marL="342900" indent="-342900" algn="ctr" fontAlgn="auto">
              <a:spcBef>
                <a:spcPts val="0"/>
              </a:spcBef>
              <a:spcAft>
                <a:spcPts val="0"/>
              </a:spcAft>
              <a:defRPr/>
            </a:pPr>
            <a:r>
              <a:rPr lang="en-US" dirty="0">
                <a:latin typeface="Arial" charset="0"/>
                <a:cs typeface="+mn-cs"/>
              </a:rPr>
              <a:t>Level</a:t>
            </a:r>
          </a:p>
          <a:p>
            <a:pPr marL="342900" indent="-342900" algn="ctr" fontAlgn="auto">
              <a:spcBef>
                <a:spcPts val="0"/>
              </a:spcBef>
              <a:spcAft>
                <a:spcPts val="0"/>
              </a:spcAft>
              <a:defRPr/>
            </a:pPr>
            <a:r>
              <a:rPr lang="en-US" dirty="0">
                <a:latin typeface="Arial" charset="0"/>
                <a:cs typeface="+mn-cs"/>
              </a:rPr>
              <a:t> shifting </a:t>
            </a:r>
          </a:p>
          <a:p>
            <a:pPr marL="342900" indent="-342900" algn="ctr" fontAlgn="auto">
              <a:spcBef>
                <a:spcPts val="0"/>
              </a:spcBef>
              <a:spcAft>
                <a:spcPts val="0"/>
              </a:spcAft>
              <a:defRPr/>
            </a:pPr>
            <a:r>
              <a:rPr lang="en-US" dirty="0">
                <a:latin typeface="Arial" charset="0"/>
                <a:cs typeface="+mn-cs"/>
              </a:rPr>
              <a:t>stage</a:t>
            </a:r>
          </a:p>
        </p:txBody>
      </p:sp>
      <p:sp>
        <p:nvSpPr>
          <p:cNvPr id="211974" name="Rectangle 6"/>
          <p:cNvSpPr>
            <a:spLocks noChangeArrowheads="1"/>
          </p:cNvSpPr>
          <p:nvPr/>
        </p:nvSpPr>
        <p:spPr bwMode="auto">
          <a:xfrm>
            <a:off x="6934200" y="1235075"/>
            <a:ext cx="1371600" cy="1066800"/>
          </a:xfrm>
          <a:prstGeom prst="rect">
            <a:avLst/>
          </a:prstGeom>
          <a:noFill/>
          <a:ln w="9525" algn="ctr">
            <a:solidFill>
              <a:schemeClr val="tx1"/>
            </a:solidFill>
            <a:miter lim="800000"/>
            <a:headEnd/>
            <a:tailEnd/>
          </a:ln>
          <a:effectLst/>
        </p:spPr>
        <p:txBody>
          <a:bodyPr wrap="none" anchor="ctr"/>
          <a:lstStyle/>
          <a:p>
            <a:pPr marL="342900" indent="-342900" algn="ctr" fontAlgn="auto">
              <a:spcBef>
                <a:spcPts val="0"/>
              </a:spcBef>
              <a:spcAft>
                <a:spcPts val="0"/>
              </a:spcAft>
              <a:defRPr/>
            </a:pPr>
            <a:r>
              <a:rPr lang="en-US">
                <a:latin typeface="Arial" charset="0"/>
                <a:cs typeface="+mn-cs"/>
              </a:rPr>
              <a:t>Output</a:t>
            </a:r>
          </a:p>
          <a:p>
            <a:pPr marL="342900" indent="-342900" algn="ctr" fontAlgn="auto">
              <a:spcBef>
                <a:spcPts val="0"/>
              </a:spcBef>
              <a:spcAft>
                <a:spcPts val="0"/>
              </a:spcAft>
              <a:defRPr/>
            </a:pPr>
            <a:r>
              <a:rPr lang="en-US">
                <a:latin typeface="Arial" charset="0"/>
                <a:cs typeface="+mn-cs"/>
              </a:rPr>
              <a:t>Stage </a:t>
            </a:r>
          </a:p>
        </p:txBody>
      </p:sp>
      <p:sp>
        <p:nvSpPr>
          <p:cNvPr id="55303" name="Line 7"/>
          <p:cNvSpPr>
            <a:spLocks noChangeShapeType="1"/>
          </p:cNvSpPr>
          <p:nvPr/>
        </p:nvSpPr>
        <p:spPr bwMode="auto">
          <a:xfrm>
            <a:off x="1219200" y="14636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4" name="Line 8"/>
          <p:cNvSpPr>
            <a:spLocks noChangeShapeType="1"/>
          </p:cNvSpPr>
          <p:nvPr/>
        </p:nvSpPr>
        <p:spPr bwMode="auto">
          <a:xfrm>
            <a:off x="1219200" y="20732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5" name="Line 9"/>
          <p:cNvSpPr>
            <a:spLocks noChangeShapeType="1"/>
          </p:cNvSpPr>
          <p:nvPr/>
        </p:nvSpPr>
        <p:spPr bwMode="auto">
          <a:xfrm>
            <a:off x="2971800" y="20732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6" name="Line 10"/>
          <p:cNvSpPr>
            <a:spLocks noChangeShapeType="1"/>
          </p:cNvSpPr>
          <p:nvPr/>
        </p:nvSpPr>
        <p:spPr bwMode="auto">
          <a:xfrm>
            <a:off x="2971800" y="14636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7" name="Line 11"/>
          <p:cNvSpPr>
            <a:spLocks noChangeShapeType="1"/>
          </p:cNvSpPr>
          <p:nvPr/>
        </p:nvSpPr>
        <p:spPr bwMode="auto">
          <a:xfrm>
            <a:off x="4800600" y="17684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8" name="Line 12"/>
          <p:cNvSpPr>
            <a:spLocks noChangeShapeType="1"/>
          </p:cNvSpPr>
          <p:nvPr/>
        </p:nvSpPr>
        <p:spPr bwMode="auto">
          <a:xfrm>
            <a:off x="6553200" y="17684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09" name="Line 13"/>
          <p:cNvSpPr>
            <a:spLocks noChangeShapeType="1"/>
          </p:cNvSpPr>
          <p:nvPr/>
        </p:nvSpPr>
        <p:spPr bwMode="auto">
          <a:xfrm>
            <a:off x="8305800" y="1768475"/>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5310" name="Text Box 14"/>
          <p:cNvSpPr txBox="1">
            <a:spLocks noChangeArrowheads="1"/>
          </p:cNvSpPr>
          <p:nvPr/>
        </p:nvSpPr>
        <p:spPr bwMode="auto">
          <a:xfrm>
            <a:off x="76200" y="1066800"/>
            <a:ext cx="1492250"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Times New Roman" pitchFamily="18" charset="0"/>
                <a:cs typeface="Times New Roman" pitchFamily="18" charset="0"/>
              </a:rPr>
              <a:t>Non-inverting</a:t>
            </a:r>
          </a:p>
          <a:p>
            <a:r>
              <a:rPr lang="en-US">
                <a:latin typeface="Times New Roman" pitchFamily="18" charset="0"/>
                <a:cs typeface="Times New Roman" pitchFamily="18" charset="0"/>
              </a:rPr>
              <a:t>input</a:t>
            </a:r>
          </a:p>
        </p:txBody>
      </p:sp>
      <p:sp>
        <p:nvSpPr>
          <p:cNvPr id="55311" name="Text Box 15"/>
          <p:cNvSpPr txBox="1">
            <a:spLocks noChangeArrowheads="1"/>
          </p:cNvSpPr>
          <p:nvPr/>
        </p:nvSpPr>
        <p:spPr bwMode="auto">
          <a:xfrm>
            <a:off x="76200" y="1773238"/>
            <a:ext cx="1030288"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Inverting</a:t>
            </a:r>
          </a:p>
          <a:p>
            <a:r>
              <a:rPr lang="en-US">
                <a:solidFill>
                  <a:srgbClr val="000099"/>
                </a:solidFill>
                <a:latin typeface="Times New Roman" pitchFamily="18" charset="0"/>
                <a:cs typeface="Times New Roman" pitchFamily="18" charset="0"/>
              </a:rPr>
              <a:t>input</a:t>
            </a:r>
          </a:p>
        </p:txBody>
      </p:sp>
      <p:sp>
        <p:nvSpPr>
          <p:cNvPr id="55312" name="Oval 16"/>
          <p:cNvSpPr>
            <a:spLocks noChangeArrowheads="1"/>
          </p:cNvSpPr>
          <p:nvPr/>
        </p:nvSpPr>
        <p:spPr bwMode="auto">
          <a:xfrm>
            <a:off x="1066800" y="1997075"/>
            <a:ext cx="152400" cy="1524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55313" name="Oval 17"/>
          <p:cNvSpPr>
            <a:spLocks noChangeArrowheads="1"/>
          </p:cNvSpPr>
          <p:nvPr/>
        </p:nvSpPr>
        <p:spPr bwMode="auto">
          <a:xfrm>
            <a:off x="1066800" y="1387475"/>
            <a:ext cx="152400" cy="1524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55314" name="Text Box 18"/>
          <p:cNvSpPr txBox="1">
            <a:spLocks noChangeArrowheads="1"/>
          </p:cNvSpPr>
          <p:nvPr/>
        </p:nvSpPr>
        <p:spPr bwMode="auto">
          <a:xfrm>
            <a:off x="1573213" y="1235075"/>
            <a:ext cx="33178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5315" name="Text Box 19"/>
          <p:cNvSpPr txBox="1">
            <a:spLocks noChangeArrowheads="1"/>
          </p:cNvSpPr>
          <p:nvPr/>
        </p:nvSpPr>
        <p:spPr bwMode="auto">
          <a:xfrm>
            <a:off x="1573213" y="1828800"/>
            <a:ext cx="26828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5316" name="Text Box 20"/>
          <p:cNvSpPr txBox="1">
            <a:spLocks noChangeArrowheads="1"/>
          </p:cNvSpPr>
          <p:nvPr/>
        </p:nvSpPr>
        <p:spPr bwMode="auto">
          <a:xfrm>
            <a:off x="8229600" y="1377950"/>
            <a:ext cx="960438"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Output </a:t>
            </a:r>
          </a:p>
        </p:txBody>
      </p:sp>
      <p:sp>
        <p:nvSpPr>
          <p:cNvPr id="55317" name="Text Box 21"/>
          <p:cNvSpPr txBox="1">
            <a:spLocks noChangeArrowheads="1"/>
          </p:cNvSpPr>
          <p:nvPr/>
        </p:nvSpPr>
        <p:spPr bwMode="auto">
          <a:xfrm>
            <a:off x="1571625" y="2535238"/>
            <a:ext cx="1373188" cy="1878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Dual input</a:t>
            </a:r>
          </a:p>
          <a:p>
            <a:r>
              <a:rPr lang="en-US">
                <a:solidFill>
                  <a:srgbClr val="000099"/>
                </a:solidFill>
                <a:latin typeface="Times New Roman" pitchFamily="18" charset="0"/>
                <a:cs typeface="Times New Roman" pitchFamily="18" charset="0"/>
              </a:rPr>
              <a:t>Balanced</a:t>
            </a:r>
          </a:p>
          <a:p>
            <a:r>
              <a:rPr lang="en-US">
                <a:solidFill>
                  <a:srgbClr val="000099"/>
                </a:solidFill>
                <a:latin typeface="Times New Roman" pitchFamily="18" charset="0"/>
                <a:cs typeface="Times New Roman" pitchFamily="18" charset="0"/>
              </a:rPr>
              <a:t>Output</a:t>
            </a:r>
          </a:p>
          <a:p>
            <a:r>
              <a:rPr lang="en-US">
                <a:solidFill>
                  <a:srgbClr val="000099"/>
                </a:solidFill>
                <a:latin typeface="Times New Roman" pitchFamily="18" charset="0"/>
                <a:cs typeface="Times New Roman" pitchFamily="18" charset="0"/>
              </a:rPr>
              <a:t>Differential</a:t>
            </a:r>
          </a:p>
          <a:p>
            <a:r>
              <a:rPr lang="en-US">
                <a:solidFill>
                  <a:srgbClr val="000099"/>
                </a:solidFill>
                <a:latin typeface="Times New Roman" pitchFamily="18" charset="0"/>
                <a:cs typeface="Times New Roman" pitchFamily="18" charset="0"/>
              </a:rPr>
              <a:t>amplifier</a:t>
            </a:r>
          </a:p>
        </p:txBody>
      </p:sp>
      <p:sp>
        <p:nvSpPr>
          <p:cNvPr id="55318" name="Text Box 22"/>
          <p:cNvSpPr txBox="1">
            <a:spLocks noChangeArrowheads="1"/>
          </p:cNvSpPr>
          <p:nvPr/>
        </p:nvSpPr>
        <p:spPr bwMode="auto">
          <a:xfrm>
            <a:off x="3324225" y="2535238"/>
            <a:ext cx="1373188" cy="18780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Dual input</a:t>
            </a:r>
          </a:p>
          <a:p>
            <a:r>
              <a:rPr lang="en-US">
                <a:solidFill>
                  <a:srgbClr val="000099"/>
                </a:solidFill>
                <a:latin typeface="Times New Roman" pitchFamily="18" charset="0"/>
                <a:cs typeface="Times New Roman" pitchFamily="18" charset="0"/>
              </a:rPr>
              <a:t>unbalanced</a:t>
            </a:r>
          </a:p>
          <a:p>
            <a:r>
              <a:rPr lang="en-US">
                <a:solidFill>
                  <a:srgbClr val="000099"/>
                </a:solidFill>
                <a:latin typeface="Times New Roman" pitchFamily="18" charset="0"/>
                <a:cs typeface="Times New Roman" pitchFamily="18" charset="0"/>
              </a:rPr>
              <a:t>Output</a:t>
            </a:r>
          </a:p>
          <a:p>
            <a:r>
              <a:rPr lang="en-US">
                <a:solidFill>
                  <a:srgbClr val="000099"/>
                </a:solidFill>
                <a:latin typeface="Times New Roman" pitchFamily="18" charset="0"/>
                <a:cs typeface="Times New Roman" pitchFamily="18" charset="0"/>
              </a:rPr>
              <a:t>Differential</a:t>
            </a:r>
          </a:p>
          <a:p>
            <a:r>
              <a:rPr lang="en-US">
                <a:solidFill>
                  <a:srgbClr val="000099"/>
                </a:solidFill>
                <a:latin typeface="Times New Roman" pitchFamily="18" charset="0"/>
                <a:cs typeface="Times New Roman" pitchFamily="18" charset="0"/>
              </a:rPr>
              <a:t>amplifier</a:t>
            </a:r>
          </a:p>
        </p:txBody>
      </p:sp>
      <p:sp>
        <p:nvSpPr>
          <p:cNvPr id="55319" name="Text Box 23"/>
          <p:cNvSpPr txBox="1">
            <a:spLocks noChangeArrowheads="1"/>
          </p:cNvSpPr>
          <p:nvPr/>
        </p:nvSpPr>
        <p:spPr bwMode="auto">
          <a:xfrm>
            <a:off x="5105400" y="2535238"/>
            <a:ext cx="1882775" cy="1508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Such as</a:t>
            </a:r>
          </a:p>
          <a:p>
            <a:r>
              <a:rPr lang="en-US">
                <a:solidFill>
                  <a:srgbClr val="000099"/>
                </a:solidFill>
                <a:latin typeface="Times New Roman" pitchFamily="18" charset="0"/>
                <a:cs typeface="Times New Roman" pitchFamily="18" charset="0"/>
              </a:rPr>
              <a:t>Emitter follower</a:t>
            </a:r>
          </a:p>
          <a:p>
            <a:r>
              <a:rPr lang="en-US">
                <a:solidFill>
                  <a:srgbClr val="000099"/>
                </a:solidFill>
                <a:latin typeface="Times New Roman" pitchFamily="18" charset="0"/>
                <a:cs typeface="Times New Roman" pitchFamily="18" charset="0"/>
              </a:rPr>
              <a:t>Using constant</a:t>
            </a:r>
          </a:p>
          <a:p>
            <a:r>
              <a:rPr lang="en-US">
                <a:solidFill>
                  <a:srgbClr val="000099"/>
                </a:solidFill>
                <a:latin typeface="Times New Roman" pitchFamily="18" charset="0"/>
                <a:cs typeface="Times New Roman" pitchFamily="18" charset="0"/>
              </a:rPr>
              <a:t>Current source</a:t>
            </a:r>
          </a:p>
        </p:txBody>
      </p:sp>
      <p:sp>
        <p:nvSpPr>
          <p:cNvPr id="55320" name="Text Box 24"/>
          <p:cNvSpPr txBox="1">
            <a:spLocks noChangeArrowheads="1"/>
          </p:cNvSpPr>
          <p:nvPr/>
        </p:nvSpPr>
        <p:spPr bwMode="auto">
          <a:xfrm>
            <a:off x="6934200" y="2535238"/>
            <a:ext cx="1833563" cy="1508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Times New Roman" pitchFamily="18" charset="0"/>
                <a:cs typeface="Times New Roman" pitchFamily="18" charset="0"/>
              </a:rPr>
              <a:t>Complementary</a:t>
            </a:r>
          </a:p>
          <a:p>
            <a:r>
              <a:rPr lang="en-US">
                <a:solidFill>
                  <a:srgbClr val="000099"/>
                </a:solidFill>
                <a:latin typeface="Times New Roman" pitchFamily="18" charset="0"/>
                <a:cs typeface="Times New Roman" pitchFamily="18" charset="0"/>
              </a:rPr>
              <a:t>Symmetry</a:t>
            </a:r>
          </a:p>
          <a:p>
            <a:r>
              <a:rPr lang="en-US">
                <a:solidFill>
                  <a:srgbClr val="000099"/>
                </a:solidFill>
                <a:latin typeface="Times New Roman" pitchFamily="18" charset="0"/>
                <a:cs typeface="Times New Roman" pitchFamily="18" charset="0"/>
              </a:rPr>
              <a:t>Push-pull</a:t>
            </a:r>
          </a:p>
          <a:p>
            <a:r>
              <a:rPr lang="en-US">
                <a:solidFill>
                  <a:srgbClr val="000099"/>
                </a:solidFill>
                <a:latin typeface="Times New Roman" pitchFamily="18" charset="0"/>
                <a:cs typeface="Times New Roman" pitchFamily="18" charset="0"/>
              </a:rPr>
              <a:t>amplifier</a:t>
            </a:r>
          </a:p>
        </p:txBody>
      </p:sp>
      <p:sp>
        <p:nvSpPr>
          <p:cNvPr id="3" name="Slide Number Placeholder 2"/>
          <p:cNvSpPr>
            <a:spLocks noGrp="1"/>
          </p:cNvSpPr>
          <p:nvPr>
            <p:ph type="sldNum" sz="quarter" idx="12"/>
          </p:nvPr>
        </p:nvSpPr>
        <p:spPr/>
        <p:txBody>
          <a:bodyPr/>
          <a:lstStyle/>
          <a:p>
            <a:pPr>
              <a:defRPr/>
            </a:pPr>
            <a:fld id="{A661312A-3E07-4F26-8DF5-D78B41A6EACE}" type="slidenum">
              <a:rPr lang="en-US"/>
              <a:pPr>
                <a:defRPr/>
              </a:pPr>
              <a:t>27</a:t>
            </a:fld>
            <a:endParaRPr lang="en-US"/>
          </a:p>
        </p:txBody>
      </p:sp>
    </p:spTree>
    <p:extLst>
      <p:ext uri="{BB962C8B-B14F-4D97-AF65-F5344CB8AC3E}">
        <p14:creationId xmlns:p14="http://schemas.microsoft.com/office/powerpoint/2010/main" xmlns="" val="2191805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715962"/>
          </a:xfrm>
        </p:spPr>
        <p:txBody>
          <a:bodyPr rtlCol="0">
            <a:normAutofit fontScale="90000"/>
          </a:bodyPr>
          <a:lstStyle/>
          <a:p>
            <a:pPr fontAlgn="auto">
              <a:spcAft>
                <a:spcPts val="0"/>
              </a:spcAft>
              <a:defRPr/>
            </a:pPr>
            <a:r>
              <a:rPr lang="en-US" sz="2400" b="1">
                <a:latin typeface="Times New Roman" pitchFamily="18" charset="0"/>
                <a:cs typeface="Times New Roman" pitchFamily="18" charset="0"/>
              </a:rPr>
              <a:t>Input and output signals 180</a:t>
            </a:r>
            <a:r>
              <a:rPr lang="en-US" sz="2400" b="1" baseline="30000">
                <a:latin typeface="Times New Roman" pitchFamily="18" charset="0"/>
                <a:cs typeface="Times New Roman" pitchFamily="18" charset="0"/>
              </a:rPr>
              <a:t>0</a:t>
            </a:r>
            <a:r>
              <a:rPr lang="en-US" sz="2400" b="1">
                <a:latin typeface="Times New Roman" pitchFamily="18" charset="0"/>
                <a:cs typeface="Times New Roman" pitchFamily="18" charset="0"/>
              </a:rPr>
              <a:t> phase shift when the input signal is applied to the inverting (-) terminal</a:t>
            </a:r>
          </a:p>
        </p:txBody>
      </p:sp>
      <p:sp>
        <p:nvSpPr>
          <p:cNvPr id="57347" name="Line 3"/>
          <p:cNvSpPr>
            <a:spLocks noChangeShapeType="1"/>
          </p:cNvSpPr>
          <p:nvPr/>
        </p:nvSpPr>
        <p:spPr bwMode="auto">
          <a:xfrm>
            <a:off x="2873375" y="3124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48" name="Line 4"/>
          <p:cNvSpPr>
            <a:spLocks noChangeShapeType="1"/>
          </p:cNvSpPr>
          <p:nvPr/>
        </p:nvSpPr>
        <p:spPr bwMode="auto">
          <a:xfrm>
            <a:off x="2873375" y="38100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49" name="Line 5"/>
          <p:cNvSpPr>
            <a:spLocks noChangeShapeType="1"/>
          </p:cNvSpPr>
          <p:nvPr/>
        </p:nvSpPr>
        <p:spPr bwMode="auto">
          <a:xfrm>
            <a:off x="5083175" y="3505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50" name="Line 6"/>
          <p:cNvSpPr>
            <a:spLocks noChangeShapeType="1"/>
          </p:cNvSpPr>
          <p:nvPr/>
        </p:nvSpPr>
        <p:spPr bwMode="auto">
          <a:xfrm>
            <a:off x="4473575" y="38862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51" name="Line 7"/>
          <p:cNvSpPr>
            <a:spLocks noChangeShapeType="1"/>
          </p:cNvSpPr>
          <p:nvPr/>
        </p:nvSpPr>
        <p:spPr bwMode="auto">
          <a:xfrm>
            <a:off x="4473575" y="22098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52" name="AutoShape 8"/>
          <p:cNvSpPr>
            <a:spLocks noChangeArrowheads="1"/>
          </p:cNvSpPr>
          <p:nvPr/>
        </p:nvSpPr>
        <p:spPr bwMode="auto">
          <a:xfrm rot="5400000">
            <a:off x="3673475" y="2857501"/>
            <a:ext cx="1519237"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741</a:t>
            </a:r>
          </a:p>
        </p:txBody>
      </p:sp>
      <p:sp>
        <p:nvSpPr>
          <p:cNvPr id="57353" name="Text Box 9"/>
          <p:cNvSpPr txBox="1">
            <a:spLocks noChangeArrowheads="1"/>
          </p:cNvSpPr>
          <p:nvPr/>
        </p:nvSpPr>
        <p:spPr bwMode="auto">
          <a:xfrm>
            <a:off x="3467100" y="2779713"/>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2</a:t>
            </a:r>
          </a:p>
        </p:txBody>
      </p:sp>
      <p:sp>
        <p:nvSpPr>
          <p:cNvPr id="57354" name="Text Box 10"/>
          <p:cNvSpPr txBox="1">
            <a:spLocks noChangeArrowheads="1"/>
          </p:cNvSpPr>
          <p:nvPr/>
        </p:nvSpPr>
        <p:spPr bwMode="auto">
          <a:xfrm>
            <a:off x="3482975" y="35194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3</a:t>
            </a:r>
          </a:p>
        </p:txBody>
      </p:sp>
      <p:sp>
        <p:nvSpPr>
          <p:cNvPr id="57355" name="Text Box 11"/>
          <p:cNvSpPr txBox="1">
            <a:spLocks noChangeArrowheads="1"/>
          </p:cNvSpPr>
          <p:nvPr/>
        </p:nvSpPr>
        <p:spPr bwMode="auto">
          <a:xfrm>
            <a:off x="4473575" y="38100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4</a:t>
            </a:r>
          </a:p>
        </p:txBody>
      </p:sp>
      <p:sp>
        <p:nvSpPr>
          <p:cNvPr id="57356" name="Text Box 12"/>
          <p:cNvSpPr txBox="1">
            <a:spLocks noChangeArrowheads="1"/>
          </p:cNvSpPr>
          <p:nvPr/>
        </p:nvSpPr>
        <p:spPr bwMode="auto">
          <a:xfrm>
            <a:off x="4473575" y="29098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7</a:t>
            </a:r>
          </a:p>
        </p:txBody>
      </p:sp>
      <p:sp>
        <p:nvSpPr>
          <p:cNvPr id="57357" name="Text Box 13"/>
          <p:cNvSpPr txBox="1">
            <a:spLocks noChangeArrowheads="1"/>
          </p:cNvSpPr>
          <p:nvPr/>
        </p:nvSpPr>
        <p:spPr bwMode="auto">
          <a:xfrm>
            <a:off x="5006975" y="32004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6</a:t>
            </a:r>
          </a:p>
        </p:txBody>
      </p:sp>
      <p:sp>
        <p:nvSpPr>
          <p:cNvPr id="57358" name="Text Box 14"/>
          <p:cNvSpPr txBox="1">
            <a:spLocks noChangeArrowheads="1"/>
          </p:cNvSpPr>
          <p:nvPr/>
        </p:nvSpPr>
        <p:spPr bwMode="auto">
          <a:xfrm>
            <a:off x="3863975" y="29860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57359" name="Text Box 15"/>
          <p:cNvSpPr txBox="1">
            <a:spLocks noChangeArrowheads="1"/>
          </p:cNvSpPr>
          <p:nvPr/>
        </p:nvSpPr>
        <p:spPr bwMode="auto">
          <a:xfrm>
            <a:off x="3863975" y="36718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57360" name="Text Box 16"/>
          <p:cNvSpPr txBox="1">
            <a:spLocks noChangeArrowheads="1"/>
          </p:cNvSpPr>
          <p:nvPr/>
        </p:nvSpPr>
        <p:spPr bwMode="auto">
          <a:xfrm>
            <a:off x="4038600" y="1843088"/>
            <a:ext cx="8001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+VCC</a:t>
            </a:r>
          </a:p>
        </p:txBody>
      </p:sp>
      <p:sp>
        <p:nvSpPr>
          <p:cNvPr id="57361" name="Text Box 17"/>
          <p:cNvSpPr txBox="1">
            <a:spLocks noChangeArrowheads="1"/>
          </p:cNvSpPr>
          <p:nvPr/>
        </p:nvSpPr>
        <p:spPr bwMode="auto">
          <a:xfrm>
            <a:off x="4114800" y="4967288"/>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-VEE</a:t>
            </a:r>
          </a:p>
        </p:txBody>
      </p:sp>
      <p:sp>
        <p:nvSpPr>
          <p:cNvPr id="57362" name="Text Box 18"/>
          <p:cNvSpPr txBox="1">
            <a:spLocks noChangeArrowheads="1"/>
          </p:cNvSpPr>
          <p:nvPr/>
        </p:nvSpPr>
        <p:spPr bwMode="auto">
          <a:xfrm>
            <a:off x="5730875" y="3138488"/>
            <a:ext cx="6032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Vo  </a:t>
            </a:r>
          </a:p>
        </p:txBody>
      </p:sp>
      <p:sp>
        <p:nvSpPr>
          <p:cNvPr id="57363" name="Text Box 19"/>
          <p:cNvSpPr txBox="1">
            <a:spLocks noChangeArrowheads="1"/>
          </p:cNvSpPr>
          <p:nvPr/>
        </p:nvSpPr>
        <p:spPr bwMode="auto">
          <a:xfrm>
            <a:off x="2092325" y="2717800"/>
            <a:ext cx="1412875"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Inverting input</a:t>
            </a:r>
          </a:p>
        </p:txBody>
      </p:sp>
      <p:sp>
        <p:nvSpPr>
          <p:cNvPr id="57364" name="Oval 21"/>
          <p:cNvSpPr>
            <a:spLocks noChangeArrowheads="1"/>
          </p:cNvSpPr>
          <p:nvPr/>
        </p:nvSpPr>
        <p:spPr bwMode="auto">
          <a:xfrm>
            <a:off x="2743200" y="3733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7365" name="Oval 22"/>
          <p:cNvSpPr>
            <a:spLocks noChangeArrowheads="1"/>
          </p:cNvSpPr>
          <p:nvPr/>
        </p:nvSpPr>
        <p:spPr bwMode="auto">
          <a:xfrm>
            <a:off x="2743200" y="3048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7366" name="Oval 23"/>
          <p:cNvSpPr>
            <a:spLocks noChangeArrowheads="1"/>
          </p:cNvSpPr>
          <p:nvPr/>
        </p:nvSpPr>
        <p:spPr bwMode="auto">
          <a:xfrm>
            <a:off x="4419600" y="480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7367" name="Oval 24"/>
          <p:cNvSpPr>
            <a:spLocks noChangeArrowheads="1"/>
          </p:cNvSpPr>
          <p:nvPr/>
        </p:nvSpPr>
        <p:spPr bwMode="auto">
          <a:xfrm>
            <a:off x="4419600" y="2133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7368" name="Oval 25"/>
          <p:cNvSpPr>
            <a:spLocks noChangeArrowheads="1"/>
          </p:cNvSpPr>
          <p:nvPr/>
        </p:nvSpPr>
        <p:spPr bwMode="auto">
          <a:xfrm>
            <a:off x="5867400" y="3429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7369" name="Line 26"/>
          <p:cNvSpPr>
            <a:spLocks noChangeShapeType="1"/>
          </p:cNvSpPr>
          <p:nvPr/>
        </p:nvSpPr>
        <p:spPr bwMode="auto">
          <a:xfrm>
            <a:off x="2133600" y="3810000"/>
            <a:ext cx="0" cy="1066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70" name="Line 27"/>
          <p:cNvSpPr>
            <a:spLocks noChangeShapeType="1"/>
          </p:cNvSpPr>
          <p:nvPr/>
        </p:nvSpPr>
        <p:spPr bwMode="auto">
          <a:xfrm>
            <a:off x="2133600" y="3810000"/>
            <a:ext cx="609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71" name="Line 28"/>
          <p:cNvSpPr>
            <a:spLocks noChangeShapeType="1"/>
          </p:cNvSpPr>
          <p:nvPr/>
        </p:nvSpPr>
        <p:spPr bwMode="auto">
          <a:xfrm>
            <a:off x="1905000" y="48768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72" name="Line 29"/>
          <p:cNvSpPr>
            <a:spLocks noChangeShapeType="1"/>
          </p:cNvSpPr>
          <p:nvPr/>
        </p:nvSpPr>
        <p:spPr bwMode="auto">
          <a:xfrm>
            <a:off x="1981200" y="49530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73" name="Line 30"/>
          <p:cNvSpPr>
            <a:spLocks noChangeShapeType="1"/>
          </p:cNvSpPr>
          <p:nvPr/>
        </p:nvSpPr>
        <p:spPr bwMode="auto">
          <a:xfrm>
            <a:off x="2057400" y="50292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7374" name="Freeform 33"/>
          <p:cNvSpPr>
            <a:spLocks/>
          </p:cNvSpPr>
          <p:nvPr/>
        </p:nvSpPr>
        <p:spPr bwMode="auto">
          <a:xfrm>
            <a:off x="533400" y="2590800"/>
            <a:ext cx="304800" cy="5334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57375" name="Freeform 34"/>
          <p:cNvSpPr>
            <a:spLocks/>
          </p:cNvSpPr>
          <p:nvPr/>
        </p:nvSpPr>
        <p:spPr bwMode="auto">
          <a:xfrm rot="10800000">
            <a:off x="838200" y="3124200"/>
            <a:ext cx="304800" cy="5334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57376" name="Text Box 35"/>
          <p:cNvSpPr txBox="1">
            <a:spLocks noChangeArrowheads="1"/>
          </p:cNvSpPr>
          <p:nvPr/>
        </p:nvSpPr>
        <p:spPr bwMode="auto">
          <a:xfrm>
            <a:off x="-15875" y="2525713"/>
            <a:ext cx="6159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input</a:t>
            </a:r>
          </a:p>
        </p:txBody>
      </p:sp>
      <p:sp>
        <p:nvSpPr>
          <p:cNvPr id="57377" name="Freeform 39"/>
          <p:cNvSpPr>
            <a:spLocks/>
          </p:cNvSpPr>
          <p:nvPr/>
        </p:nvSpPr>
        <p:spPr bwMode="auto">
          <a:xfrm rot="10800000">
            <a:off x="6629400" y="3276600"/>
            <a:ext cx="457200" cy="6858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57378" name="Text Box 40"/>
          <p:cNvSpPr txBox="1">
            <a:spLocks noChangeArrowheads="1"/>
          </p:cNvSpPr>
          <p:nvPr/>
        </p:nvSpPr>
        <p:spPr bwMode="auto">
          <a:xfrm>
            <a:off x="6096000" y="4146550"/>
            <a:ext cx="216058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Inverted  Output  signal</a:t>
            </a:r>
          </a:p>
        </p:txBody>
      </p:sp>
      <p:sp>
        <p:nvSpPr>
          <p:cNvPr id="57379" name="Freeform 41"/>
          <p:cNvSpPr>
            <a:spLocks/>
          </p:cNvSpPr>
          <p:nvPr/>
        </p:nvSpPr>
        <p:spPr bwMode="auto">
          <a:xfrm>
            <a:off x="7086600" y="2590800"/>
            <a:ext cx="457200" cy="6858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57380" name="Line 42"/>
          <p:cNvSpPr>
            <a:spLocks noChangeShapeType="1"/>
          </p:cNvSpPr>
          <p:nvPr/>
        </p:nvSpPr>
        <p:spPr bwMode="auto">
          <a:xfrm>
            <a:off x="457200" y="31242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7381" name="Line 43"/>
          <p:cNvSpPr>
            <a:spLocks noChangeShapeType="1"/>
          </p:cNvSpPr>
          <p:nvPr/>
        </p:nvSpPr>
        <p:spPr bwMode="auto">
          <a:xfrm>
            <a:off x="6629400" y="32766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7382" name="Line 44"/>
          <p:cNvSpPr>
            <a:spLocks noChangeShapeType="1"/>
          </p:cNvSpPr>
          <p:nvPr/>
        </p:nvSpPr>
        <p:spPr bwMode="auto">
          <a:xfrm flipV="1">
            <a:off x="533400" y="22860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7383" name="Line 45"/>
          <p:cNvSpPr>
            <a:spLocks noChangeShapeType="1"/>
          </p:cNvSpPr>
          <p:nvPr/>
        </p:nvSpPr>
        <p:spPr bwMode="auto">
          <a:xfrm flipV="1">
            <a:off x="6629400" y="25908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E3966D25-D33A-46FA-B30E-DF65176FE2C9}" type="slidenum">
              <a:rPr lang="en-US"/>
              <a:pPr>
                <a:defRPr/>
              </a:pPr>
              <a:t>28</a:t>
            </a:fld>
            <a:endParaRPr lang="en-US"/>
          </a:p>
        </p:txBody>
      </p:sp>
    </p:spTree>
    <p:extLst>
      <p:ext uri="{BB962C8B-B14F-4D97-AF65-F5344CB8AC3E}">
        <p14:creationId xmlns:p14="http://schemas.microsoft.com/office/powerpoint/2010/main" xmlns="" val="4173298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274638"/>
            <a:ext cx="8229600" cy="715962"/>
          </a:xfrm>
        </p:spPr>
        <p:txBody>
          <a:bodyPr rtlCol="0">
            <a:normAutofit fontScale="90000"/>
          </a:bodyPr>
          <a:lstStyle/>
          <a:p>
            <a:pPr fontAlgn="auto">
              <a:spcAft>
                <a:spcPts val="0"/>
              </a:spcAft>
              <a:defRPr/>
            </a:pPr>
            <a:r>
              <a:rPr lang="en-US" sz="2400" b="1">
                <a:latin typeface="Times New Roman" pitchFamily="18" charset="0"/>
                <a:cs typeface="Times New Roman" pitchFamily="18" charset="0"/>
              </a:rPr>
              <a:t>Input and output signals 0</a:t>
            </a:r>
            <a:r>
              <a:rPr lang="en-US" sz="2400" b="1" baseline="30000">
                <a:latin typeface="Times New Roman" pitchFamily="18" charset="0"/>
                <a:cs typeface="Times New Roman" pitchFamily="18" charset="0"/>
              </a:rPr>
              <a:t>0</a:t>
            </a:r>
            <a:r>
              <a:rPr lang="en-US" sz="2400" b="1">
                <a:latin typeface="Times New Roman" pitchFamily="18" charset="0"/>
                <a:cs typeface="Times New Roman" pitchFamily="18" charset="0"/>
              </a:rPr>
              <a:t> phase shift when the input signal is applied to the Non-inverting (+) terminal</a:t>
            </a:r>
          </a:p>
        </p:txBody>
      </p:sp>
      <p:sp>
        <p:nvSpPr>
          <p:cNvPr id="58371" name="Line 3"/>
          <p:cNvSpPr>
            <a:spLocks noChangeShapeType="1"/>
          </p:cNvSpPr>
          <p:nvPr/>
        </p:nvSpPr>
        <p:spPr bwMode="auto">
          <a:xfrm>
            <a:off x="2873375" y="3124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72" name="Line 4"/>
          <p:cNvSpPr>
            <a:spLocks noChangeShapeType="1"/>
          </p:cNvSpPr>
          <p:nvPr/>
        </p:nvSpPr>
        <p:spPr bwMode="auto">
          <a:xfrm>
            <a:off x="2873375" y="38100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73" name="Line 5"/>
          <p:cNvSpPr>
            <a:spLocks noChangeShapeType="1"/>
          </p:cNvSpPr>
          <p:nvPr/>
        </p:nvSpPr>
        <p:spPr bwMode="auto">
          <a:xfrm>
            <a:off x="5083175" y="3505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74" name="Line 6"/>
          <p:cNvSpPr>
            <a:spLocks noChangeShapeType="1"/>
          </p:cNvSpPr>
          <p:nvPr/>
        </p:nvSpPr>
        <p:spPr bwMode="auto">
          <a:xfrm>
            <a:off x="4473575" y="38862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75" name="Line 7"/>
          <p:cNvSpPr>
            <a:spLocks noChangeShapeType="1"/>
          </p:cNvSpPr>
          <p:nvPr/>
        </p:nvSpPr>
        <p:spPr bwMode="auto">
          <a:xfrm>
            <a:off x="4473575" y="22098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76" name="AutoShape 8"/>
          <p:cNvSpPr>
            <a:spLocks noChangeArrowheads="1"/>
          </p:cNvSpPr>
          <p:nvPr/>
        </p:nvSpPr>
        <p:spPr bwMode="auto">
          <a:xfrm rot="5400000">
            <a:off x="3673475" y="2857501"/>
            <a:ext cx="1519237"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741</a:t>
            </a:r>
          </a:p>
        </p:txBody>
      </p:sp>
      <p:sp>
        <p:nvSpPr>
          <p:cNvPr id="58377" name="Text Box 9"/>
          <p:cNvSpPr txBox="1">
            <a:spLocks noChangeArrowheads="1"/>
          </p:cNvSpPr>
          <p:nvPr/>
        </p:nvSpPr>
        <p:spPr bwMode="auto">
          <a:xfrm>
            <a:off x="3467100" y="2779713"/>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2</a:t>
            </a:r>
          </a:p>
        </p:txBody>
      </p:sp>
      <p:sp>
        <p:nvSpPr>
          <p:cNvPr id="58378" name="Text Box 10"/>
          <p:cNvSpPr txBox="1">
            <a:spLocks noChangeArrowheads="1"/>
          </p:cNvSpPr>
          <p:nvPr/>
        </p:nvSpPr>
        <p:spPr bwMode="auto">
          <a:xfrm>
            <a:off x="3482975" y="35194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3</a:t>
            </a:r>
          </a:p>
        </p:txBody>
      </p:sp>
      <p:sp>
        <p:nvSpPr>
          <p:cNvPr id="58379" name="Text Box 11"/>
          <p:cNvSpPr txBox="1">
            <a:spLocks noChangeArrowheads="1"/>
          </p:cNvSpPr>
          <p:nvPr/>
        </p:nvSpPr>
        <p:spPr bwMode="auto">
          <a:xfrm>
            <a:off x="4473575" y="38100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4</a:t>
            </a:r>
          </a:p>
        </p:txBody>
      </p:sp>
      <p:sp>
        <p:nvSpPr>
          <p:cNvPr id="58380" name="Text Box 12"/>
          <p:cNvSpPr txBox="1">
            <a:spLocks noChangeArrowheads="1"/>
          </p:cNvSpPr>
          <p:nvPr/>
        </p:nvSpPr>
        <p:spPr bwMode="auto">
          <a:xfrm>
            <a:off x="4473575" y="29098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7</a:t>
            </a:r>
          </a:p>
        </p:txBody>
      </p:sp>
      <p:sp>
        <p:nvSpPr>
          <p:cNvPr id="58381" name="Text Box 13"/>
          <p:cNvSpPr txBox="1">
            <a:spLocks noChangeArrowheads="1"/>
          </p:cNvSpPr>
          <p:nvPr/>
        </p:nvSpPr>
        <p:spPr bwMode="auto">
          <a:xfrm>
            <a:off x="5006975" y="32004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6</a:t>
            </a:r>
          </a:p>
        </p:txBody>
      </p:sp>
      <p:sp>
        <p:nvSpPr>
          <p:cNvPr id="58382" name="Text Box 14"/>
          <p:cNvSpPr txBox="1">
            <a:spLocks noChangeArrowheads="1"/>
          </p:cNvSpPr>
          <p:nvPr/>
        </p:nvSpPr>
        <p:spPr bwMode="auto">
          <a:xfrm>
            <a:off x="3863975" y="29860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58383" name="Text Box 15"/>
          <p:cNvSpPr txBox="1">
            <a:spLocks noChangeArrowheads="1"/>
          </p:cNvSpPr>
          <p:nvPr/>
        </p:nvSpPr>
        <p:spPr bwMode="auto">
          <a:xfrm>
            <a:off x="3863975" y="36718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58384" name="Text Box 16"/>
          <p:cNvSpPr txBox="1">
            <a:spLocks noChangeArrowheads="1"/>
          </p:cNvSpPr>
          <p:nvPr/>
        </p:nvSpPr>
        <p:spPr bwMode="auto">
          <a:xfrm>
            <a:off x="4038600" y="1843088"/>
            <a:ext cx="8001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+VCC</a:t>
            </a:r>
          </a:p>
        </p:txBody>
      </p:sp>
      <p:sp>
        <p:nvSpPr>
          <p:cNvPr id="58385" name="Text Box 17"/>
          <p:cNvSpPr txBox="1">
            <a:spLocks noChangeArrowheads="1"/>
          </p:cNvSpPr>
          <p:nvPr/>
        </p:nvSpPr>
        <p:spPr bwMode="auto">
          <a:xfrm>
            <a:off x="4114800" y="4967288"/>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-VEE</a:t>
            </a:r>
          </a:p>
        </p:txBody>
      </p:sp>
      <p:sp>
        <p:nvSpPr>
          <p:cNvPr id="58386" name="Text Box 18"/>
          <p:cNvSpPr txBox="1">
            <a:spLocks noChangeArrowheads="1"/>
          </p:cNvSpPr>
          <p:nvPr/>
        </p:nvSpPr>
        <p:spPr bwMode="auto">
          <a:xfrm>
            <a:off x="5730875" y="3138488"/>
            <a:ext cx="6032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Vo  </a:t>
            </a:r>
          </a:p>
        </p:txBody>
      </p:sp>
      <p:sp>
        <p:nvSpPr>
          <p:cNvPr id="58387" name="Text Box 19"/>
          <p:cNvSpPr txBox="1">
            <a:spLocks noChangeArrowheads="1"/>
          </p:cNvSpPr>
          <p:nvPr/>
        </p:nvSpPr>
        <p:spPr bwMode="auto">
          <a:xfrm>
            <a:off x="2474913" y="3962400"/>
            <a:ext cx="1335087"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Non-Inverting</a:t>
            </a:r>
          </a:p>
          <a:p>
            <a:r>
              <a:rPr lang="en-US" sz="1400" b="1">
                <a:latin typeface="Arial" pitchFamily="34" charset="0"/>
              </a:rPr>
              <a:t>input</a:t>
            </a:r>
          </a:p>
        </p:txBody>
      </p:sp>
      <p:sp>
        <p:nvSpPr>
          <p:cNvPr id="58388" name="Oval 20"/>
          <p:cNvSpPr>
            <a:spLocks noChangeArrowheads="1"/>
          </p:cNvSpPr>
          <p:nvPr/>
        </p:nvSpPr>
        <p:spPr bwMode="auto">
          <a:xfrm>
            <a:off x="2743200" y="3733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8389" name="Oval 21"/>
          <p:cNvSpPr>
            <a:spLocks noChangeArrowheads="1"/>
          </p:cNvSpPr>
          <p:nvPr/>
        </p:nvSpPr>
        <p:spPr bwMode="auto">
          <a:xfrm>
            <a:off x="2743200" y="3048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8390" name="Oval 22"/>
          <p:cNvSpPr>
            <a:spLocks noChangeArrowheads="1"/>
          </p:cNvSpPr>
          <p:nvPr/>
        </p:nvSpPr>
        <p:spPr bwMode="auto">
          <a:xfrm>
            <a:off x="4419600" y="480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8391" name="Oval 23"/>
          <p:cNvSpPr>
            <a:spLocks noChangeArrowheads="1"/>
          </p:cNvSpPr>
          <p:nvPr/>
        </p:nvSpPr>
        <p:spPr bwMode="auto">
          <a:xfrm>
            <a:off x="4419600" y="2133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8392" name="Oval 24"/>
          <p:cNvSpPr>
            <a:spLocks noChangeArrowheads="1"/>
          </p:cNvSpPr>
          <p:nvPr/>
        </p:nvSpPr>
        <p:spPr bwMode="auto">
          <a:xfrm>
            <a:off x="5867400" y="3429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8393" name="Line 25"/>
          <p:cNvSpPr>
            <a:spLocks noChangeShapeType="1"/>
          </p:cNvSpPr>
          <p:nvPr/>
        </p:nvSpPr>
        <p:spPr bwMode="auto">
          <a:xfrm>
            <a:off x="2133600" y="3124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94" name="Line 26"/>
          <p:cNvSpPr>
            <a:spLocks noChangeShapeType="1"/>
          </p:cNvSpPr>
          <p:nvPr/>
        </p:nvSpPr>
        <p:spPr bwMode="auto">
          <a:xfrm>
            <a:off x="2133600" y="3124200"/>
            <a:ext cx="609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95" name="Line 27"/>
          <p:cNvSpPr>
            <a:spLocks noChangeShapeType="1"/>
          </p:cNvSpPr>
          <p:nvPr/>
        </p:nvSpPr>
        <p:spPr bwMode="auto">
          <a:xfrm>
            <a:off x="1905000" y="3505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96" name="Line 28"/>
          <p:cNvSpPr>
            <a:spLocks noChangeShapeType="1"/>
          </p:cNvSpPr>
          <p:nvPr/>
        </p:nvSpPr>
        <p:spPr bwMode="auto">
          <a:xfrm>
            <a:off x="1981200" y="35814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97" name="Line 29"/>
          <p:cNvSpPr>
            <a:spLocks noChangeShapeType="1"/>
          </p:cNvSpPr>
          <p:nvPr/>
        </p:nvSpPr>
        <p:spPr bwMode="auto">
          <a:xfrm>
            <a:off x="2057400" y="36576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8398" name="Freeform 30"/>
          <p:cNvSpPr>
            <a:spLocks/>
          </p:cNvSpPr>
          <p:nvPr/>
        </p:nvSpPr>
        <p:spPr bwMode="auto">
          <a:xfrm>
            <a:off x="1828800" y="4038600"/>
            <a:ext cx="304800" cy="5334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58399" name="Freeform 31"/>
          <p:cNvSpPr>
            <a:spLocks/>
          </p:cNvSpPr>
          <p:nvPr/>
        </p:nvSpPr>
        <p:spPr bwMode="auto">
          <a:xfrm rot="10800000">
            <a:off x="2133600" y="4572000"/>
            <a:ext cx="304800" cy="5334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58400" name="Text Box 32"/>
          <p:cNvSpPr txBox="1">
            <a:spLocks noChangeArrowheads="1"/>
          </p:cNvSpPr>
          <p:nvPr/>
        </p:nvSpPr>
        <p:spPr bwMode="auto">
          <a:xfrm>
            <a:off x="1279525" y="3973513"/>
            <a:ext cx="6159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input</a:t>
            </a:r>
          </a:p>
        </p:txBody>
      </p:sp>
      <p:sp>
        <p:nvSpPr>
          <p:cNvPr id="58401" name="Freeform 33"/>
          <p:cNvSpPr>
            <a:spLocks/>
          </p:cNvSpPr>
          <p:nvPr/>
        </p:nvSpPr>
        <p:spPr bwMode="auto">
          <a:xfrm rot="10800000">
            <a:off x="7086600" y="3276600"/>
            <a:ext cx="457200" cy="6858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58402" name="Text Box 34"/>
          <p:cNvSpPr txBox="1">
            <a:spLocks noChangeArrowheads="1"/>
          </p:cNvSpPr>
          <p:nvPr/>
        </p:nvSpPr>
        <p:spPr bwMode="auto">
          <a:xfrm>
            <a:off x="6096000" y="4146550"/>
            <a:ext cx="2563813"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Non-Inverted  Output  signal</a:t>
            </a:r>
          </a:p>
        </p:txBody>
      </p:sp>
      <p:sp>
        <p:nvSpPr>
          <p:cNvPr id="58403" name="Freeform 35"/>
          <p:cNvSpPr>
            <a:spLocks/>
          </p:cNvSpPr>
          <p:nvPr/>
        </p:nvSpPr>
        <p:spPr bwMode="auto">
          <a:xfrm>
            <a:off x="6629400" y="2590800"/>
            <a:ext cx="457200" cy="6858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58404" name="Line 36"/>
          <p:cNvSpPr>
            <a:spLocks noChangeShapeType="1"/>
          </p:cNvSpPr>
          <p:nvPr/>
        </p:nvSpPr>
        <p:spPr bwMode="auto">
          <a:xfrm>
            <a:off x="1752600" y="45720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8405" name="Line 37"/>
          <p:cNvSpPr>
            <a:spLocks noChangeShapeType="1"/>
          </p:cNvSpPr>
          <p:nvPr/>
        </p:nvSpPr>
        <p:spPr bwMode="auto">
          <a:xfrm>
            <a:off x="6629400" y="32766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8406" name="Line 38"/>
          <p:cNvSpPr>
            <a:spLocks noChangeShapeType="1"/>
          </p:cNvSpPr>
          <p:nvPr/>
        </p:nvSpPr>
        <p:spPr bwMode="auto">
          <a:xfrm flipV="1">
            <a:off x="1828800" y="37338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8407" name="Line 39"/>
          <p:cNvSpPr>
            <a:spLocks noChangeShapeType="1"/>
          </p:cNvSpPr>
          <p:nvPr/>
        </p:nvSpPr>
        <p:spPr bwMode="auto">
          <a:xfrm flipV="1">
            <a:off x="6629400" y="25908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8408" name="Line 40"/>
          <p:cNvSpPr>
            <a:spLocks noChangeShapeType="1"/>
          </p:cNvSpPr>
          <p:nvPr/>
        </p:nvSpPr>
        <p:spPr bwMode="auto">
          <a:xfrm flipV="1">
            <a:off x="2209800" y="3886200"/>
            <a:ext cx="4572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CC2F60E6-B9E8-4CA4-A7B4-64E6529ED413}" type="slidenum">
              <a:rPr lang="en-US"/>
              <a:pPr>
                <a:defRPr/>
              </a:pPr>
              <a:t>29</a:t>
            </a:fld>
            <a:endParaRPr lang="en-US"/>
          </a:p>
        </p:txBody>
      </p:sp>
    </p:spTree>
    <p:extLst>
      <p:ext uri="{BB962C8B-B14F-4D97-AF65-F5344CB8AC3E}">
        <p14:creationId xmlns:p14="http://schemas.microsoft.com/office/powerpoint/2010/main" xmlns="" val="5442854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3375025" y="152400"/>
            <a:ext cx="2209800" cy="1371600"/>
          </a:xfrm>
          <a:prstGeom prst="rect">
            <a:avLst/>
          </a:prstGeom>
          <a:gradFill rotWithShape="1">
            <a:gsLst>
              <a:gs pos="0">
                <a:schemeClr val="bg1"/>
              </a:gs>
              <a:gs pos="100000">
                <a:srgbClr val="FF33CC"/>
              </a:gs>
            </a:gsLst>
            <a:lin ang="5400000" scaled="1"/>
          </a:gradFill>
          <a:ln w="9525">
            <a:solidFill>
              <a:schemeClr val="tx1"/>
            </a:solidFill>
            <a:miter lim="800000"/>
            <a:headEnd/>
            <a:tailEnd/>
          </a:ln>
        </p:spPr>
        <p:txBody>
          <a:bodyPr wrap="none" anchor="ctr"/>
          <a:lstStyle/>
          <a:p>
            <a:pPr algn="ctr"/>
            <a:r>
              <a:rPr lang="en-US"/>
              <a:t>Ideal </a:t>
            </a:r>
          </a:p>
          <a:p>
            <a:pPr algn="ctr"/>
            <a:r>
              <a:rPr lang="en-US"/>
              <a:t>Differential</a:t>
            </a:r>
          </a:p>
          <a:p>
            <a:pPr algn="ctr"/>
            <a:r>
              <a:rPr lang="en-US"/>
              <a:t>Amplifier </a:t>
            </a:r>
          </a:p>
        </p:txBody>
      </p:sp>
      <p:sp>
        <p:nvSpPr>
          <p:cNvPr id="59395" name="Oval 3"/>
          <p:cNvSpPr>
            <a:spLocks noChangeArrowheads="1"/>
          </p:cNvSpPr>
          <p:nvPr/>
        </p:nvSpPr>
        <p:spPr bwMode="auto">
          <a:xfrm>
            <a:off x="2155825" y="14478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V2</a:t>
            </a:r>
          </a:p>
        </p:txBody>
      </p:sp>
      <p:sp>
        <p:nvSpPr>
          <p:cNvPr id="59396" name="Line 4"/>
          <p:cNvSpPr>
            <a:spLocks noChangeShapeType="1"/>
          </p:cNvSpPr>
          <p:nvPr/>
        </p:nvSpPr>
        <p:spPr bwMode="auto">
          <a:xfrm>
            <a:off x="1470025" y="457200"/>
            <a:ext cx="1905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397" name="Line 5"/>
          <p:cNvSpPr>
            <a:spLocks noChangeShapeType="1"/>
          </p:cNvSpPr>
          <p:nvPr/>
        </p:nvSpPr>
        <p:spPr bwMode="auto">
          <a:xfrm>
            <a:off x="2460625" y="11430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398" name="Line 6"/>
          <p:cNvSpPr>
            <a:spLocks noChangeShapeType="1"/>
          </p:cNvSpPr>
          <p:nvPr/>
        </p:nvSpPr>
        <p:spPr bwMode="auto">
          <a:xfrm flipV="1">
            <a:off x="2460625" y="11430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399" name="Line 7"/>
          <p:cNvSpPr>
            <a:spLocks noChangeShapeType="1"/>
          </p:cNvSpPr>
          <p:nvPr/>
        </p:nvSpPr>
        <p:spPr bwMode="auto">
          <a:xfrm flipV="1">
            <a:off x="2460625" y="20574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0" name="Oval 8"/>
          <p:cNvSpPr>
            <a:spLocks noChangeArrowheads="1"/>
          </p:cNvSpPr>
          <p:nvPr/>
        </p:nvSpPr>
        <p:spPr bwMode="auto">
          <a:xfrm>
            <a:off x="1165225" y="1447800"/>
            <a:ext cx="609600" cy="609600"/>
          </a:xfrm>
          <a:prstGeom prst="ellipse">
            <a:avLst/>
          </a:prstGeom>
          <a:solidFill>
            <a:schemeClr val="accent1"/>
          </a:solidFill>
          <a:ln w="9525">
            <a:solidFill>
              <a:schemeClr val="tx1"/>
            </a:solidFill>
            <a:round/>
            <a:headEnd/>
            <a:tailEnd/>
          </a:ln>
        </p:spPr>
        <p:txBody>
          <a:bodyPr wrap="none" anchor="ctr"/>
          <a:lstStyle/>
          <a:p>
            <a:pPr algn="ctr"/>
            <a:r>
              <a:rPr lang="en-US"/>
              <a:t>V1</a:t>
            </a:r>
          </a:p>
        </p:txBody>
      </p:sp>
      <p:sp>
        <p:nvSpPr>
          <p:cNvPr id="59401" name="Line 9"/>
          <p:cNvSpPr>
            <a:spLocks noChangeShapeType="1"/>
          </p:cNvSpPr>
          <p:nvPr/>
        </p:nvSpPr>
        <p:spPr bwMode="auto">
          <a:xfrm flipV="1">
            <a:off x="1470025" y="20574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2" name="Line 10"/>
          <p:cNvSpPr>
            <a:spLocks noChangeShapeType="1"/>
          </p:cNvSpPr>
          <p:nvPr/>
        </p:nvSpPr>
        <p:spPr bwMode="auto">
          <a:xfrm flipV="1">
            <a:off x="1470025" y="4572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3" name="Line 11"/>
          <p:cNvSpPr>
            <a:spLocks noChangeShapeType="1"/>
          </p:cNvSpPr>
          <p:nvPr/>
        </p:nvSpPr>
        <p:spPr bwMode="auto">
          <a:xfrm>
            <a:off x="2232025" y="2362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4" name="Line 12"/>
          <p:cNvSpPr>
            <a:spLocks noChangeShapeType="1"/>
          </p:cNvSpPr>
          <p:nvPr/>
        </p:nvSpPr>
        <p:spPr bwMode="auto">
          <a:xfrm>
            <a:off x="2308225" y="24384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5" name="Line 13"/>
          <p:cNvSpPr>
            <a:spLocks noChangeShapeType="1"/>
          </p:cNvSpPr>
          <p:nvPr/>
        </p:nvSpPr>
        <p:spPr bwMode="auto">
          <a:xfrm>
            <a:off x="2384425" y="25146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6" name="Line 14"/>
          <p:cNvSpPr>
            <a:spLocks noChangeShapeType="1"/>
          </p:cNvSpPr>
          <p:nvPr/>
        </p:nvSpPr>
        <p:spPr bwMode="auto">
          <a:xfrm>
            <a:off x="1241425" y="2362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7" name="Line 15"/>
          <p:cNvSpPr>
            <a:spLocks noChangeShapeType="1"/>
          </p:cNvSpPr>
          <p:nvPr/>
        </p:nvSpPr>
        <p:spPr bwMode="auto">
          <a:xfrm>
            <a:off x="1317625" y="24384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8" name="Line 16"/>
          <p:cNvSpPr>
            <a:spLocks noChangeShapeType="1"/>
          </p:cNvSpPr>
          <p:nvPr/>
        </p:nvSpPr>
        <p:spPr bwMode="auto">
          <a:xfrm>
            <a:off x="1393825" y="25146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09" name="Line 17"/>
          <p:cNvSpPr>
            <a:spLocks noChangeShapeType="1"/>
          </p:cNvSpPr>
          <p:nvPr/>
        </p:nvSpPr>
        <p:spPr bwMode="auto">
          <a:xfrm>
            <a:off x="5584825" y="838200"/>
            <a:ext cx="914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10" name="Oval 18"/>
          <p:cNvSpPr>
            <a:spLocks noChangeArrowheads="1"/>
          </p:cNvSpPr>
          <p:nvPr/>
        </p:nvSpPr>
        <p:spPr bwMode="auto">
          <a:xfrm>
            <a:off x="2765425" y="38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9411" name="Oval 19"/>
          <p:cNvSpPr>
            <a:spLocks noChangeArrowheads="1"/>
          </p:cNvSpPr>
          <p:nvPr/>
        </p:nvSpPr>
        <p:spPr bwMode="auto">
          <a:xfrm>
            <a:off x="2765425" y="1066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9412" name="Oval 20"/>
          <p:cNvSpPr>
            <a:spLocks noChangeArrowheads="1"/>
          </p:cNvSpPr>
          <p:nvPr/>
        </p:nvSpPr>
        <p:spPr bwMode="auto">
          <a:xfrm>
            <a:off x="6423025" y="762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9413" name="Line 21"/>
          <p:cNvSpPr>
            <a:spLocks noChangeShapeType="1"/>
          </p:cNvSpPr>
          <p:nvPr/>
        </p:nvSpPr>
        <p:spPr bwMode="auto">
          <a:xfrm flipV="1">
            <a:off x="2841625" y="533400"/>
            <a:ext cx="0" cy="53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9414" name="Text Box 22"/>
          <p:cNvSpPr txBox="1">
            <a:spLocks noChangeArrowheads="1"/>
          </p:cNvSpPr>
          <p:nvPr/>
        </p:nvSpPr>
        <p:spPr bwMode="auto">
          <a:xfrm>
            <a:off x="2765425" y="623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Vd</a:t>
            </a:r>
          </a:p>
        </p:txBody>
      </p:sp>
      <p:sp>
        <p:nvSpPr>
          <p:cNvPr id="59415" name="Line 23"/>
          <p:cNvSpPr>
            <a:spLocks noChangeShapeType="1"/>
          </p:cNvSpPr>
          <p:nvPr/>
        </p:nvSpPr>
        <p:spPr bwMode="auto">
          <a:xfrm flipV="1">
            <a:off x="6499225" y="1600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16" name="Line 24"/>
          <p:cNvSpPr>
            <a:spLocks noChangeShapeType="1"/>
          </p:cNvSpPr>
          <p:nvPr/>
        </p:nvSpPr>
        <p:spPr bwMode="auto">
          <a:xfrm>
            <a:off x="6270625" y="1905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17" name="Line 25"/>
          <p:cNvSpPr>
            <a:spLocks noChangeShapeType="1"/>
          </p:cNvSpPr>
          <p:nvPr/>
        </p:nvSpPr>
        <p:spPr bwMode="auto">
          <a:xfrm>
            <a:off x="6346825" y="1981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18" name="Line 26"/>
          <p:cNvSpPr>
            <a:spLocks noChangeShapeType="1"/>
          </p:cNvSpPr>
          <p:nvPr/>
        </p:nvSpPr>
        <p:spPr bwMode="auto">
          <a:xfrm>
            <a:off x="6423025" y="2057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19" name="Oval 27"/>
          <p:cNvSpPr>
            <a:spLocks noChangeArrowheads="1"/>
          </p:cNvSpPr>
          <p:nvPr/>
        </p:nvSpPr>
        <p:spPr bwMode="auto">
          <a:xfrm>
            <a:off x="6423025" y="1447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59420" name="Line 28"/>
          <p:cNvSpPr>
            <a:spLocks noChangeShapeType="1"/>
          </p:cNvSpPr>
          <p:nvPr/>
        </p:nvSpPr>
        <p:spPr bwMode="auto">
          <a:xfrm>
            <a:off x="6575425" y="8382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21" name="Line 29"/>
          <p:cNvSpPr>
            <a:spLocks noChangeShapeType="1"/>
          </p:cNvSpPr>
          <p:nvPr/>
        </p:nvSpPr>
        <p:spPr bwMode="auto">
          <a:xfrm>
            <a:off x="6575425" y="15240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22" name="Line 30"/>
          <p:cNvSpPr>
            <a:spLocks noChangeShapeType="1"/>
          </p:cNvSpPr>
          <p:nvPr/>
        </p:nvSpPr>
        <p:spPr bwMode="auto">
          <a:xfrm flipV="1">
            <a:off x="6727825" y="8382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9423" name="Line 31"/>
          <p:cNvSpPr>
            <a:spLocks noChangeShapeType="1"/>
          </p:cNvSpPr>
          <p:nvPr/>
        </p:nvSpPr>
        <p:spPr bwMode="auto">
          <a:xfrm>
            <a:off x="6727825" y="1295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59424" name="Text Box 32"/>
          <p:cNvSpPr txBox="1">
            <a:spLocks noChangeArrowheads="1"/>
          </p:cNvSpPr>
          <p:nvPr/>
        </p:nvSpPr>
        <p:spPr bwMode="auto">
          <a:xfrm>
            <a:off x="6711950" y="950913"/>
            <a:ext cx="15494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CC"/>
                </a:solidFill>
                <a:latin typeface="Arial" pitchFamily="34" charset="0"/>
              </a:rPr>
              <a:t>Vo = V1 – V2</a:t>
            </a:r>
          </a:p>
        </p:txBody>
      </p:sp>
      <p:sp>
        <p:nvSpPr>
          <p:cNvPr id="59425" name="Text Box 33"/>
          <p:cNvSpPr txBox="1">
            <a:spLocks noChangeArrowheads="1"/>
          </p:cNvSpPr>
          <p:nvPr/>
        </p:nvSpPr>
        <p:spPr bwMode="auto">
          <a:xfrm>
            <a:off x="2216150" y="1103313"/>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9426" name="Text Box 34"/>
          <p:cNvSpPr txBox="1">
            <a:spLocks noChangeArrowheads="1"/>
          </p:cNvSpPr>
          <p:nvPr/>
        </p:nvSpPr>
        <p:spPr bwMode="auto">
          <a:xfrm>
            <a:off x="1393825" y="10668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9427" name="Text Box 35"/>
          <p:cNvSpPr txBox="1">
            <a:spLocks noChangeArrowheads="1"/>
          </p:cNvSpPr>
          <p:nvPr/>
        </p:nvSpPr>
        <p:spPr bwMode="auto">
          <a:xfrm>
            <a:off x="2216150" y="19415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59428" name="Text Box 36"/>
          <p:cNvSpPr txBox="1">
            <a:spLocks noChangeArrowheads="1"/>
          </p:cNvSpPr>
          <p:nvPr/>
        </p:nvSpPr>
        <p:spPr bwMode="auto">
          <a:xfrm>
            <a:off x="1438275" y="190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63525" name="Rectangle 37"/>
          <p:cNvSpPr>
            <a:spLocks noGrp="1" noChangeArrowheads="1"/>
          </p:cNvSpPr>
          <p:nvPr>
            <p:ph sz="quarter" idx="1"/>
          </p:nvPr>
        </p:nvSpPr>
        <p:spPr>
          <a:xfrm>
            <a:off x="457200" y="2667000"/>
            <a:ext cx="8229600" cy="3886200"/>
          </a:xfrm>
        </p:spPr>
        <p:txBody>
          <a:bodyPr rtlCol="0">
            <a:normAutofit/>
          </a:bodyPr>
          <a:lstStyle/>
          <a:p>
            <a:pPr marL="0" indent="0" fontAlgn="auto">
              <a:spcAft>
                <a:spcPts val="0"/>
              </a:spcAft>
              <a:buFont typeface="Arial" pitchFamily="34" charset="0"/>
              <a:buNone/>
              <a:defRPr/>
            </a:pPr>
            <a:r>
              <a:rPr lang="en-US" sz="2400" b="1" dirty="0">
                <a:solidFill>
                  <a:srgbClr val="0000CC"/>
                </a:solidFill>
                <a:cs typeface="Times New Roman" pitchFamily="18" charset="0"/>
              </a:rPr>
              <a:t>Common mode rejection ratio (CMRR)</a:t>
            </a:r>
          </a:p>
          <a:p>
            <a:pPr fontAlgn="auto">
              <a:spcAft>
                <a:spcPts val="0"/>
              </a:spcAft>
              <a:defRPr/>
            </a:pPr>
            <a:r>
              <a:rPr lang="en-US" sz="2400" dirty="0">
                <a:cs typeface="Times New Roman" pitchFamily="18" charset="0"/>
              </a:rPr>
              <a:t>Common mode rejection ration (CMRR) is the ability of a differential amplifier to reject the common mode signal successfully.</a:t>
            </a:r>
          </a:p>
          <a:p>
            <a:pPr fontAlgn="auto">
              <a:spcAft>
                <a:spcPts val="0"/>
              </a:spcAft>
              <a:defRPr/>
            </a:pPr>
            <a:r>
              <a:rPr lang="en-US" sz="2400" dirty="0">
                <a:cs typeface="Times New Roman" pitchFamily="18" charset="0"/>
              </a:rPr>
              <a:t>CMRR is defined as the ratio of differential gain Ad and common mode gain Ac. It is denoted by letter “</a:t>
            </a:r>
            <a:r>
              <a:rPr lang="el-GR" sz="2400" dirty="0">
                <a:cs typeface="Times New Roman" pitchFamily="18" charset="0"/>
              </a:rPr>
              <a:t>ρ</a:t>
            </a:r>
            <a:r>
              <a:rPr lang="en-US" sz="2400" dirty="0">
                <a:cs typeface="Times New Roman" pitchFamily="18" charset="0"/>
              </a:rPr>
              <a:t>”</a:t>
            </a:r>
          </a:p>
          <a:p>
            <a:pPr fontAlgn="auto">
              <a:spcAft>
                <a:spcPts val="0"/>
              </a:spcAft>
              <a:defRPr/>
            </a:pPr>
            <a:r>
              <a:rPr lang="en-US" sz="2400" dirty="0">
                <a:cs typeface="Times New Roman" pitchFamily="18" charset="0"/>
              </a:rPr>
              <a:t>CMRR = </a:t>
            </a:r>
            <a:r>
              <a:rPr lang="el-GR" sz="2400" dirty="0">
                <a:cs typeface="Times New Roman" pitchFamily="18" charset="0"/>
              </a:rPr>
              <a:t>ρ</a:t>
            </a:r>
            <a:r>
              <a:rPr lang="en-US" sz="2400" dirty="0">
                <a:cs typeface="Times New Roman" pitchFamily="18" charset="0"/>
              </a:rPr>
              <a:t> =  Ad / Ac</a:t>
            </a:r>
          </a:p>
          <a:p>
            <a:pPr fontAlgn="auto">
              <a:spcAft>
                <a:spcPts val="0"/>
              </a:spcAft>
              <a:defRPr/>
            </a:pPr>
            <a:r>
              <a:rPr lang="en-US" sz="2400" dirty="0">
                <a:cs typeface="Times New Roman" pitchFamily="18" charset="0"/>
              </a:rPr>
              <a:t>Ideally CMRR should be infinite and practically it should be as high as possible.</a:t>
            </a:r>
            <a:endParaRPr lang="el-GR" sz="2400" dirty="0">
              <a:solidFill>
                <a:schemeClr val="accent2"/>
              </a:solidFill>
              <a:cs typeface="Times New Roman" pitchFamily="18" charset="0"/>
            </a:endParaRPr>
          </a:p>
        </p:txBody>
      </p:sp>
      <p:sp>
        <p:nvSpPr>
          <p:cNvPr id="59430" name="Line 38"/>
          <p:cNvSpPr>
            <a:spLocks noChangeShapeType="1"/>
          </p:cNvSpPr>
          <p:nvPr/>
        </p:nvSpPr>
        <p:spPr bwMode="auto">
          <a:xfrm>
            <a:off x="2514600" y="51054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59431" name="Line 39"/>
          <p:cNvSpPr>
            <a:spLocks noChangeShapeType="1"/>
          </p:cNvSpPr>
          <p:nvPr/>
        </p:nvSpPr>
        <p:spPr bwMode="auto">
          <a:xfrm>
            <a:off x="3581400" y="51054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62AB05C4-78E3-486C-BD36-EFBC350238DB}" type="slidenum">
              <a:rPr lang="en-US"/>
              <a:pPr>
                <a:defRPr/>
              </a:pPr>
              <a:t>30</a:t>
            </a:fld>
            <a:endParaRPr lang="en-US"/>
          </a:p>
        </p:txBody>
      </p:sp>
    </p:spTree>
    <p:extLst>
      <p:ext uri="{BB962C8B-B14F-4D97-AF65-F5344CB8AC3E}">
        <p14:creationId xmlns:p14="http://schemas.microsoft.com/office/powerpoint/2010/main" xmlns="" val="3952735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76200"/>
            <a:ext cx="8229600" cy="715963"/>
          </a:xfrm>
        </p:spPr>
        <p:txBody>
          <a:bodyPr/>
          <a:lstStyle/>
          <a:p>
            <a:r>
              <a:rPr lang="en-US" sz="2800" b="1"/>
              <a:t>Equivalent circuit of an OP-AMP</a:t>
            </a:r>
          </a:p>
        </p:txBody>
      </p:sp>
      <p:sp>
        <p:nvSpPr>
          <p:cNvPr id="60419" name="Line 5"/>
          <p:cNvSpPr>
            <a:spLocks noChangeShapeType="1"/>
          </p:cNvSpPr>
          <p:nvPr/>
        </p:nvSpPr>
        <p:spPr bwMode="auto">
          <a:xfrm>
            <a:off x="6172200" y="35052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20" name="Line 6"/>
          <p:cNvSpPr>
            <a:spLocks noChangeShapeType="1"/>
          </p:cNvSpPr>
          <p:nvPr/>
        </p:nvSpPr>
        <p:spPr bwMode="auto">
          <a:xfrm>
            <a:off x="4092575" y="45720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21" name="Line 7"/>
          <p:cNvSpPr>
            <a:spLocks noChangeShapeType="1"/>
          </p:cNvSpPr>
          <p:nvPr/>
        </p:nvSpPr>
        <p:spPr bwMode="auto">
          <a:xfrm>
            <a:off x="4016375" y="13716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22" name="AutoShape 8"/>
          <p:cNvSpPr>
            <a:spLocks noChangeArrowheads="1"/>
          </p:cNvSpPr>
          <p:nvPr/>
        </p:nvSpPr>
        <p:spPr bwMode="auto">
          <a:xfrm rot="5400000">
            <a:off x="3352800" y="20574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0423" name="Text Box 14"/>
          <p:cNvSpPr txBox="1">
            <a:spLocks noChangeArrowheads="1"/>
          </p:cNvSpPr>
          <p:nvPr/>
        </p:nvSpPr>
        <p:spPr bwMode="auto">
          <a:xfrm>
            <a:off x="3048000" y="23622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24" name="Text Box 15"/>
          <p:cNvSpPr txBox="1">
            <a:spLocks noChangeArrowheads="1"/>
          </p:cNvSpPr>
          <p:nvPr/>
        </p:nvSpPr>
        <p:spPr bwMode="auto">
          <a:xfrm>
            <a:off x="3048000" y="39624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25" name="Text Box 16"/>
          <p:cNvSpPr txBox="1">
            <a:spLocks noChangeArrowheads="1"/>
          </p:cNvSpPr>
          <p:nvPr/>
        </p:nvSpPr>
        <p:spPr bwMode="auto">
          <a:xfrm>
            <a:off x="4000500" y="1543050"/>
            <a:ext cx="8588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 VCC</a:t>
            </a:r>
          </a:p>
        </p:txBody>
      </p:sp>
      <p:sp>
        <p:nvSpPr>
          <p:cNvPr id="60426" name="Text Box 17"/>
          <p:cNvSpPr txBox="1">
            <a:spLocks noChangeArrowheads="1"/>
          </p:cNvSpPr>
          <p:nvPr/>
        </p:nvSpPr>
        <p:spPr bwMode="auto">
          <a:xfrm>
            <a:off x="4038600" y="5124450"/>
            <a:ext cx="7635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-VEE</a:t>
            </a:r>
          </a:p>
        </p:txBody>
      </p:sp>
      <p:sp>
        <p:nvSpPr>
          <p:cNvPr id="60427" name="Text Box 18"/>
          <p:cNvSpPr txBox="1">
            <a:spLocks noChangeArrowheads="1"/>
          </p:cNvSpPr>
          <p:nvPr/>
        </p:nvSpPr>
        <p:spPr bwMode="auto">
          <a:xfrm>
            <a:off x="6019800" y="31432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0428" name="Text Box 19"/>
          <p:cNvSpPr txBox="1">
            <a:spLocks noChangeArrowheads="1"/>
          </p:cNvSpPr>
          <p:nvPr/>
        </p:nvSpPr>
        <p:spPr bwMode="auto">
          <a:xfrm>
            <a:off x="993775" y="2214563"/>
            <a:ext cx="18192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Inverting input</a:t>
            </a:r>
          </a:p>
        </p:txBody>
      </p:sp>
      <p:sp>
        <p:nvSpPr>
          <p:cNvPr id="60429" name="Text Box 20"/>
          <p:cNvSpPr txBox="1">
            <a:spLocks noChangeArrowheads="1"/>
          </p:cNvSpPr>
          <p:nvPr/>
        </p:nvSpPr>
        <p:spPr bwMode="auto">
          <a:xfrm>
            <a:off x="765175" y="4438650"/>
            <a:ext cx="23844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t>Non-Inverting input</a:t>
            </a:r>
          </a:p>
        </p:txBody>
      </p:sp>
      <p:sp>
        <p:nvSpPr>
          <p:cNvPr id="60430" name="Oval 21"/>
          <p:cNvSpPr>
            <a:spLocks noChangeArrowheads="1"/>
          </p:cNvSpPr>
          <p:nvPr/>
        </p:nvSpPr>
        <p:spPr bwMode="auto">
          <a:xfrm>
            <a:off x="2295525" y="4267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31" name="Oval 22"/>
          <p:cNvSpPr>
            <a:spLocks noChangeArrowheads="1"/>
          </p:cNvSpPr>
          <p:nvPr/>
        </p:nvSpPr>
        <p:spPr bwMode="auto">
          <a:xfrm>
            <a:off x="2308225" y="259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32" name="Oval 23"/>
          <p:cNvSpPr>
            <a:spLocks noChangeArrowheads="1"/>
          </p:cNvSpPr>
          <p:nvPr/>
        </p:nvSpPr>
        <p:spPr bwMode="auto">
          <a:xfrm>
            <a:off x="4038600" y="5486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33" name="Oval 24"/>
          <p:cNvSpPr>
            <a:spLocks noChangeArrowheads="1"/>
          </p:cNvSpPr>
          <p:nvPr/>
        </p:nvSpPr>
        <p:spPr bwMode="auto">
          <a:xfrm>
            <a:off x="3962400" y="1295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34" name="Oval 25"/>
          <p:cNvSpPr>
            <a:spLocks noChangeArrowheads="1"/>
          </p:cNvSpPr>
          <p:nvPr/>
        </p:nvSpPr>
        <p:spPr bwMode="auto">
          <a:xfrm>
            <a:off x="6629400" y="3429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35" name="Line 43"/>
          <p:cNvSpPr>
            <a:spLocks noChangeShapeType="1"/>
          </p:cNvSpPr>
          <p:nvPr/>
        </p:nvSpPr>
        <p:spPr bwMode="auto">
          <a:xfrm>
            <a:off x="3657600" y="3124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36" name="Line 44"/>
          <p:cNvSpPr>
            <a:spLocks noChangeShapeType="1"/>
          </p:cNvSpPr>
          <p:nvPr/>
        </p:nvSpPr>
        <p:spPr bwMode="auto">
          <a:xfrm>
            <a:off x="3657600" y="3429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37" name="Line 45"/>
          <p:cNvSpPr>
            <a:spLocks noChangeShapeType="1"/>
          </p:cNvSpPr>
          <p:nvPr/>
        </p:nvSpPr>
        <p:spPr bwMode="auto">
          <a:xfrm>
            <a:off x="3657600" y="3733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38" name="Line 46"/>
          <p:cNvSpPr>
            <a:spLocks noChangeShapeType="1"/>
          </p:cNvSpPr>
          <p:nvPr/>
        </p:nvSpPr>
        <p:spPr bwMode="auto">
          <a:xfrm flipV="1">
            <a:off x="3657600" y="3581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39" name="Line 47"/>
          <p:cNvSpPr>
            <a:spLocks noChangeShapeType="1"/>
          </p:cNvSpPr>
          <p:nvPr/>
        </p:nvSpPr>
        <p:spPr bwMode="auto">
          <a:xfrm flipV="1">
            <a:off x="3657600" y="3276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0" name="Line 49"/>
          <p:cNvSpPr>
            <a:spLocks noChangeShapeType="1"/>
          </p:cNvSpPr>
          <p:nvPr/>
        </p:nvSpPr>
        <p:spPr bwMode="auto">
          <a:xfrm flipV="1">
            <a:off x="3657600" y="30480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1" name="Line 50"/>
          <p:cNvSpPr>
            <a:spLocks noChangeShapeType="1"/>
          </p:cNvSpPr>
          <p:nvPr/>
        </p:nvSpPr>
        <p:spPr bwMode="auto">
          <a:xfrm flipV="1">
            <a:off x="3733800" y="3886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2" name="Line 51"/>
          <p:cNvSpPr>
            <a:spLocks noChangeShapeType="1"/>
          </p:cNvSpPr>
          <p:nvPr/>
        </p:nvSpPr>
        <p:spPr bwMode="auto">
          <a:xfrm flipV="1">
            <a:off x="3810000" y="26670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3" name="Line 52"/>
          <p:cNvSpPr>
            <a:spLocks noChangeShapeType="1"/>
          </p:cNvSpPr>
          <p:nvPr/>
        </p:nvSpPr>
        <p:spPr bwMode="auto">
          <a:xfrm flipV="1">
            <a:off x="3733800" y="39624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4" name="Line 53"/>
          <p:cNvSpPr>
            <a:spLocks noChangeShapeType="1"/>
          </p:cNvSpPr>
          <p:nvPr/>
        </p:nvSpPr>
        <p:spPr bwMode="auto">
          <a:xfrm>
            <a:off x="2425700" y="43434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5" name="Line 54"/>
          <p:cNvSpPr>
            <a:spLocks noChangeShapeType="1"/>
          </p:cNvSpPr>
          <p:nvPr/>
        </p:nvSpPr>
        <p:spPr bwMode="auto">
          <a:xfrm>
            <a:off x="2438400" y="26670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6" name="Line 56"/>
          <p:cNvSpPr>
            <a:spLocks noChangeShapeType="1"/>
          </p:cNvSpPr>
          <p:nvPr/>
        </p:nvSpPr>
        <p:spPr bwMode="auto">
          <a:xfrm>
            <a:off x="5715000" y="35052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7" name="Line 57"/>
          <p:cNvSpPr>
            <a:spLocks noChangeShapeType="1"/>
          </p:cNvSpPr>
          <p:nvPr/>
        </p:nvSpPr>
        <p:spPr bwMode="auto">
          <a:xfrm>
            <a:off x="5029200" y="3429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8" name="Line 58"/>
          <p:cNvSpPr>
            <a:spLocks noChangeShapeType="1"/>
          </p:cNvSpPr>
          <p:nvPr/>
        </p:nvSpPr>
        <p:spPr bwMode="auto">
          <a:xfrm>
            <a:off x="5257800" y="3429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49" name="Line 59"/>
          <p:cNvSpPr>
            <a:spLocks noChangeShapeType="1"/>
          </p:cNvSpPr>
          <p:nvPr/>
        </p:nvSpPr>
        <p:spPr bwMode="auto">
          <a:xfrm>
            <a:off x="5486400" y="3429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0" name="Line 60"/>
          <p:cNvSpPr>
            <a:spLocks noChangeShapeType="1"/>
          </p:cNvSpPr>
          <p:nvPr/>
        </p:nvSpPr>
        <p:spPr bwMode="auto">
          <a:xfrm flipV="1">
            <a:off x="5410200" y="34290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1" name="Line 61"/>
          <p:cNvSpPr>
            <a:spLocks noChangeShapeType="1"/>
          </p:cNvSpPr>
          <p:nvPr/>
        </p:nvSpPr>
        <p:spPr bwMode="auto">
          <a:xfrm flipV="1">
            <a:off x="5181600" y="34290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2" name="Line 62"/>
          <p:cNvSpPr>
            <a:spLocks noChangeShapeType="1"/>
          </p:cNvSpPr>
          <p:nvPr/>
        </p:nvSpPr>
        <p:spPr bwMode="auto">
          <a:xfrm flipV="1">
            <a:off x="4953000" y="34290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3" name="Line 63"/>
          <p:cNvSpPr>
            <a:spLocks noChangeShapeType="1"/>
          </p:cNvSpPr>
          <p:nvPr/>
        </p:nvSpPr>
        <p:spPr bwMode="auto">
          <a:xfrm flipV="1">
            <a:off x="5638800" y="3505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4" name="Line 64"/>
          <p:cNvSpPr>
            <a:spLocks noChangeShapeType="1"/>
          </p:cNvSpPr>
          <p:nvPr/>
        </p:nvSpPr>
        <p:spPr bwMode="auto">
          <a:xfrm>
            <a:off x="4572000" y="35814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5" name="Oval 65"/>
          <p:cNvSpPr>
            <a:spLocks noChangeArrowheads="1"/>
          </p:cNvSpPr>
          <p:nvPr/>
        </p:nvSpPr>
        <p:spPr bwMode="auto">
          <a:xfrm>
            <a:off x="4343400" y="37338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0456" name="Line 66"/>
          <p:cNvSpPr>
            <a:spLocks noChangeShapeType="1"/>
          </p:cNvSpPr>
          <p:nvPr/>
        </p:nvSpPr>
        <p:spPr bwMode="auto">
          <a:xfrm flipV="1">
            <a:off x="4572000" y="35814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7" name="Line 67"/>
          <p:cNvSpPr>
            <a:spLocks noChangeShapeType="1"/>
          </p:cNvSpPr>
          <p:nvPr/>
        </p:nvSpPr>
        <p:spPr bwMode="auto">
          <a:xfrm flipV="1">
            <a:off x="4572000" y="41910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8" name="Line 68"/>
          <p:cNvSpPr>
            <a:spLocks noChangeShapeType="1"/>
          </p:cNvSpPr>
          <p:nvPr/>
        </p:nvSpPr>
        <p:spPr bwMode="auto">
          <a:xfrm>
            <a:off x="4572000" y="4876800"/>
            <a:ext cx="2514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59" name="Line 70"/>
          <p:cNvSpPr>
            <a:spLocks noChangeShapeType="1"/>
          </p:cNvSpPr>
          <p:nvPr/>
        </p:nvSpPr>
        <p:spPr bwMode="auto">
          <a:xfrm>
            <a:off x="7010400" y="3962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0" name="Line 71"/>
          <p:cNvSpPr>
            <a:spLocks noChangeShapeType="1"/>
          </p:cNvSpPr>
          <p:nvPr/>
        </p:nvSpPr>
        <p:spPr bwMode="auto">
          <a:xfrm>
            <a:off x="7010400" y="4267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1" name="Line 74"/>
          <p:cNvSpPr>
            <a:spLocks noChangeShapeType="1"/>
          </p:cNvSpPr>
          <p:nvPr/>
        </p:nvSpPr>
        <p:spPr bwMode="auto">
          <a:xfrm flipV="1">
            <a:off x="7010400" y="4114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2" name="Line 75"/>
          <p:cNvSpPr>
            <a:spLocks noChangeShapeType="1"/>
          </p:cNvSpPr>
          <p:nvPr/>
        </p:nvSpPr>
        <p:spPr bwMode="auto">
          <a:xfrm flipV="1">
            <a:off x="7010400" y="3886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3" name="Line 76"/>
          <p:cNvSpPr>
            <a:spLocks noChangeShapeType="1"/>
          </p:cNvSpPr>
          <p:nvPr/>
        </p:nvSpPr>
        <p:spPr bwMode="auto">
          <a:xfrm flipV="1">
            <a:off x="7086600" y="44196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4" name="Line 77"/>
          <p:cNvSpPr>
            <a:spLocks noChangeShapeType="1"/>
          </p:cNvSpPr>
          <p:nvPr/>
        </p:nvSpPr>
        <p:spPr bwMode="auto">
          <a:xfrm flipV="1">
            <a:off x="7162800" y="3505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5" name="Line 78"/>
          <p:cNvSpPr>
            <a:spLocks noChangeShapeType="1"/>
          </p:cNvSpPr>
          <p:nvPr/>
        </p:nvSpPr>
        <p:spPr bwMode="auto">
          <a:xfrm flipV="1">
            <a:off x="7086600" y="44958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66" name="Oval 79"/>
          <p:cNvSpPr>
            <a:spLocks noChangeArrowheads="1"/>
          </p:cNvSpPr>
          <p:nvPr/>
        </p:nvSpPr>
        <p:spPr bwMode="auto">
          <a:xfrm>
            <a:off x="6629400" y="480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0467" name="Text Box 80"/>
          <p:cNvSpPr txBox="1">
            <a:spLocks noChangeArrowheads="1"/>
          </p:cNvSpPr>
          <p:nvPr/>
        </p:nvSpPr>
        <p:spPr bwMode="auto">
          <a:xfrm>
            <a:off x="7299325" y="3903663"/>
            <a:ext cx="4349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R</a:t>
            </a:r>
            <a:r>
              <a:rPr lang="en-US" baseline="-25000"/>
              <a:t>L</a:t>
            </a:r>
          </a:p>
        </p:txBody>
      </p:sp>
      <p:sp>
        <p:nvSpPr>
          <p:cNvPr id="60468" name="Text Box 81"/>
          <p:cNvSpPr txBox="1">
            <a:spLocks noChangeArrowheads="1"/>
          </p:cNvSpPr>
          <p:nvPr/>
        </p:nvSpPr>
        <p:spPr bwMode="auto">
          <a:xfrm>
            <a:off x="5029200" y="3114675"/>
            <a:ext cx="4318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R</a:t>
            </a:r>
            <a:r>
              <a:rPr lang="en-US" baseline="-25000"/>
              <a:t>o</a:t>
            </a:r>
          </a:p>
        </p:txBody>
      </p:sp>
      <p:sp>
        <p:nvSpPr>
          <p:cNvPr id="60469" name="Text Box 82"/>
          <p:cNvSpPr txBox="1">
            <a:spLocks noChangeArrowheads="1"/>
          </p:cNvSpPr>
          <p:nvPr/>
        </p:nvSpPr>
        <p:spPr bwMode="auto">
          <a:xfrm>
            <a:off x="4724400" y="3662363"/>
            <a:ext cx="6969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0470" name="Text Box 83"/>
          <p:cNvSpPr txBox="1">
            <a:spLocks noChangeArrowheads="1"/>
          </p:cNvSpPr>
          <p:nvPr/>
        </p:nvSpPr>
        <p:spPr bwMode="auto">
          <a:xfrm>
            <a:off x="4330700" y="34290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71" name="Text Box 84"/>
          <p:cNvSpPr txBox="1">
            <a:spLocks noChangeArrowheads="1"/>
          </p:cNvSpPr>
          <p:nvPr/>
        </p:nvSpPr>
        <p:spPr bwMode="auto">
          <a:xfrm>
            <a:off x="4330700" y="41148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72" name="Line 85"/>
          <p:cNvSpPr>
            <a:spLocks noChangeShapeType="1"/>
          </p:cNvSpPr>
          <p:nvPr/>
        </p:nvSpPr>
        <p:spPr bwMode="auto">
          <a:xfrm>
            <a:off x="6705600" y="44196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0473" name="Line 86"/>
          <p:cNvSpPr>
            <a:spLocks noChangeShapeType="1"/>
          </p:cNvSpPr>
          <p:nvPr/>
        </p:nvSpPr>
        <p:spPr bwMode="auto">
          <a:xfrm flipV="1">
            <a:off x="6705600" y="3581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0474" name="Text Box 87"/>
          <p:cNvSpPr txBox="1">
            <a:spLocks noChangeArrowheads="1"/>
          </p:cNvSpPr>
          <p:nvPr/>
        </p:nvSpPr>
        <p:spPr bwMode="auto">
          <a:xfrm>
            <a:off x="6477000" y="3968750"/>
            <a:ext cx="43656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V</a:t>
            </a:r>
            <a:r>
              <a:rPr lang="en-US" baseline="-25000"/>
              <a:t>o</a:t>
            </a:r>
          </a:p>
        </p:txBody>
      </p:sp>
      <p:sp>
        <p:nvSpPr>
          <p:cNvPr id="60475" name="Text Box 88"/>
          <p:cNvSpPr txBox="1">
            <a:spLocks noChangeArrowheads="1"/>
          </p:cNvSpPr>
          <p:nvPr/>
        </p:nvSpPr>
        <p:spPr bwMode="auto">
          <a:xfrm>
            <a:off x="3810000" y="3267075"/>
            <a:ext cx="3905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R</a:t>
            </a:r>
            <a:r>
              <a:rPr lang="en-US" baseline="-25000"/>
              <a:t>i</a:t>
            </a:r>
          </a:p>
        </p:txBody>
      </p:sp>
      <p:sp>
        <p:nvSpPr>
          <p:cNvPr id="60476" name="Text Box 89"/>
          <p:cNvSpPr txBox="1">
            <a:spLocks noChangeArrowheads="1"/>
          </p:cNvSpPr>
          <p:nvPr/>
        </p:nvSpPr>
        <p:spPr bwMode="auto">
          <a:xfrm>
            <a:off x="6369050" y="45862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77" name="Text Box 90"/>
          <p:cNvSpPr txBox="1">
            <a:spLocks noChangeArrowheads="1"/>
          </p:cNvSpPr>
          <p:nvPr/>
        </p:nvSpPr>
        <p:spPr bwMode="auto">
          <a:xfrm>
            <a:off x="6388100" y="34432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0478" name="Line 91"/>
          <p:cNvSpPr>
            <a:spLocks noChangeShapeType="1"/>
          </p:cNvSpPr>
          <p:nvPr/>
        </p:nvSpPr>
        <p:spPr bwMode="auto">
          <a:xfrm>
            <a:off x="2667000" y="39624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0479" name="Line 92"/>
          <p:cNvSpPr>
            <a:spLocks noChangeShapeType="1"/>
          </p:cNvSpPr>
          <p:nvPr/>
        </p:nvSpPr>
        <p:spPr bwMode="auto">
          <a:xfrm flipV="1">
            <a:off x="2667000" y="2667000"/>
            <a:ext cx="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0480" name="Text Box 93"/>
          <p:cNvSpPr txBox="1">
            <a:spLocks noChangeArrowheads="1"/>
          </p:cNvSpPr>
          <p:nvPr/>
        </p:nvSpPr>
        <p:spPr bwMode="auto">
          <a:xfrm>
            <a:off x="2438400" y="3359150"/>
            <a:ext cx="4460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t>V</a:t>
            </a:r>
            <a:r>
              <a:rPr lang="en-US" baseline="-25000"/>
              <a:t>d</a:t>
            </a:r>
          </a:p>
        </p:txBody>
      </p:sp>
      <p:sp>
        <p:nvSpPr>
          <p:cNvPr id="60481" name="Line 94"/>
          <p:cNvSpPr>
            <a:spLocks noChangeShapeType="1"/>
          </p:cNvSpPr>
          <p:nvPr/>
        </p:nvSpPr>
        <p:spPr bwMode="auto">
          <a:xfrm flipV="1">
            <a:off x="6705600" y="49530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82" name="Line 95"/>
          <p:cNvSpPr>
            <a:spLocks noChangeShapeType="1"/>
          </p:cNvSpPr>
          <p:nvPr/>
        </p:nvSpPr>
        <p:spPr bwMode="auto">
          <a:xfrm>
            <a:off x="6477000" y="52578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83" name="Line 96"/>
          <p:cNvSpPr>
            <a:spLocks noChangeShapeType="1"/>
          </p:cNvSpPr>
          <p:nvPr/>
        </p:nvSpPr>
        <p:spPr bwMode="auto">
          <a:xfrm>
            <a:off x="6553200" y="53340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0484" name="Line 97"/>
          <p:cNvSpPr>
            <a:spLocks noChangeShapeType="1"/>
          </p:cNvSpPr>
          <p:nvPr/>
        </p:nvSpPr>
        <p:spPr bwMode="auto">
          <a:xfrm>
            <a:off x="6629400" y="54102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74A4DEF7-74FB-40F5-83CD-67EA7889D360}" type="slidenum">
              <a:rPr lang="en-US"/>
              <a:pPr>
                <a:defRPr/>
              </a:pPr>
              <a:t>31</a:t>
            </a:fld>
            <a:endParaRPr lang="en-US"/>
          </a:p>
        </p:txBody>
      </p:sp>
    </p:spTree>
    <p:extLst>
      <p:ext uri="{BB962C8B-B14F-4D97-AF65-F5344CB8AC3E}">
        <p14:creationId xmlns:p14="http://schemas.microsoft.com/office/powerpoint/2010/main" xmlns="" val="27924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6038" y="76200"/>
            <a:ext cx="8229600" cy="457200"/>
          </a:xfrm>
        </p:spPr>
        <p:txBody>
          <a:bodyPr rtlCol="0">
            <a:normAutofit fontScale="90000"/>
          </a:bodyPr>
          <a:lstStyle/>
          <a:p>
            <a:pPr fontAlgn="auto">
              <a:spcAft>
                <a:spcPts val="0"/>
              </a:spcAft>
              <a:defRPr/>
            </a:pPr>
            <a:r>
              <a:rPr lang="en-US" sz="2800" b="1" dirty="0"/>
              <a:t>The ideal OP-AMP</a:t>
            </a:r>
          </a:p>
        </p:txBody>
      </p:sp>
      <p:sp>
        <p:nvSpPr>
          <p:cNvPr id="61443" name="Line 3"/>
          <p:cNvSpPr>
            <a:spLocks noChangeShapeType="1"/>
          </p:cNvSpPr>
          <p:nvPr/>
        </p:nvSpPr>
        <p:spPr bwMode="auto">
          <a:xfrm>
            <a:off x="6324600" y="22860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44" name="AutoShape 6"/>
          <p:cNvSpPr>
            <a:spLocks noChangeArrowheads="1"/>
          </p:cNvSpPr>
          <p:nvPr/>
        </p:nvSpPr>
        <p:spPr bwMode="auto">
          <a:xfrm rot="5400000">
            <a:off x="3505200" y="8382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1445" name="Text Box 7"/>
          <p:cNvSpPr txBox="1">
            <a:spLocks noChangeArrowheads="1"/>
          </p:cNvSpPr>
          <p:nvPr/>
        </p:nvSpPr>
        <p:spPr bwMode="auto">
          <a:xfrm>
            <a:off x="3200400" y="1143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1446" name="Text Box 8"/>
          <p:cNvSpPr txBox="1">
            <a:spLocks noChangeArrowheads="1"/>
          </p:cNvSpPr>
          <p:nvPr/>
        </p:nvSpPr>
        <p:spPr bwMode="auto">
          <a:xfrm>
            <a:off x="3200400" y="2743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1447" name="Text Box 11"/>
          <p:cNvSpPr txBox="1">
            <a:spLocks noChangeArrowheads="1"/>
          </p:cNvSpPr>
          <p:nvPr/>
        </p:nvSpPr>
        <p:spPr bwMode="auto">
          <a:xfrm>
            <a:off x="6172200" y="19240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1448" name="Text Box 12"/>
          <p:cNvSpPr txBox="1">
            <a:spLocks noChangeArrowheads="1"/>
          </p:cNvSpPr>
          <p:nvPr/>
        </p:nvSpPr>
        <p:spPr bwMode="auto">
          <a:xfrm>
            <a:off x="1981200" y="12334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1449" name="Text Box 13"/>
          <p:cNvSpPr txBox="1">
            <a:spLocks noChangeArrowheads="1"/>
          </p:cNvSpPr>
          <p:nvPr/>
        </p:nvSpPr>
        <p:spPr bwMode="auto">
          <a:xfrm>
            <a:off x="1981200" y="2909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1450" name="Oval 14"/>
          <p:cNvSpPr>
            <a:spLocks noChangeArrowheads="1"/>
          </p:cNvSpPr>
          <p:nvPr/>
        </p:nvSpPr>
        <p:spPr bwMode="auto">
          <a:xfrm>
            <a:off x="2447925" y="3048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1451" name="Oval 15"/>
          <p:cNvSpPr>
            <a:spLocks noChangeArrowheads="1"/>
          </p:cNvSpPr>
          <p:nvPr/>
        </p:nvSpPr>
        <p:spPr bwMode="auto">
          <a:xfrm>
            <a:off x="2460625" y="1371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1452" name="Oval 18"/>
          <p:cNvSpPr>
            <a:spLocks noChangeArrowheads="1"/>
          </p:cNvSpPr>
          <p:nvPr/>
        </p:nvSpPr>
        <p:spPr bwMode="auto">
          <a:xfrm>
            <a:off x="7239000" y="2209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1453" name="Line 19"/>
          <p:cNvSpPr>
            <a:spLocks noChangeShapeType="1"/>
          </p:cNvSpPr>
          <p:nvPr/>
        </p:nvSpPr>
        <p:spPr bwMode="auto">
          <a:xfrm>
            <a:off x="3810000" y="1905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4" name="Line 20"/>
          <p:cNvSpPr>
            <a:spLocks noChangeShapeType="1"/>
          </p:cNvSpPr>
          <p:nvPr/>
        </p:nvSpPr>
        <p:spPr bwMode="auto">
          <a:xfrm>
            <a:off x="3810000" y="2209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5" name="Line 21"/>
          <p:cNvSpPr>
            <a:spLocks noChangeShapeType="1"/>
          </p:cNvSpPr>
          <p:nvPr/>
        </p:nvSpPr>
        <p:spPr bwMode="auto">
          <a:xfrm>
            <a:off x="3810000" y="2514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6" name="Line 22"/>
          <p:cNvSpPr>
            <a:spLocks noChangeShapeType="1"/>
          </p:cNvSpPr>
          <p:nvPr/>
        </p:nvSpPr>
        <p:spPr bwMode="auto">
          <a:xfrm flipV="1">
            <a:off x="3810000" y="2362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7" name="Line 23"/>
          <p:cNvSpPr>
            <a:spLocks noChangeShapeType="1"/>
          </p:cNvSpPr>
          <p:nvPr/>
        </p:nvSpPr>
        <p:spPr bwMode="auto">
          <a:xfrm flipV="1">
            <a:off x="3810000" y="2057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8" name="Line 24"/>
          <p:cNvSpPr>
            <a:spLocks noChangeShapeType="1"/>
          </p:cNvSpPr>
          <p:nvPr/>
        </p:nvSpPr>
        <p:spPr bwMode="auto">
          <a:xfrm flipV="1">
            <a:off x="3810000" y="18288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59" name="Line 25"/>
          <p:cNvSpPr>
            <a:spLocks noChangeShapeType="1"/>
          </p:cNvSpPr>
          <p:nvPr/>
        </p:nvSpPr>
        <p:spPr bwMode="auto">
          <a:xfrm flipV="1">
            <a:off x="3886200" y="26670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0" name="Line 26"/>
          <p:cNvSpPr>
            <a:spLocks noChangeShapeType="1"/>
          </p:cNvSpPr>
          <p:nvPr/>
        </p:nvSpPr>
        <p:spPr bwMode="auto">
          <a:xfrm flipV="1">
            <a:off x="3962400" y="14478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1" name="Line 27"/>
          <p:cNvSpPr>
            <a:spLocks noChangeShapeType="1"/>
          </p:cNvSpPr>
          <p:nvPr/>
        </p:nvSpPr>
        <p:spPr bwMode="auto">
          <a:xfrm flipV="1">
            <a:off x="3886200" y="2743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2" name="Line 28"/>
          <p:cNvSpPr>
            <a:spLocks noChangeShapeType="1"/>
          </p:cNvSpPr>
          <p:nvPr/>
        </p:nvSpPr>
        <p:spPr bwMode="auto">
          <a:xfrm>
            <a:off x="2578100" y="31242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3" name="Line 29"/>
          <p:cNvSpPr>
            <a:spLocks noChangeShapeType="1"/>
          </p:cNvSpPr>
          <p:nvPr/>
        </p:nvSpPr>
        <p:spPr bwMode="auto">
          <a:xfrm>
            <a:off x="2590800" y="14478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4" name="Line 30"/>
          <p:cNvSpPr>
            <a:spLocks noChangeShapeType="1"/>
          </p:cNvSpPr>
          <p:nvPr/>
        </p:nvSpPr>
        <p:spPr bwMode="auto">
          <a:xfrm>
            <a:off x="5867400" y="22860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5" name="Line 31"/>
          <p:cNvSpPr>
            <a:spLocks noChangeShapeType="1"/>
          </p:cNvSpPr>
          <p:nvPr/>
        </p:nvSpPr>
        <p:spPr bwMode="auto">
          <a:xfrm>
            <a:off x="5181600" y="2209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6" name="Line 32"/>
          <p:cNvSpPr>
            <a:spLocks noChangeShapeType="1"/>
          </p:cNvSpPr>
          <p:nvPr/>
        </p:nvSpPr>
        <p:spPr bwMode="auto">
          <a:xfrm>
            <a:off x="5410200" y="2209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7" name="Line 33"/>
          <p:cNvSpPr>
            <a:spLocks noChangeShapeType="1"/>
          </p:cNvSpPr>
          <p:nvPr/>
        </p:nvSpPr>
        <p:spPr bwMode="auto">
          <a:xfrm>
            <a:off x="5638800" y="2209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8" name="Line 34"/>
          <p:cNvSpPr>
            <a:spLocks noChangeShapeType="1"/>
          </p:cNvSpPr>
          <p:nvPr/>
        </p:nvSpPr>
        <p:spPr bwMode="auto">
          <a:xfrm flipV="1">
            <a:off x="5562600" y="22098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69" name="Line 35"/>
          <p:cNvSpPr>
            <a:spLocks noChangeShapeType="1"/>
          </p:cNvSpPr>
          <p:nvPr/>
        </p:nvSpPr>
        <p:spPr bwMode="auto">
          <a:xfrm flipV="1">
            <a:off x="5334000" y="22098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0" name="Line 36"/>
          <p:cNvSpPr>
            <a:spLocks noChangeShapeType="1"/>
          </p:cNvSpPr>
          <p:nvPr/>
        </p:nvSpPr>
        <p:spPr bwMode="auto">
          <a:xfrm flipV="1">
            <a:off x="5105400" y="22098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1" name="Line 37"/>
          <p:cNvSpPr>
            <a:spLocks noChangeShapeType="1"/>
          </p:cNvSpPr>
          <p:nvPr/>
        </p:nvSpPr>
        <p:spPr bwMode="auto">
          <a:xfrm flipV="1">
            <a:off x="5791200" y="22860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2" name="Line 38"/>
          <p:cNvSpPr>
            <a:spLocks noChangeShapeType="1"/>
          </p:cNvSpPr>
          <p:nvPr/>
        </p:nvSpPr>
        <p:spPr bwMode="auto">
          <a:xfrm>
            <a:off x="4724400" y="23622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3" name="Oval 39"/>
          <p:cNvSpPr>
            <a:spLocks noChangeArrowheads="1"/>
          </p:cNvSpPr>
          <p:nvPr/>
        </p:nvSpPr>
        <p:spPr bwMode="auto">
          <a:xfrm>
            <a:off x="4495800" y="25146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1474" name="Line 40"/>
          <p:cNvSpPr>
            <a:spLocks noChangeShapeType="1"/>
          </p:cNvSpPr>
          <p:nvPr/>
        </p:nvSpPr>
        <p:spPr bwMode="auto">
          <a:xfrm flipV="1">
            <a:off x="4724400" y="23622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5" name="Line 41"/>
          <p:cNvSpPr>
            <a:spLocks noChangeShapeType="1"/>
          </p:cNvSpPr>
          <p:nvPr/>
        </p:nvSpPr>
        <p:spPr bwMode="auto">
          <a:xfrm flipV="1">
            <a:off x="4724400" y="29718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476" name="Oval 50"/>
          <p:cNvSpPr>
            <a:spLocks noChangeArrowheads="1"/>
          </p:cNvSpPr>
          <p:nvPr/>
        </p:nvSpPr>
        <p:spPr bwMode="auto">
          <a:xfrm>
            <a:off x="4648200" y="3581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1477" name="Text Box 52"/>
          <p:cNvSpPr txBox="1">
            <a:spLocks noChangeArrowheads="1"/>
          </p:cNvSpPr>
          <p:nvPr/>
        </p:nvSpPr>
        <p:spPr bwMode="auto">
          <a:xfrm>
            <a:off x="5181600" y="18891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1478" name="Text Box 53"/>
          <p:cNvSpPr txBox="1">
            <a:spLocks noChangeArrowheads="1"/>
          </p:cNvSpPr>
          <p:nvPr/>
        </p:nvSpPr>
        <p:spPr bwMode="auto">
          <a:xfrm>
            <a:off x="4876800" y="2443163"/>
            <a:ext cx="6969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1479" name="Text Box 54"/>
          <p:cNvSpPr txBox="1">
            <a:spLocks noChangeArrowheads="1"/>
          </p:cNvSpPr>
          <p:nvPr/>
        </p:nvSpPr>
        <p:spPr bwMode="auto">
          <a:xfrm>
            <a:off x="4483100" y="22098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1480" name="Text Box 55"/>
          <p:cNvSpPr txBox="1">
            <a:spLocks noChangeArrowheads="1"/>
          </p:cNvSpPr>
          <p:nvPr/>
        </p:nvSpPr>
        <p:spPr bwMode="auto">
          <a:xfrm>
            <a:off x="4483100" y="28956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1481" name="Text Box 59"/>
          <p:cNvSpPr txBox="1">
            <a:spLocks noChangeArrowheads="1"/>
          </p:cNvSpPr>
          <p:nvPr/>
        </p:nvSpPr>
        <p:spPr bwMode="auto">
          <a:xfrm>
            <a:off x="3962400" y="2041525"/>
            <a:ext cx="4048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1482" name="Line 62"/>
          <p:cNvSpPr>
            <a:spLocks noChangeShapeType="1"/>
          </p:cNvSpPr>
          <p:nvPr/>
        </p:nvSpPr>
        <p:spPr bwMode="auto">
          <a:xfrm>
            <a:off x="2819400" y="25908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83" name="Line 63"/>
          <p:cNvSpPr>
            <a:spLocks noChangeShapeType="1"/>
          </p:cNvSpPr>
          <p:nvPr/>
        </p:nvSpPr>
        <p:spPr bwMode="auto">
          <a:xfrm flipV="1">
            <a:off x="2819400" y="14478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84" name="Text Box 64"/>
          <p:cNvSpPr txBox="1">
            <a:spLocks noChangeArrowheads="1"/>
          </p:cNvSpPr>
          <p:nvPr/>
        </p:nvSpPr>
        <p:spPr bwMode="auto">
          <a:xfrm>
            <a:off x="2590800" y="2139950"/>
            <a:ext cx="80803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1485" name="Text Box 65"/>
          <p:cNvSpPr txBox="1">
            <a:spLocks noChangeArrowheads="1"/>
          </p:cNvSpPr>
          <p:nvPr/>
        </p:nvSpPr>
        <p:spPr bwMode="auto">
          <a:xfrm>
            <a:off x="228600" y="19240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1486" name="Line 66"/>
          <p:cNvSpPr>
            <a:spLocks noChangeShapeType="1"/>
          </p:cNvSpPr>
          <p:nvPr/>
        </p:nvSpPr>
        <p:spPr bwMode="auto">
          <a:xfrm flipV="1">
            <a:off x="1981200" y="22860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87" name="Text Box 67"/>
          <p:cNvSpPr txBox="1">
            <a:spLocks noChangeArrowheads="1"/>
          </p:cNvSpPr>
          <p:nvPr/>
        </p:nvSpPr>
        <p:spPr bwMode="auto">
          <a:xfrm>
            <a:off x="3197225" y="614363"/>
            <a:ext cx="5064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1488" name="Text Box 68"/>
          <p:cNvSpPr txBox="1">
            <a:spLocks noChangeArrowheads="1"/>
          </p:cNvSpPr>
          <p:nvPr/>
        </p:nvSpPr>
        <p:spPr bwMode="auto">
          <a:xfrm rot="-5400000">
            <a:off x="3754438" y="338137"/>
            <a:ext cx="3254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1489" name="Line 69"/>
          <p:cNvSpPr>
            <a:spLocks noChangeShapeType="1"/>
          </p:cNvSpPr>
          <p:nvPr/>
        </p:nvSpPr>
        <p:spPr bwMode="auto">
          <a:xfrm flipV="1">
            <a:off x="3429000" y="5334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90" name="Text Box 70"/>
          <p:cNvSpPr txBox="1">
            <a:spLocks noChangeArrowheads="1"/>
          </p:cNvSpPr>
          <p:nvPr/>
        </p:nvSpPr>
        <p:spPr bwMode="auto">
          <a:xfrm>
            <a:off x="5334000" y="11572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1491" name="Text Box 71"/>
          <p:cNvSpPr txBox="1">
            <a:spLocks noChangeArrowheads="1"/>
          </p:cNvSpPr>
          <p:nvPr/>
        </p:nvSpPr>
        <p:spPr bwMode="auto">
          <a:xfrm>
            <a:off x="5943600" y="1117600"/>
            <a:ext cx="3254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1492" name="Line 72"/>
          <p:cNvSpPr>
            <a:spLocks noChangeShapeType="1"/>
          </p:cNvSpPr>
          <p:nvPr/>
        </p:nvSpPr>
        <p:spPr bwMode="auto">
          <a:xfrm flipV="1">
            <a:off x="5715000" y="13557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93" name="Text Box 73"/>
          <p:cNvSpPr txBox="1">
            <a:spLocks noChangeArrowheads="1"/>
          </p:cNvSpPr>
          <p:nvPr/>
        </p:nvSpPr>
        <p:spPr bwMode="auto">
          <a:xfrm>
            <a:off x="4953000" y="29860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1494" name="Text Box 74"/>
          <p:cNvSpPr txBox="1">
            <a:spLocks noChangeArrowheads="1"/>
          </p:cNvSpPr>
          <p:nvPr/>
        </p:nvSpPr>
        <p:spPr bwMode="auto">
          <a:xfrm rot="-5400000">
            <a:off x="5659438" y="2989262"/>
            <a:ext cx="3254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1495" name="Line 75"/>
          <p:cNvSpPr>
            <a:spLocks noChangeShapeType="1"/>
          </p:cNvSpPr>
          <p:nvPr/>
        </p:nvSpPr>
        <p:spPr bwMode="auto">
          <a:xfrm flipV="1">
            <a:off x="5334000" y="31845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96" name="Text Box 76"/>
          <p:cNvSpPr txBox="1">
            <a:spLocks noChangeArrowheads="1"/>
          </p:cNvSpPr>
          <p:nvPr/>
        </p:nvSpPr>
        <p:spPr bwMode="auto">
          <a:xfrm>
            <a:off x="2538413" y="868363"/>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1497" name="Text Box 77"/>
          <p:cNvSpPr txBox="1">
            <a:spLocks noChangeArrowheads="1"/>
          </p:cNvSpPr>
          <p:nvPr/>
        </p:nvSpPr>
        <p:spPr bwMode="auto">
          <a:xfrm>
            <a:off x="2667000" y="3290888"/>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1498" name="Line 78"/>
          <p:cNvSpPr>
            <a:spLocks noChangeShapeType="1"/>
          </p:cNvSpPr>
          <p:nvPr/>
        </p:nvSpPr>
        <p:spPr bwMode="auto">
          <a:xfrm flipV="1">
            <a:off x="2895600" y="12954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499" name="Line 79"/>
          <p:cNvSpPr>
            <a:spLocks noChangeShapeType="1"/>
          </p:cNvSpPr>
          <p:nvPr/>
        </p:nvSpPr>
        <p:spPr bwMode="auto">
          <a:xfrm flipV="1">
            <a:off x="2971800" y="32004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500" name="Text Box 80"/>
          <p:cNvSpPr txBox="1">
            <a:spLocks noChangeArrowheads="1"/>
          </p:cNvSpPr>
          <p:nvPr/>
        </p:nvSpPr>
        <p:spPr bwMode="auto">
          <a:xfrm>
            <a:off x="7315200" y="2062163"/>
            <a:ext cx="13287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1501" name="Text Box 81"/>
          <p:cNvSpPr txBox="1">
            <a:spLocks noChangeArrowheads="1"/>
          </p:cNvSpPr>
          <p:nvPr/>
        </p:nvSpPr>
        <p:spPr bwMode="auto">
          <a:xfrm>
            <a:off x="46038" y="4629150"/>
            <a:ext cx="9174162" cy="223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b="1">
                <a:solidFill>
                  <a:srgbClr val="000099"/>
                </a:solidFill>
                <a:latin typeface="Times New Roman" pitchFamily="18" charset="0"/>
                <a:cs typeface="Times New Roman" pitchFamily="18" charset="0"/>
              </a:rPr>
              <a:t>Important characteristics of Op-Amp</a:t>
            </a:r>
          </a:p>
          <a:p>
            <a:pPr>
              <a:buFontTx/>
              <a:buAutoNum type="arabicPeriod"/>
            </a:pPr>
            <a:r>
              <a:rPr lang="en-US" sz="2400">
                <a:solidFill>
                  <a:srgbClr val="000099"/>
                </a:solidFill>
                <a:latin typeface="Times New Roman" pitchFamily="18" charset="0"/>
                <a:cs typeface="Times New Roman" pitchFamily="18" charset="0"/>
              </a:rPr>
              <a:t>Infinite voltage gain  (             )</a:t>
            </a:r>
          </a:p>
          <a:p>
            <a:r>
              <a:rPr lang="en-US" sz="2400">
                <a:latin typeface="Times New Roman" pitchFamily="18" charset="0"/>
                <a:cs typeface="Times New Roman" pitchFamily="18" charset="0"/>
              </a:rPr>
              <a:t>     the open loop gain of an ideal OP-AMP is denoted by Av. It is the </a:t>
            </a:r>
          </a:p>
          <a:p>
            <a:r>
              <a:rPr lang="en-US" sz="2400">
                <a:latin typeface="Times New Roman" pitchFamily="18" charset="0"/>
                <a:cs typeface="Times New Roman" pitchFamily="18" charset="0"/>
              </a:rPr>
              <a:t>     differential voltage gain and its value for an ideal OP-AMP is infinite.</a:t>
            </a:r>
          </a:p>
          <a:p>
            <a:r>
              <a:rPr lang="en-US" sz="2400">
                <a:latin typeface="Times New Roman" pitchFamily="18" charset="0"/>
                <a:cs typeface="Times New Roman" pitchFamily="18" charset="0"/>
              </a:rPr>
              <a:t>     </a:t>
            </a:r>
          </a:p>
        </p:txBody>
      </p:sp>
      <p:sp>
        <p:nvSpPr>
          <p:cNvPr id="61502" name="Line 82"/>
          <p:cNvSpPr>
            <a:spLocks noChangeShapeType="1"/>
          </p:cNvSpPr>
          <p:nvPr/>
        </p:nvSpPr>
        <p:spPr bwMode="auto">
          <a:xfrm flipV="1">
            <a:off x="4724400" y="3733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503" name="Line 83"/>
          <p:cNvSpPr>
            <a:spLocks noChangeShapeType="1"/>
          </p:cNvSpPr>
          <p:nvPr/>
        </p:nvSpPr>
        <p:spPr bwMode="auto">
          <a:xfrm>
            <a:off x="4495800" y="4038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504" name="Line 84"/>
          <p:cNvSpPr>
            <a:spLocks noChangeShapeType="1"/>
          </p:cNvSpPr>
          <p:nvPr/>
        </p:nvSpPr>
        <p:spPr bwMode="auto">
          <a:xfrm>
            <a:off x="4572000" y="4114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505" name="Line 85"/>
          <p:cNvSpPr>
            <a:spLocks noChangeShapeType="1"/>
          </p:cNvSpPr>
          <p:nvPr/>
        </p:nvSpPr>
        <p:spPr bwMode="auto">
          <a:xfrm>
            <a:off x="4648200" y="4191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1506" name="Text Box 90"/>
          <p:cNvSpPr txBox="1">
            <a:spLocks noChangeArrowheads="1"/>
          </p:cNvSpPr>
          <p:nvPr/>
        </p:nvSpPr>
        <p:spPr bwMode="auto">
          <a:xfrm>
            <a:off x="3124200" y="5105400"/>
            <a:ext cx="6000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 A</a:t>
            </a:r>
            <a:r>
              <a:rPr lang="en-US" b="1" baseline="-25000">
                <a:solidFill>
                  <a:srgbClr val="000099"/>
                </a:solidFill>
                <a:latin typeface="Arial" pitchFamily="34" charset="0"/>
              </a:rPr>
              <a:t>V  </a:t>
            </a:r>
          </a:p>
        </p:txBody>
      </p:sp>
      <p:sp>
        <p:nvSpPr>
          <p:cNvPr id="61507" name="Text Box 91"/>
          <p:cNvSpPr txBox="1">
            <a:spLocks noChangeArrowheads="1"/>
          </p:cNvSpPr>
          <p:nvPr/>
        </p:nvSpPr>
        <p:spPr bwMode="auto">
          <a:xfrm rot="-5400000">
            <a:off x="3930650" y="5137150"/>
            <a:ext cx="125413"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8</a:t>
            </a:r>
          </a:p>
        </p:txBody>
      </p:sp>
      <p:sp>
        <p:nvSpPr>
          <p:cNvPr id="61508" name="Line 92"/>
          <p:cNvSpPr>
            <a:spLocks noChangeShapeType="1"/>
          </p:cNvSpPr>
          <p:nvPr/>
        </p:nvSpPr>
        <p:spPr bwMode="auto">
          <a:xfrm flipV="1">
            <a:off x="3581400" y="53340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1509" name="Text Box 93"/>
          <p:cNvSpPr txBox="1">
            <a:spLocks noChangeArrowheads="1"/>
          </p:cNvSpPr>
          <p:nvPr/>
        </p:nvSpPr>
        <p:spPr bwMode="auto">
          <a:xfrm>
            <a:off x="3170238" y="6415088"/>
            <a:ext cx="12652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Vo = A</a:t>
            </a:r>
            <a:r>
              <a:rPr lang="en-US" b="1" baseline="-18000">
                <a:solidFill>
                  <a:srgbClr val="000099"/>
                </a:solidFill>
                <a:latin typeface="Arial" pitchFamily="34" charset="0"/>
              </a:rPr>
              <a:t>V</a:t>
            </a:r>
            <a:r>
              <a:rPr lang="en-US" b="1">
                <a:solidFill>
                  <a:srgbClr val="000099"/>
                </a:solidFill>
                <a:latin typeface="Arial" pitchFamily="34" charset="0"/>
              </a:rPr>
              <a:t>V</a:t>
            </a:r>
            <a:r>
              <a:rPr lang="en-US" b="1" baseline="-18000">
                <a:solidFill>
                  <a:srgbClr val="000099"/>
                </a:solidFill>
                <a:latin typeface="Arial" pitchFamily="34" charset="0"/>
              </a:rPr>
              <a:t>D</a:t>
            </a:r>
          </a:p>
        </p:txBody>
      </p:sp>
      <p:sp>
        <p:nvSpPr>
          <p:cNvPr id="3" name="Slide Number Placeholder 2"/>
          <p:cNvSpPr>
            <a:spLocks noGrp="1"/>
          </p:cNvSpPr>
          <p:nvPr>
            <p:ph type="sldNum" sz="quarter" idx="12"/>
          </p:nvPr>
        </p:nvSpPr>
        <p:spPr/>
        <p:txBody>
          <a:bodyPr/>
          <a:lstStyle/>
          <a:p>
            <a:pPr>
              <a:defRPr/>
            </a:pPr>
            <a:fld id="{93CBEA97-2122-4314-ABEF-8DE2A05AC463}" type="slidenum">
              <a:rPr lang="en-US"/>
              <a:pPr>
                <a:defRPr/>
              </a:pPr>
              <a:t>32</a:t>
            </a:fld>
            <a:endParaRPr lang="en-US"/>
          </a:p>
        </p:txBody>
      </p:sp>
    </p:spTree>
    <p:extLst>
      <p:ext uri="{BB962C8B-B14F-4D97-AF65-F5344CB8AC3E}">
        <p14:creationId xmlns:p14="http://schemas.microsoft.com/office/powerpoint/2010/main" xmlns="" val="36628264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2467"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68"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2469"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2470"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2471"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2472"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2473"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2474"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2475"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2476"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2477"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78"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79"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0"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1"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2"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3"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4"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5"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6"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7"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8"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89"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0"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1"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2"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3"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4"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5"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6"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7"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2498"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499"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500"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2501"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2502" name="Text Box 38"/>
          <p:cNvSpPr txBox="1">
            <a:spLocks noChangeArrowheads="1"/>
          </p:cNvSpPr>
          <p:nvPr/>
        </p:nvSpPr>
        <p:spPr bwMode="auto">
          <a:xfrm>
            <a:off x="4979988" y="2722563"/>
            <a:ext cx="6969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2503"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2504"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2505"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2506"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07"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08"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2509"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2510"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11"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2512"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2513"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14"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2515"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2516"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17"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2518"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2519"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20"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2521"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2522"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23"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2524"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2525" name="Text Box 61"/>
          <p:cNvSpPr txBox="1">
            <a:spLocks noChangeArrowheads="1"/>
          </p:cNvSpPr>
          <p:nvPr/>
        </p:nvSpPr>
        <p:spPr bwMode="auto">
          <a:xfrm>
            <a:off x="-68263" y="4629150"/>
            <a:ext cx="8983663" cy="2160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400">
                <a:solidFill>
                  <a:srgbClr val="000099"/>
                </a:solidFill>
                <a:latin typeface="Times New Roman" pitchFamily="18" charset="0"/>
                <a:cs typeface="Times New Roman" pitchFamily="18" charset="0"/>
              </a:rPr>
              <a:t>2.  Infinite input resistance  (R</a:t>
            </a:r>
            <a:r>
              <a:rPr lang="en-US" sz="2400" baseline="-25000">
                <a:solidFill>
                  <a:srgbClr val="000099"/>
                </a:solidFill>
                <a:latin typeface="Times New Roman" pitchFamily="18" charset="0"/>
                <a:cs typeface="Times New Roman" pitchFamily="18" charset="0"/>
              </a:rPr>
              <a:t>i </a:t>
            </a:r>
            <a:r>
              <a:rPr lang="en-US" sz="2400" baseline="-25000">
                <a:solidFill>
                  <a:srgbClr val="000099"/>
                </a:solidFill>
                <a:latin typeface="Times New Roman" pitchFamily="18" charset="0"/>
                <a:cs typeface="Times New Roman" pitchFamily="18" charset="0"/>
                <a:sym typeface="Wingdings" pitchFamily="2" charset="2"/>
              </a:rPr>
              <a:t> </a:t>
            </a:r>
            <a:r>
              <a:rPr lang="en-US" sz="2400">
                <a:solidFill>
                  <a:srgbClr val="000099"/>
                </a:solidFill>
                <a:latin typeface="Times New Roman" pitchFamily="18" charset="0"/>
                <a:cs typeface="Times New Roman" pitchFamily="18" charset="0"/>
              </a:rPr>
              <a:t>∞)</a:t>
            </a:r>
          </a:p>
          <a:p>
            <a:pPr algn="just"/>
            <a:r>
              <a:rPr lang="en-US" sz="2400">
                <a:latin typeface="Times New Roman" pitchFamily="18" charset="0"/>
                <a:cs typeface="Times New Roman" pitchFamily="18" charset="0"/>
              </a:rPr>
              <a:t>     the input resistance Ri of an ideal OP-amp is infinite. Due to this, </a:t>
            </a:r>
          </a:p>
          <a:p>
            <a:pPr algn="just"/>
            <a:r>
              <a:rPr lang="en-US" sz="2400">
                <a:latin typeface="Times New Roman" pitchFamily="18" charset="0"/>
                <a:cs typeface="Times New Roman" pitchFamily="18" charset="0"/>
              </a:rPr>
              <a:t>     the current flowing in each input terminal will be zero.</a:t>
            </a:r>
          </a:p>
          <a:p>
            <a:pPr algn="just"/>
            <a:r>
              <a:rPr lang="en-US" sz="2400">
                <a:latin typeface="Times New Roman" pitchFamily="18" charset="0"/>
                <a:cs typeface="Times New Roman" pitchFamily="18" charset="0"/>
              </a:rPr>
              <a:t>     due to infinite input resistance, almost any source can drive it and there  is no loading of the source.     </a:t>
            </a:r>
          </a:p>
        </p:txBody>
      </p:sp>
      <p:sp>
        <p:nvSpPr>
          <p:cNvPr id="62526"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527"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528"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529"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2530" name="Text Box 70"/>
          <p:cNvSpPr txBox="1">
            <a:spLocks noChangeArrowheads="1"/>
          </p:cNvSpPr>
          <p:nvPr/>
        </p:nvSpPr>
        <p:spPr bwMode="auto">
          <a:xfrm>
            <a:off x="7086600" y="5562600"/>
            <a:ext cx="7651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I</a:t>
            </a:r>
            <a:r>
              <a:rPr lang="en-US" b="1" baseline="-25000">
                <a:solidFill>
                  <a:srgbClr val="FF0000"/>
                </a:solidFill>
                <a:latin typeface="Arial" pitchFamily="34" charset="0"/>
              </a:rPr>
              <a:t>B1</a:t>
            </a:r>
            <a:r>
              <a:rPr lang="en-US" b="1">
                <a:solidFill>
                  <a:srgbClr val="FF0000"/>
                </a:solidFill>
                <a:latin typeface="Arial" pitchFamily="34" charset="0"/>
              </a:rPr>
              <a:t>= 0</a:t>
            </a:r>
          </a:p>
        </p:txBody>
      </p:sp>
      <p:sp>
        <p:nvSpPr>
          <p:cNvPr id="62531" name="Text Box 71"/>
          <p:cNvSpPr txBox="1">
            <a:spLocks noChangeArrowheads="1"/>
          </p:cNvSpPr>
          <p:nvPr/>
        </p:nvSpPr>
        <p:spPr bwMode="auto">
          <a:xfrm>
            <a:off x="8077200" y="5562600"/>
            <a:ext cx="76517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I</a:t>
            </a:r>
            <a:r>
              <a:rPr lang="en-US" b="1" baseline="-25000">
                <a:solidFill>
                  <a:srgbClr val="FF0000"/>
                </a:solidFill>
                <a:latin typeface="Arial" pitchFamily="34" charset="0"/>
              </a:rPr>
              <a:t>B2</a:t>
            </a:r>
            <a:r>
              <a:rPr lang="en-US" b="1">
                <a:solidFill>
                  <a:srgbClr val="FF0000"/>
                </a:solidFill>
                <a:latin typeface="Arial" pitchFamily="34" charset="0"/>
              </a:rPr>
              <a:t>= 0</a:t>
            </a:r>
          </a:p>
        </p:txBody>
      </p:sp>
      <p:sp>
        <p:nvSpPr>
          <p:cNvPr id="3" name="Slide Number Placeholder 2"/>
          <p:cNvSpPr>
            <a:spLocks noGrp="1"/>
          </p:cNvSpPr>
          <p:nvPr>
            <p:ph type="sldNum" sz="quarter" idx="12"/>
          </p:nvPr>
        </p:nvSpPr>
        <p:spPr/>
        <p:txBody>
          <a:bodyPr/>
          <a:lstStyle/>
          <a:p>
            <a:pPr>
              <a:defRPr/>
            </a:pPr>
            <a:fld id="{87AA166C-D4FE-411A-B295-716ED96EDFE6}" type="slidenum">
              <a:rPr lang="en-US"/>
              <a:pPr>
                <a:defRPr/>
              </a:pPr>
              <a:t>33</a:t>
            </a:fld>
            <a:endParaRPr lang="en-US"/>
          </a:p>
        </p:txBody>
      </p:sp>
    </p:spTree>
    <p:extLst>
      <p:ext uri="{BB962C8B-B14F-4D97-AF65-F5344CB8AC3E}">
        <p14:creationId xmlns:p14="http://schemas.microsoft.com/office/powerpoint/2010/main" xmlns="" val="1517540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3491"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492"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3493"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3494"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3495"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3496"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3497"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3498"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3499"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3500"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3501"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2"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3"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4"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5"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6"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7"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8"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09"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0"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1"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2"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3"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4"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5"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6"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7"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8"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19"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20"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21"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3522"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23"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24"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3525"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3526" name="Text Box 38"/>
          <p:cNvSpPr txBox="1">
            <a:spLocks noChangeArrowheads="1"/>
          </p:cNvSpPr>
          <p:nvPr/>
        </p:nvSpPr>
        <p:spPr bwMode="auto">
          <a:xfrm>
            <a:off x="4979988" y="2722563"/>
            <a:ext cx="6969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3527"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3528"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3529"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3530"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31"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32"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3533"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3534"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35"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3536"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3537"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38"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3539"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3540"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41"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3542"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3543"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44"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3545"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3546"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47"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3548"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3549" name="Text Box 61"/>
          <p:cNvSpPr txBox="1">
            <a:spLocks noChangeArrowheads="1"/>
          </p:cNvSpPr>
          <p:nvPr/>
        </p:nvSpPr>
        <p:spPr bwMode="auto">
          <a:xfrm>
            <a:off x="304800" y="4629150"/>
            <a:ext cx="8553450" cy="179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3.  Zero output resistance  (      =       )</a:t>
            </a:r>
          </a:p>
          <a:p>
            <a:r>
              <a:rPr lang="en-US" sz="2400">
                <a:latin typeface="Times New Roman" pitchFamily="18" charset="0"/>
                <a:cs typeface="Times New Roman" pitchFamily="18" charset="0"/>
              </a:rPr>
              <a:t>     the output resistance Ro of an ideal OP-amp is zero. Due to this, </a:t>
            </a:r>
          </a:p>
          <a:p>
            <a:r>
              <a:rPr lang="en-US" sz="2400">
                <a:latin typeface="Times New Roman" pitchFamily="18" charset="0"/>
                <a:cs typeface="Times New Roman" pitchFamily="18" charset="0"/>
              </a:rPr>
              <a:t>     the ideal Op-amp can handle infinite number of other devices.</a:t>
            </a:r>
          </a:p>
          <a:p>
            <a:r>
              <a:rPr lang="en-US" sz="2400">
                <a:latin typeface="Times New Roman" pitchFamily="18" charset="0"/>
                <a:cs typeface="Times New Roman" pitchFamily="18" charset="0"/>
              </a:rPr>
              <a:t>     </a:t>
            </a:r>
          </a:p>
        </p:txBody>
      </p:sp>
      <p:sp>
        <p:nvSpPr>
          <p:cNvPr id="63550"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51"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52"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53"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3554" name="Text Box 66"/>
          <p:cNvSpPr txBox="1">
            <a:spLocks noChangeArrowheads="1"/>
          </p:cNvSpPr>
          <p:nvPr/>
        </p:nvSpPr>
        <p:spPr bwMode="auto">
          <a:xfrm>
            <a:off x="3733800" y="4648200"/>
            <a:ext cx="558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R</a:t>
            </a:r>
            <a:r>
              <a:rPr lang="en-US" b="1" baseline="-25000">
                <a:solidFill>
                  <a:srgbClr val="FF0000"/>
                </a:solidFill>
                <a:latin typeface="Arial" pitchFamily="34" charset="0"/>
              </a:rPr>
              <a:t>O  </a:t>
            </a:r>
          </a:p>
        </p:txBody>
      </p:sp>
      <p:sp>
        <p:nvSpPr>
          <p:cNvPr id="63555" name="Text Box 67"/>
          <p:cNvSpPr txBox="1">
            <a:spLocks noChangeArrowheads="1"/>
          </p:cNvSpPr>
          <p:nvPr/>
        </p:nvSpPr>
        <p:spPr bwMode="auto">
          <a:xfrm>
            <a:off x="4322763" y="4656138"/>
            <a:ext cx="3254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0</a:t>
            </a:r>
          </a:p>
        </p:txBody>
      </p:sp>
      <p:sp>
        <p:nvSpPr>
          <p:cNvPr id="3" name="Slide Number Placeholder 2"/>
          <p:cNvSpPr>
            <a:spLocks noGrp="1"/>
          </p:cNvSpPr>
          <p:nvPr>
            <p:ph type="sldNum" sz="quarter" idx="12"/>
          </p:nvPr>
        </p:nvSpPr>
        <p:spPr/>
        <p:txBody>
          <a:bodyPr/>
          <a:lstStyle/>
          <a:p>
            <a:pPr>
              <a:defRPr/>
            </a:pPr>
            <a:fld id="{6D7D06BA-F1D6-4403-866C-979C839430B0}" type="slidenum">
              <a:rPr lang="en-US"/>
              <a:pPr>
                <a:defRPr/>
              </a:pPr>
              <a:t>34</a:t>
            </a:fld>
            <a:endParaRPr lang="en-US"/>
          </a:p>
        </p:txBody>
      </p:sp>
    </p:spTree>
    <p:extLst>
      <p:ext uri="{BB962C8B-B14F-4D97-AF65-F5344CB8AC3E}">
        <p14:creationId xmlns:p14="http://schemas.microsoft.com/office/powerpoint/2010/main" xmlns="" val="2697329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4515"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16"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4517"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4518"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4519"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4520"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4521"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4522"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4523"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4524"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4525"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26"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27"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28"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29"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0"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1"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2"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3"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4"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5"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6"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7"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8"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39"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0"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1"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2"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3"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4"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5"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4546"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7"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48"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4549"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4550" name="Text Box 38"/>
          <p:cNvSpPr txBox="1">
            <a:spLocks noChangeArrowheads="1"/>
          </p:cNvSpPr>
          <p:nvPr/>
        </p:nvSpPr>
        <p:spPr bwMode="auto">
          <a:xfrm>
            <a:off x="4979988" y="2722563"/>
            <a:ext cx="6969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4551"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4552"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4553"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4554"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55"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56"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4557"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4558"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59"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4560"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4561"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62"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4563"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4564"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65"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4566"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4567"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68"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4569"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4570"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71"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4572"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4573" name="Text Box 61"/>
          <p:cNvSpPr txBox="1">
            <a:spLocks noChangeArrowheads="1"/>
          </p:cNvSpPr>
          <p:nvPr/>
        </p:nvSpPr>
        <p:spPr bwMode="auto">
          <a:xfrm>
            <a:off x="0" y="4179888"/>
            <a:ext cx="9372600" cy="267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4.  Zero offset voltage </a:t>
            </a:r>
          </a:p>
          <a:p>
            <a:r>
              <a:rPr lang="en-US" sz="2400">
                <a:latin typeface="Times New Roman" pitchFamily="18" charset="0"/>
                <a:cs typeface="Times New Roman" pitchFamily="18" charset="0"/>
              </a:rPr>
              <a:t>     in practical Op-amps a small output voltage is present even though</a:t>
            </a:r>
          </a:p>
          <a:p>
            <a:r>
              <a:rPr lang="en-US" sz="2400">
                <a:latin typeface="Times New Roman" pitchFamily="18" charset="0"/>
                <a:cs typeface="Times New Roman" pitchFamily="18" charset="0"/>
              </a:rPr>
              <a:t>     both the inputs V1 ad V2 are having a zero value.</a:t>
            </a:r>
          </a:p>
          <a:p>
            <a:r>
              <a:rPr lang="en-US" sz="2400">
                <a:latin typeface="Times New Roman" pitchFamily="18" charset="0"/>
                <a:cs typeface="Times New Roman" pitchFamily="18" charset="0"/>
              </a:rPr>
              <a:t>     This voltage is called as the offset voltage.</a:t>
            </a:r>
          </a:p>
          <a:p>
            <a:r>
              <a:rPr lang="en-US" sz="2400">
                <a:latin typeface="Times New Roman" pitchFamily="18" charset="0"/>
                <a:cs typeface="Times New Roman" pitchFamily="18" charset="0"/>
              </a:rPr>
              <a:t>     for ideal  Op-amp the offset voltage is zero.</a:t>
            </a:r>
          </a:p>
          <a:p>
            <a:r>
              <a:rPr lang="en-US" sz="2400">
                <a:latin typeface="Times New Roman" pitchFamily="18" charset="0"/>
                <a:cs typeface="Times New Roman" pitchFamily="18" charset="0"/>
              </a:rPr>
              <a:t>     That means output voltage is zero when input voltage is zero.</a:t>
            </a:r>
          </a:p>
        </p:txBody>
      </p:sp>
      <p:sp>
        <p:nvSpPr>
          <p:cNvPr id="64574"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75"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76"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4577"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E14F73CF-18AD-419F-8688-0B5AE31C4EF3}" type="slidenum">
              <a:rPr lang="en-US"/>
              <a:pPr>
                <a:defRPr/>
              </a:pPr>
              <a:t>35</a:t>
            </a:fld>
            <a:endParaRPr lang="en-US"/>
          </a:p>
        </p:txBody>
      </p:sp>
    </p:spTree>
    <p:extLst>
      <p:ext uri="{BB962C8B-B14F-4D97-AF65-F5344CB8AC3E}">
        <p14:creationId xmlns:p14="http://schemas.microsoft.com/office/powerpoint/2010/main" xmlns="" val="4043006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5539"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40"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5541"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5542"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5543"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5544"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5545"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5546"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5547"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5548"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5549"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0"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1"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2"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3"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4"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5"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6"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7"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8"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59"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0"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1"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2"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3"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4"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5"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6"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7"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8"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69"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5570"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71"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72"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5573"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5574" name="Text Box 38"/>
          <p:cNvSpPr txBox="1">
            <a:spLocks noChangeArrowheads="1"/>
          </p:cNvSpPr>
          <p:nvPr/>
        </p:nvSpPr>
        <p:spPr bwMode="auto">
          <a:xfrm>
            <a:off x="4979988" y="2722563"/>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5575"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5576"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5577"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5578"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79"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80"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5581"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5582"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83"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5584"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5585"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86"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5587"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5588"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89"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5590"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5591"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92"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5593"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5594"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95"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5596"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5597" name="Text Box 61"/>
          <p:cNvSpPr txBox="1">
            <a:spLocks noChangeArrowheads="1"/>
          </p:cNvSpPr>
          <p:nvPr/>
        </p:nvSpPr>
        <p:spPr bwMode="auto">
          <a:xfrm>
            <a:off x="0" y="4179888"/>
            <a:ext cx="9447213" cy="2678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5.  Infinite Bandwidth </a:t>
            </a:r>
          </a:p>
          <a:p>
            <a:r>
              <a:rPr lang="en-US" sz="2400">
                <a:latin typeface="Times New Roman" pitchFamily="18" charset="0"/>
                <a:cs typeface="Times New Roman" pitchFamily="18" charset="0"/>
              </a:rPr>
              <a:t>     Bandwidth of an amplifier is the range of frequencies over which all</a:t>
            </a:r>
          </a:p>
          <a:p>
            <a:r>
              <a:rPr lang="en-US" sz="2400">
                <a:latin typeface="Times New Roman" pitchFamily="18" charset="0"/>
                <a:cs typeface="Times New Roman" pitchFamily="18" charset="0"/>
              </a:rPr>
              <a:t>     the signal frequencies are amplified almost equally.</a:t>
            </a:r>
          </a:p>
          <a:p>
            <a:r>
              <a:rPr lang="en-US" sz="2400">
                <a:latin typeface="Times New Roman" pitchFamily="18" charset="0"/>
                <a:cs typeface="Times New Roman" pitchFamily="18" charset="0"/>
              </a:rPr>
              <a:t>     The bandwidth of an ideal Op-amp is infinite. So it can amplify any </a:t>
            </a:r>
          </a:p>
          <a:p>
            <a:r>
              <a:rPr lang="en-US" sz="2400">
                <a:latin typeface="Times New Roman" pitchFamily="18" charset="0"/>
                <a:cs typeface="Times New Roman" pitchFamily="18" charset="0"/>
              </a:rPr>
              <a:t>     frequency from zero to infinite hertz.</a:t>
            </a:r>
          </a:p>
          <a:p>
            <a:r>
              <a:rPr lang="en-US" sz="2400">
                <a:latin typeface="Times New Roman" pitchFamily="18" charset="0"/>
                <a:cs typeface="Times New Roman" pitchFamily="18" charset="0"/>
              </a:rPr>
              <a:t> Thus the gain of an ideal amplifier is constant from zero to infinite hertz.</a:t>
            </a:r>
          </a:p>
        </p:txBody>
      </p:sp>
      <p:sp>
        <p:nvSpPr>
          <p:cNvPr id="65598"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599"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600"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5601"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6085D6E4-C8BD-4D84-98BE-0B235DFBF794}" type="slidenum">
              <a:rPr lang="en-US"/>
              <a:pPr>
                <a:defRPr/>
              </a:pPr>
              <a:t>36</a:t>
            </a:fld>
            <a:endParaRPr lang="en-US"/>
          </a:p>
        </p:txBody>
      </p:sp>
    </p:spTree>
    <p:extLst>
      <p:ext uri="{BB962C8B-B14F-4D97-AF65-F5344CB8AC3E}">
        <p14:creationId xmlns:p14="http://schemas.microsoft.com/office/powerpoint/2010/main" xmlns="" val="1873357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6563"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64"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6565"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6566"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6567"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6568"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6569"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6570"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6571"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6572"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6573"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4"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5"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6"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7"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8"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79"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0"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1"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2"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3"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4"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5"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6"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7"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8"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89"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0"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1"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2"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3"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6594"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5"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596"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6597"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6598" name="Text Box 38"/>
          <p:cNvSpPr txBox="1">
            <a:spLocks noChangeArrowheads="1"/>
          </p:cNvSpPr>
          <p:nvPr/>
        </p:nvSpPr>
        <p:spPr bwMode="auto">
          <a:xfrm>
            <a:off x="4979988" y="2722563"/>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6599"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6600"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6601"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6602"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03"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04"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6605"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6606"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07"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6608"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6609"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10"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6611"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6612"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13"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6614"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6615"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16"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6617"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6618"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19"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6620"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6621" name="Text Box 61"/>
          <p:cNvSpPr txBox="1">
            <a:spLocks noChangeArrowheads="1"/>
          </p:cNvSpPr>
          <p:nvPr/>
        </p:nvSpPr>
        <p:spPr bwMode="auto">
          <a:xfrm>
            <a:off x="0" y="4419600"/>
            <a:ext cx="9304338" cy="1938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6.  Infinite CMRR </a:t>
            </a:r>
          </a:p>
          <a:p>
            <a:r>
              <a:rPr lang="en-US" sz="2400">
                <a:latin typeface="Times New Roman" pitchFamily="18" charset="0"/>
                <a:cs typeface="Times New Roman" pitchFamily="18" charset="0"/>
              </a:rPr>
              <a:t>     for an Op-amp, the common mode rejection ratio (CMRR) id defined </a:t>
            </a:r>
          </a:p>
          <a:p>
            <a:r>
              <a:rPr lang="en-US" sz="2400">
                <a:latin typeface="Times New Roman" pitchFamily="18" charset="0"/>
                <a:cs typeface="Times New Roman" pitchFamily="18" charset="0"/>
              </a:rPr>
              <a:t>     as the ratio of differential gain to common mode gain.</a:t>
            </a:r>
          </a:p>
          <a:p>
            <a:r>
              <a:rPr lang="en-US" sz="2400">
                <a:latin typeface="Times New Roman" pitchFamily="18" charset="0"/>
                <a:cs typeface="Times New Roman" pitchFamily="18" charset="0"/>
              </a:rPr>
              <a:t>     CMRR is infinite for the ideal Op-amp.</a:t>
            </a:r>
          </a:p>
          <a:p>
            <a:r>
              <a:rPr lang="en-US" sz="2400">
                <a:solidFill>
                  <a:srgbClr val="00B050"/>
                </a:solidFill>
                <a:latin typeface="Times New Roman" pitchFamily="18" charset="0"/>
                <a:cs typeface="Times New Roman" pitchFamily="18" charset="0"/>
              </a:rPr>
              <a:t>Thus the output voltage corresponding to the common mode noise is zero.</a:t>
            </a:r>
          </a:p>
        </p:txBody>
      </p:sp>
      <p:sp>
        <p:nvSpPr>
          <p:cNvPr id="66622"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623"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624"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6625"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9C899D1D-AF6A-4ACE-B3DD-BBD5B49EC13A}" type="slidenum">
              <a:rPr lang="en-US"/>
              <a:pPr>
                <a:defRPr/>
              </a:pPr>
              <a:t>37</a:t>
            </a:fld>
            <a:endParaRPr lang="en-US"/>
          </a:p>
        </p:txBody>
      </p:sp>
    </p:spTree>
    <p:extLst>
      <p:ext uri="{BB962C8B-B14F-4D97-AF65-F5344CB8AC3E}">
        <p14:creationId xmlns:p14="http://schemas.microsoft.com/office/powerpoint/2010/main" xmlns="" val="26927167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7587"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588"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7589"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7590"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7591"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7592"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7593"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7594"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7595"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7596"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7597"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598"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599"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0"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1"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2"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3"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4"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5"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6"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7"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8"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09"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0"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1"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2"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3"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4"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5"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6"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7"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7618"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19"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20"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7621"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7622" name="Text Box 38"/>
          <p:cNvSpPr txBox="1">
            <a:spLocks noChangeArrowheads="1"/>
          </p:cNvSpPr>
          <p:nvPr/>
        </p:nvSpPr>
        <p:spPr bwMode="auto">
          <a:xfrm>
            <a:off x="4979988" y="2722563"/>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7623"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7624"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7625"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7626"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27"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28"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7629"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7630"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31"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7632"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7633"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34"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7635"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7636"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37"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7638"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7639"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40"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7641"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7642"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43"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7644"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7645" name="Text Box 61"/>
          <p:cNvSpPr txBox="1">
            <a:spLocks noChangeArrowheads="1"/>
          </p:cNvSpPr>
          <p:nvPr/>
        </p:nvSpPr>
        <p:spPr bwMode="auto">
          <a:xfrm>
            <a:off x="55563" y="4800600"/>
            <a:ext cx="9088437"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7.  Infinite slew rate </a:t>
            </a:r>
          </a:p>
          <a:p>
            <a:r>
              <a:rPr lang="en-US" sz="2400">
                <a:latin typeface="Times New Roman" pitchFamily="18" charset="0"/>
                <a:cs typeface="Times New Roman" pitchFamily="18" charset="0"/>
              </a:rPr>
              <a:t>     the slew rate of an ideal Op-amp is infinite so that the output voltage </a:t>
            </a:r>
          </a:p>
          <a:p>
            <a:r>
              <a:rPr lang="en-US" sz="2400">
                <a:latin typeface="Times New Roman" pitchFamily="18" charset="0"/>
                <a:cs typeface="Times New Roman" pitchFamily="18" charset="0"/>
              </a:rPr>
              <a:t>     changes occur simultaneously with the input voltage changes.</a:t>
            </a:r>
          </a:p>
        </p:txBody>
      </p:sp>
      <p:sp>
        <p:nvSpPr>
          <p:cNvPr id="67646"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47"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48"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7649"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D266D9BC-46F2-40FB-8CFA-3A4C20B4DF04}" type="slidenum">
              <a:rPr lang="en-US"/>
              <a:pPr>
                <a:defRPr/>
              </a:pPr>
              <a:t>38</a:t>
            </a:fld>
            <a:endParaRPr lang="en-US"/>
          </a:p>
        </p:txBody>
      </p:sp>
    </p:spTree>
    <p:extLst>
      <p:ext uri="{BB962C8B-B14F-4D97-AF65-F5344CB8AC3E}">
        <p14:creationId xmlns:p14="http://schemas.microsoft.com/office/powerpoint/2010/main" xmlns="" val="14284159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76200"/>
            <a:ext cx="8229600" cy="457200"/>
          </a:xfrm>
        </p:spPr>
        <p:txBody>
          <a:bodyPr rtlCol="0">
            <a:normAutofit fontScale="90000"/>
          </a:bodyPr>
          <a:lstStyle/>
          <a:p>
            <a:pPr fontAlgn="auto">
              <a:spcAft>
                <a:spcPts val="0"/>
              </a:spcAft>
              <a:defRPr/>
            </a:pPr>
            <a:r>
              <a:rPr lang="en-US" sz="2800" b="1"/>
              <a:t>The ideal OP-AMP</a:t>
            </a:r>
          </a:p>
        </p:txBody>
      </p:sp>
      <p:sp>
        <p:nvSpPr>
          <p:cNvPr id="68611" name="Line 3"/>
          <p:cNvSpPr>
            <a:spLocks noChangeShapeType="1"/>
          </p:cNvSpPr>
          <p:nvPr/>
        </p:nvSpPr>
        <p:spPr bwMode="auto">
          <a:xfrm>
            <a:off x="6427788" y="2565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12" name="AutoShape 4"/>
          <p:cNvSpPr>
            <a:spLocks noChangeArrowheads="1"/>
          </p:cNvSpPr>
          <p:nvPr/>
        </p:nvSpPr>
        <p:spPr bwMode="auto">
          <a:xfrm rot="5400000">
            <a:off x="3608388" y="11176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68613" name="Text Box 5"/>
          <p:cNvSpPr txBox="1">
            <a:spLocks noChangeArrowheads="1"/>
          </p:cNvSpPr>
          <p:nvPr/>
        </p:nvSpPr>
        <p:spPr bwMode="auto">
          <a:xfrm>
            <a:off x="3303588" y="1422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8614" name="Text Box 6"/>
          <p:cNvSpPr txBox="1">
            <a:spLocks noChangeArrowheads="1"/>
          </p:cNvSpPr>
          <p:nvPr/>
        </p:nvSpPr>
        <p:spPr bwMode="auto">
          <a:xfrm>
            <a:off x="3303588" y="3022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8615" name="Text Box 7"/>
          <p:cNvSpPr txBox="1">
            <a:spLocks noChangeArrowheads="1"/>
          </p:cNvSpPr>
          <p:nvPr/>
        </p:nvSpPr>
        <p:spPr bwMode="auto">
          <a:xfrm>
            <a:off x="6275388" y="2203450"/>
            <a:ext cx="1139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Output  </a:t>
            </a:r>
          </a:p>
        </p:txBody>
      </p:sp>
      <p:sp>
        <p:nvSpPr>
          <p:cNvPr id="68616" name="Text Box 8"/>
          <p:cNvSpPr txBox="1">
            <a:spLocks noChangeArrowheads="1"/>
          </p:cNvSpPr>
          <p:nvPr/>
        </p:nvSpPr>
        <p:spPr bwMode="auto">
          <a:xfrm>
            <a:off x="2084388" y="15128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68617" name="Text Box 9"/>
          <p:cNvSpPr txBox="1">
            <a:spLocks noChangeArrowheads="1"/>
          </p:cNvSpPr>
          <p:nvPr/>
        </p:nvSpPr>
        <p:spPr bwMode="auto">
          <a:xfrm>
            <a:off x="2084388" y="31892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68618" name="Oval 10"/>
          <p:cNvSpPr>
            <a:spLocks noChangeArrowheads="1"/>
          </p:cNvSpPr>
          <p:nvPr/>
        </p:nvSpPr>
        <p:spPr bwMode="auto">
          <a:xfrm>
            <a:off x="2551113" y="3327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8619" name="Oval 11"/>
          <p:cNvSpPr>
            <a:spLocks noChangeArrowheads="1"/>
          </p:cNvSpPr>
          <p:nvPr/>
        </p:nvSpPr>
        <p:spPr bwMode="auto">
          <a:xfrm>
            <a:off x="2563813" y="1651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8620" name="Oval 12"/>
          <p:cNvSpPr>
            <a:spLocks noChangeArrowheads="1"/>
          </p:cNvSpPr>
          <p:nvPr/>
        </p:nvSpPr>
        <p:spPr bwMode="auto">
          <a:xfrm>
            <a:off x="7342188" y="2489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8621" name="Line 13"/>
          <p:cNvSpPr>
            <a:spLocks noChangeShapeType="1"/>
          </p:cNvSpPr>
          <p:nvPr/>
        </p:nvSpPr>
        <p:spPr bwMode="auto">
          <a:xfrm>
            <a:off x="3913188" y="2184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2" name="Line 14"/>
          <p:cNvSpPr>
            <a:spLocks noChangeShapeType="1"/>
          </p:cNvSpPr>
          <p:nvPr/>
        </p:nvSpPr>
        <p:spPr bwMode="auto">
          <a:xfrm>
            <a:off x="3913188" y="2489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3" name="Line 15"/>
          <p:cNvSpPr>
            <a:spLocks noChangeShapeType="1"/>
          </p:cNvSpPr>
          <p:nvPr/>
        </p:nvSpPr>
        <p:spPr bwMode="auto">
          <a:xfrm>
            <a:off x="3913188" y="2794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4" name="Line 16"/>
          <p:cNvSpPr>
            <a:spLocks noChangeShapeType="1"/>
          </p:cNvSpPr>
          <p:nvPr/>
        </p:nvSpPr>
        <p:spPr bwMode="auto">
          <a:xfrm flipV="1">
            <a:off x="3913188" y="2641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5" name="Line 17"/>
          <p:cNvSpPr>
            <a:spLocks noChangeShapeType="1"/>
          </p:cNvSpPr>
          <p:nvPr/>
        </p:nvSpPr>
        <p:spPr bwMode="auto">
          <a:xfrm flipV="1">
            <a:off x="3913188" y="2336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6" name="Line 18"/>
          <p:cNvSpPr>
            <a:spLocks noChangeShapeType="1"/>
          </p:cNvSpPr>
          <p:nvPr/>
        </p:nvSpPr>
        <p:spPr bwMode="auto">
          <a:xfrm flipV="1">
            <a:off x="3913188" y="2108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7" name="Line 19"/>
          <p:cNvSpPr>
            <a:spLocks noChangeShapeType="1"/>
          </p:cNvSpPr>
          <p:nvPr/>
        </p:nvSpPr>
        <p:spPr bwMode="auto">
          <a:xfrm flipV="1">
            <a:off x="3989388" y="29464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8" name="Line 20"/>
          <p:cNvSpPr>
            <a:spLocks noChangeShapeType="1"/>
          </p:cNvSpPr>
          <p:nvPr/>
        </p:nvSpPr>
        <p:spPr bwMode="auto">
          <a:xfrm flipV="1">
            <a:off x="4065588" y="1727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29" name="Line 21"/>
          <p:cNvSpPr>
            <a:spLocks noChangeShapeType="1"/>
          </p:cNvSpPr>
          <p:nvPr/>
        </p:nvSpPr>
        <p:spPr bwMode="auto">
          <a:xfrm flipV="1">
            <a:off x="3989388" y="30226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0" name="Line 22"/>
          <p:cNvSpPr>
            <a:spLocks noChangeShapeType="1"/>
          </p:cNvSpPr>
          <p:nvPr/>
        </p:nvSpPr>
        <p:spPr bwMode="auto">
          <a:xfrm>
            <a:off x="2681288" y="34036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1" name="Line 23"/>
          <p:cNvSpPr>
            <a:spLocks noChangeShapeType="1"/>
          </p:cNvSpPr>
          <p:nvPr/>
        </p:nvSpPr>
        <p:spPr bwMode="auto">
          <a:xfrm>
            <a:off x="2693988" y="17272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2" name="Line 24"/>
          <p:cNvSpPr>
            <a:spLocks noChangeShapeType="1"/>
          </p:cNvSpPr>
          <p:nvPr/>
        </p:nvSpPr>
        <p:spPr bwMode="auto">
          <a:xfrm>
            <a:off x="5970588" y="2565400"/>
            <a:ext cx="533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3" name="Line 25"/>
          <p:cNvSpPr>
            <a:spLocks noChangeShapeType="1"/>
          </p:cNvSpPr>
          <p:nvPr/>
        </p:nvSpPr>
        <p:spPr bwMode="auto">
          <a:xfrm>
            <a:off x="52847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4" name="Line 26"/>
          <p:cNvSpPr>
            <a:spLocks noChangeShapeType="1"/>
          </p:cNvSpPr>
          <p:nvPr/>
        </p:nvSpPr>
        <p:spPr bwMode="auto">
          <a:xfrm>
            <a:off x="55133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5" name="Line 27"/>
          <p:cNvSpPr>
            <a:spLocks noChangeShapeType="1"/>
          </p:cNvSpPr>
          <p:nvPr/>
        </p:nvSpPr>
        <p:spPr bwMode="auto">
          <a:xfrm>
            <a:off x="5741988" y="2489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6" name="Line 28"/>
          <p:cNvSpPr>
            <a:spLocks noChangeShapeType="1"/>
          </p:cNvSpPr>
          <p:nvPr/>
        </p:nvSpPr>
        <p:spPr bwMode="auto">
          <a:xfrm flipV="1">
            <a:off x="56657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7" name="Line 29"/>
          <p:cNvSpPr>
            <a:spLocks noChangeShapeType="1"/>
          </p:cNvSpPr>
          <p:nvPr/>
        </p:nvSpPr>
        <p:spPr bwMode="auto">
          <a:xfrm flipV="1">
            <a:off x="5437188" y="2489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8" name="Line 30"/>
          <p:cNvSpPr>
            <a:spLocks noChangeShapeType="1"/>
          </p:cNvSpPr>
          <p:nvPr/>
        </p:nvSpPr>
        <p:spPr bwMode="auto">
          <a:xfrm flipV="1">
            <a:off x="5208588" y="2489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39" name="Line 31"/>
          <p:cNvSpPr>
            <a:spLocks noChangeShapeType="1"/>
          </p:cNvSpPr>
          <p:nvPr/>
        </p:nvSpPr>
        <p:spPr bwMode="auto">
          <a:xfrm flipV="1">
            <a:off x="5894388" y="2565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40" name="Line 32"/>
          <p:cNvSpPr>
            <a:spLocks noChangeShapeType="1"/>
          </p:cNvSpPr>
          <p:nvPr/>
        </p:nvSpPr>
        <p:spPr bwMode="auto">
          <a:xfrm>
            <a:off x="4827588" y="2641600"/>
            <a:ext cx="381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41" name="Oval 33"/>
          <p:cNvSpPr>
            <a:spLocks noChangeArrowheads="1"/>
          </p:cNvSpPr>
          <p:nvPr/>
        </p:nvSpPr>
        <p:spPr bwMode="auto">
          <a:xfrm>
            <a:off x="4598988" y="2794000"/>
            <a:ext cx="457200" cy="457200"/>
          </a:xfrm>
          <a:prstGeom prst="ellipse">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68642" name="Line 34"/>
          <p:cNvSpPr>
            <a:spLocks noChangeShapeType="1"/>
          </p:cNvSpPr>
          <p:nvPr/>
        </p:nvSpPr>
        <p:spPr bwMode="auto">
          <a:xfrm flipV="1">
            <a:off x="4827588" y="2641600"/>
            <a:ext cx="0" cy="152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43" name="Line 35"/>
          <p:cNvSpPr>
            <a:spLocks noChangeShapeType="1"/>
          </p:cNvSpPr>
          <p:nvPr/>
        </p:nvSpPr>
        <p:spPr bwMode="auto">
          <a:xfrm flipV="1">
            <a:off x="4827588" y="32512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44" name="Oval 36"/>
          <p:cNvSpPr>
            <a:spLocks noChangeArrowheads="1"/>
          </p:cNvSpPr>
          <p:nvPr/>
        </p:nvSpPr>
        <p:spPr bwMode="auto">
          <a:xfrm>
            <a:off x="4751388" y="3860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68645" name="Text Box 37"/>
          <p:cNvSpPr txBox="1">
            <a:spLocks noChangeArrowheads="1"/>
          </p:cNvSpPr>
          <p:nvPr/>
        </p:nvSpPr>
        <p:spPr bwMode="auto">
          <a:xfrm>
            <a:off x="5284788" y="21685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o</a:t>
            </a:r>
          </a:p>
        </p:txBody>
      </p:sp>
      <p:sp>
        <p:nvSpPr>
          <p:cNvPr id="68646" name="Text Box 38"/>
          <p:cNvSpPr txBox="1">
            <a:spLocks noChangeArrowheads="1"/>
          </p:cNvSpPr>
          <p:nvPr/>
        </p:nvSpPr>
        <p:spPr bwMode="auto">
          <a:xfrm>
            <a:off x="4979988" y="2722563"/>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8647" name="Text Box 39"/>
          <p:cNvSpPr txBox="1">
            <a:spLocks noChangeArrowheads="1"/>
          </p:cNvSpPr>
          <p:nvPr/>
        </p:nvSpPr>
        <p:spPr bwMode="auto">
          <a:xfrm>
            <a:off x="4586288" y="2489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8648" name="Text Box 40"/>
          <p:cNvSpPr txBox="1">
            <a:spLocks noChangeArrowheads="1"/>
          </p:cNvSpPr>
          <p:nvPr/>
        </p:nvSpPr>
        <p:spPr bwMode="auto">
          <a:xfrm>
            <a:off x="4586288" y="31750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68649" name="Text Box 41"/>
          <p:cNvSpPr txBox="1">
            <a:spLocks noChangeArrowheads="1"/>
          </p:cNvSpPr>
          <p:nvPr/>
        </p:nvSpPr>
        <p:spPr bwMode="auto">
          <a:xfrm>
            <a:off x="4065588" y="2320925"/>
            <a:ext cx="40481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68650" name="Line 42"/>
          <p:cNvSpPr>
            <a:spLocks noChangeShapeType="1"/>
          </p:cNvSpPr>
          <p:nvPr/>
        </p:nvSpPr>
        <p:spPr bwMode="auto">
          <a:xfrm>
            <a:off x="2922588" y="28702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51" name="Line 43"/>
          <p:cNvSpPr>
            <a:spLocks noChangeShapeType="1"/>
          </p:cNvSpPr>
          <p:nvPr/>
        </p:nvSpPr>
        <p:spPr bwMode="auto">
          <a:xfrm flipV="1">
            <a:off x="2922588" y="17272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52" name="Text Box 44"/>
          <p:cNvSpPr txBox="1">
            <a:spLocks noChangeArrowheads="1"/>
          </p:cNvSpPr>
          <p:nvPr/>
        </p:nvSpPr>
        <p:spPr bwMode="auto">
          <a:xfrm>
            <a:off x="2693988" y="2419350"/>
            <a:ext cx="8080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rPr>
              <a:t>V</a:t>
            </a:r>
            <a:r>
              <a:rPr lang="en-US" baseline="-25000">
                <a:solidFill>
                  <a:srgbClr val="000099"/>
                </a:solidFill>
              </a:rPr>
              <a:t>d</a:t>
            </a:r>
            <a:r>
              <a:rPr lang="en-US">
                <a:solidFill>
                  <a:srgbClr val="000099"/>
                </a:solidFill>
              </a:rPr>
              <a:t>= 0</a:t>
            </a:r>
          </a:p>
        </p:txBody>
      </p:sp>
      <p:sp>
        <p:nvSpPr>
          <p:cNvPr id="68653" name="Text Box 45"/>
          <p:cNvSpPr txBox="1">
            <a:spLocks noChangeArrowheads="1"/>
          </p:cNvSpPr>
          <p:nvPr/>
        </p:nvSpPr>
        <p:spPr bwMode="auto">
          <a:xfrm>
            <a:off x="331788" y="2203450"/>
            <a:ext cx="20764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Zero differential</a:t>
            </a:r>
          </a:p>
          <a:p>
            <a:r>
              <a:rPr lang="en-US" b="1">
                <a:solidFill>
                  <a:srgbClr val="000099"/>
                </a:solidFill>
              </a:rPr>
              <a:t>Input voltage</a:t>
            </a:r>
          </a:p>
        </p:txBody>
      </p:sp>
      <p:sp>
        <p:nvSpPr>
          <p:cNvPr id="68654" name="Line 46"/>
          <p:cNvSpPr>
            <a:spLocks noChangeShapeType="1"/>
          </p:cNvSpPr>
          <p:nvPr/>
        </p:nvSpPr>
        <p:spPr bwMode="auto">
          <a:xfrm flipV="1">
            <a:off x="2084388" y="2565400"/>
            <a:ext cx="609600" cy="152400"/>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55" name="Text Box 47"/>
          <p:cNvSpPr txBox="1">
            <a:spLocks noChangeArrowheads="1"/>
          </p:cNvSpPr>
          <p:nvPr/>
        </p:nvSpPr>
        <p:spPr bwMode="auto">
          <a:xfrm>
            <a:off x="3151188" y="614363"/>
            <a:ext cx="5064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i  </a:t>
            </a:r>
          </a:p>
        </p:txBody>
      </p:sp>
      <p:sp>
        <p:nvSpPr>
          <p:cNvPr id="68656" name="Text Box 48"/>
          <p:cNvSpPr txBox="1">
            <a:spLocks noChangeArrowheads="1"/>
          </p:cNvSpPr>
          <p:nvPr/>
        </p:nvSpPr>
        <p:spPr bwMode="auto">
          <a:xfrm rot="-5400000">
            <a:off x="3857625" y="617538"/>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8657" name="Line 49"/>
          <p:cNvSpPr>
            <a:spLocks noChangeShapeType="1"/>
          </p:cNvSpPr>
          <p:nvPr/>
        </p:nvSpPr>
        <p:spPr bwMode="auto">
          <a:xfrm flipV="1">
            <a:off x="3532188" y="8128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58" name="Text Box 50"/>
          <p:cNvSpPr txBox="1">
            <a:spLocks noChangeArrowheads="1"/>
          </p:cNvSpPr>
          <p:nvPr/>
        </p:nvSpPr>
        <p:spPr bwMode="auto">
          <a:xfrm>
            <a:off x="5437188" y="1436688"/>
            <a:ext cx="5429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R</a:t>
            </a:r>
            <a:r>
              <a:rPr lang="en-US" b="1" baseline="-25000">
                <a:solidFill>
                  <a:srgbClr val="000099"/>
                </a:solidFill>
              </a:rPr>
              <a:t>o  </a:t>
            </a:r>
          </a:p>
        </p:txBody>
      </p:sp>
      <p:sp>
        <p:nvSpPr>
          <p:cNvPr id="68659" name="Text Box 51"/>
          <p:cNvSpPr txBox="1">
            <a:spLocks noChangeArrowheads="1"/>
          </p:cNvSpPr>
          <p:nvPr/>
        </p:nvSpPr>
        <p:spPr bwMode="auto">
          <a:xfrm>
            <a:off x="6046788" y="1397000"/>
            <a:ext cx="32543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0</a:t>
            </a:r>
          </a:p>
        </p:txBody>
      </p:sp>
      <p:sp>
        <p:nvSpPr>
          <p:cNvPr id="68660" name="Line 52"/>
          <p:cNvSpPr>
            <a:spLocks noChangeShapeType="1"/>
          </p:cNvSpPr>
          <p:nvPr/>
        </p:nvSpPr>
        <p:spPr bwMode="auto">
          <a:xfrm flipV="1">
            <a:off x="5818188" y="16351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61" name="Text Box 53"/>
          <p:cNvSpPr txBox="1">
            <a:spLocks noChangeArrowheads="1"/>
          </p:cNvSpPr>
          <p:nvPr/>
        </p:nvSpPr>
        <p:spPr bwMode="auto">
          <a:xfrm>
            <a:off x="5056188" y="3265488"/>
            <a:ext cx="58737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A</a:t>
            </a:r>
            <a:r>
              <a:rPr lang="en-US" b="1" baseline="-25000">
                <a:solidFill>
                  <a:srgbClr val="000099"/>
                </a:solidFill>
              </a:rPr>
              <a:t>V  </a:t>
            </a:r>
          </a:p>
        </p:txBody>
      </p:sp>
      <p:sp>
        <p:nvSpPr>
          <p:cNvPr id="68662" name="Text Box 54"/>
          <p:cNvSpPr txBox="1">
            <a:spLocks noChangeArrowheads="1"/>
          </p:cNvSpPr>
          <p:nvPr/>
        </p:nvSpPr>
        <p:spPr bwMode="auto">
          <a:xfrm rot="-5400000">
            <a:off x="5762625" y="32686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8</a:t>
            </a:r>
          </a:p>
        </p:txBody>
      </p:sp>
      <p:sp>
        <p:nvSpPr>
          <p:cNvPr id="68663" name="Line 55"/>
          <p:cNvSpPr>
            <a:spLocks noChangeShapeType="1"/>
          </p:cNvSpPr>
          <p:nvPr/>
        </p:nvSpPr>
        <p:spPr bwMode="auto">
          <a:xfrm flipV="1">
            <a:off x="5437188" y="3463925"/>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64" name="Text Box 56"/>
          <p:cNvSpPr txBox="1">
            <a:spLocks noChangeArrowheads="1"/>
          </p:cNvSpPr>
          <p:nvPr/>
        </p:nvSpPr>
        <p:spPr bwMode="auto">
          <a:xfrm>
            <a:off x="2641600" y="1147763"/>
            <a:ext cx="8778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B2</a:t>
            </a:r>
            <a:r>
              <a:rPr lang="en-US" b="1">
                <a:solidFill>
                  <a:srgbClr val="000099"/>
                </a:solidFill>
              </a:rPr>
              <a:t>= 0</a:t>
            </a:r>
          </a:p>
        </p:txBody>
      </p:sp>
      <p:sp>
        <p:nvSpPr>
          <p:cNvPr id="68665" name="Text Box 57"/>
          <p:cNvSpPr txBox="1">
            <a:spLocks noChangeArrowheads="1"/>
          </p:cNvSpPr>
          <p:nvPr/>
        </p:nvSpPr>
        <p:spPr bwMode="auto">
          <a:xfrm>
            <a:off x="2770188" y="3570288"/>
            <a:ext cx="8778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I</a:t>
            </a:r>
            <a:r>
              <a:rPr lang="en-US" b="1" baseline="-25000">
                <a:solidFill>
                  <a:srgbClr val="000099"/>
                </a:solidFill>
              </a:rPr>
              <a:t>B1</a:t>
            </a:r>
            <a:r>
              <a:rPr lang="en-US" b="1">
                <a:solidFill>
                  <a:srgbClr val="000099"/>
                </a:solidFill>
              </a:rPr>
              <a:t>= 0</a:t>
            </a:r>
          </a:p>
        </p:txBody>
      </p:sp>
      <p:sp>
        <p:nvSpPr>
          <p:cNvPr id="68666" name="Line 58"/>
          <p:cNvSpPr>
            <a:spLocks noChangeShapeType="1"/>
          </p:cNvSpPr>
          <p:nvPr/>
        </p:nvSpPr>
        <p:spPr bwMode="auto">
          <a:xfrm flipV="1">
            <a:off x="2998788" y="1574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67" name="Line 59"/>
          <p:cNvSpPr>
            <a:spLocks noChangeShapeType="1"/>
          </p:cNvSpPr>
          <p:nvPr/>
        </p:nvSpPr>
        <p:spPr bwMode="auto">
          <a:xfrm flipV="1">
            <a:off x="3074988" y="34798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68668" name="Text Box 60"/>
          <p:cNvSpPr txBox="1">
            <a:spLocks noChangeArrowheads="1"/>
          </p:cNvSpPr>
          <p:nvPr/>
        </p:nvSpPr>
        <p:spPr bwMode="auto">
          <a:xfrm>
            <a:off x="7418388" y="2341563"/>
            <a:ext cx="13287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a:t>
            </a:r>
            <a:r>
              <a:rPr lang="en-US" b="1" baseline="-18000">
                <a:solidFill>
                  <a:srgbClr val="000099"/>
                </a:solidFill>
              </a:rPr>
              <a:t>V</a:t>
            </a:r>
            <a:r>
              <a:rPr lang="en-US" b="1">
                <a:solidFill>
                  <a:srgbClr val="000099"/>
                </a:solidFill>
              </a:rPr>
              <a:t>V</a:t>
            </a:r>
            <a:r>
              <a:rPr lang="en-US" b="1" baseline="-18000">
                <a:solidFill>
                  <a:srgbClr val="000099"/>
                </a:solidFill>
              </a:rPr>
              <a:t>D</a:t>
            </a:r>
          </a:p>
        </p:txBody>
      </p:sp>
      <p:sp>
        <p:nvSpPr>
          <p:cNvPr id="68669" name="Text Box 61"/>
          <p:cNvSpPr txBox="1">
            <a:spLocks noChangeArrowheads="1"/>
          </p:cNvSpPr>
          <p:nvPr/>
        </p:nvSpPr>
        <p:spPr bwMode="auto">
          <a:xfrm>
            <a:off x="0" y="4622800"/>
            <a:ext cx="9078913" cy="223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solidFill>
                  <a:srgbClr val="000099"/>
                </a:solidFill>
                <a:latin typeface="Times New Roman" pitchFamily="18" charset="0"/>
                <a:cs typeface="Times New Roman" pitchFamily="18" charset="0"/>
              </a:rPr>
              <a:t>8.  Zero power supply rejection ratio (PSRR).</a:t>
            </a:r>
            <a:r>
              <a:rPr lang="en-US" sz="2400">
                <a:solidFill>
                  <a:srgbClr val="FF0000"/>
                </a:solidFill>
                <a:latin typeface="Times New Roman" pitchFamily="18" charset="0"/>
                <a:cs typeface="Times New Roman" pitchFamily="18" charset="0"/>
              </a:rPr>
              <a:t> </a:t>
            </a:r>
          </a:p>
          <a:p>
            <a:r>
              <a:rPr lang="en-US" sz="2400">
                <a:latin typeface="Times New Roman" pitchFamily="18" charset="0"/>
                <a:cs typeface="Times New Roman" pitchFamily="18" charset="0"/>
              </a:rPr>
              <a:t>     PSSR is a parameter which specifies the degree of the dependence </a:t>
            </a:r>
          </a:p>
          <a:p>
            <a:r>
              <a:rPr lang="en-US" sz="2400">
                <a:latin typeface="Times New Roman" pitchFamily="18" charset="0"/>
                <a:cs typeface="Times New Roman" pitchFamily="18" charset="0"/>
              </a:rPr>
              <a:t>     of the  Op-amp output on the changes in power supply output. For an</a:t>
            </a:r>
          </a:p>
          <a:p>
            <a:r>
              <a:rPr lang="en-US" sz="2400">
                <a:latin typeface="Times New Roman" pitchFamily="18" charset="0"/>
                <a:cs typeface="Times New Roman" pitchFamily="18" charset="0"/>
              </a:rPr>
              <a:t>     ideal Op-amp, PSRR = 0. that means the output voltage does not </a:t>
            </a:r>
          </a:p>
          <a:p>
            <a:r>
              <a:rPr lang="en-US" sz="2400">
                <a:latin typeface="Times New Roman" pitchFamily="18" charset="0"/>
                <a:cs typeface="Times New Roman" pitchFamily="18" charset="0"/>
              </a:rPr>
              <a:t>     Change due to fluctuation in supply voltage</a:t>
            </a:r>
          </a:p>
        </p:txBody>
      </p:sp>
      <p:sp>
        <p:nvSpPr>
          <p:cNvPr id="68670" name="Line 62"/>
          <p:cNvSpPr>
            <a:spLocks noChangeShapeType="1"/>
          </p:cNvSpPr>
          <p:nvPr/>
        </p:nvSpPr>
        <p:spPr bwMode="auto">
          <a:xfrm flipV="1">
            <a:off x="4827588" y="40132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71" name="Line 63"/>
          <p:cNvSpPr>
            <a:spLocks noChangeShapeType="1"/>
          </p:cNvSpPr>
          <p:nvPr/>
        </p:nvSpPr>
        <p:spPr bwMode="auto">
          <a:xfrm>
            <a:off x="4598988" y="4318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72" name="Line 64"/>
          <p:cNvSpPr>
            <a:spLocks noChangeShapeType="1"/>
          </p:cNvSpPr>
          <p:nvPr/>
        </p:nvSpPr>
        <p:spPr bwMode="auto">
          <a:xfrm>
            <a:off x="4675188" y="4394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68673" name="Line 65"/>
          <p:cNvSpPr>
            <a:spLocks noChangeShapeType="1"/>
          </p:cNvSpPr>
          <p:nvPr/>
        </p:nvSpPr>
        <p:spPr bwMode="auto">
          <a:xfrm>
            <a:off x="4751388" y="4470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7802B3FC-D4C1-4D46-8911-A7089FB434F2}" type="slidenum">
              <a:rPr lang="en-US"/>
              <a:pPr>
                <a:defRPr/>
              </a:pPr>
              <a:t>39</a:t>
            </a:fld>
            <a:endParaRPr lang="en-US"/>
          </a:p>
        </p:txBody>
      </p:sp>
    </p:spTree>
    <p:extLst>
      <p:ext uri="{BB962C8B-B14F-4D97-AF65-F5344CB8AC3E}">
        <p14:creationId xmlns:p14="http://schemas.microsoft.com/office/powerpoint/2010/main" xmlns="" val="694467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52400" y="427038"/>
            <a:ext cx="8686800" cy="639762"/>
          </a:xfrm>
        </p:spPr>
        <p:txBody>
          <a:bodyPr/>
          <a:lstStyle/>
          <a:p>
            <a:r>
              <a:rPr lang="en-US" sz="3200" b="1">
                <a:solidFill>
                  <a:srgbClr val="0000FF"/>
                </a:solidFill>
                <a:cs typeface="Times New Roman" pitchFamily="18" charset="0"/>
              </a:rPr>
              <a:t>Important characteristics of OP-AMP IC 741</a:t>
            </a:r>
          </a:p>
        </p:txBody>
      </p:sp>
      <p:graphicFrame>
        <p:nvGraphicFramePr>
          <p:cNvPr id="55299" name="Group 3"/>
          <p:cNvGraphicFramePr>
            <a:graphicFrameLocks noGrp="1"/>
          </p:cNvGraphicFramePr>
          <p:nvPr>
            <p:ph type="tbl" idx="1"/>
          </p:nvPr>
        </p:nvGraphicFramePr>
        <p:xfrm>
          <a:off x="228600" y="1600200"/>
          <a:ext cx="8458200" cy="4694239"/>
        </p:xfrm>
        <a:graphic>
          <a:graphicData uri="http://schemas.openxmlformats.org/drawingml/2006/table">
            <a:tbl>
              <a:tblPr/>
              <a:tblGrid>
                <a:gridCol w="1219200">
                  <a:extLst>
                    <a:ext uri="{9D8B030D-6E8A-4147-A177-3AD203B41FA5}">
                      <a16:colId xmlns:a16="http://schemas.microsoft.com/office/drawing/2014/main" xmlns="" val="20000"/>
                    </a:ext>
                  </a:extLst>
                </a:gridCol>
                <a:gridCol w="2895600">
                  <a:extLst>
                    <a:ext uri="{9D8B030D-6E8A-4147-A177-3AD203B41FA5}">
                      <a16:colId xmlns:a16="http://schemas.microsoft.com/office/drawing/2014/main" xmlns="" val="20001"/>
                    </a:ext>
                  </a:extLst>
                </a:gridCol>
                <a:gridCol w="2286000">
                  <a:extLst>
                    <a:ext uri="{9D8B030D-6E8A-4147-A177-3AD203B41FA5}">
                      <a16:colId xmlns:a16="http://schemas.microsoft.com/office/drawing/2014/main" xmlns="" val="20002"/>
                    </a:ext>
                  </a:extLst>
                </a:gridCol>
                <a:gridCol w="2057400">
                  <a:extLst>
                    <a:ext uri="{9D8B030D-6E8A-4147-A177-3AD203B41FA5}">
                      <a16:colId xmlns:a16="http://schemas.microsoft.com/office/drawing/2014/main" xmlns="" val="20003"/>
                    </a:ext>
                  </a:extLst>
                </a:gridCol>
              </a:tblGrid>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rgbClr val="FF0000"/>
                          </a:solidFill>
                          <a:effectLst/>
                          <a:latin typeface="Arial" charset="0"/>
                        </a:rPr>
                        <a:t>Sr. No.</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rgbClr val="FF0000"/>
                          </a:solidFill>
                          <a:effectLst/>
                          <a:latin typeface="Arial" charset="0"/>
                        </a:rPr>
                        <a:t>Characteristics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rgbClr val="FF0000"/>
                          </a:solidFill>
                          <a:effectLst/>
                          <a:latin typeface="Arial" charset="0"/>
                        </a:rPr>
                        <a:t>Value for IC 741</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rgbClr val="FF0000"/>
                          </a:solidFill>
                          <a:effectLst/>
                          <a:latin typeface="Arial" charset="0"/>
                        </a:rPr>
                        <a:t>Ideal value</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Arial" charset="0"/>
                        </a:rPr>
                        <a:t>1</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Input resistance Ri</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2 M</a:t>
                      </a:r>
                      <a:r>
                        <a:rPr kumimoji="0" lang="el-GR" sz="2200" b="0" i="0" u="none" strike="noStrike" cap="none" normalizeH="0" baseline="0">
                          <a:ln>
                            <a:noFill/>
                          </a:ln>
                          <a:solidFill>
                            <a:schemeClr val="tx1"/>
                          </a:solidFill>
                          <a:effectLst/>
                          <a:latin typeface="Arial" charset="0"/>
                          <a:cs typeface="Arial" charset="0"/>
                        </a:rPr>
                        <a:t>Ω</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2</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Output resistance Ro</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75 </a:t>
                      </a:r>
                      <a:r>
                        <a:rPr kumimoji="0" lang="el-GR" sz="2200" b="0" i="0" u="none" strike="noStrike" cap="none" normalizeH="0" baseline="0">
                          <a:ln>
                            <a:noFill/>
                          </a:ln>
                          <a:solidFill>
                            <a:schemeClr val="tx1"/>
                          </a:solidFill>
                          <a:effectLst/>
                          <a:latin typeface="Arial" charset="0"/>
                          <a:cs typeface="Arial" charset="0"/>
                        </a:rPr>
                        <a:t>Ω</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3</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Arial" charset="0"/>
                        </a:rPr>
                        <a:t>Voltage gain Av</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2 X 10</a:t>
                      </a:r>
                      <a:r>
                        <a:rPr kumimoji="0" lang="en-US" sz="2200" b="0" i="0" u="none" strike="noStrike" cap="none" normalizeH="0" baseline="30000">
                          <a:ln>
                            <a:noFill/>
                          </a:ln>
                          <a:solidFill>
                            <a:schemeClr val="tx1"/>
                          </a:solidFill>
                          <a:effectLst/>
                          <a:latin typeface="Arial" charset="0"/>
                        </a:rPr>
                        <a:t>5</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4</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Arial" charset="0"/>
                        </a:rPr>
                        <a:t>Bandwidth BW</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1 MHz</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dirty="0">
                        <a:ln>
                          <a:noFill/>
                        </a:ln>
                        <a:solidFill>
                          <a:schemeClr val="tx1"/>
                        </a:solidFill>
                        <a:effectLst/>
                        <a:latin typeface="Arial"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5</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CMRR</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90 dB</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Arial" charset="0"/>
                        </a:rPr>
                        <a:t>6</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Slew rate S</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0.5 V/</a:t>
                      </a:r>
                      <a:r>
                        <a:rPr kumimoji="0" lang="el-GR" sz="2200" b="0" i="0" u="none" strike="noStrike" cap="none" normalizeH="0" baseline="0">
                          <a:ln>
                            <a:noFill/>
                          </a:ln>
                          <a:solidFill>
                            <a:schemeClr val="tx1"/>
                          </a:solidFill>
                          <a:effectLst/>
                          <a:latin typeface="Arial" charset="0"/>
                          <a:cs typeface="Arial" charset="0"/>
                        </a:rPr>
                        <a:t>μ</a:t>
                      </a:r>
                      <a:r>
                        <a:rPr kumimoji="0" lang="en-US" sz="2200" b="0" i="0" u="none" strike="noStrike" cap="none" normalizeH="0" baseline="0">
                          <a:ln>
                            <a:noFill/>
                          </a:ln>
                          <a:solidFill>
                            <a:schemeClr val="tx1"/>
                          </a:solidFill>
                          <a:effectLst/>
                          <a:latin typeface="Arial" charset="0"/>
                          <a:cs typeface="Arial" charset="0"/>
                        </a:rPr>
                        <a:t>S</a:t>
                      </a:r>
                      <a:endParaRPr kumimoji="0" lang="el-GR" sz="2200" b="0" i="0" u="none" strike="noStrike" cap="none" normalizeH="0" baseline="0">
                        <a:ln>
                          <a:noFill/>
                        </a:ln>
                        <a:solidFill>
                          <a:schemeClr val="tx1"/>
                        </a:solidFill>
                        <a:effectLst/>
                        <a:latin typeface="Arial" charset="0"/>
                        <a:cs typeface="Arial"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a:ln>
                          <a:noFill/>
                        </a:ln>
                        <a:solidFill>
                          <a:schemeClr val="tx1"/>
                        </a:solidFill>
                        <a:effectLst/>
                        <a:latin typeface="Arial" charset="0"/>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7</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Input offset voltage</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2 mV</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8</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PSRR</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150 </a:t>
                      </a:r>
                      <a:r>
                        <a:rPr kumimoji="0" lang="el-GR" sz="2200" b="0" i="0" u="none" strike="noStrike" cap="none" normalizeH="0" baseline="0">
                          <a:ln>
                            <a:noFill/>
                          </a:ln>
                          <a:solidFill>
                            <a:schemeClr val="tx1"/>
                          </a:solidFill>
                          <a:effectLst/>
                          <a:latin typeface="Arial" charset="0"/>
                          <a:cs typeface="Arial" charset="0"/>
                        </a:rPr>
                        <a:t>μ</a:t>
                      </a:r>
                      <a:r>
                        <a:rPr kumimoji="0" lang="en-US" sz="2200" b="0" i="0" u="none" strike="noStrike" cap="none" normalizeH="0" baseline="0">
                          <a:ln>
                            <a:noFill/>
                          </a:ln>
                          <a:solidFill>
                            <a:schemeClr val="tx1"/>
                          </a:solidFill>
                          <a:effectLst/>
                          <a:latin typeface="Arial" charset="0"/>
                          <a:cs typeface="Arial" charset="0"/>
                        </a:rPr>
                        <a:t>V/V</a:t>
                      </a:r>
                      <a:endParaRPr kumimoji="0" lang="el-GR" sz="2200" b="0" i="0" u="none" strike="noStrike" cap="none" normalizeH="0" baseline="0">
                        <a:ln>
                          <a:noFill/>
                        </a:ln>
                        <a:solidFill>
                          <a:schemeClr val="tx1"/>
                        </a:solidFill>
                        <a:effectLst/>
                        <a:latin typeface="Arial" charset="0"/>
                        <a:cs typeface="Arial"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9</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Input bias current</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50 nA</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4267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10</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Input offset current</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a:ln>
                            <a:noFill/>
                          </a:ln>
                          <a:solidFill>
                            <a:schemeClr val="tx1"/>
                          </a:solidFill>
                          <a:effectLst/>
                          <a:latin typeface="Arial" charset="0"/>
                        </a:rPr>
                        <a:t>6 nA</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a:ln>
                            <a:noFill/>
                          </a:ln>
                          <a:solidFill>
                            <a:schemeClr val="tx1"/>
                          </a:solidFill>
                          <a:effectLst/>
                          <a:latin typeface="Arial" charset="0"/>
                        </a:rPr>
                        <a:t>0</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sp>
        <p:nvSpPr>
          <p:cNvPr id="69697" name="Text Box 65"/>
          <p:cNvSpPr txBox="1">
            <a:spLocks noChangeArrowheads="1"/>
          </p:cNvSpPr>
          <p:nvPr/>
        </p:nvSpPr>
        <p:spPr bwMode="auto">
          <a:xfrm rot="-5400000">
            <a:off x="7471569" y="2077244"/>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8</a:t>
            </a:r>
          </a:p>
        </p:txBody>
      </p:sp>
      <p:sp>
        <p:nvSpPr>
          <p:cNvPr id="69698" name="Text Box 66"/>
          <p:cNvSpPr txBox="1">
            <a:spLocks noChangeArrowheads="1"/>
          </p:cNvSpPr>
          <p:nvPr/>
        </p:nvSpPr>
        <p:spPr bwMode="auto">
          <a:xfrm rot="-5400000">
            <a:off x="7487444" y="2915444"/>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8</a:t>
            </a:r>
          </a:p>
        </p:txBody>
      </p:sp>
      <p:sp>
        <p:nvSpPr>
          <p:cNvPr id="69699" name="Text Box 67"/>
          <p:cNvSpPr txBox="1">
            <a:spLocks noChangeArrowheads="1"/>
          </p:cNvSpPr>
          <p:nvPr/>
        </p:nvSpPr>
        <p:spPr bwMode="auto">
          <a:xfrm rot="-5400000">
            <a:off x="7487444" y="3372644"/>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8</a:t>
            </a:r>
          </a:p>
        </p:txBody>
      </p:sp>
      <p:sp>
        <p:nvSpPr>
          <p:cNvPr id="69700" name="Text Box 68"/>
          <p:cNvSpPr txBox="1">
            <a:spLocks noChangeArrowheads="1"/>
          </p:cNvSpPr>
          <p:nvPr/>
        </p:nvSpPr>
        <p:spPr bwMode="auto">
          <a:xfrm rot="-5400000">
            <a:off x="7487444" y="3753644"/>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8</a:t>
            </a:r>
          </a:p>
        </p:txBody>
      </p:sp>
      <p:sp>
        <p:nvSpPr>
          <p:cNvPr id="69701" name="Text Box 69"/>
          <p:cNvSpPr txBox="1">
            <a:spLocks noChangeArrowheads="1"/>
          </p:cNvSpPr>
          <p:nvPr/>
        </p:nvSpPr>
        <p:spPr bwMode="auto">
          <a:xfrm rot="-5400000">
            <a:off x="7487444" y="4210844"/>
            <a:ext cx="32543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8</a:t>
            </a:r>
          </a:p>
        </p:txBody>
      </p:sp>
      <p:sp>
        <p:nvSpPr>
          <p:cNvPr id="3" name="Slide Number Placeholder 2"/>
          <p:cNvSpPr>
            <a:spLocks noGrp="1"/>
          </p:cNvSpPr>
          <p:nvPr>
            <p:ph type="sldNum" sz="quarter" idx="12"/>
          </p:nvPr>
        </p:nvSpPr>
        <p:spPr/>
        <p:txBody>
          <a:bodyPr/>
          <a:lstStyle/>
          <a:p>
            <a:pPr>
              <a:defRPr/>
            </a:pPr>
            <a:fld id="{4E23EAC1-C3CD-4294-AD21-F3CF41158862}" type="slidenum">
              <a:rPr lang="en-US" smtClean="0"/>
              <a:pPr>
                <a:defRPr/>
              </a:pPr>
              <a:t>40</a:t>
            </a:fld>
            <a:endParaRPr lang="en-US"/>
          </a:p>
        </p:txBody>
      </p:sp>
    </p:spTree>
    <p:extLst>
      <p:ext uri="{BB962C8B-B14F-4D97-AF65-F5344CB8AC3E}">
        <p14:creationId xmlns:p14="http://schemas.microsoft.com/office/powerpoint/2010/main" xmlns="" val="4048172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52400" y="304800"/>
            <a:ext cx="8229600" cy="457200"/>
          </a:xfrm>
        </p:spPr>
        <p:txBody>
          <a:bodyPr rtlCol="0">
            <a:normAutofit fontScale="90000"/>
          </a:bodyPr>
          <a:lstStyle/>
          <a:p>
            <a:pPr fontAlgn="auto">
              <a:spcAft>
                <a:spcPts val="0"/>
              </a:spcAft>
              <a:defRPr/>
            </a:pPr>
            <a:r>
              <a:rPr lang="en-US" sz="3200" b="1" dirty="0">
                <a:solidFill>
                  <a:srgbClr val="000099"/>
                </a:solidFill>
                <a:latin typeface="Times New Roman" pitchFamily="18" charset="0"/>
                <a:cs typeface="Times New Roman" pitchFamily="18" charset="0"/>
              </a:rPr>
              <a:t> </a:t>
            </a:r>
            <a:r>
              <a:rPr lang="en-US" sz="3200" b="1" dirty="0">
                <a:solidFill>
                  <a:srgbClr val="0000FF"/>
                </a:solidFill>
                <a:cs typeface="Times New Roman" pitchFamily="18" charset="0"/>
              </a:rPr>
              <a:t>Open loop configuration of  OP-AMP </a:t>
            </a:r>
          </a:p>
        </p:txBody>
      </p:sp>
      <p:sp>
        <p:nvSpPr>
          <p:cNvPr id="70659" name="Rectangle 3"/>
          <p:cNvSpPr>
            <a:spLocks noGrp="1" noChangeArrowheads="1"/>
          </p:cNvSpPr>
          <p:nvPr>
            <p:ph sz="quarter" idx="1"/>
          </p:nvPr>
        </p:nvSpPr>
        <p:spPr>
          <a:xfrm>
            <a:off x="381000" y="1066800"/>
            <a:ext cx="8229600" cy="5410200"/>
          </a:xfrm>
        </p:spPr>
        <p:txBody>
          <a:bodyPr/>
          <a:lstStyle/>
          <a:p>
            <a:pPr marL="609600" indent="-609600" algn="just"/>
            <a:r>
              <a:rPr lang="en-US" sz="2400">
                <a:cs typeface="Times New Roman" pitchFamily="18" charset="0"/>
              </a:rPr>
              <a:t>The meaning of open loop operation is that there is absolutely no feedback present from the output to input.</a:t>
            </a:r>
            <a:endParaRPr lang="el-GR" sz="2400">
              <a:cs typeface="Times New Roman" pitchFamily="18" charset="0"/>
            </a:endParaRPr>
          </a:p>
        </p:txBody>
      </p:sp>
      <p:sp>
        <p:nvSpPr>
          <p:cNvPr id="70660" name="Oval 5"/>
          <p:cNvSpPr>
            <a:spLocks noChangeArrowheads="1"/>
          </p:cNvSpPr>
          <p:nvPr/>
        </p:nvSpPr>
        <p:spPr bwMode="auto">
          <a:xfrm>
            <a:off x="1219200" y="4343400"/>
            <a:ext cx="609600" cy="609600"/>
          </a:xfrm>
          <a:prstGeom prst="ellipse">
            <a:avLst/>
          </a:prstGeom>
          <a:solidFill>
            <a:schemeClr val="accent1"/>
          </a:solidFill>
          <a:ln w="9525">
            <a:solidFill>
              <a:schemeClr val="tx1"/>
            </a:solidFill>
            <a:round/>
            <a:headEnd/>
            <a:tailEnd/>
          </a:ln>
        </p:spPr>
        <p:txBody>
          <a:bodyPr wrap="none" anchor="ctr"/>
          <a:lstStyle/>
          <a:p>
            <a:pPr algn="ctr"/>
            <a:endParaRPr lang="en-US"/>
          </a:p>
        </p:txBody>
      </p:sp>
      <p:sp>
        <p:nvSpPr>
          <p:cNvPr id="70661" name="Line 6"/>
          <p:cNvSpPr>
            <a:spLocks noChangeShapeType="1"/>
          </p:cNvSpPr>
          <p:nvPr/>
        </p:nvSpPr>
        <p:spPr bwMode="auto">
          <a:xfrm>
            <a:off x="533400" y="3352800"/>
            <a:ext cx="195897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2" name="Line 7"/>
          <p:cNvSpPr>
            <a:spLocks noChangeShapeType="1"/>
          </p:cNvSpPr>
          <p:nvPr/>
        </p:nvSpPr>
        <p:spPr bwMode="auto">
          <a:xfrm>
            <a:off x="1501775" y="40386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3" name="Line 8"/>
          <p:cNvSpPr>
            <a:spLocks noChangeShapeType="1"/>
          </p:cNvSpPr>
          <p:nvPr/>
        </p:nvSpPr>
        <p:spPr bwMode="auto">
          <a:xfrm flipV="1">
            <a:off x="1524000" y="40386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4" name="Line 9"/>
          <p:cNvSpPr>
            <a:spLocks noChangeShapeType="1"/>
          </p:cNvSpPr>
          <p:nvPr/>
        </p:nvSpPr>
        <p:spPr bwMode="auto">
          <a:xfrm flipV="1">
            <a:off x="1524000" y="49530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5" name="Oval 10"/>
          <p:cNvSpPr>
            <a:spLocks noChangeArrowheads="1"/>
          </p:cNvSpPr>
          <p:nvPr/>
        </p:nvSpPr>
        <p:spPr bwMode="auto">
          <a:xfrm>
            <a:off x="228600" y="4343400"/>
            <a:ext cx="609600" cy="609600"/>
          </a:xfrm>
          <a:prstGeom prst="ellipse">
            <a:avLst/>
          </a:prstGeom>
          <a:solidFill>
            <a:schemeClr val="accent1"/>
          </a:solidFill>
          <a:ln w="9525">
            <a:solidFill>
              <a:schemeClr val="tx1"/>
            </a:solidFill>
            <a:round/>
            <a:headEnd/>
            <a:tailEnd/>
          </a:ln>
        </p:spPr>
        <p:txBody>
          <a:bodyPr wrap="none" anchor="ctr"/>
          <a:lstStyle/>
          <a:p>
            <a:pPr algn="ctr"/>
            <a:endParaRPr lang="en-US"/>
          </a:p>
        </p:txBody>
      </p:sp>
      <p:sp>
        <p:nvSpPr>
          <p:cNvPr id="70666" name="Line 11"/>
          <p:cNvSpPr>
            <a:spLocks noChangeShapeType="1"/>
          </p:cNvSpPr>
          <p:nvPr/>
        </p:nvSpPr>
        <p:spPr bwMode="auto">
          <a:xfrm flipV="1">
            <a:off x="533400" y="49530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7" name="Line 12"/>
          <p:cNvSpPr>
            <a:spLocks noChangeShapeType="1"/>
          </p:cNvSpPr>
          <p:nvPr/>
        </p:nvSpPr>
        <p:spPr bwMode="auto">
          <a:xfrm flipV="1">
            <a:off x="533400" y="33528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8" name="Line 13"/>
          <p:cNvSpPr>
            <a:spLocks noChangeShapeType="1"/>
          </p:cNvSpPr>
          <p:nvPr/>
        </p:nvSpPr>
        <p:spPr bwMode="auto">
          <a:xfrm>
            <a:off x="1295400" y="52578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69" name="Line 14"/>
          <p:cNvSpPr>
            <a:spLocks noChangeShapeType="1"/>
          </p:cNvSpPr>
          <p:nvPr/>
        </p:nvSpPr>
        <p:spPr bwMode="auto">
          <a:xfrm>
            <a:off x="1371600" y="53340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0" name="Line 15"/>
          <p:cNvSpPr>
            <a:spLocks noChangeShapeType="1"/>
          </p:cNvSpPr>
          <p:nvPr/>
        </p:nvSpPr>
        <p:spPr bwMode="auto">
          <a:xfrm>
            <a:off x="1447800" y="54102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1" name="Line 16"/>
          <p:cNvSpPr>
            <a:spLocks noChangeShapeType="1"/>
          </p:cNvSpPr>
          <p:nvPr/>
        </p:nvSpPr>
        <p:spPr bwMode="auto">
          <a:xfrm>
            <a:off x="304800" y="52578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2" name="Line 17"/>
          <p:cNvSpPr>
            <a:spLocks noChangeShapeType="1"/>
          </p:cNvSpPr>
          <p:nvPr/>
        </p:nvSpPr>
        <p:spPr bwMode="auto">
          <a:xfrm>
            <a:off x="381000" y="53340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3" name="Line 18"/>
          <p:cNvSpPr>
            <a:spLocks noChangeShapeType="1"/>
          </p:cNvSpPr>
          <p:nvPr/>
        </p:nvSpPr>
        <p:spPr bwMode="auto">
          <a:xfrm>
            <a:off x="457200" y="54102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4" name="Line 19"/>
          <p:cNvSpPr>
            <a:spLocks noChangeShapeType="1"/>
          </p:cNvSpPr>
          <p:nvPr/>
        </p:nvSpPr>
        <p:spPr bwMode="auto">
          <a:xfrm>
            <a:off x="3962400" y="3733800"/>
            <a:ext cx="35877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75" name="Oval 20"/>
          <p:cNvSpPr>
            <a:spLocks noChangeArrowheads="1"/>
          </p:cNvSpPr>
          <p:nvPr/>
        </p:nvSpPr>
        <p:spPr bwMode="auto">
          <a:xfrm>
            <a:off x="1828800" y="3276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0676" name="Oval 21"/>
          <p:cNvSpPr>
            <a:spLocks noChangeArrowheads="1"/>
          </p:cNvSpPr>
          <p:nvPr/>
        </p:nvSpPr>
        <p:spPr bwMode="auto">
          <a:xfrm>
            <a:off x="1828800" y="3962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0677" name="Oval 22"/>
          <p:cNvSpPr>
            <a:spLocks noChangeArrowheads="1"/>
          </p:cNvSpPr>
          <p:nvPr/>
        </p:nvSpPr>
        <p:spPr bwMode="auto">
          <a:xfrm>
            <a:off x="4321175" y="3657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0678" name="Line 23"/>
          <p:cNvSpPr>
            <a:spLocks noChangeShapeType="1"/>
          </p:cNvSpPr>
          <p:nvPr/>
        </p:nvSpPr>
        <p:spPr bwMode="auto">
          <a:xfrm flipV="1">
            <a:off x="1905000" y="3429000"/>
            <a:ext cx="0" cy="533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0679" name="Text Box 24"/>
          <p:cNvSpPr txBox="1">
            <a:spLocks noChangeArrowheads="1"/>
          </p:cNvSpPr>
          <p:nvPr/>
        </p:nvSpPr>
        <p:spPr bwMode="auto">
          <a:xfrm>
            <a:off x="1828800" y="35194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Vd</a:t>
            </a:r>
          </a:p>
        </p:txBody>
      </p:sp>
      <p:sp>
        <p:nvSpPr>
          <p:cNvPr id="70680" name="Line 25"/>
          <p:cNvSpPr>
            <a:spLocks noChangeShapeType="1"/>
          </p:cNvSpPr>
          <p:nvPr/>
        </p:nvSpPr>
        <p:spPr bwMode="auto">
          <a:xfrm flipV="1">
            <a:off x="4397375" y="4495800"/>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1" name="Line 26"/>
          <p:cNvSpPr>
            <a:spLocks noChangeShapeType="1"/>
          </p:cNvSpPr>
          <p:nvPr/>
        </p:nvSpPr>
        <p:spPr bwMode="auto">
          <a:xfrm>
            <a:off x="4168775" y="48006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2" name="Line 27"/>
          <p:cNvSpPr>
            <a:spLocks noChangeShapeType="1"/>
          </p:cNvSpPr>
          <p:nvPr/>
        </p:nvSpPr>
        <p:spPr bwMode="auto">
          <a:xfrm>
            <a:off x="4244975" y="48768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3" name="Line 28"/>
          <p:cNvSpPr>
            <a:spLocks noChangeShapeType="1"/>
          </p:cNvSpPr>
          <p:nvPr/>
        </p:nvSpPr>
        <p:spPr bwMode="auto">
          <a:xfrm>
            <a:off x="4321175" y="49530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4" name="Oval 29"/>
          <p:cNvSpPr>
            <a:spLocks noChangeArrowheads="1"/>
          </p:cNvSpPr>
          <p:nvPr/>
        </p:nvSpPr>
        <p:spPr bwMode="auto">
          <a:xfrm>
            <a:off x="4321175" y="4343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0685" name="Line 30"/>
          <p:cNvSpPr>
            <a:spLocks noChangeShapeType="1"/>
          </p:cNvSpPr>
          <p:nvPr/>
        </p:nvSpPr>
        <p:spPr bwMode="auto">
          <a:xfrm>
            <a:off x="4473575" y="37338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6" name="Line 31"/>
          <p:cNvSpPr>
            <a:spLocks noChangeShapeType="1"/>
          </p:cNvSpPr>
          <p:nvPr/>
        </p:nvSpPr>
        <p:spPr bwMode="auto">
          <a:xfrm>
            <a:off x="4473575" y="4419600"/>
            <a:ext cx="3810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687" name="Line 32"/>
          <p:cNvSpPr>
            <a:spLocks noChangeShapeType="1"/>
          </p:cNvSpPr>
          <p:nvPr/>
        </p:nvSpPr>
        <p:spPr bwMode="auto">
          <a:xfrm flipV="1">
            <a:off x="4625975" y="37338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0688" name="Line 33"/>
          <p:cNvSpPr>
            <a:spLocks noChangeShapeType="1"/>
          </p:cNvSpPr>
          <p:nvPr/>
        </p:nvSpPr>
        <p:spPr bwMode="auto">
          <a:xfrm>
            <a:off x="4625975" y="41910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0689" name="Text Box 34"/>
          <p:cNvSpPr txBox="1">
            <a:spLocks noChangeArrowheads="1"/>
          </p:cNvSpPr>
          <p:nvPr/>
        </p:nvSpPr>
        <p:spPr bwMode="auto">
          <a:xfrm>
            <a:off x="4114800" y="3905250"/>
            <a:ext cx="1460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Av Vd</a:t>
            </a:r>
          </a:p>
        </p:txBody>
      </p:sp>
      <p:sp>
        <p:nvSpPr>
          <p:cNvPr id="70690" name="Text Box 35"/>
          <p:cNvSpPr txBox="1">
            <a:spLocks noChangeArrowheads="1"/>
          </p:cNvSpPr>
          <p:nvPr/>
        </p:nvSpPr>
        <p:spPr bwMode="auto">
          <a:xfrm>
            <a:off x="1279525" y="3998913"/>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1" name="Text Box 36"/>
          <p:cNvSpPr txBox="1">
            <a:spLocks noChangeArrowheads="1"/>
          </p:cNvSpPr>
          <p:nvPr/>
        </p:nvSpPr>
        <p:spPr bwMode="auto">
          <a:xfrm>
            <a:off x="457200" y="39624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2" name="Text Box 37"/>
          <p:cNvSpPr txBox="1">
            <a:spLocks noChangeArrowheads="1"/>
          </p:cNvSpPr>
          <p:nvPr/>
        </p:nvSpPr>
        <p:spPr bwMode="auto">
          <a:xfrm>
            <a:off x="1279525" y="48371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3" name="Text Box 38"/>
          <p:cNvSpPr txBox="1">
            <a:spLocks noChangeArrowheads="1"/>
          </p:cNvSpPr>
          <p:nvPr/>
        </p:nvSpPr>
        <p:spPr bwMode="auto">
          <a:xfrm>
            <a:off x="501650" y="48006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4" name="AutoShape 39"/>
          <p:cNvSpPr>
            <a:spLocks noChangeArrowheads="1"/>
          </p:cNvSpPr>
          <p:nvPr/>
        </p:nvSpPr>
        <p:spPr bwMode="auto">
          <a:xfrm rot="5400000">
            <a:off x="2149475" y="3009900"/>
            <a:ext cx="2133600" cy="1447800"/>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rot="10800000" vert="eaVert" wrap="none" anchor="ctr"/>
          <a:lstStyle/>
          <a:p>
            <a:pPr marL="342900" indent="-342900" algn="ctr"/>
            <a:r>
              <a:rPr lang="en-US"/>
              <a:t>  Op amp</a:t>
            </a:r>
          </a:p>
        </p:txBody>
      </p:sp>
      <p:sp>
        <p:nvSpPr>
          <p:cNvPr id="70695" name="Text Box 40"/>
          <p:cNvSpPr txBox="1">
            <a:spLocks noChangeArrowheads="1"/>
          </p:cNvSpPr>
          <p:nvPr/>
        </p:nvSpPr>
        <p:spPr bwMode="auto">
          <a:xfrm>
            <a:off x="2568575" y="30622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6" name="Text Box 41"/>
          <p:cNvSpPr txBox="1">
            <a:spLocks noChangeArrowheads="1"/>
          </p:cNvSpPr>
          <p:nvPr/>
        </p:nvSpPr>
        <p:spPr bwMode="auto">
          <a:xfrm>
            <a:off x="2568575" y="38242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0697" name="Text Box 42"/>
          <p:cNvSpPr txBox="1">
            <a:spLocks noChangeArrowheads="1"/>
          </p:cNvSpPr>
          <p:nvPr/>
        </p:nvSpPr>
        <p:spPr bwMode="auto">
          <a:xfrm>
            <a:off x="69850" y="4075113"/>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70698" name="Text Box 43"/>
          <p:cNvSpPr txBox="1">
            <a:spLocks noChangeArrowheads="1"/>
          </p:cNvSpPr>
          <p:nvPr/>
        </p:nvSpPr>
        <p:spPr bwMode="auto">
          <a:xfrm>
            <a:off x="1746250" y="42814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70699" name="Freeform 44"/>
          <p:cNvSpPr>
            <a:spLocks/>
          </p:cNvSpPr>
          <p:nvPr/>
        </p:nvSpPr>
        <p:spPr bwMode="auto">
          <a:xfrm>
            <a:off x="1371600" y="4419600"/>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0700" name="Freeform 45"/>
          <p:cNvSpPr>
            <a:spLocks/>
          </p:cNvSpPr>
          <p:nvPr/>
        </p:nvSpPr>
        <p:spPr bwMode="auto">
          <a:xfrm rot="10800000">
            <a:off x="1524000" y="4648200"/>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0701" name="Line 46"/>
          <p:cNvSpPr>
            <a:spLocks noChangeShapeType="1"/>
          </p:cNvSpPr>
          <p:nvPr/>
        </p:nvSpPr>
        <p:spPr bwMode="auto">
          <a:xfrm>
            <a:off x="1295400" y="4648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02" name="Freeform 47"/>
          <p:cNvSpPr>
            <a:spLocks/>
          </p:cNvSpPr>
          <p:nvPr/>
        </p:nvSpPr>
        <p:spPr bwMode="auto">
          <a:xfrm>
            <a:off x="381000" y="4419600"/>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0703" name="Freeform 48"/>
          <p:cNvSpPr>
            <a:spLocks/>
          </p:cNvSpPr>
          <p:nvPr/>
        </p:nvSpPr>
        <p:spPr bwMode="auto">
          <a:xfrm rot="10800000">
            <a:off x="533400" y="4648200"/>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0704" name="Line 49"/>
          <p:cNvSpPr>
            <a:spLocks noChangeShapeType="1"/>
          </p:cNvSpPr>
          <p:nvPr/>
        </p:nvSpPr>
        <p:spPr bwMode="auto">
          <a:xfrm>
            <a:off x="304800" y="4648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05" name="Line 50"/>
          <p:cNvSpPr>
            <a:spLocks noChangeShapeType="1"/>
          </p:cNvSpPr>
          <p:nvPr/>
        </p:nvSpPr>
        <p:spPr bwMode="auto">
          <a:xfrm>
            <a:off x="7315200" y="2514600"/>
            <a:ext cx="0" cy="243840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0706" name="Line 51"/>
          <p:cNvSpPr>
            <a:spLocks noChangeShapeType="1"/>
          </p:cNvSpPr>
          <p:nvPr/>
        </p:nvSpPr>
        <p:spPr bwMode="auto">
          <a:xfrm flipH="1">
            <a:off x="5943600" y="3733800"/>
            <a:ext cx="2743200" cy="0"/>
          </a:xfrm>
          <a:prstGeom prst="line">
            <a:avLst/>
          </a:prstGeom>
          <a:noFill/>
          <a:ln w="12700">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0707" name="Line 52"/>
          <p:cNvSpPr>
            <a:spLocks noChangeShapeType="1"/>
          </p:cNvSpPr>
          <p:nvPr/>
        </p:nvSpPr>
        <p:spPr bwMode="auto">
          <a:xfrm flipV="1">
            <a:off x="7086600" y="2971800"/>
            <a:ext cx="457200" cy="1524000"/>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08" name="Line 53"/>
          <p:cNvSpPr>
            <a:spLocks noChangeShapeType="1"/>
          </p:cNvSpPr>
          <p:nvPr/>
        </p:nvSpPr>
        <p:spPr bwMode="auto">
          <a:xfrm flipV="1">
            <a:off x="6400800" y="4495800"/>
            <a:ext cx="685800" cy="0"/>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09" name="Line 54"/>
          <p:cNvSpPr>
            <a:spLocks noChangeShapeType="1"/>
          </p:cNvSpPr>
          <p:nvPr/>
        </p:nvSpPr>
        <p:spPr bwMode="auto">
          <a:xfrm flipV="1">
            <a:off x="7543800" y="2971800"/>
            <a:ext cx="685800" cy="0"/>
          </a:xfrm>
          <a:prstGeom prst="line">
            <a:avLst/>
          </a:prstGeom>
          <a:noFill/>
          <a:ln w="28575">
            <a:solidFill>
              <a:schemeClr val="accent2"/>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10" name="Line 55"/>
          <p:cNvSpPr>
            <a:spLocks noChangeShapeType="1"/>
          </p:cNvSpPr>
          <p:nvPr/>
        </p:nvSpPr>
        <p:spPr bwMode="auto">
          <a:xfrm flipV="1">
            <a:off x="7086600" y="3733800"/>
            <a:ext cx="0" cy="76200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11" name="Line 56"/>
          <p:cNvSpPr>
            <a:spLocks noChangeShapeType="1"/>
          </p:cNvSpPr>
          <p:nvPr/>
        </p:nvSpPr>
        <p:spPr bwMode="auto">
          <a:xfrm flipV="1">
            <a:off x="7543800" y="2971800"/>
            <a:ext cx="0" cy="76200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12" name="Line 58"/>
          <p:cNvSpPr>
            <a:spLocks noChangeShapeType="1"/>
          </p:cNvSpPr>
          <p:nvPr/>
        </p:nvSpPr>
        <p:spPr bwMode="auto">
          <a:xfrm flipV="1">
            <a:off x="7315200" y="2971800"/>
            <a:ext cx="2286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0713" name="Text Box 59"/>
          <p:cNvSpPr txBox="1">
            <a:spLocks noChangeArrowheads="1"/>
          </p:cNvSpPr>
          <p:nvPr/>
        </p:nvSpPr>
        <p:spPr bwMode="auto">
          <a:xfrm>
            <a:off x="7246938" y="36576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Arial" pitchFamily="34" charset="0"/>
              </a:rPr>
              <a:t>0</a:t>
            </a:r>
          </a:p>
        </p:txBody>
      </p:sp>
      <p:sp>
        <p:nvSpPr>
          <p:cNvPr id="70714" name="Text Box 60"/>
          <p:cNvSpPr txBox="1">
            <a:spLocks noChangeArrowheads="1"/>
          </p:cNvSpPr>
          <p:nvPr/>
        </p:nvSpPr>
        <p:spPr bwMode="auto">
          <a:xfrm>
            <a:off x="7467600" y="3473450"/>
            <a:ext cx="30797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Arial" pitchFamily="34" charset="0"/>
              </a:rPr>
              <a:t>b</a:t>
            </a:r>
          </a:p>
        </p:txBody>
      </p:sp>
      <p:sp>
        <p:nvSpPr>
          <p:cNvPr id="70715" name="Text Box 61"/>
          <p:cNvSpPr txBox="1">
            <a:spLocks noChangeArrowheads="1"/>
          </p:cNvSpPr>
          <p:nvPr/>
        </p:nvSpPr>
        <p:spPr bwMode="auto">
          <a:xfrm>
            <a:off x="6942138" y="3429000"/>
            <a:ext cx="29686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Arial" pitchFamily="34" charset="0"/>
              </a:rPr>
              <a:t>a</a:t>
            </a:r>
          </a:p>
        </p:txBody>
      </p:sp>
      <p:sp>
        <p:nvSpPr>
          <p:cNvPr id="70716" name="Text Box 62"/>
          <p:cNvSpPr txBox="1">
            <a:spLocks noChangeArrowheads="1"/>
          </p:cNvSpPr>
          <p:nvPr/>
        </p:nvSpPr>
        <p:spPr bwMode="auto">
          <a:xfrm>
            <a:off x="6477000" y="2743200"/>
            <a:ext cx="81121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Arial" pitchFamily="34" charset="0"/>
              </a:rPr>
              <a:t>+V</a:t>
            </a:r>
            <a:r>
              <a:rPr lang="en-US" sz="1600" b="1" baseline="-18000">
                <a:latin typeface="Arial" pitchFamily="34" charset="0"/>
              </a:rPr>
              <a:t>(SAT)</a:t>
            </a:r>
          </a:p>
        </p:txBody>
      </p:sp>
      <p:sp>
        <p:nvSpPr>
          <p:cNvPr id="70717" name="Text Box 63"/>
          <p:cNvSpPr txBox="1">
            <a:spLocks noChangeArrowheads="1"/>
          </p:cNvSpPr>
          <p:nvPr/>
        </p:nvSpPr>
        <p:spPr bwMode="auto">
          <a:xfrm>
            <a:off x="7239000" y="4311650"/>
            <a:ext cx="760413"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b="1">
                <a:latin typeface="Arial" pitchFamily="34" charset="0"/>
              </a:rPr>
              <a:t>-V</a:t>
            </a:r>
            <a:r>
              <a:rPr lang="en-US" sz="1600" b="1" baseline="-18000">
                <a:latin typeface="Arial" pitchFamily="34" charset="0"/>
              </a:rPr>
              <a:t>(SAT)</a:t>
            </a:r>
          </a:p>
        </p:txBody>
      </p:sp>
      <p:sp>
        <p:nvSpPr>
          <p:cNvPr id="70718" name="Text Box 64"/>
          <p:cNvSpPr txBox="1">
            <a:spLocks noChangeArrowheads="1"/>
          </p:cNvSpPr>
          <p:nvPr/>
        </p:nvSpPr>
        <p:spPr bwMode="auto">
          <a:xfrm>
            <a:off x="7239000" y="2290763"/>
            <a:ext cx="1460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Vo = Av Vd</a:t>
            </a:r>
          </a:p>
        </p:txBody>
      </p:sp>
      <p:sp>
        <p:nvSpPr>
          <p:cNvPr id="70719" name="Text Box 65"/>
          <p:cNvSpPr txBox="1">
            <a:spLocks noChangeArrowheads="1"/>
          </p:cNvSpPr>
          <p:nvPr/>
        </p:nvSpPr>
        <p:spPr bwMode="auto">
          <a:xfrm>
            <a:off x="8458200" y="3738563"/>
            <a:ext cx="571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rPr>
              <a:t> Vd</a:t>
            </a:r>
          </a:p>
        </p:txBody>
      </p:sp>
      <p:sp>
        <p:nvSpPr>
          <p:cNvPr id="70720" name="Line 66"/>
          <p:cNvSpPr>
            <a:spLocks noChangeShapeType="1"/>
          </p:cNvSpPr>
          <p:nvPr/>
        </p:nvSpPr>
        <p:spPr bwMode="auto">
          <a:xfrm flipV="1">
            <a:off x="7086600" y="4495800"/>
            <a:ext cx="22860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 name="Slide Number Placeholder 2"/>
          <p:cNvSpPr>
            <a:spLocks noGrp="1"/>
          </p:cNvSpPr>
          <p:nvPr>
            <p:ph type="sldNum" sz="quarter" idx="12"/>
          </p:nvPr>
        </p:nvSpPr>
        <p:spPr/>
        <p:txBody>
          <a:bodyPr/>
          <a:lstStyle/>
          <a:p>
            <a:pPr>
              <a:defRPr/>
            </a:pPr>
            <a:fld id="{A8A1233B-CE04-4098-AF4D-9A6E783F00F6}" type="slidenum">
              <a:rPr lang="en-US"/>
              <a:pPr>
                <a:defRPr/>
              </a:pPr>
              <a:t>41</a:t>
            </a:fld>
            <a:endParaRPr lang="en-US"/>
          </a:p>
        </p:txBody>
      </p:sp>
    </p:spTree>
    <p:extLst>
      <p:ext uri="{BB962C8B-B14F-4D97-AF65-F5344CB8AC3E}">
        <p14:creationId xmlns:p14="http://schemas.microsoft.com/office/powerpoint/2010/main" xmlns="" val="1082671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52400" y="304800"/>
            <a:ext cx="8229600" cy="457200"/>
          </a:xfrm>
        </p:spPr>
        <p:txBody>
          <a:bodyPr rtlCol="0">
            <a:normAutofit fontScale="90000"/>
          </a:bodyPr>
          <a:lstStyle/>
          <a:p>
            <a:pPr fontAlgn="auto">
              <a:spcAft>
                <a:spcPts val="0"/>
              </a:spcAft>
              <a:defRPr/>
            </a:pPr>
            <a:r>
              <a:rPr lang="en-US" sz="3200" b="1" dirty="0">
                <a:solidFill>
                  <a:srgbClr val="000099"/>
                </a:solidFill>
                <a:latin typeface="Times New Roman" pitchFamily="18" charset="0"/>
                <a:cs typeface="Times New Roman" pitchFamily="18" charset="0"/>
              </a:rPr>
              <a:t> </a:t>
            </a:r>
            <a:r>
              <a:rPr lang="en-US" sz="3200" b="1" dirty="0">
                <a:solidFill>
                  <a:srgbClr val="0000FF"/>
                </a:solidFill>
                <a:cs typeface="Times New Roman" pitchFamily="18" charset="0"/>
              </a:rPr>
              <a:t>Open loop configuration of  OP-AMP </a:t>
            </a:r>
          </a:p>
        </p:txBody>
      </p:sp>
      <p:pic>
        <p:nvPicPr>
          <p:cNvPr id="71683" name="Picture 68" descr="12-1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79413" y="912813"/>
            <a:ext cx="8231187" cy="5487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6D6D92FE-F67B-4375-A1EA-FECCE31138CF}" type="slidenum">
              <a:rPr lang="en-US"/>
              <a:pPr>
                <a:defRPr/>
              </a:pPr>
              <a:t>42</a:t>
            </a:fld>
            <a:endParaRPr lang="en-US"/>
          </a:p>
        </p:txBody>
      </p:sp>
    </p:spTree>
    <p:extLst>
      <p:ext uri="{BB962C8B-B14F-4D97-AF65-F5344CB8AC3E}">
        <p14:creationId xmlns:p14="http://schemas.microsoft.com/office/powerpoint/2010/main" xmlns="" val="32819532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52400" y="152400"/>
            <a:ext cx="8763000" cy="1219200"/>
          </a:xfrm>
        </p:spPr>
        <p:txBody>
          <a:bodyPr/>
          <a:lstStyle/>
          <a:p>
            <a:r>
              <a:rPr lang="en-US" sz="3200" b="1">
                <a:solidFill>
                  <a:srgbClr val="0000FF"/>
                </a:solidFill>
                <a:cs typeface="Times New Roman" pitchFamily="18" charset="0"/>
              </a:rPr>
              <a:t>Why Op-amp not used as an amplifier in the open loop configuration ?</a:t>
            </a:r>
          </a:p>
        </p:txBody>
      </p:sp>
      <p:sp>
        <p:nvSpPr>
          <p:cNvPr id="72707" name="Rectangle 3"/>
          <p:cNvSpPr>
            <a:spLocks noGrp="1" noChangeArrowheads="1"/>
          </p:cNvSpPr>
          <p:nvPr>
            <p:ph sz="quarter" idx="1"/>
          </p:nvPr>
        </p:nvSpPr>
        <p:spPr>
          <a:xfrm>
            <a:off x="381000" y="1524000"/>
            <a:ext cx="8229600" cy="5029200"/>
          </a:xfrm>
        </p:spPr>
        <p:txBody>
          <a:bodyPr>
            <a:normAutofit lnSpcReduction="10000"/>
          </a:bodyPr>
          <a:lstStyle/>
          <a:p>
            <a:pPr marL="609600" indent="-609600"/>
            <a:r>
              <a:rPr lang="en-US" sz="2800">
                <a:cs typeface="Times New Roman" pitchFamily="18" charset="0"/>
              </a:rPr>
              <a:t>Due to very large open loop gain, distortion is introduced in the amplified output signal.</a:t>
            </a:r>
          </a:p>
          <a:p>
            <a:pPr marL="609600" indent="-609600"/>
            <a:r>
              <a:rPr lang="en-US" sz="2800">
                <a:cs typeface="Times New Roman" pitchFamily="18" charset="0"/>
              </a:rPr>
              <a:t>The open loop gain does not remain constant, it varies with change in temperature and power supply.</a:t>
            </a:r>
          </a:p>
          <a:p>
            <a:pPr marL="609600" indent="-609600"/>
            <a:r>
              <a:rPr lang="en-US" sz="2800">
                <a:cs typeface="Times New Roman" pitchFamily="18" charset="0"/>
              </a:rPr>
              <a:t>The bandwidth of an Op amp in open loop mode is very very small – almost zero</a:t>
            </a:r>
          </a:p>
          <a:p>
            <a:pPr marL="609600" indent="-609600"/>
            <a:r>
              <a:rPr lang="en-US" sz="2800">
                <a:cs typeface="Times New Roman" pitchFamily="18" charset="0"/>
              </a:rPr>
              <a:t>For this reason the Op-amp is not used in practice as an amplifier.</a:t>
            </a:r>
          </a:p>
          <a:p>
            <a:pPr marL="609600" indent="-609600"/>
            <a:r>
              <a:rPr lang="en-US" sz="2800" b="1">
                <a:solidFill>
                  <a:srgbClr val="00B050"/>
                </a:solidFill>
                <a:cs typeface="Times New Roman" pitchFamily="18" charset="0"/>
              </a:rPr>
              <a:t>However the Op-amp in open loop configuration is used in application such as comparator.</a:t>
            </a:r>
            <a:endParaRPr lang="el-GR" sz="2800" b="1">
              <a:solidFill>
                <a:srgbClr val="00B050"/>
              </a:solidFill>
              <a:cs typeface="Times New Roman" pitchFamily="18" charset="0"/>
            </a:endParaRPr>
          </a:p>
        </p:txBody>
      </p:sp>
      <p:sp>
        <p:nvSpPr>
          <p:cNvPr id="3" name="Slide Number Placeholder 2"/>
          <p:cNvSpPr>
            <a:spLocks noGrp="1"/>
          </p:cNvSpPr>
          <p:nvPr>
            <p:ph type="sldNum" sz="quarter" idx="12"/>
          </p:nvPr>
        </p:nvSpPr>
        <p:spPr/>
        <p:txBody>
          <a:bodyPr/>
          <a:lstStyle/>
          <a:p>
            <a:pPr>
              <a:defRPr/>
            </a:pPr>
            <a:fld id="{AD9A5DAA-E4BF-42A2-8B1B-87D04C537CEA}" type="slidenum">
              <a:rPr lang="en-US"/>
              <a:pPr>
                <a:defRPr/>
              </a:pPr>
              <a:t>43</a:t>
            </a:fld>
            <a:endParaRPr lang="en-US"/>
          </a:p>
        </p:txBody>
      </p:sp>
    </p:spTree>
    <p:extLst>
      <p:ext uri="{BB962C8B-B14F-4D97-AF65-F5344CB8AC3E}">
        <p14:creationId xmlns:p14="http://schemas.microsoft.com/office/powerpoint/2010/main" xmlns="" val="542234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04800" y="304800"/>
            <a:ext cx="8229600" cy="457200"/>
          </a:xfrm>
        </p:spPr>
        <p:txBody>
          <a:bodyPr>
            <a:normAutofit fontScale="90000"/>
          </a:bodyPr>
          <a:lstStyle/>
          <a:p>
            <a:r>
              <a:rPr lang="en-US" sz="3200" b="1">
                <a:solidFill>
                  <a:srgbClr val="0000FF"/>
                </a:solidFill>
                <a:cs typeface="Times New Roman" pitchFamily="18" charset="0"/>
              </a:rPr>
              <a:t>Close  loop configuration of  OP-AMP </a:t>
            </a:r>
          </a:p>
        </p:txBody>
      </p:sp>
      <p:sp>
        <p:nvSpPr>
          <p:cNvPr id="90115" name="Rectangle 3"/>
          <p:cNvSpPr>
            <a:spLocks noGrp="1" noChangeArrowheads="1"/>
          </p:cNvSpPr>
          <p:nvPr>
            <p:ph sz="quarter" idx="1"/>
          </p:nvPr>
        </p:nvSpPr>
        <p:spPr>
          <a:xfrm>
            <a:off x="381000" y="990600"/>
            <a:ext cx="8229600" cy="4343400"/>
          </a:xfrm>
        </p:spPr>
        <p:txBody>
          <a:bodyPr rtlCol="0">
            <a:normAutofit/>
          </a:bodyPr>
          <a:lstStyle/>
          <a:p>
            <a:pPr marL="609600" indent="-609600" algn="just" fontAlgn="auto">
              <a:spcAft>
                <a:spcPts val="0"/>
              </a:spcAft>
              <a:defRPr/>
            </a:pPr>
            <a:r>
              <a:rPr lang="en-US" dirty="0">
                <a:cs typeface="Times New Roman" pitchFamily="18" charset="0"/>
              </a:rPr>
              <a:t>In the closed loop configuration some kind of “feedback” is introduced in the circuit.</a:t>
            </a:r>
          </a:p>
          <a:p>
            <a:pPr marL="609600" indent="-609600" algn="just" fontAlgn="auto">
              <a:spcAft>
                <a:spcPts val="0"/>
              </a:spcAft>
              <a:defRPr/>
            </a:pPr>
            <a:r>
              <a:rPr lang="en-US" dirty="0">
                <a:cs typeface="Times New Roman" pitchFamily="18" charset="0"/>
              </a:rPr>
              <a:t>A part of output is returned back or fed back to the input.</a:t>
            </a:r>
          </a:p>
          <a:p>
            <a:pPr marL="609600" indent="-609600" algn="just" fontAlgn="auto">
              <a:spcAft>
                <a:spcPts val="0"/>
              </a:spcAft>
              <a:defRPr/>
            </a:pPr>
            <a:endParaRPr lang="en-US" dirty="0">
              <a:cs typeface="Times New Roman" pitchFamily="18" charset="0"/>
            </a:endParaRPr>
          </a:p>
          <a:p>
            <a:pPr marL="609600" indent="-609600" algn="just" fontAlgn="auto">
              <a:spcAft>
                <a:spcPts val="0"/>
              </a:spcAft>
              <a:defRPr/>
            </a:pPr>
            <a:r>
              <a:rPr lang="en-US" dirty="0">
                <a:solidFill>
                  <a:srgbClr val="FF0000"/>
                </a:solidFill>
                <a:cs typeface="Times New Roman" pitchFamily="18" charset="0"/>
              </a:rPr>
              <a:t>Types of feedback</a:t>
            </a:r>
          </a:p>
          <a:p>
            <a:pPr algn="just" fontAlgn="auto">
              <a:spcAft>
                <a:spcPts val="0"/>
              </a:spcAft>
              <a:buFont typeface="Wingdings" pitchFamily="2" charset="2"/>
              <a:buChar char="Ø"/>
              <a:defRPr/>
            </a:pPr>
            <a:r>
              <a:rPr lang="en-US" sz="2800" dirty="0">
                <a:solidFill>
                  <a:schemeClr val="accent2"/>
                </a:solidFill>
                <a:cs typeface="Times New Roman" pitchFamily="18" charset="0"/>
              </a:rPr>
              <a:t>Positive feedback or </a:t>
            </a:r>
            <a:r>
              <a:rPr lang="en-US" sz="2800" dirty="0">
                <a:solidFill>
                  <a:srgbClr val="0000CC"/>
                </a:solidFill>
                <a:cs typeface="Times New Roman" pitchFamily="18" charset="0"/>
              </a:rPr>
              <a:t>Regenerative feedback</a:t>
            </a:r>
          </a:p>
          <a:p>
            <a:pPr algn="just" fontAlgn="auto">
              <a:spcAft>
                <a:spcPts val="0"/>
              </a:spcAft>
              <a:buFont typeface="Wingdings" pitchFamily="2" charset="2"/>
              <a:buChar char="Ø"/>
              <a:defRPr/>
            </a:pPr>
            <a:r>
              <a:rPr lang="en-US" sz="2800" dirty="0">
                <a:solidFill>
                  <a:schemeClr val="accent2"/>
                </a:solidFill>
                <a:cs typeface="Times New Roman" pitchFamily="18" charset="0"/>
              </a:rPr>
              <a:t>Negative feedback or </a:t>
            </a:r>
            <a:r>
              <a:rPr lang="en-US" sz="2800" dirty="0">
                <a:solidFill>
                  <a:srgbClr val="0000CC"/>
                </a:solidFill>
                <a:cs typeface="Times New Roman" pitchFamily="18" charset="0"/>
              </a:rPr>
              <a:t>Degenerative feedback</a:t>
            </a:r>
            <a:r>
              <a:rPr lang="en-US" sz="2000" dirty="0">
                <a:solidFill>
                  <a:srgbClr val="0000CC"/>
                </a:solidFill>
                <a:cs typeface="Times New Roman" pitchFamily="18" charset="0"/>
              </a:rPr>
              <a:t>.</a:t>
            </a:r>
            <a:endParaRPr lang="el-GR" sz="2000" dirty="0">
              <a:solidFill>
                <a:srgbClr val="0000CC"/>
              </a:solidFill>
              <a:cs typeface="Times New Roman" pitchFamily="18" charset="0"/>
            </a:endParaRPr>
          </a:p>
        </p:txBody>
      </p:sp>
      <p:sp>
        <p:nvSpPr>
          <p:cNvPr id="3" name="Slide Number Placeholder 2"/>
          <p:cNvSpPr>
            <a:spLocks noGrp="1"/>
          </p:cNvSpPr>
          <p:nvPr>
            <p:ph type="sldNum" sz="quarter" idx="12"/>
          </p:nvPr>
        </p:nvSpPr>
        <p:spPr/>
        <p:txBody>
          <a:bodyPr/>
          <a:lstStyle/>
          <a:p>
            <a:pPr>
              <a:defRPr/>
            </a:pPr>
            <a:fld id="{86A98759-46D7-493D-8FB0-83E4C0DB3312}" type="slidenum">
              <a:rPr lang="en-US"/>
              <a:pPr>
                <a:defRPr/>
              </a:pPr>
              <a:t>44</a:t>
            </a:fld>
            <a:endParaRPr lang="en-US"/>
          </a:p>
        </p:txBody>
      </p:sp>
    </p:spTree>
    <p:extLst>
      <p:ext uri="{BB962C8B-B14F-4D97-AF65-F5344CB8AC3E}">
        <p14:creationId xmlns:p14="http://schemas.microsoft.com/office/powerpoint/2010/main" xmlns="" val="2318415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sz="quarter" idx="1"/>
          </p:nvPr>
        </p:nvSpPr>
        <p:spPr>
          <a:xfrm>
            <a:off x="381000" y="304800"/>
            <a:ext cx="8229600" cy="4191000"/>
          </a:xfrm>
        </p:spPr>
        <p:txBody>
          <a:bodyPr rtlCol="0">
            <a:normAutofit lnSpcReduction="10000"/>
          </a:bodyPr>
          <a:lstStyle/>
          <a:p>
            <a:pPr marL="609600" indent="-609600" fontAlgn="auto">
              <a:spcAft>
                <a:spcPts val="0"/>
              </a:spcAft>
              <a:buFontTx/>
              <a:buNone/>
              <a:defRPr/>
            </a:pPr>
            <a:r>
              <a:rPr lang="en-US" dirty="0">
                <a:solidFill>
                  <a:srgbClr val="0000FF"/>
                </a:solidFill>
                <a:latin typeface="+mj-lt"/>
                <a:cs typeface="Times New Roman" pitchFamily="18" charset="0"/>
              </a:rPr>
              <a:t>Positive feedback or regenerative feedback</a:t>
            </a:r>
          </a:p>
          <a:p>
            <a:pPr marL="609600" indent="-609600" fontAlgn="auto">
              <a:spcAft>
                <a:spcPts val="0"/>
              </a:spcAft>
              <a:defRPr/>
            </a:pPr>
            <a:endParaRPr lang="en-US" sz="2400" b="1" dirty="0">
              <a:solidFill>
                <a:srgbClr val="000099"/>
              </a:solidFill>
              <a:latin typeface="Times New Roman" pitchFamily="18" charset="0"/>
              <a:cs typeface="Times New Roman" pitchFamily="18" charset="0"/>
            </a:endParaRPr>
          </a:p>
          <a:p>
            <a:pPr marL="609600" indent="-609600" fontAlgn="auto">
              <a:spcAft>
                <a:spcPts val="0"/>
              </a:spcAft>
              <a:defRPr/>
            </a:pPr>
            <a:r>
              <a:rPr lang="en-US" sz="2800" dirty="0">
                <a:cs typeface="Times New Roman" pitchFamily="18" charset="0"/>
              </a:rPr>
              <a:t>If the feedback signal and the original input signal are in phase with each other then it is called as the positive feedback.</a:t>
            </a:r>
          </a:p>
          <a:p>
            <a:pPr marL="609600" indent="-609600" fontAlgn="auto">
              <a:spcAft>
                <a:spcPts val="0"/>
              </a:spcAft>
              <a:defRPr/>
            </a:pPr>
            <a:endParaRPr lang="en-US" sz="2800" dirty="0">
              <a:cs typeface="Times New Roman" pitchFamily="18" charset="0"/>
            </a:endParaRPr>
          </a:p>
          <a:p>
            <a:pPr marL="609600" indent="-609600" algn="just" fontAlgn="auto">
              <a:spcAft>
                <a:spcPts val="0"/>
              </a:spcAft>
              <a:defRPr/>
            </a:pPr>
            <a:r>
              <a:rPr lang="en-US" sz="2800" dirty="0">
                <a:cs typeface="Times New Roman" pitchFamily="18" charset="0"/>
              </a:rPr>
              <a:t>Positive feedback is used in the application such as </a:t>
            </a:r>
            <a:r>
              <a:rPr lang="en-US" sz="2800" b="1" dirty="0">
                <a:solidFill>
                  <a:srgbClr val="FF0000"/>
                </a:solidFill>
                <a:cs typeface="Times New Roman" pitchFamily="18" charset="0"/>
              </a:rPr>
              <a:t>“Oscillators” and Schmitt triggers or regenerative comparators.</a:t>
            </a:r>
          </a:p>
        </p:txBody>
      </p:sp>
      <p:sp>
        <p:nvSpPr>
          <p:cNvPr id="3" name="Slide Number Placeholder 2"/>
          <p:cNvSpPr>
            <a:spLocks noGrp="1"/>
          </p:cNvSpPr>
          <p:nvPr>
            <p:ph type="sldNum" sz="quarter" idx="12"/>
          </p:nvPr>
        </p:nvSpPr>
        <p:spPr/>
        <p:txBody>
          <a:bodyPr/>
          <a:lstStyle/>
          <a:p>
            <a:pPr>
              <a:defRPr/>
            </a:pPr>
            <a:fld id="{8D6218B2-88A2-4743-A4D1-205ABC822653}" type="slidenum">
              <a:rPr lang="en-US"/>
              <a:pPr>
                <a:defRPr/>
              </a:pPr>
              <a:t>45</a:t>
            </a:fld>
            <a:endParaRPr lang="en-US"/>
          </a:p>
        </p:txBody>
      </p:sp>
    </p:spTree>
    <p:extLst>
      <p:ext uri="{BB962C8B-B14F-4D97-AF65-F5344CB8AC3E}">
        <p14:creationId xmlns:p14="http://schemas.microsoft.com/office/powerpoint/2010/main" xmlns="" val="42698531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sz="quarter" idx="1"/>
          </p:nvPr>
        </p:nvSpPr>
        <p:spPr>
          <a:xfrm>
            <a:off x="381000" y="304800"/>
            <a:ext cx="8534400" cy="3810000"/>
          </a:xfrm>
        </p:spPr>
        <p:txBody>
          <a:bodyPr rtlCol="0">
            <a:normAutofit lnSpcReduction="10000"/>
          </a:bodyPr>
          <a:lstStyle/>
          <a:p>
            <a:pPr marL="609600" indent="-609600" fontAlgn="auto">
              <a:spcAft>
                <a:spcPts val="0"/>
              </a:spcAft>
              <a:buFontTx/>
              <a:buNone/>
              <a:defRPr/>
            </a:pPr>
            <a:r>
              <a:rPr lang="en-US" b="1" dirty="0">
                <a:solidFill>
                  <a:srgbClr val="0000FF"/>
                </a:solidFill>
                <a:latin typeface="+mj-lt"/>
                <a:cs typeface="Times New Roman" pitchFamily="18" charset="0"/>
              </a:rPr>
              <a:t>Negative feedback or Degenerative feedback</a:t>
            </a:r>
          </a:p>
          <a:p>
            <a:pPr marL="609600" indent="-609600" fontAlgn="auto">
              <a:spcAft>
                <a:spcPts val="0"/>
              </a:spcAft>
              <a:defRPr/>
            </a:pPr>
            <a:endParaRPr lang="en-US" sz="2400" b="1" dirty="0">
              <a:solidFill>
                <a:srgbClr val="000099"/>
              </a:solidFill>
              <a:latin typeface="Times New Roman" pitchFamily="18" charset="0"/>
              <a:cs typeface="Times New Roman" pitchFamily="18" charset="0"/>
            </a:endParaRPr>
          </a:p>
          <a:p>
            <a:pPr marL="609600" indent="-609600" fontAlgn="auto">
              <a:spcAft>
                <a:spcPts val="0"/>
              </a:spcAft>
              <a:defRPr/>
            </a:pPr>
            <a:r>
              <a:rPr lang="en-US" sz="2800" dirty="0">
                <a:cs typeface="Times New Roman" pitchFamily="18" charset="0"/>
              </a:rPr>
              <a:t>If the signal is fed back to the input and the original input signal are 180</a:t>
            </a:r>
            <a:r>
              <a:rPr lang="en-US" sz="2800" baseline="30000" dirty="0">
                <a:cs typeface="Times New Roman" pitchFamily="18" charset="0"/>
              </a:rPr>
              <a:t>0</a:t>
            </a:r>
            <a:r>
              <a:rPr lang="en-US" sz="2800" dirty="0">
                <a:cs typeface="Times New Roman" pitchFamily="18" charset="0"/>
              </a:rPr>
              <a:t> out of phase, then it is called as the negative feedback.</a:t>
            </a:r>
          </a:p>
          <a:p>
            <a:pPr marL="609600" indent="-609600" fontAlgn="auto">
              <a:spcAft>
                <a:spcPts val="0"/>
              </a:spcAft>
              <a:defRPr/>
            </a:pPr>
            <a:endParaRPr lang="en-US" sz="2800" dirty="0">
              <a:cs typeface="Times New Roman" pitchFamily="18" charset="0"/>
            </a:endParaRPr>
          </a:p>
          <a:p>
            <a:pPr marL="609600" indent="-609600" algn="just" fontAlgn="auto">
              <a:spcAft>
                <a:spcPts val="0"/>
              </a:spcAft>
              <a:defRPr/>
            </a:pPr>
            <a:r>
              <a:rPr lang="en-US" sz="2800" dirty="0">
                <a:cs typeface="Times New Roman" pitchFamily="18" charset="0"/>
              </a:rPr>
              <a:t>In the application of</a:t>
            </a:r>
            <a:r>
              <a:rPr lang="en-US" sz="2800" dirty="0">
                <a:solidFill>
                  <a:srgbClr val="FF0000"/>
                </a:solidFill>
                <a:cs typeface="Times New Roman" pitchFamily="18" charset="0"/>
              </a:rPr>
              <a:t> </a:t>
            </a:r>
            <a:r>
              <a:rPr lang="en-US" sz="2800" b="1" dirty="0">
                <a:solidFill>
                  <a:srgbClr val="FF0000"/>
                </a:solidFill>
                <a:cs typeface="Times New Roman" pitchFamily="18" charset="0"/>
              </a:rPr>
              <a:t>Op-amp as an amplifier</a:t>
            </a:r>
            <a:r>
              <a:rPr lang="en-US" sz="2800" dirty="0">
                <a:cs typeface="Times New Roman" pitchFamily="18" charset="0"/>
              </a:rPr>
              <a:t>, the negative feedback is used.</a:t>
            </a:r>
          </a:p>
        </p:txBody>
      </p:sp>
      <p:sp>
        <p:nvSpPr>
          <p:cNvPr id="4" name="Slide Number Placeholder 3"/>
          <p:cNvSpPr>
            <a:spLocks noGrp="1"/>
          </p:cNvSpPr>
          <p:nvPr>
            <p:ph type="sldNum" sz="quarter" idx="12"/>
          </p:nvPr>
        </p:nvSpPr>
        <p:spPr/>
        <p:txBody>
          <a:bodyPr/>
          <a:lstStyle/>
          <a:p>
            <a:pPr>
              <a:defRPr/>
            </a:pPr>
            <a:fld id="{13695D01-F7C8-48E1-990B-65880ECBDB27}" type="slidenum">
              <a:rPr lang="en-US"/>
              <a:pPr>
                <a:defRPr/>
              </a:pPr>
              <a:t>46</a:t>
            </a:fld>
            <a:endParaRPr lang="en-US"/>
          </a:p>
        </p:txBody>
      </p:sp>
    </p:spTree>
    <p:extLst>
      <p:ext uri="{BB962C8B-B14F-4D97-AF65-F5344CB8AC3E}">
        <p14:creationId xmlns:p14="http://schemas.microsoft.com/office/powerpoint/2010/main" xmlns="" val="944005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sz="quarter" idx="1"/>
          </p:nvPr>
        </p:nvSpPr>
        <p:spPr>
          <a:xfrm>
            <a:off x="381000" y="152400"/>
            <a:ext cx="8534400" cy="3581400"/>
          </a:xfrm>
        </p:spPr>
        <p:txBody>
          <a:bodyPr/>
          <a:lstStyle/>
          <a:p>
            <a:pPr marL="609600" indent="-609600">
              <a:buFontTx/>
              <a:buNone/>
            </a:pPr>
            <a:r>
              <a:rPr lang="en-US" b="1">
                <a:solidFill>
                  <a:srgbClr val="0000FF"/>
                </a:solidFill>
                <a:cs typeface="Times New Roman" pitchFamily="18" charset="0"/>
              </a:rPr>
              <a:t>Negative feedback or Degenerative feedback</a:t>
            </a:r>
          </a:p>
          <a:p>
            <a:pPr marL="609600" indent="-609600"/>
            <a:endParaRPr lang="en-US" sz="2400" b="1">
              <a:solidFill>
                <a:srgbClr val="FF0000"/>
              </a:solidFill>
              <a:cs typeface="Times New Roman" pitchFamily="18" charset="0"/>
            </a:endParaRPr>
          </a:p>
          <a:p>
            <a:pPr marL="609600" indent="-609600"/>
            <a:r>
              <a:rPr lang="en-US" sz="2400">
                <a:cs typeface="Times New Roman" pitchFamily="18" charset="0"/>
              </a:rPr>
              <a:t>In the amplifier circuits using Op-amp, a feedback resistor RF is connected between the output and inverting terminal as shown in figure to introduced a negative feedback.</a:t>
            </a:r>
          </a:p>
          <a:p>
            <a:pPr marL="609600" indent="-609600"/>
            <a:r>
              <a:rPr lang="en-US" sz="2400">
                <a:cs typeface="Times New Roman" pitchFamily="18" charset="0"/>
              </a:rPr>
              <a:t>As the voltages V</a:t>
            </a:r>
            <a:r>
              <a:rPr lang="en-US" sz="2400" baseline="-18000">
                <a:cs typeface="Times New Roman" pitchFamily="18" charset="0"/>
              </a:rPr>
              <a:t>2</a:t>
            </a:r>
            <a:r>
              <a:rPr lang="en-US" sz="2400">
                <a:cs typeface="Times New Roman" pitchFamily="18" charset="0"/>
              </a:rPr>
              <a:t> and V</a:t>
            </a:r>
            <a:r>
              <a:rPr lang="en-US" sz="2400" baseline="-18000">
                <a:cs typeface="Times New Roman" pitchFamily="18" charset="0"/>
              </a:rPr>
              <a:t>O</a:t>
            </a:r>
            <a:r>
              <a:rPr lang="en-US" sz="2400">
                <a:cs typeface="Times New Roman" pitchFamily="18" charset="0"/>
              </a:rPr>
              <a:t> are 180</a:t>
            </a:r>
            <a:r>
              <a:rPr lang="en-US" sz="2400" baseline="30000">
                <a:cs typeface="Times New Roman" pitchFamily="18" charset="0"/>
              </a:rPr>
              <a:t>0</a:t>
            </a:r>
            <a:r>
              <a:rPr lang="en-US" sz="2400">
                <a:cs typeface="Times New Roman" pitchFamily="18" charset="0"/>
              </a:rPr>
              <a:t> out of phase, a fraction of output voltage fed back to the input via R</a:t>
            </a:r>
            <a:r>
              <a:rPr lang="en-US" sz="2400" baseline="-18000">
                <a:cs typeface="Times New Roman" pitchFamily="18" charset="0"/>
              </a:rPr>
              <a:t>F</a:t>
            </a:r>
            <a:r>
              <a:rPr lang="en-US" sz="2400">
                <a:cs typeface="Times New Roman" pitchFamily="18" charset="0"/>
              </a:rPr>
              <a:t> will be 180</a:t>
            </a:r>
            <a:r>
              <a:rPr lang="en-US" sz="2400" baseline="30000">
                <a:cs typeface="Times New Roman" pitchFamily="18" charset="0"/>
              </a:rPr>
              <a:t>0</a:t>
            </a:r>
            <a:r>
              <a:rPr lang="en-US" sz="2400">
                <a:cs typeface="Times New Roman" pitchFamily="18" charset="0"/>
              </a:rPr>
              <a:t> out of phase with the input.</a:t>
            </a:r>
          </a:p>
        </p:txBody>
      </p:sp>
      <p:sp>
        <p:nvSpPr>
          <p:cNvPr id="76803" name="Rectangle 43"/>
          <p:cNvSpPr>
            <a:spLocks noChangeArrowheads="1"/>
          </p:cNvSpPr>
          <p:nvPr/>
        </p:nvSpPr>
        <p:spPr bwMode="auto">
          <a:xfrm>
            <a:off x="152400" y="3810000"/>
            <a:ext cx="8763000" cy="28956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latin typeface="Calibri" pitchFamily="34" charset="0"/>
            </a:endParaRPr>
          </a:p>
        </p:txBody>
      </p:sp>
      <p:sp>
        <p:nvSpPr>
          <p:cNvPr id="76804" name="Line 44"/>
          <p:cNvSpPr>
            <a:spLocks noChangeShapeType="1"/>
          </p:cNvSpPr>
          <p:nvPr/>
        </p:nvSpPr>
        <p:spPr bwMode="auto">
          <a:xfrm>
            <a:off x="2286000" y="5486400"/>
            <a:ext cx="173037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05" name="Line 45"/>
          <p:cNvSpPr>
            <a:spLocks noChangeShapeType="1"/>
          </p:cNvSpPr>
          <p:nvPr/>
        </p:nvSpPr>
        <p:spPr bwMode="auto">
          <a:xfrm>
            <a:off x="2286000" y="6172200"/>
            <a:ext cx="173037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06" name="Line 46"/>
          <p:cNvSpPr>
            <a:spLocks noChangeShapeType="1"/>
          </p:cNvSpPr>
          <p:nvPr/>
        </p:nvSpPr>
        <p:spPr bwMode="auto">
          <a:xfrm>
            <a:off x="5311775" y="5867400"/>
            <a:ext cx="19272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07" name="Line 47"/>
          <p:cNvSpPr>
            <a:spLocks noChangeShapeType="1"/>
          </p:cNvSpPr>
          <p:nvPr/>
        </p:nvSpPr>
        <p:spPr bwMode="auto">
          <a:xfrm>
            <a:off x="6477000" y="4267200"/>
            <a:ext cx="0" cy="1600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08" name="AutoShape 48"/>
          <p:cNvSpPr>
            <a:spLocks noChangeArrowheads="1"/>
          </p:cNvSpPr>
          <p:nvPr/>
        </p:nvSpPr>
        <p:spPr bwMode="auto">
          <a:xfrm rot="5400000">
            <a:off x="3902075" y="5219701"/>
            <a:ext cx="1519237"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    OP-AMP</a:t>
            </a:r>
          </a:p>
        </p:txBody>
      </p:sp>
      <p:sp>
        <p:nvSpPr>
          <p:cNvPr id="76809" name="Text Box 49"/>
          <p:cNvSpPr txBox="1">
            <a:spLocks noChangeArrowheads="1"/>
          </p:cNvSpPr>
          <p:nvPr/>
        </p:nvSpPr>
        <p:spPr bwMode="auto">
          <a:xfrm>
            <a:off x="3695700" y="5141913"/>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2</a:t>
            </a:r>
          </a:p>
        </p:txBody>
      </p:sp>
      <p:sp>
        <p:nvSpPr>
          <p:cNvPr id="76810" name="Text Box 50"/>
          <p:cNvSpPr txBox="1">
            <a:spLocks noChangeArrowheads="1"/>
          </p:cNvSpPr>
          <p:nvPr/>
        </p:nvSpPr>
        <p:spPr bwMode="auto">
          <a:xfrm>
            <a:off x="3711575" y="58816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3</a:t>
            </a:r>
          </a:p>
        </p:txBody>
      </p:sp>
      <p:sp>
        <p:nvSpPr>
          <p:cNvPr id="76811" name="Text Box 51"/>
          <p:cNvSpPr txBox="1">
            <a:spLocks noChangeArrowheads="1"/>
          </p:cNvSpPr>
          <p:nvPr/>
        </p:nvSpPr>
        <p:spPr bwMode="auto">
          <a:xfrm>
            <a:off x="5235575" y="55626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6</a:t>
            </a:r>
          </a:p>
        </p:txBody>
      </p:sp>
      <p:sp>
        <p:nvSpPr>
          <p:cNvPr id="76812" name="Text Box 52"/>
          <p:cNvSpPr txBox="1">
            <a:spLocks noChangeArrowheads="1"/>
          </p:cNvSpPr>
          <p:nvPr/>
        </p:nvSpPr>
        <p:spPr bwMode="auto">
          <a:xfrm>
            <a:off x="4092575" y="53482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6813" name="Text Box 53"/>
          <p:cNvSpPr txBox="1">
            <a:spLocks noChangeArrowheads="1"/>
          </p:cNvSpPr>
          <p:nvPr/>
        </p:nvSpPr>
        <p:spPr bwMode="auto">
          <a:xfrm>
            <a:off x="4092575" y="60340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6814" name="Text Box 54"/>
          <p:cNvSpPr txBox="1">
            <a:spLocks noChangeArrowheads="1"/>
          </p:cNvSpPr>
          <p:nvPr/>
        </p:nvSpPr>
        <p:spPr bwMode="auto">
          <a:xfrm>
            <a:off x="1789113" y="5119688"/>
            <a:ext cx="4206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2</a:t>
            </a:r>
          </a:p>
        </p:txBody>
      </p:sp>
      <p:sp>
        <p:nvSpPr>
          <p:cNvPr id="76815" name="Oval 55"/>
          <p:cNvSpPr>
            <a:spLocks noChangeArrowheads="1"/>
          </p:cNvSpPr>
          <p:nvPr/>
        </p:nvSpPr>
        <p:spPr bwMode="auto">
          <a:xfrm>
            <a:off x="2133600" y="6096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6816" name="Oval 56"/>
          <p:cNvSpPr>
            <a:spLocks noChangeArrowheads="1"/>
          </p:cNvSpPr>
          <p:nvPr/>
        </p:nvSpPr>
        <p:spPr bwMode="auto">
          <a:xfrm>
            <a:off x="2133600" y="5410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6817" name="Oval 57"/>
          <p:cNvSpPr>
            <a:spLocks noChangeArrowheads="1"/>
          </p:cNvSpPr>
          <p:nvPr/>
        </p:nvSpPr>
        <p:spPr bwMode="auto">
          <a:xfrm>
            <a:off x="6400800" y="5791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6818" name="Oval 58"/>
          <p:cNvSpPr>
            <a:spLocks noChangeArrowheads="1"/>
          </p:cNvSpPr>
          <p:nvPr/>
        </p:nvSpPr>
        <p:spPr bwMode="auto">
          <a:xfrm>
            <a:off x="7162800" y="5791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6819" name="Text Box 59"/>
          <p:cNvSpPr txBox="1">
            <a:spLocks noChangeArrowheads="1"/>
          </p:cNvSpPr>
          <p:nvPr/>
        </p:nvSpPr>
        <p:spPr bwMode="auto">
          <a:xfrm>
            <a:off x="1752600" y="5943600"/>
            <a:ext cx="4206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1</a:t>
            </a:r>
          </a:p>
        </p:txBody>
      </p:sp>
      <p:sp>
        <p:nvSpPr>
          <p:cNvPr id="76820" name="Line 60"/>
          <p:cNvSpPr>
            <a:spLocks noChangeShapeType="1"/>
          </p:cNvSpPr>
          <p:nvPr/>
        </p:nvSpPr>
        <p:spPr bwMode="auto">
          <a:xfrm>
            <a:off x="3276600" y="4343400"/>
            <a:ext cx="0" cy="1143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1" name="Oval 61"/>
          <p:cNvSpPr>
            <a:spLocks noChangeArrowheads="1"/>
          </p:cNvSpPr>
          <p:nvPr/>
        </p:nvSpPr>
        <p:spPr bwMode="auto">
          <a:xfrm>
            <a:off x="3200400" y="5410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6822" name="Line 62"/>
          <p:cNvSpPr>
            <a:spLocks noChangeShapeType="1"/>
          </p:cNvSpPr>
          <p:nvPr/>
        </p:nvSpPr>
        <p:spPr bwMode="auto">
          <a:xfrm>
            <a:off x="4648200" y="4191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3" name="Line 63"/>
          <p:cNvSpPr>
            <a:spLocks noChangeShapeType="1"/>
          </p:cNvSpPr>
          <p:nvPr/>
        </p:nvSpPr>
        <p:spPr bwMode="auto">
          <a:xfrm>
            <a:off x="4876800" y="4191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4" name="Line 64"/>
          <p:cNvSpPr>
            <a:spLocks noChangeShapeType="1"/>
          </p:cNvSpPr>
          <p:nvPr/>
        </p:nvSpPr>
        <p:spPr bwMode="auto">
          <a:xfrm>
            <a:off x="5105400" y="41910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5" name="Line 65"/>
          <p:cNvSpPr>
            <a:spLocks noChangeShapeType="1"/>
          </p:cNvSpPr>
          <p:nvPr/>
        </p:nvSpPr>
        <p:spPr bwMode="auto">
          <a:xfrm flipV="1">
            <a:off x="5029200" y="41910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6" name="Line 66"/>
          <p:cNvSpPr>
            <a:spLocks noChangeShapeType="1"/>
          </p:cNvSpPr>
          <p:nvPr/>
        </p:nvSpPr>
        <p:spPr bwMode="auto">
          <a:xfrm flipV="1">
            <a:off x="4800600" y="41910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7" name="Line 67"/>
          <p:cNvSpPr>
            <a:spLocks noChangeShapeType="1"/>
          </p:cNvSpPr>
          <p:nvPr/>
        </p:nvSpPr>
        <p:spPr bwMode="auto">
          <a:xfrm flipV="1">
            <a:off x="4572000" y="41910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8" name="Line 68"/>
          <p:cNvSpPr>
            <a:spLocks noChangeShapeType="1"/>
          </p:cNvSpPr>
          <p:nvPr/>
        </p:nvSpPr>
        <p:spPr bwMode="auto">
          <a:xfrm flipV="1">
            <a:off x="5257800" y="4267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29" name="Text Box 69"/>
          <p:cNvSpPr txBox="1">
            <a:spLocks noChangeArrowheads="1"/>
          </p:cNvSpPr>
          <p:nvPr/>
        </p:nvSpPr>
        <p:spPr bwMode="auto">
          <a:xfrm>
            <a:off x="4648200" y="3733800"/>
            <a:ext cx="4699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F</a:t>
            </a:r>
          </a:p>
        </p:txBody>
      </p:sp>
      <p:sp>
        <p:nvSpPr>
          <p:cNvPr id="76830" name="Line 70"/>
          <p:cNvSpPr>
            <a:spLocks noChangeShapeType="1"/>
          </p:cNvSpPr>
          <p:nvPr/>
        </p:nvSpPr>
        <p:spPr bwMode="auto">
          <a:xfrm>
            <a:off x="5334000" y="4267200"/>
            <a:ext cx="1143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31" name="Line 71"/>
          <p:cNvSpPr>
            <a:spLocks noChangeShapeType="1"/>
          </p:cNvSpPr>
          <p:nvPr/>
        </p:nvSpPr>
        <p:spPr bwMode="auto">
          <a:xfrm>
            <a:off x="3276600" y="4343400"/>
            <a:ext cx="1295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6832" name="Freeform 72"/>
          <p:cNvSpPr>
            <a:spLocks/>
          </p:cNvSpPr>
          <p:nvPr/>
        </p:nvSpPr>
        <p:spPr bwMode="auto">
          <a:xfrm>
            <a:off x="762000" y="4953000"/>
            <a:ext cx="304800" cy="5334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76833" name="Freeform 73"/>
          <p:cNvSpPr>
            <a:spLocks/>
          </p:cNvSpPr>
          <p:nvPr/>
        </p:nvSpPr>
        <p:spPr bwMode="auto">
          <a:xfrm>
            <a:off x="1066800" y="5486400"/>
            <a:ext cx="304800" cy="5334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76834" name="Text Box 74"/>
          <p:cNvSpPr txBox="1">
            <a:spLocks noChangeArrowheads="1"/>
          </p:cNvSpPr>
          <p:nvPr/>
        </p:nvSpPr>
        <p:spPr bwMode="auto">
          <a:xfrm>
            <a:off x="152400" y="4724400"/>
            <a:ext cx="6159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input</a:t>
            </a:r>
          </a:p>
        </p:txBody>
      </p:sp>
      <p:sp>
        <p:nvSpPr>
          <p:cNvPr id="76835" name="Line 75"/>
          <p:cNvSpPr>
            <a:spLocks noChangeShapeType="1"/>
          </p:cNvSpPr>
          <p:nvPr/>
        </p:nvSpPr>
        <p:spPr bwMode="auto">
          <a:xfrm>
            <a:off x="685800" y="54864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6836" name="Line 76"/>
          <p:cNvSpPr>
            <a:spLocks noChangeShapeType="1"/>
          </p:cNvSpPr>
          <p:nvPr/>
        </p:nvSpPr>
        <p:spPr bwMode="auto">
          <a:xfrm flipV="1">
            <a:off x="762000" y="46482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6837" name="Freeform 77"/>
          <p:cNvSpPr>
            <a:spLocks/>
          </p:cNvSpPr>
          <p:nvPr/>
        </p:nvSpPr>
        <p:spPr bwMode="auto">
          <a:xfrm>
            <a:off x="7772400" y="5105400"/>
            <a:ext cx="304800" cy="533400"/>
          </a:xfrm>
          <a:custGeom>
            <a:avLst/>
            <a:gdLst>
              <a:gd name="T0" fmla="*/ 0 w 192"/>
              <a:gd name="T1" fmla="*/ 2147483647 h 336"/>
              <a:gd name="T2" fmla="*/ 2147483647 w 192"/>
              <a:gd name="T3" fmla="*/ 0 h 336"/>
              <a:gd name="T4" fmla="*/ 2147483647 w 192"/>
              <a:gd name="T5" fmla="*/ 2147483647 h 336"/>
              <a:gd name="T6" fmla="*/ 0 60000 65536"/>
              <a:gd name="T7" fmla="*/ 0 60000 65536"/>
              <a:gd name="T8" fmla="*/ 0 60000 65536"/>
              <a:gd name="T9" fmla="*/ 0 w 192"/>
              <a:gd name="T10" fmla="*/ 0 h 336"/>
              <a:gd name="T11" fmla="*/ 192 w 192"/>
              <a:gd name="T12" fmla="*/ 336 h 336"/>
            </a:gdLst>
            <a:ahLst/>
            <a:cxnLst>
              <a:cxn ang="T6">
                <a:pos x="T0" y="T1"/>
              </a:cxn>
              <a:cxn ang="T7">
                <a:pos x="T2" y="T3"/>
              </a:cxn>
              <a:cxn ang="T8">
                <a:pos x="T4" y="T5"/>
              </a:cxn>
            </a:cxnLst>
            <a:rect l="T9" t="T10" r="T11" b="T12"/>
            <a:pathLst>
              <a:path w="192" h="336">
                <a:moveTo>
                  <a:pt x="0" y="336"/>
                </a:moveTo>
                <a:cubicBezTo>
                  <a:pt x="32" y="168"/>
                  <a:pt x="64" y="0"/>
                  <a:pt x="96" y="0"/>
                </a:cubicBezTo>
                <a:cubicBezTo>
                  <a:pt x="128" y="0"/>
                  <a:pt x="160" y="168"/>
                  <a:pt x="192" y="336"/>
                </a:cubicBezTo>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76838" name="Freeform 78"/>
          <p:cNvSpPr>
            <a:spLocks/>
          </p:cNvSpPr>
          <p:nvPr/>
        </p:nvSpPr>
        <p:spPr bwMode="auto">
          <a:xfrm>
            <a:off x="7466013" y="5638800"/>
            <a:ext cx="304800" cy="5334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9" y="336"/>
                  <a:pt x="97" y="336"/>
                </a:cubicBezTo>
                <a:cubicBezTo>
                  <a:pt x="65" y="336"/>
                  <a:pt x="32" y="168"/>
                  <a:pt x="0" y="0"/>
                </a:cubicBezTo>
                <a:cubicBezTo>
                  <a:pt x="0" y="0"/>
                  <a:pt x="192" y="0"/>
                  <a:pt x="192" y="0"/>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76839" name="Text Box 79"/>
          <p:cNvSpPr txBox="1">
            <a:spLocks noChangeArrowheads="1"/>
          </p:cNvSpPr>
          <p:nvPr/>
        </p:nvSpPr>
        <p:spPr bwMode="auto">
          <a:xfrm>
            <a:off x="6781800" y="5040313"/>
            <a:ext cx="76358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Output</a:t>
            </a:r>
          </a:p>
        </p:txBody>
      </p:sp>
      <p:sp>
        <p:nvSpPr>
          <p:cNvPr id="76840" name="Line 80"/>
          <p:cNvSpPr>
            <a:spLocks noChangeShapeType="1"/>
          </p:cNvSpPr>
          <p:nvPr/>
        </p:nvSpPr>
        <p:spPr bwMode="auto">
          <a:xfrm>
            <a:off x="7391400" y="56388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6841" name="Line 81"/>
          <p:cNvSpPr>
            <a:spLocks noChangeShapeType="1"/>
          </p:cNvSpPr>
          <p:nvPr/>
        </p:nvSpPr>
        <p:spPr bwMode="auto">
          <a:xfrm flipV="1">
            <a:off x="7467600" y="4800600"/>
            <a:ext cx="0" cy="15240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6842" name="Text Box 82"/>
          <p:cNvSpPr txBox="1">
            <a:spLocks noChangeArrowheads="1"/>
          </p:cNvSpPr>
          <p:nvPr/>
        </p:nvSpPr>
        <p:spPr bwMode="auto">
          <a:xfrm>
            <a:off x="3657600" y="4354513"/>
            <a:ext cx="265906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lvl="1"/>
            <a:r>
              <a:rPr lang="en-US">
                <a:latin typeface="Arial" pitchFamily="34" charset="0"/>
              </a:rPr>
              <a:t>Feedback resistor</a:t>
            </a:r>
          </a:p>
        </p:txBody>
      </p:sp>
      <p:sp>
        <p:nvSpPr>
          <p:cNvPr id="76843" name="Text Box 83"/>
          <p:cNvSpPr txBox="1">
            <a:spLocks noChangeArrowheads="1"/>
          </p:cNvSpPr>
          <p:nvPr/>
        </p:nvSpPr>
        <p:spPr bwMode="auto">
          <a:xfrm>
            <a:off x="6665913" y="5500688"/>
            <a:ext cx="43021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3" name="Slide Number Placeholder 2"/>
          <p:cNvSpPr>
            <a:spLocks noGrp="1"/>
          </p:cNvSpPr>
          <p:nvPr>
            <p:ph type="sldNum" sz="quarter" idx="12"/>
          </p:nvPr>
        </p:nvSpPr>
        <p:spPr/>
        <p:txBody>
          <a:bodyPr/>
          <a:lstStyle/>
          <a:p>
            <a:pPr>
              <a:defRPr/>
            </a:pPr>
            <a:fld id="{E837F606-9A4D-4E20-B099-9FC687277423}" type="slidenum">
              <a:rPr lang="en-US"/>
              <a:pPr>
                <a:defRPr/>
              </a:pPr>
              <a:t>47</a:t>
            </a:fld>
            <a:endParaRPr lang="en-US"/>
          </a:p>
        </p:txBody>
      </p:sp>
    </p:spTree>
    <p:extLst>
      <p:ext uri="{BB962C8B-B14F-4D97-AF65-F5344CB8AC3E}">
        <p14:creationId xmlns:p14="http://schemas.microsoft.com/office/powerpoint/2010/main" xmlns="" val="2855630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sz="quarter" idx="1"/>
          </p:nvPr>
        </p:nvSpPr>
        <p:spPr>
          <a:xfrm>
            <a:off x="381000" y="304800"/>
            <a:ext cx="8534400" cy="5410200"/>
          </a:xfrm>
        </p:spPr>
        <p:txBody>
          <a:bodyPr rtlCol="0">
            <a:normAutofit/>
          </a:bodyPr>
          <a:lstStyle/>
          <a:p>
            <a:pPr marL="609600" indent="-609600" fontAlgn="auto">
              <a:spcAft>
                <a:spcPts val="0"/>
              </a:spcAft>
              <a:buFontTx/>
              <a:buNone/>
              <a:defRPr/>
            </a:pPr>
            <a:r>
              <a:rPr lang="en-US" b="1" dirty="0">
                <a:solidFill>
                  <a:srgbClr val="000099"/>
                </a:solidFill>
                <a:latin typeface="Times New Roman" pitchFamily="18" charset="0"/>
                <a:cs typeface="Times New Roman" pitchFamily="18" charset="0"/>
              </a:rPr>
              <a:t>	</a:t>
            </a:r>
            <a:r>
              <a:rPr lang="en-US" b="1" dirty="0">
                <a:solidFill>
                  <a:srgbClr val="0000FF"/>
                </a:solidFill>
                <a:latin typeface="+mj-lt"/>
                <a:cs typeface="Times New Roman" pitchFamily="18" charset="0"/>
              </a:rPr>
              <a:t>Advantages of Negative feedback</a:t>
            </a:r>
          </a:p>
          <a:p>
            <a:pPr marL="609600" indent="-609600" fontAlgn="auto">
              <a:spcAft>
                <a:spcPts val="0"/>
              </a:spcAft>
              <a:buFontTx/>
              <a:buNone/>
              <a:defRPr/>
            </a:pPr>
            <a:endParaRPr lang="en-US" sz="1000" b="1" dirty="0">
              <a:solidFill>
                <a:srgbClr val="000099"/>
              </a:solidFill>
              <a:cs typeface="Times New Roman" pitchFamily="18" charset="0"/>
            </a:endParaRPr>
          </a:p>
          <a:p>
            <a:pPr marL="609600" indent="-609600" fontAlgn="auto">
              <a:spcAft>
                <a:spcPts val="0"/>
              </a:spcAft>
              <a:defRPr/>
            </a:pPr>
            <a:r>
              <a:rPr lang="en-US" sz="2400" dirty="0">
                <a:cs typeface="Times New Roman" pitchFamily="18" charset="0"/>
              </a:rPr>
              <a:t>Negative feedback is used in the amplifier circuits as they provide the following improvements in the operation of an amplifier:</a:t>
            </a:r>
          </a:p>
          <a:p>
            <a:pPr marL="609600" indent="-609600" fontAlgn="auto">
              <a:spcAft>
                <a:spcPts val="0"/>
              </a:spcAft>
              <a:defRPr/>
            </a:pPr>
            <a:endParaRPr lang="en-US" sz="2400" dirty="0">
              <a:cs typeface="Times New Roman" pitchFamily="18" charset="0"/>
            </a:endParaRPr>
          </a:p>
          <a:p>
            <a:pPr marL="609600" indent="-609600" fontAlgn="auto">
              <a:spcAft>
                <a:spcPts val="0"/>
              </a:spcAft>
              <a:defRPr/>
            </a:pPr>
            <a:r>
              <a:rPr lang="en-US" sz="2400" dirty="0">
                <a:cs typeface="Times New Roman" pitchFamily="18" charset="0"/>
              </a:rPr>
              <a:t>It stabilizes the gain.</a:t>
            </a:r>
          </a:p>
          <a:p>
            <a:pPr marL="609600" indent="-609600" fontAlgn="auto">
              <a:spcAft>
                <a:spcPts val="0"/>
              </a:spcAft>
              <a:defRPr/>
            </a:pPr>
            <a:r>
              <a:rPr lang="en-US" sz="2400" dirty="0">
                <a:cs typeface="Times New Roman" pitchFamily="18" charset="0"/>
              </a:rPr>
              <a:t>Reduces the distortion.</a:t>
            </a:r>
          </a:p>
          <a:p>
            <a:pPr marL="609600" indent="-609600" fontAlgn="auto">
              <a:spcAft>
                <a:spcPts val="0"/>
              </a:spcAft>
              <a:defRPr/>
            </a:pPr>
            <a:r>
              <a:rPr lang="en-US" sz="2400" dirty="0">
                <a:cs typeface="Times New Roman" pitchFamily="18" charset="0"/>
              </a:rPr>
              <a:t>Increases the bandwidth.</a:t>
            </a:r>
          </a:p>
          <a:p>
            <a:pPr marL="609600" indent="-609600" fontAlgn="auto">
              <a:spcAft>
                <a:spcPts val="0"/>
              </a:spcAft>
              <a:defRPr/>
            </a:pPr>
            <a:r>
              <a:rPr lang="en-US" sz="2400" dirty="0">
                <a:cs typeface="Times New Roman" pitchFamily="18" charset="0"/>
              </a:rPr>
              <a:t>Changes the values of input and output resistances.</a:t>
            </a:r>
          </a:p>
          <a:p>
            <a:pPr marL="609600" indent="-609600" fontAlgn="auto">
              <a:spcAft>
                <a:spcPts val="0"/>
              </a:spcAft>
              <a:defRPr/>
            </a:pPr>
            <a:r>
              <a:rPr lang="en-US" sz="2400" dirty="0">
                <a:cs typeface="Times New Roman" pitchFamily="18" charset="0"/>
              </a:rPr>
              <a:t>Reduces the effects of variation in temperature and supply voltage on the output of the Op-amp.</a:t>
            </a:r>
          </a:p>
        </p:txBody>
      </p:sp>
      <p:sp>
        <p:nvSpPr>
          <p:cNvPr id="3" name="Slide Number Placeholder 2"/>
          <p:cNvSpPr>
            <a:spLocks noGrp="1"/>
          </p:cNvSpPr>
          <p:nvPr>
            <p:ph type="sldNum" sz="quarter" idx="12"/>
          </p:nvPr>
        </p:nvSpPr>
        <p:spPr/>
        <p:txBody>
          <a:bodyPr/>
          <a:lstStyle/>
          <a:p>
            <a:pPr>
              <a:defRPr/>
            </a:pPr>
            <a:fld id="{D1FEA5C3-B802-438D-ABA3-D08491C2DC68}" type="slidenum">
              <a:rPr lang="en-US"/>
              <a:pPr>
                <a:defRPr/>
              </a:pPr>
              <a:t>48</a:t>
            </a:fld>
            <a:endParaRPr lang="en-US"/>
          </a:p>
        </p:txBody>
      </p:sp>
    </p:spTree>
    <p:extLst>
      <p:ext uri="{BB962C8B-B14F-4D97-AF65-F5344CB8AC3E}">
        <p14:creationId xmlns:p14="http://schemas.microsoft.com/office/powerpoint/2010/main" xmlns="" val="21622171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sz="quarter" idx="1"/>
          </p:nvPr>
        </p:nvSpPr>
        <p:spPr>
          <a:xfrm>
            <a:off x="76200" y="76200"/>
            <a:ext cx="8534400" cy="685800"/>
          </a:xfrm>
        </p:spPr>
        <p:txBody>
          <a:bodyPr rtlCol="0">
            <a:normAutofit/>
          </a:bodyPr>
          <a:lstStyle/>
          <a:p>
            <a:pPr marL="609600" indent="-609600" fontAlgn="auto">
              <a:spcAft>
                <a:spcPts val="0"/>
              </a:spcAft>
              <a:buFontTx/>
              <a:buNone/>
              <a:defRPr/>
            </a:pPr>
            <a:r>
              <a:rPr lang="en-US" b="1" dirty="0">
                <a:solidFill>
                  <a:srgbClr val="000099"/>
                </a:solidFill>
                <a:latin typeface="Times New Roman" pitchFamily="18" charset="0"/>
                <a:cs typeface="Times New Roman" pitchFamily="18" charset="0"/>
              </a:rPr>
              <a:t>	</a:t>
            </a:r>
            <a:r>
              <a:rPr lang="en-US" b="1" dirty="0">
                <a:solidFill>
                  <a:srgbClr val="0000FF"/>
                </a:solidFill>
                <a:latin typeface="+mj-lt"/>
                <a:cs typeface="Times New Roman" pitchFamily="18" charset="0"/>
              </a:rPr>
              <a:t>Virtual  short </a:t>
            </a:r>
          </a:p>
        </p:txBody>
      </p:sp>
      <p:sp>
        <p:nvSpPr>
          <p:cNvPr id="78851" name="Line 3"/>
          <p:cNvSpPr>
            <a:spLocks noChangeShapeType="1"/>
          </p:cNvSpPr>
          <p:nvPr/>
        </p:nvSpPr>
        <p:spPr bwMode="auto">
          <a:xfrm>
            <a:off x="5791200" y="31242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52" name="AutoShape 4"/>
          <p:cNvSpPr>
            <a:spLocks noChangeArrowheads="1"/>
          </p:cNvSpPr>
          <p:nvPr/>
        </p:nvSpPr>
        <p:spPr bwMode="auto">
          <a:xfrm rot="5400000">
            <a:off x="2971800" y="1676400"/>
            <a:ext cx="2895600" cy="2895600"/>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endParaRPr lang="en-US" b="1"/>
          </a:p>
        </p:txBody>
      </p:sp>
      <p:sp>
        <p:nvSpPr>
          <p:cNvPr id="78853" name="Text Box 5"/>
          <p:cNvSpPr txBox="1">
            <a:spLocks noChangeArrowheads="1"/>
          </p:cNvSpPr>
          <p:nvPr/>
        </p:nvSpPr>
        <p:spPr bwMode="auto">
          <a:xfrm>
            <a:off x="2667000" y="19812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8854" name="Text Box 6"/>
          <p:cNvSpPr txBox="1">
            <a:spLocks noChangeArrowheads="1"/>
          </p:cNvSpPr>
          <p:nvPr/>
        </p:nvSpPr>
        <p:spPr bwMode="auto">
          <a:xfrm>
            <a:off x="2667000" y="35814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8855" name="Text Box 7"/>
          <p:cNvSpPr txBox="1">
            <a:spLocks noChangeArrowheads="1"/>
          </p:cNvSpPr>
          <p:nvPr/>
        </p:nvSpPr>
        <p:spPr bwMode="auto">
          <a:xfrm>
            <a:off x="5638800" y="2757488"/>
            <a:ext cx="10604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Output  </a:t>
            </a:r>
          </a:p>
        </p:txBody>
      </p:sp>
      <p:sp>
        <p:nvSpPr>
          <p:cNvPr id="78856" name="Text Box 8"/>
          <p:cNvSpPr txBox="1">
            <a:spLocks noChangeArrowheads="1"/>
          </p:cNvSpPr>
          <p:nvPr/>
        </p:nvSpPr>
        <p:spPr bwMode="auto">
          <a:xfrm>
            <a:off x="1447800" y="20716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V2</a:t>
            </a:r>
          </a:p>
        </p:txBody>
      </p:sp>
      <p:sp>
        <p:nvSpPr>
          <p:cNvPr id="78857" name="Text Box 9"/>
          <p:cNvSpPr txBox="1">
            <a:spLocks noChangeArrowheads="1"/>
          </p:cNvSpPr>
          <p:nvPr/>
        </p:nvSpPr>
        <p:spPr bwMode="auto">
          <a:xfrm>
            <a:off x="1447800" y="3748088"/>
            <a:ext cx="463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V1</a:t>
            </a:r>
          </a:p>
        </p:txBody>
      </p:sp>
      <p:sp>
        <p:nvSpPr>
          <p:cNvPr id="78858" name="Oval 10"/>
          <p:cNvSpPr>
            <a:spLocks noChangeArrowheads="1"/>
          </p:cNvSpPr>
          <p:nvPr/>
        </p:nvSpPr>
        <p:spPr bwMode="auto">
          <a:xfrm>
            <a:off x="1914525" y="3886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8859" name="Oval 11"/>
          <p:cNvSpPr>
            <a:spLocks noChangeArrowheads="1"/>
          </p:cNvSpPr>
          <p:nvPr/>
        </p:nvSpPr>
        <p:spPr bwMode="auto">
          <a:xfrm>
            <a:off x="1927225" y="2209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8860" name="Oval 12"/>
          <p:cNvSpPr>
            <a:spLocks noChangeArrowheads="1"/>
          </p:cNvSpPr>
          <p:nvPr/>
        </p:nvSpPr>
        <p:spPr bwMode="auto">
          <a:xfrm>
            <a:off x="6705600" y="3048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8861" name="Line 13"/>
          <p:cNvSpPr>
            <a:spLocks noChangeShapeType="1"/>
          </p:cNvSpPr>
          <p:nvPr/>
        </p:nvSpPr>
        <p:spPr bwMode="auto">
          <a:xfrm>
            <a:off x="3276600" y="27432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2" name="Line 14"/>
          <p:cNvSpPr>
            <a:spLocks noChangeShapeType="1"/>
          </p:cNvSpPr>
          <p:nvPr/>
        </p:nvSpPr>
        <p:spPr bwMode="auto">
          <a:xfrm>
            <a:off x="3276600" y="30480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3" name="Line 15"/>
          <p:cNvSpPr>
            <a:spLocks noChangeShapeType="1"/>
          </p:cNvSpPr>
          <p:nvPr/>
        </p:nvSpPr>
        <p:spPr bwMode="auto">
          <a:xfrm>
            <a:off x="3276600" y="33528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4" name="Line 16"/>
          <p:cNvSpPr>
            <a:spLocks noChangeShapeType="1"/>
          </p:cNvSpPr>
          <p:nvPr/>
        </p:nvSpPr>
        <p:spPr bwMode="auto">
          <a:xfrm flipV="1">
            <a:off x="3276600" y="32004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5" name="Line 17"/>
          <p:cNvSpPr>
            <a:spLocks noChangeShapeType="1"/>
          </p:cNvSpPr>
          <p:nvPr/>
        </p:nvSpPr>
        <p:spPr bwMode="auto">
          <a:xfrm flipV="1">
            <a:off x="3276600" y="2895600"/>
            <a:ext cx="2286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6" name="Line 18"/>
          <p:cNvSpPr>
            <a:spLocks noChangeShapeType="1"/>
          </p:cNvSpPr>
          <p:nvPr/>
        </p:nvSpPr>
        <p:spPr bwMode="auto">
          <a:xfrm flipV="1">
            <a:off x="3276600" y="26670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7" name="Line 19"/>
          <p:cNvSpPr>
            <a:spLocks noChangeShapeType="1"/>
          </p:cNvSpPr>
          <p:nvPr/>
        </p:nvSpPr>
        <p:spPr bwMode="auto">
          <a:xfrm flipV="1">
            <a:off x="3352800" y="3505200"/>
            <a:ext cx="152400" cy="762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8" name="Line 20"/>
          <p:cNvSpPr>
            <a:spLocks noChangeShapeType="1"/>
          </p:cNvSpPr>
          <p:nvPr/>
        </p:nvSpPr>
        <p:spPr bwMode="auto">
          <a:xfrm flipV="1">
            <a:off x="3429000" y="22860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69" name="Line 21"/>
          <p:cNvSpPr>
            <a:spLocks noChangeShapeType="1"/>
          </p:cNvSpPr>
          <p:nvPr/>
        </p:nvSpPr>
        <p:spPr bwMode="auto">
          <a:xfrm flipV="1">
            <a:off x="3352800" y="35814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70" name="Line 22"/>
          <p:cNvSpPr>
            <a:spLocks noChangeShapeType="1"/>
          </p:cNvSpPr>
          <p:nvPr/>
        </p:nvSpPr>
        <p:spPr bwMode="auto">
          <a:xfrm>
            <a:off x="2044700" y="3962400"/>
            <a:ext cx="13081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71" name="Line 23"/>
          <p:cNvSpPr>
            <a:spLocks noChangeShapeType="1"/>
          </p:cNvSpPr>
          <p:nvPr/>
        </p:nvSpPr>
        <p:spPr bwMode="auto">
          <a:xfrm>
            <a:off x="2057400" y="2286000"/>
            <a:ext cx="1371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72" name="Text Box 24"/>
          <p:cNvSpPr txBox="1">
            <a:spLocks noChangeArrowheads="1"/>
          </p:cNvSpPr>
          <p:nvPr/>
        </p:nvSpPr>
        <p:spPr bwMode="auto">
          <a:xfrm>
            <a:off x="3429000" y="2879725"/>
            <a:ext cx="4048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i</a:t>
            </a:r>
          </a:p>
        </p:txBody>
      </p:sp>
      <p:sp>
        <p:nvSpPr>
          <p:cNvPr id="78873" name="Line 25"/>
          <p:cNvSpPr>
            <a:spLocks noChangeShapeType="1"/>
          </p:cNvSpPr>
          <p:nvPr/>
        </p:nvSpPr>
        <p:spPr bwMode="auto">
          <a:xfrm>
            <a:off x="1828800" y="3429000"/>
            <a:ext cx="0" cy="5334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8874" name="Line 26"/>
          <p:cNvSpPr>
            <a:spLocks noChangeShapeType="1"/>
          </p:cNvSpPr>
          <p:nvPr/>
        </p:nvSpPr>
        <p:spPr bwMode="auto">
          <a:xfrm flipV="1">
            <a:off x="1828800" y="2286000"/>
            <a:ext cx="0" cy="6096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8875" name="Text Box 27"/>
          <p:cNvSpPr txBox="1">
            <a:spLocks noChangeArrowheads="1"/>
          </p:cNvSpPr>
          <p:nvPr/>
        </p:nvSpPr>
        <p:spPr bwMode="auto">
          <a:xfrm>
            <a:off x="1600200" y="2971800"/>
            <a:ext cx="446088"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solidFill>
                  <a:srgbClr val="000099"/>
                </a:solidFill>
                <a:latin typeface="Arial" pitchFamily="34" charset="0"/>
              </a:rPr>
              <a:t>V</a:t>
            </a:r>
            <a:r>
              <a:rPr lang="en-US" baseline="-25000">
                <a:solidFill>
                  <a:srgbClr val="000099"/>
                </a:solidFill>
                <a:latin typeface="Arial" pitchFamily="34" charset="0"/>
              </a:rPr>
              <a:t>d</a:t>
            </a:r>
            <a:endParaRPr lang="en-US">
              <a:solidFill>
                <a:srgbClr val="000099"/>
              </a:solidFill>
              <a:latin typeface="Arial" pitchFamily="34" charset="0"/>
            </a:endParaRPr>
          </a:p>
        </p:txBody>
      </p:sp>
      <p:sp>
        <p:nvSpPr>
          <p:cNvPr id="78876" name="Text Box 28"/>
          <p:cNvSpPr txBox="1">
            <a:spLocks noChangeArrowheads="1"/>
          </p:cNvSpPr>
          <p:nvPr/>
        </p:nvSpPr>
        <p:spPr bwMode="auto">
          <a:xfrm>
            <a:off x="2514600" y="1168400"/>
            <a:ext cx="4778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R</a:t>
            </a:r>
            <a:r>
              <a:rPr lang="en-US" b="1" baseline="-25000">
                <a:solidFill>
                  <a:srgbClr val="000099"/>
                </a:solidFill>
                <a:latin typeface="Arial" pitchFamily="34" charset="0"/>
              </a:rPr>
              <a:t>i  </a:t>
            </a:r>
          </a:p>
        </p:txBody>
      </p:sp>
      <p:sp>
        <p:nvSpPr>
          <p:cNvPr id="78877" name="Text Box 29"/>
          <p:cNvSpPr txBox="1">
            <a:spLocks noChangeArrowheads="1"/>
          </p:cNvSpPr>
          <p:nvPr/>
        </p:nvSpPr>
        <p:spPr bwMode="auto">
          <a:xfrm rot="-5400000">
            <a:off x="3221038" y="1176337"/>
            <a:ext cx="3254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8</a:t>
            </a:r>
          </a:p>
        </p:txBody>
      </p:sp>
      <p:sp>
        <p:nvSpPr>
          <p:cNvPr id="78878" name="Line 30"/>
          <p:cNvSpPr>
            <a:spLocks noChangeShapeType="1"/>
          </p:cNvSpPr>
          <p:nvPr/>
        </p:nvSpPr>
        <p:spPr bwMode="auto">
          <a:xfrm flipV="1">
            <a:off x="2895600" y="1371600"/>
            <a:ext cx="304800" cy="0"/>
          </a:xfrm>
          <a:prstGeom prst="line">
            <a:avLst/>
          </a:prstGeom>
          <a:noFill/>
          <a:ln w="22225">
            <a:solidFill>
              <a:srgbClr val="FF0000"/>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8879" name="Text Box 31"/>
          <p:cNvSpPr txBox="1">
            <a:spLocks noChangeArrowheads="1"/>
          </p:cNvSpPr>
          <p:nvPr/>
        </p:nvSpPr>
        <p:spPr bwMode="auto">
          <a:xfrm>
            <a:off x="2005013" y="1701800"/>
            <a:ext cx="6350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I = 0</a:t>
            </a:r>
          </a:p>
        </p:txBody>
      </p:sp>
      <p:sp>
        <p:nvSpPr>
          <p:cNvPr id="78880" name="Line 32"/>
          <p:cNvSpPr>
            <a:spLocks noChangeShapeType="1"/>
          </p:cNvSpPr>
          <p:nvPr/>
        </p:nvSpPr>
        <p:spPr bwMode="auto">
          <a:xfrm flipV="1">
            <a:off x="2362200" y="2133600"/>
            <a:ext cx="304800" cy="0"/>
          </a:xfrm>
          <a:prstGeom prst="line">
            <a:avLst/>
          </a:prstGeom>
          <a:noFill/>
          <a:ln w="222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8881" name="Text Box 33"/>
          <p:cNvSpPr txBox="1">
            <a:spLocks noChangeArrowheads="1"/>
          </p:cNvSpPr>
          <p:nvPr/>
        </p:nvSpPr>
        <p:spPr bwMode="auto">
          <a:xfrm>
            <a:off x="6781800" y="2895600"/>
            <a:ext cx="126523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Vo = A</a:t>
            </a:r>
            <a:r>
              <a:rPr lang="en-US" b="1" baseline="-18000">
                <a:solidFill>
                  <a:srgbClr val="000099"/>
                </a:solidFill>
                <a:latin typeface="Arial" pitchFamily="34" charset="0"/>
              </a:rPr>
              <a:t>V</a:t>
            </a:r>
            <a:r>
              <a:rPr lang="en-US" b="1">
                <a:solidFill>
                  <a:srgbClr val="000099"/>
                </a:solidFill>
                <a:latin typeface="Arial" pitchFamily="34" charset="0"/>
              </a:rPr>
              <a:t>V</a:t>
            </a:r>
            <a:r>
              <a:rPr lang="en-US" b="1" baseline="-18000">
                <a:solidFill>
                  <a:srgbClr val="000099"/>
                </a:solidFill>
                <a:latin typeface="Arial" pitchFamily="34" charset="0"/>
              </a:rPr>
              <a:t>D</a:t>
            </a:r>
          </a:p>
        </p:txBody>
      </p:sp>
      <p:sp>
        <p:nvSpPr>
          <p:cNvPr id="78882" name="Line 34"/>
          <p:cNvSpPr>
            <a:spLocks noChangeShapeType="1"/>
          </p:cNvSpPr>
          <p:nvPr/>
        </p:nvSpPr>
        <p:spPr bwMode="auto">
          <a:xfrm>
            <a:off x="4446588" y="38100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83" name="Text Box 35"/>
          <p:cNvSpPr txBox="1">
            <a:spLocks noChangeArrowheads="1"/>
          </p:cNvSpPr>
          <p:nvPr/>
        </p:nvSpPr>
        <p:spPr bwMode="auto">
          <a:xfrm>
            <a:off x="4437063" y="4433888"/>
            <a:ext cx="717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-VEE</a:t>
            </a:r>
          </a:p>
        </p:txBody>
      </p:sp>
      <p:sp>
        <p:nvSpPr>
          <p:cNvPr id="78884" name="Oval 36"/>
          <p:cNvSpPr>
            <a:spLocks noChangeArrowheads="1"/>
          </p:cNvSpPr>
          <p:nvPr/>
        </p:nvSpPr>
        <p:spPr bwMode="auto">
          <a:xfrm>
            <a:off x="4392613" y="4724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8885" name="Line 37"/>
          <p:cNvSpPr>
            <a:spLocks noChangeShapeType="1"/>
          </p:cNvSpPr>
          <p:nvPr/>
        </p:nvSpPr>
        <p:spPr bwMode="auto">
          <a:xfrm>
            <a:off x="4468813" y="1447800"/>
            <a:ext cx="0" cy="990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86" name="Oval 38"/>
          <p:cNvSpPr>
            <a:spLocks noChangeArrowheads="1"/>
          </p:cNvSpPr>
          <p:nvPr/>
        </p:nvSpPr>
        <p:spPr bwMode="auto">
          <a:xfrm>
            <a:off x="4392613" y="1295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8887" name="Text Box 39"/>
          <p:cNvSpPr txBox="1">
            <a:spLocks noChangeArrowheads="1"/>
          </p:cNvSpPr>
          <p:nvPr/>
        </p:nvSpPr>
        <p:spPr bwMode="auto">
          <a:xfrm>
            <a:off x="4545013" y="1066800"/>
            <a:ext cx="8001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000099"/>
                </a:solidFill>
                <a:latin typeface="Arial" pitchFamily="34" charset="0"/>
              </a:rPr>
              <a:t>+VCC</a:t>
            </a:r>
          </a:p>
        </p:txBody>
      </p:sp>
      <p:sp>
        <p:nvSpPr>
          <p:cNvPr id="78888" name="Line 40"/>
          <p:cNvSpPr>
            <a:spLocks noChangeShapeType="1"/>
          </p:cNvSpPr>
          <p:nvPr/>
        </p:nvSpPr>
        <p:spPr bwMode="auto">
          <a:xfrm>
            <a:off x="2667000" y="2286000"/>
            <a:ext cx="0" cy="16764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8889" name="Text Box 41"/>
          <p:cNvSpPr txBox="1">
            <a:spLocks noChangeArrowheads="1"/>
          </p:cNvSpPr>
          <p:nvPr/>
        </p:nvSpPr>
        <p:spPr bwMode="auto">
          <a:xfrm>
            <a:off x="152400" y="4845050"/>
            <a:ext cx="8763000" cy="2012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a:cs typeface="Times New Roman" pitchFamily="18" charset="0"/>
              </a:rPr>
              <a:t>The input impedance Ri of an Op-amp is ideally infinite.</a:t>
            </a:r>
          </a:p>
          <a:p>
            <a:r>
              <a:rPr lang="en-US" sz="2400">
                <a:cs typeface="Times New Roman" pitchFamily="18" charset="0"/>
              </a:rPr>
              <a:t>Hence current  “I” flowing from one input terminal to the other will be zero. Thus the voltage drop across Ri will be zero and both the input terminals will be at same potential, in other words they are virtually shorted to each other.</a:t>
            </a:r>
          </a:p>
        </p:txBody>
      </p:sp>
      <p:sp>
        <p:nvSpPr>
          <p:cNvPr id="3" name="Slide Number Placeholder 2"/>
          <p:cNvSpPr>
            <a:spLocks noGrp="1"/>
          </p:cNvSpPr>
          <p:nvPr>
            <p:ph type="sldNum" sz="quarter" idx="12"/>
          </p:nvPr>
        </p:nvSpPr>
        <p:spPr/>
        <p:txBody>
          <a:bodyPr/>
          <a:lstStyle/>
          <a:p>
            <a:pPr>
              <a:defRPr/>
            </a:pPr>
            <a:fld id="{4C52ABAF-8E4C-4359-8097-05A1ABB67068}" type="slidenum">
              <a:rPr lang="en-US"/>
              <a:pPr>
                <a:defRPr/>
              </a:pPr>
              <a:t>49</a:t>
            </a:fld>
            <a:endParaRPr lang="en-US"/>
          </a:p>
        </p:txBody>
      </p:sp>
    </p:spTree>
    <p:extLst>
      <p:ext uri="{BB962C8B-B14F-4D97-AF65-F5344CB8AC3E}">
        <p14:creationId xmlns:p14="http://schemas.microsoft.com/office/powerpoint/2010/main" xmlns="" val="11389605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0" y="685800"/>
            <a:ext cx="9144000" cy="35052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342900" indent="-342900" algn="ctr"/>
            <a:endParaRPr lang="en-US"/>
          </a:p>
        </p:txBody>
      </p:sp>
      <p:sp>
        <p:nvSpPr>
          <p:cNvPr id="79875" name="Line 4"/>
          <p:cNvSpPr>
            <a:spLocks noChangeShapeType="1"/>
          </p:cNvSpPr>
          <p:nvPr/>
        </p:nvSpPr>
        <p:spPr bwMode="auto">
          <a:xfrm>
            <a:off x="2057400" y="2195513"/>
            <a:ext cx="173037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76" name="Line 5"/>
          <p:cNvSpPr>
            <a:spLocks noChangeShapeType="1"/>
          </p:cNvSpPr>
          <p:nvPr/>
        </p:nvSpPr>
        <p:spPr bwMode="auto">
          <a:xfrm>
            <a:off x="3048000" y="3200400"/>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77" name="Line 6"/>
          <p:cNvSpPr>
            <a:spLocks noChangeShapeType="1"/>
          </p:cNvSpPr>
          <p:nvPr/>
        </p:nvSpPr>
        <p:spPr bwMode="auto">
          <a:xfrm>
            <a:off x="5083175" y="2743200"/>
            <a:ext cx="10890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78" name="Line 7"/>
          <p:cNvSpPr>
            <a:spLocks noChangeShapeType="1"/>
          </p:cNvSpPr>
          <p:nvPr/>
        </p:nvSpPr>
        <p:spPr bwMode="auto">
          <a:xfrm>
            <a:off x="5638800" y="1143000"/>
            <a:ext cx="0" cy="1600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79" name="AutoShape 8"/>
          <p:cNvSpPr>
            <a:spLocks noChangeArrowheads="1"/>
          </p:cNvSpPr>
          <p:nvPr/>
        </p:nvSpPr>
        <p:spPr bwMode="auto">
          <a:xfrm rot="5400000">
            <a:off x="3673475" y="2095501"/>
            <a:ext cx="1519237"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    OP-AMP</a:t>
            </a:r>
          </a:p>
        </p:txBody>
      </p:sp>
      <p:sp>
        <p:nvSpPr>
          <p:cNvPr id="79880" name="Text Box 9"/>
          <p:cNvSpPr txBox="1">
            <a:spLocks noChangeArrowheads="1"/>
          </p:cNvSpPr>
          <p:nvPr/>
        </p:nvSpPr>
        <p:spPr bwMode="auto">
          <a:xfrm>
            <a:off x="3810000" y="2057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881" name="Text Box 10"/>
          <p:cNvSpPr txBox="1">
            <a:spLocks noChangeArrowheads="1"/>
          </p:cNvSpPr>
          <p:nvPr/>
        </p:nvSpPr>
        <p:spPr bwMode="auto">
          <a:xfrm>
            <a:off x="3787775" y="30622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882" name="Text Box 11"/>
          <p:cNvSpPr txBox="1">
            <a:spLocks noChangeArrowheads="1"/>
          </p:cNvSpPr>
          <p:nvPr/>
        </p:nvSpPr>
        <p:spPr bwMode="auto">
          <a:xfrm>
            <a:off x="-76200" y="2514600"/>
            <a:ext cx="438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S</a:t>
            </a:r>
          </a:p>
        </p:txBody>
      </p:sp>
      <p:sp>
        <p:nvSpPr>
          <p:cNvPr id="79883" name="Oval 12"/>
          <p:cNvSpPr>
            <a:spLocks noChangeArrowheads="1"/>
          </p:cNvSpPr>
          <p:nvPr/>
        </p:nvSpPr>
        <p:spPr bwMode="auto">
          <a:xfrm>
            <a:off x="2971800" y="31242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9884" name="Oval 13"/>
          <p:cNvSpPr>
            <a:spLocks noChangeArrowheads="1"/>
          </p:cNvSpPr>
          <p:nvPr/>
        </p:nvSpPr>
        <p:spPr bwMode="auto">
          <a:xfrm>
            <a:off x="6172200" y="26670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9885" name="Text Box 14"/>
          <p:cNvSpPr txBox="1">
            <a:spLocks noChangeArrowheads="1"/>
          </p:cNvSpPr>
          <p:nvPr/>
        </p:nvSpPr>
        <p:spPr bwMode="auto">
          <a:xfrm>
            <a:off x="3429000" y="3124200"/>
            <a:ext cx="4206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1</a:t>
            </a:r>
          </a:p>
        </p:txBody>
      </p:sp>
      <p:sp>
        <p:nvSpPr>
          <p:cNvPr id="79886" name="Line 15"/>
          <p:cNvSpPr>
            <a:spLocks noChangeShapeType="1"/>
          </p:cNvSpPr>
          <p:nvPr/>
        </p:nvSpPr>
        <p:spPr bwMode="auto">
          <a:xfrm>
            <a:off x="3048000" y="1219200"/>
            <a:ext cx="0" cy="914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87" name="Oval 16"/>
          <p:cNvSpPr>
            <a:spLocks noChangeArrowheads="1"/>
          </p:cNvSpPr>
          <p:nvPr/>
        </p:nvSpPr>
        <p:spPr bwMode="auto">
          <a:xfrm>
            <a:off x="2971800" y="2119313"/>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9888" name="Line 17"/>
          <p:cNvSpPr>
            <a:spLocks noChangeShapeType="1"/>
          </p:cNvSpPr>
          <p:nvPr/>
        </p:nvSpPr>
        <p:spPr bwMode="auto">
          <a:xfrm>
            <a:off x="3962400" y="1066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89" name="Line 18"/>
          <p:cNvSpPr>
            <a:spLocks noChangeShapeType="1"/>
          </p:cNvSpPr>
          <p:nvPr/>
        </p:nvSpPr>
        <p:spPr bwMode="auto">
          <a:xfrm>
            <a:off x="4191000" y="1066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0" name="Line 19"/>
          <p:cNvSpPr>
            <a:spLocks noChangeShapeType="1"/>
          </p:cNvSpPr>
          <p:nvPr/>
        </p:nvSpPr>
        <p:spPr bwMode="auto">
          <a:xfrm>
            <a:off x="4419600" y="10668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1" name="Line 20"/>
          <p:cNvSpPr>
            <a:spLocks noChangeShapeType="1"/>
          </p:cNvSpPr>
          <p:nvPr/>
        </p:nvSpPr>
        <p:spPr bwMode="auto">
          <a:xfrm flipV="1">
            <a:off x="4343400" y="10668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2" name="Line 21"/>
          <p:cNvSpPr>
            <a:spLocks noChangeShapeType="1"/>
          </p:cNvSpPr>
          <p:nvPr/>
        </p:nvSpPr>
        <p:spPr bwMode="auto">
          <a:xfrm flipV="1">
            <a:off x="4114800" y="10668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3" name="Line 22"/>
          <p:cNvSpPr>
            <a:spLocks noChangeShapeType="1"/>
          </p:cNvSpPr>
          <p:nvPr/>
        </p:nvSpPr>
        <p:spPr bwMode="auto">
          <a:xfrm flipV="1">
            <a:off x="3886200" y="10668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4" name="Line 23"/>
          <p:cNvSpPr>
            <a:spLocks noChangeShapeType="1"/>
          </p:cNvSpPr>
          <p:nvPr/>
        </p:nvSpPr>
        <p:spPr bwMode="auto">
          <a:xfrm flipV="1">
            <a:off x="4572000" y="11430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5" name="Text Box 24"/>
          <p:cNvSpPr txBox="1">
            <a:spLocks noChangeArrowheads="1"/>
          </p:cNvSpPr>
          <p:nvPr/>
        </p:nvSpPr>
        <p:spPr bwMode="auto">
          <a:xfrm>
            <a:off x="4102100" y="1279525"/>
            <a:ext cx="4699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F</a:t>
            </a:r>
          </a:p>
        </p:txBody>
      </p:sp>
      <p:sp>
        <p:nvSpPr>
          <p:cNvPr id="79896" name="Line 25"/>
          <p:cNvSpPr>
            <a:spLocks noChangeShapeType="1"/>
          </p:cNvSpPr>
          <p:nvPr/>
        </p:nvSpPr>
        <p:spPr bwMode="auto">
          <a:xfrm>
            <a:off x="4648200" y="11430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7" name="Line 26"/>
          <p:cNvSpPr>
            <a:spLocks noChangeShapeType="1"/>
          </p:cNvSpPr>
          <p:nvPr/>
        </p:nvSpPr>
        <p:spPr bwMode="auto">
          <a:xfrm>
            <a:off x="3048000" y="12192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898" name="Text Box 27"/>
          <p:cNvSpPr txBox="1">
            <a:spLocks noChangeArrowheads="1"/>
          </p:cNvSpPr>
          <p:nvPr/>
        </p:nvSpPr>
        <p:spPr bwMode="auto">
          <a:xfrm>
            <a:off x="6096000" y="2833688"/>
            <a:ext cx="4302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79899" name="Line 28"/>
          <p:cNvSpPr>
            <a:spLocks noChangeShapeType="1"/>
          </p:cNvSpPr>
          <p:nvPr/>
        </p:nvSpPr>
        <p:spPr bwMode="auto">
          <a:xfrm>
            <a:off x="3048000" y="3276600"/>
            <a:ext cx="0" cy="457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0" name="Line 29"/>
          <p:cNvSpPr>
            <a:spLocks noChangeShapeType="1"/>
          </p:cNvSpPr>
          <p:nvPr/>
        </p:nvSpPr>
        <p:spPr bwMode="auto">
          <a:xfrm flipH="1">
            <a:off x="2743200" y="3733800"/>
            <a:ext cx="609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1" name="Line 30"/>
          <p:cNvSpPr>
            <a:spLocks noChangeShapeType="1"/>
          </p:cNvSpPr>
          <p:nvPr/>
        </p:nvSpPr>
        <p:spPr bwMode="auto">
          <a:xfrm flipH="1">
            <a:off x="2819400" y="38100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2" name="Line 31"/>
          <p:cNvSpPr>
            <a:spLocks noChangeShapeType="1"/>
          </p:cNvSpPr>
          <p:nvPr/>
        </p:nvSpPr>
        <p:spPr bwMode="auto">
          <a:xfrm flipH="1">
            <a:off x="2895600" y="38862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3" name="Line 32"/>
          <p:cNvSpPr>
            <a:spLocks noChangeShapeType="1"/>
          </p:cNvSpPr>
          <p:nvPr/>
        </p:nvSpPr>
        <p:spPr bwMode="auto">
          <a:xfrm flipH="1">
            <a:off x="2971800" y="39624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4" name="Line 33"/>
          <p:cNvSpPr>
            <a:spLocks noChangeShapeType="1"/>
          </p:cNvSpPr>
          <p:nvPr/>
        </p:nvSpPr>
        <p:spPr bwMode="auto">
          <a:xfrm>
            <a:off x="1371600" y="21336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5" name="Line 34"/>
          <p:cNvSpPr>
            <a:spLocks noChangeShapeType="1"/>
          </p:cNvSpPr>
          <p:nvPr/>
        </p:nvSpPr>
        <p:spPr bwMode="auto">
          <a:xfrm>
            <a:off x="1600200" y="21336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6" name="Line 35"/>
          <p:cNvSpPr>
            <a:spLocks noChangeShapeType="1"/>
          </p:cNvSpPr>
          <p:nvPr/>
        </p:nvSpPr>
        <p:spPr bwMode="auto">
          <a:xfrm>
            <a:off x="1828800" y="21336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7" name="Line 36"/>
          <p:cNvSpPr>
            <a:spLocks noChangeShapeType="1"/>
          </p:cNvSpPr>
          <p:nvPr/>
        </p:nvSpPr>
        <p:spPr bwMode="auto">
          <a:xfrm flipV="1">
            <a:off x="1752600" y="21336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8" name="Line 37"/>
          <p:cNvSpPr>
            <a:spLocks noChangeShapeType="1"/>
          </p:cNvSpPr>
          <p:nvPr/>
        </p:nvSpPr>
        <p:spPr bwMode="auto">
          <a:xfrm flipV="1">
            <a:off x="1524000" y="21336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09" name="Line 38"/>
          <p:cNvSpPr>
            <a:spLocks noChangeShapeType="1"/>
          </p:cNvSpPr>
          <p:nvPr/>
        </p:nvSpPr>
        <p:spPr bwMode="auto">
          <a:xfrm flipV="1">
            <a:off x="1295400" y="21336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0" name="Line 39"/>
          <p:cNvSpPr>
            <a:spLocks noChangeShapeType="1"/>
          </p:cNvSpPr>
          <p:nvPr/>
        </p:nvSpPr>
        <p:spPr bwMode="auto">
          <a:xfrm flipV="1">
            <a:off x="1981200" y="22098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1" name="Text Box 40"/>
          <p:cNvSpPr txBox="1">
            <a:spLocks noChangeArrowheads="1"/>
          </p:cNvSpPr>
          <p:nvPr/>
        </p:nvSpPr>
        <p:spPr bwMode="auto">
          <a:xfrm>
            <a:off x="1371600" y="2346325"/>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1</a:t>
            </a:r>
          </a:p>
        </p:txBody>
      </p:sp>
      <p:sp>
        <p:nvSpPr>
          <p:cNvPr id="79912" name="Line 41"/>
          <p:cNvSpPr>
            <a:spLocks noChangeShapeType="1"/>
          </p:cNvSpPr>
          <p:nvPr/>
        </p:nvSpPr>
        <p:spPr bwMode="auto">
          <a:xfrm>
            <a:off x="457200" y="22860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3" name="Oval 42"/>
          <p:cNvSpPr>
            <a:spLocks noChangeArrowheads="1"/>
          </p:cNvSpPr>
          <p:nvPr/>
        </p:nvSpPr>
        <p:spPr bwMode="auto">
          <a:xfrm>
            <a:off x="76200" y="2881313"/>
            <a:ext cx="609600" cy="609600"/>
          </a:xfrm>
          <a:prstGeom prst="ellipse">
            <a:avLst/>
          </a:prstGeom>
          <a:solidFill>
            <a:srgbClr val="FF99CC"/>
          </a:solidFill>
          <a:ln w="9525">
            <a:solidFill>
              <a:schemeClr val="tx1"/>
            </a:solidFill>
            <a:round/>
            <a:headEnd/>
            <a:tailEnd/>
          </a:ln>
        </p:spPr>
        <p:txBody>
          <a:bodyPr wrap="none" anchor="ctr"/>
          <a:lstStyle/>
          <a:p>
            <a:pPr algn="ctr"/>
            <a:endParaRPr lang="en-US"/>
          </a:p>
        </p:txBody>
      </p:sp>
      <p:sp>
        <p:nvSpPr>
          <p:cNvPr id="79914" name="Line 43"/>
          <p:cNvSpPr>
            <a:spLocks noChangeShapeType="1"/>
          </p:cNvSpPr>
          <p:nvPr/>
        </p:nvSpPr>
        <p:spPr bwMode="auto">
          <a:xfrm flipV="1">
            <a:off x="381000" y="3490913"/>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5" name="Line 44"/>
          <p:cNvSpPr>
            <a:spLocks noChangeShapeType="1"/>
          </p:cNvSpPr>
          <p:nvPr/>
        </p:nvSpPr>
        <p:spPr bwMode="auto">
          <a:xfrm flipV="1">
            <a:off x="381000" y="2286000"/>
            <a:ext cx="0" cy="6096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6" name="Line 45"/>
          <p:cNvSpPr>
            <a:spLocks noChangeShapeType="1"/>
          </p:cNvSpPr>
          <p:nvPr/>
        </p:nvSpPr>
        <p:spPr bwMode="auto">
          <a:xfrm>
            <a:off x="152400" y="37957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7" name="Line 46"/>
          <p:cNvSpPr>
            <a:spLocks noChangeShapeType="1"/>
          </p:cNvSpPr>
          <p:nvPr/>
        </p:nvSpPr>
        <p:spPr bwMode="auto">
          <a:xfrm>
            <a:off x="228600" y="3871913"/>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8" name="Line 47"/>
          <p:cNvSpPr>
            <a:spLocks noChangeShapeType="1"/>
          </p:cNvSpPr>
          <p:nvPr/>
        </p:nvSpPr>
        <p:spPr bwMode="auto">
          <a:xfrm>
            <a:off x="304800" y="3948113"/>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19" name="Text Box 48"/>
          <p:cNvSpPr txBox="1">
            <a:spLocks noChangeArrowheads="1"/>
          </p:cNvSpPr>
          <p:nvPr/>
        </p:nvSpPr>
        <p:spPr bwMode="auto">
          <a:xfrm>
            <a:off x="304800" y="2514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9920" name="Text Box 49"/>
          <p:cNvSpPr txBox="1">
            <a:spLocks noChangeArrowheads="1"/>
          </p:cNvSpPr>
          <p:nvPr/>
        </p:nvSpPr>
        <p:spPr bwMode="auto">
          <a:xfrm>
            <a:off x="349250" y="33385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79921" name="Freeform 50"/>
          <p:cNvSpPr>
            <a:spLocks/>
          </p:cNvSpPr>
          <p:nvPr/>
        </p:nvSpPr>
        <p:spPr bwMode="auto">
          <a:xfrm>
            <a:off x="228600" y="29575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9922" name="Freeform 51"/>
          <p:cNvSpPr>
            <a:spLocks/>
          </p:cNvSpPr>
          <p:nvPr/>
        </p:nvSpPr>
        <p:spPr bwMode="auto">
          <a:xfrm rot="10800000">
            <a:off x="381000" y="31861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79923" name="Line 52"/>
          <p:cNvSpPr>
            <a:spLocks noChangeShapeType="1"/>
          </p:cNvSpPr>
          <p:nvPr/>
        </p:nvSpPr>
        <p:spPr bwMode="auto">
          <a:xfrm>
            <a:off x="152400" y="31861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24" name="Oval 53"/>
          <p:cNvSpPr>
            <a:spLocks noChangeArrowheads="1"/>
          </p:cNvSpPr>
          <p:nvPr/>
        </p:nvSpPr>
        <p:spPr bwMode="auto">
          <a:xfrm>
            <a:off x="304800" y="22098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79925" name="Line 54"/>
          <p:cNvSpPr>
            <a:spLocks noChangeShapeType="1"/>
          </p:cNvSpPr>
          <p:nvPr/>
        </p:nvSpPr>
        <p:spPr bwMode="auto">
          <a:xfrm flipV="1">
            <a:off x="3048000" y="2286000"/>
            <a:ext cx="0" cy="838200"/>
          </a:xfrm>
          <a:prstGeom prst="line">
            <a:avLst/>
          </a:prstGeom>
          <a:noFill/>
          <a:ln w="9525">
            <a:solidFill>
              <a:srgbClr val="FF0000"/>
            </a:solidFill>
            <a:prstDash val="dash"/>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26" name="Text Box 55"/>
          <p:cNvSpPr txBox="1">
            <a:spLocks noChangeArrowheads="1"/>
          </p:cNvSpPr>
          <p:nvPr/>
        </p:nvSpPr>
        <p:spPr bwMode="auto">
          <a:xfrm>
            <a:off x="3352800" y="1843088"/>
            <a:ext cx="4206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2</a:t>
            </a:r>
          </a:p>
        </p:txBody>
      </p:sp>
      <p:sp>
        <p:nvSpPr>
          <p:cNvPr id="79927" name="Line 56"/>
          <p:cNvSpPr>
            <a:spLocks noChangeShapeType="1"/>
          </p:cNvSpPr>
          <p:nvPr/>
        </p:nvSpPr>
        <p:spPr bwMode="auto">
          <a:xfrm>
            <a:off x="381000" y="1981200"/>
            <a:ext cx="2438400" cy="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28" name="Line 57"/>
          <p:cNvSpPr>
            <a:spLocks noChangeShapeType="1"/>
          </p:cNvSpPr>
          <p:nvPr/>
        </p:nvSpPr>
        <p:spPr bwMode="auto">
          <a:xfrm>
            <a:off x="2819400" y="1066800"/>
            <a:ext cx="0" cy="9144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29" name="Line 58"/>
          <p:cNvSpPr>
            <a:spLocks noChangeShapeType="1"/>
          </p:cNvSpPr>
          <p:nvPr/>
        </p:nvSpPr>
        <p:spPr bwMode="auto">
          <a:xfrm>
            <a:off x="2819400" y="1066800"/>
            <a:ext cx="9906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30" name="Line 59"/>
          <p:cNvSpPr>
            <a:spLocks noChangeShapeType="1"/>
          </p:cNvSpPr>
          <p:nvPr/>
        </p:nvSpPr>
        <p:spPr bwMode="auto">
          <a:xfrm>
            <a:off x="4572000" y="1066800"/>
            <a:ext cx="1219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31" name="Line 60"/>
          <p:cNvSpPr>
            <a:spLocks noChangeShapeType="1"/>
          </p:cNvSpPr>
          <p:nvPr/>
        </p:nvSpPr>
        <p:spPr bwMode="auto">
          <a:xfrm>
            <a:off x="5791200" y="1066800"/>
            <a:ext cx="0" cy="16002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32" name="Line 61"/>
          <p:cNvSpPr>
            <a:spLocks noChangeShapeType="1"/>
          </p:cNvSpPr>
          <p:nvPr/>
        </p:nvSpPr>
        <p:spPr bwMode="auto">
          <a:xfrm>
            <a:off x="3200400" y="2286000"/>
            <a:ext cx="457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33" name="Text Box 62"/>
          <p:cNvSpPr txBox="1">
            <a:spLocks noChangeArrowheads="1"/>
          </p:cNvSpPr>
          <p:nvPr/>
        </p:nvSpPr>
        <p:spPr bwMode="auto">
          <a:xfrm>
            <a:off x="2609850" y="2438400"/>
            <a:ext cx="430213"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d</a:t>
            </a:r>
          </a:p>
        </p:txBody>
      </p:sp>
      <p:sp>
        <p:nvSpPr>
          <p:cNvPr id="79934" name="Text Box 63"/>
          <p:cNvSpPr txBox="1">
            <a:spLocks noChangeArrowheads="1"/>
          </p:cNvSpPr>
          <p:nvPr/>
        </p:nvSpPr>
        <p:spPr bwMode="auto">
          <a:xfrm>
            <a:off x="3048000" y="2286000"/>
            <a:ext cx="66198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a:t>
            </a:r>
            <a:r>
              <a:rPr lang="en-US" sz="1400" b="1" baseline="-18000">
                <a:latin typeface="Arial" pitchFamily="34" charset="0"/>
              </a:rPr>
              <a:t>B2 </a:t>
            </a:r>
            <a:r>
              <a:rPr lang="en-US" sz="1400" b="1">
                <a:latin typeface="Arial" pitchFamily="34" charset="0"/>
              </a:rPr>
              <a:t>= 0</a:t>
            </a:r>
          </a:p>
        </p:txBody>
      </p:sp>
      <p:sp>
        <p:nvSpPr>
          <p:cNvPr id="79935" name="Text Box 64"/>
          <p:cNvSpPr txBox="1">
            <a:spLocks noChangeArrowheads="1"/>
          </p:cNvSpPr>
          <p:nvPr/>
        </p:nvSpPr>
        <p:spPr bwMode="auto">
          <a:xfrm>
            <a:off x="3644900" y="11430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936" name="Text Box 65"/>
          <p:cNvSpPr txBox="1">
            <a:spLocks noChangeArrowheads="1"/>
          </p:cNvSpPr>
          <p:nvPr/>
        </p:nvSpPr>
        <p:spPr bwMode="auto">
          <a:xfrm>
            <a:off x="4616450" y="10668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937" name="Text Box 66"/>
          <p:cNvSpPr txBox="1">
            <a:spLocks noChangeArrowheads="1"/>
          </p:cNvSpPr>
          <p:nvPr/>
        </p:nvSpPr>
        <p:spPr bwMode="auto">
          <a:xfrm>
            <a:off x="2057400" y="21478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938" name="Text Box 67"/>
          <p:cNvSpPr txBox="1">
            <a:spLocks noChangeArrowheads="1"/>
          </p:cNvSpPr>
          <p:nvPr/>
        </p:nvSpPr>
        <p:spPr bwMode="auto">
          <a:xfrm>
            <a:off x="1054100" y="2224088"/>
            <a:ext cx="31750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79939" name="Text Box 68"/>
          <p:cNvSpPr txBox="1">
            <a:spLocks noChangeArrowheads="1"/>
          </p:cNvSpPr>
          <p:nvPr/>
        </p:nvSpPr>
        <p:spPr bwMode="auto">
          <a:xfrm>
            <a:off x="4267200" y="3124200"/>
            <a:ext cx="7127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A</a:t>
            </a:r>
            <a:r>
              <a:rPr lang="en-US" b="1" baseline="-25000">
                <a:solidFill>
                  <a:srgbClr val="FF0000"/>
                </a:solidFill>
                <a:latin typeface="Arial" pitchFamily="34" charset="0"/>
              </a:rPr>
              <a:t>V </a:t>
            </a:r>
            <a:r>
              <a:rPr lang="en-US" b="1">
                <a:solidFill>
                  <a:srgbClr val="FF0000"/>
                </a:solidFill>
                <a:latin typeface="Arial" pitchFamily="34" charset="0"/>
              </a:rPr>
              <a:t>=</a:t>
            </a:r>
            <a:r>
              <a:rPr lang="en-US" b="1" baseline="-25000">
                <a:solidFill>
                  <a:srgbClr val="FF0000"/>
                </a:solidFill>
                <a:latin typeface="Arial" pitchFamily="34" charset="0"/>
              </a:rPr>
              <a:t>  </a:t>
            </a:r>
          </a:p>
        </p:txBody>
      </p:sp>
      <p:sp>
        <p:nvSpPr>
          <p:cNvPr id="79940" name="Text Box 69"/>
          <p:cNvSpPr txBox="1">
            <a:spLocks noChangeArrowheads="1"/>
          </p:cNvSpPr>
          <p:nvPr/>
        </p:nvSpPr>
        <p:spPr bwMode="auto">
          <a:xfrm rot="-5400000">
            <a:off x="4759325" y="31035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8</a:t>
            </a:r>
          </a:p>
        </p:txBody>
      </p:sp>
      <p:sp>
        <p:nvSpPr>
          <p:cNvPr id="79941" name="Freeform 70"/>
          <p:cNvSpPr>
            <a:spLocks/>
          </p:cNvSpPr>
          <p:nvPr/>
        </p:nvSpPr>
        <p:spPr bwMode="auto">
          <a:xfrm>
            <a:off x="7315200" y="1600200"/>
            <a:ext cx="304800" cy="3048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79942" name="Freeform 71"/>
          <p:cNvSpPr>
            <a:spLocks/>
          </p:cNvSpPr>
          <p:nvPr/>
        </p:nvSpPr>
        <p:spPr bwMode="auto">
          <a:xfrm>
            <a:off x="7620000" y="1905000"/>
            <a:ext cx="304800" cy="3048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79943" name="Text Box 72"/>
          <p:cNvSpPr txBox="1">
            <a:spLocks noChangeArrowheads="1"/>
          </p:cNvSpPr>
          <p:nvPr/>
        </p:nvSpPr>
        <p:spPr bwMode="auto">
          <a:xfrm>
            <a:off x="7391400" y="1066800"/>
            <a:ext cx="6159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input</a:t>
            </a:r>
          </a:p>
        </p:txBody>
      </p:sp>
      <p:sp>
        <p:nvSpPr>
          <p:cNvPr id="79944" name="Line 73"/>
          <p:cNvSpPr>
            <a:spLocks noChangeShapeType="1"/>
          </p:cNvSpPr>
          <p:nvPr/>
        </p:nvSpPr>
        <p:spPr bwMode="auto">
          <a:xfrm>
            <a:off x="7239000" y="19050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45" name="Line 74"/>
          <p:cNvSpPr>
            <a:spLocks noChangeShapeType="1"/>
          </p:cNvSpPr>
          <p:nvPr/>
        </p:nvSpPr>
        <p:spPr bwMode="auto">
          <a:xfrm flipV="1">
            <a:off x="7315200" y="1066800"/>
            <a:ext cx="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46" name="Freeform 75"/>
          <p:cNvSpPr>
            <a:spLocks/>
          </p:cNvSpPr>
          <p:nvPr/>
        </p:nvSpPr>
        <p:spPr bwMode="auto">
          <a:xfrm>
            <a:off x="7620000" y="2743200"/>
            <a:ext cx="304800" cy="5334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79947" name="Freeform 76"/>
          <p:cNvSpPr>
            <a:spLocks/>
          </p:cNvSpPr>
          <p:nvPr/>
        </p:nvSpPr>
        <p:spPr bwMode="auto">
          <a:xfrm>
            <a:off x="7315200" y="3276600"/>
            <a:ext cx="304800" cy="5334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rgbClr val="FF00FF"/>
          </a:solidFill>
          <a:ln w="15875">
            <a:solidFill>
              <a:srgbClr val="000080"/>
            </a:solidFill>
            <a:round/>
            <a:headEnd/>
            <a:tailEnd/>
          </a:ln>
        </p:spPr>
        <p:txBody>
          <a:bodyPr/>
          <a:lstStyle/>
          <a:p>
            <a:endParaRPr lang="en-IN">
              <a:latin typeface="Calibri" pitchFamily="34" charset="0"/>
            </a:endParaRPr>
          </a:p>
        </p:txBody>
      </p:sp>
      <p:sp>
        <p:nvSpPr>
          <p:cNvPr id="79948" name="Line 77"/>
          <p:cNvSpPr>
            <a:spLocks noChangeShapeType="1"/>
          </p:cNvSpPr>
          <p:nvPr/>
        </p:nvSpPr>
        <p:spPr bwMode="auto">
          <a:xfrm>
            <a:off x="7239000" y="32766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79949" name="Freeform 78"/>
          <p:cNvSpPr>
            <a:spLocks/>
          </p:cNvSpPr>
          <p:nvPr/>
        </p:nvSpPr>
        <p:spPr bwMode="auto">
          <a:xfrm>
            <a:off x="7924800" y="1600200"/>
            <a:ext cx="304800" cy="3048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79950" name="Freeform 79"/>
          <p:cNvSpPr>
            <a:spLocks/>
          </p:cNvSpPr>
          <p:nvPr/>
        </p:nvSpPr>
        <p:spPr bwMode="auto">
          <a:xfrm>
            <a:off x="7924800" y="3276600"/>
            <a:ext cx="304800" cy="5334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rgbClr val="FF00FF"/>
          </a:solidFill>
          <a:ln w="15875">
            <a:solidFill>
              <a:srgbClr val="000080"/>
            </a:solidFill>
            <a:round/>
            <a:headEnd/>
            <a:tailEnd/>
          </a:ln>
        </p:spPr>
        <p:txBody>
          <a:bodyPr/>
          <a:lstStyle/>
          <a:p>
            <a:endParaRPr lang="en-IN">
              <a:latin typeface="Calibri" pitchFamily="34" charset="0"/>
            </a:endParaRPr>
          </a:p>
        </p:txBody>
      </p:sp>
      <p:sp>
        <p:nvSpPr>
          <p:cNvPr id="79951" name="Text Box 80"/>
          <p:cNvSpPr txBox="1">
            <a:spLocks noChangeArrowheads="1"/>
          </p:cNvSpPr>
          <p:nvPr/>
        </p:nvSpPr>
        <p:spPr bwMode="auto">
          <a:xfrm>
            <a:off x="8561388" y="31384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t</a:t>
            </a:r>
            <a:endParaRPr lang="en-US" b="1" baseline="-18000">
              <a:latin typeface="Arial" pitchFamily="34" charset="0"/>
            </a:endParaRPr>
          </a:p>
        </p:txBody>
      </p:sp>
      <p:sp>
        <p:nvSpPr>
          <p:cNvPr id="79952" name="Text Box 81"/>
          <p:cNvSpPr txBox="1">
            <a:spLocks noChangeArrowheads="1"/>
          </p:cNvSpPr>
          <p:nvPr/>
        </p:nvSpPr>
        <p:spPr bwMode="auto">
          <a:xfrm>
            <a:off x="8578850" y="1676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t</a:t>
            </a:r>
            <a:endParaRPr lang="en-US" b="1" baseline="-18000">
              <a:latin typeface="Arial" pitchFamily="34" charset="0"/>
            </a:endParaRPr>
          </a:p>
        </p:txBody>
      </p:sp>
      <p:sp>
        <p:nvSpPr>
          <p:cNvPr id="79953" name="Line 82"/>
          <p:cNvSpPr>
            <a:spLocks noChangeShapeType="1"/>
          </p:cNvSpPr>
          <p:nvPr/>
        </p:nvSpPr>
        <p:spPr bwMode="auto">
          <a:xfrm>
            <a:off x="7620000" y="19050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54" name="Line 83"/>
          <p:cNvSpPr>
            <a:spLocks noChangeShapeType="1"/>
          </p:cNvSpPr>
          <p:nvPr/>
        </p:nvSpPr>
        <p:spPr bwMode="auto">
          <a:xfrm>
            <a:off x="7924800" y="18288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55" name="Line 84"/>
          <p:cNvSpPr>
            <a:spLocks noChangeShapeType="1"/>
          </p:cNvSpPr>
          <p:nvPr/>
        </p:nvSpPr>
        <p:spPr bwMode="auto">
          <a:xfrm>
            <a:off x="8229600" y="19050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79956" name="Text Box 85"/>
          <p:cNvSpPr txBox="1">
            <a:spLocks noChangeArrowheads="1"/>
          </p:cNvSpPr>
          <p:nvPr/>
        </p:nvSpPr>
        <p:spPr bwMode="auto">
          <a:xfrm>
            <a:off x="7080250" y="18430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0</a:t>
            </a:r>
            <a:endParaRPr lang="en-US" b="1" baseline="-18000">
              <a:latin typeface="Arial" pitchFamily="34" charset="0"/>
            </a:endParaRPr>
          </a:p>
        </p:txBody>
      </p:sp>
      <p:sp>
        <p:nvSpPr>
          <p:cNvPr id="79957" name="Text Box 86"/>
          <p:cNvSpPr txBox="1">
            <a:spLocks noChangeArrowheads="1"/>
          </p:cNvSpPr>
          <p:nvPr/>
        </p:nvSpPr>
        <p:spPr bwMode="auto">
          <a:xfrm>
            <a:off x="7086600" y="32004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0</a:t>
            </a:r>
            <a:endParaRPr lang="en-US" b="1" baseline="-18000">
              <a:latin typeface="Arial" pitchFamily="34" charset="0"/>
            </a:endParaRPr>
          </a:p>
        </p:txBody>
      </p:sp>
      <p:sp>
        <p:nvSpPr>
          <p:cNvPr id="79958" name="Text Box 87"/>
          <p:cNvSpPr txBox="1">
            <a:spLocks noChangeArrowheads="1"/>
          </p:cNvSpPr>
          <p:nvPr/>
        </p:nvSpPr>
        <p:spPr bwMode="auto">
          <a:xfrm>
            <a:off x="6877050" y="1219200"/>
            <a:ext cx="438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S</a:t>
            </a:r>
          </a:p>
        </p:txBody>
      </p:sp>
      <p:sp>
        <p:nvSpPr>
          <p:cNvPr id="79959" name="Text Box 88"/>
          <p:cNvSpPr txBox="1">
            <a:spLocks noChangeArrowheads="1"/>
          </p:cNvSpPr>
          <p:nvPr/>
        </p:nvSpPr>
        <p:spPr bwMode="auto">
          <a:xfrm>
            <a:off x="6877050" y="2681288"/>
            <a:ext cx="4556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79960" name="Text Box 89"/>
          <p:cNvSpPr txBox="1">
            <a:spLocks noChangeArrowheads="1"/>
          </p:cNvSpPr>
          <p:nvPr/>
        </p:nvSpPr>
        <p:spPr bwMode="auto">
          <a:xfrm>
            <a:off x="365125" y="4208463"/>
            <a:ext cx="7959725" cy="181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2400" b="1">
                <a:cs typeface="Times New Roman" pitchFamily="18" charset="0"/>
              </a:rPr>
              <a:t>Expression for the closed loop voltage gain (A</a:t>
            </a:r>
            <a:r>
              <a:rPr lang="en-US" sz="2400" b="1" baseline="-18000">
                <a:cs typeface="Times New Roman" pitchFamily="18" charset="0"/>
              </a:rPr>
              <a:t>VF</a:t>
            </a:r>
            <a:r>
              <a:rPr lang="en-US" sz="2400" b="1">
                <a:cs typeface="Times New Roman" pitchFamily="18" charset="0"/>
              </a:rPr>
              <a:t>)</a:t>
            </a:r>
            <a:endParaRPr lang="en-US" sz="2400" baseline="-18000">
              <a:cs typeface="Times New Roman" pitchFamily="18" charset="0"/>
            </a:endParaRPr>
          </a:p>
          <a:p>
            <a:r>
              <a:rPr lang="en-US" sz="2400" b="1">
                <a:cs typeface="Times New Roman" pitchFamily="18" charset="0"/>
              </a:rPr>
              <a:t>A</a:t>
            </a:r>
            <a:r>
              <a:rPr lang="en-US" sz="2400" b="1" baseline="-18000">
                <a:cs typeface="Times New Roman" pitchFamily="18" charset="0"/>
              </a:rPr>
              <a:t>VF</a:t>
            </a:r>
            <a:r>
              <a:rPr lang="en-US" sz="2400" b="1">
                <a:cs typeface="Times New Roman" pitchFamily="18" charset="0"/>
              </a:rPr>
              <a:t> = - R</a:t>
            </a:r>
            <a:r>
              <a:rPr lang="en-US" sz="2400" b="1" baseline="-18000">
                <a:cs typeface="Times New Roman" pitchFamily="18" charset="0"/>
              </a:rPr>
              <a:t>F</a:t>
            </a:r>
            <a:r>
              <a:rPr lang="en-US" sz="2400" b="1">
                <a:cs typeface="Times New Roman" pitchFamily="18" charset="0"/>
              </a:rPr>
              <a:t> / R</a:t>
            </a:r>
            <a:r>
              <a:rPr lang="en-US" sz="2400" b="1" baseline="-18000">
                <a:cs typeface="Times New Roman" pitchFamily="18" charset="0"/>
              </a:rPr>
              <a:t>1</a:t>
            </a:r>
          </a:p>
          <a:p>
            <a:endParaRPr lang="en-US" sz="2400" b="1" baseline="-18000">
              <a:cs typeface="Times New Roman" pitchFamily="18" charset="0"/>
            </a:endParaRPr>
          </a:p>
          <a:p>
            <a:r>
              <a:rPr lang="en-US" sz="2400" b="1">
                <a:cs typeface="Times New Roman" pitchFamily="18" charset="0"/>
              </a:rPr>
              <a:t>The negative sign indicates that there is a phase shift of 180</a:t>
            </a:r>
            <a:r>
              <a:rPr lang="en-US" sz="2400" b="1" baseline="30000">
                <a:cs typeface="Times New Roman" pitchFamily="18" charset="0"/>
              </a:rPr>
              <a:t>0</a:t>
            </a:r>
            <a:r>
              <a:rPr lang="en-US" sz="2400" b="1">
                <a:cs typeface="Times New Roman" pitchFamily="18" charset="0"/>
              </a:rPr>
              <a:t> </a:t>
            </a:r>
          </a:p>
          <a:p>
            <a:r>
              <a:rPr lang="en-US" sz="2400" b="1">
                <a:cs typeface="Times New Roman" pitchFamily="18" charset="0"/>
              </a:rPr>
              <a:t>Between the input and output voltages.</a:t>
            </a:r>
          </a:p>
        </p:txBody>
      </p:sp>
      <p:sp>
        <p:nvSpPr>
          <p:cNvPr id="79961" name="Text Box 90"/>
          <p:cNvSpPr txBox="1">
            <a:spLocks noChangeArrowheads="1"/>
          </p:cNvSpPr>
          <p:nvPr/>
        </p:nvSpPr>
        <p:spPr bwMode="auto">
          <a:xfrm>
            <a:off x="1965325" y="1535113"/>
            <a:ext cx="2540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I</a:t>
            </a:r>
          </a:p>
        </p:txBody>
      </p:sp>
      <p:sp>
        <p:nvSpPr>
          <p:cNvPr id="92" name="Rectangle 2"/>
          <p:cNvSpPr txBox="1">
            <a:spLocks noChangeArrowheads="1"/>
          </p:cNvSpPr>
          <p:nvPr/>
        </p:nvSpPr>
        <p:spPr bwMode="auto">
          <a:xfrm>
            <a:off x="76200" y="76200"/>
            <a:ext cx="8534400" cy="685800"/>
          </a:xfrm>
          <a:prstGeom prst="rect">
            <a:avLst/>
          </a:prstGeom>
          <a:noFill/>
          <a:ln w="9525">
            <a:noFill/>
            <a:miter lim="800000"/>
            <a:headEnd/>
            <a:tailEnd/>
          </a:ln>
        </p:spPr>
        <p:txBody>
          <a:bodyPr/>
          <a:lstStyle/>
          <a:p>
            <a:pPr marL="609600" indent="-609600" fontAlgn="auto">
              <a:spcBef>
                <a:spcPts val="0"/>
              </a:spcBef>
              <a:spcAft>
                <a:spcPts val="0"/>
              </a:spcAft>
              <a:defRPr/>
            </a:pPr>
            <a:r>
              <a:rPr lang="en-US" sz="3200" b="1" kern="0">
                <a:solidFill>
                  <a:srgbClr val="000099"/>
                </a:solidFill>
                <a:latin typeface="Times New Roman" pitchFamily="18" charset="0"/>
                <a:cs typeface="Times New Roman" pitchFamily="18" charset="0"/>
              </a:rPr>
              <a:t>	The Inverting Amplifier </a:t>
            </a:r>
            <a:endParaRPr lang="en-US" sz="3200" b="1" kern="0" dirty="0">
              <a:solidFill>
                <a:srgbClr val="000099"/>
              </a:solidFill>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pPr>
              <a:defRPr/>
            </a:pPr>
            <a:fld id="{232A752E-922F-4528-A6AC-5916F800C8A5}" type="slidenum">
              <a:rPr lang="en-US"/>
              <a:pPr>
                <a:defRPr/>
              </a:pPr>
              <a:t>50</a:t>
            </a:fld>
            <a:endParaRPr lang="en-US"/>
          </a:p>
        </p:txBody>
      </p:sp>
    </p:spTree>
    <p:extLst>
      <p:ext uri="{BB962C8B-B14F-4D97-AF65-F5344CB8AC3E}">
        <p14:creationId xmlns:p14="http://schemas.microsoft.com/office/powerpoint/2010/main" xmlns="" val="2916986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nvSpPr>
        <p:spPr bwMode="auto">
          <a:xfrm>
            <a:off x="0" y="685800"/>
            <a:ext cx="9144000" cy="35052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342900" indent="-342900" algn="ctr"/>
            <a:endParaRPr lang="en-US"/>
          </a:p>
        </p:txBody>
      </p:sp>
      <p:sp>
        <p:nvSpPr>
          <p:cNvPr id="80899" name="Line 4"/>
          <p:cNvSpPr>
            <a:spLocks noChangeShapeType="1"/>
          </p:cNvSpPr>
          <p:nvPr/>
        </p:nvSpPr>
        <p:spPr bwMode="auto">
          <a:xfrm>
            <a:off x="3048000" y="2652713"/>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00" name="Line 5"/>
          <p:cNvSpPr>
            <a:spLocks noChangeShapeType="1"/>
          </p:cNvSpPr>
          <p:nvPr/>
        </p:nvSpPr>
        <p:spPr bwMode="auto">
          <a:xfrm>
            <a:off x="5083175" y="2195513"/>
            <a:ext cx="10890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01" name="Line 6"/>
          <p:cNvSpPr>
            <a:spLocks noChangeShapeType="1"/>
          </p:cNvSpPr>
          <p:nvPr/>
        </p:nvSpPr>
        <p:spPr bwMode="auto">
          <a:xfrm>
            <a:off x="5638800" y="914400"/>
            <a:ext cx="0" cy="1295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02" name="AutoShape 7"/>
          <p:cNvSpPr>
            <a:spLocks noChangeArrowheads="1"/>
          </p:cNvSpPr>
          <p:nvPr/>
        </p:nvSpPr>
        <p:spPr bwMode="auto">
          <a:xfrm rot="5400000">
            <a:off x="3673475" y="1547813"/>
            <a:ext cx="1519238"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    OP-AMP</a:t>
            </a:r>
          </a:p>
        </p:txBody>
      </p:sp>
      <p:sp>
        <p:nvSpPr>
          <p:cNvPr id="80903" name="Text Box 8"/>
          <p:cNvSpPr txBox="1">
            <a:spLocks noChangeArrowheads="1"/>
          </p:cNvSpPr>
          <p:nvPr/>
        </p:nvSpPr>
        <p:spPr bwMode="auto">
          <a:xfrm>
            <a:off x="3810000" y="15097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04" name="Text Box 9"/>
          <p:cNvSpPr txBox="1">
            <a:spLocks noChangeArrowheads="1"/>
          </p:cNvSpPr>
          <p:nvPr/>
        </p:nvSpPr>
        <p:spPr bwMode="auto">
          <a:xfrm>
            <a:off x="3787775" y="2514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05" name="Text Box 10"/>
          <p:cNvSpPr txBox="1">
            <a:spLocks noChangeArrowheads="1"/>
          </p:cNvSpPr>
          <p:nvPr/>
        </p:nvSpPr>
        <p:spPr bwMode="auto">
          <a:xfrm>
            <a:off x="2286000" y="3062288"/>
            <a:ext cx="438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S</a:t>
            </a:r>
          </a:p>
        </p:txBody>
      </p:sp>
      <p:sp>
        <p:nvSpPr>
          <p:cNvPr id="80906" name="Oval 11"/>
          <p:cNvSpPr>
            <a:spLocks noChangeArrowheads="1"/>
          </p:cNvSpPr>
          <p:nvPr/>
        </p:nvSpPr>
        <p:spPr bwMode="auto">
          <a:xfrm>
            <a:off x="2971800" y="2576513"/>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0907" name="Oval 12"/>
          <p:cNvSpPr>
            <a:spLocks noChangeArrowheads="1"/>
          </p:cNvSpPr>
          <p:nvPr/>
        </p:nvSpPr>
        <p:spPr bwMode="auto">
          <a:xfrm>
            <a:off x="6172200" y="2119313"/>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0908" name="Text Box 13"/>
          <p:cNvSpPr txBox="1">
            <a:spLocks noChangeArrowheads="1"/>
          </p:cNvSpPr>
          <p:nvPr/>
        </p:nvSpPr>
        <p:spPr bwMode="auto">
          <a:xfrm>
            <a:off x="3429000" y="2576513"/>
            <a:ext cx="4206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1</a:t>
            </a:r>
          </a:p>
        </p:txBody>
      </p:sp>
      <p:sp>
        <p:nvSpPr>
          <p:cNvPr id="80909" name="Line 14"/>
          <p:cNvSpPr>
            <a:spLocks noChangeShapeType="1"/>
          </p:cNvSpPr>
          <p:nvPr/>
        </p:nvSpPr>
        <p:spPr bwMode="auto">
          <a:xfrm>
            <a:off x="3048000" y="9906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0" name="Line 15"/>
          <p:cNvSpPr>
            <a:spLocks noChangeShapeType="1"/>
          </p:cNvSpPr>
          <p:nvPr/>
        </p:nvSpPr>
        <p:spPr bwMode="auto">
          <a:xfrm>
            <a:off x="39624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1" name="Line 16"/>
          <p:cNvSpPr>
            <a:spLocks noChangeShapeType="1"/>
          </p:cNvSpPr>
          <p:nvPr/>
        </p:nvSpPr>
        <p:spPr bwMode="auto">
          <a:xfrm>
            <a:off x="41910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2" name="Line 17"/>
          <p:cNvSpPr>
            <a:spLocks noChangeShapeType="1"/>
          </p:cNvSpPr>
          <p:nvPr/>
        </p:nvSpPr>
        <p:spPr bwMode="auto">
          <a:xfrm>
            <a:off x="44196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3" name="Line 18"/>
          <p:cNvSpPr>
            <a:spLocks noChangeShapeType="1"/>
          </p:cNvSpPr>
          <p:nvPr/>
        </p:nvSpPr>
        <p:spPr bwMode="auto">
          <a:xfrm flipV="1">
            <a:off x="4343400" y="838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4" name="Line 19"/>
          <p:cNvSpPr>
            <a:spLocks noChangeShapeType="1"/>
          </p:cNvSpPr>
          <p:nvPr/>
        </p:nvSpPr>
        <p:spPr bwMode="auto">
          <a:xfrm flipV="1">
            <a:off x="4114800" y="838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5" name="Line 20"/>
          <p:cNvSpPr>
            <a:spLocks noChangeShapeType="1"/>
          </p:cNvSpPr>
          <p:nvPr/>
        </p:nvSpPr>
        <p:spPr bwMode="auto">
          <a:xfrm flipV="1">
            <a:off x="3886200" y="838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6" name="Line 21"/>
          <p:cNvSpPr>
            <a:spLocks noChangeShapeType="1"/>
          </p:cNvSpPr>
          <p:nvPr/>
        </p:nvSpPr>
        <p:spPr bwMode="auto">
          <a:xfrm flipV="1">
            <a:off x="4572000" y="914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7" name="Text Box 22"/>
          <p:cNvSpPr txBox="1">
            <a:spLocks noChangeArrowheads="1"/>
          </p:cNvSpPr>
          <p:nvPr/>
        </p:nvSpPr>
        <p:spPr bwMode="auto">
          <a:xfrm>
            <a:off x="4102100" y="990600"/>
            <a:ext cx="4699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F</a:t>
            </a:r>
          </a:p>
        </p:txBody>
      </p:sp>
      <p:sp>
        <p:nvSpPr>
          <p:cNvPr id="80918" name="Line 23"/>
          <p:cNvSpPr>
            <a:spLocks noChangeShapeType="1"/>
          </p:cNvSpPr>
          <p:nvPr/>
        </p:nvSpPr>
        <p:spPr bwMode="auto">
          <a:xfrm>
            <a:off x="4648200" y="914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19" name="Line 24"/>
          <p:cNvSpPr>
            <a:spLocks noChangeShapeType="1"/>
          </p:cNvSpPr>
          <p:nvPr/>
        </p:nvSpPr>
        <p:spPr bwMode="auto">
          <a:xfrm>
            <a:off x="3048000" y="9906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0" name="Text Box 25"/>
          <p:cNvSpPr txBox="1">
            <a:spLocks noChangeArrowheads="1"/>
          </p:cNvSpPr>
          <p:nvPr/>
        </p:nvSpPr>
        <p:spPr bwMode="auto">
          <a:xfrm>
            <a:off x="6096000" y="2286000"/>
            <a:ext cx="430213"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80921" name="Line 26"/>
          <p:cNvSpPr>
            <a:spLocks noChangeShapeType="1"/>
          </p:cNvSpPr>
          <p:nvPr/>
        </p:nvSpPr>
        <p:spPr bwMode="auto">
          <a:xfrm>
            <a:off x="14160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2" name="Line 27"/>
          <p:cNvSpPr>
            <a:spLocks noChangeShapeType="1"/>
          </p:cNvSpPr>
          <p:nvPr/>
        </p:nvSpPr>
        <p:spPr bwMode="auto">
          <a:xfrm>
            <a:off x="16446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3" name="Line 28"/>
          <p:cNvSpPr>
            <a:spLocks noChangeShapeType="1"/>
          </p:cNvSpPr>
          <p:nvPr/>
        </p:nvSpPr>
        <p:spPr bwMode="auto">
          <a:xfrm>
            <a:off x="18732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4" name="Line 29"/>
          <p:cNvSpPr>
            <a:spLocks noChangeShapeType="1"/>
          </p:cNvSpPr>
          <p:nvPr/>
        </p:nvSpPr>
        <p:spPr bwMode="auto">
          <a:xfrm flipV="1">
            <a:off x="1797050" y="900113"/>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5" name="Line 30"/>
          <p:cNvSpPr>
            <a:spLocks noChangeShapeType="1"/>
          </p:cNvSpPr>
          <p:nvPr/>
        </p:nvSpPr>
        <p:spPr bwMode="auto">
          <a:xfrm flipV="1">
            <a:off x="1568450" y="900113"/>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6" name="Line 31"/>
          <p:cNvSpPr>
            <a:spLocks noChangeShapeType="1"/>
          </p:cNvSpPr>
          <p:nvPr/>
        </p:nvSpPr>
        <p:spPr bwMode="auto">
          <a:xfrm flipV="1">
            <a:off x="1339850" y="900113"/>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7" name="Line 32"/>
          <p:cNvSpPr>
            <a:spLocks noChangeShapeType="1"/>
          </p:cNvSpPr>
          <p:nvPr/>
        </p:nvSpPr>
        <p:spPr bwMode="auto">
          <a:xfrm flipV="1">
            <a:off x="2025650" y="976313"/>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28" name="Text Box 33"/>
          <p:cNvSpPr txBox="1">
            <a:spLocks noChangeArrowheads="1"/>
          </p:cNvSpPr>
          <p:nvPr/>
        </p:nvSpPr>
        <p:spPr bwMode="auto">
          <a:xfrm>
            <a:off x="1416050" y="1112838"/>
            <a:ext cx="460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1</a:t>
            </a:r>
          </a:p>
        </p:txBody>
      </p:sp>
      <p:sp>
        <p:nvSpPr>
          <p:cNvPr id="80929" name="Line 34"/>
          <p:cNvSpPr>
            <a:spLocks noChangeShapeType="1"/>
          </p:cNvSpPr>
          <p:nvPr/>
        </p:nvSpPr>
        <p:spPr bwMode="auto">
          <a:xfrm>
            <a:off x="501650" y="1052513"/>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0" name="Oval 35"/>
          <p:cNvSpPr>
            <a:spLocks noChangeArrowheads="1"/>
          </p:cNvSpPr>
          <p:nvPr/>
        </p:nvSpPr>
        <p:spPr bwMode="auto">
          <a:xfrm>
            <a:off x="2743200" y="3109913"/>
            <a:ext cx="609600" cy="609600"/>
          </a:xfrm>
          <a:prstGeom prst="ellipse">
            <a:avLst/>
          </a:prstGeom>
          <a:solidFill>
            <a:srgbClr val="FF99CC"/>
          </a:solidFill>
          <a:ln w="9525">
            <a:solidFill>
              <a:schemeClr val="tx1"/>
            </a:solidFill>
            <a:round/>
            <a:headEnd/>
            <a:tailEnd/>
          </a:ln>
        </p:spPr>
        <p:txBody>
          <a:bodyPr wrap="none" anchor="ctr"/>
          <a:lstStyle/>
          <a:p>
            <a:pPr algn="ctr"/>
            <a:endParaRPr lang="en-US"/>
          </a:p>
        </p:txBody>
      </p:sp>
      <p:sp>
        <p:nvSpPr>
          <p:cNvPr id="80931" name="Line 36"/>
          <p:cNvSpPr>
            <a:spLocks noChangeShapeType="1"/>
          </p:cNvSpPr>
          <p:nvPr/>
        </p:nvSpPr>
        <p:spPr bwMode="auto">
          <a:xfrm flipV="1">
            <a:off x="3048000" y="3719513"/>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2" name="Line 37"/>
          <p:cNvSpPr>
            <a:spLocks noChangeShapeType="1"/>
          </p:cNvSpPr>
          <p:nvPr/>
        </p:nvSpPr>
        <p:spPr bwMode="auto">
          <a:xfrm flipV="1">
            <a:off x="3048000" y="2743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3" name="Line 38"/>
          <p:cNvSpPr>
            <a:spLocks noChangeShapeType="1"/>
          </p:cNvSpPr>
          <p:nvPr/>
        </p:nvSpPr>
        <p:spPr bwMode="auto">
          <a:xfrm>
            <a:off x="2819400" y="40243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4" name="Line 39"/>
          <p:cNvSpPr>
            <a:spLocks noChangeShapeType="1"/>
          </p:cNvSpPr>
          <p:nvPr/>
        </p:nvSpPr>
        <p:spPr bwMode="auto">
          <a:xfrm>
            <a:off x="2895600" y="4100513"/>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5" name="Line 40"/>
          <p:cNvSpPr>
            <a:spLocks noChangeShapeType="1"/>
          </p:cNvSpPr>
          <p:nvPr/>
        </p:nvSpPr>
        <p:spPr bwMode="auto">
          <a:xfrm>
            <a:off x="2971800" y="4176713"/>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36" name="Text Box 41"/>
          <p:cNvSpPr txBox="1">
            <a:spLocks noChangeArrowheads="1"/>
          </p:cNvSpPr>
          <p:nvPr/>
        </p:nvSpPr>
        <p:spPr bwMode="auto">
          <a:xfrm>
            <a:off x="2971800" y="2743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80937" name="Text Box 42"/>
          <p:cNvSpPr txBox="1">
            <a:spLocks noChangeArrowheads="1"/>
          </p:cNvSpPr>
          <p:nvPr/>
        </p:nvSpPr>
        <p:spPr bwMode="auto">
          <a:xfrm>
            <a:off x="3016250" y="35671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80938" name="Freeform 43"/>
          <p:cNvSpPr>
            <a:spLocks/>
          </p:cNvSpPr>
          <p:nvPr/>
        </p:nvSpPr>
        <p:spPr bwMode="auto">
          <a:xfrm>
            <a:off x="2895600" y="31861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80939" name="Freeform 44"/>
          <p:cNvSpPr>
            <a:spLocks/>
          </p:cNvSpPr>
          <p:nvPr/>
        </p:nvSpPr>
        <p:spPr bwMode="auto">
          <a:xfrm rot="10800000">
            <a:off x="3048000" y="34147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80940" name="Line 45"/>
          <p:cNvSpPr>
            <a:spLocks noChangeShapeType="1"/>
          </p:cNvSpPr>
          <p:nvPr/>
        </p:nvSpPr>
        <p:spPr bwMode="auto">
          <a:xfrm>
            <a:off x="2819400" y="34147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41" name="Text Box 46"/>
          <p:cNvSpPr txBox="1">
            <a:spLocks noChangeArrowheads="1"/>
          </p:cNvSpPr>
          <p:nvPr/>
        </p:nvSpPr>
        <p:spPr bwMode="auto">
          <a:xfrm>
            <a:off x="3352800" y="1295400"/>
            <a:ext cx="4206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2</a:t>
            </a:r>
          </a:p>
        </p:txBody>
      </p:sp>
      <p:sp>
        <p:nvSpPr>
          <p:cNvPr id="80942" name="Line 47"/>
          <p:cNvSpPr>
            <a:spLocks noChangeShapeType="1"/>
          </p:cNvSpPr>
          <p:nvPr/>
        </p:nvSpPr>
        <p:spPr bwMode="auto">
          <a:xfrm>
            <a:off x="2895600" y="1738313"/>
            <a:ext cx="457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43" name="Text Box 48"/>
          <p:cNvSpPr txBox="1">
            <a:spLocks noChangeArrowheads="1"/>
          </p:cNvSpPr>
          <p:nvPr/>
        </p:nvSpPr>
        <p:spPr bwMode="auto">
          <a:xfrm>
            <a:off x="2773363" y="1752600"/>
            <a:ext cx="5794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a:t>
            </a:r>
            <a:r>
              <a:rPr lang="en-US" sz="1400" b="1" baseline="-18000">
                <a:latin typeface="Arial" pitchFamily="34" charset="0"/>
              </a:rPr>
              <a:t>2 </a:t>
            </a:r>
            <a:r>
              <a:rPr lang="en-US" sz="1400" b="1">
                <a:latin typeface="Arial" pitchFamily="34" charset="0"/>
              </a:rPr>
              <a:t>= 0</a:t>
            </a:r>
          </a:p>
        </p:txBody>
      </p:sp>
      <p:sp>
        <p:nvSpPr>
          <p:cNvPr id="80944" name="Text Box 49"/>
          <p:cNvSpPr txBox="1">
            <a:spLocks noChangeArrowheads="1"/>
          </p:cNvSpPr>
          <p:nvPr/>
        </p:nvSpPr>
        <p:spPr bwMode="auto">
          <a:xfrm>
            <a:off x="3644900" y="9144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45" name="Text Box 50"/>
          <p:cNvSpPr txBox="1">
            <a:spLocks noChangeArrowheads="1"/>
          </p:cNvSpPr>
          <p:nvPr/>
        </p:nvSpPr>
        <p:spPr bwMode="auto">
          <a:xfrm>
            <a:off x="4616450" y="8382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46" name="Text Box 51"/>
          <p:cNvSpPr txBox="1">
            <a:spLocks noChangeArrowheads="1"/>
          </p:cNvSpPr>
          <p:nvPr/>
        </p:nvSpPr>
        <p:spPr bwMode="auto">
          <a:xfrm>
            <a:off x="2101850" y="914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47" name="Text Box 52"/>
          <p:cNvSpPr txBox="1">
            <a:spLocks noChangeArrowheads="1"/>
          </p:cNvSpPr>
          <p:nvPr/>
        </p:nvSpPr>
        <p:spPr bwMode="auto">
          <a:xfrm>
            <a:off x="1098550" y="990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0948" name="Text Box 53"/>
          <p:cNvSpPr txBox="1">
            <a:spLocks noChangeArrowheads="1"/>
          </p:cNvSpPr>
          <p:nvPr/>
        </p:nvSpPr>
        <p:spPr bwMode="auto">
          <a:xfrm>
            <a:off x="4267200" y="2576513"/>
            <a:ext cx="7127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A</a:t>
            </a:r>
            <a:r>
              <a:rPr lang="en-US" b="1" baseline="-25000">
                <a:solidFill>
                  <a:srgbClr val="FF0000"/>
                </a:solidFill>
                <a:latin typeface="Arial" pitchFamily="34" charset="0"/>
              </a:rPr>
              <a:t>V </a:t>
            </a:r>
            <a:r>
              <a:rPr lang="en-US" b="1">
                <a:solidFill>
                  <a:srgbClr val="FF0000"/>
                </a:solidFill>
                <a:latin typeface="Arial" pitchFamily="34" charset="0"/>
              </a:rPr>
              <a:t>=</a:t>
            </a:r>
            <a:r>
              <a:rPr lang="en-US" b="1" baseline="-25000">
                <a:solidFill>
                  <a:srgbClr val="FF0000"/>
                </a:solidFill>
                <a:latin typeface="Arial" pitchFamily="34" charset="0"/>
              </a:rPr>
              <a:t>  </a:t>
            </a:r>
          </a:p>
        </p:txBody>
      </p:sp>
      <p:sp>
        <p:nvSpPr>
          <p:cNvPr id="80949" name="Text Box 54"/>
          <p:cNvSpPr txBox="1">
            <a:spLocks noChangeArrowheads="1"/>
          </p:cNvSpPr>
          <p:nvPr/>
        </p:nvSpPr>
        <p:spPr bwMode="auto">
          <a:xfrm rot="-5400000">
            <a:off x="4759325" y="2555876"/>
            <a:ext cx="3254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8</a:t>
            </a:r>
          </a:p>
        </p:txBody>
      </p:sp>
      <p:sp>
        <p:nvSpPr>
          <p:cNvPr id="80950" name="Freeform 55"/>
          <p:cNvSpPr>
            <a:spLocks/>
          </p:cNvSpPr>
          <p:nvPr/>
        </p:nvSpPr>
        <p:spPr bwMode="auto">
          <a:xfrm>
            <a:off x="7315200" y="1600200"/>
            <a:ext cx="304800" cy="3048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80951" name="Freeform 56"/>
          <p:cNvSpPr>
            <a:spLocks/>
          </p:cNvSpPr>
          <p:nvPr/>
        </p:nvSpPr>
        <p:spPr bwMode="auto">
          <a:xfrm>
            <a:off x="7620000" y="1905000"/>
            <a:ext cx="304800" cy="3048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80952" name="Text Box 57"/>
          <p:cNvSpPr txBox="1">
            <a:spLocks noChangeArrowheads="1"/>
          </p:cNvSpPr>
          <p:nvPr/>
        </p:nvSpPr>
        <p:spPr bwMode="auto">
          <a:xfrm>
            <a:off x="7391400" y="1066800"/>
            <a:ext cx="61595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input</a:t>
            </a:r>
          </a:p>
        </p:txBody>
      </p:sp>
      <p:sp>
        <p:nvSpPr>
          <p:cNvPr id="80953" name="Line 58"/>
          <p:cNvSpPr>
            <a:spLocks noChangeShapeType="1"/>
          </p:cNvSpPr>
          <p:nvPr/>
        </p:nvSpPr>
        <p:spPr bwMode="auto">
          <a:xfrm>
            <a:off x="7239000" y="19050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54" name="Line 59"/>
          <p:cNvSpPr>
            <a:spLocks noChangeShapeType="1"/>
          </p:cNvSpPr>
          <p:nvPr/>
        </p:nvSpPr>
        <p:spPr bwMode="auto">
          <a:xfrm flipV="1">
            <a:off x="7315200" y="1066800"/>
            <a:ext cx="0" cy="31242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55" name="Freeform 60"/>
          <p:cNvSpPr>
            <a:spLocks/>
          </p:cNvSpPr>
          <p:nvPr/>
        </p:nvSpPr>
        <p:spPr bwMode="auto">
          <a:xfrm>
            <a:off x="7315200" y="2743200"/>
            <a:ext cx="304800" cy="5334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00FF"/>
          </a:solidFill>
          <a:ln w="15875">
            <a:solidFill>
              <a:srgbClr val="000080"/>
            </a:solidFill>
            <a:round/>
            <a:headEnd/>
            <a:tailEnd/>
          </a:ln>
        </p:spPr>
        <p:txBody>
          <a:bodyPr/>
          <a:lstStyle/>
          <a:p>
            <a:endParaRPr lang="en-IN">
              <a:latin typeface="Calibri" pitchFamily="34" charset="0"/>
            </a:endParaRPr>
          </a:p>
        </p:txBody>
      </p:sp>
      <p:sp>
        <p:nvSpPr>
          <p:cNvPr id="80956" name="Freeform 61"/>
          <p:cNvSpPr>
            <a:spLocks/>
          </p:cNvSpPr>
          <p:nvPr/>
        </p:nvSpPr>
        <p:spPr bwMode="auto">
          <a:xfrm>
            <a:off x="7620000" y="3276600"/>
            <a:ext cx="304800" cy="533400"/>
          </a:xfrm>
          <a:custGeom>
            <a:avLst/>
            <a:gdLst>
              <a:gd name="T0" fmla="*/ 2147483647 w 192"/>
              <a:gd name="T1" fmla="*/ 0 h 336"/>
              <a:gd name="T2" fmla="*/ 2147483647 w 192"/>
              <a:gd name="T3" fmla="*/ 2147483647 h 336"/>
              <a:gd name="T4" fmla="*/ 0 w 192"/>
              <a:gd name="T5" fmla="*/ 0 h 336"/>
              <a:gd name="T6" fmla="*/ 2147483647 w 192"/>
              <a:gd name="T7" fmla="*/ 0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192" y="0"/>
                </a:moveTo>
                <a:cubicBezTo>
                  <a:pt x="160" y="168"/>
                  <a:pt x="128" y="336"/>
                  <a:pt x="96" y="336"/>
                </a:cubicBezTo>
                <a:cubicBezTo>
                  <a:pt x="64" y="336"/>
                  <a:pt x="32" y="168"/>
                  <a:pt x="0" y="0"/>
                </a:cubicBezTo>
                <a:cubicBezTo>
                  <a:pt x="0" y="0"/>
                  <a:pt x="192" y="0"/>
                  <a:pt x="192" y="0"/>
                </a:cubicBezTo>
                <a:close/>
              </a:path>
            </a:pathLst>
          </a:custGeom>
          <a:solidFill>
            <a:schemeClr val="bg2"/>
          </a:solidFill>
          <a:ln w="15875">
            <a:solidFill>
              <a:srgbClr val="000080"/>
            </a:solidFill>
            <a:round/>
            <a:headEnd/>
            <a:tailEnd/>
          </a:ln>
        </p:spPr>
        <p:txBody>
          <a:bodyPr/>
          <a:lstStyle/>
          <a:p>
            <a:endParaRPr lang="en-IN">
              <a:latin typeface="Calibri" pitchFamily="34" charset="0"/>
            </a:endParaRPr>
          </a:p>
        </p:txBody>
      </p:sp>
      <p:sp>
        <p:nvSpPr>
          <p:cNvPr id="80957" name="Line 62"/>
          <p:cNvSpPr>
            <a:spLocks noChangeShapeType="1"/>
          </p:cNvSpPr>
          <p:nvPr/>
        </p:nvSpPr>
        <p:spPr bwMode="auto">
          <a:xfrm>
            <a:off x="7239000" y="3276600"/>
            <a:ext cx="1295400"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58" name="Freeform 63"/>
          <p:cNvSpPr>
            <a:spLocks/>
          </p:cNvSpPr>
          <p:nvPr/>
        </p:nvSpPr>
        <p:spPr bwMode="auto">
          <a:xfrm>
            <a:off x="7924800" y="1600200"/>
            <a:ext cx="304800" cy="3048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33CC"/>
          </a:solidFill>
          <a:ln w="15875">
            <a:solidFill>
              <a:srgbClr val="000080"/>
            </a:solidFill>
            <a:round/>
            <a:headEnd/>
            <a:tailEnd/>
          </a:ln>
        </p:spPr>
        <p:txBody>
          <a:bodyPr/>
          <a:lstStyle/>
          <a:p>
            <a:endParaRPr lang="en-IN">
              <a:latin typeface="Calibri" pitchFamily="34" charset="0"/>
            </a:endParaRPr>
          </a:p>
        </p:txBody>
      </p:sp>
      <p:sp>
        <p:nvSpPr>
          <p:cNvPr id="80959" name="Text Box 64"/>
          <p:cNvSpPr txBox="1">
            <a:spLocks noChangeArrowheads="1"/>
          </p:cNvSpPr>
          <p:nvPr/>
        </p:nvSpPr>
        <p:spPr bwMode="auto">
          <a:xfrm>
            <a:off x="8561388" y="3138488"/>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t</a:t>
            </a:r>
            <a:endParaRPr lang="en-US" b="1" baseline="-18000">
              <a:latin typeface="Arial" pitchFamily="34" charset="0"/>
            </a:endParaRPr>
          </a:p>
        </p:txBody>
      </p:sp>
      <p:sp>
        <p:nvSpPr>
          <p:cNvPr id="80960" name="Text Box 65"/>
          <p:cNvSpPr txBox="1">
            <a:spLocks noChangeArrowheads="1"/>
          </p:cNvSpPr>
          <p:nvPr/>
        </p:nvSpPr>
        <p:spPr bwMode="auto">
          <a:xfrm>
            <a:off x="8578850" y="1676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t</a:t>
            </a:r>
            <a:endParaRPr lang="en-US" b="1" baseline="-18000">
              <a:latin typeface="Arial" pitchFamily="34" charset="0"/>
            </a:endParaRPr>
          </a:p>
        </p:txBody>
      </p:sp>
      <p:sp>
        <p:nvSpPr>
          <p:cNvPr id="80961" name="Line 66"/>
          <p:cNvSpPr>
            <a:spLocks noChangeShapeType="1"/>
          </p:cNvSpPr>
          <p:nvPr/>
        </p:nvSpPr>
        <p:spPr bwMode="auto">
          <a:xfrm>
            <a:off x="7620000" y="19050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62" name="Line 67"/>
          <p:cNvSpPr>
            <a:spLocks noChangeShapeType="1"/>
          </p:cNvSpPr>
          <p:nvPr/>
        </p:nvSpPr>
        <p:spPr bwMode="auto">
          <a:xfrm>
            <a:off x="7924800" y="18288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63" name="Line 68"/>
          <p:cNvSpPr>
            <a:spLocks noChangeShapeType="1"/>
          </p:cNvSpPr>
          <p:nvPr/>
        </p:nvSpPr>
        <p:spPr bwMode="auto">
          <a:xfrm>
            <a:off x="8229600" y="1905000"/>
            <a:ext cx="0" cy="1447800"/>
          </a:xfrm>
          <a:prstGeom prst="line">
            <a:avLst/>
          </a:prstGeom>
          <a:noFill/>
          <a:ln w="9525">
            <a:solidFill>
              <a:srgbClr val="FF0000"/>
            </a:solidFill>
            <a:prstDash val="dash"/>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64" name="Text Box 69"/>
          <p:cNvSpPr txBox="1">
            <a:spLocks noChangeArrowheads="1"/>
          </p:cNvSpPr>
          <p:nvPr/>
        </p:nvSpPr>
        <p:spPr bwMode="auto">
          <a:xfrm>
            <a:off x="7080250" y="1843088"/>
            <a:ext cx="311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0</a:t>
            </a:r>
            <a:endParaRPr lang="en-US" b="1" baseline="-18000">
              <a:latin typeface="Arial" pitchFamily="34" charset="0"/>
            </a:endParaRPr>
          </a:p>
        </p:txBody>
      </p:sp>
      <p:sp>
        <p:nvSpPr>
          <p:cNvPr id="80965" name="Text Box 70"/>
          <p:cNvSpPr txBox="1">
            <a:spLocks noChangeArrowheads="1"/>
          </p:cNvSpPr>
          <p:nvPr/>
        </p:nvSpPr>
        <p:spPr bwMode="auto">
          <a:xfrm>
            <a:off x="7086600" y="3200400"/>
            <a:ext cx="311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0</a:t>
            </a:r>
            <a:endParaRPr lang="en-US" b="1" baseline="-18000">
              <a:latin typeface="Arial" pitchFamily="34" charset="0"/>
            </a:endParaRPr>
          </a:p>
        </p:txBody>
      </p:sp>
      <p:sp>
        <p:nvSpPr>
          <p:cNvPr id="80966" name="Text Box 71"/>
          <p:cNvSpPr txBox="1">
            <a:spLocks noChangeArrowheads="1"/>
          </p:cNvSpPr>
          <p:nvPr/>
        </p:nvSpPr>
        <p:spPr bwMode="auto">
          <a:xfrm>
            <a:off x="6877050" y="1219200"/>
            <a:ext cx="438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S</a:t>
            </a:r>
          </a:p>
        </p:txBody>
      </p:sp>
      <p:sp>
        <p:nvSpPr>
          <p:cNvPr id="80967" name="Text Box 72"/>
          <p:cNvSpPr txBox="1">
            <a:spLocks noChangeArrowheads="1"/>
          </p:cNvSpPr>
          <p:nvPr/>
        </p:nvSpPr>
        <p:spPr bwMode="auto">
          <a:xfrm>
            <a:off x="6877050" y="2681288"/>
            <a:ext cx="45561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80968" name="Line 73"/>
          <p:cNvSpPr>
            <a:spLocks noChangeShapeType="1"/>
          </p:cNvSpPr>
          <p:nvPr/>
        </p:nvSpPr>
        <p:spPr bwMode="auto">
          <a:xfrm>
            <a:off x="501650" y="1066800"/>
            <a:ext cx="0" cy="457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69" name="Line 74"/>
          <p:cNvSpPr>
            <a:spLocks noChangeShapeType="1"/>
          </p:cNvSpPr>
          <p:nvPr/>
        </p:nvSpPr>
        <p:spPr bwMode="auto">
          <a:xfrm flipH="1">
            <a:off x="196850" y="1524000"/>
            <a:ext cx="609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0" name="Line 75"/>
          <p:cNvSpPr>
            <a:spLocks noChangeShapeType="1"/>
          </p:cNvSpPr>
          <p:nvPr/>
        </p:nvSpPr>
        <p:spPr bwMode="auto">
          <a:xfrm flipH="1">
            <a:off x="273050" y="1600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1" name="Line 76"/>
          <p:cNvSpPr>
            <a:spLocks noChangeShapeType="1"/>
          </p:cNvSpPr>
          <p:nvPr/>
        </p:nvSpPr>
        <p:spPr bwMode="auto">
          <a:xfrm flipH="1">
            <a:off x="349250" y="16764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2" name="Line 77"/>
          <p:cNvSpPr>
            <a:spLocks noChangeShapeType="1"/>
          </p:cNvSpPr>
          <p:nvPr/>
        </p:nvSpPr>
        <p:spPr bwMode="auto">
          <a:xfrm flipH="1">
            <a:off x="425450" y="17526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3" name="Oval 78"/>
          <p:cNvSpPr>
            <a:spLocks noChangeArrowheads="1"/>
          </p:cNvSpPr>
          <p:nvPr/>
        </p:nvSpPr>
        <p:spPr bwMode="auto">
          <a:xfrm>
            <a:off x="425450" y="99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0974" name="Line 79"/>
          <p:cNvSpPr>
            <a:spLocks noChangeShapeType="1"/>
          </p:cNvSpPr>
          <p:nvPr/>
        </p:nvSpPr>
        <p:spPr bwMode="auto">
          <a:xfrm>
            <a:off x="3048000" y="1676400"/>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5" name="Oval 80"/>
          <p:cNvSpPr>
            <a:spLocks noChangeArrowheads="1"/>
          </p:cNvSpPr>
          <p:nvPr/>
        </p:nvSpPr>
        <p:spPr bwMode="auto">
          <a:xfrm>
            <a:off x="2971800" y="914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0976" name="Line 81"/>
          <p:cNvSpPr>
            <a:spLocks noChangeShapeType="1"/>
          </p:cNvSpPr>
          <p:nvPr/>
        </p:nvSpPr>
        <p:spPr bwMode="auto">
          <a:xfrm>
            <a:off x="2133600" y="9906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0977" name="Text Box 82"/>
          <p:cNvSpPr txBox="1">
            <a:spLocks noChangeArrowheads="1"/>
          </p:cNvSpPr>
          <p:nvPr/>
        </p:nvSpPr>
        <p:spPr bwMode="auto">
          <a:xfrm>
            <a:off x="2773363" y="2209800"/>
            <a:ext cx="5794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a:t>
            </a:r>
            <a:r>
              <a:rPr lang="en-US" sz="1400" b="1" baseline="-18000">
                <a:latin typeface="Arial" pitchFamily="34" charset="0"/>
              </a:rPr>
              <a:t>1 </a:t>
            </a:r>
            <a:r>
              <a:rPr lang="en-US" sz="1400" b="1">
                <a:latin typeface="Arial" pitchFamily="34" charset="0"/>
              </a:rPr>
              <a:t>= 0</a:t>
            </a:r>
          </a:p>
        </p:txBody>
      </p:sp>
      <p:sp>
        <p:nvSpPr>
          <p:cNvPr id="80978" name="Line 83"/>
          <p:cNvSpPr>
            <a:spLocks noChangeShapeType="1"/>
          </p:cNvSpPr>
          <p:nvPr/>
        </p:nvSpPr>
        <p:spPr bwMode="auto">
          <a:xfrm>
            <a:off x="2895600" y="2514600"/>
            <a:ext cx="457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79" name="Line 84"/>
          <p:cNvSpPr>
            <a:spLocks noChangeShapeType="1"/>
          </p:cNvSpPr>
          <p:nvPr/>
        </p:nvSpPr>
        <p:spPr bwMode="auto">
          <a:xfrm>
            <a:off x="2895600" y="1219200"/>
            <a:ext cx="0" cy="4572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80" name="Line 85"/>
          <p:cNvSpPr>
            <a:spLocks noChangeShapeType="1"/>
          </p:cNvSpPr>
          <p:nvPr/>
        </p:nvSpPr>
        <p:spPr bwMode="auto">
          <a:xfrm flipV="1">
            <a:off x="2895600" y="2590800"/>
            <a:ext cx="0" cy="4572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0981" name="Freeform 86"/>
          <p:cNvSpPr>
            <a:spLocks/>
          </p:cNvSpPr>
          <p:nvPr/>
        </p:nvSpPr>
        <p:spPr bwMode="auto">
          <a:xfrm>
            <a:off x="7924800" y="2743200"/>
            <a:ext cx="304800" cy="533400"/>
          </a:xfrm>
          <a:custGeom>
            <a:avLst/>
            <a:gdLst>
              <a:gd name="T0" fmla="*/ 0 w 192"/>
              <a:gd name="T1" fmla="*/ 2147483647 h 336"/>
              <a:gd name="T2" fmla="*/ 2147483647 w 192"/>
              <a:gd name="T3" fmla="*/ 0 h 336"/>
              <a:gd name="T4" fmla="*/ 2147483647 w 192"/>
              <a:gd name="T5" fmla="*/ 2147483647 h 336"/>
              <a:gd name="T6" fmla="*/ 0 w 192"/>
              <a:gd name="T7" fmla="*/ 2147483647 h 336"/>
              <a:gd name="T8" fmla="*/ 0 60000 65536"/>
              <a:gd name="T9" fmla="*/ 0 60000 65536"/>
              <a:gd name="T10" fmla="*/ 0 60000 65536"/>
              <a:gd name="T11" fmla="*/ 0 60000 65536"/>
              <a:gd name="T12" fmla="*/ 0 w 192"/>
              <a:gd name="T13" fmla="*/ 0 h 336"/>
              <a:gd name="T14" fmla="*/ 192 w 192"/>
              <a:gd name="T15" fmla="*/ 336 h 336"/>
            </a:gdLst>
            <a:ahLst/>
            <a:cxnLst>
              <a:cxn ang="T8">
                <a:pos x="T0" y="T1"/>
              </a:cxn>
              <a:cxn ang="T9">
                <a:pos x="T2" y="T3"/>
              </a:cxn>
              <a:cxn ang="T10">
                <a:pos x="T4" y="T5"/>
              </a:cxn>
              <a:cxn ang="T11">
                <a:pos x="T6" y="T7"/>
              </a:cxn>
            </a:cxnLst>
            <a:rect l="T12" t="T13" r="T14" b="T15"/>
            <a:pathLst>
              <a:path w="192" h="336">
                <a:moveTo>
                  <a:pt x="0" y="336"/>
                </a:moveTo>
                <a:cubicBezTo>
                  <a:pt x="32" y="168"/>
                  <a:pt x="64" y="0"/>
                  <a:pt x="96" y="0"/>
                </a:cubicBezTo>
                <a:cubicBezTo>
                  <a:pt x="128" y="0"/>
                  <a:pt x="160" y="168"/>
                  <a:pt x="192" y="336"/>
                </a:cubicBezTo>
                <a:cubicBezTo>
                  <a:pt x="192" y="336"/>
                  <a:pt x="0" y="336"/>
                  <a:pt x="0" y="336"/>
                </a:cubicBezTo>
                <a:close/>
              </a:path>
            </a:pathLst>
          </a:custGeom>
          <a:solidFill>
            <a:srgbClr val="FF00FF"/>
          </a:solidFill>
          <a:ln w="15875">
            <a:solidFill>
              <a:srgbClr val="000080"/>
            </a:solidFill>
            <a:round/>
            <a:headEnd/>
            <a:tailEnd/>
          </a:ln>
        </p:spPr>
        <p:txBody>
          <a:bodyPr/>
          <a:lstStyle/>
          <a:p>
            <a:endParaRPr lang="en-IN">
              <a:latin typeface="Calibri" pitchFamily="34" charset="0"/>
            </a:endParaRPr>
          </a:p>
        </p:txBody>
      </p:sp>
      <p:sp>
        <p:nvSpPr>
          <p:cNvPr id="80982" name="Text Box 87"/>
          <p:cNvSpPr txBox="1">
            <a:spLocks noChangeArrowheads="1"/>
          </p:cNvSpPr>
          <p:nvPr/>
        </p:nvSpPr>
        <p:spPr bwMode="auto">
          <a:xfrm>
            <a:off x="44450" y="4208463"/>
            <a:ext cx="8947150" cy="1384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800">
                <a:cs typeface="Times New Roman" pitchFamily="18" charset="0"/>
              </a:rPr>
              <a:t>As input impedance of ideal Op-amp is infinite, the current entering into both the input terminals of </a:t>
            </a:r>
          </a:p>
          <a:p>
            <a:pPr algn="just"/>
            <a:r>
              <a:rPr lang="en-US" sz="2800">
                <a:cs typeface="Times New Roman" pitchFamily="18" charset="0"/>
              </a:rPr>
              <a:t>Op-amp will have zero values. (I</a:t>
            </a:r>
            <a:r>
              <a:rPr lang="en-US" sz="2800" baseline="-18000">
                <a:cs typeface="Times New Roman" pitchFamily="18" charset="0"/>
              </a:rPr>
              <a:t>1</a:t>
            </a:r>
            <a:r>
              <a:rPr lang="en-US" sz="2800">
                <a:cs typeface="Times New Roman" pitchFamily="18" charset="0"/>
              </a:rPr>
              <a:t> = I</a:t>
            </a:r>
            <a:r>
              <a:rPr lang="en-US" sz="2800" baseline="-18000">
                <a:cs typeface="Times New Roman" pitchFamily="18" charset="0"/>
              </a:rPr>
              <a:t>2</a:t>
            </a:r>
            <a:r>
              <a:rPr lang="en-US" sz="2800">
                <a:cs typeface="Times New Roman" pitchFamily="18" charset="0"/>
              </a:rPr>
              <a:t> = 0 )</a:t>
            </a:r>
          </a:p>
        </p:txBody>
      </p:sp>
      <p:sp>
        <p:nvSpPr>
          <p:cNvPr id="89" name="Rectangle 2"/>
          <p:cNvSpPr txBox="1">
            <a:spLocks noChangeArrowheads="1"/>
          </p:cNvSpPr>
          <p:nvPr/>
        </p:nvSpPr>
        <p:spPr bwMode="auto">
          <a:xfrm>
            <a:off x="1828800" y="76200"/>
            <a:ext cx="5181600" cy="685800"/>
          </a:xfrm>
          <a:prstGeom prst="rect">
            <a:avLst/>
          </a:prstGeom>
          <a:noFill/>
          <a:ln w="9525">
            <a:noFill/>
            <a:miter lim="800000"/>
            <a:headEnd/>
            <a:tailEnd/>
          </a:ln>
        </p:spPr>
        <p:txBody>
          <a:bodyPr/>
          <a:lstStyle/>
          <a:p>
            <a:pPr marL="609600" indent="-609600" fontAlgn="auto">
              <a:spcBef>
                <a:spcPts val="0"/>
              </a:spcBef>
              <a:spcAft>
                <a:spcPts val="0"/>
              </a:spcAft>
              <a:defRPr/>
            </a:pPr>
            <a:r>
              <a:rPr lang="en-US" sz="3200" b="1" kern="0" dirty="0">
                <a:solidFill>
                  <a:srgbClr val="000099"/>
                </a:solidFill>
                <a:latin typeface="+mj-lt"/>
                <a:cs typeface="Times New Roman" pitchFamily="18" charset="0"/>
              </a:rPr>
              <a:t>The Non-Inverting Amplifier </a:t>
            </a:r>
          </a:p>
        </p:txBody>
      </p:sp>
      <p:sp>
        <p:nvSpPr>
          <p:cNvPr id="3" name="Slide Number Placeholder 2"/>
          <p:cNvSpPr>
            <a:spLocks noGrp="1"/>
          </p:cNvSpPr>
          <p:nvPr>
            <p:ph type="sldNum" sz="quarter" idx="12"/>
          </p:nvPr>
        </p:nvSpPr>
        <p:spPr/>
        <p:txBody>
          <a:bodyPr/>
          <a:lstStyle/>
          <a:p>
            <a:pPr>
              <a:defRPr/>
            </a:pPr>
            <a:fld id="{FFF49D57-90DB-488C-9F90-B03997FF640B}" type="slidenum">
              <a:rPr lang="en-US"/>
              <a:pPr>
                <a:defRPr/>
              </a:pPr>
              <a:t>51</a:t>
            </a:fld>
            <a:endParaRPr lang="en-US"/>
          </a:p>
        </p:txBody>
      </p:sp>
    </p:spTree>
    <p:extLst>
      <p:ext uri="{BB962C8B-B14F-4D97-AF65-F5344CB8AC3E}">
        <p14:creationId xmlns:p14="http://schemas.microsoft.com/office/powerpoint/2010/main" xmlns="" val="543651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sz="quarter" idx="1"/>
          </p:nvPr>
        </p:nvSpPr>
        <p:spPr>
          <a:xfrm>
            <a:off x="1066800" y="76200"/>
            <a:ext cx="7086600" cy="685800"/>
          </a:xfrm>
        </p:spPr>
        <p:txBody>
          <a:bodyPr rtlCol="0">
            <a:normAutofit/>
          </a:bodyPr>
          <a:lstStyle/>
          <a:p>
            <a:pPr marL="609600" indent="-609600" fontAlgn="auto">
              <a:spcAft>
                <a:spcPts val="0"/>
              </a:spcAft>
              <a:buFontTx/>
              <a:buNone/>
              <a:defRPr/>
            </a:pPr>
            <a:r>
              <a:rPr lang="en-US" b="1" dirty="0">
                <a:solidFill>
                  <a:srgbClr val="0000FF"/>
                </a:solidFill>
                <a:latin typeface="+mj-lt"/>
                <a:cs typeface="Times New Roman" pitchFamily="18" charset="0"/>
              </a:rPr>
              <a:t>The Voltage follower (unity gain buffer)</a:t>
            </a:r>
          </a:p>
        </p:txBody>
      </p:sp>
      <p:sp>
        <p:nvSpPr>
          <p:cNvPr id="81923" name="Rectangle 3"/>
          <p:cNvSpPr>
            <a:spLocks noChangeArrowheads="1"/>
          </p:cNvSpPr>
          <p:nvPr/>
        </p:nvSpPr>
        <p:spPr bwMode="auto">
          <a:xfrm>
            <a:off x="0" y="685800"/>
            <a:ext cx="9144000" cy="3505200"/>
          </a:xfrm>
          <a:prstGeom prst="rect">
            <a:avLst/>
          </a:prstGeom>
          <a:noFill/>
          <a:ln w="9525" algn="ctr">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342900" indent="-342900" algn="ctr"/>
            <a:endParaRPr lang="en-US"/>
          </a:p>
        </p:txBody>
      </p:sp>
      <p:sp>
        <p:nvSpPr>
          <p:cNvPr id="81924" name="Line 4"/>
          <p:cNvSpPr>
            <a:spLocks noChangeShapeType="1"/>
          </p:cNvSpPr>
          <p:nvPr/>
        </p:nvSpPr>
        <p:spPr bwMode="auto">
          <a:xfrm>
            <a:off x="3048000" y="2652713"/>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25" name="Line 5"/>
          <p:cNvSpPr>
            <a:spLocks noChangeShapeType="1"/>
          </p:cNvSpPr>
          <p:nvPr/>
        </p:nvSpPr>
        <p:spPr bwMode="auto">
          <a:xfrm>
            <a:off x="5083175" y="2195513"/>
            <a:ext cx="10890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26" name="Line 6"/>
          <p:cNvSpPr>
            <a:spLocks noChangeShapeType="1"/>
          </p:cNvSpPr>
          <p:nvPr/>
        </p:nvSpPr>
        <p:spPr bwMode="auto">
          <a:xfrm>
            <a:off x="5638800" y="914400"/>
            <a:ext cx="0" cy="12954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27" name="AutoShape 7"/>
          <p:cNvSpPr>
            <a:spLocks noChangeArrowheads="1"/>
          </p:cNvSpPr>
          <p:nvPr/>
        </p:nvSpPr>
        <p:spPr bwMode="auto">
          <a:xfrm rot="5400000">
            <a:off x="3673475" y="1547813"/>
            <a:ext cx="1519238" cy="1300162"/>
          </a:xfrm>
          <a:prstGeom prst="triangle">
            <a:avLst>
              <a:gd name="adj" fmla="val 50000"/>
            </a:avLst>
          </a:prstGeom>
          <a:solidFill>
            <a:schemeClr val="accent1"/>
          </a:solidFill>
          <a:ln w="9525">
            <a:solidFill>
              <a:schemeClr val="tx1"/>
            </a:solidFill>
            <a:miter lim="800000"/>
            <a:headEnd/>
            <a:tailEnd/>
          </a:ln>
        </p:spPr>
        <p:txBody>
          <a:bodyPr rot="10800000" vert="eaVert" wrap="none" anchor="ctr"/>
          <a:lstStyle/>
          <a:p>
            <a:pPr algn="ctr"/>
            <a:r>
              <a:rPr lang="en-US" b="1"/>
              <a:t>    OP-AMP</a:t>
            </a:r>
          </a:p>
        </p:txBody>
      </p:sp>
      <p:sp>
        <p:nvSpPr>
          <p:cNvPr id="81928" name="Text Box 8"/>
          <p:cNvSpPr txBox="1">
            <a:spLocks noChangeArrowheads="1"/>
          </p:cNvSpPr>
          <p:nvPr/>
        </p:nvSpPr>
        <p:spPr bwMode="auto">
          <a:xfrm>
            <a:off x="3810000" y="15097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29" name="Text Box 9"/>
          <p:cNvSpPr txBox="1">
            <a:spLocks noChangeArrowheads="1"/>
          </p:cNvSpPr>
          <p:nvPr/>
        </p:nvSpPr>
        <p:spPr bwMode="auto">
          <a:xfrm>
            <a:off x="3787775" y="2514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30" name="Text Box 10"/>
          <p:cNvSpPr txBox="1">
            <a:spLocks noChangeArrowheads="1"/>
          </p:cNvSpPr>
          <p:nvPr/>
        </p:nvSpPr>
        <p:spPr bwMode="auto">
          <a:xfrm>
            <a:off x="2286000" y="3062288"/>
            <a:ext cx="4381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S</a:t>
            </a:r>
          </a:p>
        </p:txBody>
      </p:sp>
      <p:sp>
        <p:nvSpPr>
          <p:cNvPr id="81931" name="Oval 11"/>
          <p:cNvSpPr>
            <a:spLocks noChangeArrowheads="1"/>
          </p:cNvSpPr>
          <p:nvPr/>
        </p:nvSpPr>
        <p:spPr bwMode="auto">
          <a:xfrm>
            <a:off x="2971800" y="2576513"/>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1932" name="Oval 12"/>
          <p:cNvSpPr>
            <a:spLocks noChangeArrowheads="1"/>
          </p:cNvSpPr>
          <p:nvPr/>
        </p:nvSpPr>
        <p:spPr bwMode="auto">
          <a:xfrm>
            <a:off x="6172200" y="2119313"/>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1933" name="Text Box 13"/>
          <p:cNvSpPr txBox="1">
            <a:spLocks noChangeArrowheads="1"/>
          </p:cNvSpPr>
          <p:nvPr/>
        </p:nvSpPr>
        <p:spPr bwMode="auto">
          <a:xfrm>
            <a:off x="3429000" y="2576513"/>
            <a:ext cx="4206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1</a:t>
            </a:r>
          </a:p>
        </p:txBody>
      </p:sp>
      <p:sp>
        <p:nvSpPr>
          <p:cNvPr id="81934" name="Line 14"/>
          <p:cNvSpPr>
            <a:spLocks noChangeShapeType="1"/>
          </p:cNvSpPr>
          <p:nvPr/>
        </p:nvSpPr>
        <p:spPr bwMode="auto">
          <a:xfrm>
            <a:off x="3048000" y="990600"/>
            <a:ext cx="0" cy="685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35" name="Line 15"/>
          <p:cNvSpPr>
            <a:spLocks noChangeShapeType="1"/>
          </p:cNvSpPr>
          <p:nvPr/>
        </p:nvSpPr>
        <p:spPr bwMode="auto">
          <a:xfrm>
            <a:off x="39624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36" name="Line 16"/>
          <p:cNvSpPr>
            <a:spLocks noChangeShapeType="1"/>
          </p:cNvSpPr>
          <p:nvPr/>
        </p:nvSpPr>
        <p:spPr bwMode="auto">
          <a:xfrm>
            <a:off x="41910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37" name="Line 17"/>
          <p:cNvSpPr>
            <a:spLocks noChangeShapeType="1"/>
          </p:cNvSpPr>
          <p:nvPr/>
        </p:nvSpPr>
        <p:spPr bwMode="auto">
          <a:xfrm>
            <a:off x="4419600" y="838200"/>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38" name="Line 18"/>
          <p:cNvSpPr>
            <a:spLocks noChangeShapeType="1"/>
          </p:cNvSpPr>
          <p:nvPr/>
        </p:nvSpPr>
        <p:spPr bwMode="auto">
          <a:xfrm flipV="1">
            <a:off x="4343400" y="838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39" name="Line 19"/>
          <p:cNvSpPr>
            <a:spLocks noChangeShapeType="1"/>
          </p:cNvSpPr>
          <p:nvPr/>
        </p:nvSpPr>
        <p:spPr bwMode="auto">
          <a:xfrm flipV="1">
            <a:off x="4114800" y="838200"/>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0" name="Line 20"/>
          <p:cNvSpPr>
            <a:spLocks noChangeShapeType="1"/>
          </p:cNvSpPr>
          <p:nvPr/>
        </p:nvSpPr>
        <p:spPr bwMode="auto">
          <a:xfrm flipV="1">
            <a:off x="3886200" y="8382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1" name="Line 21"/>
          <p:cNvSpPr>
            <a:spLocks noChangeShapeType="1"/>
          </p:cNvSpPr>
          <p:nvPr/>
        </p:nvSpPr>
        <p:spPr bwMode="auto">
          <a:xfrm flipV="1">
            <a:off x="4572000" y="914400"/>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2" name="Text Box 22"/>
          <p:cNvSpPr txBox="1">
            <a:spLocks noChangeArrowheads="1"/>
          </p:cNvSpPr>
          <p:nvPr/>
        </p:nvSpPr>
        <p:spPr bwMode="auto">
          <a:xfrm>
            <a:off x="4102100" y="990600"/>
            <a:ext cx="87471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R</a:t>
            </a:r>
            <a:r>
              <a:rPr lang="en-US" baseline="-25000">
                <a:latin typeface="Arial" pitchFamily="34" charset="0"/>
              </a:rPr>
              <a:t>F </a:t>
            </a:r>
            <a:r>
              <a:rPr lang="en-US">
                <a:latin typeface="Arial" pitchFamily="34" charset="0"/>
              </a:rPr>
              <a:t>= 0</a:t>
            </a:r>
          </a:p>
        </p:txBody>
      </p:sp>
      <p:sp>
        <p:nvSpPr>
          <p:cNvPr id="81943" name="Line 23"/>
          <p:cNvSpPr>
            <a:spLocks noChangeShapeType="1"/>
          </p:cNvSpPr>
          <p:nvPr/>
        </p:nvSpPr>
        <p:spPr bwMode="auto">
          <a:xfrm>
            <a:off x="4648200" y="914400"/>
            <a:ext cx="990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4" name="Line 24"/>
          <p:cNvSpPr>
            <a:spLocks noChangeShapeType="1"/>
          </p:cNvSpPr>
          <p:nvPr/>
        </p:nvSpPr>
        <p:spPr bwMode="auto">
          <a:xfrm>
            <a:off x="3048000" y="9906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5" name="Text Box 25"/>
          <p:cNvSpPr txBox="1">
            <a:spLocks noChangeArrowheads="1"/>
          </p:cNvSpPr>
          <p:nvPr/>
        </p:nvSpPr>
        <p:spPr bwMode="auto">
          <a:xfrm>
            <a:off x="6096000" y="2286000"/>
            <a:ext cx="430213"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o</a:t>
            </a:r>
          </a:p>
        </p:txBody>
      </p:sp>
      <p:sp>
        <p:nvSpPr>
          <p:cNvPr id="81946" name="Line 26"/>
          <p:cNvSpPr>
            <a:spLocks noChangeShapeType="1"/>
          </p:cNvSpPr>
          <p:nvPr/>
        </p:nvSpPr>
        <p:spPr bwMode="auto">
          <a:xfrm>
            <a:off x="14160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7" name="Line 27"/>
          <p:cNvSpPr>
            <a:spLocks noChangeShapeType="1"/>
          </p:cNvSpPr>
          <p:nvPr/>
        </p:nvSpPr>
        <p:spPr bwMode="auto">
          <a:xfrm>
            <a:off x="16446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8" name="Line 28"/>
          <p:cNvSpPr>
            <a:spLocks noChangeShapeType="1"/>
          </p:cNvSpPr>
          <p:nvPr/>
        </p:nvSpPr>
        <p:spPr bwMode="auto">
          <a:xfrm>
            <a:off x="1873250" y="900113"/>
            <a:ext cx="1524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49" name="Line 29"/>
          <p:cNvSpPr>
            <a:spLocks noChangeShapeType="1"/>
          </p:cNvSpPr>
          <p:nvPr/>
        </p:nvSpPr>
        <p:spPr bwMode="auto">
          <a:xfrm flipV="1">
            <a:off x="1797050" y="900113"/>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0" name="Line 30"/>
          <p:cNvSpPr>
            <a:spLocks noChangeShapeType="1"/>
          </p:cNvSpPr>
          <p:nvPr/>
        </p:nvSpPr>
        <p:spPr bwMode="auto">
          <a:xfrm flipV="1">
            <a:off x="1568450" y="900113"/>
            <a:ext cx="76200" cy="2286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1" name="Line 31"/>
          <p:cNvSpPr>
            <a:spLocks noChangeShapeType="1"/>
          </p:cNvSpPr>
          <p:nvPr/>
        </p:nvSpPr>
        <p:spPr bwMode="auto">
          <a:xfrm flipV="1">
            <a:off x="1339850" y="900113"/>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2" name="Line 32"/>
          <p:cNvSpPr>
            <a:spLocks noChangeShapeType="1"/>
          </p:cNvSpPr>
          <p:nvPr/>
        </p:nvSpPr>
        <p:spPr bwMode="auto">
          <a:xfrm flipV="1">
            <a:off x="2025650" y="976313"/>
            <a:ext cx="76200" cy="152400"/>
          </a:xfrm>
          <a:prstGeom prst="line">
            <a:avLst/>
          </a:prstGeom>
          <a:noFill/>
          <a:ln w="2857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3" name="Line 34"/>
          <p:cNvSpPr>
            <a:spLocks noChangeShapeType="1"/>
          </p:cNvSpPr>
          <p:nvPr/>
        </p:nvSpPr>
        <p:spPr bwMode="auto">
          <a:xfrm>
            <a:off x="501650" y="1052513"/>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4" name="Oval 35"/>
          <p:cNvSpPr>
            <a:spLocks noChangeArrowheads="1"/>
          </p:cNvSpPr>
          <p:nvPr/>
        </p:nvSpPr>
        <p:spPr bwMode="auto">
          <a:xfrm>
            <a:off x="2743200" y="3109913"/>
            <a:ext cx="609600" cy="609600"/>
          </a:xfrm>
          <a:prstGeom prst="ellipse">
            <a:avLst/>
          </a:prstGeom>
          <a:solidFill>
            <a:srgbClr val="FF99CC"/>
          </a:solidFill>
          <a:ln w="9525">
            <a:solidFill>
              <a:schemeClr val="tx1"/>
            </a:solidFill>
            <a:round/>
            <a:headEnd/>
            <a:tailEnd/>
          </a:ln>
        </p:spPr>
        <p:txBody>
          <a:bodyPr wrap="none" anchor="ctr"/>
          <a:lstStyle/>
          <a:p>
            <a:pPr algn="ctr"/>
            <a:endParaRPr lang="en-US"/>
          </a:p>
        </p:txBody>
      </p:sp>
      <p:sp>
        <p:nvSpPr>
          <p:cNvPr id="81955" name="Line 36"/>
          <p:cNvSpPr>
            <a:spLocks noChangeShapeType="1"/>
          </p:cNvSpPr>
          <p:nvPr/>
        </p:nvSpPr>
        <p:spPr bwMode="auto">
          <a:xfrm flipV="1">
            <a:off x="3048000" y="3719513"/>
            <a:ext cx="0" cy="3048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6" name="Line 37"/>
          <p:cNvSpPr>
            <a:spLocks noChangeShapeType="1"/>
          </p:cNvSpPr>
          <p:nvPr/>
        </p:nvSpPr>
        <p:spPr bwMode="auto">
          <a:xfrm flipV="1">
            <a:off x="3048000" y="2743200"/>
            <a:ext cx="0" cy="3810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7" name="Line 38"/>
          <p:cNvSpPr>
            <a:spLocks noChangeShapeType="1"/>
          </p:cNvSpPr>
          <p:nvPr/>
        </p:nvSpPr>
        <p:spPr bwMode="auto">
          <a:xfrm>
            <a:off x="2819400" y="40243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8" name="Line 39"/>
          <p:cNvSpPr>
            <a:spLocks noChangeShapeType="1"/>
          </p:cNvSpPr>
          <p:nvPr/>
        </p:nvSpPr>
        <p:spPr bwMode="auto">
          <a:xfrm>
            <a:off x="2895600" y="4100513"/>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59" name="Line 40"/>
          <p:cNvSpPr>
            <a:spLocks noChangeShapeType="1"/>
          </p:cNvSpPr>
          <p:nvPr/>
        </p:nvSpPr>
        <p:spPr bwMode="auto">
          <a:xfrm>
            <a:off x="2971800" y="4176713"/>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60" name="Text Box 41"/>
          <p:cNvSpPr txBox="1">
            <a:spLocks noChangeArrowheads="1"/>
          </p:cNvSpPr>
          <p:nvPr/>
        </p:nvSpPr>
        <p:spPr bwMode="auto">
          <a:xfrm>
            <a:off x="2971800" y="27432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81961" name="Text Box 42"/>
          <p:cNvSpPr txBox="1">
            <a:spLocks noChangeArrowheads="1"/>
          </p:cNvSpPr>
          <p:nvPr/>
        </p:nvSpPr>
        <p:spPr bwMode="auto">
          <a:xfrm>
            <a:off x="3016250" y="3567113"/>
            <a:ext cx="2603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atin typeface="Arial" pitchFamily="34" charset="0"/>
              </a:rPr>
              <a:t>-</a:t>
            </a:r>
          </a:p>
        </p:txBody>
      </p:sp>
      <p:sp>
        <p:nvSpPr>
          <p:cNvPr id="81962" name="Freeform 43"/>
          <p:cNvSpPr>
            <a:spLocks/>
          </p:cNvSpPr>
          <p:nvPr/>
        </p:nvSpPr>
        <p:spPr bwMode="auto">
          <a:xfrm>
            <a:off x="2895600" y="31861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81963" name="Freeform 44"/>
          <p:cNvSpPr>
            <a:spLocks/>
          </p:cNvSpPr>
          <p:nvPr/>
        </p:nvSpPr>
        <p:spPr bwMode="auto">
          <a:xfrm rot="10800000">
            <a:off x="3048000" y="3414713"/>
            <a:ext cx="152400" cy="228600"/>
          </a:xfrm>
          <a:custGeom>
            <a:avLst/>
            <a:gdLst>
              <a:gd name="T0" fmla="*/ 0 w 96"/>
              <a:gd name="T1" fmla="*/ 2147483647 h 192"/>
              <a:gd name="T2" fmla="*/ 2147483647 w 96"/>
              <a:gd name="T3" fmla="*/ 0 h 192"/>
              <a:gd name="T4" fmla="*/ 2147483647 w 96"/>
              <a:gd name="T5" fmla="*/ 2147483647 h 192"/>
              <a:gd name="T6" fmla="*/ 0 60000 65536"/>
              <a:gd name="T7" fmla="*/ 0 60000 65536"/>
              <a:gd name="T8" fmla="*/ 0 60000 65536"/>
              <a:gd name="T9" fmla="*/ 0 w 96"/>
              <a:gd name="T10" fmla="*/ 0 h 192"/>
              <a:gd name="T11" fmla="*/ 96 w 96"/>
              <a:gd name="T12" fmla="*/ 192 h 192"/>
            </a:gdLst>
            <a:ahLst/>
            <a:cxnLst>
              <a:cxn ang="T6">
                <a:pos x="T0" y="T1"/>
              </a:cxn>
              <a:cxn ang="T7">
                <a:pos x="T2" y="T3"/>
              </a:cxn>
              <a:cxn ang="T8">
                <a:pos x="T4" y="T5"/>
              </a:cxn>
            </a:cxnLst>
            <a:rect l="T9" t="T10" r="T11" b="T12"/>
            <a:pathLst>
              <a:path w="96" h="192">
                <a:moveTo>
                  <a:pt x="0" y="192"/>
                </a:moveTo>
                <a:cubicBezTo>
                  <a:pt x="16" y="96"/>
                  <a:pt x="32" y="0"/>
                  <a:pt x="48" y="0"/>
                </a:cubicBezTo>
                <a:cubicBezTo>
                  <a:pt x="64" y="0"/>
                  <a:pt x="80" y="96"/>
                  <a:pt x="96" y="192"/>
                </a:cubicBezTo>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en-IN">
              <a:latin typeface="Calibri" pitchFamily="34" charset="0"/>
            </a:endParaRPr>
          </a:p>
        </p:txBody>
      </p:sp>
      <p:sp>
        <p:nvSpPr>
          <p:cNvPr id="81964" name="Line 45"/>
          <p:cNvSpPr>
            <a:spLocks noChangeShapeType="1"/>
          </p:cNvSpPr>
          <p:nvPr/>
        </p:nvSpPr>
        <p:spPr bwMode="auto">
          <a:xfrm>
            <a:off x="2819400" y="3414713"/>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65" name="Text Box 46"/>
          <p:cNvSpPr txBox="1">
            <a:spLocks noChangeArrowheads="1"/>
          </p:cNvSpPr>
          <p:nvPr/>
        </p:nvSpPr>
        <p:spPr bwMode="auto">
          <a:xfrm>
            <a:off x="3352800" y="1295400"/>
            <a:ext cx="420688"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V</a:t>
            </a:r>
            <a:r>
              <a:rPr lang="en-US" b="1" baseline="-18000">
                <a:latin typeface="Arial" pitchFamily="34" charset="0"/>
              </a:rPr>
              <a:t>2</a:t>
            </a:r>
          </a:p>
        </p:txBody>
      </p:sp>
      <p:sp>
        <p:nvSpPr>
          <p:cNvPr id="81966" name="Line 47"/>
          <p:cNvSpPr>
            <a:spLocks noChangeShapeType="1"/>
          </p:cNvSpPr>
          <p:nvPr/>
        </p:nvSpPr>
        <p:spPr bwMode="auto">
          <a:xfrm>
            <a:off x="2895600" y="1738313"/>
            <a:ext cx="457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1967" name="Text Box 48"/>
          <p:cNvSpPr txBox="1">
            <a:spLocks noChangeArrowheads="1"/>
          </p:cNvSpPr>
          <p:nvPr/>
        </p:nvSpPr>
        <p:spPr bwMode="auto">
          <a:xfrm>
            <a:off x="2773363" y="1752600"/>
            <a:ext cx="5794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a:t>
            </a:r>
            <a:r>
              <a:rPr lang="en-US" sz="1400" b="1" baseline="-18000">
                <a:latin typeface="Arial" pitchFamily="34" charset="0"/>
              </a:rPr>
              <a:t>2 </a:t>
            </a:r>
            <a:r>
              <a:rPr lang="en-US" sz="1400" b="1">
                <a:latin typeface="Arial" pitchFamily="34" charset="0"/>
              </a:rPr>
              <a:t>= 0</a:t>
            </a:r>
          </a:p>
        </p:txBody>
      </p:sp>
      <p:sp>
        <p:nvSpPr>
          <p:cNvPr id="81968" name="Text Box 49"/>
          <p:cNvSpPr txBox="1">
            <a:spLocks noChangeArrowheads="1"/>
          </p:cNvSpPr>
          <p:nvPr/>
        </p:nvSpPr>
        <p:spPr bwMode="auto">
          <a:xfrm>
            <a:off x="3644900" y="9144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69" name="Text Box 50"/>
          <p:cNvSpPr txBox="1">
            <a:spLocks noChangeArrowheads="1"/>
          </p:cNvSpPr>
          <p:nvPr/>
        </p:nvSpPr>
        <p:spPr bwMode="auto">
          <a:xfrm>
            <a:off x="4616450" y="8382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70" name="Text Box 51"/>
          <p:cNvSpPr txBox="1">
            <a:spLocks noChangeArrowheads="1"/>
          </p:cNvSpPr>
          <p:nvPr/>
        </p:nvSpPr>
        <p:spPr bwMode="auto">
          <a:xfrm>
            <a:off x="2101850" y="914400"/>
            <a:ext cx="260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71" name="Text Box 52"/>
          <p:cNvSpPr txBox="1">
            <a:spLocks noChangeArrowheads="1"/>
          </p:cNvSpPr>
          <p:nvPr/>
        </p:nvSpPr>
        <p:spPr bwMode="auto">
          <a:xfrm>
            <a:off x="1098550" y="990600"/>
            <a:ext cx="3175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Arial" pitchFamily="34" charset="0"/>
              </a:rPr>
              <a:t>+</a:t>
            </a:r>
          </a:p>
        </p:txBody>
      </p:sp>
      <p:sp>
        <p:nvSpPr>
          <p:cNvPr id="81972" name="Text Box 53"/>
          <p:cNvSpPr txBox="1">
            <a:spLocks noChangeArrowheads="1"/>
          </p:cNvSpPr>
          <p:nvPr/>
        </p:nvSpPr>
        <p:spPr bwMode="auto">
          <a:xfrm>
            <a:off x="4267200" y="2576513"/>
            <a:ext cx="71278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A</a:t>
            </a:r>
            <a:r>
              <a:rPr lang="en-US" b="1" baseline="-25000">
                <a:solidFill>
                  <a:srgbClr val="FF0000"/>
                </a:solidFill>
                <a:latin typeface="Arial" pitchFamily="34" charset="0"/>
              </a:rPr>
              <a:t>V </a:t>
            </a:r>
            <a:r>
              <a:rPr lang="en-US" b="1">
                <a:solidFill>
                  <a:srgbClr val="FF0000"/>
                </a:solidFill>
                <a:latin typeface="Arial" pitchFamily="34" charset="0"/>
              </a:rPr>
              <a:t>=</a:t>
            </a:r>
            <a:r>
              <a:rPr lang="en-US" b="1" baseline="-25000">
                <a:solidFill>
                  <a:srgbClr val="FF0000"/>
                </a:solidFill>
                <a:latin typeface="Arial" pitchFamily="34" charset="0"/>
              </a:rPr>
              <a:t>  </a:t>
            </a:r>
          </a:p>
        </p:txBody>
      </p:sp>
      <p:sp>
        <p:nvSpPr>
          <p:cNvPr id="81973" name="Text Box 54"/>
          <p:cNvSpPr txBox="1">
            <a:spLocks noChangeArrowheads="1"/>
          </p:cNvSpPr>
          <p:nvPr/>
        </p:nvSpPr>
        <p:spPr bwMode="auto">
          <a:xfrm rot="-5400000">
            <a:off x="4759325" y="2555876"/>
            <a:ext cx="32543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8</a:t>
            </a:r>
          </a:p>
        </p:txBody>
      </p:sp>
      <p:sp>
        <p:nvSpPr>
          <p:cNvPr id="81974" name="Line 73"/>
          <p:cNvSpPr>
            <a:spLocks noChangeShapeType="1"/>
          </p:cNvSpPr>
          <p:nvPr/>
        </p:nvSpPr>
        <p:spPr bwMode="auto">
          <a:xfrm>
            <a:off x="501650" y="1066800"/>
            <a:ext cx="0" cy="45720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75" name="Line 74"/>
          <p:cNvSpPr>
            <a:spLocks noChangeShapeType="1"/>
          </p:cNvSpPr>
          <p:nvPr/>
        </p:nvSpPr>
        <p:spPr bwMode="auto">
          <a:xfrm flipH="1">
            <a:off x="196850" y="1524000"/>
            <a:ext cx="6096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76" name="Line 75"/>
          <p:cNvSpPr>
            <a:spLocks noChangeShapeType="1"/>
          </p:cNvSpPr>
          <p:nvPr/>
        </p:nvSpPr>
        <p:spPr bwMode="auto">
          <a:xfrm flipH="1">
            <a:off x="273050" y="1600200"/>
            <a:ext cx="457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77" name="Line 76"/>
          <p:cNvSpPr>
            <a:spLocks noChangeShapeType="1"/>
          </p:cNvSpPr>
          <p:nvPr/>
        </p:nvSpPr>
        <p:spPr bwMode="auto">
          <a:xfrm flipH="1">
            <a:off x="349250" y="1676400"/>
            <a:ext cx="3048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78" name="Line 77"/>
          <p:cNvSpPr>
            <a:spLocks noChangeShapeType="1"/>
          </p:cNvSpPr>
          <p:nvPr/>
        </p:nvSpPr>
        <p:spPr bwMode="auto">
          <a:xfrm flipH="1">
            <a:off x="425450" y="1752600"/>
            <a:ext cx="1524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79" name="Oval 78"/>
          <p:cNvSpPr>
            <a:spLocks noChangeArrowheads="1"/>
          </p:cNvSpPr>
          <p:nvPr/>
        </p:nvSpPr>
        <p:spPr bwMode="auto">
          <a:xfrm>
            <a:off x="425450" y="9906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1980" name="Line 79"/>
          <p:cNvSpPr>
            <a:spLocks noChangeShapeType="1"/>
          </p:cNvSpPr>
          <p:nvPr/>
        </p:nvSpPr>
        <p:spPr bwMode="auto">
          <a:xfrm>
            <a:off x="3048000" y="1676400"/>
            <a:ext cx="7620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81" name="Oval 80"/>
          <p:cNvSpPr>
            <a:spLocks noChangeArrowheads="1"/>
          </p:cNvSpPr>
          <p:nvPr/>
        </p:nvSpPr>
        <p:spPr bwMode="auto">
          <a:xfrm>
            <a:off x="2971800" y="914400"/>
            <a:ext cx="152400" cy="152400"/>
          </a:xfrm>
          <a:prstGeom prst="ellipse">
            <a:avLst/>
          </a:prstGeom>
          <a:solidFill>
            <a:schemeClr val="bg2"/>
          </a:solidFill>
          <a:ln w="9525">
            <a:solidFill>
              <a:schemeClr val="tx1"/>
            </a:solidFill>
            <a:round/>
            <a:headEnd/>
            <a:tailEnd/>
          </a:ln>
        </p:spPr>
        <p:txBody>
          <a:bodyPr wrap="none" anchor="ctr"/>
          <a:lstStyle/>
          <a:p>
            <a:endParaRPr lang="en-US">
              <a:latin typeface="Calibri" pitchFamily="34" charset="0"/>
            </a:endParaRPr>
          </a:p>
        </p:txBody>
      </p:sp>
      <p:sp>
        <p:nvSpPr>
          <p:cNvPr id="81982" name="Line 81"/>
          <p:cNvSpPr>
            <a:spLocks noChangeShapeType="1"/>
          </p:cNvSpPr>
          <p:nvPr/>
        </p:nvSpPr>
        <p:spPr bwMode="auto">
          <a:xfrm>
            <a:off x="2133600" y="990600"/>
            <a:ext cx="83820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81983" name="Text Box 82"/>
          <p:cNvSpPr txBox="1">
            <a:spLocks noChangeArrowheads="1"/>
          </p:cNvSpPr>
          <p:nvPr/>
        </p:nvSpPr>
        <p:spPr bwMode="auto">
          <a:xfrm>
            <a:off x="2773363" y="2209800"/>
            <a:ext cx="5794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400" b="1">
                <a:latin typeface="Arial" pitchFamily="34" charset="0"/>
              </a:rPr>
              <a:t>I</a:t>
            </a:r>
            <a:r>
              <a:rPr lang="en-US" sz="1400" b="1" baseline="-18000">
                <a:latin typeface="Arial" pitchFamily="34" charset="0"/>
              </a:rPr>
              <a:t>1 </a:t>
            </a:r>
            <a:r>
              <a:rPr lang="en-US" sz="1400" b="1">
                <a:latin typeface="Arial" pitchFamily="34" charset="0"/>
              </a:rPr>
              <a:t>= 0</a:t>
            </a:r>
          </a:p>
        </p:txBody>
      </p:sp>
      <p:sp>
        <p:nvSpPr>
          <p:cNvPr id="81984" name="Line 83"/>
          <p:cNvSpPr>
            <a:spLocks noChangeShapeType="1"/>
          </p:cNvSpPr>
          <p:nvPr/>
        </p:nvSpPr>
        <p:spPr bwMode="auto">
          <a:xfrm>
            <a:off x="2895600" y="2514600"/>
            <a:ext cx="457200" cy="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1985" name="Line 84"/>
          <p:cNvSpPr>
            <a:spLocks noChangeShapeType="1"/>
          </p:cNvSpPr>
          <p:nvPr/>
        </p:nvSpPr>
        <p:spPr bwMode="auto">
          <a:xfrm>
            <a:off x="2895600" y="1219200"/>
            <a:ext cx="0" cy="4572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1986" name="Line 85"/>
          <p:cNvSpPr>
            <a:spLocks noChangeShapeType="1"/>
          </p:cNvSpPr>
          <p:nvPr/>
        </p:nvSpPr>
        <p:spPr bwMode="auto">
          <a:xfrm flipV="1">
            <a:off x="2895600" y="2590800"/>
            <a:ext cx="0" cy="457200"/>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81987" name="Text Box 87"/>
          <p:cNvSpPr txBox="1">
            <a:spLocks noChangeArrowheads="1"/>
          </p:cNvSpPr>
          <p:nvPr/>
        </p:nvSpPr>
        <p:spPr bwMode="auto">
          <a:xfrm>
            <a:off x="365125" y="4684713"/>
            <a:ext cx="8774113" cy="954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just"/>
            <a:r>
              <a:rPr lang="en-US" sz="2800">
                <a:cs typeface="Times New Roman" pitchFamily="18" charset="0"/>
              </a:rPr>
              <a:t>When R1 is infinite and RF = 0 the non-inverting amplifier gets converted into a voltage follower or unity gain.</a:t>
            </a:r>
          </a:p>
        </p:txBody>
      </p:sp>
      <p:sp>
        <p:nvSpPr>
          <p:cNvPr id="81988" name="Text Box 89"/>
          <p:cNvSpPr txBox="1">
            <a:spLocks noChangeArrowheads="1"/>
          </p:cNvSpPr>
          <p:nvPr/>
        </p:nvSpPr>
        <p:spPr bwMode="auto">
          <a:xfrm>
            <a:off x="1447800" y="1219200"/>
            <a:ext cx="6953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wrap="none">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R</a:t>
            </a:r>
            <a:r>
              <a:rPr lang="en-US" b="1" baseline="-25000">
                <a:solidFill>
                  <a:srgbClr val="FF0000"/>
                </a:solidFill>
                <a:latin typeface="Arial" pitchFamily="34" charset="0"/>
              </a:rPr>
              <a:t>1 </a:t>
            </a:r>
            <a:r>
              <a:rPr lang="en-US" b="1">
                <a:solidFill>
                  <a:srgbClr val="FF0000"/>
                </a:solidFill>
                <a:latin typeface="Arial" pitchFamily="34" charset="0"/>
              </a:rPr>
              <a:t>=</a:t>
            </a:r>
            <a:r>
              <a:rPr lang="en-US" b="1" baseline="-25000">
                <a:solidFill>
                  <a:srgbClr val="FF0000"/>
                </a:solidFill>
                <a:latin typeface="Arial" pitchFamily="34" charset="0"/>
              </a:rPr>
              <a:t>  </a:t>
            </a:r>
          </a:p>
        </p:txBody>
      </p:sp>
      <p:sp>
        <p:nvSpPr>
          <p:cNvPr id="81989" name="Text Box 90"/>
          <p:cNvSpPr txBox="1">
            <a:spLocks noChangeArrowheads="1"/>
          </p:cNvSpPr>
          <p:nvPr/>
        </p:nvSpPr>
        <p:spPr bwMode="auto">
          <a:xfrm rot="-5400000">
            <a:off x="1939925" y="1198563"/>
            <a:ext cx="325438"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solidFill>
                  <a:srgbClr val="FF0000"/>
                </a:solidFill>
                <a:latin typeface="Arial" pitchFamily="34" charset="0"/>
              </a:rPr>
              <a:t>8</a:t>
            </a:r>
          </a:p>
        </p:txBody>
      </p:sp>
      <p:sp>
        <p:nvSpPr>
          <p:cNvPr id="3" name="Slide Number Placeholder 2"/>
          <p:cNvSpPr>
            <a:spLocks noGrp="1"/>
          </p:cNvSpPr>
          <p:nvPr>
            <p:ph type="sldNum" sz="quarter" idx="12"/>
          </p:nvPr>
        </p:nvSpPr>
        <p:spPr/>
        <p:txBody>
          <a:bodyPr/>
          <a:lstStyle/>
          <a:p>
            <a:pPr>
              <a:defRPr/>
            </a:pPr>
            <a:fld id="{DB629A9A-C8B5-47C2-8158-1D652D390398}" type="slidenum">
              <a:rPr lang="en-US"/>
              <a:pPr>
                <a:defRPr/>
              </a:pPr>
              <a:t>52</a:t>
            </a:fld>
            <a:endParaRPr lang="en-US"/>
          </a:p>
        </p:txBody>
      </p:sp>
    </p:spTree>
    <p:extLst>
      <p:ext uri="{BB962C8B-B14F-4D97-AF65-F5344CB8AC3E}">
        <p14:creationId xmlns:p14="http://schemas.microsoft.com/office/powerpoint/2010/main" xmlns="" val="27707434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nvSpPr>
        <p:spPr bwMode="auto">
          <a:xfrm>
            <a:off x="228600" y="1253331"/>
            <a:ext cx="8305800"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charset="0"/>
              <a:buNone/>
            </a:pPr>
            <a:endParaRPr lang="en-US" altLang="en-US" dirty="0"/>
          </a:p>
          <a:p>
            <a:pPr algn="ctr">
              <a:buFont typeface="Arial" charset="0"/>
              <a:buNone/>
            </a:pPr>
            <a:endParaRPr lang="en-US" altLang="en-US" dirty="0"/>
          </a:p>
          <a:p>
            <a:pPr algn="ctr">
              <a:buFont typeface="Arial" charset="0"/>
              <a:buNone/>
            </a:pPr>
            <a:endParaRPr lang="en-US" altLang="en-US" dirty="0"/>
          </a:p>
          <a:p>
            <a:pPr algn="ctr">
              <a:buFont typeface="Arial" charset="0"/>
              <a:buNone/>
            </a:pPr>
            <a:r>
              <a:rPr lang="en-US" altLang="en-US" sz="6600" b="1" i="1" dirty="0">
                <a:solidFill>
                  <a:schemeClr val="accent2"/>
                </a:solidFill>
              </a:rPr>
              <a:t>THANK YOU</a:t>
            </a:r>
          </a:p>
        </p:txBody>
      </p:sp>
      <p:sp>
        <p:nvSpPr>
          <p:cNvPr id="3" name="Slide Number Placeholder 2"/>
          <p:cNvSpPr>
            <a:spLocks noGrp="1"/>
          </p:cNvSpPr>
          <p:nvPr>
            <p:ph type="sldNum" sz="quarter" idx="12"/>
          </p:nvPr>
        </p:nvSpPr>
        <p:spPr/>
        <p:txBody>
          <a:bodyPr/>
          <a:lstStyle/>
          <a:p>
            <a:fld id="{D2B5DD4A-F986-4E71-BC03-15024DE274BF}" type="slidenum">
              <a:rPr lang="en-US" smtClean="0"/>
              <a:pPr/>
              <a:t>53</a:t>
            </a:fld>
            <a:endParaRPr lang="en-US"/>
          </a:p>
        </p:txBody>
      </p:sp>
    </p:spTree>
    <p:extLst>
      <p:ext uri="{BB962C8B-B14F-4D97-AF65-F5344CB8AC3E}">
        <p14:creationId xmlns:p14="http://schemas.microsoft.com/office/powerpoint/2010/main" xmlns="" val="2019399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1172</TotalTime>
  <Words>2839</Words>
  <Application>Microsoft Office PowerPoint</Application>
  <PresentationFormat>On-screen Show (4:3)</PresentationFormat>
  <Paragraphs>871</Paragraphs>
  <Slides>53</Slides>
  <Notes>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Slide 1</vt:lpstr>
      <vt:lpstr>Unit IV : Operational Amplifier and Electronic Instruments</vt:lpstr>
      <vt:lpstr>Digital Multimeter:</vt:lpstr>
      <vt:lpstr>Digital Multimeter:</vt:lpstr>
      <vt:lpstr>Digital Multimeter</vt:lpstr>
      <vt:lpstr>Digital Multimeter</vt:lpstr>
      <vt:lpstr>Digital Multimeter</vt:lpstr>
      <vt:lpstr>Analog &amp; Digital Multimeter</vt:lpstr>
      <vt:lpstr>Function Generator (FG)</vt:lpstr>
      <vt:lpstr>Function Generator (FG)</vt:lpstr>
      <vt:lpstr>Function Generator (FG)</vt:lpstr>
      <vt:lpstr>Function Generator (FG)</vt:lpstr>
      <vt:lpstr>Function Generator (FG)</vt:lpstr>
      <vt:lpstr>Digital Storage Oscilloscope (DSO)</vt:lpstr>
      <vt:lpstr>Digital Storage Oscilloscope (DSO)</vt:lpstr>
      <vt:lpstr>Digital Storage Oscilloscope (DSO)</vt:lpstr>
      <vt:lpstr>Digital Storage Oscilloscope (DSO)</vt:lpstr>
      <vt:lpstr>Regulated Power Supply</vt:lpstr>
      <vt:lpstr>Regulated Power Supply</vt:lpstr>
      <vt:lpstr>Operational Amplifier</vt:lpstr>
      <vt:lpstr> Pin configuration of  OP-AMP IC 741</vt:lpstr>
      <vt:lpstr> Symbol and terminal</vt:lpstr>
      <vt:lpstr>Op-amp symbols and packages.</vt:lpstr>
      <vt:lpstr>Slide 24</vt:lpstr>
      <vt:lpstr>Slide 25</vt:lpstr>
      <vt:lpstr>Slide 26</vt:lpstr>
      <vt:lpstr>Block diagram of a typical OP-AMP</vt:lpstr>
      <vt:lpstr>Input and output signals 1800 phase shift when the input signal is applied to the inverting (-) terminal</vt:lpstr>
      <vt:lpstr>Input and output signals 00 phase shift when the input signal is applied to the Non-inverting (+) terminal</vt:lpstr>
      <vt:lpstr>Slide 30</vt:lpstr>
      <vt:lpstr>Equivalent circuit of an OP-AMP</vt:lpstr>
      <vt:lpstr>The ideal OP-AMP</vt:lpstr>
      <vt:lpstr>The ideal OP-AMP</vt:lpstr>
      <vt:lpstr>The ideal OP-AMP</vt:lpstr>
      <vt:lpstr>The ideal OP-AMP</vt:lpstr>
      <vt:lpstr>The ideal OP-AMP</vt:lpstr>
      <vt:lpstr>The ideal OP-AMP</vt:lpstr>
      <vt:lpstr>The ideal OP-AMP</vt:lpstr>
      <vt:lpstr>The ideal OP-AMP</vt:lpstr>
      <vt:lpstr>Important characteristics of OP-AMP IC 741</vt:lpstr>
      <vt:lpstr> Open loop configuration of  OP-AMP </vt:lpstr>
      <vt:lpstr> Open loop configuration of  OP-AMP </vt:lpstr>
      <vt:lpstr>Why Op-amp not used as an amplifier in the open loop configuration ?</vt:lpstr>
      <vt:lpstr>Close  loop configuration of  OP-AMP </vt:lpstr>
      <vt:lpstr>Slide 45</vt:lpstr>
      <vt:lpstr>Slide 46</vt:lpstr>
      <vt:lpstr>Slide 47</vt:lpstr>
      <vt:lpstr>Slide 48</vt:lpstr>
      <vt:lpstr>Slide 49</vt:lpstr>
      <vt:lpstr>Slide 50</vt:lpstr>
      <vt:lpstr>Slide 51</vt:lpstr>
      <vt:lpstr>Slide 52</vt:lpstr>
      <vt:lpstr>Slide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RANE</dc:creator>
  <cp:lastModifiedBy>Admin</cp:lastModifiedBy>
  <cp:revision>73</cp:revision>
  <dcterms:created xsi:type="dcterms:W3CDTF">2020-04-02T13:22:55Z</dcterms:created>
  <dcterms:modified xsi:type="dcterms:W3CDTF">2025-11-27T09:32:45Z</dcterms:modified>
</cp:coreProperties>
</file>