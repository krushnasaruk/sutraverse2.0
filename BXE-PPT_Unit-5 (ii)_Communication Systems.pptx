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319" r:id="rId2"/>
    <p:sldId id="320" r:id="rId3"/>
    <p:sldId id="261" r:id="rId4"/>
    <p:sldId id="263" r:id="rId5"/>
    <p:sldId id="265" r:id="rId6"/>
    <p:sldId id="321" r:id="rId7"/>
    <p:sldId id="322" r:id="rId8"/>
    <p:sldId id="327" r:id="rId9"/>
    <p:sldId id="328" r:id="rId10"/>
    <p:sldId id="329" r:id="rId11"/>
    <p:sldId id="330" r:id="rId12"/>
    <p:sldId id="287" r:id="rId13"/>
    <p:sldId id="288" r:id="rId14"/>
    <p:sldId id="289" r:id="rId15"/>
    <p:sldId id="339" r:id="rId16"/>
    <p:sldId id="315" r:id="rId17"/>
    <p:sldId id="316" r:id="rId18"/>
    <p:sldId id="317" r:id="rId19"/>
    <p:sldId id="318" r:id="rId20"/>
    <p:sldId id="340" r:id="rId21"/>
    <p:sldId id="300" r:id="rId22"/>
    <p:sldId id="299" r:id="rId23"/>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0"/>
      </p:ext>
    </p:extLst>
  </p:showPr>
  <p:clrMru>
    <a:srgbClr val="FF00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000" autoAdjust="0"/>
    <p:restoredTop sz="94660"/>
  </p:normalViewPr>
  <p:slideViewPr>
    <p:cSldViewPr snapToGrid="0">
      <p:cViewPr varScale="1">
        <p:scale>
          <a:sx n="86" d="100"/>
          <a:sy n="86" d="100"/>
        </p:scale>
        <p:origin x="-102" y="-7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FCA52730-7C39-4885-AB98-847E690ACB98}" type="datetimeFigureOut">
              <a:rPr lang="en-US"/>
              <a:pPr>
                <a:defRPr/>
              </a:pPr>
              <a:t>11/29/2025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itchFamily="34" charset="0"/>
              </a:defRPr>
            </a:lvl1pPr>
          </a:lstStyle>
          <a:p>
            <a:pPr>
              <a:defRPr/>
            </a:pPr>
            <a:fld id="{EFC33505-7787-4AA6-98F0-83E119FE3C01}" type="slidenum">
              <a:rPr lang="en-US" altLang="en-US"/>
              <a:pPr>
                <a:defRPr/>
              </a:pPr>
              <a:t>‹#›</a:t>
            </a:fld>
            <a:endParaRPr lang="en-US" altLang="en-US"/>
          </a:p>
        </p:txBody>
      </p:sp>
    </p:spTree>
    <p:extLst>
      <p:ext uri="{BB962C8B-B14F-4D97-AF65-F5344CB8AC3E}">
        <p14:creationId xmlns="" xmlns:p14="http://schemas.microsoft.com/office/powerpoint/2010/main" val="14172288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
        <p:nvSpPr>
          <p:cNvPr id="48132"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3AFB6E64-4006-4F18-98E7-62053CE2EE61}" type="slidenum">
              <a:rPr lang="en-US" smtClean="0">
                <a:latin typeface="Calibri" pitchFamily="34" charset="0"/>
              </a:rPr>
              <a:pPr/>
              <a:t>1</a:t>
            </a:fld>
            <a:endParaRPr lang="en-US">
              <a:latin typeface="Calibri"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49155"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
        <p:nvSpPr>
          <p:cNvPr id="49156"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4379E434-AC65-4961-BF86-A22937FE2796}" type="slidenum">
              <a:rPr lang="en-US" smtClean="0">
                <a:latin typeface="Calibri" pitchFamily="34" charset="0"/>
              </a:rPr>
              <a:pPr/>
              <a:t>2</a:t>
            </a:fld>
            <a:endParaRPr lang="en-US">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54C98A30-2EB2-44C8-B0E2-E6BE2903C5E1}" type="datetime1">
              <a:rPr lang="en-US" smtClean="0"/>
              <a:pPr>
                <a:defRPr/>
              </a:pPr>
              <a:t>11/29/2025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D.Y.Patil Institute of Technology, Pimpri, Pune</a:t>
            </a:r>
          </a:p>
        </p:txBody>
      </p:sp>
      <p:sp>
        <p:nvSpPr>
          <p:cNvPr id="6" name="Slide Number Placeholder 5"/>
          <p:cNvSpPr>
            <a:spLocks noGrp="1"/>
          </p:cNvSpPr>
          <p:nvPr>
            <p:ph type="sldNum" sz="quarter" idx="12"/>
          </p:nvPr>
        </p:nvSpPr>
        <p:spPr/>
        <p:txBody>
          <a:bodyPr/>
          <a:lstStyle>
            <a:lvl1pPr>
              <a:defRPr/>
            </a:lvl1pPr>
          </a:lstStyle>
          <a:p>
            <a:pPr>
              <a:defRPr/>
            </a:pPr>
            <a:fld id="{D9E9B717-B98D-47AB-B392-2C61532105C9}" type="slidenum">
              <a:rPr lang="en-US" altLang="en-US"/>
              <a:pPr>
                <a:defRPr/>
              </a:pPr>
              <a:t>‹#›</a:t>
            </a:fld>
            <a:endParaRPr lang="en-US" altLang="en-US"/>
          </a:p>
        </p:txBody>
      </p:sp>
    </p:spTree>
    <p:extLst>
      <p:ext uri="{BB962C8B-B14F-4D97-AF65-F5344CB8AC3E}">
        <p14:creationId xmlns="" xmlns:p14="http://schemas.microsoft.com/office/powerpoint/2010/main" val="36756685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553A679-47C1-4B48-92CD-101DE9600B42}" type="datetime1">
              <a:rPr lang="en-US" smtClean="0"/>
              <a:pPr>
                <a:defRPr/>
              </a:pPr>
              <a:t>11/29/2025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D.Y.Patil Institute of Technology, Pimpri, Pune</a:t>
            </a:r>
          </a:p>
        </p:txBody>
      </p:sp>
      <p:sp>
        <p:nvSpPr>
          <p:cNvPr id="6" name="Slide Number Placeholder 5"/>
          <p:cNvSpPr>
            <a:spLocks noGrp="1"/>
          </p:cNvSpPr>
          <p:nvPr>
            <p:ph type="sldNum" sz="quarter" idx="12"/>
          </p:nvPr>
        </p:nvSpPr>
        <p:spPr/>
        <p:txBody>
          <a:bodyPr/>
          <a:lstStyle>
            <a:lvl1pPr>
              <a:defRPr/>
            </a:lvl1pPr>
          </a:lstStyle>
          <a:p>
            <a:pPr>
              <a:defRPr/>
            </a:pPr>
            <a:fld id="{9C02C9E0-08CD-4733-BA15-E5A0A404A85B}" type="slidenum">
              <a:rPr lang="en-US" altLang="en-US"/>
              <a:pPr>
                <a:defRPr/>
              </a:pPr>
              <a:t>‹#›</a:t>
            </a:fld>
            <a:endParaRPr lang="en-US" altLang="en-US"/>
          </a:p>
        </p:txBody>
      </p:sp>
    </p:spTree>
    <p:extLst>
      <p:ext uri="{BB962C8B-B14F-4D97-AF65-F5344CB8AC3E}">
        <p14:creationId xmlns="" xmlns:p14="http://schemas.microsoft.com/office/powerpoint/2010/main" val="1876211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B296EFB9-CEE3-4D21-936A-0CE94BF580AE}" type="datetime1">
              <a:rPr lang="en-US" smtClean="0"/>
              <a:pPr>
                <a:defRPr/>
              </a:pPr>
              <a:t>11/29/2025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D.Y.Patil Institute of Technology, Pimpri, Pune</a:t>
            </a:r>
          </a:p>
        </p:txBody>
      </p:sp>
      <p:sp>
        <p:nvSpPr>
          <p:cNvPr id="6" name="Slide Number Placeholder 5"/>
          <p:cNvSpPr>
            <a:spLocks noGrp="1"/>
          </p:cNvSpPr>
          <p:nvPr>
            <p:ph type="sldNum" sz="quarter" idx="12"/>
          </p:nvPr>
        </p:nvSpPr>
        <p:spPr/>
        <p:txBody>
          <a:bodyPr/>
          <a:lstStyle>
            <a:lvl1pPr>
              <a:defRPr/>
            </a:lvl1pPr>
          </a:lstStyle>
          <a:p>
            <a:pPr>
              <a:defRPr/>
            </a:pPr>
            <a:fld id="{88AAA8AA-70D3-45B0-85EB-C585E93AE68D}" type="slidenum">
              <a:rPr lang="en-US" altLang="en-US"/>
              <a:pPr>
                <a:defRPr/>
              </a:pPr>
              <a:t>‹#›</a:t>
            </a:fld>
            <a:endParaRPr lang="en-US" altLang="en-US"/>
          </a:p>
        </p:txBody>
      </p:sp>
    </p:spTree>
    <p:extLst>
      <p:ext uri="{BB962C8B-B14F-4D97-AF65-F5344CB8AC3E}">
        <p14:creationId xmlns="" xmlns:p14="http://schemas.microsoft.com/office/powerpoint/2010/main" val="118573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8B05B9F5-96E6-4D9F-BFDF-8B21C30A8F44}" type="datetime1">
              <a:rPr lang="en-US" smtClean="0"/>
              <a:pPr>
                <a:defRPr/>
              </a:pPr>
              <a:t>11/29/2025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D.Y.Patil Institute of Technology, Pimpri, Pune</a:t>
            </a:r>
          </a:p>
        </p:txBody>
      </p:sp>
      <p:sp>
        <p:nvSpPr>
          <p:cNvPr id="7" name="Slide Number Placeholder 5"/>
          <p:cNvSpPr>
            <a:spLocks noGrp="1"/>
          </p:cNvSpPr>
          <p:nvPr>
            <p:ph type="sldNum" sz="quarter" idx="12"/>
          </p:nvPr>
        </p:nvSpPr>
        <p:spPr/>
        <p:txBody>
          <a:bodyPr/>
          <a:lstStyle>
            <a:lvl1pPr>
              <a:defRPr/>
            </a:lvl1pPr>
          </a:lstStyle>
          <a:p>
            <a:pPr>
              <a:defRPr/>
            </a:pPr>
            <a:fld id="{9C8C0528-1D5C-4313-9480-936B86760CB6}" type="slidenum">
              <a:rPr lang="en-US" altLang="en-US"/>
              <a:pPr>
                <a:defRPr/>
              </a:pPr>
              <a:t>‹#›</a:t>
            </a:fld>
            <a:endParaRPr lang="en-US" altLang="en-US"/>
          </a:p>
        </p:txBody>
      </p:sp>
    </p:spTree>
    <p:extLst>
      <p:ext uri="{BB962C8B-B14F-4D97-AF65-F5344CB8AC3E}">
        <p14:creationId xmlns="" xmlns:p14="http://schemas.microsoft.com/office/powerpoint/2010/main" val="366477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2689365E-13BA-4098-8324-5607B40E24EE}" type="datetime1">
              <a:rPr lang="en-US" smtClean="0"/>
              <a:pPr>
                <a:defRPr/>
              </a:pPr>
              <a:t>11/29/2025</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Dr. D.Y.Patil Institute of Technology, Pimpri, Pune</a:t>
            </a:r>
          </a:p>
        </p:txBody>
      </p:sp>
      <p:sp>
        <p:nvSpPr>
          <p:cNvPr id="9" name="Slide Number Placeholder 5"/>
          <p:cNvSpPr>
            <a:spLocks noGrp="1"/>
          </p:cNvSpPr>
          <p:nvPr>
            <p:ph type="sldNum" sz="quarter" idx="12"/>
          </p:nvPr>
        </p:nvSpPr>
        <p:spPr/>
        <p:txBody>
          <a:bodyPr/>
          <a:lstStyle>
            <a:lvl1pPr>
              <a:defRPr/>
            </a:lvl1pPr>
          </a:lstStyle>
          <a:p>
            <a:pPr>
              <a:defRPr/>
            </a:pPr>
            <a:fld id="{441EAE79-B58C-4E5F-B4FC-BE913B8D1B6B}" type="slidenum">
              <a:rPr lang="en-US" altLang="en-US"/>
              <a:pPr>
                <a:defRPr/>
              </a:pPr>
              <a:t>‹#›</a:t>
            </a:fld>
            <a:endParaRPr lang="en-US" altLang="en-US"/>
          </a:p>
        </p:txBody>
      </p:sp>
    </p:spTree>
    <p:extLst>
      <p:ext uri="{BB962C8B-B14F-4D97-AF65-F5344CB8AC3E}">
        <p14:creationId xmlns="" xmlns:p14="http://schemas.microsoft.com/office/powerpoint/2010/main" val="4146935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C9BA7AE6-7679-407D-8C50-A0B5AB9D2884}" type="datetime1">
              <a:rPr lang="en-US" smtClean="0"/>
              <a:pPr>
                <a:defRPr/>
              </a:pPr>
              <a:t>11/29/2025</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Dr. D.Y.Patil Institute of Technology, Pimpri, Pune</a:t>
            </a:r>
          </a:p>
        </p:txBody>
      </p:sp>
      <p:sp>
        <p:nvSpPr>
          <p:cNvPr id="5" name="Slide Number Placeholder 5"/>
          <p:cNvSpPr>
            <a:spLocks noGrp="1"/>
          </p:cNvSpPr>
          <p:nvPr>
            <p:ph type="sldNum" sz="quarter" idx="12"/>
          </p:nvPr>
        </p:nvSpPr>
        <p:spPr/>
        <p:txBody>
          <a:bodyPr/>
          <a:lstStyle>
            <a:lvl1pPr>
              <a:defRPr/>
            </a:lvl1pPr>
          </a:lstStyle>
          <a:p>
            <a:pPr>
              <a:defRPr/>
            </a:pPr>
            <a:fld id="{61A69713-C78D-41F6-BDDD-7AFDFB413939}" type="slidenum">
              <a:rPr lang="en-US" altLang="en-US"/>
              <a:pPr>
                <a:defRPr/>
              </a:pPr>
              <a:t>‹#›</a:t>
            </a:fld>
            <a:endParaRPr lang="en-US" altLang="en-US"/>
          </a:p>
        </p:txBody>
      </p:sp>
    </p:spTree>
    <p:extLst>
      <p:ext uri="{BB962C8B-B14F-4D97-AF65-F5344CB8AC3E}">
        <p14:creationId xmlns="" xmlns:p14="http://schemas.microsoft.com/office/powerpoint/2010/main" val="3730936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6A06BC35-0F13-4C59-8EEC-48B3AED58E30}" type="datetime1">
              <a:rPr lang="en-US" smtClean="0"/>
              <a:pPr>
                <a:defRPr/>
              </a:pPr>
              <a:t>11/29/2025</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Dr. D.Y.Patil Institute of Technology, Pimpri, Pune</a:t>
            </a:r>
          </a:p>
        </p:txBody>
      </p:sp>
      <p:sp>
        <p:nvSpPr>
          <p:cNvPr id="4" name="Slide Number Placeholder 5"/>
          <p:cNvSpPr>
            <a:spLocks noGrp="1"/>
          </p:cNvSpPr>
          <p:nvPr>
            <p:ph type="sldNum" sz="quarter" idx="12"/>
          </p:nvPr>
        </p:nvSpPr>
        <p:spPr/>
        <p:txBody>
          <a:bodyPr/>
          <a:lstStyle>
            <a:lvl1pPr>
              <a:defRPr/>
            </a:lvl1pPr>
          </a:lstStyle>
          <a:p>
            <a:pPr>
              <a:defRPr/>
            </a:pPr>
            <a:fld id="{948FFB09-D700-4ED5-991C-86A2CFAE02B2}" type="slidenum">
              <a:rPr lang="en-US" altLang="en-US"/>
              <a:pPr>
                <a:defRPr/>
              </a:pPr>
              <a:t>‹#›</a:t>
            </a:fld>
            <a:endParaRPr lang="en-US" altLang="en-US"/>
          </a:p>
        </p:txBody>
      </p:sp>
    </p:spTree>
    <p:extLst>
      <p:ext uri="{BB962C8B-B14F-4D97-AF65-F5344CB8AC3E}">
        <p14:creationId xmlns="" xmlns:p14="http://schemas.microsoft.com/office/powerpoint/2010/main" val="2761959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6A34B24-AF6A-418F-9224-0AA11435860E}" type="datetime1">
              <a:rPr lang="en-US" smtClean="0"/>
              <a:pPr>
                <a:defRPr/>
              </a:pPr>
              <a:t>11/29/2025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D.Y.Patil Institute of Technology, Pimpri, Pune</a:t>
            </a:r>
          </a:p>
        </p:txBody>
      </p:sp>
      <p:sp>
        <p:nvSpPr>
          <p:cNvPr id="7" name="Slide Number Placeholder 5"/>
          <p:cNvSpPr>
            <a:spLocks noGrp="1"/>
          </p:cNvSpPr>
          <p:nvPr>
            <p:ph type="sldNum" sz="quarter" idx="12"/>
          </p:nvPr>
        </p:nvSpPr>
        <p:spPr/>
        <p:txBody>
          <a:bodyPr/>
          <a:lstStyle>
            <a:lvl1pPr>
              <a:defRPr/>
            </a:lvl1pPr>
          </a:lstStyle>
          <a:p>
            <a:pPr>
              <a:defRPr/>
            </a:pPr>
            <a:fld id="{B3457AA2-0CE1-456B-9B3C-667617310D8E}" type="slidenum">
              <a:rPr lang="en-US" altLang="en-US"/>
              <a:pPr>
                <a:defRPr/>
              </a:pPr>
              <a:t>‹#›</a:t>
            </a:fld>
            <a:endParaRPr lang="en-US" altLang="en-US"/>
          </a:p>
        </p:txBody>
      </p:sp>
    </p:spTree>
    <p:extLst>
      <p:ext uri="{BB962C8B-B14F-4D97-AF65-F5344CB8AC3E}">
        <p14:creationId xmlns="" xmlns:p14="http://schemas.microsoft.com/office/powerpoint/2010/main" val="2632253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1F62C26F-4E23-4592-A8D1-503EE9023A3B}" type="datetime1">
              <a:rPr lang="en-US" smtClean="0"/>
              <a:pPr>
                <a:defRPr/>
              </a:pPr>
              <a:t>11/29/2025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D.Y.Patil Institute of Technology, Pimpri, Pune</a:t>
            </a:r>
          </a:p>
        </p:txBody>
      </p:sp>
      <p:sp>
        <p:nvSpPr>
          <p:cNvPr id="7" name="Slide Number Placeholder 5"/>
          <p:cNvSpPr>
            <a:spLocks noGrp="1"/>
          </p:cNvSpPr>
          <p:nvPr>
            <p:ph type="sldNum" sz="quarter" idx="12"/>
          </p:nvPr>
        </p:nvSpPr>
        <p:spPr/>
        <p:txBody>
          <a:bodyPr/>
          <a:lstStyle>
            <a:lvl1pPr>
              <a:defRPr/>
            </a:lvl1pPr>
          </a:lstStyle>
          <a:p>
            <a:pPr>
              <a:defRPr/>
            </a:pPr>
            <a:fld id="{AE1CF450-2FA1-4046-B583-C25F0C64FE0F}" type="slidenum">
              <a:rPr lang="en-US" altLang="en-US"/>
              <a:pPr>
                <a:defRPr/>
              </a:pPr>
              <a:t>‹#›</a:t>
            </a:fld>
            <a:endParaRPr lang="en-US" altLang="en-US"/>
          </a:p>
        </p:txBody>
      </p:sp>
    </p:spTree>
    <p:extLst>
      <p:ext uri="{BB962C8B-B14F-4D97-AF65-F5344CB8AC3E}">
        <p14:creationId xmlns="" xmlns:p14="http://schemas.microsoft.com/office/powerpoint/2010/main" val="64519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F6B9A23-C4E1-42C4-AEFE-EE56BD298A59}" type="datetime1">
              <a:rPr lang="en-US" smtClean="0"/>
              <a:pPr>
                <a:defRPr/>
              </a:pPr>
              <a:t>11/29/2025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D.Y.Patil Institute of Technology, Pimpri, Pune</a:t>
            </a:r>
          </a:p>
        </p:txBody>
      </p:sp>
      <p:sp>
        <p:nvSpPr>
          <p:cNvPr id="6" name="Slide Number Placeholder 5"/>
          <p:cNvSpPr>
            <a:spLocks noGrp="1"/>
          </p:cNvSpPr>
          <p:nvPr>
            <p:ph type="sldNum" sz="quarter" idx="12"/>
          </p:nvPr>
        </p:nvSpPr>
        <p:spPr/>
        <p:txBody>
          <a:bodyPr/>
          <a:lstStyle>
            <a:lvl1pPr>
              <a:defRPr/>
            </a:lvl1pPr>
          </a:lstStyle>
          <a:p>
            <a:pPr>
              <a:defRPr/>
            </a:pPr>
            <a:fld id="{5D945417-71D9-4CD8-8869-2CD4DC3F910D}" type="slidenum">
              <a:rPr lang="en-US" altLang="en-US"/>
              <a:pPr>
                <a:defRPr/>
              </a:pPr>
              <a:t>‹#›</a:t>
            </a:fld>
            <a:endParaRPr lang="en-US" altLang="en-US"/>
          </a:p>
        </p:txBody>
      </p:sp>
    </p:spTree>
    <p:extLst>
      <p:ext uri="{BB962C8B-B14F-4D97-AF65-F5344CB8AC3E}">
        <p14:creationId xmlns="" xmlns:p14="http://schemas.microsoft.com/office/powerpoint/2010/main" val="4272605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EC60109A-6ED0-42A9-8243-5219164DB3EE}" type="datetime1">
              <a:rPr lang="en-US" smtClean="0"/>
              <a:pPr>
                <a:defRPr/>
              </a:pPr>
              <a:t>11/29/2025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D.Y.Patil Institute of Technology, Pimpri, Pune</a:t>
            </a:r>
          </a:p>
        </p:txBody>
      </p:sp>
      <p:sp>
        <p:nvSpPr>
          <p:cNvPr id="6" name="Slide Number Placeholder 5"/>
          <p:cNvSpPr>
            <a:spLocks noGrp="1"/>
          </p:cNvSpPr>
          <p:nvPr>
            <p:ph type="sldNum" sz="quarter" idx="12"/>
          </p:nvPr>
        </p:nvSpPr>
        <p:spPr/>
        <p:txBody>
          <a:bodyPr/>
          <a:lstStyle>
            <a:lvl1pPr>
              <a:defRPr/>
            </a:lvl1pPr>
          </a:lstStyle>
          <a:p>
            <a:pPr>
              <a:defRPr/>
            </a:pPr>
            <a:fld id="{5BAF808D-3515-44CD-93E2-B987D8EC0818}" type="slidenum">
              <a:rPr lang="en-US" altLang="en-US"/>
              <a:pPr>
                <a:defRPr/>
              </a:pPr>
              <a:t>‹#›</a:t>
            </a:fld>
            <a:endParaRPr lang="en-US" altLang="en-US"/>
          </a:p>
        </p:txBody>
      </p:sp>
    </p:spTree>
    <p:extLst>
      <p:ext uri="{BB962C8B-B14F-4D97-AF65-F5344CB8AC3E}">
        <p14:creationId xmlns="" xmlns:p14="http://schemas.microsoft.com/office/powerpoint/2010/main" val="3727882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398A3015-6A3C-45C1-B7B8-08A8B019D08B}" type="datetime1">
              <a:rPr lang="en-US" smtClean="0"/>
              <a:pPr>
                <a:defRPr/>
              </a:pPr>
              <a:t>11/29/2025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r>
              <a:rPr lang="en-US"/>
              <a:t>Dr. D.Y.Patil Institute of Technology, Pimpri, Pune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itchFamily="34" charset="0"/>
              </a:defRPr>
            </a:lvl1pPr>
          </a:lstStyle>
          <a:p>
            <a:pPr>
              <a:defRPr/>
            </a:pPr>
            <a:fld id="{609C81E1-9231-493C-B1FC-22CFBBE0F6B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a:defRPr>
      </a:lvl2pPr>
      <a:lvl3pPr algn="l" rtl="0" eaLnBrk="0" fontAlgn="base" hangingPunct="0">
        <a:lnSpc>
          <a:spcPct val="90000"/>
        </a:lnSpc>
        <a:spcBef>
          <a:spcPct val="0"/>
        </a:spcBef>
        <a:spcAft>
          <a:spcPct val="0"/>
        </a:spcAft>
        <a:defRPr sz="4400">
          <a:solidFill>
            <a:schemeClr val="tx1"/>
          </a:solidFill>
          <a:latin typeface="Calibri Light"/>
        </a:defRPr>
      </a:lvl3pPr>
      <a:lvl4pPr algn="l" rtl="0" eaLnBrk="0" fontAlgn="base" hangingPunct="0">
        <a:lnSpc>
          <a:spcPct val="90000"/>
        </a:lnSpc>
        <a:spcBef>
          <a:spcPct val="0"/>
        </a:spcBef>
        <a:spcAft>
          <a:spcPct val="0"/>
        </a:spcAft>
        <a:defRPr sz="4400">
          <a:solidFill>
            <a:schemeClr val="tx1"/>
          </a:solidFill>
          <a:latin typeface="Calibri Light"/>
        </a:defRPr>
      </a:lvl4pPr>
      <a:lvl5pPr algn="l" rtl="0" eaLnBrk="0" fontAlgn="base" hangingPunct="0">
        <a:lnSpc>
          <a:spcPct val="90000"/>
        </a:lnSpc>
        <a:spcBef>
          <a:spcPct val="0"/>
        </a:spcBef>
        <a:spcAft>
          <a:spcPct val="0"/>
        </a:spcAft>
        <a:defRPr sz="4400">
          <a:solidFill>
            <a:schemeClr val="tx1"/>
          </a:solidFill>
          <a:latin typeface="Calibri Light"/>
        </a:defRPr>
      </a:lvl5pPr>
      <a:lvl6pPr marL="457200" algn="l" rtl="0" fontAlgn="base">
        <a:lnSpc>
          <a:spcPct val="90000"/>
        </a:lnSpc>
        <a:spcBef>
          <a:spcPct val="0"/>
        </a:spcBef>
        <a:spcAft>
          <a:spcPct val="0"/>
        </a:spcAft>
        <a:defRPr sz="4400">
          <a:solidFill>
            <a:schemeClr val="tx1"/>
          </a:solidFill>
          <a:latin typeface="Calibri Light"/>
        </a:defRPr>
      </a:lvl6pPr>
      <a:lvl7pPr marL="914400" algn="l" rtl="0" fontAlgn="base">
        <a:lnSpc>
          <a:spcPct val="90000"/>
        </a:lnSpc>
        <a:spcBef>
          <a:spcPct val="0"/>
        </a:spcBef>
        <a:spcAft>
          <a:spcPct val="0"/>
        </a:spcAft>
        <a:defRPr sz="4400">
          <a:solidFill>
            <a:schemeClr val="tx1"/>
          </a:solidFill>
          <a:latin typeface="Calibri Light"/>
        </a:defRPr>
      </a:lvl7pPr>
      <a:lvl8pPr marL="1371600" algn="l" rtl="0" fontAlgn="base">
        <a:lnSpc>
          <a:spcPct val="90000"/>
        </a:lnSpc>
        <a:spcBef>
          <a:spcPct val="0"/>
        </a:spcBef>
        <a:spcAft>
          <a:spcPct val="0"/>
        </a:spcAft>
        <a:defRPr sz="4400">
          <a:solidFill>
            <a:schemeClr val="tx1"/>
          </a:solidFill>
          <a:latin typeface="Calibri Light"/>
        </a:defRPr>
      </a:lvl8pPr>
      <a:lvl9pPr marL="1828800" algn="l" rtl="0" fontAlgn="base">
        <a:lnSpc>
          <a:spcPct val="90000"/>
        </a:lnSpc>
        <a:spcBef>
          <a:spcPct val="0"/>
        </a:spcBef>
        <a:spcAft>
          <a:spcPct val="0"/>
        </a:spcAft>
        <a:defRPr sz="4400">
          <a:solidFill>
            <a:schemeClr val="tx1"/>
          </a:solidFill>
          <a:latin typeface="Calibri Light"/>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gif"/></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gif"/><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Subtitle 2"/>
          <p:cNvSpPr>
            <a:spLocks noGrp="1"/>
          </p:cNvSpPr>
          <p:nvPr>
            <p:ph type="subTitle" idx="1"/>
          </p:nvPr>
        </p:nvSpPr>
        <p:spPr>
          <a:xfrm>
            <a:off x="2133600" y="4140911"/>
            <a:ext cx="8467725" cy="1963798"/>
          </a:xfrm>
        </p:spPr>
        <p:txBody>
          <a:bodyPr/>
          <a:lstStyle/>
          <a:p>
            <a:pPr algn="ctr"/>
            <a:r>
              <a:rPr lang="en-US" sz="2000" b="1" dirty="0">
                <a:solidFill>
                  <a:srgbClr val="C00000"/>
                </a:solidFill>
              </a:rPr>
              <a:t>Presented by</a:t>
            </a:r>
          </a:p>
          <a:p>
            <a:pPr algn="ctr"/>
            <a:r>
              <a:rPr lang="en-US" sz="2000" b="1" dirty="0">
                <a:solidFill>
                  <a:srgbClr val="7030A0"/>
                </a:solidFill>
              </a:rPr>
              <a:t>Mr. Aniruddha Nirmal</a:t>
            </a:r>
          </a:p>
          <a:p>
            <a:pPr algn="ctr"/>
            <a:r>
              <a:rPr lang="en-US" sz="2000" b="1" dirty="0">
                <a:solidFill>
                  <a:schemeClr val="tx1"/>
                </a:solidFill>
              </a:rPr>
              <a:t>Assistant Professor</a:t>
            </a:r>
          </a:p>
          <a:p>
            <a:pPr algn="ctr"/>
            <a:r>
              <a:rPr lang="en-US" sz="2000" b="1" dirty="0">
                <a:solidFill>
                  <a:schemeClr val="tx1"/>
                </a:solidFill>
              </a:rPr>
              <a:t>Department of </a:t>
            </a:r>
            <a:r>
              <a:rPr lang="en-US" sz="2000" b="1" dirty="0" smtClean="0"/>
              <a:t>First Year</a:t>
            </a:r>
            <a:r>
              <a:rPr lang="en-US" sz="2000" b="1" dirty="0" smtClean="0">
                <a:solidFill>
                  <a:schemeClr val="tx1"/>
                </a:solidFill>
              </a:rPr>
              <a:t> </a:t>
            </a:r>
            <a:r>
              <a:rPr lang="en-US" sz="2000" b="1" dirty="0">
                <a:solidFill>
                  <a:schemeClr val="tx1"/>
                </a:solidFill>
              </a:rPr>
              <a:t>Engineering</a:t>
            </a:r>
          </a:p>
          <a:p>
            <a:pPr algn="ctr"/>
            <a:r>
              <a:rPr lang="en-US" sz="2000" b="1" dirty="0">
                <a:solidFill>
                  <a:schemeClr val="tx1"/>
                </a:solidFill>
              </a:rPr>
              <a:t>DPCOE Pune</a:t>
            </a:r>
          </a:p>
        </p:txBody>
      </p:sp>
      <p:sp>
        <p:nvSpPr>
          <p:cNvPr id="2054" name="Slide Number Placeholder 8"/>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BDA5BF94-32F5-448E-99BD-F87E4B49764B}" type="slidenum">
              <a:rPr lang="en-US" smtClean="0">
                <a:solidFill>
                  <a:srgbClr val="898989"/>
                </a:solidFill>
                <a:latin typeface="Calibri" pitchFamily="34" charset="0"/>
              </a:rPr>
              <a:pPr/>
              <a:t>1</a:t>
            </a:fld>
            <a:endParaRPr lang="en-US">
              <a:solidFill>
                <a:srgbClr val="898989"/>
              </a:solidFill>
              <a:latin typeface="Calibri" pitchFamily="34" charset="0"/>
            </a:endParaRPr>
          </a:p>
        </p:txBody>
      </p:sp>
      <p:sp>
        <p:nvSpPr>
          <p:cNvPr id="5" name="Title 1"/>
          <p:cNvSpPr txBox="1">
            <a:spLocks/>
          </p:cNvSpPr>
          <p:nvPr/>
        </p:nvSpPr>
        <p:spPr>
          <a:xfrm>
            <a:off x="2133600" y="2133600"/>
            <a:ext cx="8737600" cy="1447800"/>
          </a:xfrm>
          <a:prstGeom prst="rect">
            <a:avLst/>
          </a:prstGeom>
          <a:ln/>
        </p:spPr>
        <p:style>
          <a:lnRef idx="2">
            <a:schemeClr val="accent6"/>
          </a:lnRef>
          <a:fillRef idx="1">
            <a:schemeClr val="lt1"/>
          </a:fillRef>
          <a:effectRef idx="0">
            <a:schemeClr val="accent6"/>
          </a:effectRef>
          <a:fontRef idx="minor">
            <a:schemeClr val="dk1"/>
          </a:fontRef>
        </p:style>
        <p:txBody>
          <a:bodyPr anchor="ctr">
            <a:normAutofit fontScale="2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50000"/>
              </a:lnSpc>
              <a:defRPr/>
            </a:pPr>
            <a:r>
              <a:rPr lang="en-US" sz="16000" b="1" dirty="0">
                <a:solidFill>
                  <a:srgbClr val="7030A0"/>
                </a:solidFill>
                <a:latin typeface="+mn-lt"/>
              </a:rPr>
              <a:t>Basic Electronics </a:t>
            </a:r>
            <a:r>
              <a:rPr lang="en-US" sz="16000" b="1" dirty="0" smtClean="0">
                <a:solidFill>
                  <a:srgbClr val="7030A0"/>
                </a:solidFill>
                <a:latin typeface="+mn-lt"/>
              </a:rPr>
              <a:t>Engineering</a:t>
            </a:r>
            <a:r>
              <a:rPr lang="en-US" sz="16000" b="1" dirty="0">
                <a:solidFill>
                  <a:srgbClr val="7030A0"/>
                </a:solidFill>
                <a:latin typeface="+mn-lt"/>
              </a:rPr>
              <a:t/>
            </a:r>
            <a:br>
              <a:rPr lang="en-US" sz="16000" b="1" dirty="0">
                <a:solidFill>
                  <a:srgbClr val="7030A0"/>
                </a:solidFill>
                <a:latin typeface="+mn-lt"/>
              </a:rPr>
            </a:br>
            <a:r>
              <a:rPr lang="en-US" sz="12800" dirty="0">
                <a:solidFill>
                  <a:srgbClr val="FF0000"/>
                </a:solidFill>
                <a:latin typeface="+mn-lt"/>
              </a:rPr>
              <a:t>FE </a:t>
            </a:r>
            <a:r>
              <a:rPr lang="en-US" sz="12800" dirty="0" smtClean="0">
                <a:solidFill>
                  <a:srgbClr val="FF0000"/>
                </a:solidFill>
                <a:latin typeface="+mn-lt"/>
              </a:rPr>
              <a:t>2024 </a:t>
            </a:r>
            <a:r>
              <a:rPr lang="en-US" sz="12800" dirty="0">
                <a:solidFill>
                  <a:srgbClr val="FF0000"/>
                </a:solidFill>
                <a:latin typeface="+mn-lt"/>
              </a:rPr>
              <a:t>Course</a:t>
            </a:r>
            <a:endParaRPr lang="en-US" sz="14400" dirty="0">
              <a:solidFill>
                <a:srgbClr val="7030A0"/>
              </a:solidFill>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609600" y="152400"/>
            <a:ext cx="11112500" cy="685800"/>
          </a:xfrm>
        </p:spPr>
        <p:txBody>
          <a:bodyPr/>
          <a:lstStyle/>
          <a:p>
            <a:pPr marL="457200" indent="-457200">
              <a:buFontTx/>
              <a:buBlip>
                <a:blip r:embed="rId3"/>
              </a:buBlip>
            </a:pPr>
            <a:r>
              <a:rPr lang="en-US" sz="3600" b="1" dirty="0">
                <a:solidFill>
                  <a:srgbClr val="C00000"/>
                </a:solidFill>
                <a:latin typeface="Times New Roman" pitchFamily="18" charset="0"/>
                <a:cs typeface="Times New Roman" pitchFamily="18" charset="0"/>
              </a:rPr>
              <a:t>Unit </a:t>
            </a:r>
            <a:r>
              <a:rPr lang="en-US" sz="3600" b="1" dirty="0" smtClean="0">
                <a:solidFill>
                  <a:srgbClr val="C00000"/>
                </a:solidFill>
                <a:latin typeface="Times New Roman" pitchFamily="18" charset="0"/>
                <a:cs typeface="Times New Roman" pitchFamily="18" charset="0"/>
              </a:rPr>
              <a:t>5</a:t>
            </a:r>
            <a:r>
              <a:rPr lang="en-US" sz="3600" b="1" dirty="0" smtClean="0">
                <a:solidFill>
                  <a:srgbClr val="C00000"/>
                </a:solidFill>
                <a:latin typeface="Times New Roman" pitchFamily="18" charset="0"/>
                <a:cs typeface="Times New Roman" pitchFamily="18" charset="0"/>
              </a:rPr>
              <a:t> (ii): </a:t>
            </a:r>
            <a:r>
              <a:rPr lang="en-US" sz="3600" b="1" dirty="0">
                <a:solidFill>
                  <a:srgbClr val="C00000"/>
                </a:solidFill>
                <a:latin typeface="Times New Roman" pitchFamily="18" charset="0"/>
                <a:cs typeface="Times New Roman" pitchFamily="18" charset="0"/>
              </a:rPr>
              <a:t>Communication Systems</a:t>
            </a:r>
          </a:p>
        </p:txBody>
      </p:sp>
      <p:sp>
        <p:nvSpPr>
          <p:cNvPr id="3" name="Content Placeholder 2"/>
          <p:cNvSpPr>
            <a:spLocks noGrp="1"/>
          </p:cNvSpPr>
          <p:nvPr>
            <p:ph idx="1"/>
          </p:nvPr>
        </p:nvSpPr>
        <p:spPr>
          <a:xfrm>
            <a:off x="711200" y="792163"/>
            <a:ext cx="10998200" cy="5949950"/>
          </a:xfrm>
        </p:spPr>
        <p:txBody>
          <a:bodyPr>
            <a:normAutofit/>
          </a:bodyPr>
          <a:lstStyle/>
          <a:p>
            <a:pPr>
              <a:lnSpc>
                <a:spcPct val="120000"/>
              </a:lnSpc>
              <a:buFont typeface="Arial" charset="0"/>
              <a:buBlip>
                <a:blip r:embed="rId4"/>
              </a:buBlip>
              <a:defRPr/>
            </a:pPr>
            <a:r>
              <a:rPr lang="en-US" sz="3200" b="1" dirty="0">
                <a:solidFill>
                  <a:srgbClr val="00B0F0"/>
                </a:solidFill>
                <a:latin typeface="Times New Roman" pitchFamily="18" charset="0"/>
                <a:cs typeface="Times New Roman" pitchFamily="18" charset="0"/>
              </a:rPr>
              <a:t>Syllabus</a:t>
            </a:r>
          </a:p>
          <a:p>
            <a:pPr>
              <a:buFont typeface="Wingdings" pitchFamily="2" charset="2"/>
              <a:buChar char="Ø"/>
              <a:defRPr/>
            </a:pPr>
            <a:r>
              <a:rPr lang="en-US" sz="3000" b="1" dirty="0">
                <a:solidFill>
                  <a:srgbClr val="7030A0"/>
                </a:solidFill>
                <a:latin typeface="Times New Roman" pitchFamily="18" charset="0"/>
                <a:cs typeface="Times New Roman" pitchFamily="18" charset="0"/>
              </a:rPr>
              <a:t>Basic Communication System:</a:t>
            </a:r>
            <a:endParaRPr lang="en-US" sz="3000" dirty="0">
              <a:solidFill>
                <a:srgbClr val="7030A0"/>
              </a:solidFill>
              <a:latin typeface="Times New Roman" pitchFamily="18" charset="0"/>
              <a:cs typeface="Times New Roman" pitchFamily="18" charset="0"/>
            </a:endParaRPr>
          </a:p>
          <a:p>
            <a:pPr>
              <a:defRPr/>
            </a:pPr>
            <a:r>
              <a:rPr lang="en-US" dirty="0">
                <a:latin typeface="Times New Roman" pitchFamily="18" charset="0"/>
                <a:cs typeface="Times New Roman" pitchFamily="18" charset="0"/>
              </a:rPr>
              <a:t>Block Diagram</a:t>
            </a:r>
          </a:p>
          <a:p>
            <a:pPr>
              <a:defRPr/>
            </a:pPr>
            <a:r>
              <a:rPr lang="en-US" dirty="0" smtClean="0">
                <a:latin typeface="Times New Roman" pitchFamily="18" charset="0"/>
                <a:cs typeface="Times New Roman" pitchFamily="18" charset="0"/>
              </a:rPr>
              <a:t>Communication </a:t>
            </a:r>
            <a:r>
              <a:rPr lang="en-US" dirty="0">
                <a:latin typeface="Times New Roman" pitchFamily="18" charset="0"/>
                <a:cs typeface="Times New Roman" pitchFamily="18" charset="0"/>
              </a:rPr>
              <a:t>Media: Wired and Wireless</a:t>
            </a:r>
          </a:p>
          <a:p>
            <a:pPr>
              <a:defRPr/>
            </a:pPr>
            <a:r>
              <a:rPr lang="en-US" dirty="0">
                <a:latin typeface="Times New Roman" pitchFamily="18" charset="0"/>
                <a:cs typeface="Times New Roman" pitchFamily="18" charset="0"/>
              </a:rPr>
              <a:t>Electromagnetic Spectrum, Allotment of frequency band for different applications</a:t>
            </a:r>
          </a:p>
          <a:p>
            <a:pPr>
              <a:buFont typeface="Wingdings" pitchFamily="2" charset="2"/>
              <a:buChar char="Ø"/>
              <a:defRPr/>
            </a:pPr>
            <a:endParaRPr lang="en-US" sz="3000" b="1" dirty="0" smtClean="0">
              <a:solidFill>
                <a:srgbClr val="7030A0"/>
              </a:solidFill>
              <a:latin typeface="Times New Roman" pitchFamily="18" charset="0"/>
              <a:cs typeface="Times New Roman" pitchFamily="18" charset="0"/>
            </a:endParaRPr>
          </a:p>
          <a:p>
            <a:pPr>
              <a:buFont typeface="Wingdings" pitchFamily="2" charset="2"/>
              <a:buChar char="Ø"/>
              <a:defRPr/>
            </a:pPr>
            <a:r>
              <a:rPr lang="en-US" sz="3000" b="1" dirty="0" smtClean="0">
                <a:solidFill>
                  <a:srgbClr val="7030A0"/>
                </a:solidFill>
                <a:latin typeface="Times New Roman" pitchFamily="18" charset="0"/>
                <a:cs typeface="Times New Roman" pitchFamily="18" charset="0"/>
              </a:rPr>
              <a:t>Mobile </a:t>
            </a:r>
            <a:r>
              <a:rPr lang="en-US" sz="3000" b="1" dirty="0">
                <a:solidFill>
                  <a:srgbClr val="7030A0"/>
                </a:solidFill>
                <a:latin typeface="Times New Roman" pitchFamily="18" charset="0"/>
                <a:cs typeface="Times New Roman" pitchFamily="18" charset="0"/>
              </a:rPr>
              <a:t>Communication System: </a:t>
            </a:r>
            <a:endParaRPr lang="en-US" sz="3000" dirty="0">
              <a:solidFill>
                <a:srgbClr val="7030A0"/>
              </a:solidFill>
              <a:latin typeface="Times New Roman" pitchFamily="18" charset="0"/>
              <a:cs typeface="Times New Roman" pitchFamily="18" charset="0"/>
            </a:endParaRPr>
          </a:p>
          <a:p>
            <a:pPr>
              <a:defRPr/>
            </a:pPr>
            <a:r>
              <a:rPr lang="en-US" dirty="0">
                <a:latin typeface="Times New Roman" pitchFamily="18" charset="0"/>
                <a:cs typeface="Times New Roman" pitchFamily="18" charset="0"/>
              </a:rPr>
              <a:t>Cellular concept</a:t>
            </a:r>
          </a:p>
          <a:p>
            <a:pPr>
              <a:defRPr/>
            </a:pPr>
            <a:r>
              <a:rPr lang="en-US" dirty="0">
                <a:latin typeface="Times New Roman" pitchFamily="18" charset="0"/>
                <a:cs typeface="Times New Roman" pitchFamily="18" charset="0"/>
              </a:rPr>
              <a:t>Simple block diagram of GSM system. </a:t>
            </a:r>
          </a:p>
          <a:p>
            <a:pPr marL="0" indent="0">
              <a:lnSpc>
                <a:spcPct val="170000"/>
              </a:lnSpc>
              <a:buFont typeface="Arial" charset="0"/>
              <a:buNone/>
              <a:defRPr/>
            </a:pPr>
            <a:endParaRPr lang="en-US" sz="5900" dirty="0">
              <a:solidFill>
                <a:srgbClr val="00B0F0"/>
              </a:solidFill>
            </a:endParaRPr>
          </a:p>
        </p:txBody>
      </p:sp>
      <p:sp>
        <p:nvSpPr>
          <p:cNvPr id="3076" name="Slide Number Placeholder 3"/>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0FD483D1-2454-4AE3-9A50-83E83CC11504}" type="slidenum">
              <a:rPr lang="en-US" smtClean="0">
                <a:solidFill>
                  <a:srgbClr val="898989"/>
                </a:solidFill>
                <a:latin typeface="Calibri" pitchFamily="34" charset="0"/>
              </a:rPr>
              <a:pPr/>
              <a:t>2</a:t>
            </a:fld>
            <a:endParaRPr lang="en-US">
              <a:solidFill>
                <a:srgbClr val="898989"/>
              </a:solidFill>
              <a:latin typeface="Calibri"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524000" y="347663"/>
            <a:ext cx="9144000" cy="593725"/>
          </a:xfrm>
        </p:spPr>
        <p:txBody>
          <a:bodyPr/>
          <a:lstStyle/>
          <a:p>
            <a:pPr marL="571500" indent="-571500" algn="l" eaLnBrk="1" hangingPunct="1">
              <a:buFontTx/>
              <a:buBlip>
                <a:blip r:embed="rId2"/>
              </a:buBlip>
            </a:pPr>
            <a:r>
              <a:rPr lang="en-US" altLang="en-US" sz="3600" b="1">
                <a:solidFill>
                  <a:srgbClr val="C00000"/>
                </a:solidFill>
                <a:latin typeface="Times New Roman" pitchFamily="18" charset="0"/>
                <a:cs typeface="Times New Roman" pitchFamily="18" charset="0"/>
              </a:rPr>
              <a:t>Prerequisites</a:t>
            </a:r>
          </a:p>
        </p:txBody>
      </p:sp>
      <p:sp>
        <p:nvSpPr>
          <p:cNvPr id="3" name="Subtitle 2"/>
          <p:cNvSpPr>
            <a:spLocks noGrp="1"/>
          </p:cNvSpPr>
          <p:nvPr>
            <p:ph type="subTitle" idx="1"/>
          </p:nvPr>
        </p:nvSpPr>
        <p:spPr>
          <a:xfrm>
            <a:off x="592138" y="1323975"/>
            <a:ext cx="10677525" cy="5064125"/>
          </a:xfrm>
        </p:spPr>
        <p:txBody>
          <a:bodyPr rtlCol="0">
            <a:normAutofit/>
          </a:bodyPr>
          <a:lstStyle/>
          <a:p>
            <a:pPr marL="342900" indent="-342900" algn="l" eaLnBrk="1" fontAlgn="auto" hangingPunct="1">
              <a:spcAft>
                <a:spcPts val="0"/>
              </a:spcAft>
              <a:buFont typeface="Arial" panose="020B0604020202020204" pitchFamily="34" charset="0"/>
              <a:buChar char="•"/>
              <a:defRPr/>
            </a:pPr>
            <a:r>
              <a:rPr lang="en-US" sz="3200" dirty="0"/>
              <a:t>Terminologies in Communication Systems</a:t>
            </a:r>
          </a:p>
          <a:p>
            <a:pPr marL="342900" indent="-342900" algn="l" eaLnBrk="1" fontAlgn="auto" hangingPunct="1">
              <a:spcAft>
                <a:spcPts val="0"/>
              </a:spcAft>
              <a:buFont typeface="Arial" panose="020B0604020202020204" pitchFamily="34" charset="0"/>
              <a:buChar char="•"/>
              <a:defRPr/>
            </a:pPr>
            <a:endParaRPr lang="en-US" sz="3200" dirty="0"/>
          </a:p>
          <a:p>
            <a:pPr marL="342900" indent="-342900" algn="l" eaLnBrk="1" fontAlgn="auto" hangingPunct="1">
              <a:spcAft>
                <a:spcPts val="0"/>
              </a:spcAft>
              <a:buFont typeface="Arial" panose="020B0604020202020204" pitchFamily="34" charset="0"/>
              <a:buChar char="•"/>
              <a:defRPr/>
            </a:pPr>
            <a:r>
              <a:rPr lang="en-US" sz="3200" dirty="0"/>
              <a:t>Introduction to modulation</a:t>
            </a:r>
          </a:p>
          <a:p>
            <a:pPr marL="342900" indent="-342900" algn="l" eaLnBrk="1" fontAlgn="auto" hangingPunct="1">
              <a:spcAft>
                <a:spcPts val="0"/>
              </a:spcAft>
              <a:buFont typeface="Arial" panose="020B0604020202020204" pitchFamily="34" charset="0"/>
              <a:buChar char="•"/>
              <a:defRPr/>
            </a:pPr>
            <a:endParaRPr lang="en-US" sz="3200" dirty="0"/>
          </a:p>
          <a:p>
            <a:pPr marL="342900" indent="-342900" algn="l" eaLnBrk="1" fontAlgn="auto" hangingPunct="1">
              <a:spcAft>
                <a:spcPts val="0"/>
              </a:spcAft>
              <a:buFont typeface="Arial" panose="020B0604020202020204" pitchFamily="34" charset="0"/>
              <a:buChar char="•"/>
              <a:defRPr/>
            </a:pPr>
            <a:r>
              <a:rPr lang="en-US" sz="3200" dirty="0"/>
              <a:t>Need of modulation</a:t>
            </a:r>
          </a:p>
          <a:p>
            <a:pPr algn="l" eaLnBrk="1" fontAlgn="auto" hangingPunct="1">
              <a:spcAft>
                <a:spcPts val="0"/>
              </a:spcAft>
              <a:buFont typeface="Arial" panose="020B0604020202020204" pitchFamily="34" charset="0"/>
              <a:buNone/>
              <a:defRPr/>
            </a:pPr>
            <a:endParaRPr lang="en-US" sz="3200" dirty="0"/>
          </a:p>
          <a:p>
            <a:pPr marL="342900" indent="-342900" algn="l" eaLnBrk="1" fontAlgn="auto" hangingPunct="1">
              <a:spcAft>
                <a:spcPts val="0"/>
              </a:spcAft>
              <a:buFont typeface="Arial" panose="020B0604020202020204" pitchFamily="34" charset="0"/>
              <a:buChar char="•"/>
              <a:defRPr/>
            </a:pPr>
            <a:r>
              <a:rPr lang="en-US" sz="3200" dirty="0"/>
              <a:t>Types of Modulation</a:t>
            </a:r>
          </a:p>
          <a:p>
            <a:pPr algn="l" eaLnBrk="1" fontAlgn="auto" hangingPunct="1">
              <a:spcAft>
                <a:spcPts val="0"/>
              </a:spcAft>
              <a:buFont typeface="Arial" panose="020B0604020202020204" pitchFamily="34" charset="0"/>
              <a:buNone/>
              <a:defRPr/>
            </a:pPr>
            <a:endParaRPr lang="en-US" sz="3200" dirty="0"/>
          </a:p>
          <a:p>
            <a:pPr marL="342900" indent="-342900" algn="l" eaLnBrk="1" fontAlgn="auto" hangingPunct="1">
              <a:spcAft>
                <a:spcPts val="0"/>
              </a:spcAft>
              <a:buFont typeface="Arial" panose="020B0604020202020204" pitchFamily="34" charset="0"/>
              <a:buChar char="•"/>
              <a:defRPr/>
            </a:pPr>
            <a:r>
              <a:rPr lang="en-US" sz="3200" dirty="0"/>
              <a:t>Brief introduction of AM and FM transmission </a:t>
            </a:r>
          </a:p>
          <a:p>
            <a:pPr marL="342900" indent="-342900" algn="l" eaLnBrk="1" fontAlgn="auto" hangingPunct="1">
              <a:spcAft>
                <a:spcPts val="0"/>
              </a:spcAft>
              <a:buFont typeface="Arial" panose="020B0604020202020204" pitchFamily="34" charset="0"/>
              <a:buChar char="•"/>
              <a:defRPr/>
            </a:pPr>
            <a:endParaRPr lang="en-US" dirty="0"/>
          </a:p>
          <a:p>
            <a:pPr marL="342900" indent="-342900" algn="l" eaLnBrk="1" fontAlgn="auto" hangingPunct="1">
              <a:spcAft>
                <a:spcPts val="0"/>
              </a:spcAft>
              <a:buFont typeface="Arial" panose="020B0604020202020204" pitchFamily="34" charset="0"/>
              <a:buChar char="•"/>
              <a:defRPr/>
            </a:pPr>
            <a:endParaRPr lang="en-US" dirty="0"/>
          </a:p>
        </p:txBody>
      </p:sp>
      <p:sp>
        <p:nvSpPr>
          <p:cNvPr id="2" name="Slide Number Placeholder 1"/>
          <p:cNvSpPr>
            <a:spLocks noGrp="1"/>
          </p:cNvSpPr>
          <p:nvPr>
            <p:ph type="sldNum" sz="quarter" idx="12"/>
          </p:nvPr>
        </p:nvSpPr>
        <p:spPr/>
        <p:txBody>
          <a:bodyPr/>
          <a:lstStyle/>
          <a:p>
            <a:pPr>
              <a:defRPr/>
            </a:pPr>
            <a:fld id="{D9E9B717-B98D-47AB-B392-2C61532105C9}" type="slidenum">
              <a:rPr lang="en-US" altLang="en-US" smtClean="0"/>
              <a:pPr>
                <a:defRPr/>
              </a:pPr>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ctrTitle"/>
          </p:nvPr>
        </p:nvSpPr>
        <p:spPr>
          <a:xfrm>
            <a:off x="1524000" y="246063"/>
            <a:ext cx="7494588" cy="577850"/>
          </a:xfrm>
        </p:spPr>
        <p:txBody>
          <a:bodyPr/>
          <a:lstStyle/>
          <a:p>
            <a:pPr marL="571500" indent="-571500" eaLnBrk="1" hangingPunct="1">
              <a:buFontTx/>
              <a:buBlip>
                <a:blip r:embed="rId2"/>
              </a:buBlip>
            </a:pPr>
            <a:r>
              <a:rPr lang="en-US" altLang="en-US" sz="3600" b="1">
                <a:solidFill>
                  <a:srgbClr val="C00000"/>
                </a:solidFill>
                <a:latin typeface="Times New Roman" pitchFamily="18" charset="0"/>
                <a:cs typeface="Times New Roman" pitchFamily="18" charset="0"/>
              </a:rPr>
              <a:t>Communication Systems</a:t>
            </a:r>
          </a:p>
        </p:txBody>
      </p:sp>
      <p:sp>
        <p:nvSpPr>
          <p:cNvPr id="2" name="Slide Number Placeholder 1"/>
          <p:cNvSpPr>
            <a:spLocks noGrp="1"/>
          </p:cNvSpPr>
          <p:nvPr>
            <p:ph type="sldNum" sz="quarter" idx="12"/>
          </p:nvPr>
        </p:nvSpPr>
        <p:spPr/>
        <p:txBody>
          <a:bodyPr/>
          <a:lstStyle/>
          <a:p>
            <a:pPr>
              <a:defRPr/>
            </a:pPr>
            <a:fld id="{D9E9B717-B98D-47AB-B392-2C61532105C9}" type="slidenum">
              <a:rPr lang="en-US" altLang="en-US" smtClean="0"/>
              <a:pPr>
                <a:defRPr/>
              </a:pPr>
              <a:t>4</a:t>
            </a:fld>
            <a:endParaRPr lang="en-US" altLang="en-US"/>
          </a:p>
        </p:txBody>
      </p:sp>
      <p:grpSp>
        <p:nvGrpSpPr>
          <p:cNvPr id="5123" name="Canvas 186"/>
          <p:cNvGrpSpPr>
            <a:grpSpLocks/>
          </p:cNvGrpSpPr>
          <p:nvPr/>
        </p:nvGrpSpPr>
        <p:grpSpPr bwMode="auto">
          <a:xfrm>
            <a:off x="331788" y="1325563"/>
            <a:ext cx="11350625" cy="5072062"/>
            <a:chOff x="0" y="0"/>
            <a:chExt cx="6419850" cy="2849086"/>
          </a:xfrm>
        </p:grpSpPr>
        <p:sp>
          <p:nvSpPr>
            <p:cNvPr id="5125" name="Rectangle 9"/>
            <p:cNvSpPr>
              <a:spLocks noChangeArrowheads="1"/>
            </p:cNvSpPr>
            <p:nvPr/>
          </p:nvSpPr>
          <p:spPr bwMode="auto">
            <a:xfrm>
              <a:off x="0" y="0"/>
              <a:ext cx="6419850" cy="27895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1" name="Text Box 2059"/>
            <p:cNvSpPr txBox="1"/>
            <p:nvPr/>
          </p:nvSpPr>
          <p:spPr>
            <a:xfrm>
              <a:off x="116725" y="855171"/>
              <a:ext cx="903268" cy="524339"/>
            </a:xfrm>
            <a:prstGeom prst="rect">
              <a:avLst/>
            </a:prstGeom>
            <a:solidFill>
              <a:schemeClr val="lt1"/>
            </a:solidFill>
            <a:ln w="28575">
              <a:solidFill>
                <a:srgbClr val="C00000"/>
              </a:solidFill>
            </a:ln>
            <a:effectLst/>
          </p:spPr>
          <p:style>
            <a:lnRef idx="0">
              <a:schemeClr val="accent1"/>
            </a:lnRef>
            <a:fillRef idx="0">
              <a:schemeClr val="accent1"/>
            </a:fillRef>
            <a:effectRef idx="0">
              <a:schemeClr val="accent1"/>
            </a:effectRef>
            <a:fontRef idx="minor">
              <a:schemeClr val="dk1"/>
            </a:fontRef>
          </p:style>
          <p:txBody>
            <a:bodyPr anchor="ctr"/>
            <a:lstStyle/>
            <a:p>
              <a:pPr algn="ctr">
                <a:spcBef>
                  <a:spcPts val="0"/>
                </a:spcBef>
                <a:spcAft>
                  <a:spcPts val="0"/>
                </a:spcAft>
                <a:defRPr/>
              </a:pPr>
              <a:r>
                <a:rPr lang="en-US" sz="2400" b="1" dirty="0">
                  <a:solidFill>
                    <a:srgbClr val="7030A0"/>
                  </a:solidFill>
                  <a:latin typeface="Arial Narrow"/>
                  <a:ea typeface="Times New Roman"/>
                  <a:cs typeface="Times New Roman"/>
                </a:rPr>
                <a:t>Information</a:t>
              </a:r>
              <a:endParaRPr lang="en-US" sz="2400" dirty="0">
                <a:ea typeface="Times New Roman"/>
                <a:cs typeface="Times New Roman"/>
              </a:endParaRPr>
            </a:p>
            <a:p>
              <a:pPr algn="ctr">
                <a:spcBef>
                  <a:spcPts val="0"/>
                </a:spcBef>
                <a:spcAft>
                  <a:spcPts val="0"/>
                </a:spcAft>
                <a:defRPr/>
              </a:pPr>
              <a:r>
                <a:rPr lang="en-US" sz="2400" b="1" dirty="0">
                  <a:solidFill>
                    <a:srgbClr val="7030A0"/>
                  </a:solidFill>
                  <a:latin typeface="Arial Narrow"/>
                  <a:ea typeface="Times New Roman"/>
                  <a:cs typeface="Times New Roman"/>
                </a:rPr>
                <a:t>Source</a:t>
              </a:r>
              <a:endParaRPr lang="en-US" sz="2400" dirty="0">
                <a:ea typeface="Times New Roman"/>
                <a:cs typeface="Times New Roman"/>
              </a:endParaRPr>
            </a:p>
          </p:txBody>
        </p:sp>
        <p:sp>
          <p:nvSpPr>
            <p:cNvPr id="12" name="Text Box 2059"/>
            <p:cNvSpPr txBox="1"/>
            <p:nvPr/>
          </p:nvSpPr>
          <p:spPr>
            <a:xfrm>
              <a:off x="4190411" y="856063"/>
              <a:ext cx="726386" cy="523447"/>
            </a:xfrm>
            <a:prstGeom prst="rect">
              <a:avLst/>
            </a:prstGeom>
            <a:solidFill>
              <a:schemeClr val="lt1"/>
            </a:solidFill>
            <a:ln w="28575">
              <a:solidFill>
                <a:srgbClr val="C00000"/>
              </a:solidFill>
            </a:ln>
            <a:effectLst/>
          </p:spPr>
          <p:style>
            <a:lnRef idx="0">
              <a:schemeClr val="accent1"/>
            </a:lnRef>
            <a:fillRef idx="0">
              <a:schemeClr val="accent1"/>
            </a:fillRef>
            <a:effectRef idx="0">
              <a:schemeClr val="accent1"/>
            </a:effectRef>
            <a:fontRef idx="minor">
              <a:schemeClr val="dk1"/>
            </a:fontRef>
          </p:style>
          <p:txBody>
            <a:bodyPr anchor="ctr"/>
            <a:lstStyle/>
            <a:p>
              <a:pPr algn="ctr">
                <a:lnSpc>
                  <a:spcPct val="150000"/>
                </a:lnSpc>
                <a:spcBef>
                  <a:spcPts val="0"/>
                </a:spcBef>
                <a:spcAft>
                  <a:spcPts val="0"/>
                </a:spcAft>
                <a:defRPr/>
              </a:pPr>
              <a:r>
                <a:rPr lang="en-US" sz="2400" b="1" dirty="0">
                  <a:solidFill>
                    <a:srgbClr val="7030A0"/>
                  </a:solidFill>
                  <a:latin typeface="Arial Narrow"/>
                  <a:ea typeface="Times New Roman"/>
                  <a:cs typeface="Times New Roman"/>
                </a:rPr>
                <a:t>Receiver</a:t>
              </a:r>
              <a:endParaRPr lang="en-US" sz="2400" dirty="0">
                <a:ea typeface="Times New Roman"/>
                <a:cs typeface="Times New Roman"/>
              </a:endParaRPr>
            </a:p>
          </p:txBody>
        </p:sp>
        <p:sp>
          <p:nvSpPr>
            <p:cNvPr id="13" name="Text Box 141"/>
            <p:cNvSpPr txBox="1"/>
            <p:nvPr/>
          </p:nvSpPr>
          <p:spPr>
            <a:xfrm>
              <a:off x="1429427" y="861414"/>
              <a:ext cx="904166" cy="526122"/>
            </a:xfrm>
            <a:prstGeom prst="rect">
              <a:avLst/>
            </a:prstGeom>
            <a:solidFill>
              <a:schemeClr val="lt1"/>
            </a:solidFill>
            <a:ln w="28575">
              <a:solidFill>
                <a:srgbClr val="C00000"/>
              </a:solidFill>
            </a:ln>
            <a:effectLst/>
          </p:spPr>
          <p:style>
            <a:lnRef idx="0">
              <a:schemeClr val="accent1"/>
            </a:lnRef>
            <a:fillRef idx="0">
              <a:schemeClr val="accent1"/>
            </a:fillRef>
            <a:effectRef idx="0">
              <a:schemeClr val="accent1"/>
            </a:effectRef>
            <a:fontRef idx="minor">
              <a:schemeClr val="dk1"/>
            </a:fontRef>
          </p:style>
          <p:txBody>
            <a:bodyPr anchor="ctr"/>
            <a:lstStyle/>
            <a:p>
              <a:pPr algn="ctr">
                <a:lnSpc>
                  <a:spcPct val="150000"/>
                </a:lnSpc>
                <a:spcBef>
                  <a:spcPts val="0"/>
                </a:spcBef>
                <a:spcAft>
                  <a:spcPts val="0"/>
                </a:spcAft>
                <a:defRPr/>
              </a:pPr>
              <a:r>
                <a:rPr lang="en-US" sz="2400" b="1" dirty="0">
                  <a:solidFill>
                    <a:srgbClr val="7030A0"/>
                  </a:solidFill>
                  <a:latin typeface="Arial Narrow"/>
                  <a:ea typeface="Times New Roman"/>
                  <a:cs typeface="Times New Roman"/>
                </a:rPr>
                <a:t>Transmitter</a:t>
              </a:r>
              <a:endParaRPr lang="en-US" sz="2400" dirty="0">
                <a:ea typeface="Times New Roman"/>
                <a:cs typeface="Times New Roman"/>
              </a:endParaRPr>
            </a:p>
          </p:txBody>
        </p:sp>
        <p:sp>
          <p:nvSpPr>
            <p:cNvPr id="14" name="Text Box 2059"/>
            <p:cNvSpPr txBox="1"/>
            <p:nvPr/>
          </p:nvSpPr>
          <p:spPr>
            <a:xfrm>
              <a:off x="2707111" y="856063"/>
              <a:ext cx="1188795" cy="538607"/>
            </a:xfrm>
            <a:prstGeom prst="rect">
              <a:avLst/>
            </a:prstGeom>
            <a:solidFill>
              <a:schemeClr val="lt1"/>
            </a:solidFill>
            <a:ln w="28575">
              <a:solidFill>
                <a:srgbClr val="C00000"/>
              </a:solidFill>
            </a:ln>
            <a:effectLst/>
          </p:spPr>
          <p:style>
            <a:lnRef idx="0">
              <a:schemeClr val="accent1"/>
            </a:lnRef>
            <a:fillRef idx="0">
              <a:schemeClr val="accent1"/>
            </a:fillRef>
            <a:effectRef idx="0">
              <a:schemeClr val="accent1"/>
            </a:effectRef>
            <a:fontRef idx="minor">
              <a:schemeClr val="dk1"/>
            </a:fontRef>
          </p:style>
          <p:txBody>
            <a:bodyPr anchor="ctr"/>
            <a:lstStyle/>
            <a:p>
              <a:pPr algn="ctr">
                <a:spcBef>
                  <a:spcPts val="0"/>
                </a:spcBef>
                <a:spcAft>
                  <a:spcPts val="0"/>
                </a:spcAft>
                <a:defRPr/>
              </a:pPr>
              <a:r>
                <a:rPr lang="en-US" sz="2400" b="1" dirty="0">
                  <a:solidFill>
                    <a:srgbClr val="7030A0"/>
                  </a:solidFill>
                  <a:latin typeface="Arial Narrow"/>
                  <a:ea typeface="Times New Roman"/>
                  <a:cs typeface="Times New Roman"/>
                </a:rPr>
                <a:t>Communication Channel</a:t>
              </a:r>
              <a:endParaRPr lang="en-US" sz="2400" dirty="0">
                <a:ea typeface="Times New Roman"/>
                <a:cs typeface="Times New Roman"/>
              </a:endParaRPr>
            </a:p>
            <a:p>
              <a:pPr algn="ctr">
                <a:lnSpc>
                  <a:spcPct val="150000"/>
                </a:lnSpc>
                <a:spcBef>
                  <a:spcPts val="0"/>
                </a:spcBef>
                <a:spcAft>
                  <a:spcPts val="0"/>
                </a:spcAft>
                <a:defRPr/>
              </a:pPr>
              <a:r>
                <a:rPr lang="en-US" sz="1000" dirty="0">
                  <a:solidFill>
                    <a:srgbClr val="000000"/>
                  </a:solidFill>
                  <a:latin typeface="Arial Narrow"/>
                  <a:ea typeface="Times New Roman"/>
                  <a:cs typeface="Times New Roman"/>
                </a:rPr>
                <a:t> </a:t>
              </a:r>
              <a:endParaRPr lang="en-US" sz="1100" dirty="0">
                <a:ea typeface="Times New Roman"/>
                <a:cs typeface="Times New Roman"/>
              </a:endParaRPr>
            </a:p>
          </p:txBody>
        </p:sp>
        <p:sp>
          <p:nvSpPr>
            <p:cNvPr id="15" name="Text Box 2059"/>
            <p:cNvSpPr txBox="1"/>
            <p:nvPr/>
          </p:nvSpPr>
          <p:spPr>
            <a:xfrm>
              <a:off x="5328027" y="873898"/>
              <a:ext cx="894290" cy="505612"/>
            </a:xfrm>
            <a:prstGeom prst="rect">
              <a:avLst/>
            </a:prstGeom>
            <a:solidFill>
              <a:schemeClr val="lt1"/>
            </a:solidFill>
            <a:ln w="28575">
              <a:solidFill>
                <a:srgbClr val="C00000"/>
              </a:solidFill>
            </a:ln>
            <a:effectLst/>
          </p:spPr>
          <p:style>
            <a:lnRef idx="0">
              <a:schemeClr val="accent1"/>
            </a:lnRef>
            <a:fillRef idx="0">
              <a:schemeClr val="accent1"/>
            </a:fillRef>
            <a:effectRef idx="0">
              <a:schemeClr val="accent1"/>
            </a:effectRef>
            <a:fontRef idx="minor">
              <a:schemeClr val="dk1"/>
            </a:fontRef>
          </p:style>
          <p:txBody>
            <a:bodyPr anchor="ctr"/>
            <a:lstStyle/>
            <a:p>
              <a:pPr algn="ctr">
                <a:lnSpc>
                  <a:spcPct val="150000"/>
                </a:lnSpc>
                <a:spcBef>
                  <a:spcPts val="0"/>
                </a:spcBef>
                <a:spcAft>
                  <a:spcPts val="0"/>
                </a:spcAft>
                <a:defRPr/>
              </a:pPr>
              <a:r>
                <a:rPr lang="en-US" sz="2400" b="1" dirty="0">
                  <a:solidFill>
                    <a:srgbClr val="7030A0"/>
                  </a:solidFill>
                  <a:latin typeface="Arial Narrow"/>
                  <a:ea typeface="Times New Roman"/>
                  <a:cs typeface="Times New Roman"/>
                </a:rPr>
                <a:t>Destination</a:t>
              </a:r>
              <a:endParaRPr lang="en-US" sz="2400" dirty="0">
                <a:ea typeface="Times New Roman"/>
                <a:cs typeface="Times New Roman"/>
              </a:endParaRPr>
            </a:p>
          </p:txBody>
        </p:sp>
        <p:sp>
          <p:nvSpPr>
            <p:cNvPr id="16" name="Text Box 84"/>
            <p:cNvSpPr txBox="1"/>
            <p:nvPr/>
          </p:nvSpPr>
          <p:spPr>
            <a:xfrm>
              <a:off x="1429427" y="290705"/>
              <a:ext cx="855680" cy="22917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wrap="none"/>
            <a:lstStyle/>
            <a:p>
              <a:pPr algn="ctr">
                <a:spcBef>
                  <a:spcPts val="0"/>
                </a:spcBef>
                <a:spcAft>
                  <a:spcPts val="0"/>
                </a:spcAft>
                <a:defRPr/>
              </a:pPr>
              <a:r>
                <a:rPr lang="en-US" sz="2400" b="1" dirty="0">
                  <a:solidFill>
                    <a:srgbClr val="FF0000"/>
                  </a:solidFill>
                  <a:latin typeface="Arial Narrow"/>
                  <a:ea typeface="Times New Roman"/>
                </a:rPr>
                <a:t>Modulation</a:t>
              </a:r>
              <a:endParaRPr lang="en-US" sz="2400" dirty="0">
                <a:latin typeface="Times New Roman"/>
                <a:ea typeface="Times New Roman"/>
              </a:endParaRPr>
            </a:p>
          </p:txBody>
        </p:sp>
        <p:cxnSp>
          <p:nvCxnSpPr>
            <p:cNvPr id="17" name="Straight Arrow Connector 16"/>
            <p:cNvCxnSpPr/>
            <p:nvPr/>
          </p:nvCxnSpPr>
          <p:spPr>
            <a:xfrm flipV="1">
              <a:off x="1019993" y="1137851"/>
              <a:ext cx="409434" cy="0"/>
            </a:xfrm>
            <a:prstGeom prst="straightConnector1">
              <a:avLst/>
            </a:prstGeom>
            <a:ln w="28575">
              <a:solidFill>
                <a:srgbClr val="00B0F0"/>
              </a:solidFill>
              <a:tailEnd type="arrow"/>
            </a:ln>
          </p:spPr>
          <p:style>
            <a:lnRef idx="1">
              <a:schemeClr val="accent2"/>
            </a:lnRef>
            <a:fillRef idx="0">
              <a:schemeClr val="accent2"/>
            </a:fillRef>
            <a:effectRef idx="0">
              <a:schemeClr val="accent2"/>
            </a:effectRef>
            <a:fontRef idx="minor">
              <a:schemeClr val="tx1"/>
            </a:fontRef>
          </p:style>
        </p:cxnSp>
        <p:cxnSp>
          <p:nvCxnSpPr>
            <p:cNvPr id="18" name="Straight Arrow Connector 17"/>
            <p:cNvCxnSpPr>
              <a:stCxn id="13" idx="3"/>
              <a:endCxn id="14" idx="1"/>
            </p:cNvCxnSpPr>
            <p:nvPr/>
          </p:nvCxnSpPr>
          <p:spPr>
            <a:xfrm>
              <a:off x="2333593" y="1124475"/>
              <a:ext cx="373519" cy="892"/>
            </a:xfrm>
            <a:prstGeom prst="straightConnector1">
              <a:avLst/>
            </a:prstGeom>
            <a:ln w="28575">
              <a:solidFill>
                <a:srgbClr val="00B0F0"/>
              </a:solidFill>
              <a:tailEnd type="arrow"/>
            </a:ln>
          </p:spPr>
          <p:style>
            <a:lnRef idx="1">
              <a:schemeClr val="accent2"/>
            </a:lnRef>
            <a:fillRef idx="0">
              <a:schemeClr val="accent2"/>
            </a:fillRef>
            <a:effectRef idx="0">
              <a:schemeClr val="accent2"/>
            </a:effectRef>
            <a:fontRef idx="minor">
              <a:schemeClr val="tx1"/>
            </a:fontRef>
          </p:style>
        </p:cxnSp>
        <p:cxnSp>
          <p:nvCxnSpPr>
            <p:cNvPr id="19" name="Straight Arrow Connector 18"/>
            <p:cNvCxnSpPr>
              <a:stCxn id="14" idx="3"/>
              <a:endCxn id="12" idx="1"/>
            </p:cNvCxnSpPr>
            <p:nvPr/>
          </p:nvCxnSpPr>
          <p:spPr>
            <a:xfrm flipV="1">
              <a:off x="3895906" y="1118233"/>
              <a:ext cx="294505" cy="7134"/>
            </a:xfrm>
            <a:prstGeom prst="straightConnector1">
              <a:avLst/>
            </a:prstGeom>
            <a:ln w="28575">
              <a:solidFill>
                <a:srgbClr val="00B0F0"/>
              </a:solidFill>
              <a:tailEnd type="arrow"/>
            </a:ln>
          </p:spPr>
          <p:style>
            <a:lnRef idx="1">
              <a:schemeClr val="accent2"/>
            </a:lnRef>
            <a:fillRef idx="0">
              <a:schemeClr val="accent2"/>
            </a:fillRef>
            <a:effectRef idx="0">
              <a:schemeClr val="accent2"/>
            </a:effectRef>
            <a:fontRef idx="minor">
              <a:schemeClr val="tx1"/>
            </a:fontRef>
          </p:style>
        </p:cxnSp>
        <p:cxnSp>
          <p:nvCxnSpPr>
            <p:cNvPr id="20" name="Straight Arrow Connector 19"/>
            <p:cNvCxnSpPr/>
            <p:nvPr/>
          </p:nvCxnSpPr>
          <p:spPr>
            <a:xfrm flipV="1">
              <a:off x="4913205" y="1134284"/>
              <a:ext cx="408536" cy="0"/>
            </a:xfrm>
            <a:prstGeom prst="straightConnector1">
              <a:avLst/>
            </a:prstGeom>
            <a:ln w="28575">
              <a:solidFill>
                <a:srgbClr val="00B0F0"/>
              </a:solidFill>
              <a:tailEnd type="arrow"/>
            </a:ln>
          </p:spPr>
          <p:style>
            <a:lnRef idx="1">
              <a:schemeClr val="accent2"/>
            </a:lnRef>
            <a:fillRef idx="0">
              <a:schemeClr val="accent2"/>
            </a:fillRef>
            <a:effectRef idx="0">
              <a:schemeClr val="accent2"/>
            </a:effectRef>
            <a:fontRef idx="minor">
              <a:schemeClr val="tx1"/>
            </a:fontRef>
          </p:style>
        </p:cxnSp>
        <p:cxnSp>
          <p:nvCxnSpPr>
            <p:cNvPr id="21" name="Straight Arrow Connector 20"/>
            <p:cNvCxnSpPr/>
            <p:nvPr/>
          </p:nvCxnSpPr>
          <p:spPr>
            <a:xfrm>
              <a:off x="1842452" y="497587"/>
              <a:ext cx="0" cy="274654"/>
            </a:xfrm>
            <a:prstGeom prst="straightConnector1">
              <a:avLst/>
            </a:prstGeom>
            <a:ln w="19050">
              <a:solidFill>
                <a:srgbClr val="7030A0"/>
              </a:solidFill>
              <a:tailEnd type="arrow"/>
            </a:ln>
          </p:spPr>
          <p:style>
            <a:lnRef idx="1">
              <a:schemeClr val="accent2"/>
            </a:lnRef>
            <a:fillRef idx="0">
              <a:schemeClr val="accent2"/>
            </a:fillRef>
            <a:effectRef idx="0">
              <a:schemeClr val="accent2"/>
            </a:effectRef>
            <a:fontRef idx="minor">
              <a:schemeClr val="tx1"/>
            </a:fontRef>
          </p:style>
        </p:cxnSp>
        <p:cxnSp>
          <p:nvCxnSpPr>
            <p:cNvPr id="22" name="Straight Arrow Connector 21"/>
            <p:cNvCxnSpPr/>
            <p:nvPr/>
          </p:nvCxnSpPr>
          <p:spPr>
            <a:xfrm flipV="1">
              <a:off x="3288041" y="1389320"/>
              <a:ext cx="0" cy="409305"/>
            </a:xfrm>
            <a:prstGeom prst="straightConnector1">
              <a:avLst/>
            </a:prstGeom>
            <a:ln w="28575">
              <a:solidFill>
                <a:srgbClr val="00B0F0"/>
              </a:solidFill>
              <a:tailEnd type="arrow"/>
            </a:ln>
          </p:spPr>
          <p:style>
            <a:lnRef idx="1">
              <a:schemeClr val="accent2"/>
            </a:lnRef>
            <a:fillRef idx="0">
              <a:schemeClr val="accent2"/>
            </a:fillRef>
            <a:effectRef idx="0">
              <a:schemeClr val="accent2"/>
            </a:effectRef>
            <a:fontRef idx="minor">
              <a:schemeClr val="tx1"/>
            </a:fontRef>
          </p:style>
        </p:cxnSp>
        <p:cxnSp>
          <p:nvCxnSpPr>
            <p:cNvPr id="23" name="Straight Arrow Connector 22"/>
            <p:cNvCxnSpPr/>
            <p:nvPr/>
          </p:nvCxnSpPr>
          <p:spPr>
            <a:xfrm flipV="1">
              <a:off x="582725" y="1507028"/>
              <a:ext cx="0" cy="355801"/>
            </a:xfrm>
            <a:prstGeom prst="straightConnector1">
              <a:avLst/>
            </a:prstGeom>
            <a:ln w="19050">
              <a:solidFill>
                <a:srgbClr val="7030A0"/>
              </a:solidFill>
              <a:tailEnd type="arrow"/>
            </a:ln>
          </p:spPr>
          <p:style>
            <a:lnRef idx="1">
              <a:schemeClr val="accent4"/>
            </a:lnRef>
            <a:fillRef idx="0">
              <a:schemeClr val="accent4"/>
            </a:fillRef>
            <a:effectRef idx="0">
              <a:schemeClr val="accent4"/>
            </a:effectRef>
            <a:fontRef idx="minor">
              <a:schemeClr val="tx1"/>
            </a:fontRef>
          </p:style>
        </p:cxnSp>
        <p:sp>
          <p:nvSpPr>
            <p:cNvPr id="24" name="Text Box 84"/>
            <p:cNvSpPr txBox="1"/>
            <p:nvPr/>
          </p:nvSpPr>
          <p:spPr>
            <a:xfrm>
              <a:off x="1224710" y="2586025"/>
              <a:ext cx="3892314" cy="263061"/>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wrap="none"/>
            <a:lstStyle/>
            <a:p>
              <a:pPr algn="ctr">
                <a:spcBef>
                  <a:spcPts val="0"/>
                </a:spcBef>
                <a:spcAft>
                  <a:spcPts val="0"/>
                </a:spcAft>
                <a:defRPr/>
              </a:pPr>
              <a:r>
                <a:rPr lang="en-US" sz="2400" b="1" dirty="0">
                  <a:solidFill>
                    <a:srgbClr val="7030A0"/>
                  </a:solidFill>
                  <a:latin typeface="Times New Roman"/>
                  <a:ea typeface="Times New Roman"/>
                </a:rPr>
                <a:t>Fig. Block diagram of Basic Communication System</a:t>
              </a:r>
              <a:endParaRPr lang="en-US" sz="2400" dirty="0">
                <a:solidFill>
                  <a:srgbClr val="7030A0"/>
                </a:solidFill>
                <a:latin typeface="Times New Roman"/>
                <a:ea typeface="Times New Roman"/>
              </a:endParaRPr>
            </a:p>
          </p:txBody>
        </p:sp>
        <p:sp>
          <p:nvSpPr>
            <p:cNvPr id="25" name="Text Box 84"/>
            <p:cNvSpPr txBox="1"/>
            <p:nvPr/>
          </p:nvSpPr>
          <p:spPr>
            <a:xfrm>
              <a:off x="4019813" y="277329"/>
              <a:ext cx="855681" cy="215799"/>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wrap="none"/>
            <a:lstStyle/>
            <a:p>
              <a:pPr algn="ctr">
                <a:spcBef>
                  <a:spcPts val="0"/>
                </a:spcBef>
                <a:spcAft>
                  <a:spcPts val="0"/>
                </a:spcAft>
                <a:defRPr/>
              </a:pPr>
              <a:r>
                <a:rPr lang="en-US" sz="2400" b="1" dirty="0">
                  <a:solidFill>
                    <a:srgbClr val="FF0000"/>
                  </a:solidFill>
                  <a:latin typeface="Arial Narrow"/>
                  <a:ea typeface="Times New Roman"/>
                </a:rPr>
                <a:t>De-modulation</a:t>
              </a:r>
              <a:endParaRPr lang="en-US" sz="2400" dirty="0">
                <a:latin typeface="Times New Roman"/>
                <a:ea typeface="Times New Roman"/>
              </a:endParaRPr>
            </a:p>
          </p:txBody>
        </p:sp>
        <p:cxnSp>
          <p:nvCxnSpPr>
            <p:cNvPr id="26" name="Straight Arrow Connector 25"/>
            <p:cNvCxnSpPr/>
            <p:nvPr/>
          </p:nvCxnSpPr>
          <p:spPr>
            <a:xfrm>
              <a:off x="4528014" y="505612"/>
              <a:ext cx="0" cy="273762"/>
            </a:xfrm>
            <a:prstGeom prst="straightConnector1">
              <a:avLst/>
            </a:prstGeom>
            <a:ln w="19050">
              <a:solidFill>
                <a:srgbClr val="7030A0"/>
              </a:solidFill>
              <a:tailEnd type="arrow"/>
            </a:ln>
          </p:spPr>
          <p:style>
            <a:lnRef idx="1">
              <a:schemeClr val="accent2"/>
            </a:lnRef>
            <a:fillRef idx="0">
              <a:schemeClr val="accent2"/>
            </a:fillRef>
            <a:effectRef idx="0">
              <a:schemeClr val="accent2"/>
            </a:effectRef>
            <a:fontRef idx="minor">
              <a:schemeClr val="tx1"/>
            </a:fontRef>
          </p:style>
        </p:cxnSp>
        <p:sp>
          <p:nvSpPr>
            <p:cNvPr id="27" name="Text Box 2059"/>
            <p:cNvSpPr txBox="1"/>
            <p:nvPr/>
          </p:nvSpPr>
          <p:spPr>
            <a:xfrm>
              <a:off x="2892973" y="1797733"/>
              <a:ext cx="725488" cy="383445"/>
            </a:xfrm>
            <a:prstGeom prst="rect">
              <a:avLst/>
            </a:prstGeom>
            <a:solidFill>
              <a:schemeClr val="lt1"/>
            </a:solidFill>
            <a:ln w="28575">
              <a:solidFill>
                <a:srgbClr val="C00000"/>
              </a:solidFill>
            </a:ln>
            <a:effectLst/>
          </p:spPr>
          <p:style>
            <a:lnRef idx="0">
              <a:schemeClr val="accent1"/>
            </a:lnRef>
            <a:fillRef idx="0">
              <a:schemeClr val="accent1"/>
            </a:fillRef>
            <a:effectRef idx="0">
              <a:schemeClr val="accent1"/>
            </a:effectRef>
            <a:fontRef idx="minor">
              <a:schemeClr val="dk1"/>
            </a:fontRef>
          </p:style>
          <p:txBody>
            <a:bodyPr anchor="ctr"/>
            <a:lstStyle/>
            <a:p>
              <a:pPr algn="ctr">
                <a:spcBef>
                  <a:spcPts val="0"/>
                </a:spcBef>
                <a:spcAft>
                  <a:spcPts val="0"/>
                </a:spcAft>
                <a:defRPr/>
              </a:pPr>
              <a:r>
                <a:rPr lang="en-US" sz="2400" b="1" dirty="0">
                  <a:solidFill>
                    <a:srgbClr val="7030A0"/>
                  </a:solidFill>
                  <a:latin typeface="Arial Narrow"/>
                  <a:ea typeface="Times New Roman"/>
                </a:rPr>
                <a:t>Noise</a:t>
              </a:r>
              <a:endParaRPr lang="en-US" sz="2400" dirty="0">
                <a:latin typeface="Times New Roman"/>
                <a:ea typeface="Times New Roman"/>
              </a:endParaRPr>
            </a:p>
          </p:txBody>
        </p:sp>
        <p:cxnSp>
          <p:nvCxnSpPr>
            <p:cNvPr id="28" name="Straight Arrow Connector 27"/>
            <p:cNvCxnSpPr/>
            <p:nvPr/>
          </p:nvCxnSpPr>
          <p:spPr>
            <a:xfrm flipV="1">
              <a:off x="5751826" y="1502569"/>
              <a:ext cx="0" cy="354910"/>
            </a:xfrm>
            <a:prstGeom prst="straightConnector1">
              <a:avLst/>
            </a:prstGeom>
            <a:ln w="19050">
              <a:solidFill>
                <a:srgbClr val="7030A0"/>
              </a:solidFill>
              <a:tailEnd type="arrow"/>
            </a:ln>
          </p:spPr>
          <p:style>
            <a:lnRef idx="1">
              <a:schemeClr val="accent4"/>
            </a:lnRef>
            <a:fillRef idx="0">
              <a:schemeClr val="accent4"/>
            </a:fillRef>
            <a:effectRef idx="0">
              <a:schemeClr val="accent4"/>
            </a:effectRef>
            <a:fontRef idx="minor">
              <a:schemeClr val="tx1"/>
            </a:fontRef>
          </p:style>
        </p:cxnSp>
        <p:sp>
          <p:nvSpPr>
            <p:cNvPr id="29" name="Text Box 84"/>
            <p:cNvSpPr txBox="1"/>
            <p:nvPr/>
          </p:nvSpPr>
          <p:spPr>
            <a:xfrm>
              <a:off x="116725" y="1902066"/>
              <a:ext cx="1043338" cy="456567"/>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wrap="none"/>
            <a:lstStyle/>
            <a:p>
              <a:pPr algn="ctr">
                <a:spcBef>
                  <a:spcPts val="0"/>
                </a:spcBef>
                <a:spcAft>
                  <a:spcPts val="0"/>
                </a:spcAft>
                <a:defRPr/>
              </a:pPr>
              <a:r>
                <a:rPr lang="en-US" sz="2400" dirty="0">
                  <a:solidFill>
                    <a:srgbClr val="00B050"/>
                  </a:solidFill>
                  <a:latin typeface="Arial Narrow"/>
                  <a:ea typeface="Times New Roman"/>
                </a:rPr>
                <a:t>Sound, Picture,</a:t>
              </a:r>
              <a:endParaRPr lang="en-US" sz="2400" dirty="0">
                <a:solidFill>
                  <a:srgbClr val="00B050"/>
                </a:solidFill>
                <a:latin typeface="Times New Roman"/>
                <a:ea typeface="Times New Roman"/>
              </a:endParaRPr>
            </a:p>
            <a:p>
              <a:pPr algn="ctr">
                <a:spcBef>
                  <a:spcPts val="0"/>
                </a:spcBef>
                <a:spcAft>
                  <a:spcPts val="0"/>
                </a:spcAft>
                <a:defRPr/>
              </a:pPr>
              <a:r>
                <a:rPr lang="en-US" sz="2400" dirty="0">
                  <a:solidFill>
                    <a:srgbClr val="00B050"/>
                  </a:solidFill>
                  <a:latin typeface="Arial Narrow"/>
                  <a:ea typeface="Times New Roman"/>
                </a:rPr>
                <a:t>Speech, Data</a:t>
              </a:r>
              <a:endParaRPr lang="en-US" sz="2400" dirty="0">
                <a:solidFill>
                  <a:srgbClr val="00B050"/>
                </a:solidFill>
                <a:latin typeface="Times New Roman"/>
                <a:ea typeface="Times New Roman"/>
              </a:endParaRPr>
            </a:p>
            <a:p>
              <a:pPr algn="ctr">
                <a:spcBef>
                  <a:spcPts val="0"/>
                </a:spcBef>
                <a:spcAft>
                  <a:spcPts val="0"/>
                </a:spcAft>
                <a:defRPr/>
              </a:pPr>
              <a:r>
                <a:rPr lang="en-US" sz="2000" dirty="0">
                  <a:latin typeface="Times New Roman"/>
                  <a:ea typeface="Times New Roman"/>
                </a:rPr>
                <a:t> </a:t>
              </a:r>
            </a:p>
          </p:txBody>
        </p:sp>
        <p:sp>
          <p:nvSpPr>
            <p:cNvPr id="30" name="Text Box 84"/>
            <p:cNvSpPr txBox="1"/>
            <p:nvPr/>
          </p:nvSpPr>
          <p:spPr>
            <a:xfrm>
              <a:off x="5275949" y="1902066"/>
              <a:ext cx="946367" cy="456567"/>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wrap="none"/>
            <a:lstStyle/>
            <a:p>
              <a:pPr algn="ctr">
                <a:spcBef>
                  <a:spcPts val="0"/>
                </a:spcBef>
                <a:spcAft>
                  <a:spcPts val="0"/>
                </a:spcAft>
                <a:defRPr/>
              </a:pPr>
              <a:r>
                <a:rPr lang="en-US" sz="2400" dirty="0">
                  <a:solidFill>
                    <a:srgbClr val="00B050"/>
                  </a:solidFill>
                  <a:latin typeface="Arial Narrow" pitchFamily="34" charset="0"/>
                  <a:ea typeface="Times New Roman"/>
                </a:rPr>
                <a:t>Information in</a:t>
              </a:r>
            </a:p>
            <a:p>
              <a:pPr algn="ctr">
                <a:spcBef>
                  <a:spcPts val="0"/>
                </a:spcBef>
                <a:spcAft>
                  <a:spcPts val="0"/>
                </a:spcAft>
                <a:defRPr/>
              </a:pPr>
              <a:r>
                <a:rPr lang="en-US" sz="2400" dirty="0">
                  <a:solidFill>
                    <a:srgbClr val="00B050"/>
                  </a:solidFill>
                  <a:latin typeface="Arial Narrow" pitchFamily="34" charset="0"/>
                  <a:ea typeface="Times New Roman"/>
                </a:rPr>
                <a:t>Original form</a:t>
              </a:r>
            </a:p>
            <a:p>
              <a:pPr algn="ctr">
                <a:spcBef>
                  <a:spcPts val="0"/>
                </a:spcBef>
                <a:spcAft>
                  <a:spcPts val="0"/>
                </a:spcAft>
                <a:defRPr/>
              </a:pPr>
              <a:r>
                <a:rPr lang="en-US" sz="1200" dirty="0">
                  <a:latin typeface="Times New Roman"/>
                  <a:ea typeface="Times New Roman"/>
                </a:rPr>
                <a:t> </a:t>
              </a:r>
            </a:p>
          </p:txBody>
        </p:sp>
      </p:grpSp>
      <p:sp>
        <p:nvSpPr>
          <p:cNvPr id="3" name="Rectangle 2"/>
          <p:cNvSpPr/>
          <p:nvPr/>
        </p:nvSpPr>
        <p:spPr>
          <a:xfrm>
            <a:off x="2497138" y="1819275"/>
            <a:ext cx="6775450" cy="3530600"/>
          </a:xfrm>
          <a:prstGeom prst="rect">
            <a:avLst/>
          </a:prstGeom>
          <a:noFill/>
          <a:ln w="6350">
            <a:prstDash val="dash"/>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a:xfrm>
            <a:off x="1428750" y="76200"/>
            <a:ext cx="9144000" cy="809625"/>
          </a:xfrm>
        </p:spPr>
        <p:txBody>
          <a:bodyPr/>
          <a:lstStyle/>
          <a:p>
            <a:pPr marL="571500" indent="-571500" eaLnBrk="1" hangingPunct="1">
              <a:buFontTx/>
              <a:buBlip>
                <a:blip r:embed="rId2"/>
              </a:buBlip>
            </a:pPr>
            <a:r>
              <a:rPr lang="en-US" altLang="en-US" sz="3600" b="1">
                <a:solidFill>
                  <a:srgbClr val="C00000"/>
                </a:solidFill>
                <a:latin typeface="Times New Roman" pitchFamily="18" charset="0"/>
                <a:cs typeface="Times New Roman" pitchFamily="18" charset="0"/>
              </a:rPr>
              <a:t>Communication Systems</a:t>
            </a:r>
            <a:endParaRPr lang="en-US" altLang="en-US" sz="3600">
              <a:solidFill>
                <a:srgbClr val="C00000"/>
              </a:solidFill>
            </a:endParaRPr>
          </a:p>
        </p:txBody>
      </p:sp>
      <p:sp>
        <p:nvSpPr>
          <p:cNvPr id="3" name="Subtitle 2"/>
          <p:cNvSpPr>
            <a:spLocks noGrp="1"/>
          </p:cNvSpPr>
          <p:nvPr>
            <p:ph type="subTitle" idx="1"/>
          </p:nvPr>
        </p:nvSpPr>
        <p:spPr>
          <a:xfrm>
            <a:off x="595313" y="1031875"/>
            <a:ext cx="11250612" cy="5588000"/>
          </a:xfrm>
        </p:spPr>
        <p:txBody>
          <a:bodyPr rtlCol="0">
            <a:normAutofit/>
          </a:bodyPr>
          <a:lstStyle/>
          <a:p>
            <a:pPr algn="l" eaLnBrk="1" fontAlgn="auto" hangingPunct="1">
              <a:spcAft>
                <a:spcPts val="0"/>
              </a:spcAft>
              <a:buFont typeface="Arial" panose="020B0604020202020204" pitchFamily="34" charset="0"/>
              <a:buNone/>
              <a:defRPr/>
            </a:pPr>
            <a:r>
              <a:rPr lang="en-IN" sz="2800" b="1" dirty="0">
                <a:solidFill>
                  <a:srgbClr val="7030A0"/>
                </a:solidFill>
                <a:latin typeface="Arial" panose="020B0604020202020204" pitchFamily="34" charset="0"/>
                <a:cs typeface="Arial" panose="020B0604020202020204" pitchFamily="34" charset="0"/>
              </a:rPr>
              <a:t>1.Information source:</a:t>
            </a:r>
          </a:p>
          <a:p>
            <a:pPr marL="342900" indent="-342900" algn="just" eaLnBrk="1" fontAlgn="auto" hangingPunct="1">
              <a:spcAft>
                <a:spcPts val="0"/>
              </a:spcAft>
              <a:buFont typeface="Arial" panose="020B0604020202020204" pitchFamily="34" charset="0"/>
              <a:buChar char="•"/>
              <a:defRPr/>
            </a:pPr>
            <a:r>
              <a:rPr lang="en-IN" dirty="0">
                <a:latin typeface="Arial" panose="020B0604020202020204" pitchFamily="34" charset="0"/>
                <a:cs typeface="Arial" panose="020B0604020202020204" pitchFamily="34" charset="0"/>
              </a:rPr>
              <a:t>The objective of any communication system is to convey information from one point to the other. </a:t>
            </a:r>
          </a:p>
          <a:p>
            <a:pPr marL="342900" indent="-342900" algn="just" eaLnBrk="1" fontAlgn="auto" hangingPunct="1">
              <a:spcAft>
                <a:spcPts val="0"/>
              </a:spcAft>
              <a:buFont typeface="Arial" panose="020B0604020202020204" pitchFamily="34" charset="0"/>
              <a:buChar char="•"/>
              <a:defRPr/>
            </a:pPr>
            <a:r>
              <a:rPr lang="en-IN" dirty="0">
                <a:latin typeface="Arial" panose="020B0604020202020204" pitchFamily="34" charset="0"/>
                <a:cs typeface="Arial" panose="020B0604020202020204" pitchFamily="34" charset="0"/>
              </a:rPr>
              <a:t>The information comes from the information source, which originates it.</a:t>
            </a:r>
          </a:p>
          <a:p>
            <a:pPr marL="342900" indent="-342900" algn="just" eaLnBrk="1" fontAlgn="auto" hangingPunct="1">
              <a:spcAft>
                <a:spcPts val="0"/>
              </a:spcAft>
              <a:buFont typeface="Arial" panose="020B0604020202020204" pitchFamily="34" charset="0"/>
              <a:buChar char="•"/>
              <a:defRPr/>
            </a:pPr>
            <a:r>
              <a:rPr lang="en-IN" dirty="0">
                <a:latin typeface="Arial" panose="020B0604020202020204" pitchFamily="34" charset="0"/>
                <a:cs typeface="Arial" panose="020B0604020202020204" pitchFamily="34" charset="0"/>
              </a:rPr>
              <a:t>It generates the required message that is to be transmitted such as sound, picture, speech etc.</a:t>
            </a:r>
          </a:p>
          <a:p>
            <a:pPr algn="l" eaLnBrk="1" fontAlgn="auto" hangingPunct="1">
              <a:spcAft>
                <a:spcPts val="0"/>
              </a:spcAft>
              <a:defRPr/>
            </a:pPr>
            <a:endParaRPr lang="en-IN" sz="2600" b="1" dirty="0">
              <a:latin typeface="Arial" panose="020B0604020202020204" pitchFamily="34" charset="0"/>
              <a:cs typeface="Arial" panose="020B0604020202020204" pitchFamily="34" charset="0"/>
            </a:endParaRPr>
          </a:p>
          <a:p>
            <a:pPr algn="l" eaLnBrk="1" fontAlgn="auto" hangingPunct="1">
              <a:spcAft>
                <a:spcPts val="0"/>
              </a:spcAft>
              <a:defRPr/>
            </a:pPr>
            <a:r>
              <a:rPr lang="en-IN" sz="2800" b="1" dirty="0">
                <a:solidFill>
                  <a:srgbClr val="7030A0"/>
                </a:solidFill>
                <a:latin typeface="Arial" panose="020B0604020202020204" pitchFamily="34" charset="0"/>
                <a:cs typeface="Arial" panose="020B0604020202020204" pitchFamily="34" charset="0"/>
              </a:rPr>
              <a:t>2.Transmitter:</a:t>
            </a:r>
          </a:p>
          <a:p>
            <a:pPr marL="342900" indent="-342900" algn="just" eaLnBrk="1" fontAlgn="auto" hangingPunct="1">
              <a:spcAft>
                <a:spcPts val="0"/>
              </a:spcAft>
              <a:buFont typeface="Arial" panose="020B0604020202020204" pitchFamily="34" charset="0"/>
              <a:buChar char="•"/>
              <a:defRPr/>
            </a:pPr>
            <a:r>
              <a:rPr lang="en-IN" dirty="0">
                <a:latin typeface="Arial" panose="020B0604020202020204" pitchFamily="34" charset="0"/>
                <a:cs typeface="Arial" panose="020B0604020202020204" pitchFamily="34" charset="0"/>
              </a:rPr>
              <a:t>The objective of the transmitter is to collect the incoming message signal so as to make it suitable for transmission and subsequent reception.</a:t>
            </a:r>
          </a:p>
          <a:p>
            <a:pPr marL="342900" indent="-342900" algn="just" eaLnBrk="1" fontAlgn="auto" hangingPunct="1">
              <a:spcAft>
                <a:spcPts val="0"/>
              </a:spcAft>
              <a:buFont typeface="Arial" panose="020B0604020202020204" pitchFamily="34" charset="0"/>
              <a:buChar char="•"/>
              <a:defRPr/>
            </a:pPr>
            <a:r>
              <a:rPr lang="en-IN" dirty="0">
                <a:latin typeface="Arial" panose="020B0604020202020204" pitchFamily="34" charset="0"/>
                <a:cs typeface="Arial" panose="020B0604020202020204" pitchFamily="34" charset="0"/>
              </a:rPr>
              <a:t>In transmitter the information modulates the carrier.</a:t>
            </a:r>
          </a:p>
          <a:p>
            <a:pPr marL="342900" indent="-342900" algn="just" eaLnBrk="1" fontAlgn="auto" hangingPunct="1">
              <a:spcAft>
                <a:spcPts val="0"/>
              </a:spcAft>
              <a:buFont typeface="Arial" panose="020B0604020202020204" pitchFamily="34" charset="0"/>
              <a:buChar char="•"/>
              <a:defRPr/>
            </a:pPr>
            <a:r>
              <a:rPr lang="en-IN" dirty="0">
                <a:latin typeface="Arial" panose="020B0604020202020204" pitchFamily="34" charset="0"/>
                <a:cs typeface="Arial" panose="020B0604020202020204" pitchFamily="34" charset="0"/>
              </a:rPr>
              <a:t>The modulation can be amplitude, frequency or phase depending upon the requirements.</a:t>
            </a:r>
          </a:p>
          <a:p>
            <a:pPr marL="342900" indent="-342900" algn="just" eaLnBrk="1" fontAlgn="auto" hangingPunct="1">
              <a:spcAft>
                <a:spcPts val="0"/>
              </a:spcAft>
              <a:buFont typeface="Arial" panose="020B0604020202020204" pitchFamily="34" charset="0"/>
              <a:buNone/>
              <a:defRPr/>
            </a:pPr>
            <a:endParaRPr lang="en-US" dirty="0">
              <a:latin typeface="Arial" panose="020B0604020202020204" pitchFamily="34" charset="0"/>
              <a:cs typeface="Arial" panose="020B0604020202020204" pitchFamily="34" charset="0"/>
            </a:endParaRPr>
          </a:p>
          <a:p>
            <a:pPr marL="457200" indent="-457200" eaLnBrk="1" fontAlgn="auto" hangingPunct="1">
              <a:spcAft>
                <a:spcPts val="0"/>
              </a:spcAft>
              <a:buFont typeface="Arial" panose="020B0604020202020204" pitchFamily="34" charset="0"/>
              <a:buAutoNum type="arabicPeriod"/>
              <a:defRPr/>
            </a:pPr>
            <a:endParaRPr lang="en-US" dirty="0"/>
          </a:p>
          <a:p>
            <a:pPr marL="457200" indent="-457200" eaLnBrk="1" fontAlgn="auto" hangingPunct="1">
              <a:spcAft>
                <a:spcPts val="0"/>
              </a:spcAft>
              <a:buFont typeface="Arial" panose="020B0604020202020204" pitchFamily="34" charset="0"/>
              <a:buNone/>
              <a:defRPr/>
            </a:pPr>
            <a:endParaRPr lang="en-US" dirty="0"/>
          </a:p>
        </p:txBody>
      </p:sp>
      <p:sp>
        <p:nvSpPr>
          <p:cNvPr id="2" name="Slide Number Placeholder 1"/>
          <p:cNvSpPr>
            <a:spLocks noGrp="1"/>
          </p:cNvSpPr>
          <p:nvPr>
            <p:ph type="sldNum" sz="quarter" idx="12"/>
          </p:nvPr>
        </p:nvSpPr>
        <p:spPr/>
        <p:txBody>
          <a:bodyPr/>
          <a:lstStyle/>
          <a:p>
            <a:pPr>
              <a:defRPr/>
            </a:pPr>
            <a:fld id="{D9E9B717-B98D-47AB-B392-2C61532105C9}" type="slidenum">
              <a:rPr lang="en-US" altLang="en-US" smtClean="0"/>
              <a:pPr>
                <a:defRPr/>
              </a:pPr>
              <a:t>5</a:t>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ctrTitle"/>
          </p:nvPr>
        </p:nvSpPr>
        <p:spPr>
          <a:xfrm>
            <a:off x="395080" y="142461"/>
            <a:ext cx="11677650" cy="586409"/>
          </a:xfrm>
        </p:spPr>
        <p:txBody>
          <a:bodyPr/>
          <a:lstStyle/>
          <a:p>
            <a:pPr algn="l" eaLnBrk="1" hangingPunct="1"/>
            <a:r>
              <a:rPr lang="en-US" altLang="en-US" sz="3600" b="1" dirty="0" err="1">
                <a:solidFill>
                  <a:srgbClr val="C00000"/>
                </a:solidFill>
                <a:latin typeface="Times New Roman" pitchFamily="18" charset="0"/>
                <a:cs typeface="Times New Roman" pitchFamily="18" charset="0"/>
              </a:rPr>
              <a:t>Contd</a:t>
            </a:r>
            <a:r>
              <a:rPr lang="en-US" altLang="en-US" sz="3600" b="1" dirty="0">
                <a:solidFill>
                  <a:srgbClr val="C00000"/>
                </a:solidFill>
                <a:latin typeface="Times New Roman" pitchFamily="18" charset="0"/>
                <a:cs typeface="Times New Roman" pitchFamily="18" charset="0"/>
              </a:rPr>
              <a:t>…</a:t>
            </a:r>
            <a:endParaRPr lang="en-US" altLang="en-US" sz="3600" dirty="0">
              <a:solidFill>
                <a:srgbClr val="C00000"/>
              </a:solidFill>
            </a:endParaRPr>
          </a:p>
        </p:txBody>
      </p:sp>
      <p:sp>
        <p:nvSpPr>
          <p:cNvPr id="3" name="Subtitle 2"/>
          <p:cNvSpPr>
            <a:spLocks noGrp="1"/>
          </p:cNvSpPr>
          <p:nvPr>
            <p:ph type="subTitle" idx="1"/>
          </p:nvPr>
        </p:nvSpPr>
        <p:spPr>
          <a:xfrm>
            <a:off x="595313" y="1031875"/>
            <a:ext cx="11250612" cy="5588000"/>
          </a:xfrm>
        </p:spPr>
        <p:txBody>
          <a:bodyPr rtlCol="0">
            <a:normAutofit/>
          </a:bodyPr>
          <a:lstStyle/>
          <a:p>
            <a:pPr algn="l" eaLnBrk="1" fontAlgn="auto" hangingPunct="1">
              <a:spcAft>
                <a:spcPts val="0"/>
              </a:spcAft>
              <a:defRPr/>
            </a:pPr>
            <a:r>
              <a:rPr lang="en-IN" sz="2800" b="1" dirty="0">
                <a:solidFill>
                  <a:srgbClr val="7030A0"/>
                </a:solidFill>
                <a:latin typeface="Arial" panose="020B0604020202020204" pitchFamily="34" charset="0"/>
                <a:cs typeface="Arial" panose="020B0604020202020204" pitchFamily="34" charset="0"/>
              </a:rPr>
              <a:t>3.Channel:</a:t>
            </a:r>
          </a:p>
          <a:p>
            <a:pPr marL="457200" indent="-457200" algn="just" eaLnBrk="1" fontAlgn="auto" hangingPunct="1">
              <a:spcAft>
                <a:spcPts val="0"/>
              </a:spcAft>
              <a:buFont typeface="Arial" pitchFamily="34" charset="0"/>
              <a:buChar char="•"/>
              <a:defRPr/>
            </a:pPr>
            <a:r>
              <a:rPr lang="en-IN" sz="2800" dirty="0">
                <a:latin typeface="Arial" panose="020B0604020202020204" pitchFamily="34" charset="0"/>
                <a:cs typeface="Arial" panose="020B0604020202020204" pitchFamily="34" charset="0"/>
              </a:rPr>
              <a:t>Channel is the physical medium which connects the transmitter with that of the receiver.</a:t>
            </a:r>
          </a:p>
          <a:p>
            <a:pPr marL="457200" indent="-457200" algn="just" eaLnBrk="1" fontAlgn="auto" hangingPunct="1">
              <a:spcAft>
                <a:spcPts val="0"/>
              </a:spcAft>
              <a:buFont typeface="Arial" pitchFamily="34" charset="0"/>
              <a:buChar char="•"/>
              <a:defRPr/>
            </a:pPr>
            <a:r>
              <a:rPr lang="en-IN" sz="2800" dirty="0">
                <a:latin typeface="Arial" panose="020B0604020202020204" pitchFamily="34" charset="0"/>
                <a:cs typeface="Arial" panose="020B0604020202020204" pitchFamily="34" charset="0"/>
              </a:rPr>
              <a:t>It can be wired or wireless.</a:t>
            </a:r>
          </a:p>
          <a:p>
            <a:pPr marL="457200" indent="-457200" algn="just" eaLnBrk="1" fontAlgn="auto" hangingPunct="1">
              <a:spcAft>
                <a:spcPts val="0"/>
              </a:spcAft>
              <a:buFont typeface="Arial" pitchFamily="34" charset="0"/>
              <a:buChar char="•"/>
              <a:defRPr/>
            </a:pPr>
            <a:r>
              <a:rPr lang="en-IN" sz="2800" dirty="0">
                <a:latin typeface="Arial" panose="020B0604020202020204" pitchFamily="34" charset="0"/>
                <a:cs typeface="Arial" panose="020B0604020202020204" pitchFamily="34" charset="0"/>
              </a:rPr>
              <a:t>It includes copper wire, coaxial cable, fibre optic cable, radio waves, microwaves etc. </a:t>
            </a:r>
          </a:p>
          <a:p>
            <a:pPr marL="457200" indent="-457200" algn="just" eaLnBrk="1" fontAlgn="auto" hangingPunct="1">
              <a:spcAft>
                <a:spcPts val="0"/>
              </a:spcAft>
              <a:buFont typeface="Arial" pitchFamily="34" charset="0"/>
              <a:buChar char="•"/>
              <a:defRPr/>
            </a:pPr>
            <a:r>
              <a:rPr lang="en-IN" sz="2800" dirty="0">
                <a:latin typeface="Arial" panose="020B0604020202020204" pitchFamily="34" charset="0"/>
                <a:cs typeface="Arial" panose="020B0604020202020204" pitchFamily="34" charset="0"/>
              </a:rPr>
              <a:t>Noise enters in any communication system through channel.</a:t>
            </a:r>
          </a:p>
          <a:p>
            <a:pPr marL="457200" indent="-457200" algn="just" eaLnBrk="1" fontAlgn="auto" hangingPunct="1">
              <a:spcAft>
                <a:spcPts val="0"/>
              </a:spcAft>
              <a:buFont typeface="Arial" pitchFamily="34" charset="0"/>
              <a:buChar char="•"/>
              <a:defRPr/>
            </a:pPr>
            <a:r>
              <a:rPr lang="en-IN" sz="2800" dirty="0">
                <a:latin typeface="Arial" panose="020B0604020202020204" pitchFamily="34" charset="0"/>
                <a:cs typeface="Arial" panose="020B0604020202020204" pitchFamily="34" charset="0"/>
              </a:rPr>
              <a:t>Noise is an unwanted signal, random in nature.</a:t>
            </a:r>
          </a:p>
          <a:p>
            <a:pPr marL="457200" indent="-457200" algn="just" eaLnBrk="1" fontAlgn="auto" hangingPunct="1">
              <a:spcAft>
                <a:spcPts val="0"/>
              </a:spcAft>
              <a:buFont typeface="Arial" pitchFamily="34" charset="0"/>
              <a:buChar char="•"/>
              <a:defRPr/>
            </a:pPr>
            <a:r>
              <a:rPr lang="en-IN" sz="2800" dirty="0">
                <a:latin typeface="Arial" panose="020B0604020202020204" pitchFamily="34" charset="0"/>
                <a:cs typeface="Arial" panose="020B0604020202020204" pitchFamily="34" charset="0"/>
              </a:rPr>
              <a:t>It can not be removed but eliminated to some extent.</a:t>
            </a:r>
          </a:p>
          <a:p>
            <a:pPr marL="342900" indent="-342900" algn="just" eaLnBrk="1" fontAlgn="auto" hangingPunct="1">
              <a:spcAft>
                <a:spcPts val="0"/>
              </a:spcAft>
              <a:buFont typeface="Arial" panose="020B0604020202020204" pitchFamily="34" charset="0"/>
              <a:buNone/>
              <a:defRPr/>
            </a:pPr>
            <a:endParaRPr lang="en-US" dirty="0">
              <a:latin typeface="Arial" panose="020B0604020202020204" pitchFamily="34" charset="0"/>
              <a:cs typeface="Arial" panose="020B0604020202020204" pitchFamily="34" charset="0"/>
            </a:endParaRPr>
          </a:p>
          <a:p>
            <a:pPr marL="457200" indent="-457200" eaLnBrk="1" fontAlgn="auto" hangingPunct="1">
              <a:spcAft>
                <a:spcPts val="0"/>
              </a:spcAft>
              <a:buFont typeface="Arial" panose="020B0604020202020204" pitchFamily="34" charset="0"/>
              <a:buAutoNum type="arabicPeriod"/>
              <a:defRPr/>
            </a:pPr>
            <a:endParaRPr lang="en-US" dirty="0"/>
          </a:p>
          <a:p>
            <a:pPr marL="457200" indent="-457200" eaLnBrk="1" fontAlgn="auto" hangingPunct="1">
              <a:spcAft>
                <a:spcPts val="0"/>
              </a:spcAft>
              <a:buFont typeface="Arial" panose="020B0604020202020204" pitchFamily="34" charset="0"/>
              <a:buNone/>
              <a:defRPr/>
            </a:pPr>
            <a:endParaRPr lang="en-US" dirty="0"/>
          </a:p>
        </p:txBody>
      </p:sp>
      <p:sp>
        <p:nvSpPr>
          <p:cNvPr id="2" name="Slide Number Placeholder 1"/>
          <p:cNvSpPr>
            <a:spLocks noGrp="1"/>
          </p:cNvSpPr>
          <p:nvPr>
            <p:ph type="sldNum" sz="quarter" idx="12"/>
          </p:nvPr>
        </p:nvSpPr>
        <p:spPr/>
        <p:txBody>
          <a:bodyPr/>
          <a:lstStyle/>
          <a:p>
            <a:pPr>
              <a:defRPr/>
            </a:pPr>
            <a:fld id="{D9E9B717-B98D-47AB-B392-2C61532105C9}" type="slidenum">
              <a:rPr lang="en-US" altLang="en-US" smtClean="0"/>
              <a:pPr>
                <a:defRPr/>
              </a:pPr>
              <a:t>6</a:t>
            </a:fld>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ctrTitle"/>
          </p:nvPr>
        </p:nvSpPr>
        <p:spPr>
          <a:xfrm>
            <a:off x="596348" y="76201"/>
            <a:ext cx="11423374" cy="533400"/>
          </a:xfrm>
        </p:spPr>
        <p:txBody>
          <a:bodyPr/>
          <a:lstStyle/>
          <a:p>
            <a:pPr algn="l" eaLnBrk="1" hangingPunct="1"/>
            <a:r>
              <a:rPr lang="en-US" altLang="en-US" sz="2800" b="1" dirty="0" err="1">
                <a:solidFill>
                  <a:srgbClr val="C00000"/>
                </a:solidFill>
                <a:latin typeface="Times New Roman" pitchFamily="18" charset="0"/>
                <a:cs typeface="Times New Roman" pitchFamily="18" charset="0"/>
              </a:rPr>
              <a:t>Contd</a:t>
            </a:r>
            <a:r>
              <a:rPr lang="en-US" altLang="en-US" sz="2800" b="1" dirty="0">
                <a:solidFill>
                  <a:srgbClr val="C00000"/>
                </a:solidFill>
                <a:latin typeface="Times New Roman" pitchFamily="18" charset="0"/>
                <a:cs typeface="Times New Roman" pitchFamily="18" charset="0"/>
              </a:rPr>
              <a:t>…</a:t>
            </a:r>
            <a:endParaRPr lang="en-US" altLang="en-US" sz="2800" dirty="0">
              <a:solidFill>
                <a:srgbClr val="C00000"/>
              </a:solidFill>
            </a:endParaRPr>
          </a:p>
        </p:txBody>
      </p:sp>
      <p:sp>
        <p:nvSpPr>
          <p:cNvPr id="3" name="Subtitle 2"/>
          <p:cNvSpPr>
            <a:spLocks noGrp="1"/>
          </p:cNvSpPr>
          <p:nvPr>
            <p:ph type="subTitle" idx="1"/>
          </p:nvPr>
        </p:nvSpPr>
        <p:spPr>
          <a:xfrm>
            <a:off x="595313" y="955675"/>
            <a:ext cx="11250612" cy="5664200"/>
          </a:xfrm>
        </p:spPr>
        <p:txBody>
          <a:bodyPr rtlCol="0">
            <a:normAutofit fontScale="92500" lnSpcReduction="10000"/>
          </a:bodyPr>
          <a:lstStyle/>
          <a:p>
            <a:pPr algn="l" eaLnBrk="1" fontAlgn="auto" hangingPunct="1">
              <a:spcAft>
                <a:spcPts val="0"/>
              </a:spcAft>
              <a:defRPr/>
            </a:pPr>
            <a:r>
              <a:rPr lang="en-IN" sz="3000" b="1" dirty="0">
                <a:solidFill>
                  <a:srgbClr val="7030A0"/>
                </a:solidFill>
                <a:latin typeface="Arial" panose="020B0604020202020204" pitchFamily="34" charset="0"/>
                <a:cs typeface="Arial" panose="020B0604020202020204" pitchFamily="34" charset="0"/>
              </a:rPr>
              <a:t>4.Receiver </a:t>
            </a:r>
          </a:p>
          <a:p>
            <a:pPr marL="457200" indent="-457200" algn="just" eaLnBrk="1" fontAlgn="auto" hangingPunct="1">
              <a:spcAft>
                <a:spcPts val="0"/>
              </a:spcAft>
              <a:buFont typeface="Arial" pitchFamily="34" charset="0"/>
              <a:buChar char="•"/>
              <a:defRPr/>
            </a:pPr>
            <a:r>
              <a:rPr lang="en-IN" sz="2800" dirty="0">
                <a:latin typeface="Arial" panose="020B0604020202020204" pitchFamily="34" charset="0"/>
                <a:cs typeface="Arial" panose="020B0604020202020204" pitchFamily="34" charset="0"/>
              </a:rPr>
              <a:t>The receiver block receives the incoming modified message signal from the channel and processes it to recreate the original (non-electrical) form of the message signal. </a:t>
            </a:r>
          </a:p>
          <a:p>
            <a:pPr marL="457200" indent="-457200" algn="just" eaLnBrk="1" fontAlgn="auto" hangingPunct="1">
              <a:spcAft>
                <a:spcPts val="0"/>
              </a:spcAft>
              <a:buFont typeface="Arial" pitchFamily="34" charset="0"/>
              <a:buChar char="•"/>
              <a:defRPr/>
            </a:pPr>
            <a:r>
              <a:rPr lang="en-IN" sz="2800" dirty="0">
                <a:latin typeface="Arial" panose="020B0604020202020204" pitchFamily="34" charset="0"/>
                <a:cs typeface="Arial" panose="020B0604020202020204" pitchFamily="34" charset="0"/>
              </a:rPr>
              <a:t>There are a great variety of receivers in communication systems.</a:t>
            </a:r>
          </a:p>
          <a:p>
            <a:pPr marL="457200" indent="-457200" algn="just" eaLnBrk="1" fontAlgn="auto" hangingPunct="1">
              <a:spcAft>
                <a:spcPts val="0"/>
              </a:spcAft>
              <a:buFont typeface="Arial" pitchFamily="34" charset="0"/>
              <a:buChar char="•"/>
              <a:defRPr/>
            </a:pPr>
            <a:r>
              <a:rPr lang="en-IN" sz="2800" dirty="0">
                <a:latin typeface="Arial" panose="020B0604020202020204" pitchFamily="34" charset="0"/>
                <a:cs typeface="Arial" panose="020B0604020202020204" pitchFamily="34" charset="0"/>
              </a:rPr>
              <a:t>Its most important function is demodulation.</a:t>
            </a:r>
          </a:p>
          <a:p>
            <a:pPr marL="457200" indent="-457200" algn="just" eaLnBrk="1" fontAlgn="auto" hangingPunct="1">
              <a:spcAft>
                <a:spcPts val="0"/>
              </a:spcAft>
              <a:buFont typeface="Arial" pitchFamily="34" charset="0"/>
              <a:buChar char="•"/>
              <a:defRPr/>
            </a:pPr>
            <a:r>
              <a:rPr lang="en-IN" sz="2800" dirty="0">
                <a:latin typeface="Arial" panose="020B0604020202020204" pitchFamily="34" charset="0"/>
                <a:cs typeface="Arial" panose="020B0604020202020204" pitchFamily="34" charset="0"/>
              </a:rPr>
              <a:t>The output of receiver may be fed to a loudspeaker, television picture tube, computer etc.</a:t>
            </a:r>
          </a:p>
          <a:p>
            <a:pPr algn="just" eaLnBrk="1" fontAlgn="auto" hangingPunct="1">
              <a:spcAft>
                <a:spcPts val="0"/>
              </a:spcAft>
              <a:defRPr/>
            </a:pPr>
            <a:endParaRPr lang="en-IN" sz="2800" dirty="0">
              <a:latin typeface="Arial" panose="020B0604020202020204" pitchFamily="34" charset="0"/>
              <a:cs typeface="Arial" panose="020B0604020202020204" pitchFamily="34" charset="0"/>
            </a:endParaRPr>
          </a:p>
          <a:p>
            <a:pPr algn="l" eaLnBrk="1" fontAlgn="auto" hangingPunct="1">
              <a:spcAft>
                <a:spcPts val="0"/>
              </a:spcAft>
              <a:defRPr/>
            </a:pPr>
            <a:r>
              <a:rPr lang="en-IN" sz="3000" b="1" dirty="0">
                <a:solidFill>
                  <a:srgbClr val="7030A0"/>
                </a:solidFill>
                <a:latin typeface="Arial" panose="020B0604020202020204" pitchFamily="34" charset="0"/>
                <a:cs typeface="Arial" panose="020B0604020202020204" pitchFamily="34" charset="0"/>
              </a:rPr>
              <a:t>5.Destination:</a:t>
            </a:r>
          </a:p>
          <a:p>
            <a:pPr marL="457200" indent="-457200" algn="just" eaLnBrk="1" fontAlgn="auto" hangingPunct="1">
              <a:spcAft>
                <a:spcPts val="0"/>
              </a:spcAft>
              <a:buFont typeface="Arial" pitchFamily="34" charset="0"/>
              <a:buChar char="•"/>
              <a:defRPr/>
            </a:pPr>
            <a:r>
              <a:rPr lang="en-IN" sz="2800" dirty="0">
                <a:latin typeface="Arial" panose="020B0604020202020204" pitchFamily="34" charset="0"/>
                <a:cs typeface="Arial" panose="020B0604020202020204" pitchFamily="34" charset="0"/>
              </a:rPr>
              <a:t>The destination is the final block in the communication system which receives the message signal and processes it to determine the information present in it. </a:t>
            </a:r>
          </a:p>
          <a:p>
            <a:pPr marL="457200" indent="-457200" algn="just" eaLnBrk="1" fontAlgn="auto" hangingPunct="1">
              <a:spcAft>
                <a:spcPts val="0"/>
              </a:spcAft>
              <a:buFont typeface="Arial" pitchFamily="34" charset="0"/>
              <a:buChar char="•"/>
              <a:defRPr/>
            </a:pPr>
            <a:r>
              <a:rPr lang="en-IN" sz="2800" dirty="0">
                <a:latin typeface="Arial" panose="020B0604020202020204" pitchFamily="34" charset="0"/>
                <a:cs typeface="Arial" panose="020B0604020202020204" pitchFamily="34" charset="0"/>
              </a:rPr>
              <a:t>Usually, humans will be the destination block.</a:t>
            </a:r>
          </a:p>
          <a:p>
            <a:pPr marL="342900" indent="-342900" algn="just" eaLnBrk="1" fontAlgn="auto" hangingPunct="1">
              <a:spcAft>
                <a:spcPts val="0"/>
              </a:spcAft>
              <a:buFont typeface="Arial" panose="020B0604020202020204" pitchFamily="34" charset="0"/>
              <a:buNone/>
              <a:defRPr/>
            </a:pPr>
            <a:endParaRPr lang="en-US" dirty="0">
              <a:latin typeface="Arial" panose="020B0604020202020204" pitchFamily="34" charset="0"/>
              <a:cs typeface="Arial" panose="020B0604020202020204" pitchFamily="34" charset="0"/>
            </a:endParaRPr>
          </a:p>
          <a:p>
            <a:pPr marL="457200" indent="-457200" eaLnBrk="1" fontAlgn="auto" hangingPunct="1">
              <a:spcAft>
                <a:spcPts val="0"/>
              </a:spcAft>
              <a:buFont typeface="Arial" panose="020B0604020202020204" pitchFamily="34" charset="0"/>
              <a:buAutoNum type="arabicPeriod"/>
              <a:defRPr/>
            </a:pPr>
            <a:endParaRPr lang="en-US" dirty="0"/>
          </a:p>
          <a:p>
            <a:pPr marL="457200" indent="-457200" eaLnBrk="1" fontAlgn="auto" hangingPunct="1">
              <a:spcAft>
                <a:spcPts val="0"/>
              </a:spcAft>
              <a:buFont typeface="Arial" panose="020B0604020202020204" pitchFamily="34" charset="0"/>
              <a:buNone/>
              <a:defRPr/>
            </a:pPr>
            <a:endParaRPr lang="en-US" dirty="0"/>
          </a:p>
        </p:txBody>
      </p:sp>
      <p:sp>
        <p:nvSpPr>
          <p:cNvPr id="2" name="Slide Number Placeholder 1"/>
          <p:cNvSpPr>
            <a:spLocks noGrp="1"/>
          </p:cNvSpPr>
          <p:nvPr>
            <p:ph type="sldNum" sz="quarter" idx="12"/>
          </p:nvPr>
        </p:nvSpPr>
        <p:spPr/>
        <p:txBody>
          <a:bodyPr/>
          <a:lstStyle/>
          <a:p>
            <a:pPr>
              <a:defRPr/>
            </a:pPr>
            <a:fld id="{D9E9B717-B98D-47AB-B392-2C61532105C9}" type="slidenum">
              <a:rPr lang="en-US" altLang="en-US" smtClean="0"/>
              <a:pPr>
                <a:defRPr/>
              </a:pPr>
              <a:t>7</a:t>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741363" y="122238"/>
            <a:ext cx="10515600" cy="682625"/>
          </a:xfrm>
        </p:spPr>
        <p:txBody>
          <a:bodyPr/>
          <a:lstStyle/>
          <a:p>
            <a:pPr marL="571500" indent="-571500" algn="ctr" eaLnBrk="1" hangingPunct="1">
              <a:buFontTx/>
              <a:buBlip>
                <a:blip r:embed="rId2"/>
              </a:buBlip>
            </a:pPr>
            <a:r>
              <a:rPr lang="en-US" altLang="en-US" sz="3600" b="1">
                <a:solidFill>
                  <a:srgbClr val="C00000"/>
                </a:solidFill>
                <a:latin typeface="Arial" charset="0"/>
                <a:cs typeface="Arial" charset="0"/>
              </a:rPr>
              <a:t>Communication Media</a:t>
            </a:r>
            <a:endParaRPr lang="en-IN" altLang="en-US" sz="3600">
              <a:solidFill>
                <a:srgbClr val="C00000"/>
              </a:solidFill>
              <a:latin typeface="Arial" charset="0"/>
              <a:cs typeface="Arial" charset="0"/>
            </a:endParaRPr>
          </a:p>
        </p:txBody>
      </p:sp>
      <p:sp>
        <p:nvSpPr>
          <p:cNvPr id="14339" name="Content Placeholder 4"/>
          <p:cNvSpPr>
            <a:spLocks noGrp="1"/>
          </p:cNvSpPr>
          <p:nvPr>
            <p:ph idx="1"/>
          </p:nvPr>
        </p:nvSpPr>
        <p:spPr>
          <a:xfrm>
            <a:off x="728663" y="993775"/>
            <a:ext cx="10515600" cy="5202238"/>
          </a:xfrm>
        </p:spPr>
        <p:txBody>
          <a:bodyPr/>
          <a:lstStyle/>
          <a:p>
            <a:pPr marL="0" indent="0">
              <a:buFont typeface="Arial" charset="0"/>
              <a:buNone/>
            </a:pPr>
            <a:r>
              <a:rPr lang="en-US" b="1" dirty="0">
                <a:solidFill>
                  <a:srgbClr val="7030A0"/>
                </a:solidFill>
              </a:rPr>
              <a:t>Different Communication Media</a:t>
            </a:r>
          </a:p>
        </p:txBody>
      </p:sp>
      <p:sp>
        <p:nvSpPr>
          <p:cNvPr id="2" name="Slide Number Placeholder 1"/>
          <p:cNvSpPr>
            <a:spLocks noGrp="1"/>
          </p:cNvSpPr>
          <p:nvPr>
            <p:ph type="sldNum" sz="quarter" idx="12"/>
          </p:nvPr>
        </p:nvSpPr>
        <p:spPr/>
        <p:txBody>
          <a:bodyPr/>
          <a:lstStyle/>
          <a:p>
            <a:pPr>
              <a:defRPr/>
            </a:pPr>
            <a:fld id="{9C02C9E0-08CD-4733-BA15-E5A0A404A85B}" type="slidenum">
              <a:rPr lang="en-US" altLang="en-US" smtClean="0"/>
              <a:pPr>
                <a:defRPr/>
              </a:pPr>
              <a:t>8</a:t>
            </a:fld>
            <a:endParaRPr lang="en-US" altLang="en-US"/>
          </a:p>
        </p:txBody>
      </p:sp>
      <p:pic>
        <p:nvPicPr>
          <p:cNvPr id="14340" name="Picture 2"/>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323975" y="1654175"/>
            <a:ext cx="9731375" cy="46640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714375" y="0"/>
            <a:ext cx="10515600" cy="682625"/>
          </a:xfrm>
        </p:spPr>
        <p:txBody>
          <a:bodyPr/>
          <a:lstStyle/>
          <a:p>
            <a:pPr marL="571500" indent="-571500" algn="ctr" eaLnBrk="1" hangingPunct="1">
              <a:buFontTx/>
              <a:buBlip>
                <a:blip r:embed="rId2"/>
              </a:buBlip>
            </a:pPr>
            <a:r>
              <a:rPr lang="en-US" altLang="en-US" sz="3600" b="1">
                <a:solidFill>
                  <a:srgbClr val="C00000"/>
                </a:solidFill>
                <a:latin typeface="Arial" charset="0"/>
                <a:cs typeface="Arial" charset="0"/>
              </a:rPr>
              <a:t>Communication Media</a:t>
            </a:r>
            <a:endParaRPr lang="en-IN" altLang="en-US" sz="3600">
              <a:solidFill>
                <a:srgbClr val="C00000"/>
              </a:solidFill>
              <a:latin typeface="Arial" charset="0"/>
              <a:cs typeface="Arial" charset="0"/>
            </a:endParaRPr>
          </a:p>
        </p:txBody>
      </p:sp>
      <p:sp>
        <p:nvSpPr>
          <p:cNvPr id="5" name="Content Placeholder 4"/>
          <p:cNvSpPr>
            <a:spLocks noGrp="1"/>
          </p:cNvSpPr>
          <p:nvPr>
            <p:ph idx="1"/>
          </p:nvPr>
        </p:nvSpPr>
        <p:spPr>
          <a:xfrm>
            <a:off x="258763" y="558800"/>
            <a:ext cx="11818937" cy="5978525"/>
          </a:xfrm>
        </p:spPr>
        <p:txBody>
          <a:bodyPr/>
          <a:lstStyle/>
          <a:p>
            <a:pPr marL="0" indent="0">
              <a:buFont typeface="Arial" charset="0"/>
              <a:buNone/>
              <a:defRPr/>
            </a:pPr>
            <a:r>
              <a:rPr lang="en-US" sz="2000" b="1" dirty="0">
                <a:solidFill>
                  <a:srgbClr val="7030A0"/>
                </a:solidFill>
              </a:rPr>
              <a:t>A. Wired Media (Bounded/Guided media) :</a:t>
            </a:r>
            <a:endParaRPr lang="en-US" sz="2000" dirty="0">
              <a:solidFill>
                <a:srgbClr val="7030A0"/>
              </a:solidFill>
            </a:endParaRPr>
          </a:p>
          <a:p>
            <a:pPr>
              <a:defRPr/>
            </a:pPr>
            <a:r>
              <a:rPr lang="en-US" sz="2000" dirty="0"/>
              <a:t>In this communication, devices are connected to each other by cables. </a:t>
            </a:r>
          </a:p>
          <a:p>
            <a:pPr>
              <a:defRPr/>
            </a:pPr>
            <a:r>
              <a:rPr lang="en-US" sz="2000" dirty="0"/>
              <a:t>It is also known as bounded/guided media.</a:t>
            </a:r>
          </a:p>
          <a:p>
            <a:pPr>
              <a:defRPr/>
            </a:pPr>
            <a:r>
              <a:rPr lang="en-US" sz="2000" b="1" dirty="0"/>
              <a:t>Example:</a:t>
            </a:r>
            <a:r>
              <a:rPr lang="en-US" sz="2000" dirty="0"/>
              <a:t> Copper wire, Fiber optic cables etc.</a:t>
            </a:r>
          </a:p>
          <a:p>
            <a:pPr>
              <a:defRPr/>
            </a:pPr>
            <a:r>
              <a:rPr lang="en-US" sz="2000" dirty="0"/>
              <a:t>Wired media are further categories as Twisted pair, Coaxial cable and Optical fiber.</a:t>
            </a:r>
          </a:p>
          <a:p>
            <a:pPr marL="0" indent="0">
              <a:buFont typeface="Arial" charset="0"/>
              <a:buNone/>
              <a:defRPr/>
            </a:pPr>
            <a:r>
              <a:rPr lang="en-US" sz="2000" b="1" dirty="0">
                <a:solidFill>
                  <a:srgbClr val="00B050"/>
                </a:solidFill>
              </a:rPr>
              <a:t>1. Twisted Pair:</a:t>
            </a:r>
          </a:p>
          <a:p>
            <a:pPr>
              <a:defRPr/>
            </a:pPr>
            <a:r>
              <a:rPr lang="en-US" sz="2000" dirty="0"/>
              <a:t>It consists of a pair of copper wires twisted around each other; the wires are around 1 to 2 mm thick and they are twisted to reduce the interference from the surrounding wires. </a:t>
            </a:r>
          </a:p>
          <a:p>
            <a:pPr>
              <a:defRPr/>
            </a:pPr>
            <a:r>
              <a:rPr lang="en-US" sz="2000" dirty="0"/>
              <a:t>Remember that a current carrying wire has a magnetic field around it that can interfere with that of another wire when in close proximity. Twisted Pair is of two types:</a:t>
            </a:r>
          </a:p>
          <a:p>
            <a:pPr marL="0" indent="0">
              <a:buFont typeface="Arial" charset="0"/>
              <a:buNone/>
              <a:defRPr/>
            </a:pPr>
            <a:r>
              <a:rPr lang="en-US" sz="2000" b="1" dirty="0">
                <a:solidFill>
                  <a:srgbClr val="7030A0"/>
                </a:solidFill>
              </a:rPr>
              <a:t>i. Unshielded Twisted Pair (UTP):</a:t>
            </a:r>
          </a:p>
          <a:p>
            <a:pPr>
              <a:defRPr/>
            </a:pPr>
            <a:r>
              <a:rPr lang="en-US" sz="2000" dirty="0"/>
              <a:t>This type of cable has the ability to block interference and does not depend on a physical shield for this purpose. </a:t>
            </a:r>
          </a:p>
          <a:p>
            <a:pPr>
              <a:defRPr/>
            </a:pPr>
            <a:r>
              <a:rPr lang="en-US" sz="2000" dirty="0"/>
              <a:t>It is used for telephonic applications.</a:t>
            </a:r>
          </a:p>
          <a:p>
            <a:pPr marL="0" indent="0">
              <a:buFont typeface="Arial" charset="0"/>
              <a:buNone/>
              <a:defRPr/>
            </a:pPr>
            <a:r>
              <a:rPr lang="en-US" sz="2000" b="1" dirty="0">
                <a:solidFill>
                  <a:srgbClr val="7030A0"/>
                </a:solidFill>
              </a:rPr>
              <a:t>ii. Shielded Twisted Pair (STP):</a:t>
            </a:r>
          </a:p>
          <a:p>
            <a:pPr>
              <a:defRPr/>
            </a:pPr>
            <a:r>
              <a:rPr lang="en-US" sz="2000" dirty="0"/>
              <a:t>This type of cable consists of a special jacket to block external interference. </a:t>
            </a:r>
          </a:p>
          <a:p>
            <a:pPr>
              <a:defRPr/>
            </a:pPr>
            <a:r>
              <a:rPr lang="en-US" sz="2000" dirty="0"/>
              <a:t>It is used in fast-data-rate Ethernet and in voice and data channels of telephone lines.</a:t>
            </a:r>
          </a:p>
          <a:p>
            <a:pPr>
              <a:defRPr/>
            </a:pPr>
            <a:endParaRPr lang="en-US" dirty="0"/>
          </a:p>
          <a:p>
            <a:pPr marL="0" indent="0">
              <a:buFont typeface="Arial" charset="0"/>
              <a:buNone/>
              <a:defRPr/>
            </a:pPr>
            <a:endParaRPr lang="en-US" b="1" dirty="0"/>
          </a:p>
        </p:txBody>
      </p:sp>
      <p:sp>
        <p:nvSpPr>
          <p:cNvPr id="2" name="Slide Number Placeholder 1"/>
          <p:cNvSpPr>
            <a:spLocks noGrp="1"/>
          </p:cNvSpPr>
          <p:nvPr>
            <p:ph type="sldNum" sz="quarter" idx="12"/>
          </p:nvPr>
        </p:nvSpPr>
        <p:spPr/>
        <p:txBody>
          <a:bodyPr/>
          <a:lstStyle/>
          <a:p>
            <a:pPr>
              <a:defRPr/>
            </a:pPr>
            <a:fld id="{9C02C9E0-08CD-4733-BA15-E5A0A404A85B}" type="slidenum">
              <a:rPr lang="en-US" altLang="en-US" smtClean="0"/>
              <a:pPr>
                <a:defRPr/>
              </a:pPr>
              <a:t>9</a:t>
            </a:fld>
            <a:endParaRPr lang="en-US" altLang="en-US"/>
          </a:p>
        </p:txBody>
      </p:sp>
      <p:pic>
        <p:nvPicPr>
          <p:cNvPr id="15364" name="Picture 3"/>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9280525" y="1392238"/>
            <a:ext cx="2743200" cy="15573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714375" y="0"/>
            <a:ext cx="10515600" cy="410817"/>
          </a:xfrm>
        </p:spPr>
        <p:txBody>
          <a:bodyPr/>
          <a:lstStyle/>
          <a:p>
            <a:pPr eaLnBrk="1" hangingPunct="1"/>
            <a:r>
              <a:rPr lang="en-US" altLang="en-US" sz="2800" b="1" dirty="0" err="1">
                <a:solidFill>
                  <a:srgbClr val="C00000"/>
                </a:solidFill>
                <a:latin typeface="Arial" charset="0"/>
                <a:cs typeface="Arial" charset="0"/>
              </a:rPr>
              <a:t>Contd</a:t>
            </a:r>
            <a:r>
              <a:rPr lang="en-US" altLang="en-US" sz="2800" b="1" dirty="0">
                <a:solidFill>
                  <a:srgbClr val="C00000"/>
                </a:solidFill>
                <a:latin typeface="Arial" charset="0"/>
                <a:cs typeface="Arial" charset="0"/>
              </a:rPr>
              <a:t>…</a:t>
            </a:r>
            <a:endParaRPr lang="en-IN" altLang="en-US" sz="2800" dirty="0">
              <a:solidFill>
                <a:srgbClr val="C00000"/>
              </a:solidFill>
              <a:latin typeface="Arial" charset="0"/>
              <a:cs typeface="Arial" charset="0"/>
            </a:endParaRPr>
          </a:p>
        </p:txBody>
      </p:sp>
      <p:sp>
        <p:nvSpPr>
          <p:cNvPr id="5" name="Content Placeholder 4"/>
          <p:cNvSpPr>
            <a:spLocks noGrp="1"/>
          </p:cNvSpPr>
          <p:nvPr>
            <p:ph idx="1"/>
          </p:nvPr>
        </p:nvSpPr>
        <p:spPr>
          <a:xfrm>
            <a:off x="198438" y="544339"/>
            <a:ext cx="11818937" cy="5976937"/>
          </a:xfrm>
        </p:spPr>
        <p:txBody>
          <a:bodyPr/>
          <a:lstStyle/>
          <a:p>
            <a:pPr marL="0" indent="0">
              <a:buFont typeface="Arial" charset="0"/>
              <a:buNone/>
              <a:defRPr/>
            </a:pPr>
            <a:r>
              <a:rPr lang="en-US" sz="2400" b="1" dirty="0">
                <a:solidFill>
                  <a:srgbClr val="00B050"/>
                </a:solidFill>
              </a:rPr>
              <a:t>2. Coaxial Cable:</a:t>
            </a:r>
          </a:p>
          <a:p>
            <a:pPr>
              <a:defRPr/>
            </a:pPr>
            <a:r>
              <a:rPr lang="en-US" sz="2400" dirty="0"/>
              <a:t>Offering better data rates and less signal attenuation, a coaxial cable consist of a central copper conductor that is surrounded by a foil shield. The foil is covered by yet another shield known as a braided shield. Unlike twisted pairs, coaxial cables only have a single copper conductor. The conductor and the foil shield are separated by a dielectric.</a:t>
            </a:r>
          </a:p>
          <a:p>
            <a:pPr>
              <a:defRPr/>
            </a:pPr>
            <a:r>
              <a:rPr lang="en-US" sz="2200" dirty="0"/>
              <a:t>Cable TVs and analog television networks widely use Coaxial cables.</a:t>
            </a:r>
          </a:p>
          <a:p>
            <a:pPr marL="0" indent="0">
              <a:buFont typeface="Arial" charset="0"/>
              <a:buNone/>
              <a:defRPr/>
            </a:pPr>
            <a:endParaRPr lang="en-US" sz="2400" dirty="0"/>
          </a:p>
          <a:p>
            <a:pPr marL="0" indent="0">
              <a:buFont typeface="Arial" charset="0"/>
              <a:buNone/>
              <a:defRPr/>
            </a:pPr>
            <a:r>
              <a:rPr lang="en-US" sz="2400" b="1" dirty="0">
                <a:solidFill>
                  <a:srgbClr val="00B050"/>
                </a:solidFill>
              </a:rPr>
              <a:t>3. Fiber Optic:</a:t>
            </a:r>
          </a:p>
          <a:p>
            <a:pPr>
              <a:defRPr/>
            </a:pPr>
            <a:r>
              <a:rPr lang="en-US" sz="2400" dirty="0"/>
              <a:t>It is the most expensive of wired mediums and offers the highest </a:t>
            </a:r>
          </a:p>
          <a:p>
            <a:pPr marL="0" indent="0">
              <a:buFont typeface="Arial" charset="0"/>
              <a:buNone/>
              <a:defRPr/>
            </a:pPr>
            <a:r>
              <a:rPr lang="en-US" sz="2400" dirty="0"/>
              <a:t>   rates of data transmission. They are often used in long distance </a:t>
            </a:r>
          </a:p>
          <a:p>
            <a:pPr marL="0" indent="0">
              <a:buFont typeface="Arial" charset="0"/>
              <a:buNone/>
              <a:defRPr/>
            </a:pPr>
            <a:r>
              <a:rPr lang="en-US" sz="2400" dirty="0"/>
              <a:t>   communications and are never affected by any electromagnetic fields. This is because it    </a:t>
            </a:r>
          </a:p>
          <a:p>
            <a:pPr marL="0" indent="0">
              <a:buFont typeface="Arial" charset="0"/>
              <a:buNone/>
              <a:defRPr/>
            </a:pPr>
            <a:r>
              <a:rPr lang="en-US" sz="2400" dirty="0"/>
              <a:t>    involves light.</a:t>
            </a:r>
          </a:p>
          <a:p>
            <a:pPr>
              <a:defRPr/>
            </a:pPr>
            <a:r>
              <a:rPr lang="en-US" sz="2400" dirty="0"/>
              <a:t>A fiber optic cable is a thin, flexible, transparent medium made of very fine glass or plastic fibers. It utilizes the principle of total internal reflection. </a:t>
            </a:r>
          </a:p>
          <a:p>
            <a:pPr>
              <a:defRPr/>
            </a:pPr>
            <a:r>
              <a:rPr lang="en-US" sz="2400" dirty="0"/>
              <a:t>It is used for transmission of large volumes of data.</a:t>
            </a:r>
          </a:p>
          <a:p>
            <a:pPr marL="0" indent="0">
              <a:buFont typeface="Arial" charset="0"/>
              <a:buNone/>
              <a:defRPr/>
            </a:pPr>
            <a:r>
              <a:rPr lang="en-US" sz="2400" dirty="0"/>
              <a:t> </a:t>
            </a:r>
          </a:p>
        </p:txBody>
      </p:sp>
      <p:sp>
        <p:nvSpPr>
          <p:cNvPr id="2" name="Slide Number Placeholder 1"/>
          <p:cNvSpPr>
            <a:spLocks noGrp="1"/>
          </p:cNvSpPr>
          <p:nvPr>
            <p:ph type="sldNum" sz="quarter" idx="12"/>
          </p:nvPr>
        </p:nvSpPr>
        <p:spPr/>
        <p:txBody>
          <a:bodyPr/>
          <a:lstStyle/>
          <a:p>
            <a:pPr>
              <a:defRPr/>
            </a:pPr>
            <a:fld id="{9C02C9E0-08CD-4733-BA15-E5A0A404A85B}" type="slidenum">
              <a:rPr lang="en-US" altLang="en-US" smtClean="0"/>
              <a:pPr>
                <a:defRPr/>
              </a:pPr>
              <a:t>10</a:t>
            </a:fld>
            <a:endParaRPr lang="en-US" altLang="en-US"/>
          </a:p>
        </p:txBody>
      </p:sp>
      <p:pic>
        <p:nvPicPr>
          <p:cNvPr id="16388" name="Picture 3"/>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8262938" y="2235200"/>
            <a:ext cx="3754437" cy="9985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6389" name="Picture 4"/>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8786813" y="3479800"/>
            <a:ext cx="3351212" cy="1155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714375" y="0"/>
            <a:ext cx="10515600" cy="682625"/>
          </a:xfrm>
        </p:spPr>
        <p:txBody>
          <a:bodyPr/>
          <a:lstStyle/>
          <a:p>
            <a:pPr marL="571500" indent="-571500" algn="ctr" eaLnBrk="1" hangingPunct="1">
              <a:buFontTx/>
              <a:buBlip>
                <a:blip r:embed="rId2"/>
              </a:buBlip>
            </a:pPr>
            <a:r>
              <a:rPr lang="en-US" altLang="en-US" sz="3600" b="1">
                <a:solidFill>
                  <a:srgbClr val="C00000"/>
                </a:solidFill>
                <a:latin typeface="Arial" charset="0"/>
                <a:cs typeface="Arial" charset="0"/>
              </a:rPr>
              <a:t>Communication Media</a:t>
            </a:r>
            <a:endParaRPr lang="en-IN" altLang="en-US" sz="3600">
              <a:solidFill>
                <a:srgbClr val="C00000"/>
              </a:solidFill>
              <a:latin typeface="Arial" charset="0"/>
              <a:cs typeface="Arial" charset="0"/>
            </a:endParaRPr>
          </a:p>
        </p:txBody>
      </p:sp>
      <p:sp>
        <p:nvSpPr>
          <p:cNvPr id="5" name="Content Placeholder 4"/>
          <p:cNvSpPr>
            <a:spLocks noGrp="1"/>
          </p:cNvSpPr>
          <p:nvPr>
            <p:ph idx="1"/>
          </p:nvPr>
        </p:nvSpPr>
        <p:spPr>
          <a:xfrm>
            <a:off x="258763" y="477838"/>
            <a:ext cx="11818937" cy="6380162"/>
          </a:xfrm>
        </p:spPr>
        <p:txBody>
          <a:bodyPr/>
          <a:lstStyle/>
          <a:p>
            <a:pPr marL="0" indent="0">
              <a:buFont typeface="Arial" charset="0"/>
              <a:buNone/>
              <a:defRPr/>
            </a:pPr>
            <a:r>
              <a:rPr lang="en-US" sz="2400" b="1" dirty="0">
                <a:solidFill>
                  <a:srgbClr val="7030A0"/>
                </a:solidFill>
              </a:rPr>
              <a:t>B. Wireless media (Unbounded/Unguided media):</a:t>
            </a:r>
            <a:endParaRPr lang="en-US" sz="2400" dirty="0">
              <a:solidFill>
                <a:srgbClr val="7030A0"/>
              </a:solidFill>
            </a:endParaRPr>
          </a:p>
          <a:p>
            <a:pPr algn="just">
              <a:defRPr/>
            </a:pPr>
            <a:r>
              <a:rPr lang="en-US" sz="2200" dirty="0"/>
              <a:t>A wireless network uses radio waves as the sole medium for transmitting and receiving data. There are no wires involved. An example is the wireless router in your home. Radio waves are electromagnetic waves which are transverse in nature and they have the longest wavelength on the electromagnetic spectrum.</a:t>
            </a:r>
          </a:p>
          <a:p>
            <a:pPr algn="just">
              <a:defRPr/>
            </a:pPr>
            <a:r>
              <a:rPr lang="en-US" sz="2200" dirty="0"/>
              <a:t>They travel at the speed of light and have frequencies ranging from 3 kHz to 3 GHz. Radio waves can easily be absorbed by most materials and can bend around objects as well. There are 3 major types of Unguided Media:</a:t>
            </a:r>
          </a:p>
          <a:p>
            <a:pPr marL="0" indent="0" algn="just">
              <a:buFont typeface="Arial" charset="0"/>
              <a:buNone/>
              <a:defRPr/>
            </a:pPr>
            <a:r>
              <a:rPr lang="en-US" sz="2200" b="1" dirty="0">
                <a:solidFill>
                  <a:srgbClr val="00B050"/>
                </a:solidFill>
              </a:rPr>
              <a:t>1. Radio waves: </a:t>
            </a:r>
            <a:r>
              <a:rPr lang="en-US" sz="2200" dirty="0"/>
              <a:t>These are easy to generate and can penetrate through buildings. The sending and receiving antennas need not be aligned. Frequency Range:3KHz – 1GHz. AM and FM radios for transmission.</a:t>
            </a:r>
          </a:p>
          <a:p>
            <a:pPr marL="0" indent="0" algn="just">
              <a:buFont typeface="Arial" charset="0"/>
              <a:buNone/>
              <a:defRPr/>
            </a:pPr>
            <a:r>
              <a:rPr lang="en-US" sz="2200" b="1" dirty="0">
                <a:solidFill>
                  <a:srgbClr val="00B050"/>
                </a:solidFill>
              </a:rPr>
              <a:t>2. Microwaves: </a:t>
            </a:r>
            <a:r>
              <a:rPr lang="en-US" sz="2200" dirty="0"/>
              <a:t>It is a line of sight transmission i.e. the sending and receiving antennas need to be properly aligned with each other. The distance covered by the signal is directly proportional to the height of the antenna. Frequency Range: 1GHz – 300GHz. </a:t>
            </a:r>
          </a:p>
          <a:p>
            <a:pPr algn="just">
              <a:defRPr/>
            </a:pPr>
            <a:r>
              <a:rPr lang="en-US" sz="2200" dirty="0"/>
              <a:t>These are majorly used for mobile phone communication and television distribution.</a:t>
            </a:r>
          </a:p>
          <a:p>
            <a:pPr marL="0" indent="0" algn="just">
              <a:buFont typeface="Arial" charset="0"/>
              <a:buNone/>
              <a:defRPr/>
            </a:pPr>
            <a:r>
              <a:rPr lang="en-US" sz="2200" b="1" dirty="0">
                <a:solidFill>
                  <a:srgbClr val="00B050"/>
                </a:solidFill>
              </a:rPr>
              <a:t>3. Infrared:  </a:t>
            </a:r>
            <a:r>
              <a:rPr lang="en-US" sz="2200" dirty="0"/>
              <a:t>Infrared waves are used for very short distance communication. They cannot penetrate through obstacles. This prevents interference between systems. Frequency Range: 300GHz – 400THz. It is used in TV remotes, wireless mouse, keyboard, printer, etc.</a:t>
            </a:r>
          </a:p>
        </p:txBody>
      </p:sp>
      <p:sp>
        <p:nvSpPr>
          <p:cNvPr id="2" name="Slide Number Placeholder 1"/>
          <p:cNvSpPr>
            <a:spLocks noGrp="1"/>
          </p:cNvSpPr>
          <p:nvPr>
            <p:ph type="sldNum" sz="quarter" idx="12"/>
          </p:nvPr>
        </p:nvSpPr>
        <p:spPr/>
        <p:txBody>
          <a:bodyPr/>
          <a:lstStyle/>
          <a:p>
            <a:pPr>
              <a:defRPr/>
            </a:pPr>
            <a:fld id="{9C02C9E0-08CD-4733-BA15-E5A0A404A85B}" type="slidenum">
              <a:rPr lang="en-US" altLang="en-US" smtClean="0"/>
              <a:pPr>
                <a:defRPr/>
              </a:pPr>
              <a:t>11</a:t>
            </a:fld>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796925" y="242888"/>
            <a:ext cx="10515600" cy="822325"/>
          </a:xfrm>
        </p:spPr>
        <p:txBody>
          <a:bodyPr/>
          <a:lstStyle/>
          <a:p>
            <a:pPr marL="571500" indent="-571500" algn="ctr" eaLnBrk="1" hangingPunct="1">
              <a:buFontTx/>
              <a:buBlip>
                <a:blip r:embed="rId2"/>
              </a:buBlip>
            </a:pPr>
            <a:r>
              <a:rPr lang="en-IN" sz="3600" b="1">
                <a:solidFill>
                  <a:srgbClr val="C00000"/>
                </a:solidFill>
                <a:latin typeface="Arial" charset="0"/>
                <a:cs typeface="Arial" charset="0"/>
              </a:rPr>
              <a:t>Electromagnetic Spectrum:</a:t>
            </a:r>
            <a:endParaRPr lang="en-IN" altLang="en-US" sz="3600">
              <a:solidFill>
                <a:srgbClr val="C00000"/>
              </a:solidFill>
              <a:latin typeface="Arial" charset="0"/>
              <a:cs typeface="Arial" charset="0"/>
            </a:endParaRPr>
          </a:p>
        </p:txBody>
      </p:sp>
      <p:sp>
        <p:nvSpPr>
          <p:cNvPr id="3" name="Content Placeholder 2"/>
          <p:cNvSpPr>
            <a:spLocks noGrp="1"/>
          </p:cNvSpPr>
          <p:nvPr>
            <p:ph idx="1"/>
          </p:nvPr>
        </p:nvSpPr>
        <p:spPr>
          <a:xfrm>
            <a:off x="436563" y="1187450"/>
            <a:ext cx="10917237" cy="5186363"/>
          </a:xfrm>
        </p:spPr>
        <p:txBody>
          <a:bodyPr rtlCol="0">
            <a:normAutofit/>
          </a:bodyPr>
          <a:lstStyle/>
          <a:p>
            <a:pPr marL="0" indent="0">
              <a:buFont typeface="Arial" charset="0"/>
              <a:buNone/>
              <a:defRPr/>
            </a:pPr>
            <a:r>
              <a:rPr lang="en-IN" sz="3200" b="1" dirty="0">
                <a:solidFill>
                  <a:srgbClr val="7030A0"/>
                </a:solidFill>
              </a:rPr>
              <a:t>Electromagnetic Spectrum: </a:t>
            </a:r>
          </a:p>
          <a:p>
            <a:pPr>
              <a:defRPr/>
            </a:pPr>
            <a:r>
              <a:rPr lang="en-IN" sz="2400" dirty="0"/>
              <a:t>It is a signal made up of oscillating electric and magnetic fields.</a:t>
            </a:r>
            <a:endParaRPr lang="en-US" sz="2400" dirty="0"/>
          </a:p>
          <a:p>
            <a:pPr>
              <a:defRPr/>
            </a:pPr>
            <a:r>
              <a:rPr lang="en-US" sz="2400" dirty="0"/>
              <a:t>The entire range of frequencies that the EM wave can produce oscillations is termed as </a:t>
            </a:r>
            <a:r>
              <a:rPr lang="en-US" sz="2400" i="1" dirty="0"/>
              <a:t>Electromagnetic Spectrum.</a:t>
            </a:r>
            <a:r>
              <a:rPr lang="en-US" sz="2400" dirty="0"/>
              <a:t> </a:t>
            </a:r>
          </a:p>
          <a:p>
            <a:pPr>
              <a:defRPr/>
            </a:pPr>
            <a:r>
              <a:rPr lang="en-US" sz="2400" dirty="0"/>
              <a:t>For the classification purpose, the EM spectrum is divided into small segments and each segment is given a nomenclature.</a:t>
            </a:r>
          </a:p>
          <a:p>
            <a:pPr>
              <a:defRPr/>
            </a:pPr>
            <a:r>
              <a:rPr lang="en-US" sz="2400" dirty="0"/>
              <a:t> Each range is identified by end frequencies or wavelengths that differ by a factor of 10.</a:t>
            </a:r>
          </a:p>
        </p:txBody>
      </p:sp>
      <p:sp>
        <p:nvSpPr>
          <p:cNvPr id="2" name="Slide Number Placeholder 1"/>
          <p:cNvSpPr>
            <a:spLocks noGrp="1"/>
          </p:cNvSpPr>
          <p:nvPr>
            <p:ph type="sldNum" sz="quarter" idx="12"/>
          </p:nvPr>
        </p:nvSpPr>
        <p:spPr/>
        <p:txBody>
          <a:bodyPr/>
          <a:lstStyle/>
          <a:p>
            <a:pPr>
              <a:defRPr/>
            </a:pPr>
            <a:fld id="{9C02C9E0-08CD-4733-BA15-E5A0A404A85B}" type="slidenum">
              <a:rPr lang="en-US" altLang="en-US" smtClean="0"/>
              <a:pPr>
                <a:defRPr/>
              </a:pPr>
              <a:t>12</a:t>
            </a:fld>
            <a:endParaRPr lang="en-US" altLang="en-US"/>
          </a:p>
        </p:txBody>
      </p:sp>
      <p:pic>
        <p:nvPicPr>
          <p:cNvPr id="18436" name="Content Placeholder 3"/>
          <p:cNvPicPr>
            <a:picLocks/>
          </p:cNvPicPr>
          <p:nvPr/>
        </p:nvPicPr>
        <p:blipFill>
          <a:blip r:embed="rId3">
            <a:extLst>
              <a:ext uri="{28A0092B-C50C-407E-A947-70E740481C1C}">
                <a14:useLocalDpi xmlns="" xmlns:a14="http://schemas.microsoft.com/office/drawing/2010/main" val="0"/>
              </a:ext>
            </a:extLst>
          </a:blip>
          <a:srcRect/>
          <a:stretch>
            <a:fillRect/>
          </a:stretch>
        </p:blipFill>
        <p:spPr bwMode="auto">
          <a:xfrm>
            <a:off x="2306638" y="4175194"/>
            <a:ext cx="7751762" cy="25828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850900" y="95250"/>
            <a:ext cx="10515600" cy="723900"/>
          </a:xfrm>
        </p:spPr>
        <p:txBody>
          <a:bodyPr/>
          <a:lstStyle/>
          <a:p>
            <a:pPr marL="571500" indent="-571500" algn="ctr" eaLnBrk="1" hangingPunct="1">
              <a:buFontTx/>
              <a:buBlip>
                <a:blip r:embed="rId2"/>
              </a:buBlip>
            </a:pPr>
            <a:r>
              <a:rPr lang="en-US" altLang="en-US" sz="3600" b="1">
                <a:solidFill>
                  <a:srgbClr val="C00000"/>
                </a:solidFill>
                <a:latin typeface="Arial" charset="0"/>
                <a:cs typeface="Arial" charset="0"/>
              </a:rPr>
              <a:t>Electromagnetic Spectrum: </a:t>
            </a:r>
            <a:br>
              <a:rPr lang="en-US" altLang="en-US" sz="3600" b="1">
                <a:solidFill>
                  <a:srgbClr val="C00000"/>
                </a:solidFill>
                <a:latin typeface="Arial" charset="0"/>
                <a:cs typeface="Arial" charset="0"/>
              </a:rPr>
            </a:br>
            <a:r>
              <a:rPr lang="en-US" sz="2800" b="1">
                <a:solidFill>
                  <a:srgbClr val="7030A0"/>
                </a:solidFill>
                <a:latin typeface="Times New Roman" pitchFamily="18" charset="0"/>
                <a:cs typeface="Times New Roman" pitchFamily="18" charset="0"/>
              </a:rPr>
              <a:t>Allotment of frequency band for different applications</a:t>
            </a:r>
            <a:endParaRPr lang="en-US" altLang="en-US" sz="3600" b="1">
              <a:solidFill>
                <a:srgbClr val="7030A0"/>
              </a:solidFill>
              <a:latin typeface="Arial" charset="0"/>
              <a:cs typeface="Arial" charset="0"/>
            </a:endParaRPr>
          </a:p>
        </p:txBody>
      </p:sp>
      <p:graphicFrame>
        <p:nvGraphicFramePr>
          <p:cNvPr id="3" name="Content Placeholder 2"/>
          <p:cNvGraphicFramePr>
            <a:graphicFrameLocks noGrp="1"/>
          </p:cNvGraphicFramePr>
          <p:nvPr>
            <p:ph idx="1"/>
          </p:nvPr>
        </p:nvGraphicFramePr>
        <p:xfrm>
          <a:off x="204788" y="992188"/>
          <a:ext cx="11599863" cy="5761035"/>
        </p:xfrm>
        <a:graphic>
          <a:graphicData uri="http://schemas.openxmlformats.org/drawingml/2006/table">
            <a:tbl>
              <a:tblPr firstRow="1" firstCol="1" bandRow="1">
                <a:tableStyleId>{5C22544A-7EE6-4342-B048-85BDC9FD1C3A}</a:tableStyleId>
              </a:tblPr>
              <a:tblGrid>
                <a:gridCol w="3084048">
                  <a:extLst>
                    <a:ext uri="{9D8B030D-6E8A-4147-A177-3AD203B41FA5}">
                      <a16:colId xmlns="" xmlns:a16="http://schemas.microsoft.com/office/drawing/2014/main" val="20000"/>
                    </a:ext>
                  </a:extLst>
                </a:gridCol>
                <a:gridCol w="3367048">
                  <a:extLst>
                    <a:ext uri="{9D8B030D-6E8A-4147-A177-3AD203B41FA5}">
                      <a16:colId xmlns="" xmlns:a16="http://schemas.microsoft.com/office/drawing/2014/main" val="20001"/>
                    </a:ext>
                  </a:extLst>
                </a:gridCol>
                <a:gridCol w="5148767">
                  <a:extLst>
                    <a:ext uri="{9D8B030D-6E8A-4147-A177-3AD203B41FA5}">
                      <a16:colId xmlns="" xmlns:a16="http://schemas.microsoft.com/office/drawing/2014/main" val="20002"/>
                    </a:ext>
                  </a:extLst>
                </a:gridCol>
              </a:tblGrid>
              <a:tr h="640115">
                <a:tc>
                  <a:txBody>
                    <a:bodyPr/>
                    <a:lstStyle/>
                    <a:p>
                      <a:pPr marL="0" marR="0" algn="l">
                        <a:lnSpc>
                          <a:spcPct val="150000"/>
                        </a:lnSpc>
                        <a:spcBef>
                          <a:spcPts val="0"/>
                        </a:spcBef>
                        <a:spcAft>
                          <a:spcPts val="0"/>
                        </a:spcAft>
                      </a:pPr>
                      <a:r>
                        <a:rPr lang="en-US" sz="2800" dirty="0">
                          <a:effectLst/>
                        </a:rPr>
                        <a:t>Frequency (f) range</a:t>
                      </a:r>
                      <a:endParaRPr lang="en-US" sz="2400" dirty="0">
                        <a:effectLst/>
                        <a:latin typeface="Calibri"/>
                        <a:ea typeface="Times New Roman"/>
                        <a:cs typeface="Times New Roman"/>
                      </a:endParaRPr>
                    </a:p>
                  </a:txBody>
                  <a:tcPr marL="68575" marR="68575" marT="0" marB="0"/>
                </a:tc>
                <a:tc>
                  <a:txBody>
                    <a:bodyPr/>
                    <a:lstStyle/>
                    <a:p>
                      <a:pPr marL="0" marR="0" algn="l">
                        <a:lnSpc>
                          <a:spcPct val="150000"/>
                        </a:lnSpc>
                        <a:spcBef>
                          <a:spcPts val="0"/>
                        </a:spcBef>
                        <a:spcAft>
                          <a:spcPts val="0"/>
                        </a:spcAft>
                      </a:pPr>
                      <a:r>
                        <a:rPr lang="en-US" sz="2800">
                          <a:effectLst/>
                        </a:rPr>
                        <a:t>Wavelength (λ) range</a:t>
                      </a:r>
                      <a:endParaRPr lang="en-US" sz="2400">
                        <a:effectLst/>
                        <a:latin typeface="Calibri"/>
                        <a:ea typeface="Times New Roman"/>
                        <a:cs typeface="Times New Roman"/>
                      </a:endParaRPr>
                    </a:p>
                  </a:txBody>
                  <a:tcPr marL="68575" marR="68575" marT="0" marB="0"/>
                </a:tc>
                <a:tc>
                  <a:txBody>
                    <a:bodyPr/>
                    <a:lstStyle/>
                    <a:p>
                      <a:pPr marL="0" marR="0" algn="l">
                        <a:lnSpc>
                          <a:spcPct val="150000"/>
                        </a:lnSpc>
                        <a:spcBef>
                          <a:spcPts val="0"/>
                        </a:spcBef>
                        <a:spcAft>
                          <a:spcPts val="0"/>
                        </a:spcAft>
                      </a:pPr>
                      <a:r>
                        <a:rPr lang="en-US" sz="2800">
                          <a:effectLst/>
                        </a:rPr>
                        <a:t>EM spectrum nomenclature</a:t>
                      </a:r>
                      <a:endParaRPr lang="en-US" sz="2400">
                        <a:effectLst/>
                        <a:latin typeface="Calibri"/>
                        <a:ea typeface="Times New Roman"/>
                        <a:cs typeface="Times New Roman"/>
                      </a:endParaRPr>
                    </a:p>
                  </a:txBody>
                  <a:tcPr marL="68575" marR="68575" marT="0" marB="0"/>
                </a:tc>
                <a:extLst>
                  <a:ext uri="{0D108BD9-81ED-4DB2-BD59-A6C34878D82A}">
                    <a16:rowId xmlns="" xmlns:a16="http://schemas.microsoft.com/office/drawing/2014/main" val="10000"/>
                  </a:ext>
                </a:extLst>
              </a:tr>
              <a:tr h="640115">
                <a:tc>
                  <a:txBody>
                    <a:bodyPr/>
                    <a:lstStyle/>
                    <a:p>
                      <a:pPr marL="0" marR="0" algn="l">
                        <a:lnSpc>
                          <a:spcPct val="150000"/>
                        </a:lnSpc>
                        <a:spcBef>
                          <a:spcPts val="0"/>
                        </a:spcBef>
                        <a:spcAft>
                          <a:spcPts val="0"/>
                        </a:spcAft>
                      </a:pPr>
                      <a:r>
                        <a:rPr lang="en-US" sz="2800" dirty="0">
                          <a:effectLst/>
                        </a:rPr>
                        <a:t>3 – 30 KHz</a:t>
                      </a:r>
                      <a:endParaRPr lang="en-US" sz="2400" dirty="0">
                        <a:effectLst/>
                        <a:latin typeface="Calibri"/>
                        <a:ea typeface="Times New Roman"/>
                        <a:cs typeface="Times New Roman"/>
                      </a:endParaRPr>
                    </a:p>
                  </a:txBody>
                  <a:tcPr marL="68575" marR="68575" marT="0" marB="0"/>
                </a:tc>
                <a:tc>
                  <a:txBody>
                    <a:bodyPr/>
                    <a:lstStyle/>
                    <a:p>
                      <a:pPr marL="0" marR="0" algn="l">
                        <a:lnSpc>
                          <a:spcPct val="150000"/>
                        </a:lnSpc>
                        <a:spcBef>
                          <a:spcPts val="0"/>
                        </a:spcBef>
                        <a:spcAft>
                          <a:spcPts val="0"/>
                        </a:spcAft>
                      </a:pPr>
                      <a:r>
                        <a:rPr lang="en-US" sz="2800">
                          <a:effectLst/>
                        </a:rPr>
                        <a:t>100 – 10 Km</a:t>
                      </a:r>
                      <a:endParaRPr lang="en-US" sz="2400">
                        <a:effectLst/>
                        <a:latin typeface="Calibri"/>
                        <a:ea typeface="Times New Roman"/>
                        <a:cs typeface="Times New Roman"/>
                      </a:endParaRPr>
                    </a:p>
                  </a:txBody>
                  <a:tcPr marL="68575" marR="68575" marT="0" marB="0"/>
                </a:tc>
                <a:tc>
                  <a:txBody>
                    <a:bodyPr/>
                    <a:lstStyle/>
                    <a:p>
                      <a:pPr marL="0" marR="0" algn="l">
                        <a:lnSpc>
                          <a:spcPct val="150000"/>
                        </a:lnSpc>
                        <a:spcBef>
                          <a:spcPts val="0"/>
                        </a:spcBef>
                        <a:spcAft>
                          <a:spcPts val="0"/>
                        </a:spcAft>
                      </a:pPr>
                      <a:r>
                        <a:rPr lang="en-US" sz="2800">
                          <a:effectLst/>
                        </a:rPr>
                        <a:t>VLF – Very Low Frequency</a:t>
                      </a:r>
                      <a:endParaRPr lang="en-US" sz="2400">
                        <a:effectLst/>
                        <a:latin typeface="Calibri"/>
                        <a:ea typeface="Times New Roman"/>
                        <a:cs typeface="Times New Roman"/>
                      </a:endParaRPr>
                    </a:p>
                  </a:txBody>
                  <a:tcPr marL="68575" marR="68575" marT="0" marB="0"/>
                </a:tc>
                <a:extLst>
                  <a:ext uri="{0D108BD9-81ED-4DB2-BD59-A6C34878D82A}">
                    <a16:rowId xmlns="" xmlns:a16="http://schemas.microsoft.com/office/drawing/2014/main" val="10001"/>
                  </a:ext>
                </a:extLst>
              </a:tr>
              <a:tr h="640115">
                <a:tc>
                  <a:txBody>
                    <a:bodyPr/>
                    <a:lstStyle/>
                    <a:p>
                      <a:pPr marL="0" marR="0" algn="l">
                        <a:lnSpc>
                          <a:spcPct val="150000"/>
                        </a:lnSpc>
                        <a:spcBef>
                          <a:spcPts val="0"/>
                        </a:spcBef>
                        <a:spcAft>
                          <a:spcPts val="0"/>
                        </a:spcAft>
                      </a:pPr>
                      <a:r>
                        <a:rPr lang="en-US" sz="2800" dirty="0">
                          <a:effectLst/>
                        </a:rPr>
                        <a:t>30 – 300 KHz</a:t>
                      </a:r>
                      <a:endParaRPr lang="en-US" sz="2400" dirty="0">
                        <a:effectLst/>
                        <a:latin typeface="Calibri"/>
                        <a:ea typeface="Times New Roman"/>
                        <a:cs typeface="Times New Roman"/>
                      </a:endParaRPr>
                    </a:p>
                  </a:txBody>
                  <a:tcPr marL="68575" marR="68575" marT="0" marB="0"/>
                </a:tc>
                <a:tc>
                  <a:txBody>
                    <a:bodyPr/>
                    <a:lstStyle/>
                    <a:p>
                      <a:pPr marL="0" marR="0" algn="l">
                        <a:lnSpc>
                          <a:spcPct val="150000"/>
                        </a:lnSpc>
                        <a:spcBef>
                          <a:spcPts val="0"/>
                        </a:spcBef>
                        <a:spcAft>
                          <a:spcPts val="0"/>
                        </a:spcAft>
                      </a:pPr>
                      <a:r>
                        <a:rPr lang="en-US" sz="2800">
                          <a:effectLst/>
                        </a:rPr>
                        <a:t>10 – 1 Km</a:t>
                      </a:r>
                      <a:endParaRPr lang="en-US" sz="2400">
                        <a:effectLst/>
                        <a:latin typeface="Calibri"/>
                        <a:ea typeface="Times New Roman"/>
                        <a:cs typeface="Times New Roman"/>
                      </a:endParaRPr>
                    </a:p>
                  </a:txBody>
                  <a:tcPr marL="68575" marR="68575" marT="0" marB="0"/>
                </a:tc>
                <a:tc>
                  <a:txBody>
                    <a:bodyPr/>
                    <a:lstStyle/>
                    <a:p>
                      <a:pPr marL="0" marR="0" algn="l">
                        <a:lnSpc>
                          <a:spcPct val="150000"/>
                        </a:lnSpc>
                        <a:spcBef>
                          <a:spcPts val="0"/>
                        </a:spcBef>
                        <a:spcAft>
                          <a:spcPts val="0"/>
                        </a:spcAft>
                      </a:pPr>
                      <a:r>
                        <a:rPr lang="en-US" sz="2800">
                          <a:effectLst/>
                        </a:rPr>
                        <a:t>LF – Low Frequency</a:t>
                      </a:r>
                      <a:endParaRPr lang="en-US" sz="2400">
                        <a:effectLst/>
                        <a:latin typeface="Calibri"/>
                        <a:ea typeface="Times New Roman"/>
                        <a:cs typeface="Times New Roman"/>
                      </a:endParaRPr>
                    </a:p>
                  </a:txBody>
                  <a:tcPr marL="68575" marR="68575" marT="0" marB="0"/>
                </a:tc>
                <a:extLst>
                  <a:ext uri="{0D108BD9-81ED-4DB2-BD59-A6C34878D82A}">
                    <a16:rowId xmlns="" xmlns:a16="http://schemas.microsoft.com/office/drawing/2014/main" val="10002"/>
                  </a:ext>
                </a:extLst>
              </a:tr>
              <a:tr h="640115">
                <a:tc>
                  <a:txBody>
                    <a:bodyPr/>
                    <a:lstStyle/>
                    <a:p>
                      <a:pPr marL="0" marR="0" algn="l">
                        <a:lnSpc>
                          <a:spcPct val="150000"/>
                        </a:lnSpc>
                        <a:spcBef>
                          <a:spcPts val="0"/>
                        </a:spcBef>
                        <a:spcAft>
                          <a:spcPts val="0"/>
                        </a:spcAft>
                      </a:pPr>
                      <a:r>
                        <a:rPr lang="en-US" sz="2800">
                          <a:effectLst/>
                        </a:rPr>
                        <a:t>0.3 – 3 MHz</a:t>
                      </a:r>
                      <a:endParaRPr lang="en-US" sz="2400">
                        <a:effectLst/>
                        <a:latin typeface="Calibri"/>
                        <a:ea typeface="Times New Roman"/>
                        <a:cs typeface="Times New Roman"/>
                      </a:endParaRPr>
                    </a:p>
                  </a:txBody>
                  <a:tcPr marL="68575" marR="68575" marT="0" marB="0"/>
                </a:tc>
                <a:tc>
                  <a:txBody>
                    <a:bodyPr/>
                    <a:lstStyle/>
                    <a:p>
                      <a:pPr marL="0" marR="0" algn="l">
                        <a:lnSpc>
                          <a:spcPct val="150000"/>
                        </a:lnSpc>
                        <a:spcBef>
                          <a:spcPts val="0"/>
                        </a:spcBef>
                        <a:spcAft>
                          <a:spcPts val="0"/>
                        </a:spcAft>
                      </a:pPr>
                      <a:r>
                        <a:rPr lang="en-US" sz="2800" dirty="0">
                          <a:effectLst/>
                        </a:rPr>
                        <a:t>1000 – 100 m</a:t>
                      </a:r>
                      <a:endParaRPr lang="en-US" sz="2400" dirty="0">
                        <a:effectLst/>
                        <a:latin typeface="Calibri"/>
                        <a:ea typeface="Times New Roman"/>
                        <a:cs typeface="Times New Roman"/>
                      </a:endParaRPr>
                    </a:p>
                  </a:txBody>
                  <a:tcPr marL="68575" marR="68575" marT="0" marB="0"/>
                </a:tc>
                <a:tc>
                  <a:txBody>
                    <a:bodyPr/>
                    <a:lstStyle/>
                    <a:p>
                      <a:pPr marL="0" marR="0" algn="l">
                        <a:lnSpc>
                          <a:spcPct val="150000"/>
                        </a:lnSpc>
                        <a:spcBef>
                          <a:spcPts val="0"/>
                        </a:spcBef>
                        <a:spcAft>
                          <a:spcPts val="0"/>
                        </a:spcAft>
                      </a:pPr>
                      <a:r>
                        <a:rPr lang="en-US" sz="2800">
                          <a:effectLst/>
                        </a:rPr>
                        <a:t>MF – Medium Frequency</a:t>
                      </a:r>
                      <a:endParaRPr lang="en-US" sz="2400">
                        <a:effectLst/>
                        <a:latin typeface="Calibri"/>
                        <a:ea typeface="Times New Roman"/>
                        <a:cs typeface="Times New Roman"/>
                      </a:endParaRPr>
                    </a:p>
                  </a:txBody>
                  <a:tcPr marL="68575" marR="68575" marT="0" marB="0"/>
                </a:tc>
                <a:extLst>
                  <a:ext uri="{0D108BD9-81ED-4DB2-BD59-A6C34878D82A}">
                    <a16:rowId xmlns="" xmlns:a16="http://schemas.microsoft.com/office/drawing/2014/main" val="10003"/>
                  </a:ext>
                </a:extLst>
              </a:tr>
              <a:tr h="640115">
                <a:tc>
                  <a:txBody>
                    <a:bodyPr/>
                    <a:lstStyle/>
                    <a:p>
                      <a:pPr marL="0" marR="0" algn="l">
                        <a:lnSpc>
                          <a:spcPct val="150000"/>
                        </a:lnSpc>
                        <a:spcBef>
                          <a:spcPts val="0"/>
                        </a:spcBef>
                        <a:spcAft>
                          <a:spcPts val="0"/>
                        </a:spcAft>
                      </a:pPr>
                      <a:r>
                        <a:rPr lang="en-US" sz="2800">
                          <a:effectLst/>
                        </a:rPr>
                        <a:t>3 – 30 MHz</a:t>
                      </a:r>
                      <a:endParaRPr lang="en-US" sz="2400">
                        <a:effectLst/>
                        <a:latin typeface="Calibri"/>
                        <a:ea typeface="Times New Roman"/>
                        <a:cs typeface="Times New Roman"/>
                      </a:endParaRPr>
                    </a:p>
                  </a:txBody>
                  <a:tcPr marL="68575" marR="68575" marT="0" marB="0"/>
                </a:tc>
                <a:tc>
                  <a:txBody>
                    <a:bodyPr/>
                    <a:lstStyle/>
                    <a:p>
                      <a:pPr marL="0" marR="0" algn="l">
                        <a:lnSpc>
                          <a:spcPct val="150000"/>
                        </a:lnSpc>
                        <a:spcBef>
                          <a:spcPts val="0"/>
                        </a:spcBef>
                        <a:spcAft>
                          <a:spcPts val="0"/>
                        </a:spcAft>
                      </a:pPr>
                      <a:r>
                        <a:rPr lang="en-US" sz="2800" dirty="0">
                          <a:effectLst/>
                        </a:rPr>
                        <a:t>100 – 10 m</a:t>
                      </a:r>
                      <a:endParaRPr lang="en-US" sz="2400" dirty="0">
                        <a:effectLst/>
                        <a:latin typeface="Calibri"/>
                        <a:ea typeface="Times New Roman"/>
                        <a:cs typeface="Times New Roman"/>
                      </a:endParaRPr>
                    </a:p>
                  </a:txBody>
                  <a:tcPr marL="68575" marR="68575" marT="0" marB="0"/>
                </a:tc>
                <a:tc>
                  <a:txBody>
                    <a:bodyPr/>
                    <a:lstStyle/>
                    <a:p>
                      <a:pPr marL="0" marR="0" algn="l">
                        <a:lnSpc>
                          <a:spcPct val="150000"/>
                        </a:lnSpc>
                        <a:spcBef>
                          <a:spcPts val="0"/>
                        </a:spcBef>
                        <a:spcAft>
                          <a:spcPts val="0"/>
                        </a:spcAft>
                      </a:pPr>
                      <a:r>
                        <a:rPr lang="en-US" sz="2800">
                          <a:effectLst/>
                        </a:rPr>
                        <a:t>HF – High Frequency</a:t>
                      </a:r>
                      <a:endParaRPr lang="en-US" sz="2400">
                        <a:effectLst/>
                        <a:latin typeface="Calibri"/>
                        <a:ea typeface="Times New Roman"/>
                        <a:cs typeface="Times New Roman"/>
                      </a:endParaRPr>
                    </a:p>
                  </a:txBody>
                  <a:tcPr marL="68575" marR="68575" marT="0" marB="0"/>
                </a:tc>
                <a:extLst>
                  <a:ext uri="{0D108BD9-81ED-4DB2-BD59-A6C34878D82A}">
                    <a16:rowId xmlns="" xmlns:a16="http://schemas.microsoft.com/office/drawing/2014/main" val="10004"/>
                  </a:ext>
                </a:extLst>
              </a:tr>
              <a:tr h="640115">
                <a:tc>
                  <a:txBody>
                    <a:bodyPr/>
                    <a:lstStyle/>
                    <a:p>
                      <a:pPr marL="0" marR="0" algn="l">
                        <a:lnSpc>
                          <a:spcPct val="150000"/>
                        </a:lnSpc>
                        <a:spcBef>
                          <a:spcPts val="0"/>
                        </a:spcBef>
                        <a:spcAft>
                          <a:spcPts val="0"/>
                        </a:spcAft>
                      </a:pPr>
                      <a:r>
                        <a:rPr lang="en-US" sz="2800">
                          <a:effectLst/>
                        </a:rPr>
                        <a:t>30 – 300 MHz</a:t>
                      </a:r>
                      <a:endParaRPr lang="en-US" sz="2400">
                        <a:effectLst/>
                        <a:latin typeface="Calibri"/>
                        <a:ea typeface="Times New Roman"/>
                        <a:cs typeface="Times New Roman"/>
                      </a:endParaRPr>
                    </a:p>
                  </a:txBody>
                  <a:tcPr marL="68575" marR="68575" marT="0" marB="0"/>
                </a:tc>
                <a:tc>
                  <a:txBody>
                    <a:bodyPr/>
                    <a:lstStyle/>
                    <a:p>
                      <a:pPr marL="0" marR="0" algn="l">
                        <a:lnSpc>
                          <a:spcPct val="150000"/>
                        </a:lnSpc>
                        <a:spcBef>
                          <a:spcPts val="0"/>
                        </a:spcBef>
                        <a:spcAft>
                          <a:spcPts val="0"/>
                        </a:spcAft>
                      </a:pPr>
                      <a:r>
                        <a:rPr lang="en-US" sz="2800" dirty="0">
                          <a:effectLst/>
                        </a:rPr>
                        <a:t>10 – 1m</a:t>
                      </a:r>
                      <a:endParaRPr lang="en-US" sz="2400" dirty="0">
                        <a:effectLst/>
                        <a:latin typeface="Calibri"/>
                        <a:ea typeface="Times New Roman"/>
                        <a:cs typeface="Times New Roman"/>
                      </a:endParaRPr>
                    </a:p>
                  </a:txBody>
                  <a:tcPr marL="68575" marR="68575" marT="0" marB="0"/>
                </a:tc>
                <a:tc>
                  <a:txBody>
                    <a:bodyPr/>
                    <a:lstStyle/>
                    <a:p>
                      <a:pPr marL="0" marR="0" algn="l">
                        <a:lnSpc>
                          <a:spcPct val="150000"/>
                        </a:lnSpc>
                        <a:spcBef>
                          <a:spcPts val="0"/>
                        </a:spcBef>
                        <a:spcAft>
                          <a:spcPts val="0"/>
                        </a:spcAft>
                      </a:pPr>
                      <a:r>
                        <a:rPr lang="en-US" sz="2800" dirty="0">
                          <a:effectLst/>
                        </a:rPr>
                        <a:t>VHF – Very High Frequency</a:t>
                      </a:r>
                      <a:endParaRPr lang="en-US" sz="2400" dirty="0">
                        <a:effectLst/>
                        <a:latin typeface="Calibri"/>
                        <a:ea typeface="Times New Roman"/>
                        <a:cs typeface="Times New Roman"/>
                      </a:endParaRPr>
                    </a:p>
                  </a:txBody>
                  <a:tcPr marL="68575" marR="68575" marT="0" marB="0"/>
                </a:tc>
                <a:extLst>
                  <a:ext uri="{0D108BD9-81ED-4DB2-BD59-A6C34878D82A}">
                    <a16:rowId xmlns="" xmlns:a16="http://schemas.microsoft.com/office/drawing/2014/main" val="10005"/>
                  </a:ext>
                </a:extLst>
              </a:tr>
              <a:tr h="640115">
                <a:tc>
                  <a:txBody>
                    <a:bodyPr/>
                    <a:lstStyle/>
                    <a:p>
                      <a:pPr marL="0" marR="0" algn="l">
                        <a:lnSpc>
                          <a:spcPct val="150000"/>
                        </a:lnSpc>
                        <a:spcBef>
                          <a:spcPts val="0"/>
                        </a:spcBef>
                        <a:spcAft>
                          <a:spcPts val="0"/>
                        </a:spcAft>
                      </a:pPr>
                      <a:r>
                        <a:rPr lang="en-US" sz="2800">
                          <a:effectLst/>
                        </a:rPr>
                        <a:t>0.3 – 3 GHz</a:t>
                      </a:r>
                      <a:endParaRPr lang="en-US" sz="2400">
                        <a:effectLst/>
                        <a:latin typeface="Calibri"/>
                        <a:ea typeface="Times New Roman"/>
                        <a:cs typeface="Times New Roman"/>
                      </a:endParaRPr>
                    </a:p>
                  </a:txBody>
                  <a:tcPr marL="68575" marR="68575" marT="0" marB="0"/>
                </a:tc>
                <a:tc>
                  <a:txBody>
                    <a:bodyPr/>
                    <a:lstStyle/>
                    <a:p>
                      <a:pPr marL="0" marR="0" algn="l">
                        <a:lnSpc>
                          <a:spcPct val="150000"/>
                        </a:lnSpc>
                        <a:spcBef>
                          <a:spcPts val="0"/>
                        </a:spcBef>
                        <a:spcAft>
                          <a:spcPts val="0"/>
                        </a:spcAft>
                      </a:pPr>
                      <a:r>
                        <a:rPr lang="en-US" sz="2800">
                          <a:effectLst/>
                        </a:rPr>
                        <a:t>1000 – 100 mm</a:t>
                      </a:r>
                      <a:endParaRPr lang="en-US" sz="2400">
                        <a:effectLst/>
                        <a:latin typeface="Calibri"/>
                        <a:ea typeface="Times New Roman"/>
                        <a:cs typeface="Times New Roman"/>
                      </a:endParaRPr>
                    </a:p>
                  </a:txBody>
                  <a:tcPr marL="68575" marR="68575" marT="0" marB="0"/>
                </a:tc>
                <a:tc>
                  <a:txBody>
                    <a:bodyPr/>
                    <a:lstStyle/>
                    <a:p>
                      <a:pPr marL="0" marR="0" algn="l">
                        <a:lnSpc>
                          <a:spcPct val="150000"/>
                        </a:lnSpc>
                        <a:spcBef>
                          <a:spcPts val="0"/>
                        </a:spcBef>
                        <a:spcAft>
                          <a:spcPts val="0"/>
                        </a:spcAft>
                      </a:pPr>
                      <a:r>
                        <a:rPr lang="en-US" sz="2800" dirty="0">
                          <a:effectLst/>
                        </a:rPr>
                        <a:t>UHF – Ultra High Frequency</a:t>
                      </a:r>
                      <a:endParaRPr lang="en-US" sz="2400" dirty="0">
                        <a:effectLst/>
                        <a:latin typeface="Calibri"/>
                        <a:ea typeface="Times New Roman"/>
                        <a:cs typeface="Times New Roman"/>
                      </a:endParaRPr>
                    </a:p>
                  </a:txBody>
                  <a:tcPr marL="68575" marR="68575" marT="0" marB="0"/>
                </a:tc>
                <a:extLst>
                  <a:ext uri="{0D108BD9-81ED-4DB2-BD59-A6C34878D82A}">
                    <a16:rowId xmlns="" xmlns:a16="http://schemas.microsoft.com/office/drawing/2014/main" val="10006"/>
                  </a:ext>
                </a:extLst>
              </a:tr>
              <a:tr h="640115">
                <a:tc>
                  <a:txBody>
                    <a:bodyPr/>
                    <a:lstStyle/>
                    <a:p>
                      <a:pPr marL="0" marR="0" algn="l">
                        <a:lnSpc>
                          <a:spcPct val="150000"/>
                        </a:lnSpc>
                        <a:spcBef>
                          <a:spcPts val="0"/>
                        </a:spcBef>
                        <a:spcAft>
                          <a:spcPts val="0"/>
                        </a:spcAft>
                      </a:pPr>
                      <a:r>
                        <a:rPr lang="en-US" sz="2800">
                          <a:effectLst/>
                        </a:rPr>
                        <a:t>3 – 30 GHz</a:t>
                      </a:r>
                      <a:endParaRPr lang="en-US" sz="2400">
                        <a:effectLst/>
                        <a:latin typeface="Calibri"/>
                        <a:ea typeface="Times New Roman"/>
                        <a:cs typeface="Times New Roman"/>
                      </a:endParaRPr>
                    </a:p>
                  </a:txBody>
                  <a:tcPr marL="68575" marR="68575" marT="0" marB="0"/>
                </a:tc>
                <a:tc>
                  <a:txBody>
                    <a:bodyPr/>
                    <a:lstStyle/>
                    <a:p>
                      <a:pPr marL="0" marR="0" algn="l">
                        <a:lnSpc>
                          <a:spcPct val="150000"/>
                        </a:lnSpc>
                        <a:spcBef>
                          <a:spcPts val="0"/>
                        </a:spcBef>
                        <a:spcAft>
                          <a:spcPts val="0"/>
                        </a:spcAft>
                      </a:pPr>
                      <a:r>
                        <a:rPr lang="en-US" sz="2800">
                          <a:effectLst/>
                        </a:rPr>
                        <a:t>100 – 10 mm</a:t>
                      </a:r>
                      <a:endParaRPr lang="en-US" sz="2400">
                        <a:effectLst/>
                        <a:latin typeface="Calibri"/>
                        <a:ea typeface="Times New Roman"/>
                        <a:cs typeface="Times New Roman"/>
                      </a:endParaRPr>
                    </a:p>
                  </a:txBody>
                  <a:tcPr marL="68575" marR="68575" marT="0" marB="0"/>
                </a:tc>
                <a:tc>
                  <a:txBody>
                    <a:bodyPr/>
                    <a:lstStyle/>
                    <a:p>
                      <a:pPr marL="0" marR="0" algn="l">
                        <a:lnSpc>
                          <a:spcPct val="150000"/>
                        </a:lnSpc>
                        <a:spcBef>
                          <a:spcPts val="0"/>
                        </a:spcBef>
                        <a:spcAft>
                          <a:spcPts val="0"/>
                        </a:spcAft>
                      </a:pPr>
                      <a:r>
                        <a:rPr lang="en-US" sz="2800" dirty="0">
                          <a:effectLst/>
                        </a:rPr>
                        <a:t>SHF – Super High Frequency</a:t>
                      </a:r>
                      <a:endParaRPr lang="en-US" sz="2400" dirty="0">
                        <a:effectLst/>
                        <a:latin typeface="Calibri"/>
                        <a:ea typeface="Times New Roman"/>
                        <a:cs typeface="Times New Roman"/>
                      </a:endParaRPr>
                    </a:p>
                  </a:txBody>
                  <a:tcPr marL="68575" marR="68575" marT="0" marB="0"/>
                </a:tc>
                <a:extLst>
                  <a:ext uri="{0D108BD9-81ED-4DB2-BD59-A6C34878D82A}">
                    <a16:rowId xmlns="" xmlns:a16="http://schemas.microsoft.com/office/drawing/2014/main" val="10007"/>
                  </a:ext>
                </a:extLst>
              </a:tr>
              <a:tr h="640115">
                <a:tc>
                  <a:txBody>
                    <a:bodyPr/>
                    <a:lstStyle/>
                    <a:p>
                      <a:pPr marL="0" marR="0" algn="l">
                        <a:lnSpc>
                          <a:spcPct val="150000"/>
                        </a:lnSpc>
                        <a:spcBef>
                          <a:spcPts val="0"/>
                        </a:spcBef>
                        <a:spcAft>
                          <a:spcPts val="0"/>
                        </a:spcAft>
                      </a:pPr>
                      <a:r>
                        <a:rPr lang="en-US" sz="2800">
                          <a:effectLst/>
                        </a:rPr>
                        <a:t>30 – 300 GHz</a:t>
                      </a:r>
                      <a:endParaRPr lang="en-US" sz="2400">
                        <a:effectLst/>
                        <a:latin typeface="Calibri"/>
                        <a:ea typeface="Times New Roman"/>
                        <a:cs typeface="Times New Roman"/>
                      </a:endParaRPr>
                    </a:p>
                  </a:txBody>
                  <a:tcPr marL="68575" marR="68575" marT="0" marB="0"/>
                </a:tc>
                <a:tc>
                  <a:txBody>
                    <a:bodyPr/>
                    <a:lstStyle/>
                    <a:p>
                      <a:pPr marL="0" marR="0" algn="l">
                        <a:lnSpc>
                          <a:spcPct val="150000"/>
                        </a:lnSpc>
                        <a:spcBef>
                          <a:spcPts val="0"/>
                        </a:spcBef>
                        <a:spcAft>
                          <a:spcPts val="0"/>
                        </a:spcAft>
                      </a:pPr>
                      <a:r>
                        <a:rPr lang="en-US" sz="2800">
                          <a:effectLst/>
                        </a:rPr>
                        <a:t>10 – 1 mm</a:t>
                      </a:r>
                      <a:endParaRPr lang="en-US" sz="2400">
                        <a:effectLst/>
                        <a:latin typeface="Calibri"/>
                        <a:ea typeface="Times New Roman"/>
                        <a:cs typeface="Times New Roman"/>
                      </a:endParaRPr>
                    </a:p>
                  </a:txBody>
                  <a:tcPr marL="68575" marR="68575" marT="0" marB="0"/>
                </a:tc>
                <a:tc>
                  <a:txBody>
                    <a:bodyPr/>
                    <a:lstStyle/>
                    <a:p>
                      <a:pPr marL="0" marR="0" algn="l">
                        <a:lnSpc>
                          <a:spcPct val="150000"/>
                        </a:lnSpc>
                        <a:spcBef>
                          <a:spcPts val="0"/>
                        </a:spcBef>
                        <a:spcAft>
                          <a:spcPts val="0"/>
                        </a:spcAft>
                      </a:pPr>
                      <a:r>
                        <a:rPr lang="en-US" sz="2800" dirty="0">
                          <a:effectLst/>
                        </a:rPr>
                        <a:t>EHF – Extremely High Frequency</a:t>
                      </a:r>
                      <a:endParaRPr lang="en-US" sz="2400" dirty="0">
                        <a:effectLst/>
                        <a:latin typeface="Calibri"/>
                        <a:ea typeface="Times New Roman"/>
                        <a:cs typeface="Times New Roman"/>
                      </a:endParaRPr>
                    </a:p>
                  </a:txBody>
                  <a:tcPr marL="68575" marR="68575" marT="0" marB="0"/>
                </a:tc>
                <a:extLst>
                  <a:ext uri="{0D108BD9-81ED-4DB2-BD59-A6C34878D82A}">
                    <a16:rowId xmlns="" xmlns:a16="http://schemas.microsoft.com/office/drawing/2014/main" val="10008"/>
                  </a:ext>
                </a:extLst>
              </a:tr>
            </a:tbl>
          </a:graphicData>
        </a:graphic>
      </p:graphicFrame>
      <p:sp>
        <p:nvSpPr>
          <p:cNvPr id="2" name="Slide Number Placeholder 1"/>
          <p:cNvSpPr>
            <a:spLocks noGrp="1"/>
          </p:cNvSpPr>
          <p:nvPr>
            <p:ph type="sldNum" sz="quarter" idx="12"/>
          </p:nvPr>
        </p:nvSpPr>
        <p:spPr/>
        <p:txBody>
          <a:bodyPr/>
          <a:lstStyle/>
          <a:p>
            <a:pPr>
              <a:defRPr/>
            </a:pPr>
            <a:fld id="{9C02C9E0-08CD-4733-BA15-E5A0A404A85B}" type="slidenum">
              <a:rPr lang="en-US" altLang="en-US" smtClean="0"/>
              <a:pPr>
                <a:defRPr/>
              </a:pPr>
              <a:t>13</a:t>
            </a:fld>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755650" y="160338"/>
            <a:ext cx="10515600" cy="685800"/>
          </a:xfrm>
        </p:spPr>
        <p:txBody>
          <a:bodyPr/>
          <a:lstStyle/>
          <a:p>
            <a:pPr marL="571500" indent="-571500">
              <a:lnSpc>
                <a:spcPct val="100000"/>
              </a:lnSpc>
              <a:buFontTx/>
              <a:buBlip>
                <a:blip r:embed="rId2"/>
              </a:buBlip>
              <a:defRPr/>
            </a:pPr>
            <a:r>
              <a:rPr lang="en-US" sz="4000" b="1" dirty="0">
                <a:solidFill>
                  <a:srgbClr val="C00000"/>
                </a:solidFill>
                <a:latin typeface="+mn-lt"/>
              </a:rPr>
              <a:t>Terminologies in Communication Systems:</a:t>
            </a:r>
          </a:p>
        </p:txBody>
      </p:sp>
      <p:sp>
        <p:nvSpPr>
          <p:cNvPr id="20483" name="Content Placeholder 2"/>
          <p:cNvSpPr>
            <a:spLocks noGrp="1"/>
          </p:cNvSpPr>
          <p:nvPr>
            <p:ph idx="1"/>
          </p:nvPr>
        </p:nvSpPr>
        <p:spPr>
          <a:xfrm>
            <a:off x="136525" y="1020763"/>
            <a:ext cx="11872913" cy="5626100"/>
          </a:xfrm>
        </p:spPr>
        <p:txBody>
          <a:bodyPr/>
          <a:lstStyle/>
          <a:p>
            <a:pPr algn="just">
              <a:lnSpc>
                <a:spcPct val="100000"/>
              </a:lnSpc>
            </a:pPr>
            <a:r>
              <a:rPr lang="en-US" sz="2000" b="1">
                <a:solidFill>
                  <a:srgbClr val="7030A0"/>
                </a:solidFill>
                <a:latin typeface="Times New Roman" pitchFamily="18" charset="0"/>
                <a:cs typeface="Times New Roman" pitchFamily="18" charset="0"/>
              </a:rPr>
              <a:t>Time ( </a:t>
            </a:r>
            <a:r>
              <a:rPr lang="en-US" sz="2000" b="1" i="1">
                <a:solidFill>
                  <a:srgbClr val="7030A0"/>
                </a:solidFill>
                <a:latin typeface="Times New Roman" pitchFamily="18" charset="0"/>
                <a:cs typeface="Times New Roman" pitchFamily="18" charset="0"/>
              </a:rPr>
              <a:t>t </a:t>
            </a:r>
            <a:r>
              <a:rPr lang="en-US" sz="2000" b="1">
                <a:solidFill>
                  <a:srgbClr val="7030A0"/>
                </a:solidFill>
                <a:latin typeface="Times New Roman" pitchFamily="18" charset="0"/>
                <a:cs typeface="Times New Roman" pitchFamily="18" charset="0"/>
              </a:rPr>
              <a:t>): </a:t>
            </a:r>
            <a:r>
              <a:rPr lang="en-US" sz="2000">
                <a:latin typeface="Times New Roman" pitchFamily="18" charset="0"/>
                <a:cs typeface="Times New Roman" pitchFamily="18" charset="0"/>
              </a:rPr>
              <a:t>Time is a fundamental quantity with reference to which all communications happen. It is measured in seconds (sec).</a:t>
            </a:r>
          </a:p>
          <a:p>
            <a:pPr algn="just">
              <a:lnSpc>
                <a:spcPct val="100000"/>
              </a:lnSpc>
            </a:pPr>
            <a:r>
              <a:rPr lang="en-US" sz="2000" b="1">
                <a:solidFill>
                  <a:srgbClr val="7030A0"/>
                </a:solidFill>
                <a:latin typeface="Times New Roman" pitchFamily="18" charset="0"/>
                <a:cs typeface="Times New Roman" pitchFamily="18" charset="0"/>
              </a:rPr>
              <a:t>Frequency ( </a:t>
            </a:r>
            <a:r>
              <a:rPr lang="en-US" sz="2000" b="1" i="1">
                <a:solidFill>
                  <a:srgbClr val="7030A0"/>
                </a:solidFill>
                <a:latin typeface="Times New Roman" pitchFamily="18" charset="0"/>
                <a:cs typeface="Times New Roman" pitchFamily="18" charset="0"/>
              </a:rPr>
              <a:t>f </a:t>
            </a:r>
            <a:r>
              <a:rPr lang="en-US" sz="2000" b="1">
                <a:solidFill>
                  <a:srgbClr val="7030A0"/>
                </a:solidFill>
                <a:latin typeface="Times New Roman" pitchFamily="18" charset="0"/>
                <a:cs typeface="Times New Roman" pitchFamily="18" charset="0"/>
              </a:rPr>
              <a:t>):  </a:t>
            </a:r>
            <a:r>
              <a:rPr lang="en-US" sz="2000">
                <a:latin typeface="Times New Roman" pitchFamily="18" charset="0"/>
                <a:cs typeface="Times New Roman" pitchFamily="18" charset="0"/>
              </a:rPr>
              <a:t>Frequency is fundamental quantity with reference to which all signals in a communication system are more commonly distinguished. Frequency is defined as the number of oscillations per second and is measured in hertz (Hz).</a:t>
            </a:r>
          </a:p>
          <a:p>
            <a:pPr algn="just">
              <a:lnSpc>
                <a:spcPct val="100000"/>
              </a:lnSpc>
            </a:pPr>
            <a:r>
              <a:rPr lang="en-US" sz="2000" b="1">
                <a:solidFill>
                  <a:srgbClr val="7030A0"/>
                </a:solidFill>
                <a:latin typeface="Times New Roman" pitchFamily="18" charset="0"/>
                <a:cs typeface="Times New Roman" pitchFamily="18" charset="0"/>
              </a:rPr>
              <a:t>Wavelength (λ) : </a:t>
            </a:r>
            <a:r>
              <a:rPr lang="en-US" sz="2000">
                <a:latin typeface="Times New Roman" pitchFamily="18" charset="0"/>
                <a:cs typeface="Times New Roman" pitchFamily="18" charset="0"/>
              </a:rPr>
              <a:t>Wavelength is defined as the distance travelled by an EM wave during the time of one cycle.</a:t>
            </a:r>
          </a:p>
          <a:p>
            <a:pPr algn="just">
              <a:lnSpc>
                <a:spcPct val="100000"/>
              </a:lnSpc>
            </a:pPr>
            <a:r>
              <a:rPr lang="en-US" sz="2000" b="1">
                <a:solidFill>
                  <a:srgbClr val="7030A0"/>
                </a:solidFill>
                <a:latin typeface="Times New Roman" pitchFamily="18" charset="0"/>
                <a:cs typeface="Times New Roman" pitchFamily="18" charset="0"/>
              </a:rPr>
              <a:t>Spectrum:</a:t>
            </a:r>
            <a:r>
              <a:rPr lang="en-US" sz="2000">
                <a:solidFill>
                  <a:srgbClr val="7030A0"/>
                </a:solidFill>
                <a:latin typeface="Times New Roman" pitchFamily="18" charset="0"/>
                <a:cs typeface="Times New Roman" pitchFamily="18" charset="0"/>
              </a:rPr>
              <a:t> </a:t>
            </a:r>
            <a:r>
              <a:rPr lang="en-US" sz="2000">
                <a:latin typeface="Times New Roman" pitchFamily="18" charset="0"/>
                <a:cs typeface="Times New Roman" pitchFamily="18" charset="0"/>
              </a:rPr>
              <a:t>The frequency domain representation of the given signal.</a:t>
            </a:r>
          </a:p>
          <a:p>
            <a:pPr algn="just">
              <a:lnSpc>
                <a:spcPct val="100000"/>
              </a:lnSpc>
            </a:pPr>
            <a:r>
              <a:rPr lang="en-US" sz="2000" b="1">
                <a:solidFill>
                  <a:srgbClr val="7030A0"/>
                </a:solidFill>
                <a:latin typeface="Times New Roman" pitchFamily="18" charset="0"/>
                <a:cs typeface="Times New Roman" pitchFamily="18" charset="0"/>
              </a:rPr>
              <a:t>Bandwidth (B.W.) :</a:t>
            </a:r>
            <a:r>
              <a:rPr lang="en-US" sz="2000">
                <a:solidFill>
                  <a:srgbClr val="7030A0"/>
                </a:solidFill>
                <a:latin typeface="Times New Roman" pitchFamily="18" charset="0"/>
                <a:cs typeface="Times New Roman" pitchFamily="18" charset="0"/>
              </a:rPr>
              <a:t> </a:t>
            </a:r>
            <a:r>
              <a:rPr lang="en-US" sz="2000">
                <a:latin typeface="Times New Roman" pitchFamily="18" charset="0"/>
                <a:cs typeface="Times New Roman" pitchFamily="18" charset="0"/>
              </a:rPr>
              <a:t>It is that portion of the EM spectrum occupied by a signal. More specifically it     is the range of frequencies over which the information is present in the original signal and hence it may also be termed as signal bandwidth.</a:t>
            </a:r>
          </a:p>
          <a:p>
            <a:pPr algn="just">
              <a:lnSpc>
                <a:spcPct val="100000"/>
              </a:lnSpc>
            </a:pPr>
            <a:r>
              <a:rPr lang="en-US" sz="2000" b="1">
                <a:solidFill>
                  <a:srgbClr val="7030A0"/>
                </a:solidFill>
                <a:latin typeface="Times New Roman" pitchFamily="18" charset="0"/>
                <a:cs typeface="Times New Roman" pitchFamily="18" charset="0"/>
              </a:rPr>
              <a:t>Channel Bandwidth: </a:t>
            </a:r>
            <a:r>
              <a:rPr lang="en-US" sz="2000">
                <a:latin typeface="Times New Roman" pitchFamily="18" charset="0"/>
                <a:cs typeface="Times New Roman" pitchFamily="18" charset="0"/>
              </a:rPr>
              <a:t>The range of frequencies required for the transmission of modulated signal.</a:t>
            </a:r>
          </a:p>
          <a:p>
            <a:pPr algn="just">
              <a:lnSpc>
                <a:spcPct val="100000"/>
              </a:lnSpc>
            </a:pPr>
            <a:r>
              <a:rPr lang="en-US" sz="2000" b="1">
                <a:solidFill>
                  <a:srgbClr val="7030A0"/>
                </a:solidFill>
                <a:latin typeface="Times New Roman" pitchFamily="18" charset="0"/>
                <a:cs typeface="Times New Roman" pitchFamily="18" charset="0"/>
              </a:rPr>
              <a:t>Modulation: </a:t>
            </a:r>
            <a:r>
              <a:rPr lang="en-US" sz="2000">
                <a:latin typeface="Times New Roman" pitchFamily="18" charset="0"/>
                <a:cs typeface="Times New Roman" pitchFamily="18" charset="0"/>
              </a:rPr>
              <a:t>Modulation is a process in which any of the characteristics of carrier signal such as amplitude, frequency or phase is varied according to the instantaneous value of modulating signal.</a:t>
            </a:r>
          </a:p>
          <a:p>
            <a:pPr algn="just">
              <a:lnSpc>
                <a:spcPct val="100000"/>
              </a:lnSpc>
            </a:pPr>
            <a:r>
              <a:rPr lang="en-US" sz="2000" b="1">
                <a:solidFill>
                  <a:srgbClr val="7030A0"/>
                </a:solidFill>
                <a:latin typeface="Times New Roman" pitchFamily="18" charset="0"/>
                <a:cs typeface="Times New Roman" pitchFamily="18" charset="0"/>
              </a:rPr>
              <a:t>Baseband Signal: </a:t>
            </a:r>
            <a:r>
              <a:rPr lang="en-US" sz="2000">
                <a:latin typeface="Times New Roman" pitchFamily="18" charset="0"/>
                <a:cs typeface="Times New Roman" pitchFamily="18" charset="0"/>
              </a:rPr>
              <a:t>Message signal in its original frequency range.</a:t>
            </a:r>
          </a:p>
        </p:txBody>
      </p:sp>
      <p:sp>
        <p:nvSpPr>
          <p:cNvPr id="2" name="Slide Number Placeholder 1"/>
          <p:cNvSpPr>
            <a:spLocks noGrp="1"/>
          </p:cNvSpPr>
          <p:nvPr>
            <p:ph type="sldNum" sz="quarter" idx="12"/>
          </p:nvPr>
        </p:nvSpPr>
        <p:spPr/>
        <p:txBody>
          <a:bodyPr/>
          <a:lstStyle/>
          <a:p>
            <a:pPr>
              <a:defRPr/>
            </a:pPr>
            <a:fld id="{9C02C9E0-08CD-4733-BA15-E5A0A404A85B}" type="slidenum">
              <a:rPr lang="en-US" altLang="en-US" smtClean="0"/>
              <a:pPr>
                <a:defRPr/>
              </a:pPr>
              <a:t>14</a:t>
            </a:fld>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itle 1"/>
          <p:cNvSpPr>
            <a:spLocks noGrp="1"/>
          </p:cNvSpPr>
          <p:nvPr>
            <p:ph type="title"/>
          </p:nvPr>
        </p:nvSpPr>
        <p:spPr>
          <a:xfrm>
            <a:off x="232012" y="163513"/>
            <a:ext cx="11668837" cy="709944"/>
          </a:xfrm>
        </p:spPr>
        <p:txBody>
          <a:bodyPr/>
          <a:lstStyle/>
          <a:p>
            <a:pPr marL="571500" indent="-571500">
              <a:buFontTx/>
              <a:buBlip>
                <a:blip r:embed="rId2"/>
              </a:buBlip>
            </a:pPr>
            <a:r>
              <a:rPr lang="en-US" altLang="en-US" sz="3200" b="1" dirty="0">
                <a:solidFill>
                  <a:srgbClr val="C00000"/>
                </a:solidFill>
                <a:latin typeface="Times New Roman" pitchFamily="18" charset="0"/>
                <a:cs typeface="Times New Roman" pitchFamily="18" charset="0"/>
              </a:rPr>
              <a:t>Mobile communication system: </a:t>
            </a:r>
            <a:r>
              <a:rPr lang="en-US" altLang="en-US" sz="3200" b="1" dirty="0">
                <a:solidFill>
                  <a:srgbClr val="7030A0"/>
                </a:solidFill>
                <a:latin typeface="Times New Roman" pitchFamily="18" charset="0"/>
                <a:cs typeface="Times New Roman" pitchFamily="18" charset="0"/>
              </a:rPr>
              <a:t>Cellular concept</a:t>
            </a:r>
            <a:endParaRPr lang="en-US" sz="3200" dirty="0">
              <a:solidFill>
                <a:srgbClr val="7030A0"/>
              </a:solidFill>
            </a:endParaRPr>
          </a:p>
        </p:txBody>
      </p:sp>
      <p:sp>
        <p:nvSpPr>
          <p:cNvPr id="21507" name="Content Placeholder 2"/>
          <p:cNvSpPr>
            <a:spLocks noGrp="1"/>
          </p:cNvSpPr>
          <p:nvPr>
            <p:ph idx="1"/>
          </p:nvPr>
        </p:nvSpPr>
        <p:spPr>
          <a:xfrm>
            <a:off x="387350" y="1006475"/>
            <a:ext cx="11309350" cy="5435600"/>
          </a:xfrm>
        </p:spPr>
        <p:txBody>
          <a:bodyPr>
            <a:normAutofit fontScale="92500" lnSpcReduction="10000"/>
          </a:bodyPr>
          <a:lstStyle/>
          <a:p>
            <a:pPr marL="0" indent="0">
              <a:buNone/>
            </a:pPr>
            <a:r>
              <a:rPr lang="en-US" sz="2600" b="1" dirty="0">
                <a:solidFill>
                  <a:srgbClr val="7030A0"/>
                </a:solidFill>
                <a:latin typeface="Times New Roman" panose="02020603050405020304" pitchFamily="18" charset="0"/>
                <a:cs typeface="Times New Roman" panose="02020603050405020304" pitchFamily="18" charset="0"/>
              </a:rPr>
              <a:t>Why use of cellular network?</a:t>
            </a:r>
          </a:p>
          <a:p>
            <a:pPr lvl="0" algn="just"/>
            <a:r>
              <a:rPr lang="en-US" sz="2400" dirty="0">
                <a:latin typeface="Times New Roman" pitchFamily="18" charset="0"/>
                <a:cs typeface="Times New Roman" pitchFamily="18" charset="0"/>
              </a:rPr>
              <a:t>The immense potential of conventional telephone cannot be exploited to its maximum due to the limitation imposed by the connecting wires. But this restriction has been removed with the advent of the cellular radio.</a:t>
            </a:r>
          </a:p>
          <a:p>
            <a:pPr lvl="0" algn="just"/>
            <a:r>
              <a:rPr lang="en-US" sz="2400" dirty="0">
                <a:latin typeface="Times New Roman" pitchFamily="18" charset="0"/>
                <a:cs typeface="Times New Roman" pitchFamily="18" charset="0"/>
              </a:rPr>
              <a:t>If we use dedicated RF loop for every subscriber, we need larger bandwidth to serve even a limited number of subscriber in a single city.</a:t>
            </a:r>
          </a:p>
          <a:p>
            <a:pPr lvl="0" algn="just"/>
            <a:r>
              <a:rPr lang="en-US" sz="2400" dirty="0">
                <a:latin typeface="Times New Roman" pitchFamily="18" charset="0"/>
                <a:cs typeface="Times New Roman" pitchFamily="18" charset="0"/>
              </a:rPr>
              <a:t>To overcome this B.W. problem, subscribers have to share the RF channels on need basis, instead of dedicated RF loops. This can be achieved by using multiple access methods FDMA, TDMA, or CDMA. Even then the number of RF channels required to serve the subscribers, works out to be impracticable.</a:t>
            </a:r>
          </a:p>
          <a:p>
            <a:pPr lvl="0" algn="just"/>
            <a:r>
              <a:rPr lang="en-US" sz="2400" dirty="0">
                <a:latin typeface="Times New Roman" pitchFamily="18" charset="0"/>
                <a:cs typeface="Times New Roman" pitchFamily="18" charset="0"/>
              </a:rPr>
              <a:t>With limited frequency resource, cellular principle can serve thousands of subscribers at an affordable cost. In a cellular network, total area is subdivided into smaller areas called “cells”. Each cell can cover a limited number of mobile subscribers within its boundaries. Each cell can have a base station with a number of RF channels.</a:t>
            </a:r>
          </a:p>
          <a:p>
            <a:pPr algn="just"/>
            <a:r>
              <a:rPr lang="en-US" sz="2400" dirty="0">
                <a:latin typeface="Times New Roman" pitchFamily="18" charset="0"/>
                <a:cs typeface="Times New Roman" pitchFamily="18" charset="0"/>
              </a:rPr>
              <a:t>Frequencies used in a given cell area will be simultaneously reused at a different cell which is geographically separated.</a:t>
            </a:r>
            <a:endParaRPr lang="en-US" altLang="en-US" sz="2400" dirty="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pPr>
              <a:defRPr/>
            </a:pPr>
            <a:fld id="{9C02C9E0-08CD-4733-BA15-E5A0A404A85B}" type="slidenum">
              <a:rPr lang="en-US" altLang="en-US" smtClean="0"/>
              <a:pPr>
                <a:defRPr/>
              </a:pPr>
              <a:t>15</a:t>
            </a:fld>
            <a:endParaRPr lang="en-US" altLang="en-US"/>
          </a:p>
        </p:txBody>
      </p:sp>
    </p:spTree>
    <p:extLst>
      <p:ext uri="{BB962C8B-B14F-4D97-AF65-F5344CB8AC3E}">
        <p14:creationId xmlns="" xmlns:p14="http://schemas.microsoft.com/office/powerpoint/2010/main" val="36445208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ctrTitle"/>
          </p:nvPr>
        </p:nvSpPr>
        <p:spPr>
          <a:xfrm>
            <a:off x="196850" y="249238"/>
            <a:ext cx="9144000" cy="426623"/>
          </a:xfrm>
        </p:spPr>
        <p:txBody>
          <a:bodyPr/>
          <a:lstStyle/>
          <a:p>
            <a:pPr algn="l"/>
            <a:r>
              <a:rPr lang="en-US" altLang="en-US" sz="2800" b="1" dirty="0" err="1">
                <a:solidFill>
                  <a:srgbClr val="C00000"/>
                </a:solidFill>
                <a:latin typeface="Times New Roman" pitchFamily="18" charset="0"/>
                <a:cs typeface="Times New Roman" pitchFamily="18" charset="0"/>
              </a:rPr>
              <a:t>Contd</a:t>
            </a:r>
            <a:r>
              <a:rPr lang="en-US" altLang="en-US" sz="2800" b="1" dirty="0">
                <a:solidFill>
                  <a:srgbClr val="C00000"/>
                </a:solidFill>
                <a:latin typeface="Times New Roman" pitchFamily="18" charset="0"/>
                <a:cs typeface="Times New Roman" pitchFamily="18" charset="0"/>
              </a:rPr>
              <a:t>…</a:t>
            </a:r>
            <a:endParaRPr lang="en-US" altLang="en-US" sz="2800" dirty="0">
              <a:solidFill>
                <a:srgbClr val="C00000"/>
              </a:solidFill>
              <a:latin typeface="Times New Roman" pitchFamily="18" charset="0"/>
              <a:cs typeface="Times New Roman" pitchFamily="18" charset="0"/>
            </a:endParaRPr>
          </a:p>
        </p:txBody>
      </p:sp>
      <p:sp>
        <p:nvSpPr>
          <p:cNvPr id="3" name="Subtitle 2"/>
          <p:cNvSpPr>
            <a:spLocks noGrp="1"/>
          </p:cNvSpPr>
          <p:nvPr>
            <p:ph type="subTitle" idx="1"/>
          </p:nvPr>
        </p:nvSpPr>
        <p:spPr>
          <a:xfrm>
            <a:off x="349250" y="788988"/>
            <a:ext cx="6737350" cy="2933700"/>
          </a:xfrm>
        </p:spPr>
        <p:txBody>
          <a:bodyPr rtlCol="0">
            <a:normAutofit/>
          </a:bodyPr>
          <a:lstStyle/>
          <a:p>
            <a:pPr algn="l" fontAlgn="auto">
              <a:spcAft>
                <a:spcPts val="0"/>
              </a:spcAft>
              <a:buFont typeface="Arial" panose="020B0604020202020204" pitchFamily="34" charset="0"/>
              <a:buNone/>
              <a:defRPr/>
            </a:pPr>
            <a:r>
              <a:rPr lang="en-US" sz="2000" dirty="0">
                <a:latin typeface="Times New Roman" panose="02020603050405020304" pitchFamily="18" charset="0"/>
                <a:cs typeface="Times New Roman" panose="02020603050405020304" pitchFamily="18" charset="0"/>
              </a:rPr>
              <a:t>Frequencies used in a given cell area will be  </a:t>
            </a:r>
          </a:p>
          <a:p>
            <a:pPr algn="l" fontAlgn="auto">
              <a:spcAft>
                <a:spcPts val="0"/>
              </a:spcAft>
              <a:buFont typeface="Arial" panose="020B0604020202020204" pitchFamily="34" charset="0"/>
              <a:buNone/>
              <a:defRPr/>
            </a:pPr>
            <a:r>
              <a:rPr lang="en-US" sz="2000" dirty="0">
                <a:latin typeface="Times New Roman" panose="02020603050405020304" pitchFamily="18" charset="0"/>
                <a:cs typeface="Times New Roman" panose="02020603050405020304" pitchFamily="18" charset="0"/>
              </a:rPr>
              <a:t>simultaneously reused at a different cell which is geographically separated.</a:t>
            </a:r>
          </a:p>
          <a:p>
            <a:pPr algn="l" fontAlgn="auto">
              <a:spcAft>
                <a:spcPts val="0"/>
              </a:spcAft>
              <a:buFont typeface="Arial" panose="020B0604020202020204" pitchFamily="34" charset="0"/>
              <a:buNone/>
              <a:defRPr/>
            </a:pPr>
            <a:r>
              <a:rPr lang="en-US" sz="2000" b="1" dirty="0">
                <a:solidFill>
                  <a:srgbClr val="7030A0"/>
                </a:solidFill>
                <a:latin typeface="Times New Roman" panose="02020603050405020304" pitchFamily="18" charset="0"/>
                <a:cs typeface="Times New Roman" panose="02020603050405020304" pitchFamily="18" charset="0"/>
              </a:rPr>
              <a:t> For example,</a:t>
            </a:r>
          </a:p>
          <a:p>
            <a:pPr algn="l" fontAlgn="auto">
              <a:spcAft>
                <a:spcPts val="0"/>
              </a:spcAft>
              <a:buFont typeface="Arial" panose="020B0604020202020204" pitchFamily="34" charset="0"/>
              <a:buNone/>
              <a:defRPr/>
            </a:pPr>
            <a:r>
              <a:rPr lang="en-US" sz="2000" dirty="0">
                <a:latin typeface="Times New Roman" panose="02020603050405020304" pitchFamily="18" charset="0"/>
                <a:cs typeface="Times New Roman" panose="02020603050405020304" pitchFamily="18" charset="0"/>
              </a:rPr>
              <a:t> a typical seven-cell pattern can be considered.</a:t>
            </a:r>
          </a:p>
          <a:p>
            <a:pPr marL="342900" indent="-342900" algn="l" fontAlgn="auto">
              <a:spcAft>
                <a:spcPts val="0"/>
              </a:spcAft>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Total available frequency resources are divided </a:t>
            </a:r>
          </a:p>
          <a:p>
            <a:pPr marL="342900" indent="-342900" algn="l" fontAlgn="auto">
              <a:spcAft>
                <a:spcPts val="0"/>
              </a:spcAft>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into seven parts, each part consisting of a number of radio channels and allocated to a cell site</a:t>
            </a:r>
          </a:p>
          <a:p>
            <a:pPr algn="l" fontAlgn="auto">
              <a:spcAft>
                <a:spcPts val="0"/>
              </a:spcAft>
              <a:buFont typeface="Arial" panose="020B0604020202020204" pitchFamily="34" charset="0"/>
              <a:buNone/>
              <a:defRPr/>
            </a:pPr>
            <a:endParaRPr lang="en-US" sz="2000" dirty="0">
              <a:latin typeface="Times New Roman" panose="02020603050405020304" pitchFamily="18" charset="0"/>
              <a:cs typeface="Times New Roman" panose="02020603050405020304" pitchFamily="18" charset="0"/>
            </a:endParaRPr>
          </a:p>
        </p:txBody>
      </p:sp>
      <p:sp>
        <p:nvSpPr>
          <p:cNvPr id="40966" name="Slide Number Placeholder 8"/>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D68434C3-BB81-4976-B4FC-D148B8E391BE}" type="slidenum">
              <a:rPr lang="en-US" altLang="en-US" smtClean="0">
                <a:solidFill>
                  <a:srgbClr val="898989"/>
                </a:solidFill>
                <a:latin typeface="Calibri" pitchFamily="34" charset="0"/>
              </a:rPr>
              <a:pPr/>
              <a:t>16</a:t>
            </a:fld>
            <a:endParaRPr lang="en-US" altLang="en-US" dirty="0">
              <a:solidFill>
                <a:srgbClr val="898989"/>
              </a:solidFill>
              <a:latin typeface="Calibri" pitchFamily="34" charset="0"/>
            </a:endParaRPr>
          </a:p>
        </p:txBody>
      </p:sp>
      <p:pic>
        <p:nvPicPr>
          <p:cNvPr id="40964" name="Picture 6"/>
          <p:cNvPicPr>
            <a:picLocks noChangeAspect="1"/>
          </p:cNvPicPr>
          <p:nvPr/>
        </p:nvPicPr>
        <p:blipFill>
          <a:blip r:embed="rId2">
            <a:extLst>
              <a:ext uri="{28A0092B-C50C-407E-A947-70E740481C1C}">
                <a14:useLocalDpi xmlns="" xmlns:a14="http://schemas.microsoft.com/office/drawing/2010/main" val="0"/>
              </a:ext>
            </a:extLst>
          </a:blip>
          <a:srcRect/>
          <a:stretch>
            <a:fillRect/>
          </a:stretch>
        </p:blipFill>
        <p:spPr bwMode="auto">
          <a:xfrm>
            <a:off x="7327900" y="788988"/>
            <a:ext cx="4597400" cy="28336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0965" name="Rectangle 7"/>
          <p:cNvSpPr>
            <a:spLocks noChangeArrowheads="1"/>
          </p:cNvSpPr>
          <p:nvPr/>
        </p:nvSpPr>
        <p:spPr bwMode="auto">
          <a:xfrm>
            <a:off x="349250" y="3722688"/>
            <a:ext cx="11409363" cy="2692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marL="342900" indent="-342900" eaLnBrk="1" hangingPunct="1">
              <a:lnSpc>
                <a:spcPct val="90000"/>
              </a:lnSpc>
              <a:spcBef>
                <a:spcPts val="1000"/>
              </a:spcBef>
              <a:buFont typeface="Arial" charset="0"/>
              <a:buChar char="•"/>
            </a:pPr>
            <a:r>
              <a:rPr lang="en-US" altLang="en-US" sz="2000" dirty="0">
                <a:latin typeface="Times New Roman" pitchFamily="18" charset="0"/>
                <a:cs typeface="Times New Roman" pitchFamily="18" charset="0"/>
              </a:rPr>
              <a:t>In a group of 7 cells, available frequency spectrum is consumed totally. The same seven sets of frequency can be used after certain distance.</a:t>
            </a:r>
          </a:p>
          <a:p>
            <a:pPr marL="342900" indent="-342900" eaLnBrk="1" hangingPunct="1">
              <a:lnSpc>
                <a:spcPct val="90000"/>
              </a:lnSpc>
              <a:spcBef>
                <a:spcPts val="1000"/>
              </a:spcBef>
              <a:buFont typeface="Arial" charset="0"/>
              <a:buChar char="•"/>
            </a:pPr>
            <a:r>
              <a:rPr lang="en-US" altLang="en-US" sz="2000" dirty="0">
                <a:latin typeface="Times New Roman" pitchFamily="18" charset="0"/>
                <a:cs typeface="Times New Roman" pitchFamily="18" charset="0"/>
              </a:rPr>
              <a:t>The group of cells where the available frequency spectrum is totally consumed is called a cluster of cells.</a:t>
            </a:r>
          </a:p>
          <a:p>
            <a:pPr marL="342900" indent="-342900" eaLnBrk="1" hangingPunct="1">
              <a:lnSpc>
                <a:spcPct val="90000"/>
              </a:lnSpc>
              <a:spcBef>
                <a:spcPts val="1000"/>
              </a:spcBef>
              <a:buFont typeface="Arial" charset="0"/>
              <a:buChar char="•"/>
            </a:pPr>
            <a:r>
              <a:rPr lang="en-US" altLang="en-US" sz="2000" dirty="0">
                <a:latin typeface="Times New Roman" pitchFamily="18" charset="0"/>
                <a:cs typeface="Times New Roman" pitchFamily="18" charset="0"/>
              </a:rPr>
              <a:t>Two cells having the same number in the adjacent cluster, use the same set of RF channels and hence are termed as “Co-channel cells”. The distance between the cells using the same frequency should be sufficient to keep the co-channel (co-</a:t>
            </a:r>
            <a:r>
              <a:rPr lang="en-US" altLang="en-US" sz="2000" dirty="0" err="1">
                <a:latin typeface="Times New Roman" pitchFamily="18" charset="0"/>
                <a:cs typeface="Times New Roman" pitchFamily="18" charset="0"/>
              </a:rPr>
              <a:t>ch</a:t>
            </a:r>
            <a:r>
              <a:rPr lang="en-US" altLang="en-US" sz="2000" dirty="0">
                <a:latin typeface="Times New Roman" pitchFamily="18" charset="0"/>
                <a:cs typeface="Times New Roman" pitchFamily="18" charset="0"/>
              </a:rPr>
              <a:t>) interference to an acceptable level. Hence, the cellular systems are limited by Co-channel interference.</a:t>
            </a:r>
          </a:p>
          <a:p>
            <a:pPr marL="342900" indent="-342900" eaLnBrk="1" hangingPunct="1">
              <a:lnSpc>
                <a:spcPct val="90000"/>
              </a:lnSpc>
              <a:spcBef>
                <a:spcPts val="1000"/>
              </a:spcBef>
              <a:buFont typeface="Arial" charset="0"/>
              <a:buChar char="•"/>
            </a:pPr>
            <a:endParaRPr lang="en-US" altLang="en-US" sz="2000" dirty="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ctrTitle"/>
          </p:nvPr>
        </p:nvSpPr>
        <p:spPr>
          <a:xfrm>
            <a:off x="312738" y="134454"/>
            <a:ext cx="9144000" cy="542593"/>
          </a:xfrm>
        </p:spPr>
        <p:txBody>
          <a:bodyPr/>
          <a:lstStyle/>
          <a:p>
            <a:pPr algn="l"/>
            <a:r>
              <a:rPr lang="en-US" altLang="en-US" sz="2800" b="1" dirty="0" err="1">
                <a:solidFill>
                  <a:srgbClr val="C00000"/>
                </a:solidFill>
                <a:latin typeface="Times New Roman" pitchFamily="18" charset="0"/>
                <a:cs typeface="Times New Roman" pitchFamily="18" charset="0"/>
              </a:rPr>
              <a:t>Contd</a:t>
            </a:r>
            <a:r>
              <a:rPr lang="en-US" altLang="en-US" sz="2800" dirty="0">
                <a:solidFill>
                  <a:srgbClr val="C00000"/>
                </a:solidFill>
                <a:latin typeface="Times New Roman" pitchFamily="18" charset="0"/>
                <a:cs typeface="Times New Roman" pitchFamily="18" charset="0"/>
              </a:rPr>
              <a:t>…</a:t>
            </a:r>
          </a:p>
        </p:txBody>
      </p:sp>
      <p:sp>
        <p:nvSpPr>
          <p:cNvPr id="3" name="Subtitle 2"/>
          <p:cNvSpPr>
            <a:spLocks noGrp="1"/>
          </p:cNvSpPr>
          <p:nvPr>
            <p:ph type="subTitle" idx="1"/>
          </p:nvPr>
        </p:nvSpPr>
        <p:spPr>
          <a:xfrm>
            <a:off x="312738" y="1430338"/>
            <a:ext cx="11342687" cy="5021262"/>
          </a:xfrm>
        </p:spPr>
        <p:txBody>
          <a:bodyPr rtlCol="0">
            <a:normAutofit/>
          </a:bodyPr>
          <a:lstStyle/>
          <a:p>
            <a:pPr algn="l" fontAlgn="auto">
              <a:spcAft>
                <a:spcPts val="0"/>
              </a:spcAft>
              <a:buFont typeface="Arial" panose="020B0604020202020204" pitchFamily="34" charset="0"/>
              <a:buNone/>
              <a:defRPr/>
            </a:pPr>
            <a:r>
              <a:rPr lang="en-US" b="1" dirty="0">
                <a:solidFill>
                  <a:srgbClr val="7030A0"/>
                </a:solidFill>
                <a:latin typeface="Times New Roman" panose="02020603050405020304" pitchFamily="18" charset="0"/>
                <a:cs typeface="Times New Roman" panose="02020603050405020304" pitchFamily="18" charset="0"/>
              </a:rPr>
              <a:t>Shape of Cells</a:t>
            </a:r>
          </a:p>
          <a:p>
            <a:pPr marL="342900" indent="-342900" algn="just" fontAlgn="auto">
              <a:spcAft>
                <a:spcPts val="0"/>
              </a:spcAft>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For analytical purposes a “Hexagon” cell is preferred to other shapes on due to the following reasons.</a:t>
            </a:r>
          </a:p>
          <a:p>
            <a:pPr marL="342900" indent="-342900" algn="just" fontAlgn="auto">
              <a:spcAft>
                <a:spcPts val="0"/>
              </a:spcAft>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A hexagon layout requires fewer cells to cover a given area. Hence, it envisages fewer base stations and minimum capital investment.</a:t>
            </a:r>
          </a:p>
          <a:p>
            <a:pPr marL="342900" indent="-342900" algn="just" fontAlgn="auto">
              <a:spcAft>
                <a:spcPts val="0"/>
              </a:spcAft>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Other geometrical shapes cannot effectively do this. For example, if circular shaped cells are there, then there will be overlapping of cells.</a:t>
            </a:r>
          </a:p>
          <a:p>
            <a:pPr marL="342900" indent="-342900" algn="just" fontAlgn="auto">
              <a:spcAft>
                <a:spcPts val="0"/>
              </a:spcAft>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Also for a given area, among square, triangle and hexagon, radius of a hexagon will be the maximum which is needed for weaker mobiles.</a:t>
            </a:r>
          </a:p>
          <a:p>
            <a:pPr marL="342900" indent="-342900" algn="l" fontAlgn="auto">
              <a:spcAft>
                <a:spcPts val="0"/>
              </a:spcAft>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p:txBody>
      </p:sp>
      <p:sp>
        <p:nvSpPr>
          <p:cNvPr id="41988" name="Slide Number Placeholder 3"/>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5DEE63B4-2C9F-4319-8E8D-D10F6891A254}" type="slidenum">
              <a:rPr lang="en-US" altLang="en-US" smtClean="0">
                <a:solidFill>
                  <a:srgbClr val="898989"/>
                </a:solidFill>
                <a:latin typeface="Calibri" pitchFamily="34" charset="0"/>
              </a:rPr>
              <a:pPr/>
              <a:t>17</a:t>
            </a:fld>
            <a:endParaRPr lang="en-US" altLang="en-US">
              <a:solidFill>
                <a:srgbClr val="898989"/>
              </a:solidFill>
              <a:latin typeface="Calibri"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ctrTitle"/>
          </p:nvPr>
        </p:nvSpPr>
        <p:spPr>
          <a:xfrm>
            <a:off x="725488" y="41275"/>
            <a:ext cx="9144000" cy="693738"/>
          </a:xfrm>
        </p:spPr>
        <p:txBody>
          <a:bodyPr/>
          <a:lstStyle/>
          <a:p>
            <a:pPr marL="457200" indent="-457200" algn="l">
              <a:buBlip>
                <a:blip r:embed="rId2"/>
              </a:buBlip>
            </a:pPr>
            <a:r>
              <a:rPr lang="en-US" altLang="en-US" sz="2800" b="1" dirty="0">
                <a:solidFill>
                  <a:srgbClr val="C00000"/>
                </a:solidFill>
                <a:latin typeface="Times New Roman" pitchFamily="18" charset="0"/>
                <a:cs typeface="Times New Roman" pitchFamily="18" charset="0"/>
              </a:rPr>
              <a:t>GSM: Global System for Mobile Communication</a:t>
            </a:r>
            <a:endParaRPr lang="en-US" altLang="en-US" sz="2800" dirty="0">
              <a:solidFill>
                <a:srgbClr val="C00000"/>
              </a:solidFill>
            </a:endParaRPr>
          </a:p>
        </p:txBody>
      </p:sp>
      <p:sp>
        <p:nvSpPr>
          <p:cNvPr id="3" name="Subtitle 2"/>
          <p:cNvSpPr>
            <a:spLocks noGrp="1"/>
          </p:cNvSpPr>
          <p:nvPr>
            <p:ph type="subTitle" idx="1"/>
          </p:nvPr>
        </p:nvSpPr>
        <p:spPr>
          <a:xfrm>
            <a:off x="267672" y="758002"/>
            <a:ext cx="11526837" cy="5922962"/>
          </a:xfrm>
        </p:spPr>
        <p:txBody>
          <a:bodyPr rtlCol="0">
            <a:normAutofit/>
          </a:bodyPr>
          <a:lstStyle/>
          <a:p>
            <a:pPr algn="l" fontAlgn="auto">
              <a:spcAft>
                <a:spcPts val="0"/>
              </a:spcAft>
              <a:defRPr/>
            </a:pPr>
            <a:r>
              <a:rPr lang="en-US" sz="2000" b="1" dirty="0">
                <a:solidFill>
                  <a:srgbClr val="7030A0"/>
                </a:solidFill>
                <a:latin typeface="Times New Roman" panose="02020603050405020304" pitchFamily="18" charset="0"/>
                <a:cs typeface="Times New Roman" panose="02020603050405020304" pitchFamily="18" charset="0"/>
              </a:rPr>
              <a:t>Block Diagram of GSM:</a:t>
            </a:r>
          </a:p>
          <a:p>
            <a:pPr marL="342900" indent="-342900" algn="l" fontAlgn="auto">
              <a:spcAft>
                <a:spcPts val="0"/>
              </a:spcAft>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Global System for Mobile (GSM) is a second generation cellular standard developed to cater voice services and data delivery using digital modulation .</a:t>
            </a:r>
          </a:p>
          <a:p>
            <a:pPr algn="l" fontAlgn="auto">
              <a:spcAft>
                <a:spcPts val="0"/>
              </a:spcAft>
              <a:buFont typeface="Arial" panose="020B0604020202020204" pitchFamily="34" charset="0"/>
              <a:buNone/>
              <a:defRPr/>
            </a:pPr>
            <a:endParaRPr lang="en-US" sz="2000" dirty="0">
              <a:latin typeface="Times New Roman" panose="02020603050405020304" pitchFamily="18" charset="0"/>
              <a:cs typeface="Times New Roman" panose="02020603050405020304" pitchFamily="18" charset="0"/>
            </a:endParaRPr>
          </a:p>
          <a:p>
            <a:pPr fontAlgn="auto">
              <a:spcAft>
                <a:spcPts val="0"/>
              </a:spcAft>
              <a:buFont typeface="Arial" panose="020B0604020202020204" pitchFamily="34" charset="0"/>
              <a:buNone/>
              <a:defRPr/>
            </a:pPr>
            <a:endParaRPr lang="en-US" dirty="0"/>
          </a:p>
          <a:p>
            <a:pPr fontAlgn="auto">
              <a:spcAft>
                <a:spcPts val="0"/>
              </a:spcAft>
              <a:buFont typeface="Arial" panose="020B0604020202020204" pitchFamily="34" charset="0"/>
              <a:buNone/>
              <a:defRPr/>
            </a:pPr>
            <a:endParaRPr lang="en-US" dirty="0"/>
          </a:p>
        </p:txBody>
      </p:sp>
      <p:sp>
        <p:nvSpPr>
          <p:cNvPr id="43014" name="Slide Number Placeholder 6"/>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EC8E585E-8EBC-4C00-9EF6-4069BC132F15}" type="slidenum">
              <a:rPr lang="en-US" altLang="en-US" smtClean="0">
                <a:solidFill>
                  <a:srgbClr val="898989"/>
                </a:solidFill>
                <a:latin typeface="Calibri" pitchFamily="34" charset="0"/>
              </a:rPr>
              <a:pPr/>
              <a:t>18</a:t>
            </a:fld>
            <a:endParaRPr lang="en-US" altLang="en-US">
              <a:solidFill>
                <a:srgbClr val="898989"/>
              </a:solidFill>
              <a:latin typeface="Calibri" pitchFamily="34" charset="0"/>
            </a:endParaRPr>
          </a:p>
        </p:txBody>
      </p:sp>
      <p:pic>
        <p:nvPicPr>
          <p:cNvPr id="43012" name="Picture 4"/>
          <p:cNvPicPr>
            <a:picLocks noChangeAspect="1"/>
          </p:cNvPicPr>
          <p:nvPr/>
        </p:nvPicPr>
        <p:blipFill>
          <a:blip r:embed="rId3">
            <a:extLst>
              <a:ext uri="{28A0092B-C50C-407E-A947-70E740481C1C}">
                <a14:useLocalDpi xmlns="" xmlns:a14="http://schemas.microsoft.com/office/drawing/2010/main" val="0"/>
              </a:ext>
            </a:extLst>
          </a:blip>
          <a:srcRect/>
          <a:stretch>
            <a:fillRect/>
          </a:stretch>
        </p:blipFill>
        <p:spPr bwMode="auto">
          <a:xfrm>
            <a:off x="1187315" y="1722942"/>
            <a:ext cx="9091613" cy="4171950"/>
          </a:xfrm>
          <a:prstGeom prst="rect">
            <a:avLst/>
          </a:prstGeom>
          <a:solidFill>
            <a:schemeClr val="bg1"/>
          </a:solidFill>
          <a:ln w="9525">
            <a:solidFill>
              <a:schemeClr val="bg1"/>
            </a:solidFill>
            <a:miter lim="800000"/>
            <a:headEnd/>
            <a:tailEnd/>
          </a:ln>
        </p:spPr>
      </p:pic>
      <p:pic>
        <p:nvPicPr>
          <p:cNvPr id="43013" name="Picture 5"/>
          <p:cNvPicPr>
            <a:picLocks noChangeAspect="1"/>
          </p:cNvPicPr>
          <p:nvPr/>
        </p:nvPicPr>
        <p:blipFill>
          <a:blip r:embed="rId4">
            <a:extLst>
              <a:ext uri="{28A0092B-C50C-407E-A947-70E740481C1C}">
                <a14:useLocalDpi xmlns="" xmlns:a14="http://schemas.microsoft.com/office/drawing/2010/main" val="0"/>
              </a:ext>
            </a:extLst>
          </a:blip>
          <a:srcRect/>
          <a:stretch>
            <a:fillRect/>
          </a:stretch>
        </p:blipFill>
        <p:spPr bwMode="auto">
          <a:xfrm>
            <a:off x="906462" y="5799350"/>
            <a:ext cx="10015537" cy="8667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ctrTitle"/>
          </p:nvPr>
        </p:nvSpPr>
        <p:spPr>
          <a:xfrm>
            <a:off x="326385" y="-10333"/>
            <a:ext cx="9144000" cy="542593"/>
          </a:xfrm>
        </p:spPr>
        <p:txBody>
          <a:bodyPr/>
          <a:lstStyle/>
          <a:p>
            <a:pPr algn="l"/>
            <a:r>
              <a:rPr lang="en-US" altLang="en-US" sz="2800" b="1" dirty="0" err="1">
                <a:solidFill>
                  <a:srgbClr val="C00000"/>
                </a:solidFill>
                <a:latin typeface="Times New Roman" pitchFamily="18" charset="0"/>
                <a:cs typeface="Times New Roman" pitchFamily="18" charset="0"/>
              </a:rPr>
              <a:t>Contd</a:t>
            </a:r>
            <a:r>
              <a:rPr lang="en-US" altLang="en-US" sz="2800" dirty="0">
                <a:solidFill>
                  <a:srgbClr val="C00000"/>
                </a:solidFill>
                <a:latin typeface="Times New Roman" pitchFamily="18" charset="0"/>
                <a:cs typeface="Times New Roman" pitchFamily="18" charset="0"/>
              </a:rPr>
              <a:t>…</a:t>
            </a:r>
          </a:p>
        </p:txBody>
      </p:sp>
      <p:sp>
        <p:nvSpPr>
          <p:cNvPr id="3" name="Subtitle 2"/>
          <p:cNvSpPr>
            <a:spLocks noGrp="1"/>
          </p:cNvSpPr>
          <p:nvPr>
            <p:ph type="subTitle" idx="1"/>
          </p:nvPr>
        </p:nvSpPr>
        <p:spPr>
          <a:xfrm>
            <a:off x="245731" y="532261"/>
            <a:ext cx="11488737" cy="5827594"/>
          </a:xfrm>
        </p:spPr>
        <p:txBody>
          <a:bodyPr rtlCol="0">
            <a:noAutofit/>
          </a:bodyPr>
          <a:lstStyle/>
          <a:p>
            <a:pPr marL="342900" indent="-342900" algn="just" fontAlgn="auto">
              <a:spcAft>
                <a:spcPts val="0"/>
              </a:spcAft>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The GSM network architecture consists of three major subsystems:</a:t>
            </a:r>
          </a:p>
          <a:p>
            <a:pPr algn="just" fontAlgn="auto">
              <a:spcAft>
                <a:spcPts val="0"/>
              </a:spcAft>
              <a:buFont typeface="Arial" panose="020B0604020202020204" pitchFamily="34" charset="0"/>
              <a:buNone/>
              <a:defRPr/>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Mobile Station (MS)</a:t>
            </a:r>
          </a:p>
          <a:p>
            <a:pPr algn="just" fontAlgn="auto">
              <a:spcAft>
                <a:spcPts val="0"/>
              </a:spcAft>
              <a:buFont typeface="Arial" panose="020B0604020202020204" pitchFamily="34" charset="0"/>
              <a:buNone/>
              <a:defRPr/>
            </a:pPr>
            <a:r>
              <a:rPr lang="en-US" dirty="0">
                <a:latin typeface="Times New Roman" panose="02020603050405020304" pitchFamily="18" charset="0"/>
                <a:cs typeface="Times New Roman" panose="02020603050405020304" pitchFamily="18" charset="0"/>
              </a:rPr>
              <a:t> ii) Base Station Subsystem (BSS)</a:t>
            </a:r>
          </a:p>
          <a:p>
            <a:pPr algn="just" fontAlgn="auto">
              <a:spcAft>
                <a:spcPts val="0"/>
              </a:spcAft>
              <a:buFont typeface="Arial" panose="020B0604020202020204" pitchFamily="34" charset="0"/>
              <a:buNone/>
              <a:defRPr/>
            </a:pPr>
            <a:r>
              <a:rPr lang="en-US" dirty="0">
                <a:latin typeface="Times New Roman" panose="02020603050405020304" pitchFamily="18" charset="0"/>
                <a:cs typeface="Times New Roman" panose="02020603050405020304" pitchFamily="18" charset="0"/>
              </a:rPr>
              <a:t> iii) Network and Switching Subsystem (NSS)</a:t>
            </a:r>
          </a:p>
          <a:p>
            <a:pPr marL="342900" indent="-342900" algn="just" fontAlgn="auto">
              <a:spcAft>
                <a:spcPts val="0"/>
              </a:spcAft>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The wireless link interface between the MS and the Base Transceiver Station (BTS), which is a part of BSS. Many BTSs are controlled by a Base Station Controller (BSC). BSC is connected to the Mobile Switching Center (MSC), which is a part of NSS. Figure shows the key functional elements in the GSM network architecture</a:t>
            </a:r>
            <a:r>
              <a:rPr lang="en-US" dirty="0"/>
              <a:t>.</a:t>
            </a:r>
          </a:p>
          <a:p>
            <a:pPr algn="just" fontAlgn="auto">
              <a:spcAft>
                <a:spcPts val="0"/>
              </a:spcAft>
              <a:defRPr/>
            </a:pPr>
            <a:r>
              <a:rPr lang="en-US" b="1" dirty="0">
                <a:solidFill>
                  <a:srgbClr val="7030A0"/>
                </a:solidFill>
                <a:latin typeface="Times New Roman" panose="02020603050405020304" pitchFamily="18" charset="0"/>
                <a:cs typeface="Times New Roman" panose="02020603050405020304" pitchFamily="18" charset="0"/>
              </a:rPr>
              <a:t>1. Mobile Station (MS):</a:t>
            </a:r>
          </a:p>
          <a:p>
            <a:pPr algn="just" fontAlgn="auto">
              <a:spcAft>
                <a:spcPts val="0"/>
              </a:spcAft>
              <a:defRPr/>
            </a:pPr>
            <a:r>
              <a:rPr lang="en-US" sz="2200" dirty="0">
                <a:latin typeface="Times New Roman" panose="02020603050405020304" pitchFamily="18" charset="0"/>
                <a:cs typeface="Times New Roman" panose="02020603050405020304" pitchFamily="18" charset="0"/>
              </a:rPr>
              <a:t>A mobile station communicates across the air interface with a base station transceiver in the same cell in which the mobile subscriber unit is located. The MS communicates the information with the user and modifies it to the transmission protocols if the air-interface to communicate with the BSS. The user’s voice information is interfaced with the MS through a microphone and speaker for the speech, keypad, and display for short messaging, and the cable connection for other data terminals. The MS has two elements. The Mobile Equipment (ME) refers to the physical device, which comprises of transceiver, digital signal processors, and the antenna. The second element of the MS is the GSM is the Subscriber Identity Module (SIM).</a:t>
            </a:r>
            <a:endParaRPr lang="en-US" sz="2200" dirty="0"/>
          </a:p>
          <a:p>
            <a:pPr marL="342900" indent="-342900" algn="l" fontAlgn="auto">
              <a:spcAft>
                <a:spcPts val="0"/>
              </a:spcAft>
              <a:buFont typeface="Arial" panose="020B0604020202020204" pitchFamily="34" charset="0"/>
              <a:buChar char="•"/>
              <a:defRPr/>
            </a:pPr>
            <a:endParaRPr lang="en-US" dirty="0">
              <a:latin typeface="Times New Roman" panose="02020603050405020304" pitchFamily="18" charset="0"/>
              <a:cs typeface="Times New Roman" panose="02020603050405020304" pitchFamily="18" charset="0"/>
            </a:endParaRPr>
          </a:p>
        </p:txBody>
      </p:sp>
      <p:sp>
        <p:nvSpPr>
          <p:cNvPr id="44035" name="Slide Number Placeholder 3"/>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669743F0-FAF9-4367-8DCC-C01972485E1A}" type="slidenum">
              <a:rPr lang="en-US" altLang="en-US" smtClean="0">
                <a:solidFill>
                  <a:srgbClr val="898989"/>
                </a:solidFill>
                <a:latin typeface="Calibri" pitchFamily="34" charset="0"/>
              </a:rPr>
              <a:pPr/>
              <a:t>19</a:t>
            </a:fld>
            <a:endParaRPr lang="en-US" altLang="en-US">
              <a:solidFill>
                <a:srgbClr val="898989"/>
              </a:solidFill>
              <a:latin typeface="Calibri"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ctrTitle"/>
          </p:nvPr>
        </p:nvSpPr>
        <p:spPr>
          <a:xfrm>
            <a:off x="326385" y="139795"/>
            <a:ext cx="9144000" cy="542593"/>
          </a:xfrm>
        </p:spPr>
        <p:txBody>
          <a:bodyPr/>
          <a:lstStyle/>
          <a:p>
            <a:pPr algn="l"/>
            <a:r>
              <a:rPr lang="en-US" altLang="en-US" sz="2800" b="1" dirty="0" err="1">
                <a:solidFill>
                  <a:srgbClr val="C00000"/>
                </a:solidFill>
                <a:latin typeface="Times New Roman" pitchFamily="18" charset="0"/>
                <a:cs typeface="Times New Roman" pitchFamily="18" charset="0"/>
              </a:rPr>
              <a:t>Contd</a:t>
            </a:r>
            <a:r>
              <a:rPr lang="en-US" altLang="en-US" sz="2800" dirty="0">
                <a:solidFill>
                  <a:srgbClr val="C00000"/>
                </a:solidFill>
                <a:latin typeface="Times New Roman" pitchFamily="18" charset="0"/>
                <a:cs typeface="Times New Roman" pitchFamily="18" charset="0"/>
              </a:rPr>
              <a:t>…</a:t>
            </a:r>
          </a:p>
        </p:txBody>
      </p:sp>
      <p:sp>
        <p:nvSpPr>
          <p:cNvPr id="3" name="Subtitle 2"/>
          <p:cNvSpPr>
            <a:spLocks noGrp="1"/>
          </p:cNvSpPr>
          <p:nvPr>
            <p:ph type="subTitle" idx="1"/>
          </p:nvPr>
        </p:nvSpPr>
        <p:spPr>
          <a:xfrm>
            <a:off x="204788" y="968991"/>
            <a:ext cx="11709708" cy="5308980"/>
          </a:xfrm>
        </p:spPr>
        <p:txBody>
          <a:bodyPr rtlCol="0">
            <a:normAutofit/>
          </a:bodyPr>
          <a:lstStyle/>
          <a:p>
            <a:pPr algn="just">
              <a:defRPr/>
            </a:pPr>
            <a:r>
              <a:rPr lang="en-US" altLang="en-US" b="1" dirty="0">
                <a:solidFill>
                  <a:srgbClr val="7030A0"/>
                </a:solidFill>
                <a:latin typeface="Times New Roman" pitchFamily="18" charset="0"/>
                <a:cs typeface="Times New Roman" pitchFamily="18" charset="0"/>
              </a:rPr>
              <a:t>2. Base Station Subsystem (BSS):</a:t>
            </a:r>
          </a:p>
          <a:p>
            <a:pPr algn="just">
              <a:defRPr/>
            </a:pPr>
            <a:r>
              <a:rPr lang="en-US" altLang="en-US" dirty="0">
                <a:latin typeface="Times New Roman" pitchFamily="18" charset="0"/>
                <a:cs typeface="Times New Roman" pitchFamily="18" charset="0"/>
              </a:rPr>
              <a:t>A base station subsystem consists of a base station controller and one or more base transceiver station. Each Base Transceiver Station defines a single cell. A cell can have a radius of between 100m to 35km, depending on the environment. A Base Station Controller may be connected with a BTS. It may control multiple BTS units and hence multiple cells. There are two main architectural elements in the BSS – the Base Transceiver Subsystem (BTS) and the Base Station Controller (BSC). The interface that connects a BTS to a BSC is called the A-</a:t>
            </a:r>
            <a:r>
              <a:rPr lang="en-US" altLang="en-US" dirty="0" err="1">
                <a:latin typeface="Times New Roman" pitchFamily="18" charset="0"/>
                <a:cs typeface="Times New Roman" pitchFamily="18" charset="0"/>
              </a:rPr>
              <a:t>bis</a:t>
            </a:r>
            <a:r>
              <a:rPr lang="en-US" altLang="en-US" dirty="0">
                <a:latin typeface="Times New Roman" pitchFamily="18" charset="0"/>
                <a:cs typeface="Times New Roman" pitchFamily="18" charset="0"/>
              </a:rPr>
              <a:t> interface. The interface between the BSC and the MSC is called the A interface, which is standardized within GSM.</a:t>
            </a:r>
          </a:p>
          <a:p>
            <a:pPr algn="just">
              <a:defRPr/>
            </a:pPr>
            <a:r>
              <a:rPr lang="en-US" altLang="en-US" b="1" dirty="0">
                <a:solidFill>
                  <a:srgbClr val="7030A0"/>
                </a:solidFill>
                <a:latin typeface="Times New Roman" pitchFamily="18" charset="0"/>
                <a:cs typeface="Times New Roman" pitchFamily="18" charset="0"/>
              </a:rPr>
              <a:t>3. Network and switching subsystem (NSS):</a:t>
            </a:r>
          </a:p>
          <a:p>
            <a:pPr algn="just">
              <a:defRPr/>
            </a:pPr>
            <a:r>
              <a:rPr lang="en-US" altLang="en-US" dirty="0">
                <a:latin typeface="Times New Roman" pitchFamily="18" charset="0"/>
                <a:cs typeface="Times New Roman" pitchFamily="18" charset="0"/>
              </a:rPr>
              <a:t>The NSS is responsible for the network operation. It provides the link between the cellular network and the Public switched telecommunicates Networks. </a:t>
            </a:r>
          </a:p>
          <a:p>
            <a:pPr algn="l" fontAlgn="auto">
              <a:spcAft>
                <a:spcPts val="0"/>
              </a:spcAft>
              <a:buFont typeface="Arial" panose="020B0604020202020204" pitchFamily="34" charset="0"/>
              <a:buNone/>
              <a:defRPr/>
            </a:pPr>
            <a:endParaRPr lang="en-US" sz="2000" dirty="0">
              <a:latin typeface="Times New Roman" panose="02020603050405020304" pitchFamily="18" charset="0"/>
              <a:cs typeface="Times New Roman" panose="02020603050405020304" pitchFamily="18" charset="0"/>
            </a:endParaRPr>
          </a:p>
          <a:p>
            <a:pPr marL="342900" indent="-342900" algn="l" fontAlgn="auto">
              <a:spcAft>
                <a:spcPts val="0"/>
              </a:spcAft>
              <a:buFont typeface="Arial" panose="020B0604020202020204" pitchFamily="34" charset="0"/>
              <a:buChar char="•"/>
              <a:defRPr/>
            </a:pPr>
            <a:endParaRPr lang="en-US" sz="2000" dirty="0"/>
          </a:p>
          <a:p>
            <a:pPr marL="342900" indent="-342900" algn="l" fontAlgn="auto">
              <a:spcAft>
                <a:spcPts val="0"/>
              </a:spcAft>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p:txBody>
      </p:sp>
      <p:sp>
        <p:nvSpPr>
          <p:cNvPr id="44035" name="Slide Number Placeholder 3"/>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669743F0-FAF9-4367-8DCC-C01972485E1A}" type="slidenum">
              <a:rPr lang="en-US" altLang="en-US" smtClean="0">
                <a:solidFill>
                  <a:srgbClr val="898989"/>
                </a:solidFill>
                <a:latin typeface="Calibri" pitchFamily="34" charset="0"/>
              </a:rPr>
              <a:pPr/>
              <a:t>20</a:t>
            </a:fld>
            <a:endParaRPr lang="en-US" altLang="en-US">
              <a:solidFill>
                <a:srgbClr val="898989"/>
              </a:solidFill>
              <a:latin typeface="Calibri" pitchFamily="34" charset="0"/>
            </a:endParaRPr>
          </a:p>
        </p:txBody>
      </p:sp>
    </p:spTree>
    <p:extLst>
      <p:ext uri="{BB962C8B-B14F-4D97-AF65-F5344CB8AC3E}">
        <p14:creationId xmlns="" xmlns:p14="http://schemas.microsoft.com/office/powerpoint/2010/main" val="2381947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769938" y="0"/>
            <a:ext cx="10515600" cy="955675"/>
          </a:xfrm>
        </p:spPr>
        <p:txBody>
          <a:bodyPr/>
          <a:lstStyle/>
          <a:p>
            <a:pPr algn="ctr" eaLnBrk="1" hangingPunct="1"/>
            <a:r>
              <a:rPr lang="en-US" altLang="en-US" sz="3600" b="1" dirty="0">
                <a:solidFill>
                  <a:srgbClr val="C00000"/>
                </a:solidFill>
              </a:rPr>
              <a:t>List of Text Books &amp; Reference books</a:t>
            </a:r>
          </a:p>
        </p:txBody>
      </p:sp>
      <p:sp>
        <p:nvSpPr>
          <p:cNvPr id="3" name="Content Placeholder 2"/>
          <p:cNvSpPr>
            <a:spLocks noGrp="1"/>
          </p:cNvSpPr>
          <p:nvPr>
            <p:ph idx="1"/>
          </p:nvPr>
        </p:nvSpPr>
        <p:spPr>
          <a:xfrm>
            <a:off x="838200" y="1296988"/>
            <a:ext cx="10515600" cy="4879975"/>
          </a:xfrm>
        </p:spPr>
        <p:txBody>
          <a:bodyPr rtlCol="0">
            <a:normAutofit fontScale="70000" lnSpcReduction="20000"/>
          </a:bodyPr>
          <a:lstStyle/>
          <a:p>
            <a:pPr eaLnBrk="1" fontAlgn="auto" hangingPunct="1">
              <a:spcAft>
                <a:spcPts val="0"/>
              </a:spcAft>
              <a:buFont typeface="Arial" panose="020B0604020202020204" pitchFamily="34" charset="0"/>
              <a:buNone/>
              <a:defRPr/>
            </a:pPr>
            <a:r>
              <a:rPr lang="en-US" b="1" dirty="0"/>
              <a:t>Text Books</a:t>
            </a:r>
          </a:p>
          <a:p>
            <a:pPr eaLnBrk="1" fontAlgn="auto" hangingPunct="1">
              <a:spcAft>
                <a:spcPts val="0"/>
              </a:spcAft>
              <a:buFont typeface="Arial" panose="020B0604020202020204" pitchFamily="34" charset="0"/>
              <a:buNone/>
              <a:defRPr/>
            </a:pPr>
            <a:r>
              <a:rPr lang="en-US" dirty="0"/>
              <a:t>1) “Electronics Devices” by Thomas. L. Floyd,9th Edition, Pearson (Unit I, II)</a:t>
            </a:r>
          </a:p>
          <a:p>
            <a:pPr eaLnBrk="1" fontAlgn="auto" hangingPunct="1">
              <a:spcAft>
                <a:spcPts val="0"/>
              </a:spcAft>
              <a:buFont typeface="Arial" panose="020B0604020202020204" pitchFamily="34" charset="0"/>
              <a:buNone/>
              <a:defRPr/>
            </a:pPr>
            <a:r>
              <a:rPr lang="en-US" dirty="0"/>
              <a:t>2) “Modern Digital Electronics” by R.P. Jain, 4th Edition, Tata McGraw Hill (Unit III)</a:t>
            </a:r>
          </a:p>
          <a:p>
            <a:pPr eaLnBrk="1" fontAlgn="auto" hangingPunct="1">
              <a:spcAft>
                <a:spcPts val="0"/>
              </a:spcAft>
              <a:buFont typeface="Arial" panose="020B0604020202020204" pitchFamily="34" charset="0"/>
              <a:buNone/>
              <a:defRPr/>
            </a:pPr>
            <a:r>
              <a:rPr lang="en-US" dirty="0"/>
              <a:t>3) “Electronic Instrumentation” by H.S. </a:t>
            </a:r>
            <a:r>
              <a:rPr lang="en-US" dirty="0" err="1"/>
              <a:t>Kalsi</a:t>
            </a:r>
            <a:r>
              <a:rPr lang="en-US" dirty="0"/>
              <a:t>, 3rd Edition, Tata McGraw Hill (Unit IV)</a:t>
            </a:r>
          </a:p>
          <a:p>
            <a:pPr eaLnBrk="1" fontAlgn="auto" hangingPunct="1">
              <a:spcAft>
                <a:spcPts val="0"/>
              </a:spcAft>
              <a:buFont typeface="Arial" panose="020B0604020202020204" pitchFamily="34" charset="0"/>
              <a:buNone/>
              <a:defRPr/>
            </a:pPr>
            <a:r>
              <a:rPr lang="en-US" dirty="0"/>
              <a:t>4) “Sensors and Transducers” by D. </a:t>
            </a:r>
            <a:r>
              <a:rPr lang="en-US" dirty="0" err="1"/>
              <a:t>Patrnabis</a:t>
            </a:r>
            <a:r>
              <a:rPr lang="en-US" dirty="0"/>
              <a:t>, 2nd Edition, PHI (Unit V)</a:t>
            </a:r>
          </a:p>
          <a:p>
            <a:pPr eaLnBrk="1" fontAlgn="auto" hangingPunct="1">
              <a:spcAft>
                <a:spcPts val="0"/>
              </a:spcAft>
              <a:buFont typeface="Arial" panose="020B0604020202020204" pitchFamily="34" charset="0"/>
              <a:buNone/>
              <a:defRPr/>
            </a:pPr>
            <a:r>
              <a:rPr lang="en-US" dirty="0"/>
              <a:t>5) “Electronic Communication Systems” by Kennedy &amp; Davis, 4th Edition, Tata McGraw Hill (Unit </a:t>
            </a:r>
            <a:r>
              <a:rPr lang="en-US" dirty="0" smtClean="0"/>
              <a:t>V)</a:t>
            </a:r>
            <a:endParaRPr lang="en-US" dirty="0"/>
          </a:p>
          <a:p>
            <a:pPr eaLnBrk="1" fontAlgn="auto" hangingPunct="1">
              <a:spcAft>
                <a:spcPts val="0"/>
              </a:spcAft>
              <a:buFont typeface="Arial" panose="020B0604020202020204" pitchFamily="34" charset="0"/>
              <a:buNone/>
              <a:defRPr/>
            </a:pPr>
            <a:r>
              <a:rPr lang="en-US" dirty="0"/>
              <a:t>6) “Mobile Wireless communication” by M. Schwartz, Cambridge University Press (Unit </a:t>
            </a:r>
            <a:r>
              <a:rPr lang="en-US" dirty="0" smtClean="0"/>
              <a:t>V)</a:t>
            </a:r>
            <a:endParaRPr lang="en-US" dirty="0"/>
          </a:p>
          <a:p>
            <a:pPr eaLnBrk="1" fontAlgn="auto" hangingPunct="1">
              <a:spcAft>
                <a:spcPts val="0"/>
              </a:spcAft>
              <a:buFont typeface="Arial" panose="020B0604020202020204" pitchFamily="34" charset="0"/>
              <a:buNone/>
              <a:defRPr/>
            </a:pPr>
            <a:endParaRPr lang="en-US" b="1" dirty="0"/>
          </a:p>
          <a:p>
            <a:pPr eaLnBrk="1" fontAlgn="auto" hangingPunct="1">
              <a:spcAft>
                <a:spcPts val="0"/>
              </a:spcAft>
              <a:buFont typeface="Arial" panose="020B0604020202020204" pitchFamily="34" charset="0"/>
              <a:buNone/>
              <a:defRPr/>
            </a:pPr>
            <a:r>
              <a:rPr lang="en-US" b="1" dirty="0"/>
              <a:t>Reference Books</a:t>
            </a:r>
          </a:p>
          <a:p>
            <a:pPr eaLnBrk="1" fontAlgn="auto" hangingPunct="1">
              <a:spcAft>
                <a:spcPts val="0"/>
              </a:spcAft>
              <a:buFont typeface="Arial" panose="020B0604020202020204" pitchFamily="34" charset="0"/>
              <a:buNone/>
              <a:defRPr/>
            </a:pPr>
            <a:r>
              <a:rPr lang="en-US" dirty="0"/>
              <a:t>1) “Digital Fundamentals” by Thomas. L. Floyd, 11th Edition, Pearson</a:t>
            </a:r>
          </a:p>
          <a:p>
            <a:pPr eaLnBrk="1" fontAlgn="auto" hangingPunct="1">
              <a:spcAft>
                <a:spcPts val="0"/>
              </a:spcAft>
              <a:buFont typeface="Arial" panose="020B0604020202020204" pitchFamily="34" charset="0"/>
              <a:buNone/>
              <a:defRPr/>
            </a:pPr>
            <a:r>
              <a:rPr lang="en-US" dirty="0"/>
              <a:t>2) “Mobile Communication” by J. Schiller, 2nd Edition, Pearson</a:t>
            </a:r>
          </a:p>
          <a:p>
            <a:pPr eaLnBrk="1" fontAlgn="auto" hangingPunct="1">
              <a:spcAft>
                <a:spcPts val="0"/>
              </a:spcAft>
              <a:buFont typeface="Arial" panose="020B0604020202020204" pitchFamily="34" charset="0"/>
              <a:buNone/>
              <a:defRPr/>
            </a:pPr>
            <a:r>
              <a:rPr lang="en-US" dirty="0"/>
              <a:t>3) “Sensors Handbook”, by S. </a:t>
            </a:r>
            <a:r>
              <a:rPr lang="en-US" dirty="0" err="1"/>
              <a:t>Soloman</a:t>
            </a:r>
            <a:r>
              <a:rPr lang="en-US" dirty="0"/>
              <a:t>, 2nd Edition.</a:t>
            </a:r>
          </a:p>
          <a:p>
            <a:pPr eaLnBrk="1" fontAlgn="auto" hangingPunct="1">
              <a:spcAft>
                <a:spcPts val="0"/>
              </a:spcAft>
              <a:buFont typeface="Arial" panose="020B0604020202020204" pitchFamily="34" charset="0"/>
              <a:buNone/>
              <a:defRPr/>
            </a:pPr>
            <a:r>
              <a:rPr lang="en-US" dirty="0"/>
              <a:t>4) "Electronics Communication System" By William </a:t>
            </a:r>
            <a:r>
              <a:rPr lang="en-US" dirty="0" err="1"/>
              <a:t>Schweber</a:t>
            </a:r>
            <a:endParaRPr lang="en-US" dirty="0"/>
          </a:p>
          <a:p>
            <a:pPr eaLnBrk="1" fontAlgn="auto" hangingPunct="1">
              <a:spcAft>
                <a:spcPts val="0"/>
              </a:spcAft>
              <a:buFont typeface="Arial" panose="020B0604020202020204" pitchFamily="34" charset="0"/>
              <a:buNone/>
              <a:defRPr/>
            </a:pPr>
            <a:r>
              <a:rPr lang="en-US" dirty="0"/>
              <a:t>5) "Electronics Communication System" By George Kennedy 5th Edition, McGraw Hill</a:t>
            </a:r>
          </a:p>
        </p:txBody>
      </p:sp>
      <p:sp>
        <p:nvSpPr>
          <p:cNvPr id="2" name="Slide Number Placeholder 1"/>
          <p:cNvSpPr>
            <a:spLocks noGrp="1"/>
          </p:cNvSpPr>
          <p:nvPr>
            <p:ph type="sldNum" sz="quarter" idx="12"/>
          </p:nvPr>
        </p:nvSpPr>
        <p:spPr/>
        <p:txBody>
          <a:bodyPr/>
          <a:lstStyle/>
          <a:p>
            <a:pPr>
              <a:defRPr/>
            </a:pPr>
            <a:fld id="{9C02C9E0-08CD-4733-BA15-E5A0A404A85B}" type="slidenum">
              <a:rPr lang="en-US" altLang="en-US" smtClean="0"/>
              <a:pPr>
                <a:defRPr/>
              </a:pPr>
              <a:t>21</a:t>
            </a:fld>
            <a:endParaRPr lang="en-US"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2"/>
          <p:cNvSpPr>
            <a:spLocks noGrp="1"/>
          </p:cNvSpPr>
          <p:nvPr>
            <p:ph idx="1"/>
          </p:nvPr>
        </p:nvSpPr>
        <p:spPr/>
        <p:txBody>
          <a:bodyPr/>
          <a:lstStyle/>
          <a:p>
            <a:pPr algn="ctr">
              <a:buFont typeface="Arial" charset="0"/>
              <a:buNone/>
            </a:pPr>
            <a:endParaRPr lang="en-US" altLang="en-US"/>
          </a:p>
          <a:p>
            <a:pPr algn="ctr">
              <a:buFont typeface="Arial" charset="0"/>
              <a:buNone/>
            </a:pPr>
            <a:endParaRPr lang="en-US" altLang="en-US"/>
          </a:p>
          <a:p>
            <a:pPr algn="ctr">
              <a:buFont typeface="Arial" charset="0"/>
              <a:buNone/>
            </a:pPr>
            <a:endParaRPr lang="en-US" altLang="en-US"/>
          </a:p>
          <a:p>
            <a:pPr algn="ctr">
              <a:buFont typeface="Arial" charset="0"/>
              <a:buNone/>
            </a:pPr>
            <a:r>
              <a:rPr lang="en-US" altLang="en-US" sz="6600" b="1" i="1">
                <a:solidFill>
                  <a:schemeClr val="accent2"/>
                </a:solidFill>
              </a:rPr>
              <a:t>THANK YOU</a:t>
            </a:r>
          </a:p>
        </p:txBody>
      </p:sp>
      <p:sp>
        <p:nvSpPr>
          <p:cNvPr id="2" name="Slide Number Placeholder 1"/>
          <p:cNvSpPr>
            <a:spLocks noGrp="1"/>
          </p:cNvSpPr>
          <p:nvPr>
            <p:ph type="sldNum" sz="quarter" idx="12"/>
          </p:nvPr>
        </p:nvSpPr>
        <p:spPr/>
        <p:txBody>
          <a:bodyPr/>
          <a:lstStyle/>
          <a:p>
            <a:pPr>
              <a:defRPr/>
            </a:pPr>
            <a:fld id="{9C02C9E0-08CD-4733-BA15-E5A0A404A85B}" type="slidenum">
              <a:rPr lang="en-US" altLang="en-US" smtClean="0"/>
              <a:pPr>
                <a:defRPr/>
              </a:pPr>
              <a:t>22</a:t>
            </a:fld>
            <a:endParaRPr lang="en-US"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141361</TotalTime>
  <Words>2603</Words>
  <Application>Microsoft Office PowerPoint</Application>
  <PresentationFormat>Custom</PresentationFormat>
  <Paragraphs>240</Paragraphs>
  <Slides>22</Slides>
  <Notes>2</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Slide 1</vt:lpstr>
      <vt:lpstr>Unit 5 (ii): Communication Systems</vt:lpstr>
      <vt:lpstr>Prerequisites</vt:lpstr>
      <vt:lpstr>Communication Systems</vt:lpstr>
      <vt:lpstr>Communication Systems</vt:lpstr>
      <vt:lpstr>Contd…</vt:lpstr>
      <vt:lpstr>Contd…</vt:lpstr>
      <vt:lpstr>Communication Media</vt:lpstr>
      <vt:lpstr>Communication Media</vt:lpstr>
      <vt:lpstr>Contd…</vt:lpstr>
      <vt:lpstr>Communication Media</vt:lpstr>
      <vt:lpstr>Electromagnetic Spectrum:</vt:lpstr>
      <vt:lpstr>Electromagnetic Spectrum:  Allotment of frequency band for different applications</vt:lpstr>
      <vt:lpstr>Terminologies in Communication Systems:</vt:lpstr>
      <vt:lpstr>Mobile communication system: Cellular concept</vt:lpstr>
      <vt:lpstr>Contd…</vt:lpstr>
      <vt:lpstr>Contd…</vt:lpstr>
      <vt:lpstr>GSM: Global System for Mobile Communication</vt:lpstr>
      <vt:lpstr>Contd…</vt:lpstr>
      <vt:lpstr>Contd…</vt:lpstr>
      <vt:lpstr>List of Text Books &amp; Reference books</vt:lpstr>
      <vt:lpstr>Slide 22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 TX</dc:title>
  <dc:creator>MSB</dc:creator>
  <cp:lastModifiedBy>Admin</cp:lastModifiedBy>
  <cp:revision>179</cp:revision>
  <dcterms:created xsi:type="dcterms:W3CDTF">2019-07-19T17:42:52Z</dcterms:created>
  <dcterms:modified xsi:type="dcterms:W3CDTF">2025-11-29T05:26:40Z</dcterms:modified>
</cp:coreProperties>
</file>