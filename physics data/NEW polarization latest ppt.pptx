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3" r:id="rId3"/>
    <p:sldId id="284" r:id="rId4"/>
    <p:sldId id="285" r:id="rId5"/>
    <p:sldId id="271" r:id="rId6"/>
    <p:sldId id="268" r:id="rId7"/>
    <p:sldId id="297" r:id="rId8"/>
    <p:sldId id="262" r:id="rId9"/>
    <p:sldId id="269" r:id="rId10"/>
    <p:sldId id="273" r:id="rId11"/>
    <p:sldId id="290" r:id="rId12"/>
    <p:sldId id="292" r:id="rId13"/>
    <p:sldId id="294" r:id="rId14"/>
    <p:sldId id="296" r:id="rId15"/>
    <p:sldId id="288" r:id="rId16"/>
    <p:sldId id="287" r:id="rId17"/>
    <p:sldId id="276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123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6000" b="1" dirty="0" smtClean="0">
                <a:solidFill>
                  <a:srgbClr val="FF0000"/>
                </a:solidFill>
              </a:rPr>
              <a:t/>
            </a:r>
            <a:br>
              <a:rPr lang="en-US" sz="6000" b="1" dirty="0" smtClean="0">
                <a:solidFill>
                  <a:srgbClr val="FF0000"/>
                </a:solidFill>
              </a:rPr>
            </a:br>
            <a:r>
              <a:rPr lang="en-US" sz="6000" b="1" dirty="0" smtClean="0">
                <a:solidFill>
                  <a:srgbClr val="FF0000"/>
                </a:solidFill>
              </a:rPr>
              <a:t>POLARIZATION</a:t>
            </a:r>
            <a:br>
              <a:rPr lang="en-US" sz="6000" b="1" dirty="0" smtClean="0">
                <a:solidFill>
                  <a:srgbClr val="FF0000"/>
                </a:solidFill>
              </a:rPr>
            </a:br>
            <a:endParaRPr lang="en-US" sz="6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Unpolarized</a:t>
            </a:r>
            <a:r>
              <a:rPr lang="en-US" dirty="0" smtClean="0"/>
              <a:t> Light</a:t>
            </a:r>
          </a:p>
          <a:p>
            <a:r>
              <a:rPr lang="en-US" dirty="0" smtClean="0"/>
              <a:t>Plane Polarized Light</a:t>
            </a:r>
          </a:p>
          <a:p>
            <a:r>
              <a:rPr lang="en-US" dirty="0" smtClean="0"/>
              <a:t>Circularly Polarized Light</a:t>
            </a:r>
          </a:p>
          <a:p>
            <a:r>
              <a:rPr lang="en-US" dirty="0" smtClean="0"/>
              <a:t>Elliptically Polarized Light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Types of Polarization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2484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200" b="1" dirty="0" err="1" smtClean="0"/>
              <a:t>Unpolarized</a:t>
            </a:r>
            <a:r>
              <a:rPr lang="en-US" sz="2200" b="1" dirty="0" smtClean="0"/>
              <a:t> Light</a:t>
            </a:r>
          </a:p>
          <a:p>
            <a:pPr>
              <a:buNone/>
            </a:pPr>
            <a:r>
              <a:rPr lang="en-US" sz="2000" dirty="0" smtClean="0"/>
              <a:t>   </a:t>
            </a:r>
            <a:r>
              <a:rPr lang="en-US" sz="1900" dirty="0" smtClean="0"/>
              <a:t>The light having vibrations along </a:t>
            </a:r>
            <a:r>
              <a:rPr lang="en-US" sz="1900" b="1" dirty="0" smtClean="0"/>
              <a:t>all possible direction </a:t>
            </a:r>
            <a:r>
              <a:rPr lang="en-US" sz="1900" dirty="0" err="1" smtClean="0"/>
              <a:t>perpendisular</a:t>
            </a:r>
            <a:r>
              <a:rPr lang="en-US" sz="1900" dirty="0" smtClean="0"/>
              <a:t> to direction of propagation of light is called is called as </a:t>
            </a:r>
            <a:r>
              <a:rPr lang="en-US" sz="1900" dirty="0" err="1" smtClean="0"/>
              <a:t>unpolarized</a:t>
            </a:r>
            <a:r>
              <a:rPr lang="en-US" sz="1900" dirty="0" smtClean="0"/>
              <a:t> light.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200" b="1" dirty="0" smtClean="0"/>
              <a:t>Plane Polarized Light</a:t>
            </a:r>
          </a:p>
          <a:p>
            <a:pPr>
              <a:buNone/>
            </a:pPr>
            <a:r>
              <a:rPr lang="en-US" sz="2000" dirty="0" smtClean="0"/>
              <a:t>   </a:t>
            </a:r>
            <a:r>
              <a:rPr lang="en-US" sz="1900" dirty="0" smtClean="0"/>
              <a:t>The light having vibration only along a </a:t>
            </a:r>
            <a:r>
              <a:rPr lang="en-US" sz="1900" b="1" dirty="0" smtClean="0"/>
              <a:t>single plane</a:t>
            </a:r>
            <a:r>
              <a:rPr lang="en-US" sz="1900" dirty="0" smtClean="0"/>
              <a:t> perpendicular to direction of propagation of light is called as Polarized light.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200" b="1" dirty="0" smtClean="0"/>
              <a:t>Circularly Polarized Light</a:t>
            </a:r>
          </a:p>
          <a:p>
            <a:pPr>
              <a:buNone/>
            </a:pPr>
            <a:r>
              <a:rPr lang="en-US" sz="2000" dirty="0" smtClean="0"/>
              <a:t>    </a:t>
            </a:r>
            <a:r>
              <a:rPr lang="en-US" sz="1800" dirty="0" smtClean="0"/>
              <a:t>It is a type of polarization where electric field vectors </a:t>
            </a:r>
            <a:r>
              <a:rPr lang="en-US" sz="1800" b="1" dirty="0" smtClean="0"/>
              <a:t>rotates in a circular motion</a:t>
            </a:r>
            <a:r>
              <a:rPr lang="en-US" sz="1800" dirty="0" smtClean="0"/>
              <a:t> as the wave propagates. In circularly polarized light , the electric field components oscillate in two perpendicular direction with </a:t>
            </a:r>
            <a:r>
              <a:rPr lang="en-US" sz="1800" b="1" dirty="0" smtClean="0"/>
              <a:t>equal amplitude and phase diff is 90 degree.</a:t>
            </a:r>
          </a:p>
          <a:p>
            <a:pPr>
              <a:buNone/>
            </a:pPr>
            <a:endParaRPr lang="en-US" sz="2000" b="1" dirty="0" smtClean="0"/>
          </a:p>
          <a:p>
            <a:pPr>
              <a:buNone/>
            </a:pPr>
            <a:r>
              <a:rPr lang="en-US" sz="2200" b="1" dirty="0" smtClean="0"/>
              <a:t>Elliptically Polarized Light</a:t>
            </a:r>
          </a:p>
          <a:p>
            <a:pPr>
              <a:buNone/>
            </a:pPr>
            <a:r>
              <a:rPr lang="en-US" sz="2000" dirty="0" smtClean="0"/>
              <a:t>    </a:t>
            </a:r>
            <a:r>
              <a:rPr lang="en-US" sz="1800" dirty="0" smtClean="0"/>
              <a:t>It is a type of polarization where electric field vectors </a:t>
            </a:r>
            <a:r>
              <a:rPr lang="en-US" sz="1800" b="1" dirty="0" smtClean="0"/>
              <a:t>describes an ellipse </a:t>
            </a:r>
            <a:r>
              <a:rPr lang="en-US" sz="1800" dirty="0" smtClean="0"/>
              <a:t>in a given plane perpendicular to the direction of propagation. the electric field components oscillate in two perpendicular direction with </a:t>
            </a:r>
            <a:r>
              <a:rPr lang="en-US" sz="1800" b="1" dirty="0" smtClean="0"/>
              <a:t>different amplitude and phase diff is 90 degree.</a:t>
            </a:r>
            <a:r>
              <a:rPr lang="en-US" sz="1800" dirty="0" smtClean="0"/>
              <a:t> It includes linear and circular polarization.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9600" y="762000"/>
            <a:ext cx="81534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3733800"/>
            <a:ext cx="83820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9"/>
            <a:ext cx="8229600" cy="3471672"/>
          </a:xfrm>
        </p:spPr>
        <p:txBody>
          <a:bodyPr/>
          <a:lstStyle/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Malus</a:t>
            </a:r>
            <a:r>
              <a:rPr lang="en-US" dirty="0" smtClean="0"/>
              <a:t> Law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3657600"/>
            <a:ext cx="79248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0" y="3429000"/>
            <a:ext cx="16002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629400" y="3429000"/>
            <a:ext cx="144780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397000"/>
          <a:ext cx="6934200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34200"/>
              </a:tblGrid>
              <a:tr h="1041400">
                <a:tc>
                  <a:txBody>
                    <a:bodyPr/>
                    <a:lstStyle/>
                    <a:p>
                      <a:r>
                        <a:rPr kumimoji="0" lang="en-US" kern="1200" dirty="0" smtClean="0"/>
                        <a:t>The </a:t>
                      </a:r>
                      <a:r>
                        <a:rPr kumimoji="0" lang="en-US" kern="1200" dirty="0" err="1" smtClean="0"/>
                        <a:t>Malus</a:t>
                      </a:r>
                      <a:r>
                        <a:rPr kumimoji="0" lang="en-US" kern="1200" dirty="0" smtClean="0"/>
                        <a:t> law states that the intensity of a plane-</a:t>
                      </a:r>
                      <a:r>
                        <a:rPr kumimoji="0" lang="en-US" kern="1200" dirty="0" err="1" smtClean="0"/>
                        <a:t>polarised</a:t>
                      </a:r>
                      <a:r>
                        <a:rPr kumimoji="0" lang="en-US" kern="1200" dirty="0" smtClean="0"/>
                        <a:t> light that passes through an </a:t>
                      </a:r>
                      <a:r>
                        <a:rPr kumimoji="0" lang="en-US" kern="1200" dirty="0" err="1" smtClean="0"/>
                        <a:t>analyser</a:t>
                      </a:r>
                      <a:r>
                        <a:rPr kumimoji="0" lang="en-US" kern="1200" dirty="0" smtClean="0"/>
                        <a:t> is directly proportional to the square of the cosine of the angle between the plane of the </a:t>
                      </a:r>
                      <a:r>
                        <a:rPr kumimoji="0" lang="en-US" kern="1200" dirty="0" err="1" smtClean="0"/>
                        <a:t>polariser</a:t>
                      </a:r>
                      <a:r>
                        <a:rPr kumimoji="0" lang="en-US" kern="1200" dirty="0" smtClean="0"/>
                        <a:t> and the transmission axis of the </a:t>
                      </a:r>
                      <a:r>
                        <a:rPr kumimoji="0" lang="en-US" kern="1200" dirty="0" err="1" smtClean="0"/>
                        <a:t>analyser</a:t>
                      </a:r>
                      <a:r>
                        <a:rPr kumimoji="0" lang="en-US" kern="1200" dirty="0" smtClean="0"/>
                        <a:t>.</a:t>
                      </a:r>
                    </a:p>
                    <a:p>
                      <a:r>
                        <a:rPr kumimoji="0"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                         </a:t>
                      </a:r>
                      <a:r>
                        <a:rPr kumimoji="0"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I=I</a:t>
                      </a:r>
                      <a:r>
                        <a:rPr kumimoji="0" lang="en-US" sz="1800" b="1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r>
                        <a:rPr kumimoji="0"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COS</a:t>
                      </a:r>
                      <a:r>
                        <a:rPr kumimoji="0" lang="en-US" sz="1800" b="1" kern="1200" baseline="30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Ɵ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3276600"/>
            <a:ext cx="8229600" cy="2730691"/>
          </a:xfrm>
        </p:spPr>
        <p:txBody>
          <a:bodyPr/>
          <a:lstStyle/>
          <a:p>
            <a:r>
              <a:rPr lang="en-US" dirty="0" smtClean="0"/>
              <a:t>1. by reflection</a:t>
            </a:r>
          </a:p>
          <a:p>
            <a:r>
              <a:rPr lang="en-US" dirty="0" smtClean="0"/>
              <a:t>2.by refraction</a:t>
            </a:r>
          </a:p>
          <a:p>
            <a:r>
              <a:rPr lang="en-US" b="1" dirty="0" smtClean="0"/>
              <a:t>3.by double refraction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828800"/>
            <a:ext cx="8229600" cy="1447800"/>
          </a:xfrm>
        </p:spPr>
        <p:txBody>
          <a:bodyPr>
            <a:normAutofit/>
          </a:bodyPr>
          <a:lstStyle/>
          <a:p>
            <a:r>
              <a:rPr lang="en-US" dirty="0" smtClean="0"/>
              <a:t>Production of plane polarized light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Polarization by </a:t>
            </a:r>
            <a:r>
              <a:rPr lang="en-US" dirty="0" smtClean="0"/>
              <a:t>reflection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481138"/>
            <a:ext cx="6400799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/>
              <a:t> Polarization </a:t>
            </a:r>
            <a:r>
              <a:rPr lang="en-US" sz="4400" dirty="0" smtClean="0"/>
              <a:t>by refraction</a:t>
            </a:r>
            <a:endParaRPr lang="en-US" dirty="0"/>
          </a:p>
        </p:txBody>
      </p:sp>
      <p:pic>
        <p:nvPicPr>
          <p:cNvPr id="3074" name="Picture 2" descr="E:\POLARIZATION\Brewster-polarizer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764900"/>
            <a:ext cx="8229600" cy="39584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533400" y="304801"/>
            <a:ext cx="7772400" cy="83820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/>
              <a:t>DOUBLE REFRACTING CRYSTAL</a:t>
            </a:r>
            <a:endParaRPr lang="en-US" sz="360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733800" y="1143000"/>
            <a:ext cx="4724400" cy="3886200"/>
          </a:xfrm>
        </p:spPr>
        <p:txBody>
          <a:bodyPr/>
          <a:lstStyle/>
          <a:p>
            <a:pPr algn="l">
              <a:buFont typeface="Arial" pitchFamily="34" charset="0"/>
              <a:buChar char="•"/>
            </a:pPr>
            <a:r>
              <a:rPr lang="en-US" b="1" dirty="0" smtClean="0"/>
              <a:t>There are certain crystal which shows the property of splitting of a light ray incident on them (i.e.splitting into two refracted ray)</a:t>
            </a:r>
          </a:p>
          <a:p>
            <a:pPr algn="l">
              <a:buFont typeface="Arial" pitchFamily="34" charset="0"/>
              <a:buChar char="•"/>
            </a:pPr>
            <a:r>
              <a:rPr lang="en-US" b="1" dirty="0" smtClean="0"/>
              <a:t>Uniaxial crystal</a:t>
            </a:r>
          </a:p>
          <a:p>
            <a:pPr algn="l">
              <a:buFont typeface="Arial" pitchFamily="34" charset="0"/>
              <a:buChar char="•"/>
            </a:pPr>
            <a:r>
              <a:rPr lang="en-US" b="1" dirty="0" smtClean="0"/>
              <a:t>Biaxial crystal</a:t>
            </a:r>
            <a:endParaRPr lang="en-US" b="1" dirty="0"/>
          </a:p>
        </p:txBody>
      </p:sp>
      <p:pic>
        <p:nvPicPr>
          <p:cNvPr id="4098" name="Picture 2" descr="E:\POLARIZATION\images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2286000"/>
            <a:ext cx="3505200" cy="27860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219200" y="1481328"/>
            <a:ext cx="7467600" cy="4525963"/>
          </a:xfrm>
        </p:spPr>
        <p:txBody>
          <a:bodyPr/>
          <a:lstStyle/>
          <a:p>
            <a:r>
              <a:rPr lang="en-US" dirty="0" err="1" smtClean="0"/>
              <a:t>Colourless</a:t>
            </a:r>
            <a:r>
              <a:rPr lang="en-US" dirty="0" smtClean="0"/>
              <a:t> transparent crystal</a:t>
            </a:r>
          </a:p>
          <a:p>
            <a:r>
              <a:rPr lang="en-US" dirty="0" smtClean="0"/>
              <a:t>Calcium carbonate(CaCO</a:t>
            </a:r>
            <a:r>
              <a:rPr lang="en-US" baseline="-25000" dirty="0" smtClean="0"/>
              <a:t>3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Calcite crystal:-</a:t>
            </a:r>
            <a:endParaRPr lang="en-US" dirty="0"/>
          </a:p>
        </p:txBody>
      </p:sp>
      <p:sp>
        <p:nvSpPr>
          <p:cNvPr id="1028" name="AutoShape 4" descr="https://mail-attachment.googleusercontent.com/attachment/?saduie=AG9B_P81b_ysH6aLgqG6pbGCUc53&amp;attid=0.1&amp;disp=emb&amp;view=att&amp;th=1410b649b363822d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0" name="AutoShape 6" descr="https://mail-attachment.googleusercontent.com/attachment/?saduie=AG9B_P81b_ysH6aLgqG6pbGCUc53&amp;attid=0.1&amp;disp=emb&amp;view=att&amp;th=1410b649b363822d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2" name="AutoShape 8" descr="https://mail-attachment.googleusercontent.com/attachment/?saduie=AG9B_P81b_ysH6aLgqG6pbGCUc53&amp;attid=0.1&amp;disp=emb&amp;view=att&amp;th=1410b649b363822d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4" name="AutoShape 10" descr="https://mail-attachment.googleusercontent.com/attachment/?saduie=AG9B_P81b_ysH6aLgqG6pbGCUc53&amp;attid=0.1&amp;disp=emb&amp;view=att&amp;th=1410b649b363822d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6" name="AutoShape 12" descr="https://mail-attachment.googleusercontent.com/attachment/?saduie=AG9B_P81b_ysH6aLgqG6pbGCUc53&amp;attid=0.1&amp;disp=emb&amp;view=att&amp;th=1410b649b363822d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12" descr="F:\20130911_102941[1].jpg"/>
          <p:cNvPicPr/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371600" y="2514600"/>
            <a:ext cx="6172200" cy="2971800"/>
          </a:xfrm>
          <a:prstGeom prst="rect">
            <a:avLst/>
          </a:prstGeom>
          <a:noFill/>
        </p:spPr>
      </p:pic>
      <p:sp>
        <p:nvSpPr>
          <p:cNvPr id="10" name="Rectangle 9"/>
          <p:cNvSpPr/>
          <p:nvPr/>
        </p:nvSpPr>
        <p:spPr>
          <a:xfrm>
            <a:off x="1066800" y="4771072"/>
            <a:ext cx="73152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At corners , </a:t>
            </a:r>
            <a:r>
              <a:rPr lang="en-US" dirty="0" smtClean="0"/>
              <a:t>the three </a:t>
            </a:r>
            <a:r>
              <a:rPr lang="en-US" dirty="0" smtClean="0"/>
              <a:t>angles </a:t>
            </a:r>
            <a:r>
              <a:rPr lang="en-US" dirty="0" smtClean="0"/>
              <a:t>of faces meeting there are all obtuse (larger </a:t>
            </a:r>
            <a:r>
              <a:rPr lang="en-US" dirty="0" smtClean="0"/>
              <a:t>than </a:t>
            </a:r>
            <a:r>
              <a:rPr lang="en-US" dirty="0" smtClean="0"/>
              <a:t>90°) These </a:t>
            </a:r>
            <a:r>
              <a:rPr lang="en-US" dirty="0" smtClean="0"/>
              <a:t>corners are </a:t>
            </a:r>
            <a:r>
              <a:rPr lang="en-US" dirty="0" smtClean="0"/>
              <a:t>known as </a:t>
            </a:r>
            <a:r>
              <a:rPr lang="en-US" b="1" dirty="0" smtClean="0"/>
              <a:t>blunt corners.</a:t>
            </a:r>
            <a:endParaRPr lang="en-US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2286000"/>
            <a:ext cx="8229600" cy="3471672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     </a:t>
            </a:r>
            <a:r>
              <a:rPr lang="en-US" b="1" dirty="0" smtClean="0">
                <a:solidFill>
                  <a:srgbClr val="FF0000"/>
                </a:solidFill>
              </a:rPr>
              <a:t>Cases</a:t>
            </a:r>
            <a:r>
              <a:rPr lang="en-US" dirty="0" smtClean="0"/>
              <a:t>:( Note: optic axis is to be considered    </a:t>
            </a:r>
          </a:p>
          <a:p>
            <a:pPr>
              <a:buNone/>
            </a:pPr>
            <a:r>
              <a:rPr lang="en-US" dirty="0" smtClean="0"/>
              <a:t>                  in the plane of incidence)</a:t>
            </a:r>
          </a:p>
          <a:p>
            <a:r>
              <a:rPr lang="en-US" dirty="0" smtClean="0"/>
              <a:t>Optic axis perpendicular to crystal surface.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Optic axis parallel to the crystal surface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Optic axis inclined to the crystal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Propogation</a:t>
            </a:r>
            <a:r>
              <a:rPr lang="en-US" dirty="0" smtClean="0"/>
              <a:t> of light in calcite crystal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33400" y="1447800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              </a:t>
            </a:r>
            <a:r>
              <a:rPr lang="en-US" b="1" dirty="0" smtClean="0">
                <a:solidFill>
                  <a:srgbClr val="FF0000"/>
                </a:solidFill>
              </a:rPr>
              <a:t>Calcite crystal: Negative Crystal </a:t>
            </a:r>
            <a:endParaRPr lang="en-IN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Optic axis perpendicular to crystal surface.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8195" name="Picture 3" descr="E:\POLARIZATION\20130207_094354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481138"/>
            <a:ext cx="8229600" cy="3929062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1828800" y="5410200"/>
            <a:ext cx="64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O ray and E ray travel with same velocity in the same direction</a:t>
            </a:r>
            <a:endParaRPr lang="en-US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>Optic axis parallel to the crystal surface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7170" name="Picture 2" descr="E:\POLARIZATION\20130207_094212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54692" y="1481138"/>
            <a:ext cx="6979708" cy="3319462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1676400" y="5334000"/>
            <a:ext cx="6858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O ray and E ray travel with different velocity in the same direction</a:t>
            </a:r>
            <a:endParaRPr lang="en-US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Optic axis inclined to the crystal surface</a:t>
            </a:r>
            <a:endParaRPr lang="en-US" sz="3200" dirty="0"/>
          </a:p>
        </p:txBody>
      </p:sp>
      <p:pic>
        <p:nvPicPr>
          <p:cNvPr id="9218" name="Picture 2" descr="E:\POLARIZATION\20130207_094500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54692" y="1481138"/>
            <a:ext cx="6034616" cy="452596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Huygen’s</a:t>
            </a:r>
            <a:r>
              <a:rPr lang="en-US" dirty="0" smtClean="0"/>
              <a:t> theory of double refraction:-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89460" y="2125071"/>
            <a:ext cx="7365080" cy="32380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Double refraction:-</a:t>
            </a:r>
            <a:endParaRPr lang="en-US" dirty="0"/>
          </a:p>
        </p:txBody>
      </p:sp>
      <p:pic>
        <p:nvPicPr>
          <p:cNvPr id="4" name="Picture 2" descr="http://christiaanhuygens.edublogs.org/files/2012/11/2127-004-A78A6E56-22sss2i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47800" y="1752600"/>
            <a:ext cx="5867400" cy="4114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495800" y="228600"/>
            <a:ext cx="4038600" cy="55626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Negative crystal:-</a:t>
            </a:r>
            <a:endParaRPr lang="en-US" sz="4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381000"/>
            <a:ext cx="3657600" cy="914400"/>
          </a:xfrm>
        </p:spPr>
        <p:txBody>
          <a:bodyPr>
            <a:noAutofit/>
          </a:bodyPr>
          <a:lstStyle/>
          <a:p>
            <a:r>
              <a:rPr lang="en-US" sz="4000" b="0" dirty="0" smtClean="0"/>
              <a:t/>
            </a:r>
            <a:br>
              <a:rPr lang="en-US" sz="4000" b="0" dirty="0" smtClean="0"/>
            </a:br>
            <a:r>
              <a:rPr lang="en-US" sz="4000" b="0" dirty="0" smtClean="0"/>
              <a:t>Positive</a:t>
            </a:r>
            <a:r>
              <a:rPr lang="en-US" sz="4000" dirty="0" smtClean="0"/>
              <a:t> crystal:-</a:t>
            </a:r>
            <a:br>
              <a:rPr lang="en-US" sz="4000" dirty="0" smtClean="0"/>
            </a:br>
            <a:endParaRPr lang="en-US" sz="4000" baseline="-25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2133600"/>
            <a:ext cx="6858000" cy="284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482</TotalTime>
  <Words>388</Words>
  <Application>Microsoft Office PowerPoint</Application>
  <PresentationFormat>On-screen Show (4:3)</PresentationFormat>
  <Paragraphs>77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Concourse</vt:lpstr>
      <vt:lpstr> POLARIZATION </vt:lpstr>
      <vt:lpstr>Types of Polarization</vt:lpstr>
      <vt:lpstr>Slide 3</vt:lpstr>
      <vt:lpstr>Slide 4</vt:lpstr>
      <vt:lpstr>Malus Law</vt:lpstr>
      <vt:lpstr>Production of plane polarized light</vt:lpstr>
      <vt:lpstr>Polarization by reflection</vt:lpstr>
      <vt:lpstr> Polarization by refraction</vt:lpstr>
      <vt:lpstr>DOUBLE REFRACTING CRYSTAL</vt:lpstr>
      <vt:lpstr>Calcite crystal:-</vt:lpstr>
      <vt:lpstr>Propogation of light in calcite crystal</vt:lpstr>
      <vt:lpstr> Optic axis perpendicular to crystal surface. </vt:lpstr>
      <vt:lpstr> Optic axis parallel to the crystal surface  </vt:lpstr>
      <vt:lpstr>Optic axis inclined to the crystal surface</vt:lpstr>
      <vt:lpstr>Huygen’s theory of double refraction:-</vt:lpstr>
      <vt:lpstr>Double refraction:-</vt:lpstr>
      <vt:lpstr> Positive crystal:-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POLARIZATION</dc:title>
  <dc:creator>Admin</dc:creator>
  <cp:lastModifiedBy>Admin</cp:lastModifiedBy>
  <cp:revision>86</cp:revision>
  <dcterms:created xsi:type="dcterms:W3CDTF">2006-08-16T00:00:00Z</dcterms:created>
  <dcterms:modified xsi:type="dcterms:W3CDTF">2024-11-07T06:22:23Z</dcterms:modified>
</cp:coreProperties>
</file>